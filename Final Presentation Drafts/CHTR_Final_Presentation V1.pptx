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1F3A"/>
                </a:solidFill>
                <a:latin typeface="Calibri"/>
              </a:defRPr>
            </a:pPr>
            <a:r>
              <a:rPr sz="1200" b="0" i="0" u="none" strike="noStrike">
                <a:solidFill>
                  <a:srgbClr val="0B1F3A"/>
                </a:solidFill>
                <a:latin typeface="Calibri"/>
              </a:rPr>
              <a:t>Internet net adds by quarter (thousands, restated basis)</a:t>
            </a:r>
          </a:p>
        </c:rich>
      </c:tx>
      <c:layout/>
      <c:overlay val="0"/>
    </c:title>
    <c:autoTitleDeleted val="0"/>
    <c:plotArea>
      <c:layout/>
      <c:barChart>
        <c:barDir val="col"/>
        <c:grouping val="clustered"/>
        <c:varyColors val="0"/>
        <c:ser>
          <c:idx val="0"/>
          <c:order val="0"/>
          <c:tx>
            <c:strRef>
              <c:f>Sheet1!$B$1</c:f>
              <c:strCache>
                <c:ptCount val="1"/>
                <c:pt idx="0">
                  <c:v>Internet quarterly net adds (000s)</c:v>
                </c:pt>
              </c:strCache>
            </c:strRef>
          </c:tx>
          <c:spPr>
            <a:solidFill>
              <a:srgbClr val="C8102E"/>
            </a:solidFill>
            <a:effectLst/>
          </c:spPr>
          <c:invertIfNegative val="0"/>
          <c:dLbls>
            <c:numFmt formatCode="#,##0;−#,##0" sourceLinked="0"/>
            <c:txPr>
              <a:bodyPr/>
              <a:lstStyle/>
              <a:p>
                <a:pPr>
                  <a:defRPr b="0" i="0" strike="noStrike" sz="900" u="none">
                    <a:solidFill>
                      <a:srgbClr val="0B1F3A"/>
                    </a:solidFill>
                    <a:latin typeface="Calibri"/>
                  </a:defRPr>
                </a:pPr>
              </a:p>
            </c:txPr>
            <c:showLegendKey val="0"/>
            <c:showVal val="1"/>
            <c:showCatName val="0"/>
            <c:showSerName val="0"/>
            <c:showPercent val="0"/>
            <c:showBubbleSize val="0"/>
            <c:showLeaderLines val="0"/>
          </c:dLbls>
          <c:cat>
            <c:multiLvlStrRef>
              <c:f>Sheet1!$A$2:$A$11</c:f>
              <c:multiLvlStrCache>
                <c:ptCount val="10"/>
                <c:lvl>
                  <c:pt idx="0">
                    <c:v>Q1'24</c:v>
                  </c:pt>
                  <c:pt idx="1">
                    <c:v>Q2'24</c:v>
                  </c:pt>
                  <c:pt idx="2">
                    <c:v>Q3'24</c:v>
                  </c:pt>
                  <c:pt idx="3">
                    <c:v>Q4'24</c:v>
                  </c:pt>
                  <c:pt idx="4">
                    <c:v>Q1'25</c:v>
                  </c:pt>
                  <c:pt idx="5">
                    <c:v>Q2'25</c:v>
                  </c:pt>
                  <c:pt idx="6">
                    <c:v>Q3'25</c:v>
                  </c:pt>
                  <c:pt idx="7">
                    <c:v>Q4'25</c:v>
                  </c:pt>
                  <c:pt idx="8">
                    <c:v>Q1'26</c:v>
                  </c:pt>
                  <c:pt idx="9">
                    <c:v>Q2'26*</c:v>
                  </c:pt>
                </c:lvl>
              </c:multiLvlStrCache>
            </c:multiLvlStrRef>
          </c:cat>
          <c:val>
            <c:numRef>
              <c:f>Sheet1!$B$2:$B$11</c:f>
              <c:numCache>
                <c:formatCode>General</c:formatCode>
                <c:ptCount val="10"/>
                <c:pt idx="0">
                  <c:v>-72</c:v>
                </c:pt>
                <c:pt idx="1">
                  <c:v>-148</c:v>
                </c:pt>
                <c:pt idx="2">
                  <c:v>-110</c:v>
                </c:pt>
                <c:pt idx="3">
                  <c:v>-177</c:v>
                </c:pt>
                <c:pt idx="4">
                  <c:v>-59</c:v>
                </c:pt>
                <c:pt idx="5">
                  <c:v>-116</c:v>
                </c:pt>
                <c:pt idx="6">
                  <c:v>-109</c:v>
                </c:pt>
                <c:pt idx="7">
                  <c:v>-119</c:v>
                </c:pt>
                <c:pt idx="8">
                  <c:v>-120</c:v>
                </c:pt>
                <c:pt idx="9">
                  <c:v>-172</c:v>
                </c:pt>
              </c:numCache>
            </c:numRef>
          </c:val>
        </c:ser>
        <c:dLbls>
          <c:numFmt formatCode="#,##0;−#,##0" sourceLinked="0"/>
          <c:txPr>
            <a:bodyPr/>
            <a:lstStyle/>
            <a:p>
              <a:pPr>
                <a:defRPr b="0" i="0" strike="noStrike" sz="900" u="none">
                  <a:solidFill>
                    <a:srgbClr val="0B1F3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672"/>
                </a:solidFill>
                <a:latin typeface="Calibri"/>
              </a:defRPr>
            </a:pPr>
            <a:endParaRPr lang="en-US"/>
          </a:p>
        </c:txPr>
        <c:crossAx val="2094734552"/>
        <c:crosses val="autoZero"/>
        <c:auto val="1"/>
        <c:lblAlgn val="ctr"/>
        <c:noMultiLvlLbl val="1"/>
      </c:catAx>
      <c:valAx>
        <c:axId val="2094734552"/>
        <c:scaling>
          <c:orientation val="minMax"/>
          <c:max val="20"/>
          <c:min val="-200"/>
        </c:scaling>
        <c:delete val="0"/>
        <c:axPos val="l"/>
        <c:majorGridlines>
          <c:spPr>
            <a:ln w="9525" cap="flat">
              <a:solidFill>
                <a:srgbClr val="E3E9F0"/>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672"/>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1F3A"/>
                </a:solidFill>
                <a:latin typeface="Calibri"/>
              </a:defRPr>
            </a:pPr>
            <a:r>
              <a:rPr sz="1200" b="0" i="0" u="none" strike="noStrike">
                <a:solidFill>
                  <a:srgbClr val="0B1F3A"/>
                </a:solidFill>
                <a:latin typeface="Calibri"/>
              </a:rPr>
              <a:t>YoY change in Internet revenue, decomposed ($M)</a:t>
            </a:r>
          </a:p>
        </c:rich>
      </c:tx>
      <c:layout/>
      <c:overlay val="0"/>
    </c:title>
    <c:autoTitleDeleted val="0"/>
    <c:plotArea>
      <c:layout/>
      <c:barChart>
        <c:barDir val="col"/>
        <c:grouping val="clustered"/>
        <c:varyColors val="0"/>
        <c:ser>
          <c:idx val="0"/>
          <c:order val="0"/>
          <c:tx>
            <c:strRef>
              <c:f>Sheet1!$B$1</c:f>
              <c:strCache>
                <c:ptCount val="1"/>
                <c:pt idx="0">
                  <c:v>Volume effect ($M)</c:v>
                </c:pt>
              </c:strCache>
            </c:strRef>
          </c:tx>
          <c:spPr>
            <a:solidFill>
              <a:srgbClr val="C8102E"/>
            </a:solidFill>
            <a:effectLst/>
          </c:spPr>
          <c:invertIfNegative val="0"/>
          <c:dLbls>
            <c:numFmt formatCode="#,##0;−#,##0" sourceLinked="0"/>
            <c:txPr>
              <a:bodyPr/>
              <a:lstStyle/>
              <a:p>
                <a:pPr>
                  <a:defRPr b="0" i="0" strike="noStrike" sz="900" u="none">
                    <a:solidFill>
                      <a:srgbClr val="0B1F3A"/>
                    </a:solidFill>
                    <a:latin typeface="Calibri"/>
                  </a:defRPr>
                </a:pPr>
              </a:p>
            </c:txPr>
            <c:showLegendKey val="0"/>
            <c:showVal val="1"/>
            <c:showCatName val="0"/>
            <c:showSerName val="0"/>
            <c:showPercent val="0"/>
            <c:showBubbleSize val="0"/>
            <c:showLeaderLines val="0"/>
          </c:dLbls>
          <c:cat>
            <c:multiLvlStrRef>
              <c:f>Sheet1!$A$2:$A$11</c:f>
              <c:multiLvlStrCache>
                <c:ptCount val="10"/>
                <c:lvl>
                  <c:pt idx="0">
                    <c:v>Q1'24</c:v>
                  </c:pt>
                  <c:pt idx="1">
                    <c:v>Q2'24</c:v>
                  </c:pt>
                  <c:pt idx="2">
                    <c:v>Q3'24</c:v>
                  </c:pt>
                  <c:pt idx="3">
                    <c:v>Q4'24</c:v>
                  </c:pt>
                  <c:pt idx="4">
                    <c:v>Q1'25</c:v>
                  </c:pt>
                  <c:pt idx="5">
                    <c:v>Q2'25</c:v>
                  </c:pt>
                  <c:pt idx="6">
                    <c:v>Q3'25</c:v>
                  </c:pt>
                  <c:pt idx="7">
                    <c:v>Q4'25</c:v>
                  </c:pt>
                  <c:pt idx="8">
                    <c:v>Q1'26</c:v>
                  </c:pt>
                  <c:pt idx="9">
                    <c:v>Q2'26*</c:v>
                  </c:pt>
                </c:lvl>
              </c:multiLvlStrCache>
            </c:multiLvlStrRef>
          </c:cat>
          <c:val>
            <c:numRef>
              <c:f>Sheet1!$B$2:$B$11</c:f>
              <c:numCache>
                <c:formatCode>General</c:formatCode>
                <c:ptCount val="10"/>
                <c:pt idx="0">
                  <c:v>15</c:v>
                </c:pt>
                <c:pt idx="1">
                  <c:v>-20</c:v>
                </c:pt>
                <c:pt idx="2">
                  <c:v>-57</c:v>
                </c:pt>
                <c:pt idx="3">
                  <c:v>-85</c:v>
                </c:pt>
                <c:pt idx="4">
                  <c:v>-95</c:v>
                </c:pt>
                <c:pt idx="5">
                  <c:v>-91</c:v>
                </c:pt>
                <c:pt idx="6">
                  <c:v>-89</c:v>
                </c:pt>
                <c:pt idx="7">
                  <c:v>-84</c:v>
                </c:pt>
                <c:pt idx="8">
                  <c:v>-86</c:v>
                </c:pt>
                <c:pt idx="9">
                  <c:v>-98</c:v>
                </c:pt>
              </c:numCache>
            </c:numRef>
          </c:val>
        </c:ser>
        <c:ser>
          <c:idx val="1"/>
          <c:order val="1"/>
          <c:tx>
            <c:strRef>
              <c:f>Sheet1!$C$1</c:f>
              <c:strCache>
                <c:ptCount val="1"/>
                <c:pt idx="0">
                  <c:v>Price / mix / allocation ($M)</c:v>
                </c:pt>
              </c:strCache>
            </c:strRef>
          </c:tx>
          <c:spPr>
            <a:solidFill>
              <a:srgbClr val="0072CE"/>
            </a:solidFill>
            <a:effectLst/>
          </c:spPr>
          <c:invertIfNegative val="0"/>
          <c:dLbls>
            <c:numFmt formatCode="#,##0;−#,##0" sourceLinked="0"/>
            <c:txPr>
              <a:bodyPr/>
              <a:lstStyle/>
              <a:p>
                <a:pPr>
                  <a:defRPr b="0" i="0" strike="noStrike" sz="900" u="none">
                    <a:solidFill>
                      <a:srgbClr val="0B1F3A"/>
                    </a:solidFill>
                    <a:latin typeface="Calibri"/>
                  </a:defRPr>
                </a:pPr>
              </a:p>
            </c:txPr>
            <c:showLegendKey val="0"/>
            <c:showVal val="1"/>
            <c:showCatName val="0"/>
            <c:showSerName val="0"/>
            <c:showPercent val="0"/>
            <c:showBubbleSize val="0"/>
            <c:showLeaderLines val="0"/>
          </c:dLbls>
          <c:cat>
            <c:multiLvlStrRef>
              <c:f>Sheet1!$A$2:$A$11</c:f>
              <c:multiLvlStrCache>
                <c:ptCount val="10"/>
                <c:lvl>
                  <c:pt idx="0">
                    <c:v>Q1'24</c:v>
                  </c:pt>
                  <c:pt idx="1">
                    <c:v>Q2'24</c:v>
                  </c:pt>
                  <c:pt idx="2">
                    <c:v>Q3'24</c:v>
                  </c:pt>
                  <c:pt idx="3">
                    <c:v>Q4'24</c:v>
                  </c:pt>
                  <c:pt idx="4">
                    <c:v>Q1'25</c:v>
                  </c:pt>
                  <c:pt idx="5">
                    <c:v>Q2'25</c:v>
                  </c:pt>
                  <c:pt idx="6">
                    <c:v>Q3'25</c:v>
                  </c:pt>
                  <c:pt idx="7">
                    <c:v>Q4'25</c:v>
                  </c:pt>
                  <c:pt idx="8">
                    <c:v>Q1'26</c:v>
                  </c:pt>
                  <c:pt idx="9">
                    <c:v>Q2'26*</c:v>
                  </c:pt>
                </c:lvl>
              </c:multiLvlStrCache>
            </c:multiLvlStrRef>
          </c:cat>
          <c:val>
            <c:numRef>
              <c:f>Sheet1!$C$2:$C$11</c:f>
              <c:numCache>
                <c:formatCode>General</c:formatCode>
                <c:ptCount val="10"/>
                <c:pt idx="0">
                  <c:v>93</c:v>
                </c:pt>
                <c:pt idx="1">
                  <c:v>93</c:v>
                </c:pt>
                <c:pt idx="2">
                  <c:v>153</c:v>
                </c:pt>
                <c:pt idx="3">
                  <c:v>136</c:v>
                </c:pt>
                <c:pt idx="4">
                  <c:v>199</c:v>
                </c:pt>
                <c:pt idx="5">
                  <c:v>254</c:v>
                </c:pt>
                <c:pt idx="6">
                  <c:v>188</c:v>
                </c:pt>
                <c:pt idx="7">
                  <c:v>123</c:v>
                </c:pt>
                <c:pt idx="8">
                  <c:v>8</c:v>
                </c:pt>
                <c:pt idx="9">
                  <c:v>-95</c:v>
                </c:pt>
              </c:numCache>
            </c:numRef>
          </c:val>
        </c:ser>
        <c:dLbls>
          <c:numFmt formatCode="#,##0;−#,##0" sourceLinked="0"/>
          <c:txPr>
            <a:bodyPr/>
            <a:lstStyle/>
            <a:p>
              <a:pPr>
                <a:defRPr b="0" i="0" strike="noStrike" sz="900" u="none">
                  <a:solidFill>
                    <a:srgbClr val="0B1F3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672"/>
                </a:solidFill>
                <a:latin typeface="Calibri"/>
              </a:defRPr>
            </a:pPr>
            <a:endParaRPr lang="en-US"/>
          </a:p>
        </c:txPr>
        <c:crossAx val="2094734552"/>
        <c:crosses val="autoZero"/>
        <c:auto val="1"/>
        <c:lblAlgn val="ctr"/>
        <c:noMultiLvlLbl val="1"/>
      </c:catAx>
      <c:valAx>
        <c:axId val="2094734552"/>
        <c:scaling>
          <c:orientation val="minMax"/>
          <c:max val="300"/>
          <c:min val="-150"/>
        </c:scaling>
        <c:delete val="0"/>
        <c:axPos val="l"/>
        <c:majorGridlines>
          <c:spPr>
            <a:ln w="9525" cap="flat">
              <a:solidFill>
                <a:srgbClr val="E3E9F0"/>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672"/>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B6672"/>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1F3A"/>
                </a:solidFill>
                <a:latin typeface="Calibri"/>
              </a:defRPr>
            </a:pPr>
            <a:r>
              <a:rPr sz="1200" b="0" i="0" u="none" strike="noStrike">
                <a:solidFill>
                  <a:srgbClr val="0B1F3A"/>
                </a:solidFill>
                <a:latin typeface="Calibri"/>
              </a:rPr>
              <a:t>Period-end customers vs. mobile lines (thousands, restated basis)</a:t>
            </a:r>
          </a:p>
        </c:rich>
      </c:tx>
      <c:layout/>
      <c:overlay val="0"/>
    </c:title>
    <c:autoTitleDeleted val="0"/>
    <c:plotArea>
      <c:layout/>
      <c:lineChart>
        <c:varyColors val="0"/>
        <c:ser>
          <c:idx val="0"/>
          <c:order val="0"/>
          <c:tx>
            <c:strRef>
              <c:f>Sheet1!$B$1</c:f>
              <c:strCache>
                <c:ptCount val="1"/>
                <c:pt idx="0">
                  <c:v>Internet customers (000s)</c:v>
                </c:pt>
              </c:strCache>
            </c:strRef>
          </c:tx>
          <c:spPr>
            <a:solidFill>
              <a:srgbClr val="C8102E"/>
            </a:solidFill>
            <a:ln w="31750" cap="flat">
              <a:solidFill>
                <a:srgbClr val="C8102E"/>
              </a:solidFill>
              <a:prstDash val="solid"/>
              <a:round/>
            </a:ln>
            <a:effectLst/>
          </c:spPr>
          <c:invertIfNegative val="0"/>
          <c:dLbls>
            <c:numFmt formatCode="#,##0" sourceLinked="0"/>
            <c:txPr>
              <a:bodyPr/>
              <a:lstStyle/>
              <a:p>
                <a:pPr>
                  <a:defRPr b="0" i="0" strike="noStrike" sz="900" u="none">
                    <a:solidFill>
                      <a:srgbClr val="0B1F3A"/>
                    </a:solidFill>
                    <a:latin typeface="Calibri"/>
                  </a:defRPr>
                </a:pPr>
              </a:p>
            </c:txPr>
            <c:showLegendKey val="0"/>
            <c:showVal val="0"/>
            <c:showCatName val="0"/>
            <c:showSerName val="0"/>
            <c:showPercent val="0"/>
            <c:showBubbleSize val="0"/>
            <c:showLeaderLines val="0"/>
          </c:dLbls>
          <c:marker>
            <c:symbol val="circle"/>
            <c:size val="6"/>
            <c:spPr>
              <a:solidFill>
                <a:srgbClr val="C8102E"/>
              </a:solidFill>
              <a:ln w="9525" cap="flat">
                <a:solidFill>
                  <a:srgbClr val="C8102E"/>
                </a:solidFill>
                <a:prstDash val="solid"/>
                <a:round/>
              </a:ln>
              <a:effectLst/>
            </c:spPr>
          </c:marker>
          <c:cat>
            <c:multiLvlStrRef>
              <c:f>Sheet1!$A$2:$A$11</c:f>
              <c:multiLvlStrCache>
                <c:ptCount val="10"/>
                <c:lvl>
                  <c:pt idx="0">
                    <c:v>Q1'24</c:v>
                  </c:pt>
                  <c:pt idx="1">
                    <c:v>Q2'24</c:v>
                  </c:pt>
                  <c:pt idx="2">
                    <c:v>Q3'24</c:v>
                  </c:pt>
                  <c:pt idx="3">
                    <c:v>Q4'24</c:v>
                  </c:pt>
                  <c:pt idx="4">
                    <c:v>Q1'25</c:v>
                  </c:pt>
                  <c:pt idx="5">
                    <c:v>Q2'25</c:v>
                  </c:pt>
                  <c:pt idx="6">
                    <c:v>Q3'25</c:v>
                  </c:pt>
                  <c:pt idx="7">
                    <c:v>Q4'25</c:v>
                  </c:pt>
                  <c:pt idx="8">
                    <c:v>Q1'26</c:v>
                  </c:pt>
                  <c:pt idx="9">
                    <c:v>Q2'26*</c:v>
                  </c:pt>
                </c:lvl>
              </c:multiLvlStrCache>
            </c:multiLvlStrRef>
          </c:cat>
          <c:val>
            <c:numRef>
              <c:f>Sheet1!$B$2:$B$11</c:f>
              <c:numCache>
                <c:formatCode>General</c:formatCode>
                <c:ptCount val="10"/>
                <c:pt idx="0">
                  <c:v>30518</c:v>
                </c:pt>
                <c:pt idx="1">
                  <c:v>30370</c:v>
                </c:pt>
                <c:pt idx="2">
                  <c:v>30260</c:v>
                </c:pt>
                <c:pt idx="3">
                  <c:v>30083</c:v>
                </c:pt>
                <c:pt idx="4">
                  <c:v>30024</c:v>
                </c:pt>
                <c:pt idx="5">
                  <c:v>29908</c:v>
                </c:pt>
                <c:pt idx="6">
                  <c:v>29799</c:v>
                </c:pt>
                <c:pt idx="7">
                  <c:v>29680</c:v>
                </c:pt>
                <c:pt idx="8">
                  <c:v>29560</c:v>
                </c:pt>
                <c:pt idx="9">
                  <c:v>29388</c:v>
                </c:pt>
              </c:numCache>
            </c:numRef>
          </c:val>
          <c:smooth val="0"/>
        </c:ser>
        <c:ser>
          <c:idx val="1"/>
          <c:order val="1"/>
          <c:tx>
            <c:strRef>
              <c:f>Sheet1!$C$1</c:f>
              <c:strCache>
                <c:ptCount val="1"/>
                <c:pt idx="0">
                  <c:v>Mobile lines (000s)</c:v>
                </c:pt>
              </c:strCache>
            </c:strRef>
          </c:tx>
          <c:spPr>
            <a:solidFill>
              <a:srgbClr val="1E7A46"/>
            </a:solidFill>
            <a:ln w="31750" cap="flat">
              <a:solidFill>
                <a:srgbClr val="1E7A46"/>
              </a:solidFill>
              <a:prstDash val="solid"/>
              <a:round/>
            </a:ln>
            <a:effectLst/>
          </c:spPr>
          <c:invertIfNegative val="0"/>
          <c:dLbls>
            <c:numFmt formatCode="#,##0" sourceLinked="0"/>
            <c:txPr>
              <a:bodyPr/>
              <a:lstStyle/>
              <a:p>
                <a:pPr>
                  <a:defRPr b="0" i="0" strike="noStrike" sz="900" u="none">
                    <a:solidFill>
                      <a:srgbClr val="0B1F3A"/>
                    </a:solidFill>
                    <a:latin typeface="Calibri"/>
                  </a:defRPr>
                </a:pPr>
              </a:p>
            </c:txPr>
            <c:showLegendKey val="0"/>
            <c:showVal val="0"/>
            <c:showCatName val="0"/>
            <c:showSerName val="0"/>
            <c:showPercent val="0"/>
            <c:showBubbleSize val="0"/>
            <c:showLeaderLines val="0"/>
          </c:dLbls>
          <c:marker>
            <c:symbol val="circle"/>
            <c:size val="6"/>
            <c:spPr>
              <a:solidFill>
                <a:srgbClr val="1E7A46"/>
              </a:solidFill>
              <a:ln w="9525" cap="flat">
                <a:solidFill>
                  <a:srgbClr val="1E7A46"/>
                </a:solidFill>
                <a:prstDash val="solid"/>
                <a:round/>
              </a:ln>
              <a:effectLst/>
            </c:spPr>
          </c:marker>
          <c:cat>
            <c:multiLvlStrRef>
              <c:f>Sheet1!$A$2:$A$11</c:f>
              <c:multiLvlStrCache>
                <c:ptCount val="10"/>
                <c:lvl>
                  <c:pt idx="0">
                    <c:v>Q1'24</c:v>
                  </c:pt>
                  <c:pt idx="1">
                    <c:v>Q2'24</c:v>
                  </c:pt>
                  <c:pt idx="2">
                    <c:v>Q3'24</c:v>
                  </c:pt>
                  <c:pt idx="3">
                    <c:v>Q4'24</c:v>
                  </c:pt>
                  <c:pt idx="4">
                    <c:v>Q1'25</c:v>
                  </c:pt>
                  <c:pt idx="5">
                    <c:v>Q2'25</c:v>
                  </c:pt>
                  <c:pt idx="6">
                    <c:v>Q3'25</c:v>
                  </c:pt>
                  <c:pt idx="7">
                    <c:v>Q4'25</c:v>
                  </c:pt>
                  <c:pt idx="8">
                    <c:v>Q1'26</c:v>
                  </c:pt>
                  <c:pt idx="9">
                    <c:v>Q2'26*</c:v>
                  </c:pt>
                </c:lvl>
              </c:multiLvlStrCache>
            </c:multiLvlStrRef>
          </c:cat>
          <c:val>
            <c:numRef>
              <c:f>Sheet1!$C$2:$C$11</c:f>
              <c:numCache>
                <c:formatCode>General</c:formatCode>
                <c:ptCount val="10"/>
                <c:pt idx="0">
                  <c:v>8244</c:v>
                </c:pt>
                <c:pt idx="1">
                  <c:v>8796</c:v>
                </c:pt>
                <c:pt idx="2">
                  <c:v>9336</c:v>
                </c:pt>
                <c:pt idx="3">
                  <c:v>9858</c:v>
                </c:pt>
                <c:pt idx="4">
                  <c:v>10365</c:v>
                </c:pt>
                <c:pt idx="5">
                  <c:v>10856</c:v>
                </c:pt>
                <c:pt idx="6">
                  <c:v>11338</c:v>
                </c:pt>
                <c:pt idx="7">
                  <c:v>11766</c:v>
                </c:pt>
                <c:pt idx="8">
                  <c:v>12134</c:v>
                </c:pt>
                <c:pt idx="9">
                  <c:v>12540</c:v>
                </c:pt>
              </c:numCache>
            </c:numRef>
          </c:val>
          <c:smooth val="0"/>
        </c:ser>
        <c:dLbls>
          <c:numFmt formatCode="#,##0" sourceLinked="0"/>
          <c:txPr>
            <a:bodyPr/>
            <a:lstStyle/>
            <a:p>
              <a:pPr>
                <a:defRPr b="0" i="0" strike="noStrike" sz="900" u="none">
                  <a:solidFill>
                    <a:srgbClr val="0B1F3A"/>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672"/>
                </a:solidFill>
                <a:latin typeface="Calibri"/>
              </a:defRPr>
            </a:pPr>
            <a:endParaRPr lang="en-US"/>
          </a:p>
        </c:txPr>
        <c:crossAx val="2094734552"/>
        <c:crosses val="autoZero"/>
        <c:auto val="1"/>
        <c:lblAlgn val="ctr"/>
        <c:noMultiLvlLbl val="1"/>
      </c:catAx>
      <c:valAx>
        <c:axId val="2094734552"/>
        <c:scaling>
          <c:orientation val="minMax"/>
          <c:max val="35000"/>
          <c:min val="0"/>
        </c:scaling>
        <c:delete val="0"/>
        <c:axPos val="l"/>
        <c:majorGridlines>
          <c:spPr>
            <a:ln w="9525" cap="flat">
              <a:solidFill>
                <a:srgbClr val="E3E9F0"/>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672"/>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B6672"/>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1F3A"/>
                </a:solidFill>
                <a:latin typeface="Calibri"/>
              </a:defRPr>
            </a:pPr>
            <a:r>
              <a:rPr sz="1200" b="0" i="0" u="none" strike="noStrike">
                <a:solidFill>
                  <a:srgbClr val="0B1F3A"/>
                </a:solidFill>
                <a:latin typeface="Calibri"/>
              </a:rPr>
              <a:t>Earnings-day return vs. Internet net adds printed that day</a:t>
            </a:r>
          </a:p>
        </c:rich>
      </c:tx>
      <c:layout/>
      <c:overlay val="0"/>
    </c:title>
    <c:autoTitleDeleted val="0"/>
    <c:plotArea>
      <c:layout/>
      <c:barChart>
        <c:barDir val="col"/>
        <c:grouping val="clustered"/>
        <c:varyColors val="0"/>
        <c:ser>
          <c:idx val="0"/>
          <c:order val="0"/>
          <c:tx>
            <c:strRef>
              <c:f>Sheet1!$B$1</c:f>
              <c:strCache>
                <c:ptCount val="1"/>
                <c:pt idx="0">
                  <c:v>Earnings-day close-to-close return (%)</c:v>
                </c:pt>
              </c:strCache>
            </c:strRef>
          </c:tx>
          <c:spPr>
            <a:solidFill>
              <a:srgbClr val="0072CE"/>
            </a:solidFill>
            <a:effectLst/>
          </c:spPr>
          <c:invertIfNegative val="0"/>
          <c:dLbls>
            <c:numFmt formatCode="+0.0;−0.0" sourceLinked="0"/>
            <c:txPr>
              <a:bodyPr/>
              <a:lstStyle/>
              <a:p>
                <a:pPr>
                  <a:defRPr b="0" i="0" strike="noStrike" sz="900" u="none">
                    <a:solidFill>
                      <a:srgbClr val="0B1F3A"/>
                    </a:solidFill>
                    <a:latin typeface="Calibri"/>
                  </a:defRPr>
                </a:pPr>
              </a:p>
            </c:txPr>
            <c:showLegendKey val="0"/>
            <c:showVal val="1"/>
            <c:showCatName val="0"/>
            <c:showSerName val="0"/>
            <c:showPercent val="0"/>
            <c:showBubbleSize val="0"/>
            <c:showLeaderLines val="0"/>
          </c:dLbls>
          <c:cat>
            <c:multiLvlStrRef>
              <c:f>Sheet1!$A$2:$A$8</c:f>
              <c:multiLvlStrCache>
                <c:ptCount val="7"/>
                <c:lvl>
                  <c:pt idx="0">
                    <c:v>Q4'24
−177k</c:v>
                  </c:pt>
                  <c:pt idx="1">
                    <c:v>Q1'25
−59k</c:v>
                  </c:pt>
                  <c:pt idx="2">
                    <c:v>Q2'25
−116k</c:v>
                  </c:pt>
                  <c:pt idx="3">
                    <c:v>Q3'25
−109k</c:v>
                  </c:pt>
                  <c:pt idx="4">
                    <c:v>Q4'25
−119k</c:v>
                  </c:pt>
                  <c:pt idx="5">
                    <c:v>Q1'26
−120k</c:v>
                  </c:pt>
                  <c:pt idx="6">
                    <c:v>Q2'26*
−172k</c:v>
                  </c:pt>
                </c:lvl>
              </c:multiLvlStrCache>
            </c:multiLvlStrRef>
          </c:cat>
          <c:val>
            <c:numRef>
              <c:f>Sheet1!$B$2:$B$8</c:f>
              <c:numCache>
                <c:formatCode>General</c:formatCode>
                <c:ptCount val="7"/>
                <c:pt idx="0">
                  <c:v>2.6</c:v>
                </c:pt>
                <c:pt idx="1">
                  <c:v>11.4</c:v>
                </c:pt>
                <c:pt idx="2">
                  <c:v>-18.5</c:v>
                </c:pt>
                <c:pt idx="3">
                  <c:v>1.3</c:v>
                </c:pt>
                <c:pt idx="4">
                  <c:v>7.6</c:v>
                </c:pt>
                <c:pt idx="5">
                  <c:v>-25.5</c:v>
                </c:pt>
                <c:pt idx="6">
                  <c:v>-2.5</c:v>
                </c:pt>
              </c:numCache>
            </c:numRef>
          </c:val>
        </c:ser>
        <c:dLbls>
          <c:numFmt formatCode="+0.0;−0.0" sourceLinked="0"/>
          <c:txPr>
            <a:bodyPr/>
            <a:lstStyle/>
            <a:p>
              <a:pPr>
                <a:defRPr b="0" i="0" strike="noStrike" sz="900" u="none">
                  <a:solidFill>
                    <a:srgbClr val="0B1F3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672"/>
                </a:solidFill>
                <a:latin typeface="Calibri"/>
              </a:defRPr>
            </a:pPr>
            <a:endParaRPr lang="en-US"/>
          </a:p>
        </c:txPr>
        <c:crossAx val="2094734552"/>
        <c:crosses val="autoZero"/>
        <c:auto val="1"/>
        <c:lblAlgn val="ctr"/>
        <c:noMultiLvlLbl val="1"/>
      </c:catAx>
      <c:valAx>
        <c:axId val="2094734552"/>
        <c:scaling>
          <c:orientation val="minMax"/>
          <c:max val="15"/>
          <c:min val="-30"/>
        </c:scaling>
        <c:delete val="0"/>
        <c:axPos val="l"/>
        <c:majorGridlines>
          <c:spPr>
            <a:ln w="9525" cap="flat">
              <a:solidFill>
                <a:srgbClr val="E3E9F0"/>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672"/>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CEO charge in one line: change the share-price trajectory, and prove it can be done. Then say what we found — the market prices the Internet print's acceleration and surprise, nothing else — and preview the three moves. Expect interruptions; the executive summary on the next slide is the fallback if time is 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CEO gives us five minutes, this is the whole pitch. The one-sentence version: we are not recommending a guess about which competitor is winning; we are recommending the sensor that answers it and a battle plan for every answer, plus the disclosure that lets the market see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the symptom (price) from the fundamentals (cash, margin) explicitly — the rubric's Problem Definition points live here. Say 'belief problem' out loud. If asked whether Winfrey is right that the stock is undervalued: probably yes, and that is exactly why a strategic answer rather than a PR answer is required — the market has told us it does not take management's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linger — this chart is the premise, not the insight. The insight is on slide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sets up the economics gate in the playbook: retention cannot be bought with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Mobile is real and valuable — lower margin, resold capacity — but it is not what the multiple is built on. Killing the mobile-netting hypothesis is what forces the recommendation onto the Internet 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money slide. Two consequences fall out of it: (1) a recommendation does not need to get Charter to growth — it needs to bend the second derivative enough that Q1'27 prints better than −120k and Q2'27 better than −172k, by more than the sell-side has modeled; (2) the market prices surprise, so anything that reduces surprise — pre-committed responses, published triggers — has value in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killed hypotheses as a chain — that is the method working, and it pre-empts 'why not just cut costs' and 'why not wait for capex to roll off.' Provenance: price and multiple data are analysis, not filings; the filings back the margin and cost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slide from analysis to recommendation. The honest line: we can prove nobody can name the attacker today — that is the finding, and it is what makes 'pick a defense' the wrong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'isn't this just more analysis?': the analysis takes two quarters and is table stakes. The recommendation is the pre-commitment architecture around it and the disclosure regime that lets the market watch it work. Recommendation 3 is what connects the whole thing to the share price rather than just 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on step 3 if challenged — it applies the client's own call-center triage-code lesson: sample and audit coded fields against measured reality rather than trusting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challenged on 40/25: arbitrary-but-stated beats unstated. Calibrated so a cohort matching the fiber-overlap share (~27%) registers as meaningful; client data re-tunes before go-live.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Leave-behind exhibit. If the CEO reads one page, it is this one. Detail on each scenario follows on the next two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2's kill condition is the honest one: if a parity product still loses, no capex fixes it. The harvest fallback is uncomfortable — which is exactly why it must be pre-committed rather than debated after the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6 is the completeness argument — it makes the playbook MECE over outcomes and answers 'what if the data disappoints.' It is also the bridge to Recommendation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scope-boundary slide. Anticipate 'isn't this a communications patch?' Answer: A and B disclose a real operating system and a real segmentation of the business; C is a capital-allocation decision with cash consequences. None of them is a press release — each changes what management commits to and is measured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'convince us it can be done' slide. The honest caveat: gross adds are outside the mechanism's reach and depend on housing; the sensor tells us how much of the problem that is (Scenario 4). Keep the churn math as order-of-magnitude — Charter does not disclose churn.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governance spine answers 'what would it take': named owner, ratified thresholds, budgets attached to triggers, kill conditions that cannot be renegotiated. Reliability beats hero timelines — set dates Charter can beat.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Owning the trade-offs preempts the hardest Q&amp;A and scores on the rubric's Actionability. The two-consecutive-quarter rule is the safety interlock on pre-commitment.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pitch line, then the four asks. Then stop talking and take questions — the executive team will have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1F3A"/>
          </a:solidFill>
          <a:ln/>
        </p:spPr>
      </p:sp>
      <p:sp>
        <p:nvSpPr>
          <p:cNvPr id="3" name="Text 1"/>
          <p:cNvSpPr txBox="1"/>
          <p:nvPr/>
        </p:nvSpPr>
        <p:spPr>
          <a:xfrm>
            <a:off x="822960" y="1188720"/>
            <a:ext cx="10607040" cy="365760"/>
          </a:xfrm>
          <a:prstGeom prst="rect">
            <a:avLst/>
          </a:prstGeom>
          <a:noFill/>
          <a:ln/>
        </p:spPr>
        <p:txBody>
          <a:bodyPr wrap="square" lIns="0" tIns="0" rIns="0" bIns="0" rtlCol="0" anchor="ctr"/>
          <a:lstStyle/>
          <a:p>
            <a:pPr indent="0" marL="0">
              <a:buNone/>
            </a:pPr>
            <a:r>
              <a:rPr lang="en-US" sz="1300" b="1" spc="300" kern="0" dirty="0">
                <a:solidFill>
                  <a:srgbClr val="0072CE"/>
                </a:solidFill>
                <a:latin typeface="Calibri" pitchFamily="34" charset="0"/>
                <a:ea typeface="Calibri" pitchFamily="34" charset="-122"/>
                <a:cs typeface="Calibri" pitchFamily="34" charset="-120"/>
              </a:rPr>
              <a:t>A STRATEGY ENGAGEMENT FOR THE OFFICE OF THE CEO  ·  CHARTER COMMUNICATIONS</a:t>
            </a:r>
            <a:endParaRPr lang="en-US" sz="1300" dirty="0"/>
          </a:p>
        </p:txBody>
      </p:sp>
      <p:sp>
        <p:nvSpPr>
          <p:cNvPr id="4" name="Text 2"/>
          <p:cNvSpPr txBox="1"/>
          <p:nvPr/>
        </p:nvSpPr>
        <p:spPr>
          <a:xfrm>
            <a:off x="822960" y="1691640"/>
            <a:ext cx="10607040" cy="8229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Changing the Trajectory</a:t>
            </a:r>
            <a:endParaRPr lang="en-US" sz="4400" dirty="0"/>
          </a:p>
        </p:txBody>
      </p:sp>
      <p:sp>
        <p:nvSpPr>
          <p:cNvPr id="5" name="Text 3"/>
          <p:cNvSpPr txBox="1"/>
          <p:nvPr/>
        </p:nvSpPr>
        <p:spPr>
          <a:xfrm>
            <a:off x="822960" y="2606040"/>
            <a:ext cx="10607040" cy="914400"/>
          </a:xfrm>
          <a:prstGeom prst="rect">
            <a:avLst/>
          </a:prstGeom>
          <a:noFill/>
          <a:ln/>
        </p:spPr>
        <p:txBody>
          <a:bodyPr wrap="square" lIns="0" tIns="0" rIns="0" bIns="0" rtlCol="0" anchor="ctr"/>
          <a:lstStyle/>
          <a:p>
            <a:pPr indent="0" marL="0">
              <a:lnSpc>
                <a:spcPct val="110000"/>
              </a:lnSpc>
              <a:buNone/>
            </a:pPr>
            <a:r>
              <a:rPr lang="en-US" sz="2000" dirty="0">
                <a:solidFill>
                  <a:srgbClr val="DCE9F7"/>
                </a:solidFill>
                <a:latin typeface="Calibri" pitchFamily="34" charset="0"/>
                <a:ea typeface="Calibri" pitchFamily="34" charset="-122"/>
                <a:cs typeface="Calibri" pitchFamily="34" charset="-120"/>
              </a:rPr>
              <a:t>The market prices one number. Identify what is moving it, pre-commit the response,</a:t>
            </a:r>
            <a:endParaRPr lang="en-US" sz="2000" dirty="0"/>
          </a:p>
          <a:p>
            <a:pPr indent="0" marL="0">
              <a:lnSpc>
                <a:spcPct val="110000"/>
              </a:lnSpc>
              <a:buNone/>
            </a:pPr>
            <a:r>
              <a:rPr lang="en-US" sz="2000" dirty="0">
                <a:solidFill>
                  <a:srgbClr val="DCE9F7"/>
                </a:solidFill>
                <a:latin typeface="Calibri" pitchFamily="34" charset="0"/>
                <a:ea typeface="Calibri" pitchFamily="34" charset="-122"/>
                <a:cs typeface="Calibri" pitchFamily="34" charset="-120"/>
              </a:rPr>
              <a:t>and give Wall Street a trajectory it can verify.</a:t>
            </a:r>
            <a:endParaRPr lang="en-US" sz="2000" dirty="0"/>
          </a:p>
        </p:txBody>
      </p:sp>
      <p:sp>
        <p:nvSpPr>
          <p:cNvPr id="6" name="Text 4"/>
          <p:cNvSpPr txBox="1"/>
          <p:nvPr/>
        </p:nvSpPr>
        <p:spPr>
          <a:xfrm>
            <a:off x="822960" y="3794760"/>
            <a:ext cx="10424160" cy="8686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recommendation in one breath:  </a:t>
            </a:r>
            <a:pPr indent="0" marL="0">
              <a:buNone/>
            </a:pPr>
            <a:r>
              <a:rPr lang="en-US" sz="1400" dirty="0">
                <a:solidFill>
                  <a:srgbClr val="8A94A0"/>
                </a:solidFill>
                <a:latin typeface="Calibri" pitchFamily="34" charset="0"/>
                <a:ea typeface="Calibri" pitchFamily="34" charset="-122"/>
                <a:cs typeface="Calibri" pitchFamily="34" charset="-120"/>
              </a:rPr>
              <a:t>a churn-attribution engine that names the attacker within two quarters using data Charter already has; a pre-committed playbook for every answer it can return; and a disclosure and capital regime that changes what the market is pricing.</a:t>
            </a:r>
            <a:endParaRPr lang="en-US" sz="1400" dirty="0"/>
          </a:p>
        </p:txBody>
      </p:sp>
      <p:sp>
        <p:nvSpPr>
          <p:cNvPr id="7" name="Shape 5"/>
          <p:cNvSpPr/>
          <p:nvPr/>
        </p:nvSpPr>
        <p:spPr>
          <a:xfrm>
            <a:off x="822960" y="4937760"/>
            <a:ext cx="2011680" cy="0"/>
          </a:xfrm>
          <a:prstGeom prst="line">
            <a:avLst/>
          </a:prstGeom>
          <a:noFill/>
          <a:ln w="31750">
            <a:solidFill>
              <a:srgbClr val="0072CE"/>
            </a:solidFill>
            <a:prstDash val="solid"/>
          </a:ln>
        </p:spPr>
      </p:sp>
      <p:sp>
        <p:nvSpPr>
          <p:cNvPr id="8" name="Text 6"/>
          <p:cNvSpPr txBox="1"/>
          <p:nvPr/>
        </p:nvSpPr>
        <p:spPr>
          <a:xfrm>
            <a:off x="822960" y="5120640"/>
            <a:ext cx="91440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[Team Name]  ·  Josh · Kishore · Justin · Kyle</a:t>
            </a:r>
            <a:endParaRPr lang="en-US" sz="1400" dirty="0"/>
          </a:p>
        </p:txBody>
      </p:sp>
      <p:sp>
        <p:nvSpPr>
          <p:cNvPr id="9" name="Text 7"/>
          <p:cNvSpPr txBox="1"/>
          <p:nvPr/>
        </p:nvSpPr>
        <p:spPr>
          <a:xfrm>
            <a:off x="822960" y="5532120"/>
            <a:ext cx="9144000" cy="320040"/>
          </a:xfrm>
          <a:prstGeom prst="rect">
            <a:avLst/>
          </a:prstGeom>
          <a:noFill/>
          <a:ln/>
        </p:spPr>
        <p:txBody>
          <a:bodyPr wrap="square" lIns="0" tIns="0" rIns="0" bIns="0" rtlCol="0" anchor="ctr"/>
          <a:lstStyle/>
          <a:p>
            <a:pPr indent="0" marL="0">
              <a:buNone/>
            </a:pPr>
            <a:r>
              <a:rPr lang="en-US" sz="1200" dirty="0">
                <a:solidFill>
                  <a:srgbClr val="8A94A0"/>
                </a:solidFill>
                <a:latin typeface="Calibri" pitchFamily="34" charset="0"/>
                <a:ea typeface="Calibri" pitchFamily="34" charset="-122"/>
                <a:cs typeface="Calibri" pitchFamily="34" charset="-120"/>
              </a:rPr>
              <a:t>MAN 6930 · Foundations of Consulting · Final Presentation · September 2026</a:t>
            </a:r>
            <a:endParaRPr lang="en-US" sz="1200" dirty="0"/>
          </a:p>
        </p:txBody>
      </p:sp>
      <p:sp>
        <p:nvSpPr>
          <p:cNvPr id="10" name="Text 8"/>
          <p:cNvSpPr txBox="1"/>
          <p:nvPr/>
        </p:nvSpPr>
        <p:spPr>
          <a:xfrm>
            <a:off x="822960" y="5897880"/>
            <a:ext cx="9144000" cy="274320"/>
          </a:xfrm>
          <a:prstGeom prst="rect">
            <a:avLst/>
          </a:prstGeom>
          <a:noFill/>
          <a:ln/>
        </p:spPr>
        <p:txBody>
          <a:bodyPr wrap="square" lIns="0" tIns="0" rIns="0" bIns="0" rtlCol="0" anchor="ctr"/>
          <a:lstStyle/>
          <a:p>
            <a:pPr indent="0" marL="0">
              <a:buNone/>
            </a:pPr>
            <a:r>
              <a:rPr lang="en-US" sz="1000" i="1" dirty="0">
                <a:solidFill>
                  <a:srgbClr val="8A94A0"/>
                </a:solidFill>
                <a:latin typeface="Calibri" pitchFamily="34" charset="0"/>
                <a:ea typeface="Calibri" pitchFamily="34" charset="-122"/>
                <a:cs typeface="Calibri" pitchFamily="34" charset="-120"/>
              </a:rPr>
              <a:t>Facts anchored to Q1 2026 (March 31, 2026). Later public facts are labeled where used.</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292608"/>
            <a:ext cx="10515600" cy="274320"/>
          </a:xfrm>
          <a:prstGeom prst="rect">
            <a:avLst/>
          </a:prstGeom>
          <a:noFill/>
          <a:ln/>
        </p:spPr>
        <p:txBody>
          <a:bodyPr wrap="square" lIns="0" tIns="0" rIns="0" bIns="0" rtlCol="0" anchor="ctr"/>
          <a:lstStyle/>
          <a:p>
            <a:pPr indent="0" marL="0">
              <a:buNone/>
            </a:pPr>
            <a:r>
              <a:rPr lang="en-US" sz="1100" b="1" spc="200" kern="0" dirty="0">
                <a:solidFill>
                  <a:srgbClr val="0072CE"/>
                </a:solidFill>
                <a:latin typeface="Calibri" pitchFamily="34" charset="0"/>
                <a:ea typeface="Calibri" pitchFamily="34" charset="-122"/>
                <a:cs typeface="Calibri" pitchFamily="34" charset="-120"/>
              </a:rPr>
              <a:t>EXECUTIVE SUMMARY</a:t>
            </a:r>
            <a:endParaRPr lang="en-US" sz="1100" dirty="0"/>
          </a:p>
        </p:txBody>
      </p:sp>
      <p:sp>
        <p:nvSpPr>
          <p:cNvPr id="3" name="Text 1"/>
          <p:cNvSpPr txBox="1"/>
          <p:nvPr/>
        </p:nvSpPr>
        <p:spPr>
          <a:xfrm>
            <a:off x="502920" y="566928"/>
            <a:ext cx="11155680" cy="1005840"/>
          </a:xfrm>
          <a:prstGeom prst="rect">
            <a:avLst/>
          </a:prstGeom>
          <a:noFill/>
          <a:ln/>
        </p:spPr>
        <p:txBody>
          <a:bodyPr wrap="square" lIns="0" tIns="0" rIns="0" bIns="0" rtlCol="0" anchor="t"/>
          <a:lstStyle/>
          <a:p>
            <a:pPr indent="0" marL="0">
              <a:buNone/>
            </a:pPr>
            <a:r>
              <a:rPr lang="en-US" sz="2200" b="1" dirty="0">
                <a:solidFill>
                  <a:srgbClr val="0B1F3A"/>
                </a:solidFill>
                <a:latin typeface="Calibri" pitchFamily="34" charset="0"/>
                <a:ea typeface="Calibri" pitchFamily="34" charset="-122"/>
                <a:cs typeface="Calibri" pitchFamily="34" charset="-120"/>
              </a:rPr>
              <a:t>The stock is not pricing Charter's cash. It is pricing the Internet print’s acceleration — and today, nobody can say what is driving it</a:t>
            </a:r>
            <a:endParaRPr lang="en-US" sz="2200" dirty="0"/>
          </a:p>
        </p:txBody>
      </p:sp>
      <p:sp>
        <p:nvSpPr>
          <p:cNvPr id="4" name="Shape 2"/>
          <p:cNvSpPr/>
          <p:nvPr/>
        </p:nvSpPr>
        <p:spPr>
          <a:xfrm>
            <a:off x="502920" y="1783080"/>
            <a:ext cx="3520440" cy="4297680"/>
          </a:xfrm>
          <a:prstGeom prst="roundRect">
            <a:avLst>
              <a:gd name="adj" fmla="val 2078"/>
            </a:avLst>
          </a:prstGeom>
          <a:solidFill>
            <a:srgbClr val="F2F6FB"/>
          </a:solidFill>
          <a:ln w="12700">
            <a:solidFill>
              <a:srgbClr val="D7E0EA"/>
            </a:solidFill>
            <a:prstDash val="solid"/>
          </a:ln>
        </p:spPr>
      </p:sp>
      <p:sp>
        <p:nvSpPr>
          <p:cNvPr id="5" name="Text 3"/>
          <p:cNvSpPr txBox="1"/>
          <p:nvPr/>
        </p:nvSpPr>
        <p:spPr>
          <a:xfrm>
            <a:off x="731520" y="1938528"/>
            <a:ext cx="3063240" cy="256032"/>
          </a:xfrm>
          <a:prstGeom prst="rect">
            <a:avLst/>
          </a:prstGeom>
          <a:noFill/>
          <a:ln/>
        </p:spPr>
        <p:txBody>
          <a:bodyPr wrap="square" lIns="0" tIns="0" rIns="0" bIns="0" rtlCol="0" anchor="ctr"/>
          <a:lstStyle/>
          <a:p>
            <a:pPr indent="0" marL="0">
              <a:buNone/>
            </a:pPr>
            <a:r>
              <a:rPr lang="en-US" sz="1000" b="1" spc="150" kern="0" dirty="0">
                <a:solidFill>
                  <a:srgbClr val="0072CE"/>
                </a:solidFill>
                <a:latin typeface="Calibri" pitchFamily="34" charset="0"/>
                <a:ea typeface="Calibri" pitchFamily="34" charset="-122"/>
                <a:cs typeface="Calibri" pitchFamily="34" charset="-120"/>
              </a:rPr>
              <a:t>WHAT WE FOUND</a:t>
            </a:r>
            <a:endParaRPr lang="en-US" sz="1000" dirty="0"/>
          </a:p>
        </p:txBody>
      </p:sp>
      <p:sp>
        <p:nvSpPr>
          <p:cNvPr id="6" name="Text 4"/>
          <p:cNvSpPr txBox="1"/>
          <p:nvPr/>
        </p:nvSpPr>
        <p:spPr>
          <a:xfrm>
            <a:off x="731520" y="2212848"/>
            <a:ext cx="3063240" cy="685800"/>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A belief problem, not a distress problem</a:t>
            </a:r>
            <a:endParaRPr lang="en-US" sz="1350" dirty="0"/>
          </a:p>
        </p:txBody>
      </p:sp>
      <p:sp>
        <p:nvSpPr>
          <p:cNvPr id="7" name="Text 5"/>
          <p:cNvSpPr txBox="1"/>
          <p:nvPr/>
        </p:nvSpPr>
        <p:spPr>
          <a:xfrm>
            <a:off x="731520" y="2926080"/>
            <a:ext cx="3063240" cy="306324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5B6672"/>
                </a:solidFill>
                <a:latin typeface="Calibri" pitchFamily="34" charset="0"/>
                <a:ea typeface="Calibri" pitchFamily="34" charset="-122"/>
                <a:cs typeface="Calibri" pitchFamily="34" charset="-120"/>
              </a:rPr>
              <a:t>Charter generates $5.0B FCF and holds ~41% EBITDA margins — yet the stock is down ~80% in five years and fell 25.5% on April 24, 2026.</a:t>
            </a:r>
            <a:endParaRPr lang="en-US" sz="1050" dirty="0"/>
          </a:p>
          <a:p>
            <a:pPr marL="342900" indent="-342900">
              <a:spcAft>
                <a:spcPts val="500"/>
              </a:spcAft>
              <a:buSzPct val="100000"/>
              <a:buChar char="•"/>
            </a:pPr>
            <a:r>
              <a:rPr lang="en-US" sz="1050" dirty="0">
                <a:solidFill>
                  <a:srgbClr val="5B6672"/>
                </a:solidFill>
                <a:latin typeface="Calibri" pitchFamily="34" charset="0"/>
                <a:ea typeface="Calibri" pitchFamily="34" charset="-122"/>
                <a:cs typeface="Calibri" pitchFamily="34" charset="-120"/>
              </a:rPr>
              <a:t>Our event study shows the tape prices the YoY change and consensus surprise in Internet net adds. Q4’25 (−119k) rallied +7.6%; Q1’26 (−120k) collapsed because it doubled the year-ago loss.</a:t>
            </a:r>
            <a:endParaRPr lang="en-US" sz="1050" dirty="0"/>
          </a:p>
          <a:p>
            <a:pPr marL="342900" indent="-342900">
              <a:spcAft>
                <a:spcPts val="500"/>
              </a:spcAft>
              <a:buSzPct val="100000"/>
              <a:buChar char="•"/>
            </a:pPr>
            <a:r>
              <a:rPr lang="en-US" sz="1050" dirty="0">
                <a:solidFill>
                  <a:srgbClr val="5B6672"/>
                </a:solidFill>
                <a:latin typeface="Calibri" pitchFamily="34" charset="0"/>
                <a:ea typeface="Calibri" pitchFamily="34" charset="-122"/>
                <a:cs typeface="Calibri" pitchFamily="34" charset="-120"/>
              </a:rPr>
              <a:t>Internet is now shrinking in dollars, not just subscribers (Q1’26 Internet revenue −1.3%). Mobile growth is not credited against it.</a:t>
            </a:r>
            <a:endParaRPr lang="en-US" sz="1050" dirty="0"/>
          </a:p>
          <a:p>
            <a:pPr marL="342900" indent="-342900">
              <a:spcAft>
                <a:spcPts val="500"/>
              </a:spcAft>
              <a:buSzPct val="100000"/>
              <a:buChar char="•"/>
            </a:pPr>
            <a:r>
              <a:rPr lang="en-US" sz="1050" dirty="0">
                <a:solidFill>
                  <a:srgbClr val="5B6672"/>
                </a:solidFill>
                <a:latin typeface="Calibri" pitchFamily="34" charset="0"/>
                <a:ea typeface="Calibri" pitchFamily="34" charset="-122"/>
                <a:cs typeface="Calibri" pitchFamily="34" charset="-120"/>
              </a:rPr>
              <a:t>Fiber, FWA, satellite, housing, and price are jointly unidentified in every filing. Nobody — including Charter — can name the attacker.</a:t>
            </a:r>
            <a:endParaRPr lang="en-US" sz="1050" dirty="0"/>
          </a:p>
        </p:txBody>
      </p:sp>
      <p:sp>
        <p:nvSpPr>
          <p:cNvPr id="8" name="Shape 6"/>
          <p:cNvSpPr/>
          <p:nvPr/>
        </p:nvSpPr>
        <p:spPr>
          <a:xfrm>
            <a:off x="4343400" y="1783080"/>
            <a:ext cx="3520440" cy="4297680"/>
          </a:xfrm>
          <a:prstGeom prst="roundRect">
            <a:avLst>
              <a:gd name="adj" fmla="val 2078"/>
            </a:avLst>
          </a:prstGeom>
          <a:solidFill>
            <a:srgbClr val="F2F6FB"/>
          </a:solidFill>
          <a:ln w="15875">
            <a:solidFill>
              <a:srgbClr val="0072CE"/>
            </a:solidFill>
            <a:prstDash val="solid"/>
          </a:ln>
        </p:spPr>
      </p:sp>
      <p:sp>
        <p:nvSpPr>
          <p:cNvPr id="9" name="Text 7"/>
          <p:cNvSpPr txBox="1"/>
          <p:nvPr/>
        </p:nvSpPr>
        <p:spPr>
          <a:xfrm>
            <a:off x="4572000" y="1938528"/>
            <a:ext cx="3063240" cy="256032"/>
          </a:xfrm>
          <a:prstGeom prst="rect">
            <a:avLst/>
          </a:prstGeom>
          <a:noFill/>
          <a:ln/>
        </p:spPr>
        <p:txBody>
          <a:bodyPr wrap="square" lIns="0" tIns="0" rIns="0" bIns="0" rtlCol="0" anchor="ctr"/>
          <a:lstStyle/>
          <a:p>
            <a:pPr indent="0" marL="0">
              <a:buNone/>
            </a:pPr>
            <a:r>
              <a:rPr lang="en-US" sz="1000" b="1" spc="150" kern="0" dirty="0">
                <a:solidFill>
                  <a:srgbClr val="0072CE"/>
                </a:solidFill>
                <a:latin typeface="Calibri" pitchFamily="34" charset="0"/>
                <a:ea typeface="Calibri" pitchFamily="34" charset="-122"/>
                <a:cs typeface="Calibri" pitchFamily="34" charset="-120"/>
              </a:rPr>
              <a:t>WHAT WE RECOMMEND</a:t>
            </a:r>
            <a:endParaRPr lang="en-US" sz="1000" dirty="0"/>
          </a:p>
        </p:txBody>
      </p:sp>
      <p:sp>
        <p:nvSpPr>
          <p:cNvPr id="10" name="Text 8"/>
          <p:cNvSpPr txBox="1"/>
          <p:nvPr/>
        </p:nvSpPr>
        <p:spPr>
          <a:xfrm>
            <a:off x="4572000" y="2212848"/>
            <a:ext cx="3063240" cy="685800"/>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Identify the attacker. Pre-commit the response. Change what the market prices.</a:t>
            </a:r>
            <a:endParaRPr lang="en-US" sz="1350" dirty="0"/>
          </a:p>
        </p:txBody>
      </p:sp>
      <p:sp>
        <p:nvSpPr>
          <p:cNvPr id="11" name="Text 9"/>
          <p:cNvSpPr txBox="1"/>
          <p:nvPr/>
        </p:nvSpPr>
        <p:spPr>
          <a:xfrm>
            <a:off x="4572000" y="2926080"/>
            <a:ext cx="3063240" cy="306324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5B6672"/>
                </a:solidFill>
                <a:latin typeface="Calibri" pitchFamily="34" charset="0"/>
                <a:ea typeface="Calibri" pitchFamily="34" charset="-122"/>
                <a:cs typeface="Calibri" pitchFamily="34" charset="-120"/>
              </a:rPr>
              <a:t>Rec 1 — The sensor: a churn-attribution engine that classifies every disconnect by competitive exposure using FCC BDC data and internal records. First full read in two quarters.</a:t>
            </a:r>
            <a:endParaRPr lang="en-US" sz="1050" dirty="0"/>
          </a:p>
          <a:p>
            <a:pPr marL="342900" indent="-342900">
              <a:spcAft>
                <a:spcPts val="500"/>
              </a:spcAft>
              <a:buSzPct val="100000"/>
              <a:buChar char="•"/>
            </a:pPr>
            <a:r>
              <a:rPr lang="en-US" sz="1050" dirty="0">
                <a:solidFill>
                  <a:srgbClr val="5B6672"/>
                </a:solidFill>
                <a:latin typeface="Calibri" pitchFamily="34" charset="0"/>
                <a:ea typeface="Calibri" pitchFamily="34" charset="-122"/>
                <a:cs typeface="Calibri" pitchFamily="34" charset="-120"/>
              </a:rPr>
              <a:t>Rec 2 — The playbook: six pre-committed if-then scenarios with stated thresholds, budgets, proof metrics, and kill conditions. Identification converts to action in the same quarter.</a:t>
            </a:r>
            <a:endParaRPr lang="en-US" sz="1050" dirty="0"/>
          </a:p>
          <a:p>
            <a:pPr marL="342900" indent="-342900">
              <a:spcAft>
                <a:spcPts val="500"/>
              </a:spcAft>
              <a:buSzPct val="100000"/>
              <a:buChar char="•"/>
            </a:pPr>
            <a:r>
              <a:rPr lang="en-US" sz="1050" dirty="0">
                <a:solidFill>
                  <a:srgbClr val="5B6672"/>
                </a:solidFill>
                <a:latin typeface="Calibri" pitchFamily="34" charset="0"/>
                <a:ea typeface="Calibri" pitchFamily="34" charset="-122"/>
                <a:cs typeface="Calibri" pitchFamily="34" charset="-120"/>
              </a:rPr>
              <a:t>Rec 3 — The market layer: publish the triggers, re-segment disclosure (rural build vs. mature core), guide steady-state post-2027 capex, and shift capital allocation from buybacks to deleveraging until net adds stabilize.</a:t>
            </a:r>
            <a:endParaRPr lang="en-US" sz="1050" dirty="0"/>
          </a:p>
        </p:txBody>
      </p:sp>
      <p:sp>
        <p:nvSpPr>
          <p:cNvPr id="12" name="Shape 10"/>
          <p:cNvSpPr/>
          <p:nvPr/>
        </p:nvSpPr>
        <p:spPr>
          <a:xfrm>
            <a:off x="8183880" y="1783080"/>
            <a:ext cx="3520440" cy="4297680"/>
          </a:xfrm>
          <a:prstGeom prst="roundRect">
            <a:avLst>
              <a:gd name="adj" fmla="val 2078"/>
            </a:avLst>
          </a:prstGeom>
          <a:solidFill>
            <a:srgbClr val="F2F6FB"/>
          </a:solidFill>
          <a:ln w="12700">
            <a:solidFill>
              <a:srgbClr val="D7E0EA"/>
            </a:solidFill>
            <a:prstDash val="solid"/>
          </a:ln>
        </p:spPr>
      </p:sp>
      <p:sp>
        <p:nvSpPr>
          <p:cNvPr id="13" name="Text 11"/>
          <p:cNvSpPr txBox="1"/>
          <p:nvPr/>
        </p:nvSpPr>
        <p:spPr>
          <a:xfrm>
            <a:off x="8412480" y="1938528"/>
            <a:ext cx="3063240" cy="256032"/>
          </a:xfrm>
          <a:prstGeom prst="rect">
            <a:avLst/>
          </a:prstGeom>
          <a:noFill/>
          <a:ln/>
        </p:spPr>
        <p:txBody>
          <a:bodyPr wrap="square" lIns="0" tIns="0" rIns="0" bIns="0" rtlCol="0" anchor="ctr"/>
          <a:lstStyle/>
          <a:p>
            <a:pPr indent="0" marL="0">
              <a:buNone/>
            </a:pPr>
            <a:r>
              <a:rPr lang="en-US" sz="1000" b="1" spc="150" kern="0" dirty="0">
                <a:solidFill>
                  <a:srgbClr val="0072CE"/>
                </a:solidFill>
                <a:latin typeface="Calibri" pitchFamily="34" charset="0"/>
                <a:ea typeface="Calibri" pitchFamily="34" charset="-122"/>
                <a:cs typeface="Calibri" pitchFamily="34" charset="-120"/>
              </a:rPr>
              <a:t>WHAT IT TAKES</a:t>
            </a:r>
            <a:endParaRPr lang="en-US" sz="1000" dirty="0"/>
          </a:p>
        </p:txBody>
      </p:sp>
      <p:sp>
        <p:nvSpPr>
          <p:cNvPr id="14" name="Text 12"/>
          <p:cNvSpPr txBox="1"/>
          <p:nvPr/>
        </p:nvSpPr>
        <p:spPr>
          <a:xfrm>
            <a:off x="8412480" y="2212848"/>
            <a:ext cx="3063240" cy="685800"/>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Cheap sensor, gated plays, honest failure modes</a:t>
            </a:r>
            <a:endParaRPr lang="en-US" sz="1350" dirty="0"/>
          </a:p>
        </p:txBody>
      </p:sp>
      <p:sp>
        <p:nvSpPr>
          <p:cNvPr id="15" name="Text 13"/>
          <p:cNvSpPr txBox="1"/>
          <p:nvPr/>
        </p:nvSpPr>
        <p:spPr>
          <a:xfrm>
            <a:off x="8412480" y="2926080"/>
            <a:ext cx="3063240" cy="306324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5B6672"/>
                </a:solidFill>
                <a:latin typeface="Calibri" pitchFamily="34" charset="0"/>
                <a:ea typeface="Calibri" pitchFamily="34" charset="-122"/>
                <a:cs typeface="Calibri" pitchFamily="34" charset="-120"/>
              </a:rPr>
              <a:t>Cost: low single-digit $M for the sensor; each play carries a pre-authorized budget released only by its trigger. [assumption — to size with client data]</a:t>
            </a:r>
            <a:endParaRPr lang="en-US" sz="1050" dirty="0"/>
          </a:p>
          <a:p>
            <a:pPr marL="342900" indent="-342900">
              <a:spcAft>
                <a:spcPts val="500"/>
              </a:spcAft>
              <a:buSzPct val="100000"/>
              <a:buChar char="•"/>
            </a:pPr>
            <a:r>
              <a:rPr lang="en-US" sz="1050" dirty="0">
                <a:solidFill>
                  <a:srgbClr val="5B6672"/>
                </a:solidFill>
                <a:latin typeface="Calibri" pitchFamily="34" charset="0"/>
                <a:ea typeface="Calibri" pitchFamily="34" charset="-122"/>
                <a:cs typeface="Calibri" pitchFamily="34" charset="-120"/>
              </a:rPr>
              <a:t>Time to matter: sensor live in Q+1, first read Q+2, plays trigger Q+3, proof-or-kill Q+4–5 — inside the ~8-quarter window before the market stops listening.</a:t>
            </a:r>
            <a:endParaRPr lang="en-US" sz="1050" dirty="0"/>
          </a:p>
          <a:p>
            <a:pPr marL="342900" indent="-342900">
              <a:spcAft>
                <a:spcPts val="500"/>
              </a:spcAft>
              <a:buSzPct val="100000"/>
              <a:buChar char="•"/>
            </a:pPr>
            <a:r>
              <a:rPr lang="en-US" sz="1050" dirty="0">
                <a:solidFill>
                  <a:srgbClr val="5B6672"/>
                </a:solidFill>
                <a:latin typeface="Calibri" pitchFamily="34" charset="0"/>
                <a:ea typeface="Calibri" pitchFamily="34" charset="-122"/>
                <a:cs typeface="Calibri" pitchFamily="34" charset="-120"/>
              </a:rPr>
              <a:t>How it moves the stock: bend the Q1’27 print vs. −120k and Q2’27 vs. −172k. Historical analogs for one improving print: +7.6% to +11.4% on the day. On a levered equity, one-tenth of a turn of EV/EBITDA is worth ~9% of the market cap.</a:t>
            </a:r>
            <a:endParaRPr lang="en-US" sz="1050" dirty="0"/>
          </a:p>
        </p:txBody>
      </p:sp>
      <p:sp>
        <p:nvSpPr>
          <p:cNvPr id="16" name="Text 14"/>
          <p:cNvSpPr txBox="1"/>
          <p:nvPr/>
        </p:nvSpPr>
        <p:spPr>
          <a:xfrm>
            <a:off x="502920" y="6144768"/>
            <a:ext cx="11155680" cy="256032"/>
          </a:xfrm>
          <a:prstGeom prst="rect">
            <a:avLst/>
          </a:prstGeom>
          <a:noFill/>
          <a:ln/>
        </p:spPr>
        <p:txBody>
          <a:bodyPr wrap="square" lIns="0" tIns="0" rIns="0" bIns="0" rtlCol="0" anchor="ctr"/>
          <a:lstStyle/>
          <a:p>
            <a:pPr indent="0" marL="0">
              <a:buNone/>
            </a:pPr>
            <a:r>
              <a:rPr lang="en-US" sz="900" i="1" dirty="0">
                <a:solidFill>
                  <a:srgbClr val="8A94A0"/>
                </a:solidFill>
                <a:latin typeface="Calibri" pitchFamily="34" charset="0"/>
                <a:ea typeface="Calibri" pitchFamily="34" charset="-122"/>
                <a:cs typeface="Calibri" pitchFamily="34" charset="-120"/>
              </a:rPr>
              <a:t>Source: FY2025 10-K; Q1 2026 10-Q and Ex99.1; team event study (Yahoo close-to-close on earnings dates; analysis, not a filing). Blue bracketed items are team assumptions.</a:t>
            </a:r>
            <a:endParaRPr lang="en-US" sz="900" dirty="0"/>
          </a:p>
        </p:txBody>
      </p:sp>
      <p:sp>
        <p:nvSpPr>
          <p:cNvPr id="17" name="Text 15"/>
          <p:cNvSpPr txBox="1"/>
          <p:nvPr/>
        </p:nvSpPr>
        <p:spPr>
          <a:xfrm>
            <a:off x="11567160" y="6446520"/>
            <a:ext cx="457200" cy="274320"/>
          </a:xfrm>
          <a:prstGeom prst="rect">
            <a:avLst/>
          </a:prstGeom>
          <a:noFill/>
          <a:ln/>
        </p:spPr>
        <p:txBody>
          <a:bodyPr wrap="square" lIns="0" tIns="0" rIns="0" bIns="0" rtlCol="0" anchor="ctr"/>
          <a:lstStyle/>
          <a:p>
            <a:pPr algn="r" indent="0" marL="0">
              <a:buNone/>
            </a:pPr>
            <a:r>
              <a:rPr lang="en-US" sz="1000" dirty="0">
                <a:solidFill>
                  <a:srgbClr val="8A94A0"/>
                </a:solidFill>
                <a:latin typeface="Calibri" pitchFamily="34" charset="0"/>
                <a:ea typeface="Calibri" pitchFamily="34" charset="-122"/>
                <a:cs typeface="Calibri" pitchFamily="34" charset="-120"/>
              </a:rPr>
              <a:t>2</a:t>
            </a:r>
            <a:endParaRPr lang="en-US" sz="1000" dirty="0"/>
          </a:p>
        </p:txBody>
      </p:sp>
      <p:sp>
        <p:nvSpPr>
          <p:cNvPr id="18" name="Text 16"/>
          <p:cNvSpPr txBox="1"/>
          <p:nvPr/>
        </p:nvSpPr>
        <p:spPr>
          <a:xfrm>
            <a:off x="502920" y="6446520"/>
            <a:ext cx="10881360" cy="274320"/>
          </a:xfrm>
          <a:prstGeom prst="rect">
            <a:avLst/>
          </a:prstGeom>
          <a:noFill/>
          <a:ln/>
        </p:spPr>
        <p:txBody>
          <a:bodyPr wrap="square" lIns="0" tIns="0" rIns="0" bIns="0" rtlCol="0" anchor="ctr"/>
          <a:lstStyle/>
          <a:p>
            <a:pPr indent="0" marL="0">
              <a:buNone/>
            </a:pPr>
            <a:r>
              <a:rPr lang="en-US" sz="900" dirty="0">
                <a:solidFill>
                  <a:srgbClr val="8A94A0"/>
                </a:solidFill>
                <a:latin typeface="Calibri" pitchFamily="34" charset="0"/>
                <a:ea typeface="Calibri" pitchFamily="34" charset="-122"/>
                <a:cs typeface="Calibri" pitchFamily="34" charset="-120"/>
              </a:rPr>
              <a:t>Final Presentation  ·  “Changing the Trajectory”  ·  Charter Communications (CHTR)  ·  Anchored to Q1 2026; Q2 2026 labeled as later public fact where used</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292608"/>
            <a:ext cx="10515600" cy="274320"/>
          </a:xfrm>
          <a:prstGeom prst="rect">
            <a:avLst/>
          </a:prstGeom>
          <a:noFill/>
          <a:ln/>
        </p:spPr>
        <p:txBody>
          <a:bodyPr wrap="square" lIns="0" tIns="0" rIns="0" bIns="0" rtlCol="0" anchor="ctr"/>
          <a:lstStyle/>
          <a:p>
            <a:pPr indent="0" marL="0">
              <a:buNone/>
            </a:pPr>
            <a:r>
              <a:rPr lang="en-US" sz="1100" b="1" spc="200" kern="0" dirty="0">
                <a:solidFill>
                  <a:srgbClr val="0072CE"/>
                </a:solidFill>
                <a:latin typeface="Calibri" pitchFamily="34" charset="0"/>
                <a:ea typeface="Calibri" pitchFamily="34" charset="-122"/>
                <a:cs typeface="Calibri" pitchFamily="34" charset="-120"/>
              </a:rPr>
              <a:t>1  ·  PROBLEM DEFINITION</a:t>
            </a:r>
            <a:endParaRPr lang="en-US" sz="1100" dirty="0"/>
          </a:p>
        </p:txBody>
      </p:sp>
      <p:sp>
        <p:nvSpPr>
          <p:cNvPr id="3" name="Text 1"/>
          <p:cNvSpPr txBox="1"/>
          <p:nvPr/>
        </p:nvSpPr>
        <p:spPr>
          <a:xfrm>
            <a:off x="502920" y="566928"/>
            <a:ext cx="11155680" cy="1005840"/>
          </a:xfrm>
          <a:prstGeom prst="rect">
            <a:avLst/>
          </a:prstGeom>
          <a:noFill/>
          <a:ln/>
        </p:spPr>
        <p:txBody>
          <a:bodyPr wrap="square" lIns="0" tIns="0" rIns="0" bIns="0" rtlCol="0" anchor="t"/>
          <a:lstStyle/>
          <a:p>
            <a:pPr indent="0" marL="0">
              <a:buNone/>
            </a:pPr>
            <a:r>
              <a:rPr lang="en-US" sz="2200" b="1" dirty="0">
                <a:solidFill>
                  <a:srgbClr val="0B1F3A"/>
                </a:solidFill>
                <a:latin typeface="Calibri" pitchFamily="34" charset="0"/>
                <a:ea typeface="Calibri" pitchFamily="34" charset="-122"/>
                <a:cs typeface="Calibri" pitchFamily="34" charset="-120"/>
              </a:rPr>
              <a:t>Symptom vs. underlying issue: the share price is the fever — the disease is that the market no longer believes the Internet run-rate will turn</a:t>
            </a:r>
            <a:endParaRPr lang="en-US" sz="2200" dirty="0"/>
          </a:p>
        </p:txBody>
      </p:sp>
      <p:sp>
        <p:nvSpPr>
          <p:cNvPr id="4" name="Shape 2"/>
          <p:cNvSpPr/>
          <p:nvPr/>
        </p:nvSpPr>
        <p:spPr>
          <a:xfrm>
            <a:off x="502920" y="1828800"/>
            <a:ext cx="1737360" cy="1280160"/>
          </a:xfrm>
          <a:prstGeom prst="roundRect">
            <a:avLst>
              <a:gd name="adj" fmla="val 5714"/>
            </a:avLst>
          </a:prstGeom>
          <a:solidFill>
            <a:srgbClr val="FFFFFF"/>
          </a:solidFill>
          <a:ln w="12700">
            <a:solidFill>
              <a:srgbClr val="D7E0EA"/>
            </a:solidFill>
            <a:prstDash val="solid"/>
          </a:ln>
        </p:spPr>
      </p:sp>
      <p:sp>
        <p:nvSpPr>
          <p:cNvPr id="5" name="Text 3"/>
          <p:cNvSpPr txBox="1"/>
          <p:nvPr/>
        </p:nvSpPr>
        <p:spPr>
          <a:xfrm>
            <a:off x="640080" y="1938528"/>
            <a:ext cx="1463040" cy="548640"/>
          </a:xfrm>
          <a:prstGeom prst="rect">
            <a:avLst/>
          </a:prstGeom>
          <a:noFill/>
          <a:ln/>
        </p:spPr>
        <p:txBody>
          <a:bodyPr wrap="square" lIns="0" tIns="0" rIns="0" bIns="0" rtlCol="0" anchor="ctr"/>
          <a:lstStyle/>
          <a:p>
            <a:pPr indent="0" marL="0">
              <a:buNone/>
            </a:pPr>
            <a:r>
              <a:rPr lang="en-US" sz="2600" b="1" dirty="0">
                <a:solidFill>
                  <a:srgbClr val="C8102E"/>
                </a:solidFill>
                <a:latin typeface="Calibri" pitchFamily="34" charset="0"/>
                <a:ea typeface="Calibri" pitchFamily="34" charset="-122"/>
                <a:cs typeface="Calibri" pitchFamily="34" charset="-120"/>
              </a:rPr>
              <a:t>−80%</a:t>
            </a:r>
            <a:endParaRPr lang="en-US" sz="2600" dirty="0"/>
          </a:p>
        </p:txBody>
      </p:sp>
      <p:sp>
        <p:nvSpPr>
          <p:cNvPr id="6" name="Text 4"/>
          <p:cNvSpPr txBox="1"/>
          <p:nvPr/>
        </p:nvSpPr>
        <p:spPr>
          <a:xfrm>
            <a:off x="640080" y="2487168"/>
            <a:ext cx="1508760" cy="548640"/>
          </a:xfrm>
          <a:prstGeom prst="rect">
            <a:avLst/>
          </a:prstGeom>
          <a:noFill/>
          <a:ln/>
        </p:spPr>
        <p:txBody>
          <a:bodyPr wrap="square" lIns="0" tIns="0" rIns="0" bIns="0" rtlCol="0" anchor="t"/>
          <a:lstStyle/>
          <a:p>
            <a:pPr indent="0" marL="0">
              <a:buNone/>
            </a:pPr>
            <a:r>
              <a:rPr lang="en-US" sz="950" dirty="0">
                <a:solidFill>
                  <a:srgbClr val="5B6672"/>
                </a:solidFill>
                <a:latin typeface="Calibri" pitchFamily="34" charset="0"/>
                <a:ea typeface="Calibri" pitchFamily="34" charset="-122"/>
                <a:cs typeface="Calibri" pitchFamily="34" charset="-120"/>
              </a:rPr>
              <a:t>Share price, ~5 years</a:t>
            </a:r>
            <a:endParaRPr lang="en-US" sz="950" dirty="0"/>
          </a:p>
        </p:txBody>
      </p:sp>
      <p:sp>
        <p:nvSpPr>
          <p:cNvPr id="7" name="Shape 5"/>
          <p:cNvSpPr/>
          <p:nvPr/>
        </p:nvSpPr>
        <p:spPr>
          <a:xfrm>
            <a:off x="2377440" y="1828800"/>
            <a:ext cx="1737360" cy="1280160"/>
          </a:xfrm>
          <a:prstGeom prst="roundRect">
            <a:avLst>
              <a:gd name="adj" fmla="val 5714"/>
            </a:avLst>
          </a:prstGeom>
          <a:solidFill>
            <a:srgbClr val="FFFFFF"/>
          </a:solidFill>
          <a:ln w="12700">
            <a:solidFill>
              <a:srgbClr val="D7E0EA"/>
            </a:solidFill>
            <a:prstDash val="solid"/>
          </a:ln>
        </p:spPr>
      </p:sp>
      <p:sp>
        <p:nvSpPr>
          <p:cNvPr id="8" name="Text 6"/>
          <p:cNvSpPr txBox="1"/>
          <p:nvPr/>
        </p:nvSpPr>
        <p:spPr>
          <a:xfrm>
            <a:off x="2514600" y="1938528"/>
            <a:ext cx="1463040" cy="548640"/>
          </a:xfrm>
          <a:prstGeom prst="rect">
            <a:avLst/>
          </a:prstGeom>
          <a:noFill/>
          <a:ln/>
        </p:spPr>
        <p:txBody>
          <a:bodyPr wrap="square" lIns="0" tIns="0" rIns="0" bIns="0" rtlCol="0" anchor="ctr"/>
          <a:lstStyle/>
          <a:p>
            <a:pPr indent="0" marL="0">
              <a:buNone/>
            </a:pPr>
            <a:r>
              <a:rPr lang="en-US" sz="2600" b="1" dirty="0">
                <a:solidFill>
                  <a:srgbClr val="C8102E"/>
                </a:solidFill>
                <a:latin typeface="Calibri" pitchFamily="34" charset="0"/>
                <a:ea typeface="Calibri" pitchFamily="34" charset="-122"/>
                <a:cs typeface="Calibri" pitchFamily="34" charset="-120"/>
              </a:rPr>
              <a:t>−25.5%</a:t>
            </a:r>
            <a:endParaRPr lang="en-US" sz="2600" dirty="0"/>
          </a:p>
        </p:txBody>
      </p:sp>
      <p:sp>
        <p:nvSpPr>
          <p:cNvPr id="9" name="Text 7"/>
          <p:cNvSpPr txBox="1"/>
          <p:nvPr/>
        </p:nvSpPr>
        <p:spPr>
          <a:xfrm>
            <a:off x="2514600" y="2487168"/>
            <a:ext cx="1508760" cy="548640"/>
          </a:xfrm>
          <a:prstGeom prst="rect">
            <a:avLst/>
          </a:prstGeom>
          <a:noFill/>
          <a:ln/>
        </p:spPr>
        <p:txBody>
          <a:bodyPr wrap="square" lIns="0" tIns="0" rIns="0" bIns="0" rtlCol="0" anchor="t"/>
          <a:lstStyle/>
          <a:p>
            <a:pPr indent="0" marL="0">
              <a:buNone/>
            </a:pPr>
            <a:r>
              <a:rPr lang="en-US" sz="950" dirty="0">
                <a:solidFill>
                  <a:srgbClr val="5B6672"/>
                </a:solidFill>
                <a:latin typeface="Calibri" pitchFamily="34" charset="0"/>
                <a:ea typeface="Calibri" pitchFamily="34" charset="-122"/>
                <a:cs typeface="Calibri" pitchFamily="34" charset="-120"/>
              </a:rPr>
              <a:t>April 24, 2026 (Q1 print)</a:t>
            </a:r>
            <a:endParaRPr lang="en-US" sz="950" dirty="0"/>
          </a:p>
        </p:txBody>
      </p:sp>
      <p:sp>
        <p:nvSpPr>
          <p:cNvPr id="10" name="Shape 8"/>
          <p:cNvSpPr/>
          <p:nvPr/>
        </p:nvSpPr>
        <p:spPr>
          <a:xfrm>
            <a:off x="4251960" y="1828800"/>
            <a:ext cx="1737360" cy="1280160"/>
          </a:xfrm>
          <a:prstGeom prst="roundRect">
            <a:avLst>
              <a:gd name="adj" fmla="val 5714"/>
            </a:avLst>
          </a:prstGeom>
          <a:solidFill>
            <a:srgbClr val="FFFFFF"/>
          </a:solidFill>
          <a:ln w="12700">
            <a:solidFill>
              <a:srgbClr val="D7E0EA"/>
            </a:solidFill>
            <a:prstDash val="solid"/>
          </a:ln>
        </p:spPr>
      </p:sp>
      <p:sp>
        <p:nvSpPr>
          <p:cNvPr id="11" name="Text 9"/>
          <p:cNvSpPr txBox="1"/>
          <p:nvPr/>
        </p:nvSpPr>
        <p:spPr>
          <a:xfrm>
            <a:off x="4389120" y="1938528"/>
            <a:ext cx="1463040" cy="548640"/>
          </a:xfrm>
          <a:prstGeom prst="rect">
            <a:avLst/>
          </a:prstGeom>
          <a:noFill/>
          <a:ln/>
        </p:spPr>
        <p:txBody>
          <a:bodyPr wrap="square" lIns="0" tIns="0" rIns="0" bIns="0" rtlCol="0" anchor="ctr"/>
          <a:lstStyle/>
          <a:p>
            <a:pPr indent="0" marL="0">
              <a:buNone/>
            </a:pPr>
            <a:r>
              <a:rPr lang="en-US" sz="2600" b="1" dirty="0">
                <a:solidFill>
                  <a:srgbClr val="C8102E"/>
                </a:solidFill>
                <a:latin typeface="Calibri" pitchFamily="34" charset="0"/>
                <a:ea typeface="Calibri" pitchFamily="34" charset="-122"/>
                <a:cs typeface="Calibri" pitchFamily="34" charset="-120"/>
              </a:rPr>
              <a:t>−120k</a:t>
            </a:r>
            <a:endParaRPr lang="en-US" sz="2600" dirty="0"/>
          </a:p>
        </p:txBody>
      </p:sp>
      <p:sp>
        <p:nvSpPr>
          <p:cNvPr id="12" name="Text 10"/>
          <p:cNvSpPr txBox="1"/>
          <p:nvPr/>
        </p:nvSpPr>
        <p:spPr>
          <a:xfrm>
            <a:off x="4389120" y="2487168"/>
            <a:ext cx="1508760" cy="548640"/>
          </a:xfrm>
          <a:prstGeom prst="rect">
            <a:avLst/>
          </a:prstGeom>
          <a:noFill/>
          <a:ln/>
        </p:spPr>
        <p:txBody>
          <a:bodyPr wrap="square" lIns="0" tIns="0" rIns="0" bIns="0" rtlCol="0" anchor="t"/>
          <a:lstStyle/>
          <a:p>
            <a:pPr indent="0" marL="0">
              <a:buNone/>
            </a:pPr>
            <a:r>
              <a:rPr lang="en-US" sz="950" dirty="0">
                <a:solidFill>
                  <a:srgbClr val="5B6672"/>
                </a:solidFill>
                <a:latin typeface="Calibri" pitchFamily="34" charset="0"/>
                <a:ea typeface="Calibri" pitchFamily="34" charset="-122"/>
                <a:cs typeface="Calibri" pitchFamily="34" charset="-120"/>
              </a:rPr>
              <a:t>Q1 2026 Internet net adds</a:t>
            </a:r>
            <a:endParaRPr lang="en-US" sz="950" dirty="0"/>
          </a:p>
          <a:p>
            <a:pPr indent="0" marL="0">
              <a:buNone/>
            </a:pPr>
            <a:r>
              <a:rPr lang="en-US" sz="950" dirty="0">
                <a:solidFill>
                  <a:srgbClr val="5B6672"/>
                </a:solidFill>
                <a:latin typeface="Calibri" pitchFamily="34" charset="0"/>
                <a:ea typeface="Calibri" pitchFamily="34" charset="-122"/>
                <a:cs typeface="Calibri" pitchFamily="34" charset="-120"/>
              </a:rPr>
              <a:t>(2× the −59k of Q1 2025)</a:t>
            </a:r>
            <a:endParaRPr lang="en-US" sz="950" dirty="0"/>
          </a:p>
        </p:txBody>
      </p:sp>
      <p:sp>
        <p:nvSpPr>
          <p:cNvPr id="13" name="Shape 11"/>
          <p:cNvSpPr/>
          <p:nvPr/>
        </p:nvSpPr>
        <p:spPr>
          <a:xfrm>
            <a:off x="502920" y="3246120"/>
            <a:ext cx="1737360" cy="1280160"/>
          </a:xfrm>
          <a:prstGeom prst="roundRect">
            <a:avLst>
              <a:gd name="adj" fmla="val 5714"/>
            </a:avLst>
          </a:prstGeom>
          <a:solidFill>
            <a:srgbClr val="FFFFFF"/>
          </a:solidFill>
          <a:ln w="12700">
            <a:solidFill>
              <a:srgbClr val="D7E0EA"/>
            </a:solidFill>
            <a:prstDash val="solid"/>
          </a:ln>
        </p:spPr>
      </p:sp>
      <p:sp>
        <p:nvSpPr>
          <p:cNvPr id="14" name="Text 12"/>
          <p:cNvSpPr txBox="1"/>
          <p:nvPr/>
        </p:nvSpPr>
        <p:spPr>
          <a:xfrm>
            <a:off x="640080" y="3355848"/>
            <a:ext cx="1463040" cy="548640"/>
          </a:xfrm>
          <a:prstGeom prst="rect">
            <a:avLst/>
          </a:prstGeom>
          <a:noFill/>
          <a:ln/>
        </p:spPr>
        <p:txBody>
          <a:bodyPr wrap="square" lIns="0" tIns="0" rIns="0" bIns="0" rtlCol="0" anchor="ctr"/>
          <a:lstStyle/>
          <a:p>
            <a:pPr indent="0" marL="0">
              <a:buNone/>
            </a:pPr>
            <a:r>
              <a:rPr lang="en-US" sz="2600" b="1" dirty="0">
                <a:solidFill>
                  <a:srgbClr val="1E7A46"/>
                </a:solidFill>
                <a:latin typeface="Calibri" pitchFamily="34" charset="0"/>
                <a:ea typeface="Calibri" pitchFamily="34" charset="-122"/>
                <a:cs typeface="Calibri" pitchFamily="34" charset="-120"/>
              </a:rPr>
              <a:t>$5.0B</a:t>
            </a:r>
            <a:endParaRPr lang="en-US" sz="2600" dirty="0"/>
          </a:p>
        </p:txBody>
      </p:sp>
      <p:sp>
        <p:nvSpPr>
          <p:cNvPr id="15" name="Text 13"/>
          <p:cNvSpPr txBox="1"/>
          <p:nvPr/>
        </p:nvSpPr>
        <p:spPr>
          <a:xfrm>
            <a:off x="640080" y="3904488"/>
            <a:ext cx="1508760" cy="548640"/>
          </a:xfrm>
          <a:prstGeom prst="rect">
            <a:avLst/>
          </a:prstGeom>
          <a:noFill/>
          <a:ln/>
        </p:spPr>
        <p:txBody>
          <a:bodyPr wrap="square" lIns="0" tIns="0" rIns="0" bIns="0" rtlCol="0" anchor="t"/>
          <a:lstStyle/>
          <a:p>
            <a:pPr indent="0" marL="0">
              <a:buNone/>
            </a:pPr>
            <a:r>
              <a:rPr lang="en-US" sz="950" dirty="0">
                <a:solidFill>
                  <a:srgbClr val="5B6672"/>
                </a:solidFill>
                <a:latin typeface="Calibri" pitchFamily="34" charset="0"/>
                <a:ea typeface="Calibri" pitchFamily="34" charset="-122"/>
                <a:cs typeface="Calibri" pitchFamily="34" charset="-120"/>
              </a:rPr>
              <a:t>FY2025 free cash flow (+18%)</a:t>
            </a:r>
            <a:endParaRPr lang="en-US" sz="950" dirty="0"/>
          </a:p>
        </p:txBody>
      </p:sp>
      <p:sp>
        <p:nvSpPr>
          <p:cNvPr id="16" name="Shape 14"/>
          <p:cNvSpPr/>
          <p:nvPr/>
        </p:nvSpPr>
        <p:spPr>
          <a:xfrm>
            <a:off x="2377440" y="3246120"/>
            <a:ext cx="1737360" cy="1280160"/>
          </a:xfrm>
          <a:prstGeom prst="roundRect">
            <a:avLst>
              <a:gd name="adj" fmla="val 5714"/>
            </a:avLst>
          </a:prstGeom>
          <a:solidFill>
            <a:srgbClr val="FFFFFF"/>
          </a:solidFill>
          <a:ln w="12700">
            <a:solidFill>
              <a:srgbClr val="D7E0EA"/>
            </a:solidFill>
            <a:prstDash val="solid"/>
          </a:ln>
        </p:spPr>
      </p:sp>
      <p:sp>
        <p:nvSpPr>
          <p:cNvPr id="17" name="Text 15"/>
          <p:cNvSpPr txBox="1"/>
          <p:nvPr/>
        </p:nvSpPr>
        <p:spPr>
          <a:xfrm>
            <a:off x="2514600" y="3355848"/>
            <a:ext cx="1463040" cy="548640"/>
          </a:xfrm>
          <a:prstGeom prst="rect">
            <a:avLst/>
          </a:prstGeom>
          <a:noFill/>
          <a:ln/>
        </p:spPr>
        <p:txBody>
          <a:bodyPr wrap="square" lIns="0" tIns="0" rIns="0" bIns="0" rtlCol="0" anchor="ctr"/>
          <a:lstStyle/>
          <a:p>
            <a:pPr indent="0" marL="0">
              <a:buNone/>
            </a:pPr>
            <a:r>
              <a:rPr lang="en-US" sz="2600" b="1" dirty="0">
                <a:solidFill>
                  <a:srgbClr val="1E7A46"/>
                </a:solidFill>
                <a:latin typeface="Calibri" pitchFamily="34" charset="0"/>
                <a:ea typeface="Calibri" pitchFamily="34" charset="-122"/>
                <a:cs typeface="Calibri" pitchFamily="34" charset="-120"/>
              </a:rPr>
              <a:t>41%</a:t>
            </a:r>
            <a:endParaRPr lang="en-US" sz="2600" dirty="0"/>
          </a:p>
        </p:txBody>
      </p:sp>
      <p:sp>
        <p:nvSpPr>
          <p:cNvPr id="18" name="Text 16"/>
          <p:cNvSpPr txBox="1"/>
          <p:nvPr/>
        </p:nvSpPr>
        <p:spPr>
          <a:xfrm>
            <a:off x="2514600" y="3904488"/>
            <a:ext cx="1508760" cy="548640"/>
          </a:xfrm>
          <a:prstGeom prst="rect">
            <a:avLst/>
          </a:prstGeom>
          <a:noFill/>
          <a:ln/>
        </p:spPr>
        <p:txBody>
          <a:bodyPr wrap="square" lIns="0" tIns="0" rIns="0" bIns="0" rtlCol="0" anchor="t"/>
          <a:lstStyle/>
          <a:p>
            <a:pPr indent="0" marL="0">
              <a:buNone/>
            </a:pPr>
            <a:r>
              <a:rPr lang="en-US" sz="950" dirty="0">
                <a:solidFill>
                  <a:srgbClr val="5B6672"/>
                </a:solidFill>
                <a:latin typeface="Calibri" pitchFamily="34" charset="0"/>
                <a:ea typeface="Calibri" pitchFamily="34" charset="-122"/>
                <a:cs typeface="Calibri" pitchFamily="34" charset="-120"/>
              </a:rPr>
              <a:t>Adj. EBITDA margin, stable</a:t>
            </a:r>
            <a:endParaRPr lang="en-US" sz="950" dirty="0"/>
          </a:p>
        </p:txBody>
      </p:sp>
      <p:sp>
        <p:nvSpPr>
          <p:cNvPr id="19" name="Shape 17"/>
          <p:cNvSpPr/>
          <p:nvPr/>
        </p:nvSpPr>
        <p:spPr>
          <a:xfrm>
            <a:off x="4251960" y="3246120"/>
            <a:ext cx="1737360" cy="1280160"/>
          </a:xfrm>
          <a:prstGeom prst="roundRect">
            <a:avLst>
              <a:gd name="adj" fmla="val 5714"/>
            </a:avLst>
          </a:prstGeom>
          <a:solidFill>
            <a:srgbClr val="FFFFFF"/>
          </a:solidFill>
          <a:ln w="12700">
            <a:solidFill>
              <a:srgbClr val="D7E0EA"/>
            </a:solidFill>
            <a:prstDash val="solid"/>
          </a:ln>
        </p:spPr>
      </p:sp>
      <p:sp>
        <p:nvSpPr>
          <p:cNvPr id="20" name="Text 18"/>
          <p:cNvSpPr txBox="1"/>
          <p:nvPr/>
        </p:nvSpPr>
        <p:spPr>
          <a:xfrm>
            <a:off x="4389120" y="3355848"/>
            <a:ext cx="1463040" cy="548640"/>
          </a:xfrm>
          <a:prstGeom prst="rect">
            <a:avLst/>
          </a:prstGeom>
          <a:noFill/>
          <a:ln/>
        </p:spPr>
        <p:txBody>
          <a:bodyPr wrap="square" lIns="0" tIns="0" rIns="0" bIns="0" rtlCol="0" anchor="ctr"/>
          <a:lstStyle/>
          <a:p>
            <a:pPr indent="0" marL="0">
              <a:buNone/>
            </a:pPr>
            <a:r>
              <a:rPr lang="en-US" sz="2600" b="1" dirty="0">
                <a:solidFill>
                  <a:srgbClr val="B26A00"/>
                </a:solidFill>
                <a:latin typeface="Calibri" pitchFamily="34" charset="0"/>
                <a:ea typeface="Calibri" pitchFamily="34" charset="-122"/>
                <a:cs typeface="Calibri" pitchFamily="34" charset="-120"/>
              </a:rPr>
              <a:t>4.15x</a:t>
            </a:r>
            <a:endParaRPr lang="en-US" sz="2600" dirty="0"/>
          </a:p>
        </p:txBody>
      </p:sp>
      <p:sp>
        <p:nvSpPr>
          <p:cNvPr id="21" name="Text 19"/>
          <p:cNvSpPr txBox="1"/>
          <p:nvPr/>
        </p:nvSpPr>
        <p:spPr>
          <a:xfrm>
            <a:off x="4389120" y="3904488"/>
            <a:ext cx="1508760" cy="548640"/>
          </a:xfrm>
          <a:prstGeom prst="rect">
            <a:avLst/>
          </a:prstGeom>
          <a:noFill/>
          <a:ln/>
        </p:spPr>
        <p:txBody>
          <a:bodyPr wrap="square" lIns="0" tIns="0" rIns="0" bIns="0" rtlCol="0" anchor="t"/>
          <a:lstStyle/>
          <a:p>
            <a:pPr indent="0" marL="0">
              <a:buNone/>
            </a:pPr>
            <a:r>
              <a:rPr lang="en-US" sz="950" dirty="0">
                <a:solidFill>
                  <a:srgbClr val="5B6672"/>
                </a:solidFill>
                <a:latin typeface="Calibri" pitchFamily="34" charset="0"/>
                <a:ea typeface="Calibri" pitchFamily="34" charset="-122"/>
                <a:cs typeface="Calibri" pitchFamily="34" charset="-120"/>
              </a:rPr>
              <a:t>Net debt / TTM EBITDA</a:t>
            </a:r>
            <a:endParaRPr lang="en-US" sz="950" dirty="0"/>
          </a:p>
        </p:txBody>
      </p:sp>
      <p:sp>
        <p:nvSpPr>
          <p:cNvPr id="22" name="Shape 20"/>
          <p:cNvSpPr/>
          <p:nvPr/>
        </p:nvSpPr>
        <p:spPr>
          <a:xfrm>
            <a:off x="6355080" y="1828800"/>
            <a:ext cx="5349240" cy="2743200"/>
          </a:xfrm>
          <a:prstGeom prst="roundRect">
            <a:avLst>
              <a:gd name="adj" fmla="val 2667"/>
            </a:avLst>
          </a:prstGeom>
          <a:solidFill>
            <a:srgbClr val="F2F6FB"/>
          </a:solidFill>
          <a:ln w="12700">
            <a:solidFill>
              <a:srgbClr val="D7E0EA"/>
            </a:solidFill>
            <a:prstDash val="solid"/>
          </a:ln>
        </p:spPr>
      </p:sp>
      <p:sp>
        <p:nvSpPr>
          <p:cNvPr id="23" name="Text 21"/>
          <p:cNvSpPr txBox="1"/>
          <p:nvPr/>
        </p:nvSpPr>
        <p:spPr>
          <a:xfrm>
            <a:off x="6583680" y="1965960"/>
            <a:ext cx="4937760" cy="256032"/>
          </a:xfrm>
          <a:prstGeom prst="rect">
            <a:avLst/>
          </a:prstGeom>
          <a:noFill/>
          <a:ln/>
        </p:spPr>
        <p:txBody>
          <a:bodyPr wrap="square" lIns="0" tIns="0" rIns="0" bIns="0" rtlCol="0" anchor="ctr"/>
          <a:lstStyle/>
          <a:p>
            <a:pPr indent="0" marL="0">
              <a:buNone/>
            </a:pPr>
            <a:r>
              <a:rPr lang="en-US" sz="1000" b="1" spc="150" kern="0" dirty="0">
                <a:solidFill>
                  <a:srgbClr val="0072CE"/>
                </a:solidFill>
                <a:latin typeface="Calibri" pitchFamily="34" charset="0"/>
                <a:ea typeface="Calibri" pitchFamily="34" charset="-122"/>
                <a:cs typeface="Calibri" pitchFamily="34" charset="-120"/>
              </a:rPr>
              <a:t>WHAT BUSINESS IS CHARTER IN?</a:t>
            </a:r>
            <a:endParaRPr lang="en-US" sz="1000" dirty="0"/>
          </a:p>
        </p:txBody>
      </p:sp>
      <p:sp>
        <p:nvSpPr>
          <p:cNvPr id="24" name="Text 22"/>
          <p:cNvSpPr txBox="1"/>
          <p:nvPr/>
        </p:nvSpPr>
        <p:spPr>
          <a:xfrm>
            <a:off x="6583680" y="2240280"/>
            <a:ext cx="4937760" cy="105156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Broadband connectivity </a:t>
            </a:r>
            <a:pPr indent="0" marL="0">
              <a:buNone/>
            </a:pPr>
            <a:r>
              <a:rPr lang="en-US" sz="1200" dirty="0">
                <a:solidFill>
                  <a:srgbClr val="5B6672"/>
                </a:solidFill>
                <a:latin typeface="Calibri" pitchFamily="34" charset="0"/>
                <a:ea typeface="Calibri" pitchFamily="34" charset="-122"/>
                <a:cs typeface="Calibri" pitchFamily="34" charset="-120"/>
              </a:rPr>
              <a:t>delivered over an HFC last mile, with mobile resold on Verizon’s network and a structurally declining video business. Connectivity (Internet + mobile) is $27.5B — more than half of revenue. Internet is the profit engine; everything else rides on it.</a:t>
            </a:r>
            <a:endParaRPr lang="en-US" sz="1200" dirty="0"/>
          </a:p>
        </p:txBody>
      </p:sp>
      <p:sp>
        <p:nvSpPr>
          <p:cNvPr id="25" name="Text 23"/>
          <p:cNvSpPr txBox="1"/>
          <p:nvPr/>
        </p:nvSpPr>
        <p:spPr>
          <a:xfrm>
            <a:off x="6583680" y="3337560"/>
            <a:ext cx="4937760" cy="118872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Not in financial distress. </a:t>
            </a:r>
            <a:pPr indent="0" marL="0">
              <a:buNone/>
            </a:pPr>
            <a:r>
              <a:rPr lang="en-US" sz="1200" dirty="0">
                <a:solidFill>
                  <a:srgbClr val="5B6672"/>
                </a:solidFill>
                <a:latin typeface="Calibri" pitchFamily="34" charset="0"/>
                <a:ea typeface="Calibri" pitchFamily="34" charset="-122"/>
                <a:cs typeface="Calibri" pitchFamily="34" charset="-120"/>
              </a:rPr>
              <a:t>Charter is large, cash-generative, and operationally strong. Owners have still lost most of their money because the market does not believe the current strategy returns connectivity relationships to growth. Buybacks (~$79.7B since 2016) have stopped producing price support.</a:t>
            </a:r>
            <a:endParaRPr lang="en-US" sz="1200" dirty="0"/>
          </a:p>
        </p:txBody>
      </p:sp>
      <p:sp>
        <p:nvSpPr>
          <p:cNvPr id="26" name="Shape 24"/>
          <p:cNvSpPr/>
          <p:nvPr/>
        </p:nvSpPr>
        <p:spPr>
          <a:xfrm>
            <a:off x="502920" y="4754880"/>
            <a:ext cx="11201400" cy="1234440"/>
          </a:xfrm>
          <a:prstGeom prst="roundRect">
            <a:avLst>
              <a:gd name="adj" fmla="val 5926"/>
            </a:avLst>
          </a:prstGeom>
          <a:solidFill>
            <a:srgbClr val="0B1F3A"/>
          </a:solidFill>
          <a:ln w="12700">
            <a:solidFill>
              <a:srgbClr val="D7E0EA"/>
            </a:solidFill>
            <a:prstDash val="solid"/>
          </a:ln>
        </p:spPr>
      </p:sp>
      <p:sp>
        <p:nvSpPr>
          <p:cNvPr id="27" name="Text 25"/>
          <p:cNvSpPr txBox="1"/>
          <p:nvPr/>
        </p:nvSpPr>
        <p:spPr>
          <a:xfrm>
            <a:off x="777240" y="4864608"/>
            <a:ext cx="10698480" cy="105156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Problem statement:  </a:t>
            </a:r>
            <a:pPr indent="0" marL="0">
              <a:buNone/>
            </a:pPr>
            <a:r>
              <a:rPr lang="en-US" sz="1250" dirty="0">
                <a:solidFill>
                  <a:srgbClr val="DCE9F7"/>
                </a:solidFill>
                <a:latin typeface="Calibri" pitchFamily="34" charset="0"/>
                <a:ea typeface="Calibri" pitchFamily="34" charset="-122"/>
                <a:cs typeface="Calibri" pitchFamily="34" charset="-120"/>
              </a:rPr>
              <a:t>Charter’s Internet base has lost customers for nine consecutive quarters and now loses revenue dollars; the market has decided the trajectory is set, and it is pricing every quarter’s acceleration against the year before. The engagement question is therefore not “how do we grow” but “how do we credibly change the Internet run-rate inside ~24 months — or give the market a reason to look through it, which it has refused to do.”</a:t>
            </a:r>
            <a:endParaRPr lang="en-US" sz="1250" dirty="0"/>
          </a:p>
        </p:txBody>
      </p:sp>
      <p:sp>
        <p:nvSpPr>
          <p:cNvPr id="28" name="Text 26"/>
          <p:cNvSpPr txBox="1"/>
          <p:nvPr/>
        </p:nvSpPr>
        <p:spPr>
          <a:xfrm>
            <a:off x="502920" y="6144768"/>
            <a:ext cx="11155680" cy="256032"/>
          </a:xfrm>
          <a:prstGeom prst="rect">
            <a:avLst/>
          </a:prstGeom>
          <a:noFill/>
          <a:ln/>
        </p:spPr>
        <p:txBody>
          <a:bodyPr wrap="square" lIns="0" tIns="0" rIns="0" bIns="0" rtlCol="0" anchor="ctr"/>
          <a:lstStyle/>
          <a:p>
            <a:pPr indent="0" marL="0">
              <a:buNone/>
            </a:pPr>
            <a:r>
              <a:rPr lang="en-US" sz="900" i="1" dirty="0">
                <a:solidFill>
                  <a:srgbClr val="8A94A0"/>
                </a:solidFill>
                <a:latin typeface="Calibri" pitchFamily="34" charset="0"/>
                <a:ea typeface="Calibri" pitchFamily="34" charset="-122"/>
                <a:cs typeface="Calibri" pitchFamily="34" charset="-120"/>
              </a:rPr>
              <a:t>Source: FY2025 10-K; Q1 2026 10-Q / Ex99.1; Yahoo Finance closes (analysis, not a filing).</a:t>
            </a:r>
            <a:endParaRPr lang="en-US" sz="900" dirty="0"/>
          </a:p>
        </p:txBody>
      </p:sp>
      <p:sp>
        <p:nvSpPr>
          <p:cNvPr id="29" name="Text 27"/>
          <p:cNvSpPr txBox="1"/>
          <p:nvPr/>
        </p:nvSpPr>
        <p:spPr>
          <a:xfrm>
            <a:off x="11567160" y="6446520"/>
            <a:ext cx="457200" cy="274320"/>
          </a:xfrm>
          <a:prstGeom prst="rect">
            <a:avLst/>
          </a:prstGeom>
          <a:noFill/>
          <a:ln/>
        </p:spPr>
        <p:txBody>
          <a:bodyPr wrap="square" lIns="0" tIns="0" rIns="0" bIns="0" rtlCol="0" anchor="ctr"/>
          <a:lstStyle/>
          <a:p>
            <a:pPr algn="r" indent="0" marL="0">
              <a:buNone/>
            </a:pPr>
            <a:r>
              <a:rPr lang="en-US" sz="1000" dirty="0">
                <a:solidFill>
                  <a:srgbClr val="8A94A0"/>
                </a:solidFill>
                <a:latin typeface="Calibri" pitchFamily="34" charset="0"/>
                <a:ea typeface="Calibri" pitchFamily="34" charset="-122"/>
                <a:cs typeface="Calibri" pitchFamily="34" charset="-120"/>
              </a:rPr>
              <a:t>3</a:t>
            </a:r>
            <a:endParaRPr lang="en-US" sz="1000" dirty="0"/>
          </a:p>
        </p:txBody>
      </p:sp>
      <p:sp>
        <p:nvSpPr>
          <p:cNvPr id="30" name="Text 28"/>
          <p:cNvSpPr txBox="1"/>
          <p:nvPr/>
        </p:nvSpPr>
        <p:spPr>
          <a:xfrm>
            <a:off x="502920" y="6446520"/>
            <a:ext cx="10881360" cy="274320"/>
          </a:xfrm>
          <a:prstGeom prst="rect">
            <a:avLst/>
          </a:prstGeom>
          <a:noFill/>
          <a:ln/>
        </p:spPr>
        <p:txBody>
          <a:bodyPr wrap="square" lIns="0" tIns="0" rIns="0" bIns="0" rtlCol="0" anchor="ctr"/>
          <a:lstStyle/>
          <a:p>
            <a:pPr indent="0" marL="0">
              <a:buNone/>
            </a:pPr>
            <a:r>
              <a:rPr lang="en-US" sz="900" dirty="0">
                <a:solidFill>
                  <a:srgbClr val="8A94A0"/>
                </a:solidFill>
                <a:latin typeface="Calibri" pitchFamily="34" charset="0"/>
                <a:ea typeface="Calibri" pitchFamily="34" charset="-122"/>
                <a:cs typeface="Calibri" pitchFamily="34" charset="-120"/>
              </a:rPr>
              <a:t>Final Presentation  ·  “Changing the Trajectory”  ·  Charter Communications (CHTR)  ·  Anchored to Q1 2026; Q2 2026 labeled as later public fact where used</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02920" y="292608"/>
            <a:ext cx="10515600" cy="274320"/>
          </a:xfrm>
          <a:prstGeom prst="rect">
            <a:avLst/>
          </a:prstGeom>
          <a:noFill/>
          <a:ln/>
        </p:spPr>
        <p:txBody>
          <a:bodyPr wrap="square" lIns="0" tIns="0" rIns="0" bIns="0" rtlCol="0" anchor="ctr"/>
          <a:lstStyle/>
          <a:p>
            <a:pPr indent="0" marL="0">
              <a:buNone/>
            </a:pPr>
            <a:r>
              <a:rPr lang="en-US" sz="1100" b="1" spc="200" kern="0" dirty="0">
                <a:solidFill>
                  <a:srgbClr val="0072CE"/>
                </a:solidFill>
                <a:latin typeface="Calibri" pitchFamily="34" charset="0"/>
                <a:ea typeface="Calibri" pitchFamily="34" charset="-122"/>
                <a:cs typeface="Calibri" pitchFamily="34" charset="-120"/>
              </a:rPr>
              <a:t>2  ·  ANALYSIS — TEST 1: IS THE PROFIT ENGINE STILL SHRINKING?</a:t>
            </a:r>
            <a:endParaRPr lang="en-US" sz="1100" dirty="0"/>
          </a:p>
        </p:txBody>
      </p:sp>
      <p:sp>
        <p:nvSpPr>
          <p:cNvPr id="3" name="Text 1"/>
          <p:cNvSpPr txBox="1"/>
          <p:nvPr/>
        </p:nvSpPr>
        <p:spPr>
          <a:xfrm>
            <a:off x="502920" y="566928"/>
            <a:ext cx="11155680" cy="1005840"/>
          </a:xfrm>
          <a:prstGeom prst="rect">
            <a:avLst/>
          </a:prstGeom>
          <a:noFill/>
          <a:ln/>
        </p:spPr>
        <p:txBody>
          <a:bodyPr wrap="square" lIns="0" tIns="0" rIns="0" bIns="0" rtlCol="0" anchor="t"/>
          <a:lstStyle/>
          <a:p>
            <a:pPr indent="0" marL="0">
              <a:buNone/>
            </a:pPr>
            <a:r>
              <a:rPr lang="en-US" sz="2200" b="1" dirty="0">
                <a:solidFill>
                  <a:srgbClr val="0B1F3A"/>
                </a:solidFill>
                <a:latin typeface="Calibri" pitchFamily="34" charset="0"/>
                <a:ea typeface="Calibri" pitchFamily="34" charset="-122"/>
                <a:cs typeface="Calibri" pitchFamily="34" charset="-120"/>
              </a:rPr>
              <a:t>Nine straight quarters of Internet losses, and Q1 2026 doubled the year-ago figure — there is no inflection to point to</a:t>
            </a:r>
            <a:endParaRPr lang="en-US" sz="2200" dirty="0"/>
          </a:p>
        </p:txBody>
      </p:sp>
      <p:graphicFrame>
        <p:nvGraphicFramePr>
          <p:cNvPr id="4" name="Chart 0" descr=""/>
          <p:cNvGraphicFramePr/>
          <p:nvPr/>
        </p:nvGraphicFramePr>
        <p:xfrm>
          <a:off x="502920" y="1737360"/>
          <a:ext cx="749808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37360"/>
            <a:ext cx="3429000" cy="4206240"/>
          </a:xfrm>
          <a:prstGeom prst="roundRect">
            <a:avLst>
              <a:gd name="adj" fmla="val 2133"/>
            </a:avLst>
          </a:prstGeom>
          <a:solidFill>
            <a:srgbClr val="F2F6FB"/>
          </a:solidFill>
          <a:ln w="12700">
            <a:solidFill>
              <a:srgbClr val="D7E0EA"/>
            </a:solidFill>
            <a:prstDash val="solid"/>
          </a:ln>
        </p:spPr>
      </p:sp>
      <p:sp>
        <p:nvSpPr>
          <p:cNvPr id="6" name="Text 3"/>
          <p:cNvSpPr txBox="1"/>
          <p:nvPr/>
        </p:nvSpPr>
        <p:spPr>
          <a:xfrm>
            <a:off x="8503920" y="1901952"/>
            <a:ext cx="3017520" cy="256032"/>
          </a:xfrm>
          <a:prstGeom prst="rect">
            <a:avLst/>
          </a:prstGeom>
          <a:noFill/>
          <a:ln/>
        </p:spPr>
        <p:txBody>
          <a:bodyPr wrap="square" lIns="0" tIns="0" rIns="0" bIns="0" rtlCol="0" anchor="ctr"/>
          <a:lstStyle/>
          <a:p>
            <a:pPr indent="0" marL="0">
              <a:buNone/>
            </a:pPr>
            <a:r>
              <a:rPr lang="en-US" sz="1000" b="1" spc="150" kern="0" dirty="0">
                <a:solidFill>
                  <a:srgbClr val="0072CE"/>
                </a:solidFill>
                <a:latin typeface="Calibri" pitchFamily="34" charset="0"/>
                <a:ea typeface="Calibri" pitchFamily="34" charset="-122"/>
                <a:cs typeface="Calibri" pitchFamily="34" charset="-120"/>
              </a:rPr>
              <a:t>READ</a:t>
            </a:r>
            <a:endParaRPr lang="en-US" sz="1000" dirty="0"/>
          </a:p>
        </p:txBody>
      </p:sp>
      <p:sp>
        <p:nvSpPr>
          <p:cNvPr id="7" name="Text 4"/>
          <p:cNvSpPr txBox="1"/>
          <p:nvPr/>
        </p:nvSpPr>
        <p:spPr>
          <a:xfrm>
            <a:off x="8503920" y="2212848"/>
            <a:ext cx="3017520" cy="3611880"/>
          </a:xfrm>
          <a:prstGeom prst="rect">
            <a:avLst/>
          </a:prstGeom>
          <a:noFill/>
          <a:ln/>
        </p:spPr>
        <p:txBody>
          <a:bodyPr wrap="square" lIns="0" tIns="0" rIns="0" bIns="0" rtlCol="0" anchor="t"/>
          <a:lstStyle/>
          <a:p>
            <a:pPr indent="0" marL="0">
              <a:spcAft>
                <a:spcPts val="800"/>
              </a:spcAft>
              <a:buNone/>
            </a:pPr>
            <a:r>
              <a:rPr lang="en-US" sz="1100" b="1" dirty="0">
                <a:solidFill>
                  <a:srgbClr val="0B1F3A"/>
                </a:solidFill>
                <a:latin typeface="Calibri" pitchFamily="34" charset="0"/>
                <a:ea typeface="Calibri" pitchFamily="34" charset="-122"/>
                <a:cs typeface="Calibri" pitchFamily="34" charset="-120"/>
              </a:rPr>
              <a:t>Q1 2025: −59k. Q1 2026: −120k. Q2 2026: −172k.</a:t>
            </a:r>
            <a:endParaRPr lang="en-US" sz="1100" dirty="0"/>
          </a:p>
          <a:p>
            <a:pPr indent="0" marL="0">
              <a:spcAft>
                <a:spcPts val="800"/>
              </a:spcAft>
              <a:buNone/>
            </a:pPr>
            <a:r>
              <a:rPr lang="en-US" sz="1100" dirty="0">
                <a:solidFill>
                  <a:srgbClr val="5B6672"/>
                </a:solidFill>
                <a:latin typeface="Calibri" pitchFamily="34" charset="0"/>
                <a:ea typeface="Calibri" pitchFamily="34" charset="-122"/>
                <a:cs typeface="Calibri" pitchFamily="34" charset="-120"/>
              </a:rPr>
              <a:t>A trajectory claim that cites ARPU or mobile fails this chart. The FY2025 total was −403k (−1.3%); the first half of 2026 alone is −292k.</a:t>
            </a:r>
            <a:endParaRPr lang="en-US" sz="1100" dirty="0"/>
          </a:p>
          <a:p>
            <a:pPr indent="0" marL="0">
              <a:spcAft>
                <a:spcPts val="800"/>
              </a:spcAft>
              <a:buNone/>
            </a:pPr>
            <a:r>
              <a:rPr lang="en-US" sz="1100" dirty="0">
                <a:solidFill>
                  <a:srgbClr val="5B6672"/>
                </a:solidFill>
                <a:latin typeface="Calibri" pitchFamily="34" charset="0"/>
                <a:ea typeface="Calibri" pitchFamily="34" charset="-122"/>
                <a:cs typeface="Calibri" pitchFamily="34" charset="-120"/>
              </a:rPr>
              <a:t>Management attributes losses to FWA, fiber overbuilders, and a frozen housing market. Those are interpretations; no filing measures the split.</a:t>
            </a:r>
            <a:endParaRPr lang="en-US" sz="1100" dirty="0"/>
          </a:p>
          <a:p>
            <a:pPr indent="0" marL="0">
              <a:buNone/>
            </a:pPr>
            <a:r>
              <a:rPr lang="en-US" sz="1100" b="1" dirty="0">
                <a:solidFill>
                  <a:srgbClr val="C8102E"/>
                </a:solidFill>
                <a:latin typeface="Calibri" pitchFamily="34" charset="0"/>
                <a:ea typeface="Calibri" pitchFamily="34" charset="-122"/>
                <a:cs typeface="Calibri" pitchFamily="34" charset="-120"/>
              </a:rPr>
              <a:t>Implication: </a:t>
            </a:r>
            <a:pPr indent="0" marL="0">
              <a:buNone/>
            </a:pPr>
            <a:r>
              <a:rPr lang="en-US" sz="1100" dirty="0">
                <a:solidFill>
                  <a:srgbClr val="5B6672"/>
                </a:solidFill>
                <a:latin typeface="Calibri" pitchFamily="34" charset="0"/>
                <a:ea typeface="Calibri" pitchFamily="34" charset="-122"/>
                <a:cs typeface="Calibri" pitchFamily="34" charset="-120"/>
              </a:rPr>
              <a:t>we cannot recommend an operating inflection we cannot see, and we cannot yet name the cause.</a:t>
            </a:r>
            <a:endParaRPr lang="en-US" sz="1100" dirty="0"/>
          </a:p>
        </p:txBody>
      </p:sp>
      <p:sp>
        <p:nvSpPr>
          <p:cNvPr id="8" name="Text 5"/>
          <p:cNvSpPr txBox="1"/>
          <p:nvPr/>
        </p:nvSpPr>
        <p:spPr>
          <a:xfrm>
            <a:off x="502920" y="6144768"/>
            <a:ext cx="11155680" cy="256032"/>
          </a:xfrm>
          <a:prstGeom prst="rect">
            <a:avLst/>
          </a:prstGeom>
          <a:noFill/>
          <a:ln/>
        </p:spPr>
        <p:txBody>
          <a:bodyPr wrap="square" lIns="0" tIns="0" rIns="0" bIns="0" rtlCol="0" anchor="ctr"/>
          <a:lstStyle/>
          <a:p>
            <a:pPr indent="0" marL="0">
              <a:buNone/>
            </a:pPr>
            <a:r>
              <a:rPr lang="en-US" sz="900" i="1" dirty="0">
                <a:solidFill>
                  <a:srgbClr val="8A94A0"/>
                </a:solidFill>
                <a:latin typeface="Calibri" pitchFamily="34" charset="0"/>
                <a:ea typeface="Calibri" pitchFamily="34" charset="-122"/>
                <a:cs typeface="Calibri" pitchFamily="34" charset="-120"/>
              </a:rPr>
              <a:t>Source: CHTR trending schedules and Ex99.1 releases, 2024Q1–2026Q2. *Q2 2026 is a later public fact, labeled.</a:t>
            </a:r>
            <a:endParaRPr lang="en-US" sz="900" dirty="0"/>
          </a:p>
        </p:txBody>
      </p:sp>
      <p:sp>
        <p:nvSpPr>
          <p:cNvPr id="9" name="Text 6"/>
          <p:cNvSpPr txBox="1"/>
          <p:nvPr/>
        </p:nvSpPr>
        <p:spPr>
          <a:xfrm>
            <a:off x="11567160" y="6446520"/>
            <a:ext cx="457200" cy="274320"/>
          </a:xfrm>
          <a:prstGeom prst="rect">
            <a:avLst/>
          </a:prstGeom>
          <a:noFill/>
          <a:ln/>
        </p:spPr>
        <p:txBody>
          <a:bodyPr wrap="square" lIns="0" tIns="0" rIns="0" bIns="0" rtlCol="0" anchor="ctr"/>
          <a:lstStyle/>
          <a:p>
            <a:pPr algn="r" indent="0" marL="0">
              <a:buNone/>
            </a:pPr>
            <a:r>
              <a:rPr lang="en-US" sz="1000" dirty="0">
                <a:solidFill>
                  <a:srgbClr val="8A94A0"/>
                </a:solidFill>
                <a:latin typeface="Calibri" pitchFamily="34" charset="0"/>
                <a:ea typeface="Calibri" pitchFamily="34" charset="-122"/>
                <a:cs typeface="Calibri" pitchFamily="34" charset="-120"/>
              </a:rPr>
              <a:t>4</a:t>
            </a:r>
            <a:endParaRPr lang="en-US" sz="1000" dirty="0"/>
          </a:p>
        </p:txBody>
      </p:sp>
      <p:sp>
        <p:nvSpPr>
          <p:cNvPr id="10" name="Text 7"/>
          <p:cNvSpPr txBox="1"/>
          <p:nvPr/>
        </p:nvSpPr>
        <p:spPr>
          <a:xfrm>
            <a:off x="502920" y="6446520"/>
            <a:ext cx="10881360" cy="274320"/>
          </a:xfrm>
          <a:prstGeom prst="rect">
            <a:avLst/>
          </a:prstGeom>
          <a:noFill/>
          <a:ln/>
        </p:spPr>
        <p:txBody>
          <a:bodyPr wrap="square" lIns="0" tIns="0" rIns="0" bIns="0" rtlCol="0" anchor="ctr"/>
          <a:lstStyle/>
          <a:p>
            <a:pPr indent="0" marL="0">
              <a:buNone/>
            </a:pPr>
            <a:r>
              <a:rPr lang="en-US" sz="900" dirty="0">
                <a:solidFill>
                  <a:srgbClr val="8A94A0"/>
                </a:solidFill>
                <a:latin typeface="Calibri" pitchFamily="34" charset="0"/>
                <a:ea typeface="Calibri" pitchFamily="34" charset="-122"/>
                <a:cs typeface="Calibri" pitchFamily="34" charset="-120"/>
              </a:rPr>
              <a:t>Final Presentation  ·  “Changing the Trajectory”  ·  Charter Communications (CHTR)  ·  Anchored to Q1 2026; Q2 2026 labeled as later public fact where used</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02920" y="292608"/>
            <a:ext cx="10515600" cy="274320"/>
          </a:xfrm>
          <a:prstGeom prst="rect">
            <a:avLst/>
          </a:prstGeom>
          <a:noFill/>
          <a:ln/>
        </p:spPr>
        <p:txBody>
          <a:bodyPr wrap="square" lIns="0" tIns="0" rIns="0" bIns="0" rtlCol="0" anchor="ctr"/>
          <a:lstStyle/>
          <a:p>
            <a:pPr indent="0" marL="0">
              <a:buNone/>
            </a:pPr>
            <a:r>
              <a:rPr lang="en-US" sz="1100" b="1" spc="200" kern="0" dirty="0">
                <a:solidFill>
                  <a:srgbClr val="0072CE"/>
                </a:solidFill>
                <a:latin typeface="Calibri" pitchFamily="34" charset="0"/>
                <a:ea typeface="Calibri" pitchFamily="34" charset="-122"/>
                <a:cs typeface="Calibri" pitchFamily="34" charset="-120"/>
              </a:rPr>
              <a:t>2  ·  ANALYSIS — TEST 2: DID PRICING COVER THE VOLUME LOSS?</a:t>
            </a:r>
            <a:endParaRPr lang="en-US" sz="1100" dirty="0"/>
          </a:p>
        </p:txBody>
      </p:sp>
      <p:sp>
        <p:nvSpPr>
          <p:cNvPr id="3" name="Text 1"/>
          <p:cNvSpPr txBox="1"/>
          <p:nvPr/>
        </p:nvSpPr>
        <p:spPr>
          <a:xfrm>
            <a:off x="502920" y="566928"/>
            <a:ext cx="11155680" cy="1005840"/>
          </a:xfrm>
          <a:prstGeom prst="rect">
            <a:avLst/>
          </a:prstGeom>
          <a:noFill/>
          <a:ln/>
        </p:spPr>
        <p:txBody>
          <a:bodyPr wrap="square" lIns="0" tIns="0" rIns="0" bIns="0" rtlCol="0" anchor="t"/>
          <a:lstStyle/>
          <a:p>
            <a:pPr indent="0" marL="0">
              <a:buNone/>
            </a:pPr>
            <a:r>
              <a:rPr lang="en-US" sz="2200" b="1" dirty="0">
                <a:solidFill>
                  <a:srgbClr val="0B1F3A"/>
                </a:solidFill>
                <a:latin typeface="Calibri" pitchFamily="34" charset="0"/>
                <a:ea typeface="Calibri" pitchFamily="34" charset="-122"/>
                <a:cs typeface="Calibri" pitchFamily="34" charset="-120"/>
              </a:rPr>
              <a:t>Through 2025 price and mix out-ran subscriber losses. In Q1 2026 the offset vanished — the engine is now shrinking in dollars</a:t>
            </a:r>
            <a:endParaRPr lang="en-US" sz="2200" dirty="0"/>
          </a:p>
        </p:txBody>
      </p:sp>
      <p:graphicFrame>
        <p:nvGraphicFramePr>
          <p:cNvPr id="4" name="Chart 0" descr=""/>
          <p:cNvGraphicFramePr/>
          <p:nvPr/>
        </p:nvGraphicFramePr>
        <p:xfrm>
          <a:off x="502920" y="1737360"/>
          <a:ext cx="749808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37360"/>
            <a:ext cx="3429000" cy="4206240"/>
          </a:xfrm>
          <a:prstGeom prst="roundRect">
            <a:avLst>
              <a:gd name="adj" fmla="val 2133"/>
            </a:avLst>
          </a:prstGeom>
          <a:solidFill>
            <a:srgbClr val="F2F6FB"/>
          </a:solidFill>
          <a:ln w="12700">
            <a:solidFill>
              <a:srgbClr val="D7E0EA"/>
            </a:solidFill>
            <a:prstDash val="solid"/>
          </a:ln>
        </p:spPr>
      </p:sp>
      <p:sp>
        <p:nvSpPr>
          <p:cNvPr id="6" name="Text 3"/>
          <p:cNvSpPr txBox="1"/>
          <p:nvPr/>
        </p:nvSpPr>
        <p:spPr>
          <a:xfrm>
            <a:off x="8503920" y="1901952"/>
            <a:ext cx="3017520" cy="256032"/>
          </a:xfrm>
          <a:prstGeom prst="rect">
            <a:avLst/>
          </a:prstGeom>
          <a:noFill/>
          <a:ln/>
        </p:spPr>
        <p:txBody>
          <a:bodyPr wrap="square" lIns="0" tIns="0" rIns="0" bIns="0" rtlCol="0" anchor="ctr"/>
          <a:lstStyle/>
          <a:p>
            <a:pPr indent="0" marL="0">
              <a:buNone/>
            </a:pPr>
            <a:r>
              <a:rPr lang="en-US" sz="1000" b="1" spc="150" kern="0" dirty="0">
                <a:solidFill>
                  <a:srgbClr val="0072CE"/>
                </a:solidFill>
                <a:latin typeface="Calibri" pitchFamily="34" charset="0"/>
                <a:ea typeface="Calibri" pitchFamily="34" charset="-122"/>
                <a:cs typeface="Calibri" pitchFamily="34" charset="-120"/>
              </a:rPr>
              <a:t>READ</a:t>
            </a:r>
            <a:endParaRPr lang="en-US" sz="1000" dirty="0"/>
          </a:p>
        </p:txBody>
      </p:sp>
      <p:sp>
        <p:nvSpPr>
          <p:cNvPr id="7" name="Text 4"/>
          <p:cNvSpPr txBox="1"/>
          <p:nvPr/>
        </p:nvSpPr>
        <p:spPr>
          <a:xfrm>
            <a:off x="8503920" y="2212848"/>
            <a:ext cx="3017520" cy="3611880"/>
          </a:xfrm>
          <a:prstGeom prst="rect">
            <a:avLst/>
          </a:prstGeom>
          <a:noFill/>
          <a:ln/>
        </p:spPr>
        <p:txBody>
          <a:bodyPr wrap="square" lIns="0" tIns="0" rIns="0" bIns="0" rtlCol="0" anchor="t"/>
          <a:lstStyle/>
          <a:p>
            <a:pPr indent="0" marL="0">
              <a:spcAft>
                <a:spcPts val="800"/>
              </a:spcAft>
              <a:buNone/>
            </a:pPr>
            <a:r>
              <a:rPr lang="en-US" sz="1050" b="1" dirty="0">
                <a:solidFill>
                  <a:srgbClr val="0B1F3A"/>
                </a:solidFill>
                <a:latin typeface="Calibri" pitchFamily="34" charset="0"/>
                <a:ea typeface="Calibri" pitchFamily="34" charset="-122"/>
                <a:cs typeface="Calibri" pitchFamily="34" charset="-120"/>
              </a:rPr>
              <a:t>Q1 2026 mix: +$8M. Q2 2026 mix: −$95M.</a:t>
            </a:r>
            <a:endParaRPr lang="en-US" sz="1050" dirty="0"/>
          </a:p>
          <a:p>
            <a:pPr indent="0" marL="0">
              <a:spcAft>
                <a:spcPts val="800"/>
              </a:spcAft>
              <a:buNone/>
            </a:pPr>
            <a:r>
              <a:rPr lang="en-US" sz="1050" dirty="0">
                <a:solidFill>
                  <a:srgbClr val="5B6672"/>
                </a:solidFill>
                <a:latin typeface="Calibri" pitchFamily="34" charset="0"/>
                <a:ea typeface="Calibri" pitchFamily="34" charset="-122"/>
                <a:cs typeface="Calibri" pitchFamily="34" charset="-120"/>
              </a:rPr>
              <a:t>Internet revenue fell $78M YoY in Q1 2026 (−1.3%) — the first decline in the window. The simplified, lower-promo pricing strategy has ended the mix tailwind by design.</a:t>
            </a:r>
            <a:endParaRPr lang="en-US" sz="1050" dirty="0"/>
          </a:p>
          <a:p>
            <a:pPr indent="0" marL="0">
              <a:spcAft>
                <a:spcPts val="800"/>
              </a:spcAft>
              <a:buNone/>
            </a:pPr>
            <a:r>
              <a:rPr lang="en-US" sz="1050" dirty="0">
                <a:solidFill>
                  <a:srgbClr val="5B6672"/>
                </a:solidFill>
                <a:latin typeface="Calibri" pitchFamily="34" charset="0"/>
                <a:ea typeface="Calibri" pitchFamily="34" charset="-122"/>
                <a:cs typeface="Calibri" pitchFamily="34" charset="-120"/>
              </a:rPr>
              <a:t>Method: volume = Δ average Internet customers × prior-year revenue per customer; remainder is price/mix. FY2025 10-K publishes the audited analog (+$785M mix / −$380M residential volume).</a:t>
            </a:r>
            <a:endParaRPr lang="en-US" sz="1050" dirty="0"/>
          </a:p>
          <a:p>
            <a:pPr indent="0" marL="0">
              <a:buNone/>
            </a:pPr>
            <a:r>
              <a:rPr lang="en-US" sz="1050" b="1" dirty="0">
                <a:solidFill>
                  <a:srgbClr val="C8102E"/>
                </a:solidFill>
                <a:latin typeface="Calibri" pitchFamily="34" charset="0"/>
                <a:ea typeface="Calibri" pitchFamily="34" charset="-122"/>
                <a:cs typeface="Calibri" pitchFamily="34" charset="-120"/>
              </a:rPr>
              <a:t>Implication: </a:t>
            </a:r>
            <a:pPr indent="0" marL="0">
              <a:buNone/>
            </a:pPr>
            <a:r>
              <a:rPr lang="en-US" sz="1050" dirty="0">
                <a:solidFill>
                  <a:srgbClr val="5B6672"/>
                </a:solidFill>
                <a:latin typeface="Calibri" pitchFamily="34" charset="0"/>
                <a:ea typeface="Calibri" pitchFamily="34" charset="-122"/>
                <a:cs typeface="Calibri" pitchFamily="34" charset="-120"/>
              </a:rPr>
              <a:t>any retention play funded through ARPU compression makes this chart worse while “working.”</a:t>
            </a:r>
            <a:endParaRPr lang="en-US" sz="1050" dirty="0"/>
          </a:p>
        </p:txBody>
      </p:sp>
      <p:sp>
        <p:nvSpPr>
          <p:cNvPr id="8" name="Text 5"/>
          <p:cNvSpPr txBox="1"/>
          <p:nvPr/>
        </p:nvSpPr>
        <p:spPr>
          <a:xfrm>
            <a:off x="502920" y="6144768"/>
            <a:ext cx="11155680" cy="256032"/>
          </a:xfrm>
          <a:prstGeom prst="rect">
            <a:avLst/>
          </a:prstGeom>
          <a:noFill/>
          <a:ln/>
        </p:spPr>
        <p:txBody>
          <a:bodyPr wrap="square" lIns="0" tIns="0" rIns="0" bIns="0" rtlCol="0" anchor="ctr"/>
          <a:lstStyle/>
          <a:p>
            <a:pPr indent="0" marL="0">
              <a:buNone/>
            </a:pPr>
            <a:r>
              <a:rPr lang="en-US" sz="900" i="1" dirty="0">
                <a:solidFill>
                  <a:srgbClr val="8A94A0"/>
                </a:solidFill>
                <a:latin typeface="Calibri" pitchFamily="34" charset="0"/>
                <a:ea typeface="Calibri" pitchFamily="34" charset="-122"/>
                <a:cs typeface="Calibri" pitchFamily="34" charset="-120"/>
              </a:rPr>
              <a:t>Source: Derived from trending Internet revenue and customers; Q1–Q2 2026 revenue from Ex99.1 ($5,852M / $5,776M). Programmer-app costs sit in video and are excluded. Analysis, not a filing.</a:t>
            </a:r>
            <a:endParaRPr lang="en-US" sz="900" dirty="0"/>
          </a:p>
        </p:txBody>
      </p:sp>
      <p:sp>
        <p:nvSpPr>
          <p:cNvPr id="9" name="Text 6"/>
          <p:cNvSpPr txBox="1"/>
          <p:nvPr/>
        </p:nvSpPr>
        <p:spPr>
          <a:xfrm>
            <a:off x="11567160" y="6446520"/>
            <a:ext cx="457200" cy="274320"/>
          </a:xfrm>
          <a:prstGeom prst="rect">
            <a:avLst/>
          </a:prstGeom>
          <a:noFill/>
          <a:ln/>
        </p:spPr>
        <p:txBody>
          <a:bodyPr wrap="square" lIns="0" tIns="0" rIns="0" bIns="0" rtlCol="0" anchor="ctr"/>
          <a:lstStyle/>
          <a:p>
            <a:pPr algn="r" indent="0" marL="0">
              <a:buNone/>
            </a:pPr>
            <a:r>
              <a:rPr lang="en-US" sz="1000" dirty="0">
                <a:solidFill>
                  <a:srgbClr val="8A94A0"/>
                </a:solidFill>
                <a:latin typeface="Calibri" pitchFamily="34" charset="0"/>
                <a:ea typeface="Calibri" pitchFamily="34" charset="-122"/>
                <a:cs typeface="Calibri" pitchFamily="34" charset="-120"/>
              </a:rPr>
              <a:t>5</a:t>
            </a:r>
            <a:endParaRPr lang="en-US" sz="1000" dirty="0"/>
          </a:p>
        </p:txBody>
      </p:sp>
      <p:sp>
        <p:nvSpPr>
          <p:cNvPr id="10" name="Text 7"/>
          <p:cNvSpPr txBox="1"/>
          <p:nvPr/>
        </p:nvSpPr>
        <p:spPr>
          <a:xfrm>
            <a:off x="502920" y="6446520"/>
            <a:ext cx="10881360" cy="274320"/>
          </a:xfrm>
          <a:prstGeom prst="rect">
            <a:avLst/>
          </a:prstGeom>
          <a:noFill/>
          <a:ln/>
        </p:spPr>
        <p:txBody>
          <a:bodyPr wrap="square" lIns="0" tIns="0" rIns="0" bIns="0" rtlCol="0" anchor="ctr"/>
          <a:lstStyle/>
          <a:p>
            <a:pPr indent="0" marL="0">
              <a:buNone/>
            </a:pPr>
            <a:r>
              <a:rPr lang="en-US" sz="900" dirty="0">
                <a:solidFill>
                  <a:srgbClr val="8A94A0"/>
                </a:solidFill>
                <a:latin typeface="Calibri" pitchFamily="34" charset="0"/>
                <a:ea typeface="Calibri" pitchFamily="34" charset="-122"/>
                <a:cs typeface="Calibri" pitchFamily="34" charset="-120"/>
              </a:rPr>
              <a:t>Final Presentation  ·  “Changing the Trajectory”  ·  Charter Communications (CHTR)  ·  Anchored to Q1 2026; Q2 2026 labeled as later public fact where used</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02920" y="292608"/>
            <a:ext cx="10515600" cy="274320"/>
          </a:xfrm>
          <a:prstGeom prst="rect">
            <a:avLst/>
          </a:prstGeom>
          <a:noFill/>
          <a:ln/>
        </p:spPr>
        <p:txBody>
          <a:bodyPr wrap="square" lIns="0" tIns="0" rIns="0" bIns="0" rtlCol="0" anchor="ctr"/>
          <a:lstStyle/>
          <a:p>
            <a:pPr indent="0" marL="0">
              <a:buNone/>
            </a:pPr>
            <a:r>
              <a:rPr lang="en-US" sz="1100" b="1" spc="200" kern="0" dirty="0">
                <a:solidFill>
                  <a:srgbClr val="0072CE"/>
                </a:solidFill>
                <a:latin typeface="Calibri" pitchFamily="34" charset="0"/>
                <a:ea typeface="Calibri" pitchFamily="34" charset="-122"/>
                <a:cs typeface="Calibri" pitchFamily="34" charset="-120"/>
              </a:rPr>
              <a:t>2  ·  ANALYSIS — TEST 3: WILL THE MARKET NET MOBILE AGAINST INTERNET?</a:t>
            </a:r>
            <a:endParaRPr lang="en-US" sz="1100" dirty="0"/>
          </a:p>
        </p:txBody>
      </p:sp>
      <p:sp>
        <p:nvSpPr>
          <p:cNvPr id="3" name="Text 1"/>
          <p:cNvSpPr txBox="1"/>
          <p:nvPr/>
        </p:nvSpPr>
        <p:spPr>
          <a:xfrm>
            <a:off x="502920" y="566928"/>
            <a:ext cx="11155680" cy="1005840"/>
          </a:xfrm>
          <a:prstGeom prst="rect">
            <a:avLst/>
          </a:prstGeom>
          <a:noFill/>
          <a:ln/>
        </p:spPr>
        <p:txBody>
          <a:bodyPr wrap="square" lIns="0" tIns="0" rIns="0" bIns="0" rtlCol="0" anchor="t"/>
          <a:lstStyle/>
          <a:p>
            <a:pPr indent="0" marL="0">
              <a:buNone/>
            </a:pPr>
            <a:r>
              <a:rPr lang="en-US" sz="2200" b="1" dirty="0">
                <a:solidFill>
                  <a:srgbClr val="0B1F3A"/>
                </a:solidFill>
                <a:latin typeface="Calibri" pitchFamily="34" charset="0"/>
                <a:ea typeface="Calibri" pitchFamily="34" charset="-122"/>
                <a:cs typeface="Calibri" pitchFamily="34" charset="-120"/>
              </a:rPr>
              <a:t>Mobile added 4.3M lines while Internet lost 1.1M customers — and the market has now refused to net them on two earnings days</a:t>
            </a:r>
            <a:endParaRPr lang="en-US" sz="2200" dirty="0"/>
          </a:p>
        </p:txBody>
      </p:sp>
      <p:graphicFrame>
        <p:nvGraphicFramePr>
          <p:cNvPr id="4" name="Chart 0" descr=""/>
          <p:cNvGraphicFramePr/>
          <p:nvPr/>
        </p:nvGraphicFramePr>
        <p:xfrm>
          <a:off x="502920" y="1737360"/>
          <a:ext cx="749808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37360"/>
            <a:ext cx="3429000" cy="2011680"/>
          </a:xfrm>
          <a:prstGeom prst="roundRect">
            <a:avLst>
              <a:gd name="adj" fmla="val 3636"/>
            </a:avLst>
          </a:prstGeom>
          <a:solidFill>
            <a:srgbClr val="FFFFFF"/>
          </a:solidFill>
          <a:ln w="12700">
            <a:solidFill>
              <a:srgbClr val="D7E0EA"/>
            </a:solidFill>
            <a:prstDash val="solid"/>
          </a:ln>
        </p:spPr>
      </p:sp>
      <p:sp>
        <p:nvSpPr>
          <p:cNvPr id="6" name="Text 3"/>
          <p:cNvSpPr txBox="1"/>
          <p:nvPr/>
        </p:nvSpPr>
        <p:spPr>
          <a:xfrm>
            <a:off x="8503920" y="1874520"/>
            <a:ext cx="3017520" cy="237744"/>
          </a:xfrm>
          <a:prstGeom prst="rect">
            <a:avLst/>
          </a:prstGeom>
          <a:noFill/>
          <a:ln/>
        </p:spPr>
        <p:txBody>
          <a:bodyPr wrap="square" lIns="0" tIns="0" rIns="0" bIns="0" rtlCol="0" anchor="ctr"/>
          <a:lstStyle/>
          <a:p>
            <a:pPr indent="0" marL="0">
              <a:buNone/>
            </a:pPr>
            <a:r>
              <a:rPr lang="en-US" sz="1000" b="1" spc="150" kern="0" dirty="0">
                <a:solidFill>
                  <a:srgbClr val="1E7A46"/>
                </a:solidFill>
                <a:latin typeface="Calibri" pitchFamily="34" charset="0"/>
                <a:ea typeface="Calibri" pitchFamily="34" charset="-122"/>
                <a:cs typeface="Calibri" pitchFamily="34" charset="-120"/>
              </a:rPr>
              <a:t>APRIL 25, 2025</a:t>
            </a:r>
            <a:endParaRPr lang="en-US" sz="1000" dirty="0"/>
          </a:p>
        </p:txBody>
      </p:sp>
      <p:sp>
        <p:nvSpPr>
          <p:cNvPr id="7" name="Text 4"/>
          <p:cNvSpPr txBox="1"/>
          <p:nvPr/>
        </p:nvSpPr>
        <p:spPr>
          <a:xfrm>
            <a:off x="8503920" y="2148840"/>
            <a:ext cx="3017520" cy="1508760"/>
          </a:xfrm>
          <a:prstGeom prst="rect">
            <a:avLst/>
          </a:prstGeom>
          <a:noFill/>
          <a:ln/>
        </p:spPr>
        <p:txBody>
          <a:bodyPr wrap="square" lIns="0" tIns="0" rIns="0" bIns="0" rtlCol="0" anchor="t"/>
          <a:lstStyle/>
          <a:p>
            <a:pPr indent="0" marL="0">
              <a:buNone/>
            </a:pPr>
            <a:r>
              <a:rPr lang="en-US" sz="2000" b="1" dirty="0">
                <a:solidFill>
                  <a:srgbClr val="1E7A46"/>
                </a:solidFill>
                <a:latin typeface="Calibri" pitchFamily="34" charset="0"/>
                <a:ea typeface="Calibri" pitchFamily="34" charset="-122"/>
                <a:cs typeface="Calibri" pitchFamily="34" charset="-120"/>
              </a:rPr>
              <a:t>+11.4%  </a:t>
            </a:r>
            <a:pPr indent="0" marL="0">
              <a:buNone/>
            </a:pPr>
            <a:r>
              <a:rPr lang="en-US" sz="1050" dirty="0">
                <a:solidFill>
                  <a:srgbClr val="5B6672"/>
                </a:solidFill>
                <a:latin typeface="Calibri" pitchFamily="34" charset="0"/>
                <a:ea typeface="Calibri" pitchFamily="34" charset="-122"/>
                <a:cs typeface="Calibri" pitchFamily="34" charset="-120"/>
              </a:rPr>
              <a:t>Internet −59k; mobile and video beat. The market forgave the Internet miss because the print improved on the year before.</a:t>
            </a:r>
            <a:endParaRPr lang="en-US" sz="2000" dirty="0"/>
          </a:p>
        </p:txBody>
      </p:sp>
      <p:sp>
        <p:nvSpPr>
          <p:cNvPr id="8" name="Shape 5"/>
          <p:cNvSpPr/>
          <p:nvPr/>
        </p:nvSpPr>
        <p:spPr>
          <a:xfrm>
            <a:off x="8275320" y="3931920"/>
            <a:ext cx="3429000" cy="2011680"/>
          </a:xfrm>
          <a:prstGeom prst="roundRect">
            <a:avLst>
              <a:gd name="adj" fmla="val 3636"/>
            </a:avLst>
          </a:prstGeom>
          <a:solidFill>
            <a:srgbClr val="FBECEE"/>
          </a:solidFill>
          <a:ln w="15875">
            <a:solidFill>
              <a:srgbClr val="C8102E"/>
            </a:solidFill>
            <a:prstDash val="solid"/>
          </a:ln>
        </p:spPr>
      </p:sp>
      <p:sp>
        <p:nvSpPr>
          <p:cNvPr id="9" name="Text 6"/>
          <p:cNvSpPr txBox="1"/>
          <p:nvPr/>
        </p:nvSpPr>
        <p:spPr>
          <a:xfrm>
            <a:off x="8503920" y="4069080"/>
            <a:ext cx="3017520" cy="237744"/>
          </a:xfrm>
          <a:prstGeom prst="rect">
            <a:avLst/>
          </a:prstGeom>
          <a:noFill/>
          <a:ln/>
        </p:spPr>
        <p:txBody>
          <a:bodyPr wrap="square" lIns="0" tIns="0" rIns="0" bIns="0" rtlCol="0" anchor="ctr"/>
          <a:lstStyle/>
          <a:p>
            <a:pPr indent="0" marL="0">
              <a:buNone/>
            </a:pPr>
            <a:r>
              <a:rPr lang="en-US" sz="1000" b="1" spc="150" kern="0" dirty="0">
                <a:solidFill>
                  <a:srgbClr val="C8102E"/>
                </a:solidFill>
                <a:latin typeface="Calibri" pitchFamily="34" charset="0"/>
                <a:ea typeface="Calibri" pitchFamily="34" charset="-122"/>
                <a:cs typeface="Calibri" pitchFamily="34" charset="-120"/>
              </a:rPr>
              <a:t>APRIL 24, 2026</a:t>
            </a:r>
            <a:endParaRPr lang="en-US" sz="1000" dirty="0"/>
          </a:p>
        </p:txBody>
      </p:sp>
      <p:sp>
        <p:nvSpPr>
          <p:cNvPr id="10" name="Text 7"/>
          <p:cNvSpPr txBox="1"/>
          <p:nvPr/>
        </p:nvSpPr>
        <p:spPr>
          <a:xfrm>
            <a:off x="8503920" y="4343400"/>
            <a:ext cx="3017520" cy="1508760"/>
          </a:xfrm>
          <a:prstGeom prst="rect">
            <a:avLst/>
          </a:prstGeom>
          <a:noFill/>
          <a:ln/>
        </p:spPr>
        <p:txBody>
          <a:bodyPr wrap="square" lIns="0" tIns="0" rIns="0" bIns="0" rtlCol="0" anchor="t"/>
          <a:lstStyle/>
          <a:p>
            <a:pPr indent="0" marL="0">
              <a:buNone/>
            </a:pPr>
            <a:r>
              <a:rPr lang="en-US" sz="2000" b="1" dirty="0">
                <a:solidFill>
                  <a:srgbClr val="C8102E"/>
                </a:solidFill>
                <a:latin typeface="Calibri" pitchFamily="34" charset="0"/>
                <a:ea typeface="Calibri" pitchFamily="34" charset="-122"/>
                <a:cs typeface="Calibri" pitchFamily="34" charset="-120"/>
              </a:rPr>
              <a:t>−25.5%  </a:t>
            </a:r>
            <a:pPr indent="0" marL="0">
              <a:buNone/>
            </a:pPr>
            <a:r>
              <a:rPr lang="en-US" sz="1050" dirty="0">
                <a:solidFill>
                  <a:srgbClr val="5B6672"/>
                </a:solidFill>
                <a:latin typeface="Calibri" pitchFamily="34" charset="0"/>
                <a:ea typeface="Calibri" pitchFamily="34" charset="-122"/>
                <a:cs typeface="Calibri" pitchFamily="34" charset="-120"/>
              </a:rPr>
              <a:t>Internet −120k; mobile +368k lines. Same mobile story, opposite tape. Do not sell “total connectivity customers” as the valuation fix — the market has already rejected it.</a:t>
            </a:r>
            <a:endParaRPr lang="en-US" sz="2000" dirty="0"/>
          </a:p>
        </p:txBody>
      </p:sp>
      <p:sp>
        <p:nvSpPr>
          <p:cNvPr id="11" name="Text 8"/>
          <p:cNvSpPr txBox="1"/>
          <p:nvPr/>
        </p:nvSpPr>
        <p:spPr>
          <a:xfrm>
            <a:off x="502920" y="6144768"/>
            <a:ext cx="11155680" cy="256032"/>
          </a:xfrm>
          <a:prstGeom prst="rect">
            <a:avLst/>
          </a:prstGeom>
          <a:noFill/>
          <a:ln/>
        </p:spPr>
        <p:txBody>
          <a:bodyPr wrap="square" lIns="0" tIns="0" rIns="0" bIns="0" rtlCol="0" anchor="ctr"/>
          <a:lstStyle/>
          <a:p>
            <a:pPr indent="0" marL="0">
              <a:buNone/>
            </a:pPr>
            <a:r>
              <a:rPr lang="en-US" sz="900" i="1" dirty="0">
                <a:solidFill>
                  <a:srgbClr val="8A94A0"/>
                </a:solidFill>
                <a:latin typeface="Calibri" pitchFamily="34" charset="0"/>
                <a:ea typeface="Calibri" pitchFamily="34" charset="-122"/>
                <a:cs typeface="Calibri" pitchFamily="34" charset="-120"/>
              </a:rPr>
              <a:t>Source: Trending / Ex99.1 (restated basis); Yahoo Finance close-to-close on earnings dates (analysis, not a filing).</a:t>
            </a:r>
            <a:endParaRPr lang="en-US" sz="900" dirty="0"/>
          </a:p>
        </p:txBody>
      </p:sp>
      <p:sp>
        <p:nvSpPr>
          <p:cNvPr id="12" name="Text 9"/>
          <p:cNvSpPr txBox="1"/>
          <p:nvPr/>
        </p:nvSpPr>
        <p:spPr>
          <a:xfrm>
            <a:off x="11567160" y="6446520"/>
            <a:ext cx="457200" cy="274320"/>
          </a:xfrm>
          <a:prstGeom prst="rect">
            <a:avLst/>
          </a:prstGeom>
          <a:noFill/>
          <a:ln/>
        </p:spPr>
        <p:txBody>
          <a:bodyPr wrap="square" lIns="0" tIns="0" rIns="0" bIns="0" rtlCol="0" anchor="ctr"/>
          <a:lstStyle/>
          <a:p>
            <a:pPr algn="r" indent="0" marL="0">
              <a:buNone/>
            </a:pPr>
            <a:r>
              <a:rPr lang="en-US" sz="1000" dirty="0">
                <a:solidFill>
                  <a:srgbClr val="8A94A0"/>
                </a:solidFill>
                <a:latin typeface="Calibri" pitchFamily="34" charset="0"/>
                <a:ea typeface="Calibri" pitchFamily="34" charset="-122"/>
                <a:cs typeface="Calibri" pitchFamily="34" charset="-120"/>
              </a:rPr>
              <a:t>6</a:t>
            </a:r>
            <a:endParaRPr lang="en-US" sz="1000" dirty="0"/>
          </a:p>
        </p:txBody>
      </p:sp>
      <p:sp>
        <p:nvSpPr>
          <p:cNvPr id="13" name="Text 10"/>
          <p:cNvSpPr txBox="1"/>
          <p:nvPr/>
        </p:nvSpPr>
        <p:spPr>
          <a:xfrm>
            <a:off x="502920" y="6446520"/>
            <a:ext cx="10881360" cy="274320"/>
          </a:xfrm>
          <a:prstGeom prst="rect">
            <a:avLst/>
          </a:prstGeom>
          <a:noFill/>
          <a:ln/>
        </p:spPr>
        <p:txBody>
          <a:bodyPr wrap="square" lIns="0" tIns="0" rIns="0" bIns="0" rtlCol="0" anchor="ctr"/>
          <a:lstStyle/>
          <a:p>
            <a:pPr indent="0" marL="0">
              <a:buNone/>
            </a:pPr>
            <a:r>
              <a:rPr lang="en-US" sz="900" dirty="0">
                <a:solidFill>
                  <a:srgbClr val="8A94A0"/>
                </a:solidFill>
                <a:latin typeface="Calibri" pitchFamily="34" charset="0"/>
                <a:ea typeface="Calibri" pitchFamily="34" charset="-122"/>
                <a:cs typeface="Calibri" pitchFamily="34" charset="-120"/>
              </a:rPr>
              <a:t>Final Presentation  ·  “Changing the Trajectory”  ·  Charter Communications (CHTR)  ·  Anchored to Q1 2026; Q2 2026 labeled as later public fact where used</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02920" y="292608"/>
            <a:ext cx="10515600" cy="274320"/>
          </a:xfrm>
          <a:prstGeom prst="rect">
            <a:avLst/>
          </a:prstGeom>
          <a:noFill/>
          <a:ln/>
        </p:spPr>
        <p:txBody>
          <a:bodyPr wrap="square" lIns="0" tIns="0" rIns="0" bIns="0" rtlCol="0" anchor="ctr"/>
          <a:lstStyle/>
          <a:p>
            <a:pPr indent="0" marL="0">
              <a:buNone/>
            </a:pPr>
            <a:r>
              <a:rPr lang="en-US" sz="1100" b="1" spc="200" kern="0" dirty="0">
                <a:solidFill>
                  <a:srgbClr val="0072CE"/>
                </a:solidFill>
                <a:latin typeface="Calibri" pitchFamily="34" charset="0"/>
                <a:ea typeface="Calibri" pitchFamily="34" charset="-122"/>
                <a:cs typeface="Calibri" pitchFamily="34" charset="-120"/>
              </a:rPr>
              <a:t>2  ·  ANALYSIS — TEST 4: WHAT IS WALL STREET ACTUALLY LOOKING AT?</a:t>
            </a:r>
            <a:endParaRPr lang="en-US" sz="1100" dirty="0"/>
          </a:p>
        </p:txBody>
      </p:sp>
      <p:sp>
        <p:nvSpPr>
          <p:cNvPr id="3" name="Text 1"/>
          <p:cNvSpPr txBox="1"/>
          <p:nvPr/>
        </p:nvSpPr>
        <p:spPr>
          <a:xfrm>
            <a:off x="502920" y="566928"/>
            <a:ext cx="11155680" cy="1005840"/>
          </a:xfrm>
          <a:prstGeom prst="rect">
            <a:avLst/>
          </a:prstGeom>
          <a:noFill/>
          <a:ln/>
        </p:spPr>
        <p:txBody>
          <a:bodyPr wrap="square" lIns="0" tIns="0" rIns="0" bIns="0" rtlCol="0" anchor="t"/>
          <a:lstStyle/>
          <a:p>
            <a:pPr indent="0" marL="0">
              <a:buNone/>
            </a:pPr>
            <a:r>
              <a:rPr lang="en-US" sz="2200" b="1" dirty="0">
                <a:solidFill>
                  <a:srgbClr val="0B1F3A"/>
                </a:solidFill>
                <a:latin typeface="Calibri" pitchFamily="34" charset="0"/>
                <a:ea typeface="Calibri" pitchFamily="34" charset="-122"/>
                <a:cs typeface="Calibri" pitchFamily="34" charset="-120"/>
              </a:rPr>
              <a:t>Not the level. Not FCF. Not mobile. The tape prices the YoY acceleration and the surprise in Internet net adds</a:t>
            </a:r>
            <a:endParaRPr lang="en-US" sz="2200" dirty="0"/>
          </a:p>
        </p:txBody>
      </p:sp>
      <p:graphicFrame>
        <p:nvGraphicFramePr>
          <p:cNvPr id="4" name="Chart 0" descr=""/>
          <p:cNvGraphicFramePr/>
          <p:nvPr/>
        </p:nvGraphicFramePr>
        <p:xfrm>
          <a:off x="502920" y="1737360"/>
          <a:ext cx="676656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498080" y="1737360"/>
            <a:ext cx="4206240" cy="2331720"/>
          </a:xfrm>
          <a:prstGeom prst="roundRect">
            <a:avLst>
              <a:gd name="adj" fmla="val 3137"/>
            </a:avLst>
          </a:prstGeom>
          <a:solidFill>
            <a:srgbClr val="F2F6FB"/>
          </a:solidFill>
          <a:ln w="15875">
            <a:solidFill>
              <a:srgbClr val="0072CE"/>
            </a:solidFill>
            <a:prstDash val="solid"/>
          </a:ln>
        </p:spPr>
      </p:sp>
      <p:sp>
        <p:nvSpPr>
          <p:cNvPr id="6" name="Text 3"/>
          <p:cNvSpPr txBox="1"/>
          <p:nvPr/>
        </p:nvSpPr>
        <p:spPr>
          <a:xfrm>
            <a:off x="7726680" y="1874520"/>
            <a:ext cx="3749040" cy="237744"/>
          </a:xfrm>
          <a:prstGeom prst="rect">
            <a:avLst/>
          </a:prstGeom>
          <a:noFill/>
          <a:ln/>
        </p:spPr>
        <p:txBody>
          <a:bodyPr wrap="square" lIns="0" tIns="0" rIns="0" bIns="0" rtlCol="0" anchor="ctr"/>
          <a:lstStyle/>
          <a:p>
            <a:pPr indent="0" marL="0">
              <a:buNone/>
            </a:pPr>
            <a:r>
              <a:rPr lang="en-US" sz="1000" b="1" spc="150" kern="0" dirty="0">
                <a:solidFill>
                  <a:srgbClr val="0072CE"/>
                </a:solidFill>
                <a:latin typeface="Calibri" pitchFamily="34" charset="0"/>
                <a:ea typeface="Calibri" pitchFamily="34" charset="-122"/>
                <a:cs typeface="Calibri" pitchFamily="34" charset="-120"/>
              </a:rPr>
              <a:t>THE NATURAL EXPERIMENT</a:t>
            </a:r>
            <a:endParaRPr lang="en-US" sz="1000" dirty="0"/>
          </a:p>
        </p:txBody>
      </p:sp>
      <p:sp>
        <p:nvSpPr>
          <p:cNvPr id="7" name="Text 4"/>
          <p:cNvSpPr txBox="1"/>
          <p:nvPr/>
        </p:nvSpPr>
        <p:spPr>
          <a:xfrm>
            <a:off x="7726680" y="2148840"/>
            <a:ext cx="3749040" cy="1874520"/>
          </a:xfrm>
          <a:prstGeom prst="rect">
            <a:avLst/>
          </a:prstGeom>
          <a:noFill/>
          <a:ln/>
        </p:spPr>
        <p:txBody>
          <a:bodyPr wrap="square" lIns="0" tIns="0" rIns="0" bIns="0" rtlCol="0" anchor="t"/>
          <a:lstStyle/>
          <a:p>
            <a:pPr indent="0" marL="0">
              <a:buNone/>
            </a:pPr>
            <a:r>
              <a:rPr lang="en-US" sz="1100" b="1" dirty="0">
                <a:solidFill>
                  <a:srgbClr val="1E7A46"/>
                </a:solidFill>
                <a:latin typeface="Calibri" pitchFamily="34" charset="0"/>
                <a:ea typeface="Calibri" pitchFamily="34" charset="-122"/>
                <a:cs typeface="Calibri" pitchFamily="34" charset="-120"/>
              </a:rPr>
              <a:t>Q4’25: −119k → +7.6%.  </a:t>
            </a:r>
            <a:pPr indent="0" marL="0">
              <a:spcAft>
                <a:spcPts val="600"/>
              </a:spcAft>
              <a:buNone/>
            </a:pPr>
            <a:r>
              <a:rPr lang="en-US" sz="1100" dirty="0">
                <a:solidFill>
                  <a:srgbClr val="5B6672"/>
                </a:solidFill>
                <a:latin typeface="Calibri" pitchFamily="34" charset="0"/>
                <a:ea typeface="Calibri" pitchFamily="34" charset="-122"/>
                <a:cs typeface="Calibri" pitchFamily="34" charset="-120"/>
              </a:rPr>
              <a:t>An improvement on the year-ago −177k.</a:t>
            </a:r>
            <a:endParaRPr lang="en-US" sz="1100" dirty="0"/>
          </a:p>
          <a:p>
            <a:pPr indent="0" marL="0">
              <a:buNone/>
            </a:pPr>
            <a:r>
              <a:rPr lang="en-US" sz="1100" b="1" dirty="0">
                <a:solidFill>
                  <a:srgbClr val="C8102E"/>
                </a:solidFill>
                <a:latin typeface="Calibri" pitchFamily="34" charset="0"/>
                <a:ea typeface="Calibri" pitchFamily="34" charset="-122"/>
                <a:cs typeface="Calibri" pitchFamily="34" charset="-120"/>
              </a:rPr>
              <a:t>Q1’26: −120k → −25.5%.  </a:t>
            </a:r>
            <a:pPr indent="0" marL="0">
              <a:spcAft>
                <a:spcPts val="600"/>
              </a:spcAft>
              <a:buNone/>
            </a:pPr>
            <a:r>
              <a:rPr lang="en-US" sz="1100" dirty="0">
                <a:solidFill>
                  <a:srgbClr val="5B6672"/>
                </a:solidFill>
                <a:latin typeface="Calibri" pitchFamily="34" charset="0"/>
                <a:ea typeface="Calibri" pitchFamily="34" charset="-122"/>
                <a:cs typeface="Calibri" pitchFamily="34" charset="-120"/>
              </a:rPr>
              <a:t>Double the year-ago −59k. Comcast fell 13% the same day; Charter fell twice as far.</a:t>
            </a:r>
            <a:endParaRPr lang="en-US" sz="1100" dirty="0"/>
          </a:p>
          <a:p>
            <a:pPr indent="0" marL="0">
              <a:buNone/>
            </a:pPr>
            <a:r>
              <a:rPr lang="en-US" sz="1100" b="1" dirty="0">
                <a:solidFill>
                  <a:srgbClr val="0B1F3A"/>
                </a:solidFill>
                <a:latin typeface="Calibri" pitchFamily="34" charset="0"/>
                <a:ea typeface="Calibri" pitchFamily="34" charset="-122"/>
                <a:cs typeface="Calibri" pitchFamily="34" charset="-120"/>
              </a:rPr>
              <a:t>Same absolute loss, one thousand customers apart, opposite tape. The market is pricing the second derivative.</a:t>
            </a:r>
            <a:endParaRPr lang="en-US" sz="1100" dirty="0"/>
          </a:p>
        </p:txBody>
      </p:sp>
      <p:sp>
        <p:nvSpPr>
          <p:cNvPr id="8" name="Shape 5"/>
          <p:cNvSpPr/>
          <p:nvPr/>
        </p:nvSpPr>
        <p:spPr>
          <a:xfrm>
            <a:off x="7498080" y="4206240"/>
            <a:ext cx="4206240" cy="1737360"/>
          </a:xfrm>
          <a:prstGeom prst="roundRect">
            <a:avLst>
              <a:gd name="adj" fmla="val 4211"/>
            </a:avLst>
          </a:prstGeom>
          <a:solidFill>
            <a:srgbClr val="FFFFFF"/>
          </a:solidFill>
          <a:ln w="12700">
            <a:solidFill>
              <a:srgbClr val="D7E0EA"/>
            </a:solidFill>
            <a:prstDash val="solid"/>
          </a:ln>
        </p:spPr>
      </p:sp>
      <p:sp>
        <p:nvSpPr>
          <p:cNvPr id="9" name="Text 6"/>
          <p:cNvSpPr txBox="1"/>
          <p:nvPr/>
        </p:nvSpPr>
        <p:spPr>
          <a:xfrm>
            <a:off x="7726680" y="4325112"/>
            <a:ext cx="3749040" cy="237744"/>
          </a:xfrm>
          <a:prstGeom prst="rect">
            <a:avLst/>
          </a:prstGeom>
          <a:noFill/>
          <a:ln/>
        </p:spPr>
        <p:txBody>
          <a:bodyPr wrap="square" lIns="0" tIns="0" rIns="0" bIns="0" rtlCol="0" anchor="ctr"/>
          <a:lstStyle/>
          <a:p>
            <a:pPr indent="0" marL="0">
              <a:buNone/>
            </a:pPr>
            <a:r>
              <a:rPr lang="en-US" sz="1000" b="1" spc="150" kern="0" dirty="0">
                <a:solidFill>
                  <a:srgbClr val="5B6672"/>
                </a:solidFill>
                <a:latin typeface="Calibri" pitchFamily="34" charset="0"/>
                <a:ea typeface="Calibri" pitchFamily="34" charset="-122"/>
                <a:cs typeface="Calibri" pitchFamily="34" charset="-120"/>
              </a:rPr>
              <a:t>WHAT IT DOES NOT PRICE</a:t>
            </a:r>
            <a:endParaRPr lang="en-US" sz="1000" dirty="0"/>
          </a:p>
        </p:txBody>
      </p:sp>
      <p:sp>
        <p:nvSpPr>
          <p:cNvPr id="10" name="Text 7"/>
          <p:cNvSpPr txBox="1"/>
          <p:nvPr/>
        </p:nvSpPr>
        <p:spPr>
          <a:xfrm>
            <a:off x="7726680" y="4572000"/>
            <a:ext cx="3749040" cy="1325880"/>
          </a:xfrm>
          <a:prstGeom prst="rect">
            <a:avLst/>
          </a:prstGeom>
          <a:noFill/>
          <a:ln/>
        </p:spPr>
        <p:txBody>
          <a:bodyPr wrap="square" lIns="0" tIns="0" rIns="0" bIns="0" rtlCol="0" anchor="t"/>
          <a:lstStyle/>
          <a:p>
            <a:pPr indent="0" marL="0">
              <a:buNone/>
            </a:pPr>
            <a:r>
              <a:rPr lang="en-US" sz="1000" b="1" dirty="0">
                <a:solidFill>
                  <a:srgbClr val="0B1F3A"/>
                </a:solidFill>
                <a:latin typeface="Calibri" pitchFamily="34" charset="0"/>
                <a:ea typeface="Calibri" pitchFamily="34" charset="-122"/>
                <a:cs typeface="Calibri" pitchFamily="34" charset="-120"/>
              </a:rPr>
              <a:t>FCF: </a:t>
            </a:r>
            <a:pPr indent="0" marL="0">
              <a:spcAft>
                <a:spcPts val="400"/>
              </a:spcAft>
              <a:buNone/>
            </a:pPr>
            <a:r>
              <a:rPr lang="en-US" sz="1000" dirty="0">
                <a:solidFill>
                  <a:srgbClr val="5B6672"/>
                </a:solidFill>
                <a:latin typeface="Calibri" pitchFamily="34" charset="0"/>
                <a:ea typeface="Calibri" pitchFamily="34" charset="-122"/>
                <a:cs typeface="Calibri" pitchFamily="34" charset="-120"/>
              </a:rPr>
              <a:t>r = 0.08 vs. Internet adds; FCF swings with accrued capex, and a mid-teens FCF yield is the whole sector, not a Charter gift.</a:t>
            </a:r>
            <a:endParaRPr lang="en-US" sz="1000" dirty="0"/>
          </a:p>
          <a:p>
            <a:pPr indent="0" marL="0">
              <a:buNone/>
            </a:pPr>
            <a:r>
              <a:rPr lang="en-US" sz="1000" b="1" dirty="0">
                <a:solidFill>
                  <a:srgbClr val="0B1F3A"/>
                </a:solidFill>
                <a:latin typeface="Calibri" pitchFamily="34" charset="0"/>
                <a:ea typeface="Calibri" pitchFamily="34" charset="-122"/>
                <a:cs typeface="Calibri" pitchFamily="34" charset="-120"/>
              </a:rPr>
              <a:t>Buybacks: </a:t>
            </a:r>
            <a:pPr indent="0" marL="0">
              <a:spcAft>
                <a:spcPts val="400"/>
              </a:spcAft>
              <a:buNone/>
            </a:pPr>
            <a:r>
              <a:rPr lang="en-US" sz="1000" dirty="0">
                <a:solidFill>
                  <a:srgbClr val="5B6672"/>
                </a:solidFill>
                <a:latin typeface="Calibri" pitchFamily="34" charset="0"/>
                <a:ea typeface="Calibri" pitchFamily="34" charset="-122"/>
                <a:cs typeface="Calibri" pitchFamily="34" charset="-120"/>
              </a:rPr>
              <a:t>$5.4B repurchased in FY2025 while the price fell from $345 to $206 on earnings dates.</a:t>
            </a:r>
            <a:endParaRPr lang="en-US" sz="1000" dirty="0"/>
          </a:p>
          <a:p>
            <a:pPr indent="0" marL="0">
              <a:buNone/>
            </a:pPr>
            <a:r>
              <a:rPr lang="en-US" sz="1000" b="1" dirty="0">
                <a:solidFill>
                  <a:srgbClr val="0B1F3A"/>
                </a:solidFill>
                <a:latin typeface="Calibri" pitchFamily="34" charset="0"/>
                <a:ea typeface="Calibri" pitchFamily="34" charset="-122"/>
                <a:cs typeface="Calibri" pitchFamily="34" charset="-120"/>
              </a:rPr>
              <a:t>Guidance: </a:t>
            </a:r>
            <a:pPr indent="0" marL="0">
              <a:buNone/>
            </a:pPr>
            <a:r>
              <a:rPr lang="en-US" sz="1000" dirty="0">
                <a:solidFill>
                  <a:srgbClr val="5B6672"/>
                </a:solidFill>
                <a:latin typeface="Calibri" pitchFamily="34" charset="0"/>
                <a:ea typeface="Calibri" pitchFamily="34" charset="-122"/>
                <a:cs typeface="Calibri" pitchFamily="34" charset="-120"/>
              </a:rPr>
              <a:t>Q2’26 (−172k) moved only −2.5% — the de-rating is done; the market has stopped taking management’s word.</a:t>
            </a:r>
            <a:endParaRPr lang="en-US" sz="1000" dirty="0"/>
          </a:p>
        </p:txBody>
      </p:sp>
      <p:sp>
        <p:nvSpPr>
          <p:cNvPr id="11" name="Text 8"/>
          <p:cNvSpPr txBox="1"/>
          <p:nvPr/>
        </p:nvSpPr>
        <p:spPr>
          <a:xfrm>
            <a:off x="502920" y="6144768"/>
            <a:ext cx="11155680" cy="256032"/>
          </a:xfrm>
          <a:prstGeom prst="rect">
            <a:avLst/>
          </a:prstGeom>
          <a:noFill/>
          <a:ln/>
        </p:spPr>
        <p:txBody>
          <a:bodyPr wrap="square" lIns="0" tIns="0" rIns="0" bIns="0" rtlCol="0" anchor="ctr"/>
          <a:lstStyle/>
          <a:p>
            <a:pPr indent="0" marL="0">
              <a:buNone/>
            </a:pPr>
            <a:r>
              <a:rPr lang="en-US" sz="900" i="1" dirty="0">
                <a:solidFill>
                  <a:srgbClr val="8A94A0"/>
                </a:solidFill>
                <a:latin typeface="Calibri" pitchFamily="34" charset="0"/>
                <a:ea typeface="Calibri" pitchFamily="34" charset="-122"/>
                <a:cs typeface="Calibri" pitchFamily="34" charset="-120"/>
              </a:rPr>
              <a:t>Source: Yahoo Finance daily close on earnings dates; consensus per Visible Alpha / Reuters (Q2 2025). *Later public fact. Analysis, not a filing.</a:t>
            </a:r>
            <a:endParaRPr lang="en-US" sz="900" dirty="0"/>
          </a:p>
        </p:txBody>
      </p:sp>
      <p:sp>
        <p:nvSpPr>
          <p:cNvPr id="12" name="Text 9"/>
          <p:cNvSpPr txBox="1"/>
          <p:nvPr/>
        </p:nvSpPr>
        <p:spPr>
          <a:xfrm>
            <a:off x="11567160" y="6446520"/>
            <a:ext cx="457200" cy="274320"/>
          </a:xfrm>
          <a:prstGeom prst="rect">
            <a:avLst/>
          </a:prstGeom>
          <a:noFill/>
          <a:ln/>
        </p:spPr>
        <p:txBody>
          <a:bodyPr wrap="square" lIns="0" tIns="0" rIns="0" bIns="0" rtlCol="0" anchor="ctr"/>
          <a:lstStyle/>
          <a:p>
            <a:pPr algn="r" indent="0" marL="0">
              <a:buNone/>
            </a:pPr>
            <a:r>
              <a:rPr lang="en-US" sz="1000" dirty="0">
                <a:solidFill>
                  <a:srgbClr val="8A94A0"/>
                </a:solidFill>
                <a:latin typeface="Calibri" pitchFamily="34" charset="0"/>
                <a:ea typeface="Calibri" pitchFamily="34" charset="-122"/>
                <a:cs typeface="Calibri" pitchFamily="34" charset="-120"/>
              </a:rPr>
              <a:t>7</a:t>
            </a:r>
            <a:endParaRPr lang="en-US" sz="1000" dirty="0"/>
          </a:p>
        </p:txBody>
      </p:sp>
      <p:sp>
        <p:nvSpPr>
          <p:cNvPr id="13" name="Text 10"/>
          <p:cNvSpPr txBox="1"/>
          <p:nvPr/>
        </p:nvSpPr>
        <p:spPr>
          <a:xfrm>
            <a:off x="502920" y="6446520"/>
            <a:ext cx="10881360" cy="274320"/>
          </a:xfrm>
          <a:prstGeom prst="rect">
            <a:avLst/>
          </a:prstGeom>
          <a:noFill/>
          <a:ln/>
        </p:spPr>
        <p:txBody>
          <a:bodyPr wrap="square" lIns="0" tIns="0" rIns="0" bIns="0" rtlCol="0" anchor="ctr"/>
          <a:lstStyle/>
          <a:p>
            <a:pPr indent="0" marL="0">
              <a:buNone/>
            </a:pPr>
            <a:r>
              <a:rPr lang="en-US" sz="900" dirty="0">
                <a:solidFill>
                  <a:srgbClr val="8A94A0"/>
                </a:solidFill>
                <a:latin typeface="Calibri" pitchFamily="34" charset="0"/>
                <a:ea typeface="Calibri" pitchFamily="34" charset="-122"/>
                <a:cs typeface="Calibri" pitchFamily="34" charset="-120"/>
              </a:rPr>
              <a:t>Final Presentation  ·  “Changing the Trajectory”  ·  Charter Communications (CHTR)  ·  Anchored to Q1 2026; Q2 2026 labeled as later public fact where used</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02920" y="292608"/>
            <a:ext cx="10515600" cy="274320"/>
          </a:xfrm>
          <a:prstGeom prst="rect">
            <a:avLst/>
          </a:prstGeom>
          <a:noFill/>
          <a:ln/>
        </p:spPr>
        <p:txBody>
          <a:bodyPr wrap="square" lIns="0" tIns="0" rIns="0" bIns="0" rtlCol="0" anchor="ctr"/>
          <a:lstStyle/>
          <a:p>
            <a:pPr indent="0" marL="0">
              <a:buNone/>
            </a:pPr>
            <a:r>
              <a:rPr lang="en-US" sz="1100" b="1" spc="200" kern="0" dirty="0">
                <a:solidFill>
                  <a:srgbClr val="0072CE"/>
                </a:solidFill>
                <a:latin typeface="Calibri" pitchFamily="34" charset="0"/>
                <a:ea typeface="Calibri" pitchFamily="34" charset="-122"/>
                <a:cs typeface="Calibri" pitchFamily="34" charset="-120"/>
              </a:rPr>
              <a:t>2  ·  ANALYSIS — WHAT WE TESTED AND KILLED</a:t>
            </a:r>
            <a:endParaRPr lang="en-US" sz="1100" dirty="0"/>
          </a:p>
        </p:txBody>
      </p:sp>
      <p:sp>
        <p:nvSpPr>
          <p:cNvPr id="3" name="Text 1"/>
          <p:cNvSpPr txBox="1"/>
          <p:nvPr/>
        </p:nvSpPr>
        <p:spPr>
          <a:xfrm>
            <a:off x="502920" y="566928"/>
            <a:ext cx="11155680" cy="1005840"/>
          </a:xfrm>
          <a:prstGeom prst="rect">
            <a:avLst/>
          </a:prstGeom>
          <a:noFill/>
          <a:ln/>
        </p:spPr>
        <p:txBody>
          <a:bodyPr wrap="square" lIns="0" tIns="0" rIns="0" bIns="0" rtlCol="0" anchor="t"/>
          <a:lstStyle/>
          <a:p>
            <a:pPr indent="0" marL="0">
              <a:buNone/>
            </a:pPr>
            <a:r>
              <a:rPr lang="en-US" sz="2200" b="1" dirty="0">
                <a:solidFill>
                  <a:srgbClr val="0B1F3A"/>
                </a:solidFill>
                <a:latin typeface="Calibri" pitchFamily="34" charset="0"/>
                <a:ea typeface="Calibri" pitchFamily="34" charset="-122"/>
                <a:cs typeface="Calibri" pitchFamily="34" charset="-120"/>
              </a:rPr>
              <a:t>Three comfortable hypotheses failed falsification — which is why the recommendation lives on the Internet print, not the cost line</a:t>
            </a:r>
            <a:endParaRPr lang="en-US" sz="2200" dirty="0"/>
          </a:p>
        </p:txBody>
      </p:sp>
      <p:sp>
        <p:nvSpPr>
          <p:cNvPr id="4" name="Shape 2"/>
          <p:cNvSpPr/>
          <p:nvPr/>
        </p:nvSpPr>
        <p:spPr>
          <a:xfrm>
            <a:off x="502920" y="1783080"/>
            <a:ext cx="2606040" cy="2926080"/>
          </a:xfrm>
          <a:prstGeom prst="roundRect">
            <a:avLst>
              <a:gd name="adj" fmla="val 2807"/>
            </a:avLst>
          </a:prstGeom>
          <a:solidFill>
            <a:srgbClr val="FFFFFF"/>
          </a:solidFill>
          <a:ln w="12700">
            <a:solidFill>
              <a:srgbClr val="D7E0EA"/>
            </a:solidFill>
            <a:prstDash val="solid"/>
          </a:ln>
        </p:spPr>
      </p:sp>
      <p:sp>
        <p:nvSpPr>
          <p:cNvPr id="5" name="Text 3"/>
          <p:cNvSpPr txBox="1"/>
          <p:nvPr/>
        </p:nvSpPr>
        <p:spPr>
          <a:xfrm>
            <a:off x="685800" y="1920240"/>
            <a:ext cx="2240280" cy="237744"/>
          </a:xfrm>
          <a:prstGeom prst="rect">
            <a:avLst/>
          </a:prstGeom>
          <a:noFill/>
          <a:ln/>
        </p:spPr>
        <p:txBody>
          <a:bodyPr wrap="square" lIns="0" tIns="0" rIns="0" bIns="0" rtlCol="0" anchor="ctr"/>
          <a:lstStyle/>
          <a:p>
            <a:pPr indent="0" marL="0">
              <a:buNone/>
            </a:pPr>
            <a:r>
              <a:rPr lang="en-US" sz="1000" b="1" spc="150" kern="0" dirty="0">
                <a:solidFill>
                  <a:srgbClr val="C8102E"/>
                </a:solidFill>
                <a:latin typeface="Calibri" pitchFamily="34" charset="0"/>
                <a:ea typeface="Calibri" pitchFamily="34" charset="-122"/>
                <a:cs typeface="Calibri" pitchFamily="34" charset="-120"/>
              </a:rPr>
              <a:t>H1  ·  KILLED</a:t>
            </a:r>
            <a:endParaRPr lang="en-US" sz="1000" dirty="0"/>
          </a:p>
        </p:txBody>
      </p:sp>
      <p:sp>
        <p:nvSpPr>
          <p:cNvPr id="6" name="Text 4"/>
          <p:cNvSpPr txBox="1"/>
          <p:nvPr/>
        </p:nvSpPr>
        <p:spPr>
          <a:xfrm>
            <a:off x="685800" y="2194560"/>
            <a:ext cx="2240280" cy="50292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“It’s an opex problem”</a:t>
            </a:r>
            <a:endParaRPr lang="en-US" sz="1300" dirty="0"/>
          </a:p>
        </p:txBody>
      </p:sp>
      <p:sp>
        <p:nvSpPr>
          <p:cNvPr id="7" name="Text 5"/>
          <p:cNvSpPr txBox="1"/>
          <p:nvPr/>
        </p:nvSpPr>
        <p:spPr>
          <a:xfrm>
            <a:off x="685800" y="2724912"/>
            <a:ext cx="2240280" cy="1920240"/>
          </a:xfrm>
          <a:prstGeom prst="rect">
            <a:avLst/>
          </a:prstGeom>
          <a:noFill/>
          <a:ln/>
        </p:spPr>
        <p:txBody>
          <a:bodyPr wrap="square" lIns="0" tIns="0" rIns="0" bIns="0" rtlCol="0" anchor="t"/>
          <a:lstStyle/>
          <a:p>
            <a:pPr indent="0" marL="0">
              <a:buNone/>
            </a:pPr>
            <a:r>
              <a:rPr lang="en-US" sz="1000" dirty="0">
                <a:solidFill>
                  <a:srgbClr val="5B6672"/>
                </a:solidFill>
                <a:latin typeface="Calibri" pitchFamily="34" charset="0"/>
                <a:ea typeface="Calibri" pitchFamily="34" charset="-122"/>
                <a:cs typeface="Calibri" pitchFamily="34" charset="-120"/>
              </a:rPr>
              <a:t>Adj. EBITDA margins held at ~41%; operating costs fell YoY in FY2025 ($32.7B vs. $33.2B). The cost story sits below the EBITDA line — capex ($11.7B) plus interest ($5.0B) consume ~73% of EBITDA — but that is a capital-structure fact the market already knows.</a:t>
            </a:r>
            <a:endParaRPr lang="en-US" sz="1000" dirty="0"/>
          </a:p>
        </p:txBody>
      </p:sp>
      <p:sp>
        <p:nvSpPr>
          <p:cNvPr id="8" name="Shape 6"/>
          <p:cNvSpPr/>
          <p:nvPr/>
        </p:nvSpPr>
        <p:spPr>
          <a:xfrm>
            <a:off x="3246120" y="1783080"/>
            <a:ext cx="2606040" cy="2926080"/>
          </a:xfrm>
          <a:prstGeom prst="roundRect">
            <a:avLst>
              <a:gd name="adj" fmla="val 2807"/>
            </a:avLst>
          </a:prstGeom>
          <a:solidFill>
            <a:srgbClr val="FFFFFF"/>
          </a:solidFill>
          <a:ln w="12700">
            <a:solidFill>
              <a:srgbClr val="D7E0EA"/>
            </a:solidFill>
            <a:prstDash val="solid"/>
          </a:ln>
        </p:spPr>
      </p:sp>
      <p:sp>
        <p:nvSpPr>
          <p:cNvPr id="9" name="Text 7"/>
          <p:cNvSpPr txBox="1"/>
          <p:nvPr/>
        </p:nvSpPr>
        <p:spPr>
          <a:xfrm>
            <a:off x="3429000" y="1920240"/>
            <a:ext cx="2240280" cy="237744"/>
          </a:xfrm>
          <a:prstGeom prst="rect">
            <a:avLst/>
          </a:prstGeom>
          <a:noFill/>
          <a:ln/>
        </p:spPr>
        <p:txBody>
          <a:bodyPr wrap="square" lIns="0" tIns="0" rIns="0" bIns="0" rtlCol="0" anchor="ctr"/>
          <a:lstStyle/>
          <a:p>
            <a:pPr indent="0" marL="0">
              <a:buNone/>
            </a:pPr>
            <a:r>
              <a:rPr lang="en-US" sz="1000" b="1" spc="150" kern="0" dirty="0">
                <a:solidFill>
                  <a:srgbClr val="C8102E"/>
                </a:solidFill>
                <a:latin typeface="Calibri" pitchFamily="34" charset="0"/>
                <a:ea typeface="Calibri" pitchFamily="34" charset="-122"/>
                <a:cs typeface="Calibri" pitchFamily="34" charset="-120"/>
              </a:rPr>
              <a:t>H2  ·  KILLED</a:t>
            </a:r>
            <a:endParaRPr lang="en-US" sz="1000" dirty="0"/>
          </a:p>
        </p:txBody>
      </p:sp>
      <p:sp>
        <p:nvSpPr>
          <p:cNvPr id="10" name="Text 8"/>
          <p:cNvSpPr txBox="1"/>
          <p:nvPr/>
        </p:nvSpPr>
        <p:spPr>
          <a:xfrm>
            <a:off x="3429000" y="2194560"/>
            <a:ext cx="2240280" cy="50292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“FCF is the lens; wait for 2027”</a:t>
            </a:r>
            <a:endParaRPr lang="en-US" sz="1300" dirty="0"/>
          </a:p>
        </p:txBody>
      </p:sp>
      <p:sp>
        <p:nvSpPr>
          <p:cNvPr id="11" name="Text 9"/>
          <p:cNvSpPr txBox="1"/>
          <p:nvPr/>
        </p:nvSpPr>
        <p:spPr>
          <a:xfrm>
            <a:off x="3429000" y="2724912"/>
            <a:ext cx="2240280" cy="1920240"/>
          </a:xfrm>
          <a:prstGeom prst="rect">
            <a:avLst/>
          </a:prstGeom>
          <a:noFill/>
          <a:ln/>
        </p:spPr>
        <p:txBody>
          <a:bodyPr wrap="square" lIns="0" tIns="0" rIns="0" bIns="0" rtlCol="0" anchor="t"/>
          <a:lstStyle/>
          <a:p>
            <a:pPr indent="0" marL="0">
              <a:buNone/>
            </a:pPr>
            <a:r>
              <a:rPr lang="en-US" sz="1000" dirty="0">
                <a:solidFill>
                  <a:srgbClr val="5B6672"/>
                </a:solidFill>
                <a:latin typeface="Calibri" pitchFamily="34" charset="0"/>
                <a:ea typeface="Calibri" pitchFamily="34" charset="-122"/>
                <a:cs typeface="Calibri" pitchFamily="34" charset="-120"/>
              </a:rPr>
              <a:t>FCF correlates 0.08 with the Internet print. Upgrade/rebuild capex steps up into 2026 and rural extensions ease; FCF swings with accrued capex. Waiting for the end-2027 network-evolution roll-off is a wait, not an out-of-the-box move — and Comcast’s ~19% FCF yield shows the sector is priced this way.</a:t>
            </a:r>
            <a:endParaRPr lang="en-US" sz="1000" dirty="0"/>
          </a:p>
        </p:txBody>
      </p:sp>
      <p:sp>
        <p:nvSpPr>
          <p:cNvPr id="12" name="Shape 10"/>
          <p:cNvSpPr/>
          <p:nvPr/>
        </p:nvSpPr>
        <p:spPr>
          <a:xfrm>
            <a:off x="5989320" y="1783080"/>
            <a:ext cx="2606040" cy="2926080"/>
          </a:xfrm>
          <a:prstGeom prst="roundRect">
            <a:avLst>
              <a:gd name="adj" fmla="val 2807"/>
            </a:avLst>
          </a:prstGeom>
          <a:solidFill>
            <a:srgbClr val="FFFFFF"/>
          </a:solidFill>
          <a:ln w="12700">
            <a:solidFill>
              <a:srgbClr val="D7E0EA"/>
            </a:solidFill>
            <a:prstDash val="solid"/>
          </a:ln>
        </p:spPr>
      </p:sp>
      <p:sp>
        <p:nvSpPr>
          <p:cNvPr id="13" name="Text 11"/>
          <p:cNvSpPr txBox="1"/>
          <p:nvPr/>
        </p:nvSpPr>
        <p:spPr>
          <a:xfrm>
            <a:off x="6172200" y="1920240"/>
            <a:ext cx="2240280" cy="237744"/>
          </a:xfrm>
          <a:prstGeom prst="rect">
            <a:avLst/>
          </a:prstGeom>
          <a:noFill/>
          <a:ln/>
        </p:spPr>
        <p:txBody>
          <a:bodyPr wrap="square" lIns="0" tIns="0" rIns="0" bIns="0" rtlCol="0" anchor="ctr"/>
          <a:lstStyle/>
          <a:p>
            <a:pPr indent="0" marL="0">
              <a:buNone/>
            </a:pPr>
            <a:r>
              <a:rPr lang="en-US" sz="1000" b="1" spc="150" kern="0" dirty="0">
                <a:solidFill>
                  <a:srgbClr val="C8102E"/>
                </a:solidFill>
                <a:latin typeface="Calibri" pitchFamily="34" charset="0"/>
                <a:ea typeface="Calibri" pitchFamily="34" charset="-122"/>
                <a:cs typeface="Calibri" pitchFamily="34" charset="-120"/>
              </a:rPr>
              <a:t>H3  ·  KILLED</a:t>
            </a:r>
            <a:endParaRPr lang="en-US" sz="1000" dirty="0"/>
          </a:p>
        </p:txBody>
      </p:sp>
      <p:sp>
        <p:nvSpPr>
          <p:cNvPr id="14" name="Text 12"/>
          <p:cNvSpPr txBox="1"/>
          <p:nvPr/>
        </p:nvSpPr>
        <p:spPr>
          <a:xfrm>
            <a:off x="6172200" y="2194560"/>
            <a:ext cx="2240280" cy="50292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“Total connectivity nets it out”</a:t>
            </a:r>
            <a:endParaRPr lang="en-US" sz="1300" dirty="0"/>
          </a:p>
        </p:txBody>
      </p:sp>
      <p:sp>
        <p:nvSpPr>
          <p:cNvPr id="15" name="Text 13"/>
          <p:cNvSpPr txBox="1"/>
          <p:nvPr/>
        </p:nvSpPr>
        <p:spPr>
          <a:xfrm>
            <a:off x="6172200" y="2724912"/>
            <a:ext cx="2240280" cy="1920240"/>
          </a:xfrm>
          <a:prstGeom prst="rect">
            <a:avLst/>
          </a:prstGeom>
          <a:noFill/>
          <a:ln/>
        </p:spPr>
        <p:txBody>
          <a:bodyPr wrap="square" lIns="0" tIns="0" rIns="0" bIns="0" rtlCol="0" anchor="t"/>
          <a:lstStyle/>
          <a:p>
            <a:pPr indent="0" marL="0">
              <a:buNone/>
            </a:pPr>
            <a:r>
              <a:rPr lang="en-US" sz="1000" dirty="0">
                <a:solidFill>
                  <a:srgbClr val="5B6672"/>
                </a:solidFill>
                <a:latin typeface="Calibri" pitchFamily="34" charset="0"/>
                <a:ea typeface="Calibri" pitchFamily="34" charset="-122"/>
                <a:cs typeface="Calibri" pitchFamily="34" charset="-120"/>
              </a:rPr>
              <a:t>Tested on two earnings days. April 2025 rallied on a mobile beat with an Internet miss because the print improved YoY; April 2026 collapsed with a bigger mobile beat because the print doubled. The multiple prices Internet, and only Internet.</a:t>
            </a:r>
            <a:endParaRPr lang="en-US" sz="1000" dirty="0"/>
          </a:p>
        </p:txBody>
      </p:sp>
      <p:sp>
        <p:nvSpPr>
          <p:cNvPr id="16" name="Shape 14"/>
          <p:cNvSpPr/>
          <p:nvPr/>
        </p:nvSpPr>
        <p:spPr>
          <a:xfrm>
            <a:off x="8732520" y="1783080"/>
            <a:ext cx="2971800" cy="2926080"/>
          </a:xfrm>
          <a:prstGeom prst="roundRect">
            <a:avLst>
              <a:gd name="adj" fmla="val 2500"/>
            </a:avLst>
          </a:prstGeom>
          <a:solidFill>
            <a:srgbClr val="F2F6FB"/>
          </a:solidFill>
          <a:ln w="15875">
            <a:solidFill>
              <a:srgbClr val="0072CE"/>
            </a:solidFill>
            <a:prstDash val="solid"/>
          </a:ln>
        </p:spPr>
      </p:sp>
      <p:sp>
        <p:nvSpPr>
          <p:cNvPr id="17" name="Text 15"/>
          <p:cNvSpPr txBox="1"/>
          <p:nvPr/>
        </p:nvSpPr>
        <p:spPr>
          <a:xfrm>
            <a:off x="8961120" y="1920240"/>
            <a:ext cx="2560320" cy="237744"/>
          </a:xfrm>
          <a:prstGeom prst="rect">
            <a:avLst/>
          </a:prstGeom>
          <a:noFill/>
          <a:ln/>
        </p:spPr>
        <p:txBody>
          <a:bodyPr wrap="square" lIns="0" tIns="0" rIns="0" bIns="0" rtlCol="0" anchor="ctr"/>
          <a:lstStyle/>
          <a:p>
            <a:pPr indent="0" marL="0">
              <a:buNone/>
            </a:pPr>
            <a:r>
              <a:rPr lang="en-US" sz="1000" b="1" spc="150" kern="0" dirty="0">
                <a:solidFill>
                  <a:srgbClr val="0072CE"/>
                </a:solidFill>
                <a:latin typeface="Calibri" pitchFamily="34" charset="0"/>
                <a:ea typeface="Calibri" pitchFamily="34" charset="-122"/>
                <a:cs typeface="Calibri" pitchFamily="34" charset="-120"/>
              </a:rPr>
              <a:t>WHAT SURVIVED</a:t>
            </a:r>
            <a:endParaRPr lang="en-US" sz="1000" dirty="0"/>
          </a:p>
        </p:txBody>
      </p:sp>
      <p:sp>
        <p:nvSpPr>
          <p:cNvPr id="18" name="Text 16"/>
          <p:cNvSpPr txBox="1"/>
          <p:nvPr/>
        </p:nvSpPr>
        <p:spPr>
          <a:xfrm>
            <a:off x="8961120" y="2194560"/>
            <a:ext cx="2560320" cy="50292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Two branches of the issue tree</a:t>
            </a:r>
            <a:endParaRPr lang="en-US" sz="1300" dirty="0"/>
          </a:p>
        </p:txBody>
      </p:sp>
      <p:sp>
        <p:nvSpPr>
          <p:cNvPr id="19" name="Text 17"/>
          <p:cNvSpPr txBox="1"/>
          <p:nvPr/>
        </p:nvSpPr>
        <p:spPr>
          <a:xfrm>
            <a:off x="8961120" y="2724912"/>
            <a:ext cx="2560320" cy="1920240"/>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Branch 1 — Bend the print: </a:t>
            </a:r>
            <a:pPr indent="0" marL="0">
              <a:spcAft>
                <a:spcPts val="800"/>
              </a:spcAft>
              <a:buNone/>
            </a:pPr>
            <a:r>
              <a:rPr lang="en-US" sz="1050" dirty="0">
                <a:solidFill>
                  <a:srgbClr val="5B6672"/>
                </a:solidFill>
                <a:latin typeface="Calibri" pitchFamily="34" charset="0"/>
                <a:ea typeface="Calibri" pitchFamily="34" charset="-122"/>
                <a:cs typeface="Calibri" pitchFamily="34" charset="-120"/>
              </a:rPr>
              <a:t>inflect Internet net adds inside ~8 quarters. Decisive unknown: attribution.</a:t>
            </a:r>
            <a:endParaRPr lang="en-US" sz="1050" dirty="0"/>
          </a:p>
          <a:p>
            <a:pPr indent="0" marL="0">
              <a:buNone/>
            </a:pPr>
            <a:r>
              <a:rPr lang="en-US" sz="1050" b="1" dirty="0">
                <a:solidFill>
                  <a:srgbClr val="0B1F3A"/>
                </a:solidFill>
                <a:latin typeface="Calibri" pitchFamily="34" charset="0"/>
                <a:ea typeface="Calibri" pitchFamily="34" charset="-122"/>
                <a:cs typeface="Calibri" pitchFamily="34" charset="-120"/>
              </a:rPr>
              <a:t>Branch 2 — Change the print: </a:t>
            </a:r>
            <a:pPr indent="0" marL="0">
              <a:spcAft>
                <a:spcPts val="800"/>
              </a:spcAft>
              <a:buNone/>
            </a:pPr>
            <a:r>
              <a:rPr lang="en-US" sz="1050" dirty="0">
                <a:solidFill>
                  <a:srgbClr val="5B6672"/>
                </a:solidFill>
                <a:latin typeface="Calibri" pitchFamily="34" charset="0"/>
                <a:ea typeface="Calibri" pitchFamily="34" charset="-122"/>
                <a:cs typeface="Calibri" pitchFamily="34" charset="-120"/>
              </a:rPr>
              <a:t>if the curve cannot bend fast enough, change what the market is pricing — disclosure, capital regime, perimeter.</a:t>
            </a:r>
            <a:endParaRPr lang="en-US" sz="1050" dirty="0"/>
          </a:p>
          <a:p>
            <a:pPr indent="0" marL="0">
              <a:buNone/>
            </a:pPr>
            <a:r>
              <a:rPr lang="en-US" sz="1050" b="1" dirty="0">
                <a:solidFill>
                  <a:srgbClr val="0072CE"/>
                </a:solidFill>
                <a:latin typeface="Calibri" pitchFamily="34" charset="0"/>
                <a:ea typeface="Calibri" pitchFamily="34" charset="-122"/>
                <a:cs typeface="Calibri" pitchFamily="34" charset="-120"/>
              </a:rPr>
              <a:t>The recommendation does both, in one system.</a:t>
            </a:r>
            <a:endParaRPr lang="en-US" sz="1050" dirty="0"/>
          </a:p>
        </p:txBody>
      </p:sp>
      <p:sp>
        <p:nvSpPr>
          <p:cNvPr id="20" name="Shape 18"/>
          <p:cNvSpPr/>
          <p:nvPr/>
        </p:nvSpPr>
        <p:spPr>
          <a:xfrm>
            <a:off x="502920" y="4892040"/>
            <a:ext cx="11201400" cy="1143000"/>
          </a:xfrm>
          <a:prstGeom prst="roundRect">
            <a:avLst>
              <a:gd name="adj" fmla="val 6400"/>
            </a:avLst>
          </a:prstGeom>
          <a:solidFill>
            <a:srgbClr val="0B1F3A"/>
          </a:solidFill>
          <a:ln w="12700">
            <a:solidFill>
              <a:srgbClr val="D7E0EA"/>
            </a:solidFill>
            <a:prstDash val="solid"/>
          </a:ln>
        </p:spPr>
      </p:sp>
      <p:sp>
        <p:nvSpPr>
          <p:cNvPr id="21" name="Text 19"/>
          <p:cNvSpPr txBox="1"/>
          <p:nvPr/>
        </p:nvSpPr>
        <p:spPr>
          <a:xfrm>
            <a:off x="777240" y="4983480"/>
            <a:ext cx="10698480" cy="9601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Industry or Charter?  </a:t>
            </a:r>
            <a:pPr indent="0" marL="0">
              <a:buNone/>
            </a:pPr>
            <a:r>
              <a:rPr lang="en-US" sz="1200" dirty="0">
                <a:solidFill>
                  <a:srgbClr val="DCE9F7"/>
                </a:solidFill>
                <a:latin typeface="Calibri" pitchFamily="34" charset="0"/>
                <a:ea typeface="Calibri" pitchFamily="34" charset="-122"/>
                <a:cs typeface="Calibri" pitchFamily="34" charset="-120"/>
              </a:rPr>
              <a:t>On April 24, 2026 Comcast — which had already reported a beat — fell ~13% as Charter printed; Charter fell 25.5%. Published EV/EBITDA sits in the same neighborhood (~6.1x vs. ~5.7x). Industry structure (fiber, FWA, housing) is in the cable multiple; the Internet trajectory plus a capital-allocation signal the market has stopped rewarding is the extra Charter-specific gap. That gap is what this engagement can close.</a:t>
            </a:r>
            <a:endParaRPr lang="en-US" sz="1200" dirty="0"/>
          </a:p>
        </p:txBody>
      </p:sp>
      <p:sp>
        <p:nvSpPr>
          <p:cNvPr id="22" name="Text 20"/>
          <p:cNvSpPr txBox="1"/>
          <p:nvPr/>
        </p:nvSpPr>
        <p:spPr>
          <a:xfrm>
            <a:off x="11567160" y="6446520"/>
            <a:ext cx="457200" cy="274320"/>
          </a:xfrm>
          <a:prstGeom prst="rect">
            <a:avLst/>
          </a:prstGeom>
          <a:noFill/>
          <a:ln/>
        </p:spPr>
        <p:txBody>
          <a:bodyPr wrap="square" lIns="0" tIns="0" rIns="0" bIns="0" rtlCol="0" anchor="ctr"/>
          <a:lstStyle/>
          <a:p>
            <a:pPr algn="r" indent="0" marL="0">
              <a:buNone/>
            </a:pPr>
            <a:r>
              <a:rPr lang="en-US" sz="1000" dirty="0">
                <a:solidFill>
                  <a:srgbClr val="8A94A0"/>
                </a:solidFill>
                <a:latin typeface="Calibri" pitchFamily="34" charset="0"/>
                <a:ea typeface="Calibri" pitchFamily="34" charset="-122"/>
                <a:cs typeface="Calibri" pitchFamily="34" charset="-120"/>
              </a:rPr>
              <a:t>8</a:t>
            </a:r>
            <a:endParaRPr lang="en-US" sz="1000" dirty="0"/>
          </a:p>
        </p:txBody>
      </p:sp>
      <p:sp>
        <p:nvSpPr>
          <p:cNvPr id="23" name="Text 21"/>
          <p:cNvSpPr txBox="1"/>
          <p:nvPr/>
        </p:nvSpPr>
        <p:spPr>
          <a:xfrm>
            <a:off x="502920" y="6446520"/>
            <a:ext cx="10881360" cy="274320"/>
          </a:xfrm>
          <a:prstGeom prst="rect">
            <a:avLst/>
          </a:prstGeom>
          <a:noFill/>
          <a:ln/>
        </p:spPr>
        <p:txBody>
          <a:bodyPr wrap="square" lIns="0" tIns="0" rIns="0" bIns="0" rtlCol="0" anchor="ctr"/>
          <a:lstStyle/>
          <a:p>
            <a:pPr indent="0" marL="0">
              <a:buNone/>
            </a:pPr>
            <a:r>
              <a:rPr lang="en-US" sz="900" dirty="0">
                <a:solidFill>
                  <a:srgbClr val="8A94A0"/>
                </a:solidFill>
                <a:latin typeface="Calibri" pitchFamily="34" charset="0"/>
                <a:ea typeface="Calibri" pitchFamily="34" charset="-122"/>
                <a:cs typeface="Calibri" pitchFamily="34" charset="-120"/>
              </a:rPr>
              <a:t>Final Presentation  ·  “Changing the Trajectory”  ·  Charter Communications (CHTR)  ·  Anchored to Q1 2026; Q2 2026 labeled as later public fact where used</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02920" y="292608"/>
            <a:ext cx="10515600" cy="274320"/>
          </a:xfrm>
          <a:prstGeom prst="rect">
            <a:avLst/>
          </a:prstGeom>
          <a:noFill/>
          <a:ln/>
        </p:spPr>
        <p:txBody>
          <a:bodyPr wrap="square" lIns="0" tIns="0" rIns="0" bIns="0" rtlCol="0" anchor="ctr"/>
          <a:lstStyle/>
          <a:p>
            <a:pPr indent="0" marL="0">
              <a:buNone/>
            </a:pPr>
            <a:r>
              <a:rPr lang="en-US" sz="1100" b="1" spc="200" kern="0" dirty="0">
                <a:solidFill>
                  <a:srgbClr val="0072CE"/>
                </a:solidFill>
                <a:latin typeface="Calibri" pitchFamily="34" charset="0"/>
                <a:ea typeface="Calibri" pitchFamily="34" charset="-122"/>
                <a:cs typeface="Calibri" pitchFamily="34" charset="-120"/>
              </a:rPr>
              <a:t>2  ·  ANALYSIS — THE DECISIVE UNKNOWN</a:t>
            </a:r>
            <a:endParaRPr lang="en-US" sz="1100" dirty="0"/>
          </a:p>
        </p:txBody>
      </p:sp>
      <p:sp>
        <p:nvSpPr>
          <p:cNvPr id="3" name="Text 1"/>
          <p:cNvSpPr txBox="1"/>
          <p:nvPr/>
        </p:nvSpPr>
        <p:spPr>
          <a:xfrm>
            <a:off x="502920" y="566928"/>
            <a:ext cx="11155680" cy="1005840"/>
          </a:xfrm>
          <a:prstGeom prst="rect">
            <a:avLst/>
          </a:prstGeom>
          <a:noFill/>
          <a:ln/>
        </p:spPr>
        <p:txBody>
          <a:bodyPr wrap="square" lIns="0" tIns="0" rIns="0" bIns="0" rtlCol="0" anchor="t"/>
          <a:lstStyle/>
          <a:p>
            <a:pPr indent="0" marL="0">
              <a:buNone/>
            </a:pPr>
            <a:r>
              <a:rPr lang="en-US" sz="2300" b="1" dirty="0">
                <a:solidFill>
                  <a:srgbClr val="0B1F3A"/>
                </a:solidFill>
                <a:latin typeface="Calibri" pitchFamily="34" charset="0"/>
                <a:ea typeface="Calibri" pitchFamily="34" charset="-122"/>
                <a:cs typeface="Calibri" pitchFamily="34" charset="-120"/>
              </a:rPr>
              <a:t>Nobody can name the attacker — and each candidate defense is expensive and aimed at a different one</a:t>
            </a:r>
            <a:endParaRPr lang="en-US" sz="2300" dirty="0"/>
          </a:p>
        </p:txBody>
      </p:sp>
      <p:sp>
        <p:nvSpPr>
          <p:cNvPr id="4" name="Shape 2"/>
          <p:cNvSpPr/>
          <p:nvPr/>
        </p:nvSpPr>
        <p:spPr>
          <a:xfrm>
            <a:off x="502920" y="1828800"/>
            <a:ext cx="5486400" cy="3017520"/>
          </a:xfrm>
          <a:prstGeom prst="roundRect">
            <a:avLst>
              <a:gd name="adj" fmla="val 2424"/>
            </a:avLst>
          </a:prstGeom>
          <a:solidFill>
            <a:srgbClr val="F2F6FB"/>
          </a:solidFill>
          <a:ln w="12700">
            <a:solidFill>
              <a:srgbClr val="D7E0EA"/>
            </a:solidFill>
            <a:prstDash val="solid"/>
          </a:ln>
        </p:spPr>
      </p:sp>
      <p:sp>
        <p:nvSpPr>
          <p:cNvPr id="5" name="Text 3"/>
          <p:cNvSpPr txBox="1"/>
          <p:nvPr/>
        </p:nvSpPr>
        <p:spPr>
          <a:xfrm>
            <a:off x="777240" y="2011680"/>
            <a:ext cx="4937760" cy="256032"/>
          </a:xfrm>
          <a:prstGeom prst="rect">
            <a:avLst/>
          </a:prstGeom>
          <a:noFill/>
          <a:ln/>
        </p:spPr>
        <p:txBody>
          <a:bodyPr wrap="square" lIns="0" tIns="0" rIns="0" bIns="0" rtlCol="0" anchor="ctr"/>
          <a:lstStyle/>
          <a:p>
            <a:pPr indent="0" marL="0">
              <a:buNone/>
            </a:pPr>
            <a:r>
              <a:rPr lang="en-US" sz="1100" b="1" spc="150" kern="0" dirty="0">
                <a:solidFill>
                  <a:srgbClr val="0072CE"/>
                </a:solidFill>
                <a:latin typeface="Calibri" pitchFamily="34" charset="0"/>
                <a:ea typeface="Calibri" pitchFamily="34" charset="-122"/>
                <a:cs typeface="Calibri" pitchFamily="34" charset="-120"/>
              </a:rPr>
              <a:t>WHAT IS KNOWN</a:t>
            </a:r>
            <a:endParaRPr lang="en-US" sz="1100" dirty="0"/>
          </a:p>
        </p:txBody>
      </p:sp>
      <p:sp>
        <p:nvSpPr>
          <p:cNvPr id="6" name="Text 4"/>
          <p:cNvSpPr txBox="1"/>
          <p:nvPr/>
        </p:nvSpPr>
        <p:spPr>
          <a:xfrm>
            <a:off x="777240" y="2331720"/>
            <a:ext cx="4937760" cy="2377440"/>
          </a:xfrm>
          <a:prstGeom prst="rect">
            <a:avLst/>
          </a:prstGeom>
          <a:noFill/>
          <a:ln/>
        </p:spPr>
        <p:txBody>
          <a:bodyPr wrap="square" lIns="0" tIns="0" rIns="0" bIns="0" rtlCol="0" anchor="ctr"/>
          <a:lstStyle/>
          <a:p>
            <a:pPr marL="342900" indent="-342900">
              <a:spcAft>
                <a:spcPts val="500"/>
              </a:spcAft>
              <a:buSzPct val="100000"/>
              <a:buChar char="•"/>
            </a:pPr>
            <a:r>
              <a:rPr lang="en-US" sz="1200" dirty="0">
                <a:solidFill>
                  <a:srgbClr val="5B6672"/>
                </a:solidFill>
                <a:latin typeface="Calibri" pitchFamily="34" charset="0"/>
                <a:ea typeface="Calibri" pitchFamily="34" charset="-122"/>
                <a:cs typeface="Calibri" pitchFamily="34" charset="-120"/>
              </a:rPr>
              <a:t>AT&amp;T fiber overlaps ~27% of footprint at 100 Mbps+; Verizon ~16% (FY2025 10-K)</a:t>
            </a:r>
            <a:endParaRPr lang="en-US" sz="1200" dirty="0"/>
          </a:p>
          <a:p>
            <a:pPr marL="342900" indent="-342900">
              <a:spcAft>
                <a:spcPts val="500"/>
              </a:spcAft>
              <a:buSzPct val="100000"/>
              <a:buChar char="•"/>
            </a:pPr>
            <a:r>
              <a:rPr lang="en-US" sz="1200" dirty="0">
                <a:solidFill>
                  <a:srgbClr val="5B6672"/>
                </a:solidFill>
                <a:latin typeface="Calibri" pitchFamily="34" charset="0"/>
                <a:ea typeface="Calibri" pitchFamily="34" charset="-122"/>
                <a:cs typeface="Calibri" pitchFamily="34" charset="-120"/>
              </a:rPr>
              <a:t>FWA (T-Mobile, Verizon) keeps winning price-sensitive subscribers</a:t>
            </a:r>
            <a:endParaRPr lang="en-US" sz="1200" dirty="0"/>
          </a:p>
          <a:p>
            <a:pPr marL="342900" indent="-342900">
              <a:spcAft>
                <a:spcPts val="500"/>
              </a:spcAft>
              <a:buSzPct val="100000"/>
              <a:buChar char="•"/>
            </a:pPr>
            <a:r>
              <a:rPr lang="en-US" sz="1200" dirty="0">
                <a:solidFill>
                  <a:srgbClr val="5B6672"/>
                </a:solidFill>
                <a:latin typeface="Calibri" pitchFamily="34" charset="0"/>
                <a:ea typeface="Calibri" pitchFamily="34" charset="-122"/>
                <a:cs typeface="Calibri" pitchFamily="34" charset="-120"/>
              </a:rPr>
              <a:t>LEO satellite (Starlink; Kuiper next) wins by default where wireline is absent</a:t>
            </a:r>
            <a:endParaRPr lang="en-US" sz="1200" dirty="0"/>
          </a:p>
          <a:p>
            <a:pPr marL="342900" indent="-342900">
              <a:spcAft>
                <a:spcPts val="500"/>
              </a:spcAft>
              <a:buSzPct val="100000"/>
              <a:buChar char="•"/>
            </a:pPr>
            <a:r>
              <a:rPr lang="en-US" sz="1200" dirty="0">
                <a:solidFill>
                  <a:srgbClr val="5B6672"/>
                </a:solidFill>
                <a:latin typeface="Calibri" pitchFamily="34" charset="0"/>
                <a:ea typeface="Calibri" pitchFamily="34" charset="-122"/>
                <a:cs typeface="Calibri" pitchFamily="34" charset="-120"/>
              </a:rPr>
              <a:t>Housing turnover is frozen — the industry counts on moves for gross adds</a:t>
            </a:r>
            <a:endParaRPr lang="en-US" sz="1200" dirty="0"/>
          </a:p>
          <a:p>
            <a:pPr marL="342900" indent="-342900">
              <a:buSzPct val="100000"/>
              <a:buChar char="•"/>
            </a:pPr>
            <a:r>
              <a:rPr lang="en-US" sz="1200" dirty="0">
                <a:solidFill>
                  <a:srgbClr val="5B6672"/>
                </a:solidFill>
                <a:latin typeface="Calibri" pitchFamily="34" charset="0"/>
                <a:ea typeface="Calibri" pitchFamily="34" charset="-122"/>
                <a:cs typeface="Calibri" pitchFamily="34" charset="-120"/>
              </a:rPr>
              <a:t>Rural subsidized footprint is the one place relationships grow (+41k Q1, +47k Q2)</a:t>
            </a:r>
            <a:endParaRPr lang="en-US" sz="1200" dirty="0"/>
          </a:p>
        </p:txBody>
      </p:sp>
      <p:sp>
        <p:nvSpPr>
          <p:cNvPr id="7" name="Shape 5"/>
          <p:cNvSpPr/>
          <p:nvPr/>
        </p:nvSpPr>
        <p:spPr>
          <a:xfrm>
            <a:off x="6263640" y="1828800"/>
            <a:ext cx="5440680" cy="3017520"/>
          </a:xfrm>
          <a:prstGeom prst="roundRect">
            <a:avLst>
              <a:gd name="adj" fmla="val 2424"/>
            </a:avLst>
          </a:prstGeom>
          <a:solidFill>
            <a:srgbClr val="FBECEE"/>
          </a:solidFill>
          <a:ln w="15875">
            <a:solidFill>
              <a:srgbClr val="C8102E"/>
            </a:solidFill>
            <a:prstDash val="solid"/>
          </a:ln>
        </p:spPr>
      </p:sp>
      <p:sp>
        <p:nvSpPr>
          <p:cNvPr id="8" name="Text 6"/>
          <p:cNvSpPr txBox="1"/>
          <p:nvPr/>
        </p:nvSpPr>
        <p:spPr>
          <a:xfrm>
            <a:off x="6537960" y="2011680"/>
            <a:ext cx="4937760" cy="256032"/>
          </a:xfrm>
          <a:prstGeom prst="rect">
            <a:avLst/>
          </a:prstGeom>
          <a:noFill/>
          <a:ln/>
        </p:spPr>
        <p:txBody>
          <a:bodyPr wrap="square" lIns="0" tIns="0" rIns="0" bIns="0" rtlCol="0" anchor="ctr"/>
          <a:lstStyle/>
          <a:p>
            <a:pPr indent="0" marL="0">
              <a:buNone/>
            </a:pPr>
            <a:r>
              <a:rPr lang="en-US" sz="1100" b="1" spc="150" kern="0" dirty="0">
                <a:solidFill>
                  <a:srgbClr val="C8102E"/>
                </a:solidFill>
                <a:latin typeface="Calibri" pitchFamily="34" charset="0"/>
                <a:ea typeface="Calibri" pitchFamily="34" charset="-122"/>
                <a:cs typeface="Calibri" pitchFamily="34" charset="-120"/>
              </a:rPr>
              <a:t>WHAT NOBODY KNOWS</a:t>
            </a:r>
            <a:endParaRPr lang="en-US" sz="1100" dirty="0"/>
          </a:p>
        </p:txBody>
      </p:sp>
      <p:sp>
        <p:nvSpPr>
          <p:cNvPr id="9" name="Text 7"/>
          <p:cNvSpPr txBox="1"/>
          <p:nvPr/>
        </p:nvSpPr>
        <p:spPr>
          <a:xfrm>
            <a:off x="6537960" y="2331720"/>
            <a:ext cx="4892040" cy="1371600"/>
          </a:xfrm>
          <a:prstGeom prst="rect">
            <a:avLst/>
          </a:prstGeom>
          <a:noFill/>
          <a:ln/>
        </p:spPr>
        <p:txBody>
          <a:bodyPr wrap="square" lIns="0" tIns="0" rIns="0" bIns="0" rtlCol="0" anchor="ctr"/>
          <a:lstStyle/>
          <a:p>
            <a:pPr indent="0" marL="0">
              <a:buNone/>
            </a:pPr>
            <a:r>
              <a:rPr lang="en-US" sz="1250" b="1" dirty="0">
                <a:solidFill>
                  <a:srgbClr val="0B1F3A"/>
                </a:solidFill>
                <a:latin typeface="Calibri" pitchFamily="34" charset="0"/>
                <a:ea typeface="Calibri" pitchFamily="34" charset="-122"/>
                <a:cs typeface="Calibri" pitchFamily="34" charset="-120"/>
              </a:rPr>
              <a:t>What share of the −120k per quarter comes from each cause. </a:t>
            </a:r>
            <a:pPr indent="0" marL="0">
              <a:buNone/>
            </a:pPr>
            <a:r>
              <a:rPr lang="en-US" sz="1250" dirty="0">
                <a:solidFill>
                  <a:srgbClr val="5B6672"/>
                </a:solidFill>
                <a:latin typeface="Calibri" pitchFamily="34" charset="0"/>
                <a:ea typeface="Calibri" pitchFamily="34" charset="-122"/>
                <a:cs typeface="Calibri" pitchFamily="34" charset="-120"/>
              </a:rPr>
              <a:t>Fiber, FWA, satellite, housing, and price sensitivity are jointly unidentified — no DMA or overlap split exists in any filing, and management’s “competitive environment” language is interpretation, not measurement.</a:t>
            </a:r>
            <a:endParaRPr lang="en-US" sz="1250" dirty="0"/>
          </a:p>
        </p:txBody>
      </p:sp>
      <p:sp>
        <p:nvSpPr>
          <p:cNvPr id="10" name="Text 8"/>
          <p:cNvSpPr txBox="1"/>
          <p:nvPr/>
        </p:nvSpPr>
        <p:spPr>
          <a:xfrm>
            <a:off x="6537960" y="3749040"/>
            <a:ext cx="4892040" cy="1005840"/>
          </a:xfrm>
          <a:prstGeom prst="rect">
            <a:avLst/>
          </a:prstGeom>
          <a:noFill/>
          <a:ln/>
        </p:spPr>
        <p:txBody>
          <a:bodyPr wrap="square" lIns="0" tIns="0" rIns="0" bIns="0" rtlCol="0" anchor="ctr"/>
          <a:lstStyle/>
          <a:p>
            <a:pPr indent="0" marL="0">
              <a:buNone/>
            </a:pPr>
            <a:r>
              <a:rPr lang="en-US" sz="1250" b="1" dirty="0">
                <a:solidFill>
                  <a:srgbClr val="C8102E"/>
                </a:solidFill>
                <a:latin typeface="Calibri" pitchFamily="34" charset="0"/>
                <a:ea typeface="Calibri" pitchFamily="34" charset="-122"/>
                <a:cs typeface="Calibri" pitchFamily="34" charset="-120"/>
              </a:rPr>
              <a:t>Consequence: </a:t>
            </a:r>
            <a:pPr indent="0" marL="0">
              <a:buNone/>
            </a:pPr>
            <a:r>
              <a:rPr lang="en-US" sz="1250" dirty="0">
                <a:solidFill>
                  <a:srgbClr val="5B6672"/>
                </a:solidFill>
                <a:latin typeface="Calibri" pitchFamily="34" charset="0"/>
                <a:ea typeface="Calibri" pitchFamily="34" charset="-122"/>
                <a:cs typeface="Calibri" pitchFamily="34" charset="-120"/>
              </a:rPr>
              <a:t>convergence pricing attacks FWA; network re-sequencing attacks fiber; rural acceleration attacks satellite. Choosing one before measuring bets the entire ~8-quarter window on a coin flip.</a:t>
            </a:r>
            <a:endParaRPr lang="en-US" sz="1250" dirty="0"/>
          </a:p>
        </p:txBody>
      </p:sp>
      <p:sp>
        <p:nvSpPr>
          <p:cNvPr id="11" name="Shape 9"/>
          <p:cNvSpPr/>
          <p:nvPr/>
        </p:nvSpPr>
        <p:spPr>
          <a:xfrm>
            <a:off x="502920" y="5029200"/>
            <a:ext cx="11201400" cy="914400"/>
          </a:xfrm>
          <a:prstGeom prst="roundRect">
            <a:avLst>
              <a:gd name="adj" fmla="val 8000"/>
            </a:avLst>
          </a:prstGeom>
          <a:solidFill>
            <a:srgbClr val="0B1F3A"/>
          </a:solidFill>
          <a:ln w="12700">
            <a:solidFill>
              <a:srgbClr val="D7E0EA"/>
            </a:solidFill>
            <a:prstDash val="solid"/>
          </a:ln>
        </p:spPr>
      </p:sp>
      <p:sp>
        <p:nvSpPr>
          <p:cNvPr id="12" name="Text 10"/>
          <p:cNvSpPr txBox="1"/>
          <p:nvPr/>
        </p:nvSpPr>
        <p:spPr>
          <a:xfrm>
            <a:off x="777240" y="5148072"/>
            <a:ext cx="10698480" cy="6858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move:  </a:t>
            </a:r>
            <a:pPr indent="0" marL="0">
              <a:buNone/>
            </a:pPr>
            <a:r>
              <a:rPr lang="en-US" sz="1400" dirty="0">
                <a:solidFill>
                  <a:srgbClr val="DCE9F7"/>
                </a:solidFill>
                <a:latin typeface="Calibri" pitchFamily="34" charset="0"/>
                <a:ea typeface="Calibri" pitchFamily="34" charset="-122"/>
                <a:cs typeface="Calibri" pitchFamily="34" charset="-120"/>
              </a:rPr>
              <a:t>close the attribution gap in two quarters with data Charter already has — and pre-commit the response to every possible answer, so identification converts to action with zero deliberation lag.</a:t>
            </a:r>
            <a:endParaRPr lang="en-US" sz="1400" dirty="0"/>
          </a:p>
        </p:txBody>
      </p:sp>
      <p:sp>
        <p:nvSpPr>
          <p:cNvPr id="13" name="Text 11"/>
          <p:cNvSpPr txBox="1"/>
          <p:nvPr/>
        </p:nvSpPr>
        <p:spPr>
          <a:xfrm>
            <a:off x="502920" y="6144768"/>
            <a:ext cx="11155680" cy="256032"/>
          </a:xfrm>
          <a:prstGeom prst="rect">
            <a:avLst/>
          </a:prstGeom>
          <a:noFill/>
          <a:ln/>
        </p:spPr>
        <p:txBody>
          <a:bodyPr wrap="square" lIns="0" tIns="0" rIns="0" bIns="0" rtlCol="0" anchor="ctr"/>
          <a:lstStyle/>
          <a:p>
            <a:pPr indent="0" marL="0">
              <a:buNone/>
            </a:pPr>
            <a:r>
              <a:rPr lang="en-US" sz="900" i="1" dirty="0">
                <a:solidFill>
                  <a:srgbClr val="8A94A0"/>
                </a:solidFill>
                <a:latin typeface="Calibri" pitchFamily="34" charset="0"/>
                <a:ea typeface="Calibri" pitchFamily="34" charset="-122"/>
                <a:cs typeface="Calibri" pitchFamily="34" charset="-120"/>
              </a:rPr>
              <a:t>Source: FY2025 10-K (overlap, housing commentary); Q1/Q2 2026 releases (rural). Team issue tree, Check-in #2.</a:t>
            </a:r>
            <a:endParaRPr lang="en-US" sz="900" dirty="0"/>
          </a:p>
        </p:txBody>
      </p:sp>
      <p:sp>
        <p:nvSpPr>
          <p:cNvPr id="14" name="Text 12"/>
          <p:cNvSpPr txBox="1"/>
          <p:nvPr/>
        </p:nvSpPr>
        <p:spPr>
          <a:xfrm>
            <a:off x="11567160" y="6446520"/>
            <a:ext cx="457200" cy="274320"/>
          </a:xfrm>
          <a:prstGeom prst="rect">
            <a:avLst/>
          </a:prstGeom>
          <a:noFill/>
          <a:ln/>
        </p:spPr>
        <p:txBody>
          <a:bodyPr wrap="square" lIns="0" tIns="0" rIns="0" bIns="0" rtlCol="0" anchor="ctr"/>
          <a:lstStyle/>
          <a:p>
            <a:pPr algn="r" indent="0" marL="0">
              <a:buNone/>
            </a:pPr>
            <a:r>
              <a:rPr lang="en-US" sz="1000" dirty="0">
                <a:solidFill>
                  <a:srgbClr val="8A94A0"/>
                </a:solidFill>
                <a:latin typeface="Calibri" pitchFamily="34" charset="0"/>
                <a:ea typeface="Calibri" pitchFamily="34" charset="-122"/>
                <a:cs typeface="Calibri" pitchFamily="34" charset="-120"/>
              </a:rPr>
              <a:t>9</a:t>
            </a:r>
            <a:endParaRPr lang="en-US" sz="1000" dirty="0"/>
          </a:p>
        </p:txBody>
      </p:sp>
      <p:sp>
        <p:nvSpPr>
          <p:cNvPr id="15" name="Text 13"/>
          <p:cNvSpPr txBox="1"/>
          <p:nvPr/>
        </p:nvSpPr>
        <p:spPr>
          <a:xfrm>
            <a:off x="502920" y="6446520"/>
            <a:ext cx="10881360" cy="274320"/>
          </a:xfrm>
          <a:prstGeom prst="rect">
            <a:avLst/>
          </a:prstGeom>
          <a:noFill/>
          <a:ln/>
        </p:spPr>
        <p:txBody>
          <a:bodyPr wrap="square" lIns="0" tIns="0" rIns="0" bIns="0" rtlCol="0" anchor="ctr"/>
          <a:lstStyle/>
          <a:p>
            <a:pPr indent="0" marL="0">
              <a:buNone/>
            </a:pPr>
            <a:r>
              <a:rPr lang="en-US" sz="900" dirty="0">
                <a:solidFill>
                  <a:srgbClr val="8A94A0"/>
                </a:solidFill>
                <a:latin typeface="Calibri" pitchFamily="34" charset="0"/>
                <a:ea typeface="Calibri" pitchFamily="34" charset="-122"/>
                <a:cs typeface="Calibri" pitchFamily="34" charset="-120"/>
              </a:rPr>
              <a:t>Final Presentation  ·  “Changing the Trajectory”  ·  Charter Communications (CHTR)  ·  Anchored to Q1 2026; Q2 2026 labeled as later public fact where used</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02920" y="292608"/>
            <a:ext cx="10515600" cy="274320"/>
          </a:xfrm>
          <a:prstGeom prst="rect">
            <a:avLst/>
          </a:prstGeom>
          <a:noFill/>
          <a:ln/>
        </p:spPr>
        <p:txBody>
          <a:bodyPr wrap="square" lIns="0" tIns="0" rIns="0" bIns="0" rtlCol="0" anchor="ctr"/>
          <a:lstStyle/>
          <a:p>
            <a:pPr indent="0" marL="0">
              <a:buNone/>
            </a:pPr>
            <a:r>
              <a:rPr lang="en-US" sz="1100" b="1" spc="200" kern="0" dirty="0">
                <a:solidFill>
                  <a:srgbClr val="0072CE"/>
                </a:solidFill>
                <a:latin typeface="Calibri" pitchFamily="34" charset="0"/>
                <a:ea typeface="Calibri" pitchFamily="34" charset="-122"/>
                <a:cs typeface="Calibri" pitchFamily="34" charset="-120"/>
              </a:rPr>
              <a:t>3  ·  RECOMMENDATION</a:t>
            </a:r>
            <a:endParaRPr lang="en-US" sz="1100" dirty="0"/>
          </a:p>
        </p:txBody>
      </p:sp>
      <p:sp>
        <p:nvSpPr>
          <p:cNvPr id="3" name="Text 1"/>
          <p:cNvSpPr txBox="1"/>
          <p:nvPr/>
        </p:nvSpPr>
        <p:spPr>
          <a:xfrm>
            <a:off x="502920" y="566928"/>
            <a:ext cx="11155680" cy="1005840"/>
          </a:xfrm>
          <a:prstGeom prst="rect">
            <a:avLst/>
          </a:prstGeom>
          <a:noFill/>
          <a:ln/>
        </p:spPr>
        <p:txBody>
          <a:bodyPr wrap="square" lIns="0" tIns="0" rIns="0" bIns="0" rtlCol="0" anchor="t"/>
          <a:lstStyle/>
          <a:p>
            <a:pPr indent="0" marL="0">
              <a:buNone/>
            </a:pPr>
            <a:r>
              <a:rPr lang="en-US" sz="2200" b="1" dirty="0">
                <a:solidFill>
                  <a:srgbClr val="0B1F3A"/>
                </a:solidFill>
                <a:latin typeface="Calibri" pitchFamily="34" charset="0"/>
                <a:ea typeface="Calibri" pitchFamily="34" charset="-122"/>
                <a:cs typeface="Calibri" pitchFamily="34" charset="-120"/>
              </a:rPr>
              <a:t>Three moves, one system: a sensor, a pre-committed playbook, and a market layer that converts both into multiple support</a:t>
            </a:r>
            <a:endParaRPr lang="en-US" sz="2200" dirty="0"/>
          </a:p>
        </p:txBody>
      </p:sp>
      <p:sp>
        <p:nvSpPr>
          <p:cNvPr id="4" name="Shape 2"/>
          <p:cNvSpPr/>
          <p:nvPr/>
        </p:nvSpPr>
        <p:spPr>
          <a:xfrm>
            <a:off x="502920" y="1874520"/>
            <a:ext cx="3520440" cy="3657600"/>
          </a:xfrm>
          <a:prstGeom prst="roundRect">
            <a:avLst>
              <a:gd name="adj" fmla="val 2078"/>
            </a:avLst>
          </a:prstGeom>
          <a:solidFill>
            <a:srgbClr val="F2F6FB"/>
          </a:solidFill>
          <a:ln w="15875">
            <a:solidFill>
              <a:srgbClr val="0072CE"/>
            </a:solidFill>
            <a:prstDash val="solid"/>
          </a:ln>
        </p:spPr>
      </p:sp>
      <p:sp>
        <p:nvSpPr>
          <p:cNvPr id="5" name="Text 3"/>
          <p:cNvSpPr txBox="1"/>
          <p:nvPr/>
        </p:nvSpPr>
        <p:spPr>
          <a:xfrm>
            <a:off x="731520" y="2029968"/>
            <a:ext cx="3063240" cy="256032"/>
          </a:xfrm>
          <a:prstGeom prst="rect">
            <a:avLst/>
          </a:prstGeom>
          <a:noFill/>
          <a:ln/>
        </p:spPr>
        <p:txBody>
          <a:bodyPr wrap="square" lIns="0" tIns="0" rIns="0" bIns="0" rtlCol="0" anchor="ctr"/>
          <a:lstStyle/>
          <a:p>
            <a:pPr indent="0" marL="0">
              <a:buNone/>
            </a:pPr>
            <a:r>
              <a:rPr lang="en-US" sz="950" b="1" spc="150" kern="0" dirty="0">
                <a:solidFill>
                  <a:srgbClr val="0072CE"/>
                </a:solidFill>
                <a:latin typeface="Calibri" pitchFamily="34" charset="0"/>
                <a:ea typeface="Calibri" pitchFamily="34" charset="-122"/>
                <a:cs typeface="Calibri" pitchFamily="34" charset="-120"/>
              </a:rPr>
              <a:t>RECOMMENDATION 1 — THE SENSOR</a:t>
            </a:r>
            <a:endParaRPr lang="en-US" sz="950" dirty="0"/>
          </a:p>
        </p:txBody>
      </p:sp>
      <p:sp>
        <p:nvSpPr>
          <p:cNvPr id="6" name="Text 4"/>
          <p:cNvSpPr txBox="1"/>
          <p:nvPr/>
        </p:nvSpPr>
        <p:spPr>
          <a:xfrm>
            <a:off x="731520" y="2304288"/>
            <a:ext cx="3063240" cy="548640"/>
          </a:xfrm>
          <a:prstGeom prst="rect">
            <a:avLst/>
          </a:prstGeom>
          <a:noFill/>
          <a:ln/>
        </p:spPr>
        <p:txBody>
          <a:bodyPr wrap="square" lIns="0" tIns="0" rIns="0" bIns="0" rtlCol="0" anchor="ctr"/>
          <a:lstStyle/>
          <a:p>
            <a:pPr indent="0" marL="0">
              <a:buNone/>
            </a:pPr>
            <a:r>
              <a:rPr lang="en-US" sz="1550" b="1" dirty="0">
                <a:solidFill>
                  <a:srgbClr val="0B1F3A"/>
                </a:solidFill>
                <a:latin typeface="Calibri" pitchFamily="34" charset="0"/>
                <a:ea typeface="Calibri" pitchFamily="34" charset="-122"/>
                <a:cs typeface="Calibri" pitchFamily="34" charset="-120"/>
              </a:rPr>
              <a:t>Churn-attribution engine</a:t>
            </a:r>
            <a:endParaRPr lang="en-US" sz="1550" dirty="0"/>
          </a:p>
        </p:txBody>
      </p:sp>
      <p:sp>
        <p:nvSpPr>
          <p:cNvPr id="7" name="Text 5"/>
          <p:cNvSpPr txBox="1"/>
          <p:nvPr/>
        </p:nvSpPr>
        <p:spPr>
          <a:xfrm>
            <a:off x="731520" y="2880360"/>
            <a:ext cx="3063240" cy="2057400"/>
          </a:xfrm>
          <a:prstGeom prst="rect">
            <a:avLst/>
          </a:prstGeom>
          <a:noFill/>
          <a:ln/>
        </p:spPr>
        <p:txBody>
          <a:bodyPr wrap="square" lIns="0" tIns="0" rIns="0" bIns="0" rtlCol="0" anchor="t"/>
          <a:lstStyle/>
          <a:p>
            <a:pPr indent="0" marL="0">
              <a:buNone/>
            </a:pPr>
            <a:r>
              <a:rPr lang="en-US" sz="1100" dirty="0">
                <a:solidFill>
                  <a:srgbClr val="5B6672"/>
                </a:solidFill>
                <a:latin typeface="Calibri" pitchFamily="34" charset="0"/>
                <a:ea typeface="Calibri" pitchFamily="34" charset="-122"/>
                <a:cs typeface="Calibri" pitchFamily="34" charset="-120"/>
              </a:rPr>
              <a:t>Classify every disconnect (and every gross add) by competitive exposure at the address level — fiber-overbuilt / FWA-covered / satellite-only / uncontested — plus tenure, ARPU tier, and a measured exit reason. Built from FCC Broadband Data Collection plus billing and portability records Charter already holds. First full read: two quarters.</a:t>
            </a:r>
            <a:endParaRPr lang="en-US" sz="1100" dirty="0"/>
          </a:p>
        </p:txBody>
      </p:sp>
      <p:sp>
        <p:nvSpPr>
          <p:cNvPr id="8" name="Text 6"/>
          <p:cNvSpPr txBox="1"/>
          <p:nvPr/>
        </p:nvSpPr>
        <p:spPr>
          <a:xfrm>
            <a:off x="731520" y="4983480"/>
            <a:ext cx="3063240" cy="457200"/>
          </a:xfrm>
          <a:prstGeom prst="rect">
            <a:avLst/>
          </a:prstGeom>
          <a:noFill/>
          <a:ln/>
        </p:spPr>
        <p:txBody>
          <a:bodyPr wrap="square" lIns="0" tIns="0" rIns="0" bIns="0" rtlCol="0" anchor="b"/>
          <a:lstStyle/>
          <a:p>
            <a:pPr indent="0" marL="0">
              <a:buNone/>
            </a:pPr>
            <a:r>
              <a:rPr lang="en-US" sz="1100" b="1" i="1" dirty="0">
                <a:solidFill>
                  <a:srgbClr val="0072CE"/>
                </a:solidFill>
                <a:latin typeface="Calibri" pitchFamily="34" charset="0"/>
                <a:ea typeface="Calibri" pitchFamily="34" charset="-122"/>
                <a:cs typeface="Calibri" pitchFamily="34" charset="-120"/>
              </a:rPr>
              <a:t>Bends the print by naming what to bend.</a:t>
            </a:r>
            <a:endParaRPr lang="en-US" sz="1100" dirty="0"/>
          </a:p>
        </p:txBody>
      </p:sp>
      <p:sp>
        <p:nvSpPr>
          <p:cNvPr id="9" name="Shape 7"/>
          <p:cNvSpPr/>
          <p:nvPr/>
        </p:nvSpPr>
        <p:spPr>
          <a:xfrm>
            <a:off x="4343400" y="1874520"/>
            <a:ext cx="3520440" cy="3657600"/>
          </a:xfrm>
          <a:prstGeom prst="roundRect">
            <a:avLst>
              <a:gd name="adj" fmla="val 2078"/>
            </a:avLst>
          </a:prstGeom>
          <a:solidFill>
            <a:srgbClr val="F2F6FB"/>
          </a:solidFill>
          <a:ln w="15875">
            <a:solidFill>
              <a:srgbClr val="0072CE"/>
            </a:solidFill>
            <a:prstDash val="solid"/>
          </a:ln>
        </p:spPr>
      </p:sp>
      <p:sp>
        <p:nvSpPr>
          <p:cNvPr id="10" name="Text 8"/>
          <p:cNvSpPr txBox="1"/>
          <p:nvPr/>
        </p:nvSpPr>
        <p:spPr>
          <a:xfrm>
            <a:off x="4572000" y="2029968"/>
            <a:ext cx="3063240" cy="256032"/>
          </a:xfrm>
          <a:prstGeom prst="rect">
            <a:avLst/>
          </a:prstGeom>
          <a:noFill/>
          <a:ln/>
        </p:spPr>
        <p:txBody>
          <a:bodyPr wrap="square" lIns="0" tIns="0" rIns="0" bIns="0" rtlCol="0" anchor="ctr"/>
          <a:lstStyle/>
          <a:p>
            <a:pPr indent="0" marL="0">
              <a:buNone/>
            </a:pPr>
            <a:r>
              <a:rPr lang="en-US" sz="950" b="1" spc="150" kern="0" dirty="0">
                <a:solidFill>
                  <a:srgbClr val="0072CE"/>
                </a:solidFill>
                <a:latin typeface="Calibri" pitchFamily="34" charset="0"/>
                <a:ea typeface="Calibri" pitchFamily="34" charset="-122"/>
                <a:cs typeface="Calibri" pitchFamily="34" charset="-120"/>
              </a:rPr>
              <a:t>RECOMMENDATION 2 — THE PLAYBOOK</a:t>
            </a:r>
            <a:endParaRPr lang="en-US" sz="950" dirty="0"/>
          </a:p>
        </p:txBody>
      </p:sp>
      <p:sp>
        <p:nvSpPr>
          <p:cNvPr id="11" name="Text 9"/>
          <p:cNvSpPr txBox="1"/>
          <p:nvPr/>
        </p:nvSpPr>
        <p:spPr>
          <a:xfrm>
            <a:off x="4572000" y="2304288"/>
            <a:ext cx="3063240" cy="548640"/>
          </a:xfrm>
          <a:prstGeom prst="rect">
            <a:avLst/>
          </a:prstGeom>
          <a:noFill/>
          <a:ln/>
        </p:spPr>
        <p:txBody>
          <a:bodyPr wrap="square" lIns="0" tIns="0" rIns="0" bIns="0" rtlCol="0" anchor="ctr"/>
          <a:lstStyle/>
          <a:p>
            <a:pPr indent="0" marL="0">
              <a:buNone/>
            </a:pPr>
            <a:r>
              <a:rPr lang="en-US" sz="1550" b="1" dirty="0">
                <a:solidFill>
                  <a:srgbClr val="0B1F3A"/>
                </a:solidFill>
                <a:latin typeface="Calibri" pitchFamily="34" charset="0"/>
                <a:ea typeface="Calibri" pitchFamily="34" charset="-122"/>
                <a:cs typeface="Calibri" pitchFamily="34" charset="-120"/>
              </a:rPr>
              <a:t>Pre-committed if-then responses</a:t>
            </a:r>
            <a:endParaRPr lang="en-US" sz="1550" dirty="0"/>
          </a:p>
        </p:txBody>
      </p:sp>
      <p:sp>
        <p:nvSpPr>
          <p:cNvPr id="12" name="Text 10"/>
          <p:cNvSpPr txBox="1"/>
          <p:nvPr/>
        </p:nvSpPr>
        <p:spPr>
          <a:xfrm>
            <a:off x="4572000" y="2880360"/>
            <a:ext cx="3063240" cy="2057400"/>
          </a:xfrm>
          <a:prstGeom prst="rect">
            <a:avLst/>
          </a:prstGeom>
          <a:noFill/>
          <a:ln/>
        </p:spPr>
        <p:txBody>
          <a:bodyPr wrap="square" lIns="0" tIns="0" rIns="0" bIns="0" rtlCol="0" anchor="t"/>
          <a:lstStyle/>
          <a:p>
            <a:pPr indent="0" marL="0">
              <a:buNone/>
            </a:pPr>
            <a:r>
              <a:rPr lang="en-US" sz="1100" dirty="0">
                <a:solidFill>
                  <a:srgbClr val="5B6672"/>
                </a:solidFill>
                <a:latin typeface="Calibri" pitchFamily="34" charset="0"/>
                <a:ea typeface="Calibri" pitchFamily="34" charset="-122"/>
                <a:cs typeface="Calibri" pitchFamily="34" charset="-120"/>
              </a:rPr>
              <a:t>Six scenarios specified in advance: trigger threshold → lead play → economics gate → proof metric → kill condition → fallback. Budgets pre-authorized and released only by the trigger; review dates pre-registered. Identification converts to action in the same quarter — no second study, no committee lag.</a:t>
            </a:r>
            <a:endParaRPr lang="en-US" sz="1100" dirty="0"/>
          </a:p>
        </p:txBody>
      </p:sp>
      <p:sp>
        <p:nvSpPr>
          <p:cNvPr id="13" name="Text 11"/>
          <p:cNvSpPr txBox="1"/>
          <p:nvPr/>
        </p:nvSpPr>
        <p:spPr>
          <a:xfrm>
            <a:off x="4572000" y="4983480"/>
            <a:ext cx="3063240" cy="457200"/>
          </a:xfrm>
          <a:prstGeom prst="rect">
            <a:avLst/>
          </a:prstGeom>
          <a:noFill/>
          <a:ln/>
        </p:spPr>
        <p:txBody>
          <a:bodyPr wrap="square" lIns="0" tIns="0" rIns="0" bIns="0" rtlCol="0" anchor="b"/>
          <a:lstStyle/>
          <a:p>
            <a:pPr indent="0" marL="0">
              <a:buNone/>
            </a:pPr>
            <a:r>
              <a:rPr lang="en-US" sz="1100" b="1" i="1" dirty="0">
                <a:solidFill>
                  <a:srgbClr val="0072CE"/>
                </a:solidFill>
                <a:latin typeface="Calibri" pitchFamily="34" charset="0"/>
                <a:ea typeface="Calibri" pitchFamily="34" charset="-122"/>
                <a:cs typeface="Calibri" pitchFamily="34" charset="-120"/>
              </a:rPr>
              <a:t>An organizational change, not a report.</a:t>
            </a:r>
            <a:endParaRPr lang="en-US" sz="1100" dirty="0"/>
          </a:p>
        </p:txBody>
      </p:sp>
      <p:sp>
        <p:nvSpPr>
          <p:cNvPr id="14" name="Shape 12"/>
          <p:cNvSpPr/>
          <p:nvPr/>
        </p:nvSpPr>
        <p:spPr>
          <a:xfrm>
            <a:off x="8183880" y="1874520"/>
            <a:ext cx="3520440" cy="3657600"/>
          </a:xfrm>
          <a:prstGeom prst="roundRect">
            <a:avLst>
              <a:gd name="adj" fmla="val 2078"/>
            </a:avLst>
          </a:prstGeom>
          <a:solidFill>
            <a:srgbClr val="F2F6FB"/>
          </a:solidFill>
          <a:ln w="15875">
            <a:solidFill>
              <a:srgbClr val="0072CE"/>
            </a:solidFill>
            <a:prstDash val="solid"/>
          </a:ln>
        </p:spPr>
      </p:sp>
      <p:sp>
        <p:nvSpPr>
          <p:cNvPr id="15" name="Text 13"/>
          <p:cNvSpPr txBox="1"/>
          <p:nvPr/>
        </p:nvSpPr>
        <p:spPr>
          <a:xfrm>
            <a:off x="8412480" y="2029968"/>
            <a:ext cx="3063240" cy="256032"/>
          </a:xfrm>
          <a:prstGeom prst="rect">
            <a:avLst/>
          </a:prstGeom>
          <a:noFill/>
          <a:ln/>
        </p:spPr>
        <p:txBody>
          <a:bodyPr wrap="square" lIns="0" tIns="0" rIns="0" bIns="0" rtlCol="0" anchor="ctr"/>
          <a:lstStyle/>
          <a:p>
            <a:pPr indent="0" marL="0">
              <a:buNone/>
            </a:pPr>
            <a:r>
              <a:rPr lang="en-US" sz="950" b="1" spc="150" kern="0" dirty="0">
                <a:solidFill>
                  <a:srgbClr val="0072CE"/>
                </a:solidFill>
                <a:latin typeface="Calibri" pitchFamily="34" charset="0"/>
                <a:ea typeface="Calibri" pitchFamily="34" charset="-122"/>
                <a:cs typeface="Calibri" pitchFamily="34" charset="-120"/>
              </a:rPr>
              <a:t>RECOMMENDATION 3 — THE MARKET LAYER</a:t>
            </a:r>
            <a:endParaRPr lang="en-US" sz="950" dirty="0"/>
          </a:p>
        </p:txBody>
      </p:sp>
      <p:sp>
        <p:nvSpPr>
          <p:cNvPr id="16" name="Text 14"/>
          <p:cNvSpPr txBox="1"/>
          <p:nvPr/>
        </p:nvSpPr>
        <p:spPr>
          <a:xfrm>
            <a:off x="8412480" y="2304288"/>
            <a:ext cx="3063240" cy="548640"/>
          </a:xfrm>
          <a:prstGeom prst="rect">
            <a:avLst/>
          </a:prstGeom>
          <a:noFill/>
          <a:ln/>
        </p:spPr>
        <p:txBody>
          <a:bodyPr wrap="square" lIns="0" tIns="0" rIns="0" bIns="0" rtlCol="0" anchor="ctr"/>
          <a:lstStyle/>
          <a:p>
            <a:pPr indent="0" marL="0">
              <a:buNone/>
            </a:pPr>
            <a:r>
              <a:rPr lang="en-US" sz="1550" b="1" dirty="0">
                <a:solidFill>
                  <a:srgbClr val="0B1F3A"/>
                </a:solidFill>
                <a:latin typeface="Calibri" pitchFamily="34" charset="0"/>
                <a:ea typeface="Calibri" pitchFamily="34" charset="-122"/>
                <a:cs typeface="Calibri" pitchFamily="34" charset="-120"/>
              </a:rPr>
              <a:t>Change what the market prices</a:t>
            </a:r>
            <a:endParaRPr lang="en-US" sz="1550" dirty="0"/>
          </a:p>
        </p:txBody>
      </p:sp>
      <p:sp>
        <p:nvSpPr>
          <p:cNvPr id="17" name="Text 15"/>
          <p:cNvSpPr txBox="1"/>
          <p:nvPr/>
        </p:nvSpPr>
        <p:spPr>
          <a:xfrm>
            <a:off x="8412480" y="2880360"/>
            <a:ext cx="3063240" cy="2057400"/>
          </a:xfrm>
          <a:prstGeom prst="rect">
            <a:avLst/>
          </a:prstGeom>
          <a:noFill/>
          <a:ln/>
        </p:spPr>
        <p:txBody>
          <a:bodyPr wrap="square" lIns="0" tIns="0" rIns="0" bIns="0" rtlCol="0" anchor="t"/>
          <a:lstStyle/>
          <a:p>
            <a:pPr indent="0" marL="0">
              <a:buNone/>
            </a:pPr>
            <a:r>
              <a:rPr lang="en-US" sz="1100" dirty="0">
                <a:solidFill>
                  <a:srgbClr val="5B6672"/>
                </a:solidFill>
                <a:latin typeface="Calibri" pitchFamily="34" charset="0"/>
                <a:ea typeface="Calibri" pitchFamily="34" charset="-122"/>
                <a:cs typeface="Calibri" pitchFamily="34" charset="-120"/>
              </a:rPr>
              <a:t>Publish the playbook’s triggers and responses at an investor day. Re-segment disclosure so the growing rural build is reported apart from the mature core. Guide steady-state post-2027 capex. Shift capital allocation from buybacks to deleveraging below 4.0x until net adds stabilize.</a:t>
            </a:r>
            <a:endParaRPr lang="en-US" sz="1100" dirty="0"/>
          </a:p>
        </p:txBody>
      </p:sp>
      <p:sp>
        <p:nvSpPr>
          <p:cNvPr id="18" name="Text 16"/>
          <p:cNvSpPr txBox="1"/>
          <p:nvPr/>
        </p:nvSpPr>
        <p:spPr>
          <a:xfrm>
            <a:off x="8412480" y="4983480"/>
            <a:ext cx="3063240" cy="457200"/>
          </a:xfrm>
          <a:prstGeom prst="rect">
            <a:avLst/>
          </a:prstGeom>
          <a:noFill/>
          <a:ln/>
        </p:spPr>
        <p:txBody>
          <a:bodyPr wrap="square" lIns="0" tIns="0" rIns="0" bIns="0" rtlCol="0" anchor="b"/>
          <a:lstStyle/>
          <a:p>
            <a:pPr indent="0" marL="0">
              <a:buNone/>
            </a:pPr>
            <a:r>
              <a:rPr lang="en-US" sz="1100" b="1" i="1" dirty="0">
                <a:solidFill>
                  <a:srgbClr val="0072CE"/>
                </a:solidFill>
                <a:latin typeface="Calibri" pitchFamily="34" charset="0"/>
                <a:ea typeface="Calibri" pitchFamily="34" charset="-122"/>
                <a:cs typeface="Calibri" pitchFamily="34" charset="-120"/>
              </a:rPr>
              <a:t>A surprise-reduction machine for the one variable the tape prices.</a:t>
            </a:r>
            <a:endParaRPr lang="en-US" sz="1100" dirty="0"/>
          </a:p>
        </p:txBody>
      </p:sp>
      <p:sp>
        <p:nvSpPr>
          <p:cNvPr id="19" name="Shape 17"/>
          <p:cNvSpPr/>
          <p:nvPr/>
        </p:nvSpPr>
        <p:spPr>
          <a:xfrm>
            <a:off x="502920" y="5669280"/>
            <a:ext cx="11201400" cy="594360"/>
          </a:xfrm>
          <a:prstGeom prst="roundRect">
            <a:avLst>
              <a:gd name="adj" fmla="val 12308"/>
            </a:avLst>
          </a:prstGeom>
          <a:solidFill>
            <a:srgbClr val="FFFFFF"/>
          </a:solidFill>
          <a:ln w="12700">
            <a:solidFill>
              <a:srgbClr val="D7E0EA"/>
            </a:solidFill>
            <a:prstDash val="solid"/>
          </a:ln>
        </p:spPr>
      </p:sp>
      <p:sp>
        <p:nvSpPr>
          <p:cNvPr id="20" name="Text 18"/>
          <p:cNvSpPr txBox="1"/>
          <p:nvPr/>
        </p:nvSpPr>
        <p:spPr>
          <a:xfrm>
            <a:off x="777240" y="5742432"/>
            <a:ext cx="10698480" cy="45720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Why it clears the “out-of-the-box” bar:  </a:t>
            </a:r>
            <a:pPr indent="0" marL="0">
              <a:buNone/>
            </a:pPr>
            <a:r>
              <a:rPr lang="en-US" sz="1200" dirty="0">
                <a:solidFill>
                  <a:srgbClr val="5B6672"/>
                </a:solidFill>
                <a:latin typeface="Calibri" pitchFamily="34" charset="0"/>
                <a:ea typeface="Calibri" pitchFamily="34" charset="-122"/>
                <a:cs typeface="Calibri" pitchFamily="34" charset="-120"/>
              </a:rPr>
              <a:t>the novelty is pre-commitment and publication — authorizing contingent moves before knowing which fires, and telling the market the rules. No cable operator has done either.</a:t>
            </a:r>
            <a:endParaRPr lang="en-US" sz="1200" dirty="0"/>
          </a:p>
        </p:txBody>
      </p:sp>
      <p:sp>
        <p:nvSpPr>
          <p:cNvPr id="21" name="Text 19"/>
          <p:cNvSpPr txBox="1"/>
          <p:nvPr/>
        </p:nvSpPr>
        <p:spPr>
          <a:xfrm>
            <a:off x="11567160" y="6446520"/>
            <a:ext cx="457200" cy="274320"/>
          </a:xfrm>
          <a:prstGeom prst="rect">
            <a:avLst/>
          </a:prstGeom>
          <a:noFill/>
          <a:ln/>
        </p:spPr>
        <p:txBody>
          <a:bodyPr wrap="square" lIns="0" tIns="0" rIns="0" bIns="0" rtlCol="0" anchor="ctr"/>
          <a:lstStyle/>
          <a:p>
            <a:pPr algn="r" indent="0" marL="0">
              <a:buNone/>
            </a:pPr>
            <a:r>
              <a:rPr lang="en-US" sz="1000" dirty="0">
                <a:solidFill>
                  <a:srgbClr val="8A94A0"/>
                </a:solidFill>
                <a:latin typeface="Calibri" pitchFamily="34" charset="0"/>
                <a:ea typeface="Calibri" pitchFamily="34" charset="-122"/>
                <a:cs typeface="Calibri" pitchFamily="34" charset="-120"/>
              </a:rPr>
              <a:t>10</a:t>
            </a:r>
            <a:endParaRPr lang="en-US" sz="1000" dirty="0"/>
          </a:p>
        </p:txBody>
      </p:sp>
      <p:sp>
        <p:nvSpPr>
          <p:cNvPr id="22" name="Text 20"/>
          <p:cNvSpPr txBox="1"/>
          <p:nvPr/>
        </p:nvSpPr>
        <p:spPr>
          <a:xfrm>
            <a:off x="502920" y="6446520"/>
            <a:ext cx="10881360" cy="274320"/>
          </a:xfrm>
          <a:prstGeom prst="rect">
            <a:avLst/>
          </a:prstGeom>
          <a:noFill/>
          <a:ln/>
        </p:spPr>
        <p:txBody>
          <a:bodyPr wrap="square" lIns="0" tIns="0" rIns="0" bIns="0" rtlCol="0" anchor="ctr"/>
          <a:lstStyle/>
          <a:p>
            <a:pPr indent="0" marL="0">
              <a:buNone/>
            </a:pPr>
            <a:r>
              <a:rPr lang="en-US" sz="900" dirty="0">
                <a:solidFill>
                  <a:srgbClr val="8A94A0"/>
                </a:solidFill>
                <a:latin typeface="Calibri" pitchFamily="34" charset="0"/>
                <a:ea typeface="Calibri" pitchFamily="34" charset="-122"/>
                <a:cs typeface="Calibri" pitchFamily="34" charset="-120"/>
              </a:rPr>
              <a:t>Final Presentation  ·  “Changing the Trajectory”  ·  Charter Communications (CHTR)  ·  Anchored to Q1 2026; Q2 2026 labeled as later public fact where used</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02920" y="292608"/>
            <a:ext cx="10515600" cy="274320"/>
          </a:xfrm>
          <a:prstGeom prst="rect">
            <a:avLst/>
          </a:prstGeom>
          <a:noFill/>
          <a:ln/>
        </p:spPr>
        <p:txBody>
          <a:bodyPr wrap="square" lIns="0" tIns="0" rIns="0" bIns="0" rtlCol="0" anchor="ctr"/>
          <a:lstStyle/>
          <a:p>
            <a:pPr indent="0" marL="0">
              <a:buNone/>
            </a:pPr>
            <a:r>
              <a:rPr lang="en-US" sz="1100" b="1" spc="200" kern="0" dirty="0">
                <a:solidFill>
                  <a:srgbClr val="0072CE"/>
                </a:solidFill>
                <a:latin typeface="Calibri" pitchFamily="34" charset="0"/>
                <a:ea typeface="Calibri" pitchFamily="34" charset="-122"/>
                <a:cs typeface="Calibri" pitchFamily="34" charset="-120"/>
              </a:rPr>
              <a:t>3  ·  RECOMMENDATION 1 — BUILDING THE SENSOR</a:t>
            </a:r>
            <a:endParaRPr lang="en-US" sz="1100" dirty="0"/>
          </a:p>
        </p:txBody>
      </p:sp>
      <p:sp>
        <p:nvSpPr>
          <p:cNvPr id="3" name="Text 1"/>
          <p:cNvSpPr txBox="1"/>
          <p:nvPr/>
        </p:nvSpPr>
        <p:spPr>
          <a:xfrm>
            <a:off x="502920" y="566928"/>
            <a:ext cx="11155680" cy="777240"/>
          </a:xfrm>
          <a:prstGeom prst="rect">
            <a:avLst/>
          </a:prstGeom>
          <a:noFill/>
          <a:ln/>
        </p:spPr>
        <p:txBody>
          <a:bodyPr wrap="square" lIns="0" tIns="0" rIns="0" bIns="0" rtlCol="0" anchor="t"/>
          <a:lstStyle/>
          <a:p>
            <a:pPr indent="0" marL="0">
              <a:buNone/>
            </a:pPr>
            <a:r>
              <a:rPr lang="en-US" sz="2400" b="1" dirty="0">
                <a:solidFill>
                  <a:srgbClr val="0B1F3A"/>
                </a:solidFill>
                <a:latin typeface="Calibri" pitchFamily="34" charset="0"/>
                <a:ea typeface="Calibri" pitchFamily="34" charset="-122"/>
                <a:cs typeface="Calibri" pitchFamily="34" charset="-120"/>
              </a:rPr>
              <a:t>The attribution gap is closable with data Charter already has — no new instrumentation</a:t>
            </a:r>
            <a:endParaRPr lang="en-US" sz="2400" dirty="0"/>
          </a:p>
        </p:txBody>
      </p:sp>
      <p:sp>
        <p:nvSpPr>
          <p:cNvPr id="4" name="Shape 2"/>
          <p:cNvSpPr/>
          <p:nvPr/>
        </p:nvSpPr>
        <p:spPr>
          <a:xfrm>
            <a:off x="502920" y="1810512"/>
            <a:ext cx="502920" cy="502920"/>
          </a:xfrm>
          <a:prstGeom prst="ellipse">
            <a:avLst/>
          </a:prstGeom>
          <a:solidFill>
            <a:srgbClr val="0072CE"/>
          </a:solidFill>
          <a:ln/>
        </p:spPr>
      </p:sp>
      <p:sp>
        <p:nvSpPr>
          <p:cNvPr id="5" name="Text 3"/>
          <p:cNvSpPr txBox="1"/>
          <p:nvPr/>
        </p:nvSpPr>
        <p:spPr>
          <a:xfrm>
            <a:off x="502920" y="181051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Text 4"/>
          <p:cNvSpPr txBox="1"/>
          <p:nvPr/>
        </p:nvSpPr>
        <p:spPr>
          <a:xfrm>
            <a:off x="1234440" y="1737360"/>
            <a:ext cx="10424160" cy="292608"/>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Competitive exposure map — FCC Broadband Data Collection (public)</a:t>
            </a:r>
            <a:endParaRPr lang="en-US" sz="1400" dirty="0"/>
          </a:p>
        </p:txBody>
      </p:sp>
      <p:sp>
        <p:nvSpPr>
          <p:cNvPr id="7" name="Text 5"/>
          <p:cNvSpPr txBox="1"/>
          <p:nvPr/>
        </p:nvSpPr>
        <p:spPr>
          <a:xfrm>
            <a:off x="1234440" y="2039112"/>
            <a:ext cx="10424160" cy="594360"/>
          </a:xfrm>
          <a:prstGeom prst="rect">
            <a:avLst/>
          </a:prstGeom>
          <a:noFill/>
          <a:ln/>
        </p:spPr>
        <p:txBody>
          <a:bodyPr wrap="square" lIns="0" tIns="0" rIns="0" bIns="0" rtlCol="0" anchor="ctr"/>
          <a:lstStyle/>
          <a:p>
            <a:pPr indent="0" marL="0">
              <a:buNone/>
            </a:pPr>
            <a:r>
              <a:rPr lang="en-US" sz="1150" dirty="0">
                <a:solidFill>
                  <a:srgbClr val="5B6672"/>
                </a:solidFill>
                <a:latin typeface="Calibri" pitchFamily="34" charset="0"/>
                <a:ea typeface="Calibri" pitchFamily="34" charset="-122"/>
                <a:cs typeface="Calibri" pitchFamily="34" charset="-120"/>
              </a:rPr>
              <a:t>The FCC’s BDC publishes competitor serviceability location by location. Cross-reference Charter’s ~29.5M Internet subscribers and every disconnect against it → classify each address as fiber-overbuilt / FWA-covered / satellite-only / uncontested.</a:t>
            </a:r>
            <a:endParaRPr lang="en-US" sz="1150" dirty="0"/>
          </a:p>
        </p:txBody>
      </p:sp>
      <p:sp>
        <p:nvSpPr>
          <p:cNvPr id="8" name="Shape 6"/>
          <p:cNvSpPr/>
          <p:nvPr/>
        </p:nvSpPr>
        <p:spPr>
          <a:xfrm>
            <a:off x="502920" y="2770632"/>
            <a:ext cx="502920" cy="502920"/>
          </a:xfrm>
          <a:prstGeom prst="ellipse">
            <a:avLst/>
          </a:prstGeom>
          <a:solidFill>
            <a:srgbClr val="0072CE"/>
          </a:solidFill>
          <a:ln/>
        </p:spPr>
      </p:sp>
      <p:sp>
        <p:nvSpPr>
          <p:cNvPr id="9" name="Text 7"/>
          <p:cNvSpPr txBox="1"/>
          <p:nvPr/>
        </p:nvSpPr>
        <p:spPr>
          <a:xfrm>
            <a:off x="502920" y="277063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Text 8"/>
          <p:cNvSpPr txBox="1"/>
          <p:nvPr/>
        </p:nvSpPr>
        <p:spPr>
          <a:xfrm>
            <a:off x="1234440" y="2697480"/>
            <a:ext cx="10424160" cy="292608"/>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Internal disconnect records — join, don’t rebuild</a:t>
            </a:r>
            <a:endParaRPr lang="en-US" sz="1400" dirty="0"/>
          </a:p>
        </p:txBody>
      </p:sp>
      <p:sp>
        <p:nvSpPr>
          <p:cNvPr id="11" name="Text 9"/>
          <p:cNvSpPr txBox="1"/>
          <p:nvPr/>
        </p:nvSpPr>
        <p:spPr>
          <a:xfrm>
            <a:off x="1234440" y="2999232"/>
            <a:ext cx="10424160" cy="594360"/>
          </a:xfrm>
          <a:prstGeom prst="rect">
            <a:avLst/>
          </a:prstGeom>
          <a:noFill/>
          <a:ln/>
        </p:spPr>
        <p:txBody>
          <a:bodyPr wrap="square" lIns="0" tIns="0" rIns="0" bIns="0" rtlCol="0" anchor="ctr"/>
          <a:lstStyle/>
          <a:p>
            <a:pPr indent="0" marL="0">
              <a:buNone/>
            </a:pPr>
            <a:r>
              <a:rPr lang="en-US" sz="1150" dirty="0">
                <a:solidFill>
                  <a:srgbClr val="5B6672"/>
                </a:solidFill>
                <a:latin typeface="Calibri" pitchFamily="34" charset="0"/>
                <a:ea typeface="Calibri" pitchFamily="34" charset="-122"/>
                <a:cs typeface="Calibri" pitchFamily="34" charset="-120"/>
              </a:rPr>
              <a:t>Billing already holds tenure, ARPU tier, product mix, non-pay vs. voluntary, and move-out flags per disconnect. Joining these to the exposure map yields the loss matrix: cause-cohort × customer-value cohort, refreshed monthly.</a:t>
            </a:r>
            <a:endParaRPr lang="en-US" sz="1150" dirty="0"/>
          </a:p>
        </p:txBody>
      </p:sp>
      <p:sp>
        <p:nvSpPr>
          <p:cNvPr id="12" name="Shape 10"/>
          <p:cNvSpPr/>
          <p:nvPr/>
        </p:nvSpPr>
        <p:spPr>
          <a:xfrm>
            <a:off x="502920" y="3730752"/>
            <a:ext cx="502920" cy="502920"/>
          </a:xfrm>
          <a:prstGeom prst="ellipse">
            <a:avLst/>
          </a:prstGeom>
          <a:solidFill>
            <a:srgbClr val="0072CE"/>
          </a:solidFill>
          <a:ln/>
        </p:spPr>
      </p:sp>
      <p:sp>
        <p:nvSpPr>
          <p:cNvPr id="13" name="Text 11"/>
          <p:cNvSpPr txBox="1"/>
          <p:nvPr/>
        </p:nvSpPr>
        <p:spPr>
          <a:xfrm>
            <a:off x="502920" y="373075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4" name="Text 12"/>
          <p:cNvSpPr txBox="1"/>
          <p:nvPr/>
        </p:nvSpPr>
        <p:spPr>
          <a:xfrm>
            <a:off x="1234440" y="3657600"/>
            <a:ext cx="10424160" cy="292608"/>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Measured exit signals — the triage-code lesson applied</a:t>
            </a:r>
            <a:endParaRPr lang="en-US" sz="1400" dirty="0"/>
          </a:p>
        </p:txBody>
      </p:sp>
      <p:sp>
        <p:nvSpPr>
          <p:cNvPr id="15" name="Text 13"/>
          <p:cNvSpPr txBox="1"/>
          <p:nvPr/>
        </p:nvSpPr>
        <p:spPr>
          <a:xfrm>
            <a:off x="1234440" y="3959352"/>
            <a:ext cx="10424160" cy="594360"/>
          </a:xfrm>
          <a:prstGeom prst="rect">
            <a:avLst/>
          </a:prstGeom>
          <a:noFill/>
          <a:ln/>
        </p:spPr>
        <p:txBody>
          <a:bodyPr wrap="square" lIns="0" tIns="0" rIns="0" bIns="0" rtlCol="0" anchor="ctr"/>
          <a:lstStyle/>
          <a:p>
            <a:pPr indent="0" marL="0">
              <a:buNone/>
            </a:pPr>
            <a:r>
              <a:rPr lang="en-US" sz="1150" dirty="0">
                <a:solidFill>
                  <a:srgbClr val="5B6672"/>
                </a:solidFill>
                <a:latin typeface="Calibri" pitchFamily="34" charset="0"/>
                <a:ea typeface="Calibri" pitchFamily="34" charset="-122"/>
                <a:cs typeface="Calibri" pitchFamily="34" charset="-120"/>
              </a:rPr>
              <a:t>Agent-coded disconnect reasons are unreliable (agents have favorite codes). Replace with measured signals: statistically sampled and audited exit surveys, and port-out destination data where number portability reveals the winning competitor. Sample-audit the codes against reality every quarter.</a:t>
            </a:r>
            <a:endParaRPr lang="en-US" sz="1150" dirty="0"/>
          </a:p>
        </p:txBody>
      </p:sp>
      <p:sp>
        <p:nvSpPr>
          <p:cNvPr id="16" name="Shape 14"/>
          <p:cNvSpPr/>
          <p:nvPr/>
        </p:nvSpPr>
        <p:spPr>
          <a:xfrm>
            <a:off x="502920" y="4690872"/>
            <a:ext cx="502920" cy="502920"/>
          </a:xfrm>
          <a:prstGeom prst="ellipse">
            <a:avLst/>
          </a:prstGeom>
          <a:solidFill>
            <a:srgbClr val="0072CE"/>
          </a:solidFill>
          <a:ln/>
        </p:spPr>
      </p:sp>
      <p:sp>
        <p:nvSpPr>
          <p:cNvPr id="17" name="Text 15"/>
          <p:cNvSpPr txBox="1"/>
          <p:nvPr/>
        </p:nvSpPr>
        <p:spPr>
          <a:xfrm>
            <a:off x="502920" y="469087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8" name="Text 16"/>
          <p:cNvSpPr txBox="1"/>
          <p:nvPr/>
        </p:nvSpPr>
        <p:spPr>
          <a:xfrm>
            <a:off x="1234440" y="4617720"/>
            <a:ext cx="10424160" cy="292608"/>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Validation — do losses actually concentrate where exposure says?</a:t>
            </a:r>
            <a:endParaRPr lang="en-US" sz="1400" dirty="0"/>
          </a:p>
        </p:txBody>
      </p:sp>
      <p:sp>
        <p:nvSpPr>
          <p:cNvPr id="19" name="Text 17"/>
          <p:cNvSpPr txBox="1"/>
          <p:nvPr/>
        </p:nvSpPr>
        <p:spPr>
          <a:xfrm>
            <a:off x="1234440" y="4919472"/>
            <a:ext cx="10424160" cy="594360"/>
          </a:xfrm>
          <a:prstGeom prst="rect">
            <a:avLst/>
          </a:prstGeom>
          <a:noFill/>
          <a:ln/>
        </p:spPr>
        <p:txBody>
          <a:bodyPr wrap="square" lIns="0" tIns="0" rIns="0" bIns="0" rtlCol="0" anchor="ctr"/>
          <a:lstStyle/>
          <a:p>
            <a:pPr indent="0" marL="0">
              <a:buNone/>
            </a:pPr>
            <a:r>
              <a:rPr lang="en-US" sz="1150" dirty="0">
                <a:solidFill>
                  <a:srgbClr val="5B6672"/>
                </a:solidFill>
                <a:latin typeface="Calibri" pitchFamily="34" charset="0"/>
                <a:ea typeface="Calibri" pitchFamily="34" charset="-122"/>
                <a:cs typeface="Calibri" pitchFamily="34" charset="-120"/>
              </a:rPr>
              <a:t>The first read tests the map itself: churn rate by exposure class vs. the uncontested baseline. Uncontested churn is the control group every other cohort is measured against.</a:t>
            </a:r>
            <a:endParaRPr lang="en-US" sz="1150" dirty="0"/>
          </a:p>
        </p:txBody>
      </p:sp>
      <p:sp>
        <p:nvSpPr>
          <p:cNvPr id="20" name="Shape 18"/>
          <p:cNvSpPr/>
          <p:nvPr/>
        </p:nvSpPr>
        <p:spPr>
          <a:xfrm>
            <a:off x="502920" y="5623560"/>
            <a:ext cx="11201400" cy="566928"/>
          </a:xfrm>
          <a:prstGeom prst="roundRect">
            <a:avLst>
              <a:gd name="adj" fmla="val 12903"/>
            </a:avLst>
          </a:prstGeom>
          <a:solidFill>
            <a:srgbClr val="F2F6FB"/>
          </a:solidFill>
          <a:ln w="12700">
            <a:solidFill>
              <a:srgbClr val="D7E0EA"/>
            </a:solidFill>
            <a:prstDash val="solid"/>
          </a:ln>
        </p:spPr>
      </p:sp>
      <p:sp>
        <p:nvSpPr>
          <p:cNvPr id="21" name="Text 19"/>
          <p:cNvSpPr txBox="1"/>
          <p:nvPr/>
        </p:nvSpPr>
        <p:spPr>
          <a:xfrm>
            <a:off x="777240" y="5715000"/>
            <a:ext cx="10698480" cy="41148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Cost &amp; time:  </a:t>
            </a:r>
            <a:pPr indent="0" marL="0">
              <a:buNone/>
            </a:pPr>
            <a:r>
              <a:rPr lang="en-US" sz="1200" dirty="0">
                <a:solidFill>
                  <a:srgbClr val="5B6672"/>
                </a:solidFill>
                <a:latin typeface="Calibri" pitchFamily="34" charset="0"/>
                <a:ea typeface="Calibri" pitchFamily="34" charset="-122"/>
                <a:cs typeface="Calibri" pitchFamily="34" charset="-120"/>
              </a:rPr>
              <a:t>BI / data-science build on existing systems — low single-digit $M, live within one quarter; first full attribution read the quarter after.  </a:t>
            </a:r>
            <a:pPr indent="0" marL="0">
              <a:buNone/>
            </a:pPr>
            <a:r>
              <a:rPr lang="en-US" sz="1200" i="1" dirty="0">
                <a:solidFill>
                  <a:srgbClr val="0072CE"/>
                </a:solidFill>
                <a:latin typeface="Calibri" pitchFamily="34" charset="0"/>
                <a:ea typeface="Calibri" pitchFamily="34" charset="-122"/>
                <a:cs typeface="Calibri" pitchFamily="34" charset="-120"/>
              </a:rPr>
              <a:t>[assumption — to size with client data]</a:t>
            </a:r>
            <a:endParaRPr lang="en-US" sz="1200" dirty="0"/>
          </a:p>
        </p:txBody>
      </p:sp>
      <p:sp>
        <p:nvSpPr>
          <p:cNvPr id="22" name="Text 20"/>
          <p:cNvSpPr txBox="1"/>
          <p:nvPr/>
        </p:nvSpPr>
        <p:spPr>
          <a:xfrm>
            <a:off x="11567160" y="6446520"/>
            <a:ext cx="457200" cy="274320"/>
          </a:xfrm>
          <a:prstGeom prst="rect">
            <a:avLst/>
          </a:prstGeom>
          <a:noFill/>
          <a:ln/>
        </p:spPr>
        <p:txBody>
          <a:bodyPr wrap="square" lIns="0" tIns="0" rIns="0" bIns="0" rtlCol="0" anchor="ctr"/>
          <a:lstStyle/>
          <a:p>
            <a:pPr algn="r" indent="0" marL="0">
              <a:buNone/>
            </a:pPr>
            <a:r>
              <a:rPr lang="en-US" sz="1000" dirty="0">
                <a:solidFill>
                  <a:srgbClr val="8A94A0"/>
                </a:solidFill>
                <a:latin typeface="Calibri" pitchFamily="34" charset="0"/>
                <a:ea typeface="Calibri" pitchFamily="34" charset="-122"/>
                <a:cs typeface="Calibri" pitchFamily="34" charset="-120"/>
              </a:rPr>
              <a:t>11</a:t>
            </a:r>
            <a:endParaRPr lang="en-US" sz="1000" dirty="0"/>
          </a:p>
        </p:txBody>
      </p:sp>
      <p:sp>
        <p:nvSpPr>
          <p:cNvPr id="23" name="Text 21"/>
          <p:cNvSpPr txBox="1"/>
          <p:nvPr/>
        </p:nvSpPr>
        <p:spPr>
          <a:xfrm>
            <a:off x="502920" y="6446520"/>
            <a:ext cx="10881360" cy="274320"/>
          </a:xfrm>
          <a:prstGeom prst="rect">
            <a:avLst/>
          </a:prstGeom>
          <a:noFill/>
          <a:ln/>
        </p:spPr>
        <p:txBody>
          <a:bodyPr wrap="square" lIns="0" tIns="0" rIns="0" bIns="0" rtlCol="0" anchor="ctr"/>
          <a:lstStyle/>
          <a:p>
            <a:pPr indent="0" marL="0">
              <a:buNone/>
            </a:pPr>
            <a:r>
              <a:rPr lang="en-US" sz="900" dirty="0">
                <a:solidFill>
                  <a:srgbClr val="8A94A0"/>
                </a:solidFill>
                <a:latin typeface="Calibri" pitchFamily="34" charset="0"/>
                <a:ea typeface="Calibri" pitchFamily="34" charset="-122"/>
                <a:cs typeface="Calibri" pitchFamily="34" charset="-120"/>
              </a:rPr>
              <a:t>Final Presentation  ·  “Changing the Trajectory”  ·  Charter Communications (CHTR)  ·  Anchored to Q1 2026; Q2 2026 labeled as later public fact where used</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02920" y="292608"/>
            <a:ext cx="10515600" cy="274320"/>
          </a:xfrm>
          <a:prstGeom prst="rect">
            <a:avLst/>
          </a:prstGeom>
          <a:noFill/>
          <a:ln/>
        </p:spPr>
        <p:txBody>
          <a:bodyPr wrap="square" lIns="0" tIns="0" rIns="0" bIns="0" rtlCol="0" anchor="ctr"/>
          <a:lstStyle/>
          <a:p>
            <a:pPr indent="0" marL="0">
              <a:buNone/>
            </a:pPr>
            <a:r>
              <a:rPr lang="en-US" sz="1100" b="1" spc="200" kern="0" dirty="0">
                <a:solidFill>
                  <a:srgbClr val="0072CE"/>
                </a:solidFill>
                <a:latin typeface="Calibri" pitchFamily="34" charset="0"/>
                <a:ea typeface="Calibri" pitchFamily="34" charset="-122"/>
                <a:cs typeface="Calibri" pitchFamily="34" charset="-120"/>
              </a:rPr>
              <a:t>3  ·  RECOMMENDATION 2 — DECISION ARCHITECTURE</a:t>
            </a:r>
            <a:endParaRPr lang="en-US" sz="1100" dirty="0"/>
          </a:p>
        </p:txBody>
      </p:sp>
      <p:sp>
        <p:nvSpPr>
          <p:cNvPr id="3" name="Text 1"/>
          <p:cNvSpPr txBox="1"/>
          <p:nvPr/>
        </p:nvSpPr>
        <p:spPr>
          <a:xfrm>
            <a:off x="502920" y="566928"/>
            <a:ext cx="11155680" cy="777240"/>
          </a:xfrm>
          <a:prstGeom prst="rect">
            <a:avLst/>
          </a:prstGeom>
          <a:noFill/>
          <a:ln/>
        </p:spPr>
        <p:txBody>
          <a:bodyPr wrap="square" lIns="0" tIns="0" rIns="0" bIns="0" rtlCol="0" anchor="t"/>
          <a:lstStyle/>
          <a:p>
            <a:pPr indent="0" marL="0">
              <a:buNone/>
            </a:pPr>
            <a:r>
              <a:rPr lang="en-US" sz="2400" b="1" dirty="0">
                <a:solidFill>
                  <a:srgbClr val="0B1F3A"/>
                </a:solidFill>
                <a:latin typeface="Calibri" pitchFamily="34" charset="0"/>
                <a:ea typeface="Calibri" pitchFamily="34" charset="-122"/>
                <a:cs typeface="Calibri" pitchFamily="34" charset="-120"/>
              </a:rPr>
              <a:t>Stated thresholds route the answer to a pre-authorized response</a:t>
            </a:r>
            <a:endParaRPr lang="en-US" sz="2400" dirty="0"/>
          </a:p>
        </p:txBody>
      </p:sp>
      <p:sp>
        <p:nvSpPr>
          <p:cNvPr id="4" name="Shape 2"/>
          <p:cNvSpPr/>
          <p:nvPr/>
        </p:nvSpPr>
        <p:spPr>
          <a:xfrm>
            <a:off x="502920" y="1783080"/>
            <a:ext cx="3520440" cy="2834640"/>
          </a:xfrm>
          <a:prstGeom prst="roundRect">
            <a:avLst>
              <a:gd name="adj" fmla="val 2581"/>
            </a:avLst>
          </a:prstGeom>
          <a:solidFill>
            <a:srgbClr val="F2F6FB"/>
          </a:solidFill>
          <a:ln w="15875">
            <a:solidFill>
              <a:srgbClr val="C8102E"/>
            </a:solidFill>
            <a:prstDash val="solid"/>
          </a:ln>
        </p:spPr>
      </p:sp>
      <p:sp>
        <p:nvSpPr>
          <p:cNvPr id="5" name="Text 3"/>
          <p:cNvSpPr txBox="1"/>
          <p:nvPr/>
        </p:nvSpPr>
        <p:spPr>
          <a:xfrm>
            <a:off x="731520" y="1965960"/>
            <a:ext cx="3063240" cy="685800"/>
          </a:xfrm>
          <a:prstGeom prst="rect">
            <a:avLst/>
          </a:prstGeom>
          <a:noFill/>
          <a:ln/>
        </p:spPr>
        <p:txBody>
          <a:bodyPr wrap="square" lIns="0" tIns="0" rIns="0" bIns="0" rtlCol="0" anchor="ctr"/>
          <a:lstStyle/>
          <a:p>
            <a:pPr indent="0" marL="0">
              <a:buNone/>
            </a:pPr>
            <a:r>
              <a:rPr lang="en-US" sz="3400" b="1" dirty="0">
                <a:solidFill>
                  <a:srgbClr val="C8102E"/>
                </a:solidFill>
                <a:latin typeface="Calibri" pitchFamily="34" charset="0"/>
                <a:ea typeface="Calibri" pitchFamily="34" charset="-122"/>
                <a:cs typeface="Calibri" pitchFamily="34" charset="-120"/>
              </a:rPr>
              <a:t>≥ 40%</a:t>
            </a:r>
            <a:endParaRPr lang="en-US" sz="3400" dirty="0"/>
          </a:p>
        </p:txBody>
      </p:sp>
      <p:sp>
        <p:nvSpPr>
          <p:cNvPr id="6" name="Text 4"/>
          <p:cNvSpPr txBox="1"/>
          <p:nvPr/>
        </p:nvSpPr>
        <p:spPr>
          <a:xfrm>
            <a:off x="731520" y="2670048"/>
            <a:ext cx="3063240" cy="256032"/>
          </a:xfrm>
          <a:prstGeom prst="rect">
            <a:avLst/>
          </a:prstGeom>
          <a:noFill/>
          <a:ln/>
        </p:spPr>
        <p:txBody>
          <a:bodyPr wrap="square" lIns="0" tIns="0" rIns="0" bIns="0" rtlCol="0" anchor="ctr"/>
          <a:lstStyle/>
          <a:p>
            <a:pPr indent="0" marL="0">
              <a:buNone/>
            </a:pPr>
            <a:r>
              <a:rPr lang="en-US" sz="1100" b="1" spc="150" kern="0" dirty="0">
                <a:solidFill>
                  <a:srgbClr val="C8102E"/>
                </a:solidFill>
                <a:latin typeface="Calibri" pitchFamily="34" charset="0"/>
                <a:ea typeface="Calibri" pitchFamily="34" charset="-122"/>
                <a:cs typeface="Calibri" pitchFamily="34" charset="-120"/>
              </a:rPr>
              <a:t>DOMINANT DRIVER</a:t>
            </a:r>
            <a:endParaRPr lang="en-US" sz="1100" dirty="0"/>
          </a:p>
        </p:txBody>
      </p:sp>
      <p:sp>
        <p:nvSpPr>
          <p:cNvPr id="7" name="Text 5"/>
          <p:cNvSpPr txBox="1"/>
          <p:nvPr/>
        </p:nvSpPr>
        <p:spPr>
          <a:xfrm>
            <a:off x="731520" y="2971800"/>
            <a:ext cx="3063240" cy="1554480"/>
          </a:xfrm>
          <a:prstGeom prst="rect">
            <a:avLst/>
          </a:prstGeom>
          <a:noFill/>
          <a:ln/>
        </p:spPr>
        <p:txBody>
          <a:bodyPr wrap="square" lIns="0" tIns="0" rIns="0" bIns="0" rtlCol="0" anchor="ctr"/>
          <a:lstStyle/>
          <a:p>
            <a:pPr indent="0" marL="0">
              <a:buNone/>
            </a:pPr>
            <a:r>
              <a:rPr lang="en-US" sz="1150" dirty="0">
                <a:solidFill>
                  <a:srgbClr val="5B6672"/>
                </a:solidFill>
                <a:latin typeface="Calibri" pitchFamily="34" charset="0"/>
                <a:ea typeface="Calibri" pitchFamily="34" charset="-122"/>
                <a:cs typeface="Calibri" pitchFamily="34" charset="-120"/>
              </a:rPr>
              <a:t>One cause-cohort holds ≥40% of quarterly losses → trigger that scenario’s lead play at scale, with its pre-authorized budget and pre-registered review date.</a:t>
            </a:r>
            <a:endParaRPr lang="en-US" sz="1150" dirty="0"/>
          </a:p>
        </p:txBody>
      </p:sp>
      <p:sp>
        <p:nvSpPr>
          <p:cNvPr id="8" name="Shape 6"/>
          <p:cNvSpPr/>
          <p:nvPr/>
        </p:nvSpPr>
        <p:spPr>
          <a:xfrm>
            <a:off x="4343400" y="1783080"/>
            <a:ext cx="3520440" cy="2834640"/>
          </a:xfrm>
          <a:prstGeom prst="roundRect">
            <a:avLst>
              <a:gd name="adj" fmla="val 2581"/>
            </a:avLst>
          </a:prstGeom>
          <a:solidFill>
            <a:srgbClr val="F2F6FB"/>
          </a:solidFill>
          <a:ln w="15875">
            <a:solidFill>
              <a:srgbClr val="B26A00"/>
            </a:solidFill>
            <a:prstDash val="solid"/>
          </a:ln>
        </p:spPr>
      </p:sp>
      <p:sp>
        <p:nvSpPr>
          <p:cNvPr id="9" name="Text 7"/>
          <p:cNvSpPr txBox="1"/>
          <p:nvPr/>
        </p:nvSpPr>
        <p:spPr>
          <a:xfrm>
            <a:off x="4572000" y="1965960"/>
            <a:ext cx="3063240" cy="685800"/>
          </a:xfrm>
          <a:prstGeom prst="rect">
            <a:avLst/>
          </a:prstGeom>
          <a:noFill/>
          <a:ln/>
        </p:spPr>
        <p:txBody>
          <a:bodyPr wrap="square" lIns="0" tIns="0" rIns="0" bIns="0" rtlCol="0" anchor="ctr"/>
          <a:lstStyle/>
          <a:p>
            <a:pPr indent="0" marL="0">
              <a:buNone/>
            </a:pPr>
            <a:r>
              <a:rPr lang="en-US" sz="3400" b="1" dirty="0">
                <a:solidFill>
                  <a:srgbClr val="B26A00"/>
                </a:solidFill>
                <a:latin typeface="Calibri" pitchFamily="34" charset="0"/>
                <a:ea typeface="Calibri" pitchFamily="34" charset="-122"/>
                <a:cs typeface="Calibri" pitchFamily="34" charset="-120"/>
              </a:rPr>
              <a:t>25–40%</a:t>
            </a:r>
            <a:endParaRPr lang="en-US" sz="3400" dirty="0"/>
          </a:p>
        </p:txBody>
      </p:sp>
      <p:sp>
        <p:nvSpPr>
          <p:cNvPr id="10" name="Text 8"/>
          <p:cNvSpPr txBox="1"/>
          <p:nvPr/>
        </p:nvSpPr>
        <p:spPr>
          <a:xfrm>
            <a:off x="4572000" y="2670048"/>
            <a:ext cx="3063240" cy="256032"/>
          </a:xfrm>
          <a:prstGeom prst="rect">
            <a:avLst/>
          </a:prstGeom>
          <a:noFill/>
          <a:ln/>
        </p:spPr>
        <p:txBody>
          <a:bodyPr wrap="square" lIns="0" tIns="0" rIns="0" bIns="0" rtlCol="0" anchor="ctr"/>
          <a:lstStyle/>
          <a:p>
            <a:pPr indent="0" marL="0">
              <a:buNone/>
            </a:pPr>
            <a:r>
              <a:rPr lang="en-US" sz="1100" b="1" spc="150" kern="0" dirty="0">
                <a:solidFill>
                  <a:srgbClr val="B26A00"/>
                </a:solidFill>
                <a:latin typeface="Calibri" pitchFamily="34" charset="0"/>
                <a:ea typeface="Calibri" pitchFamily="34" charset="-122"/>
                <a:cs typeface="Calibri" pitchFamily="34" charset="-120"/>
              </a:rPr>
              <a:t>MIXED PICTURE</a:t>
            </a:r>
            <a:endParaRPr lang="en-US" sz="1100" dirty="0"/>
          </a:p>
        </p:txBody>
      </p:sp>
      <p:sp>
        <p:nvSpPr>
          <p:cNvPr id="11" name="Text 9"/>
          <p:cNvSpPr txBox="1"/>
          <p:nvPr/>
        </p:nvSpPr>
        <p:spPr>
          <a:xfrm>
            <a:off x="4572000" y="2971800"/>
            <a:ext cx="3063240" cy="1554480"/>
          </a:xfrm>
          <a:prstGeom prst="rect">
            <a:avLst/>
          </a:prstGeom>
          <a:noFill/>
          <a:ln/>
        </p:spPr>
        <p:txBody>
          <a:bodyPr wrap="square" lIns="0" tIns="0" rIns="0" bIns="0" rtlCol="0" anchor="ctr"/>
          <a:lstStyle/>
          <a:p>
            <a:pPr indent="0" marL="0">
              <a:buNone/>
            </a:pPr>
            <a:r>
              <a:rPr lang="en-US" sz="1150" dirty="0">
                <a:solidFill>
                  <a:srgbClr val="5B6672"/>
                </a:solidFill>
                <a:latin typeface="Calibri" pitchFamily="34" charset="0"/>
                <a:ea typeface="Calibri" pitchFamily="34" charset="-122"/>
                <a:cs typeface="Calibri" pitchFamily="34" charset="-120"/>
              </a:rPr>
              <a:t>Two cohorts in the band → run the top two plays as controlled experiments (treated vs. untreated zones), scale whichever separates churn first. Spend caps until proof.</a:t>
            </a:r>
            <a:endParaRPr lang="en-US" sz="1150" dirty="0"/>
          </a:p>
        </p:txBody>
      </p:sp>
      <p:sp>
        <p:nvSpPr>
          <p:cNvPr id="12" name="Shape 10"/>
          <p:cNvSpPr/>
          <p:nvPr/>
        </p:nvSpPr>
        <p:spPr>
          <a:xfrm>
            <a:off x="8183880" y="1783080"/>
            <a:ext cx="3520440" cy="2834640"/>
          </a:xfrm>
          <a:prstGeom prst="roundRect">
            <a:avLst>
              <a:gd name="adj" fmla="val 2581"/>
            </a:avLst>
          </a:prstGeom>
          <a:solidFill>
            <a:srgbClr val="F2F6FB"/>
          </a:solidFill>
          <a:ln w="15875">
            <a:solidFill>
              <a:srgbClr val="0072CE"/>
            </a:solidFill>
            <a:prstDash val="solid"/>
          </a:ln>
        </p:spPr>
      </p:sp>
      <p:sp>
        <p:nvSpPr>
          <p:cNvPr id="13" name="Text 11"/>
          <p:cNvSpPr txBox="1"/>
          <p:nvPr/>
        </p:nvSpPr>
        <p:spPr>
          <a:xfrm>
            <a:off x="8412480" y="1965960"/>
            <a:ext cx="3063240" cy="685800"/>
          </a:xfrm>
          <a:prstGeom prst="rect">
            <a:avLst/>
          </a:prstGeom>
          <a:noFill/>
          <a:ln/>
        </p:spPr>
        <p:txBody>
          <a:bodyPr wrap="square" lIns="0" tIns="0" rIns="0" bIns="0" rtlCol="0" anchor="ctr"/>
          <a:lstStyle/>
          <a:p>
            <a:pPr indent="0" marL="0">
              <a:buNone/>
            </a:pPr>
            <a:r>
              <a:rPr lang="en-US" sz="3400" b="1" dirty="0">
                <a:solidFill>
                  <a:srgbClr val="0072CE"/>
                </a:solidFill>
                <a:latin typeface="Calibri" pitchFamily="34" charset="0"/>
                <a:ea typeface="Calibri" pitchFamily="34" charset="-122"/>
                <a:cs typeface="Calibri" pitchFamily="34" charset="-120"/>
              </a:rPr>
              <a:t>&lt; 25%</a:t>
            </a:r>
            <a:endParaRPr lang="en-US" sz="3400" dirty="0"/>
          </a:p>
        </p:txBody>
      </p:sp>
      <p:sp>
        <p:nvSpPr>
          <p:cNvPr id="14" name="Text 12"/>
          <p:cNvSpPr txBox="1"/>
          <p:nvPr/>
        </p:nvSpPr>
        <p:spPr>
          <a:xfrm>
            <a:off x="8412480" y="2670048"/>
            <a:ext cx="3063240" cy="256032"/>
          </a:xfrm>
          <a:prstGeom prst="rect">
            <a:avLst/>
          </a:prstGeom>
          <a:noFill/>
          <a:ln/>
        </p:spPr>
        <p:txBody>
          <a:bodyPr wrap="square" lIns="0" tIns="0" rIns="0" bIns="0" rtlCol="0" anchor="ctr"/>
          <a:lstStyle/>
          <a:p>
            <a:pPr indent="0" marL="0">
              <a:buNone/>
            </a:pPr>
            <a:r>
              <a:rPr lang="en-US" sz="1100" b="1" spc="150" kern="0" dirty="0">
                <a:solidFill>
                  <a:srgbClr val="0072CE"/>
                </a:solidFill>
                <a:latin typeface="Calibri" pitchFamily="34" charset="0"/>
                <a:ea typeface="Calibri" pitchFamily="34" charset="-122"/>
                <a:cs typeface="Calibri" pitchFamily="34" charset="-120"/>
              </a:rPr>
              <a:t>NO DOMINANT DRIVER</a:t>
            </a:r>
            <a:endParaRPr lang="en-US" sz="1100" dirty="0"/>
          </a:p>
        </p:txBody>
      </p:sp>
      <p:sp>
        <p:nvSpPr>
          <p:cNvPr id="15" name="Text 13"/>
          <p:cNvSpPr txBox="1"/>
          <p:nvPr/>
        </p:nvSpPr>
        <p:spPr>
          <a:xfrm>
            <a:off x="8412480" y="2971800"/>
            <a:ext cx="3063240" cy="1554480"/>
          </a:xfrm>
          <a:prstGeom prst="rect">
            <a:avLst/>
          </a:prstGeom>
          <a:noFill/>
          <a:ln/>
        </p:spPr>
        <p:txBody>
          <a:bodyPr wrap="square" lIns="0" tIns="0" rIns="0" bIns="0" rtlCol="0" anchor="ctr"/>
          <a:lstStyle/>
          <a:p>
            <a:pPr indent="0" marL="0">
              <a:buNone/>
            </a:pPr>
            <a:r>
              <a:rPr lang="en-US" sz="1150" dirty="0">
                <a:solidFill>
                  <a:srgbClr val="5B6672"/>
                </a:solidFill>
                <a:latin typeface="Calibri" pitchFamily="34" charset="0"/>
                <a:ea typeface="Calibri" pitchFamily="34" charset="-122"/>
                <a:cs typeface="Calibri" pitchFamily="34" charset="-120"/>
              </a:rPr>
              <a:t>Losses diffuse across cohorts → Scenario 6 fires: default to the market layer plus small experimental bets. The playbook produces a recommendation in every world — including the boring one.</a:t>
            </a:r>
            <a:endParaRPr lang="en-US" sz="1150" dirty="0"/>
          </a:p>
        </p:txBody>
      </p:sp>
      <p:sp>
        <p:nvSpPr>
          <p:cNvPr id="16" name="Shape 14"/>
          <p:cNvSpPr/>
          <p:nvPr/>
        </p:nvSpPr>
        <p:spPr>
          <a:xfrm>
            <a:off x="502920" y="4846320"/>
            <a:ext cx="11201400" cy="1143000"/>
          </a:xfrm>
          <a:prstGeom prst="roundRect">
            <a:avLst>
              <a:gd name="adj" fmla="val 6400"/>
            </a:avLst>
          </a:prstGeom>
          <a:solidFill>
            <a:srgbClr val="0B1F3A"/>
          </a:solidFill>
          <a:ln w="12700">
            <a:solidFill>
              <a:srgbClr val="D7E0EA"/>
            </a:solidFill>
            <a:prstDash val="solid"/>
          </a:ln>
        </p:spPr>
      </p:sp>
      <p:sp>
        <p:nvSpPr>
          <p:cNvPr id="17" name="Text 15"/>
          <p:cNvSpPr txBox="1"/>
          <p:nvPr/>
        </p:nvSpPr>
        <p:spPr>
          <a:xfrm>
            <a:off x="777240" y="4956048"/>
            <a:ext cx="10698480" cy="9144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Why stated thresholds:  </a:t>
            </a:r>
            <a:pPr indent="0" marL="0">
              <a:buNone/>
            </a:pPr>
            <a:r>
              <a:rPr lang="en-US" sz="1300" dirty="0">
                <a:solidFill>
                  <a:srgbClr val="DCE9F7"/>
                </a:solidFill>
                <a:latin typeface="Calibri" pitchFamily="34" charset="0"/>
                <a:ea typeface="Calibri" pitchFamily="34" charset="-122"/>
                <a:cs typeface="Calibri" pitchFamily="34" charset="-120"/>
              </a:rPr>
              <a:t>the cut-offs are judgment calls, set in advance and owned. A stated threshold can be defended, revisited, and audited; an unstated one becomes whatever the loudest voice wants after the data lands. Every play also carries its own kill condition — the playbook is falsifiable by design. Full-scale commitment requires two consecutive quarters above threshold; experiments can start on one.</a:t>
            </a:r>
            <a:endParaRPr lang="en-US" sz="1300" dirty="0"/>
          </a:p>
        </p:txBody>
      </p:sp>
      <p:sp>
        <p:nvSpPr>
          <p:cNvPr id="18" name="Text 16"/>
          <p:cNvSpPr txBox="1"/>
          <p:nvPr/>
        </p:nvSpPr>
        <p:spPr>
          <a:xfrm>
            <a:off x="11567160" y="6446520"/>
            <a:ext cx="457200" cy="274320"/>
          </a:xfrm>
          <a:prstGeom prst="rect">
            <a:avLst/>
          </a:prstGeom>
          <a:noFill/>
          <a:ln/>
        </p:spPr>
        <p:txBody>
          <a:bodyPr wrap="square" lIns="0" tIns="0" rIns="0" bIns="0" rtlCol="0" anchor="ctr"/>
          <a:lstStyle/>
          <a:p>
            <a:pPr algn="r" indent="0" marL="0">
              <a:buNone/>
            </a:pPr>
            <a:r>
              <a:rPr lang="en-US" sz="1000" dirty="0">
                <a:solidFill>
                  <a:srgbClr val="8A94A0"/>
                </a:solidFill>
                <a:latin typeface="Calibri" pitchFamily="34" charset="0"/>
                <a:ea typeface="Calibri" pitchFamily="34" charset="-122"/>
                <a:cs typeface="Calibri" pitchFamily="34" charset="-120"/>
              </a:rPr>
              <a:t>12</a:t>
            </a:r>
            <a:endParaRPr lang="en-US" sz="1000" dirty="0"/>
          </a:p>
        </p:txBody>
      </p:sp>
      <p:sp>
        <p:nvSpPr>
          <p:cNvPr id="19" name="Text 17"/>
          <p:cNvSpPr txBox="1"/>
          <p:nvPr/>
        </p:nvSpPr>
        <p:spPr>
          <a:xfrm>
            <a:off x="502920" y="6446520"/>
            <a:ext cx="10881360" cy="274320"/>
          </a:xfrm>
          <a:prstGeom prst="rect">
            <a:avLst/>
          </a:prstGeom>
          <a:noFill/>
          <a:ln/>
        </p:spPr>
        <p:txBody>
          <a:bodyPr wrap="square" lIns="0" tIns="0" rIns="0" bIns="0" rtlCol="0" anchor="ctr"/>
          <a:lstStyle/>
          <a:p>
            <a:pPr indent="0" marL="0">
              <a:buNone/>
            </a:pPr>
            <a:r>
              <a:rPr lang="en-US" sz="900" dirty="0">
                <a:solidFill>
                  <a:srgbClr val="8A94A0"/>
                </a:solidFill>
                <a:latin typeface="Calibri" pitchFamily="34" charset="0"/>
                <a:ea typeface="Calibri" pitchFamily="34" charset="-122"/>
                <a:cs typeface="Calibri" pitchFamily="34" charset="-120"/>
              </a:rPr>
              <a:t>Final Presentation  ·  “Changing the Trajectory”  ·  Charter Communications (CHTR)  ·  Anchored to Q1 2026; Q2 2026 labeled as later public fact where used</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02920" y="292608"/>
            <a:ext cx="10515600" cy="274320"/>
          </a:xfrm>
          <a:prstGeom prst="rect">
            <a:avLst/>
          </a:prstGeom>
          <a:noFill/>
          <a:ln/>
        </p:spPr>
        <p:txBody>
          <a:bodyPr wrap="square" lIns="0" tIns="0" rIns="0" bIns="0" rtlCol="0" anchor="ctr"/>
          <a:lstStyle/>
          <a:p>
            <a:pPr indent="0" marL="0">
              <a:buNone/>
            </a:pPr>
            <a:r>
              <a:rPr lang="en-US" sz="1100" b="1" spc="200" kern="0" dirty="0">
                <a:solidFill>
                  <a:srgbClr val="0072CE"/>
                </a:solidFill>
                <a:latin typeface="Calibri" pitchFamily="34" charset="0"/>
                <a:ea typeface="Calibri" pitchFamily="34" charset="-122"/>
                <a:cs typeface="Calibri" pitchFamily="34" charset="-120"/>
              </a:rPr>
              <a:t>3  ·  RECOMMENDATION 2 — THE PLAYBOOK ON A PAGE</a:t>
            </a:r>
            <a:endParaRPr lang="en-US" sz="1100" dirty="0"/>
          </a:p>
        </p:txBody>
      </p:sp>
      <p:sp>
        <p:nvSpPr>
          <p:cNvPr id="3" name="Text 1"/>
          <p:cNvSpPr txBox="1"/>
          <p:nvPr/>
        </p:nvSpPr>
        <p:spPr>
          <a:xfrm>
            <a:off x="502920" y="566928"/>
            <a:ext cx="11155680" cy="777240"/>
          </a:xfrm>
          <a:prstGeom prst="rect">
            <a:avLst/>
          </a:prstGeom>
          <a:noFill/>
          <a:ln/>
        </p:spPr>
        <p:txBody>
          <a:bodyPr wrap="square" lIns="0" tIns="0" rIns="0" bIns="0" rtlCol="0" anchor="t"/>
          <a:lstStyle/>
          <a:p>
            <a:pPr indent="0" marL="0">
              <a:buNone/>
            </a:pPr>
            <a:r>
              <a:rPr lang="en-US" sz="2400" b="1" dirty="0">
                <a:solidFill>
                  <a:srgbClr val="0B1F3A"/>
                </a:solidFill>
                <a:latin typeface="Calibri" pitchFamily="34" charset="0"/>
                <a:ea typeface="Calibri" pitchFamily="34" charset="-122"/>
                <a:cs typeface="Calibri" pitchFamily="34" charset="-120"/>
              </a:rPr>
              <a:t>Six scenarios, six pre-committed responses, six kill conditions</a:t>
            </a:r>
            <a:endParaRPr lang="en-US" sz="2400" dirty="0"/>
          </a:p>
        </p:txBody>
      </p:sp>
      <p:sp>
        <p:nvSpPr>
          <p:cNvPr id="4" name="Shape 2"/>
          <p:cNvSpPr/>
          <p:nvPr/>
        </p:nvSpPr>
        <p:spPr>
          <a:xfrm>
            <a:off x="502920" y="1691640"/>
            <a:ext cx="11201400" cy="384048"/>
          </a:xfrm>
          <a:prstGeom prst="rect">
            <a:avLst/>
          </a:prstGeom>
          <a:solidFill>
            <a:srgbClr val="0B1F3A"/>
          </a:solidFill>
          <a:ln/>
        </p:spPr>
      </p:sp>
      <p:sp>
        <p:nvSpPr>
          <p:cNvPr id="5" name="Text 3"/>
          <p:cNvSpPr txBox="1"/>
          <p:nvPr/>
        </p:nvSpPr>
        <p:spPr>
          <a:xfrm>
            <a:off x="576072" y="1691640"/>
            <a:ext cx="265176"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6" name="Text 4"/>
          <p:cNvSpPr txBox="1"/>
          <p:nvPr/>
        </p:nvSpPr>
        <p:spPr>
          <a:xfrm>
            <a:off x="987552" y="1691640"/>
            <a:ext cx="2322576"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Trigger (signal)</a:t>
            </a:r>
            <a:endParaRPr lang="en-US" sz="1100" dirty="0"/>
          </a:p>
        </p:txBody>
      </p:sp>
      <p:sp>
        <p:nvSpPr>
          <p:cNvPr id="7" name="Text 5"/>
          <p:cNvSpPr txBox="1"/>
          <p:nvPr/>
        </p:nvSpPr>
        <p:spPr>
          <a:xfrm>
            <a:off x="3456432" y="1691640"/>
            <a:ext cx="3145536"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Lead play</a:t>
            </a:r>
            <a:endParaRPr lang="en-US" sz="1100" dirty="0"/>
          </a:p>
        </p:txBody>
      </p:sp>
      <p:sp>
        <p:nvSpPr>
          <p:cNvPr id="8" name="Text 6"/>
          <p:cNvSpPr txBox="1"/>
          <p:nvPr/>
        </p:nvSpPr>
        <p:spPr>
          <a:xfrm>
            <a:off x="6748272" y="1691640"/>
            <a:ext cx="2368296"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Proof metric</a:t>
            </a:r>
            <a:endParaRPr lang="en-US" sz="1100" dirty="0"/>
          </a:p>
        </p:txBody>
      </p:sp>
      <p:sp>
        <p:nvSpPr>
          <p:cNvPr id="9" name="Text 7"/>
          <p:cNvSpPr txBox="1"/>
          <p:nvPr/>
        </p:nvSpPr>
        <p:spPr>
          <a:xfrm>
            <a:off x="9262872" y="1691640"/>
            <a:ext cx="2368296"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Kill condition</a:t>
            </a:r>
            <a:endParaRPr lang="en-US" sz="1100" dirty="0"/>
          </a:p>
        </p:txBody>
      </p:sp>
      <p:sp>
        <p:nvSpPr>
          <p:cNvPr id="10" name="Shape 8"/>
          <p:cNvSpPr/>
          <p:nvPr/>
        </p:nvSpPr>
        <p:spPr>
          <a:xfrm>
            <a:off x="502920" y="2075688"/>
            <a:ext cx="11201400" cy="621792"/>
          </a:xfrm>
          <a:prstGeom prst="rect">
            <a:avLst/>
          </a:prstGeom>
          <a:solidFill>
            <a:srgbClr val="F2F6FB"/>
          </a:solidFill>
          <a:ln/>
        </p:spPr>
      </p:sp>
      <p:sp>
        <p:nvSpPr>
          <p:cNvPr id="11" name="Text 9"/>
          <p:cNvSpPr txBox="1"/>
          <p:nvPr/>
        </p:nvSpPr>
        <p:spPr>
          <a:xfrm>
            <a:off x="576072" y="2075688"/>
            <a:ext cx="265176" cy="621792"/>
          </a:xfrm>
          <a:prstGeom prst="rect">
            <a:avLst/>
          </a:prstGeom>
          <a:noFill/>
          <a:ln/>
        </p:spPr>
        <p:txBody>
          <a:bodyPr wrap="square" lIns="0" tIns="0" rIns="0" bIns="0" rtlCol="0" anchor="ctr"/>
          <a:lstStyle/>
          <a:p>
            <a:pPr indent="0" marL="0">
              <a:buNone/>
            </a:pPr>
            <a:r>
              <a:rPr lang="en-US" sz="1200" b="1" dirty="0">
                <a:solidFill>
                  <a:srgbClr val="0072CE"/>
                </a:solidFill>
                <a:latin typeface="Calibri" pitchFamily="34" charset="0"/>
                <a:ea typeface="Calibri" pitchFamily="34" charset="-122"/>
                <a:cs typeface="Calibri" pitchFamily="34" charset="-120"/>
              </a:rPr>
              <a:t>1</a:t>
            </a:r>
            <a:endParaRPr lang="en-US" sz="1200" dirty="0"/>
          </a:p>
        </p:txBody>
      </p:sp>
      <p:sp>
        <p:nvSpPr>
          <p:cNvPr id="12" name="Text 10"/>
          <p:cNvSpPr txBox="1"/>
          <p:nvPr/>
        </p:nvSpPr>
        <p:spPr>
          <a:xfrm>
            <a:off x="987552" y="2075688"/>
            <a:ext cx="2322576" cy="621792"/>
          </a:xfrm>
          <a:prstGeom prst="rect">
            <a:avLst/>
          </a:prstGeom>
          <a:noFill/>
          <a:ln/>
        </p:spPr>
        <p:txBody>
          <a:bodyPr wrap="square" lIns="0" tIns="0" rIns="0" bIns="0" rtlCol="0" anchor="ctr"/>
          <a:lstStyle/>
          <a:p>
            <a:pPr indent="0" marL="0">
              <a:buNone/>
            </a:pPr>
            <a:r>
              <a:rPr lang="en-US" sz="950" dirty="0">
                <a:solidFill>
                  <a:srgbClr val="0B1F3A"/>
                </a:solidFill>
                <a:latin typeface="Calibri" pitchFamily="34" charset="0"/>
                <a:ea typeface="Calibri" pitchFamily="34" charset="-122"/>
                <a:cs typeface="Calibri" pitchFamily="34" charset="-120"/>
              </a:rPr>
              <a:t>FWA-covered losses &gt;35–40%; low-tenure, price-cited</a:t>
            </a:r>
            <a:endParaRPr lang="en-US" sz="950" dirty="0"/>
          </a:p>
        </p:txBody>
      </p:sp>
      <p:sp>
        <p:nvSpPr>
          <p:cNvPr id="13" name="Text 11"/>
          <p:cNvSpPr txBox="1"/>
          <p:nvPr/>
        </p:nvSpPr>
        <p:spPr>
          <a:xfrm>
            <a:off x="3456432" y="2075688"/>
            <a:ext cx="3145536" cy="621792"/>
          </a:xfrm>
          <a:prstGeom prst="rect">
            <a:avLst/>
          </a:prstGeom>
          <a:noFill/>
          <a:ln/>
        </p:spPr>
        <p:txBody>
          <a:bodyPr wrap="square" lIns="0" tIns="0" rIns="0" bIns="0" rtlCol="0" anchor="ctr"/>
          <a:lstStyle/>
          <a:p>
            <a:pPr indent="0" marL="0">
              <a:buNone/>
            </a:pPr>
            <a:r>
              <a:rPr lang="en-US" sz="950" dirty="0">
                <a:solidFill>
                  <a:srgbClr val="5B6672"/>
                </a:solidFill>
                <a:latin typeface="Calibri" pitchFamily="34" charset="0"/>
                <a:ea typeface="Calibri" pitchFamily="34" charset="-122"/>
                <a:cs typeface="Calibri" pitchFamily="34" charset="-120"/>
              </a:rPr>
              <a:t>Convergence pricing attack in FWA zones only (gated on MVNO unit economics)</a:t>
            </a:r>
            <a:endParaRPr lang="en-US" sz="950" dirty="0"/>
          </a:p>
        </p:txBody>
      </p:sp>
      <p:sp>
        <p:nvSpPr>
          <p:cNvPr id="14" name="Text 12"/>
          <p:cNvSpPr txBox="1"/>
          <p:nvPr/>
        </p:nvSpPr>
        <p:spPr>
          <a:xfrm>
            <a:off x="6748272" y="2075688"/>
            <a:ext cx="2368296" cy="621792"/>
          </a:xfrm>
          <a:prstGeom prst="rect">
            <a:avLst/>
          </a:prstGeom>
          <a:noFill/>
          <a:ln/>
        </p:spPr>
        <p:txBody>
          <a:bodyPr wrap="square" lIns="0" tIns="0" rIns="0" bIns="0" rtlCol="0" anchor="ctr"/>
          <a:lstStyle/>
          <a:p>
            <a:pPr indent="0" marL="0">
              <a:buNone/>
            </a:pPr>
            <a:r>
              <a:rPr lang="en-US" sz="950" dirty="0">
                <a:solidFill>
                  <a:srgbClr val="1E7A46"/>
                </a:solidFill>
                <a:latin typeface="Calibri" pitchFamily="34" charset="0"/>
                <a:ea typeface="Calibri" pitchFamily="34" charset="-122"/>
                <a:cs typeface="Calibri" pitchFamily="34" charset="-120"/>
              </a:rPr>
              <a:t>Churn delta, treated vs. untreated zones, in 2 qtrs</a:t>
            </a:r>
            <a:endParaRPr lang="en-US" sz="950" dirty="0"/>
          </a:p>
        </p:txBody>
      </p:sp>
      <p:sp>
        <p:nvSpPr>
          <p:cNvPr id="15" name="Text 13"/>
          <p:cNvSpPr txBox="1"/>
          <p:nvPr/>
        </p:nvSpPr>
        <p:spPr>
          <a:xfrm>
            <a:off x="9262872" y="2075688"/>
            <a:ext cx="2368296" cy="621792"/>
          </a:xfrm>
          <a:prstGeom prst="rect">
            <a:avLst/>
          </a:prstGeom>
          <a:noFill/>
          <a:ln/>
        </p:spPr>
        <p:txBody>
          <a:bodyPr wrap="square" lIns="0" tIns="0" rIns="0" bIns="0" rtlCol="0" anchor="ctr"/>
          <a:lstStyle/>
          <a:p>
            <a:pPr indent="0" marL="0">
              <a:buNone/>
            </a:pPr>
            <a:r>
              <a:rPr lang="en-US" sz="950" dirty="0">
                <a:solidFill>
                  <a:srgbClr val="C8102E"/>
                </a:solidFill>
                <a:latin typeface="Calibri" pitchFamily="34" charset="0"/>
                <a:ea typeface="Calibri" pitchFamily="34" charset="-122"/>
                <a:cs typeface="Calibri" pitchFamily="34" charset="-120"/>
              </a:rPr>
              <a:t>No churn separation in 2 qtrs, or negative bundle margin</a:t>
            </a:r>
            <a:endParaRPr lang="en-US" sz="950" dirty="0"/>
          </a:p>
        </p:txBody>
      </p:sp>
      <p:sp>
        <p:nvSpPr>
          <p:cNvPr id="16" name="Text 14"/>
          <p:cNvSpPr txBox="1"/>
          <p:nvPr/>
        </p:nvSpPr>
        <p:spPr>
          <a:xfrm>
            <a:off x="576072" y="2697480"/>
            <a:ext cx="265176" cy="621792"/>
          </a:xfrm>
          <a:prstGeom prst="rect">
            <a:avLst/>
          </a:prstGeom>
          <a:noFill/>
          <a:ln/>
        </p:spPr>
        <p:txBody>
          <a:bodyPr wrap="square" lIns="0" tIns="0" rIns="0" bIns="0" rtlCol="0" anchor="ctr"/>
          <a:lstStyle/>
          <a:p>
            <a:pPr indent="0" marL="0">
              <a:buNone/>
            </a:pPr>
            <a:r>
              <a:rPr lang="en-US" sz="1200" b="1" dirty="0">
                <a:solidFill>
                  <a:srgbClr val="0072CE"/>
                </a:solidFill>
                <a:latin typeface="Calibri" pitchFamily="34" charset="0"/>
                <a:ea typeface="Calibri" pitchFamily="34" charset="-122"/>
                <a:cs typeface="Calibri" pitchFamily="34" charset="-120"/>
              </a:rPr>
              <a:t>2</a:t>
            </a:r>
            <a:endParaRPr lang="en-US" sz="1200" dirty="0"/>
          </a:p>
        </p:txBody>
      </p:sp>
      <p:sp>
        <p:nvSpPr>
          <p:cNvPr id="17" name="Text 15"/>
          <p:cNvSpPr txBox="1"/>
          <p:nvPr/>
        </p:nvSpPr>
        <p:spPr>
          <a:xfrm>
            <a:off x="987552" y="2697480"/>
            <a:ext cx="2322576" cy="621792"/>
          </a:xfrm>
          <a:prstGeom prst="rect">
            <a:avLst/>
          </a:prstGeom>
          <a:noFill/>
          <a:ln/>
        </p:spPr>
        <p:txBody>
          <a:bodyPr wrap="square" lIns="0" tIns="0" rIns="0" bIns="0" rtlCol="0" anchor="ctr"/>
          <a:lstStyle/>
          <a:p>
            <a:pPr indent="0" marL="0">
              <a:buNone/>
            </a:pPr>
            <a:r>
              <a:rPr lang="en-US" sz="950" dirty="0">
                <a:solidFill>
                  <a:srgbClr val="0B1F3A"/>
                </a:solidFill>
                <a:latin typeface="Calibri" pitchFamily="34" charset="0"/>
                <a:ea typeface="Calibri" pitchFamily="34" charset="-122"/>
                <a:cs typeface="Calibri" pitchFamily="34" charset="-120"/>
              </a:rPr>
              <a:t>Fiber-DMA losses dominate; high-ARPU, speed-cited</a:t>
            </a:r>
            <a:endParaRPr lang="en-US" sz="950" dirty="0"/>
          </a:p>
        </p:txBody>
      </p:sp>
      <p:sp>
        <p:nvSpPr>
          <p:cNvPr id="18" name="Text 16"/>
          <p:cNvSpPr txBox="1"/>
          <p:nvPr/>
        </p:nvSpPr>
        <p:spPr>
          <a:xfrm>
            <a:off x="3456432" y="2697480"/>
            <a:ext cx="3145536" cy="621792"/>
          </a:xfrm>
          <a:prstGeom prst="rect">
            <a:avLst/>
          </a:prstGeom>
          <a:noFill/>
          <a:ln/>
        </p:spPr>
        <p:txBody>
          <a:bodyPr wrap="square" lIns="0" tIns="0" rIns="0" bIns="0" rtlCol="0" anchor="ctr"/>
          <a:lstStyle/>
          <a:p>
            <a:pPr indent="0" marL="0">
              <a:buNone/>
            </a:pPr>
            <a:r>
              <a:rPr lang="en-US" sz="950" dirty="0">
                <a:solidFill>
                  <a:srgbClr val="5B6672"/>
                </a:solidFill>
                <a:latin typeface="Calibri" pitchFamily="34" charset="0"/>
                <a:ea typeface="Calibri" pitchFamily="34" charset="-122"/>
                <a:cs typeface="Calibri" pitchFamily="34" charset="-120"/>
              </a:rPr>
              <a:t>Re-sequence DOCSIS 4.0 by competitive exposure; symmetric-speed win-back</a:t>
            </a:r>
            <a:endParaRPr lang="en-US" sz="950" dirty="0"/>
          </a:p>
        </p:txBody>
      </p:sp>
      <p:sp>
        <p:nvSpPr>
          <p:cNvPr id="19" name="Text 17"/>
          <p:cNvSpPr txBox="1"/>
          <p:nvPr/>
        </p:nvSpPr>
        <p:spPr>
          <a:xfrm>
            <a:off x="6748272" y="2697480"/>
            <a:ext cx="2368296" cy="621792"/>
          </a:xfrm>
          <a:prstGeom prst="rect">
            <a:avLst/>
          </a:prstGeom>
          <a:noFill/>
          <a:ln/>
        </p:spPr>
        <p:txBody>
          <a:bodyPr wrap="square" lIns="0" tIns="0" rIns="0" bIns="0" rtlCol="0" anchor="ctr"/>
          <a:lstStyle/>
          <a:p>
            <a:pPr indent="0" marL="0">
              <a:buNone/>
            </a:pPr>
            <a:r>
              <a:rPr lang="en-US" sz="950" dirty="0">
                <a:solidFill>
                  <a:srgbClr val="1E7A46"/>
                </a:solidFill>
                <a:latin typeface="Calibri" pitchFamily="34" charset="0"/>
                <a:ea typeface="Calibri" pitchFamily="34" charset="-122"/>
                <a:cs typeface="Calibri" pitchFamily="34" charset="-120"/>
              </a:rPr>
              <a:t>Churn in evolution-complete vs. incomplete overbuilt zones</a:t>
            </a:r>
            <a:endParaRPr lang="en-US" sz="950" dirty="0"/>
          </a:p>
        </p:txBody>
      </p:sp>
      <p:sp>
        <p:nvSpPr>
          <p:cNvPr id="20" name="Text 18"/>
          <p:cNvSpPr txBox="1"/>
          <p:nvPr/>
        </p:nvSpPr>
        <p:spPr>
          <a:xfrm>
            <a:off x="9262872" y="2697480"/>
            <a:ext cx="2368296" cy="621792"/>
          </a:xfrm>
          <a:prstGeom prst="rect">
            <a:avLst/>
          </a:prstGeom>
          <a:noFill/>
          <a:ln/>
        </p:spPr>
        <p:txBody>
          <a:bodyPr wrap="square" lIns="0" tIns="0" rIns="0" bIns="0" rtlCol="0" anchor="ctr"/>
          <a:lstStyle/>
          <a:p>
            <a:pPr indent="0" marL="0">
              <a:buNone/>
            </a:pPr>
            <a:r>
              <a:rPr lang="en-US" sz="950" dirty="0">
                <a:solidFill>
                  <a:srgbClr val="C8102E"/>
                </a:solidFill>
                <a:latin typeface="Calibri" pitchFamily="34" charset="0"/>
                <a:ea typeface="Calibri" pitchFamily="34" charset="-122"/>
                <a:cs typeface="Calibri" pitchFamily="34" charset="-120"/>
              </a:rPr>
              <a:t>Completed zones bleed at the same rate (product isn’t the problem)</a:t>
            </a:r>
            <a:endParaRPr lang="en-US" sz="950" dirty="0"/>
          </a:p>
        </p:txBody>
      </p:sp>
      <p:sp>
        <p:nvSpPr>
          <p:cNvPr id="21" name="Shape 19"/>
          <p:cNvSpPr/>
          <p:nvPr/>
        </p:nvSpPr>
        <p:spPr>
          <a:xfrm>
            <a:off x="502920" y="3319272"/>
            <a:ext cx="11201400" cy="621792"/>
          </a:xfrm>
          <a:prstGeom prst="rect">
            <a:avLst/>
          </a:prstGeom>
          <a:solidFill>
            <a:srgbClr val="F2F6FB"/>
          </a:solidFill>
          <a:ln/>
        </p:spPr>
      </p:sp>
      <p:sp>
        <p:nvSpPr>
          <p:cNvPr id="22" name="Text 20"/>
          <p:cNvSpPr txBox="1"/>
          <p:nvPr/>
        </p:nvSpPr>
        <p:spPr>
          <a:xfrm>
            <a:off x="576072" y="3319272"/>
            <a:ext cx="265176" cy="621792"/>
          </a:xfrm>
          <a:prstGeom prst="rect">
            <a:avLst/>
          </a:prstGeom>
          <a:noFill/>
          <a:ln/>
        </p:spPr>
        <p:txBody>
          <a:bodyPr wrap="square" lIns="0" tIns="0" rIns="0" bIns="0" rtlCol="0" anchor="ctr"/>
          <a:lstStyle/>
          <a:p>
            <a:pPr indent="0" marL="0">
              <a:buNone/>
            </a:pPr>
            <a:r>
              <a:rPr lang="en-US" sz="1200" b="1" dirty="0">
                <a:solidFill>
                  <a:srgbClr val="0072CE"/>
                </a:solidFill>
                <a:latin typeface="Calibri" pitchFamily="34" charset="0"/>
                <a:ea typeface="Calibri" pitchFamily="34" charset="-122"/>
                <a:cs typeface="Calibri" pitchFamily="34" charset="-120"/>
              </a:rPr>
              <a:t>3</a:t>
            </a:r>
            <a:endParaRPr lang="en-US" sz="1200" dirty="0"/>
          </a:p>
        </p:txBody>
      </p:sp>
      <p:sp>
        <p:nvSpPr>
          <p:cNvPr id="23" name="Text 21"/>
          <p:cNvSpPr txBox="1"/>
          <p:nvPr/>
        </p:nvSpPr>
        <p:spPr>
          <a:xfrm>
            <a:off x="987552" y="3319272"/>
            <a:ext cx="2322576" cy="621792"/>
          </a:xfrm>
          <a:prstGeom prst="rect">
            <a:avLst/>
          </a:prstGeom>
          <a:noFill/>
          <a:ln/>
        </p:spPr>
        <p:txBody>
          <a:bodyPr wrap="square" lIns="0" tIns="0" rIns="0" bIns="0" rtlCol="0" anchor="ctr"/>
          <a:lstStyle/>
          <a:p>
            <a:pPr indent="0" marL="0">
              <a:buNone/>
            </a:pPr>
            <a:r>
              <a:rPr lang="en-US" sz="950" dirty="0">
                <a:solidFill>
                  <a:srgbClr val="0B1F3A"/>
                </a:solidFill>
                <a:latin typeface="Calibri" pitchFamily="34" charset="0"/>
                <a:ea typeface="Calibri" pitchFamily="34" charset="-122"/>
                <a:cs typeface="Calibri" pitchFamily="34" charset="-120"/>
              </a:rPr>
              <a:t>Losses in satellite-only low-density blocks</a:t>
            </a:r>
            <a:endParaRPr lang="en-US" sz="950" dirty="0"/>
          </a:p>
        </p:txBody>
      </p:sp>
      <p:sp>
        <p:nvSpPr>
          <p:cNvPr id="24" name="Text 22"/>
          <p:cNvSpPr txBox="1"/>
          <p:nvPr/>
        </p:nvSpPr>
        <p:spPr>
          <a:xfrm>
            <a:off x="3456432" y="3319272"/>
            <a:ext cx="3145536" cy="621792"/>
          </a:xfrm>
          <a:prstGeom prst="rect">
            <a:avLst/>
          </a:prstGeom>
          <a:noFill/>
          <a:ln/>
        </p:spPr>
        <p:txBody>
          <a:bodyPr wrap="square" lIns="0" tIns="0" rIns="0" bIns="0" rtlCol="0" anchor="ctr"/>
          <a:lstStyle/>
          <a:p>
            <a:pPr indent="0" marL="0">
              <a:buNone/>
            </a:pPr>
            <a:r>
              <a:rPr lang="en-US" sz="950" dirty="0">
                <a:solidFill>
                  <a:srgbClr val="5B6672"/>
                </a:solidFill>
                <a:latin typeface="Calibri" pitchFamily="34" charset="0"/>
                <a:ea typeface="Calibri" pitchFamily="34" charset="-122"/>
                <a:cs typeface="Calibri" pitchFamily="34" charset="-120"/>
              </a:rPr>
              <a:t>Accelerate rural build activation ahead of Starlink / Kuiper</a:t>
            </a:r>
            <a:endParaRPr lang="en-US" sz="950" dirty="0"/>
          </a:p>
        </p:txBody>
      </p:sp>
      <p:sp>
        <p:nvSpPr>
          <p:cNvPr id="25" name="Text 23"/>
          <p:cNvSpPr txBox="1"/>
          <p:nvPr/>
        </p:nvSpPr>
        <p:spPr>
          <a:xfrm>
            <a:off x="6748272" y="3319272"/>
            <a:ext cx="2368296" cy="621792"/>
          </a:xfrm>
          <a:prstGeom prst="rect">
            <a:avLst/>
          </a:prstGeom>
          <a:noFill/>
          <a:ln/>
        </p:spPr>
        <p:txBody>
          <a:bodyPr wrap="square" lIns="0" tIns="0" rIns="0" bIns="0" rtlCol="0" anchor="ctr"/>
          <a:lstStyle/>
          <a:p>
            <a:pPr indent="0" marL="0">
              <a:buNone/>
            </a:pPr>
            <a:r>
              <a:rPr lang="en-US" sz="950" dirty="0">
                <a:solidFill>
                  <a:srgbClr val="1E7A46"/>
                </a:solidFill>
                <a:latin typeface="Calibri" pitchFamily="34" charset="0"/>
                <a:ea typeface="Calibri" pitchFamily="34" charset="-122"/>
                <a:cs typeface="Calibri" pitchFamily="34" charset="-120"/>
              </a:rPr>
              <a:t>Penetration on new passings vs. vintage cohorts</a:t>
            </a:r>
            <a:endParaRPr lang="en-US" sz="950" dirty="0"/>
          </a:p>
        </p:txBody>
      </p:sp>
      <p:sp>
        <p:nvSpPr>
          <p:cNvPr id="26" name="Text 24"/>
          <p:cNvSpPr txBox="1"/>
          <p:nvPr/>
        </p:nvSpPr>
        <p:spPr>
          <a:xfrm>
            <a:off x="9262872" y="3319272"/>
            <a:ext cx="2368296" cy="621792"/>
          </a:xfrm>
          <a:prstGeom prst="rect">
            <a:avLst/>
          </a:prstGeom>
          <a:noFill/>
          <a:ln/>
        </p:spPr>
        <p:txBody>
          <a:bodyPr wrap="square" lIns="0" tIns="0" rIns="0" bIns="0" rtlCol="0" anchor="ctr"/>
          <a:lstStyle/>
          <a:p>
            <a:pPr indent="0" marL="0">
              <a:buNone/>
            </a:pPr>
            <a:r>
              <a:rPr lang="en-US" sz="950" dirty="0">
                <a:solidFill>
                  <a:srgbClr val="C8102E"/>
                </a:solidFill>
                <a:latin typeface="Calibri" pitchFamily="34" charset="0"/>
                <a:ea typeface="Calibri" pitchFamily="34" charset="-122"/>
                <a:cs typeface="Calibri" pitchFamily="34" charset="-120"/>
              </a:rPr>
              <a:t>New-passing penetration below underwriting curve</a:t>
            </a:r>
            <a:endParaRPr lang="en-US" sz="950" dirty="0"/>
          </a:p>
        </p:txBody>
      </p:sp>
      <p:sp>
        <p:nvSpPr>
          <p:cNvPr id="27" name="Text 25"/>
          <p:cNvSpPr txBox="1"/>
          <p:nvPr/>
        </p:nvSpPr>
        <p:spPr>
          <a:xfrm>
            <a:off x="576072" y="3941064"/>
            <a:ext cx="265176" cy="621792"/>
          </a:xfrm>
          <a:prstGeom prst="rect">
            <a:avLst/>
          </a:prstGeom>
          <a:noFill/>
          <a:ln/>
        </p:spPr>
        <p:txBody>
          <a:bodyPr wrap="square" lIns="0" tIns="0" rIns="0" bIns="0" rtlCol="0" anchor="ctr"/>
          <a:lstStyle/>
          <a:p>
            <a:pPr indent="0" marL="0">
              <a:buNone/>
            </a:pPr>
            <a:r>
              <a:rPr lang="en-US" sz="1200" b="1" dirty="0">
                <a:solidFill>
                  <a:srgbClr val="0072CE"/>
                </a:solidFill>
                <a:latin typeface="Calibri" pitchFamily="34" charset="0"/>
                <a:ea typeface="Calibri" pitchFamily="34" charset="-122"/>
                <a:cs typeface="Calibri" pitchFamily="34" charset="-120"/>
              </a:rPr>
              <a:t>4</a:t>
            </a:r>
            <a:endParaRPr lang="en-US" sz="1200" dirty="0"/>
          </a:p>
        </p:txBody>
      </p:sp>
      <p:sp>
        <p:nvSpPr>
          <p:cNvPr id="28" name="Text 26"/>
          <p:cNvSpPr txBox="1"/>
          <p:nvPr/>
        </p:nvSpPr>
        <p:spPr>
          <a:xfrm>
            <a:off x="987552" y="3941064"/>
            <a:ext cx="2322576" cy="621792"/>
          </a:xfrm>
          <a:prstGeom prst="rect">
            <a:avLst/>
          </a:prstGeom>
          <a:noFill/>
          <a:ln/>
        </p:spPr>
        <p:txBody>
          <a:bodyPr wrap="square" lIns="0" tIns="0" rIns="0" bIns="0" rtlCol="0" anchor="ctr"/>
          <a:lstStyle/>
          <a:p>
            <a:pPr indent="0" marL="0">
              <a:buNone/>
            </a:pPr>
            <a:r>
              <a:rPr lang="en-US" sz="950" dirty="0">
                <a:solidFill>
                  <a:srgbClr val="0B1F3A"/>
                </a:solidFill>
                <a:latin typeface="Calibri" pitchFamily="34" charset="0"/>
                <a:ea typeface="Calibri" pitchFamily="34" charset="-122"/>
                <a:cs typeface="Calibri" pitchFamily="34" charset="-120"/>
              </a:rPr>
              <a:t>Gross adds down, competitor churn flat; move-out clustered</a:t>
            </a:r>
            <a:endParaRPr lang="en-US" sz="950" dirty="0"/>
          </a:p>
        </p:txBody>
      </p:sp>
      <p:sp>
        <p:nvSpPr>
          <p:cNvPr id="29" name="Text 27"/>
          <p:cNvSpPr txBox="1"/>
          <p:nvPr/>
        </p:nvSpPr>
        <p:spPr>
          <a:xfrm>
            <a:off x="3456432" y="3941064"/>
            <a:ext cx="3145536" cy="621792"/>
          </a:xfrm>
          <a:prstGeom prst="rect">
            <a:avLst/>
          </a:prstGeom>
          <a:noFill/>
          <a:ln/>
        </p:spPr>
        <p:txBody>
          <a:bodyPr wrap="square" lIns="0" tIns="0" rIns="0" bIns="0" rtlCol="0" anchor="ctr"/>
          <a:lstStyle/>
          <a:p>
            <a:pPr indent="0" marL="0">
              <a:buNone/>
            </a:pPr>
            <a:r>
              <a:rPr lang="en-US" sz="950" dirty="0">
                <a:solidFill>
                  <a:srgbClr val="5B6672"/>
                </a:solidFill>
                <a:latin typeface="Calibri" pitchFamily="34" charset="0"/>
                <a:ea typeface="Calibri" pitchFamily="34" charset="-122"/>
                <a:cs typeface="Calibri" pitchFamily="34" charset="-120"/>
              </a:rPr>
              <a:t>Mover capture: builder / MDU partnerships, instant-on install; cohort disclosure</a:t>
            </a:r>
            <a:endParaRPr lang="en-US" sz="950" dirty="0"/>
          </a:p>
        </p:txBody>
      </p:sp>
      <p:sp>
        <p:nvSpPr>
          <p:cNvPr id="30" name="Text 28"/>
          <p:cNvSpPr txBox="1"/>
          <p:nvPr/>
        </p:nvSpPr>
        <p:spPr>
          <a:xfrm>
            <a:off x="6748272" y="3941064"/>
            <a:ext cx="2368296" cy="621792"/>
          </a:xfrm>
          <a:prstGeom prst="rect">
            <a:avLst/>
          </a:prstGeom>
          <a:noFill/>
          <a:ln/>
        </p:spPr>
        <p:txBody>
          <a:bodyPr wrap="square" lIns="0" tIns="0" rIns="0" bIns="0" rtlCol="0" anchor="ctr"/>
          <a:lstStyle/>
          <a:p>
            <a:pPr indent="0" marL="0">
              <a:buNone/>
            </a:pPr>
            <a:r>
              <a:rPr lang="en-US" sz="950" dirty="0">
                <a:solidFill>
                  <a:srgbClr val="1E7A46"/>
                </a:solidFill>
                <a:latin typeface="Calibri" pitchFamily="34" charset="0"/>
                <a:ea typeface="Calibri" pitchFamily="34" charset="-122"/>
                <a:cs typeface="Calibri" pitchFamily="34" charset="-120"/>
              </a:rPr>
              <a:t>Connect share of new move-ins in footprint</a:t>
            </a:r>
            <a:endParaRPr lang="en-US" sz="950" dirty="0"/>
          </a:p>
        </p:txBody>
      </p:sp>
      <p:sp>
        <p:nvSpPr>
          <p:cNvPr id="31" name="Text 29"/>
          <p:cNvSpPr txBox="1"/>
          <p:nvPr/>
        </p:nvSpPr>
        <p:spPr>
          <a:xfrm>
            <a:off x="9262872" y="3941064"/>
            <a:ext cx="2368296" cy="621792"/>
          </a:xfrm>
          <a:prstGeom prst="rect">
            <a:avLst/>
          </a:prstGeom>
          <a:noFill/>
          <a:ln/>
        </p:spPr>
        <p:txBody>
          <a:bodyPr wrap="square" lIns="0" tIns="0" rIns="0" bIns="0" rtlCol="0" anchor="ctr"/>
          <a:lstStyle/>
          <a:p>
            <a:pPr indent="0" marL="0">
              <a:buNone/>
            </a:pPr>
            <a:r>
              <a:rPr lang="en-US" sz="950" dirty="0">
                <a:solidFill>
                  <a:srgbClr val="C8102E"/>
                </a:solidFill>
                <a:latin typeface="Calibri" pitchFamily="34" charset="0"/>
                <a:ea typeface="Calibri" pitchFamily="34" charset="-122"/>
                <a:cs typeface="Calibri" pitchFamily="34" charset="-120"/>
              </a:rPr>
              <a:t>Port-out data contradicts the macro story</a:t>
            </a:r>
            <a:endParaRPr lang="en-US" sz="950" dirty="0"/>
          </a:p>
        </p:txBody>
      </p:sp>
      <p:sp>
        <p:nvSpPr>
          <p:cNvPr id="32" name="Shape 30"/>
          <p:cNvSpPr/>
          <p:nvPr/>
        </p:nvSpPr>
        <p:spPr>
          <a:xfrm>
            <a:off x="502920" y="4562856"/>
            <a:ext cx="11201400" cy="621792"/>
          </a:xfrm>
          <a:prstGeom prst="rect">
            <a:avLst/>
          </a:prstGeom>
          <a:solidFill>
            <a:srgbClr val="F2F6FB"/>
          </a:solidFill>
          <a:ln/>
        </p:spPr>
      </p:sp>
      <p:sp>
        <p:nvSpPr>
          <p:cNvPr id="33" name="Text 31"/>
          <p:cNvSpPr txBox="1"/>
          <p:nvPr/>
        </p:nvSpPr>
        <p:spPr>
          <a:xfrm>
            <a:off x="576072" y="4562856"/>
            <a:ext cx="265176" cy="621792"/>
          </a:xfrm>
          <a:prstGeom prst="rect">
            <a:avLst/>
          </a:prstGeom>
          <a:noFill/>
          <a:ln/>
        </p:spPr>
        <p:txBody>
          <a:bodyPr wrap="square" lIns="0" tIns="0" rIns="0" bIns="0" rtlCol="0" anchor="ctr"/>
          <a:lstStyle/>
          <a:p>
            <a:pPr indent="0" marL="0">
              <a:buNone/>
            </a:pPr>
            <a:r>
              <a:rPr lang="en-US" sz="1200" b="1" dirty="0">
                <a:solidFill>
                  <a:srgbClr val="0072CE"/>
                </a:solidFill>
                <a:latin typeface="Calibri" pitchFamily="34" charset="0"/>
                <a:ea typeface="Calibri" pitchFamily="34" charset="-122"/>
                <a:cs typeface="Calibri" pitchFamily="34" charset="-120"/>
              </a:rPr>
              <a:t>5</a:t>
            </a:r>
            <a:endParaRPr lang="en-US" sz="1200" dirty="0"/>
          </a:p>
        </p:txBody>
      </p:sp>
      <p:sp>
        <p:nvSpPr>
          <p:cNvPr id="34" name="Text 32"/>
          <p:cNvSpPr txBox="1"/>
          <p:nvPr/>
        </p:nvSpPr>
        <p:spPr>
          <a:xfrm>
            <a:off x="987552" y="4562856"/>
            <a:ext cx="2322576" cy="621792"/>
          </a:xfrm>
          <a:prstGeom prst="rect">
            <a:avLst/>
          </a:prstGeom>
          <a:noFill/>
          <a:ln/>
        </p:spPr>
        <p:txBody>
          <a:bodyPr wrap="square" lIns="0" tIns="0" rIns="0" bIns="0" rtlCol="0" anchor="ctr"/>
          <a:lstStyle/>
          <a:p>
            <a:pPr indent="0" marL="0">
              <a:buNone/>
            </a:pPr>
            <a:r>
              <a:rPr lang="en-US" sz="950" dirty="0">
                <a:solidFill>
                  <a:srgbClr val="0B1F3A"/>
                </a:solidFill>
                <a:latin typeface="Calibri" pitchFamily="34" charset="0"/>
                <a:ea typeface="Calibri" pitchFamily="34" charset="-122"/>
                <a:cs typeface="Calibri" pitchFamily="34" charset="-120"/>
              </a:rPr>
              <a:t>Non-pay / downgrade skew; ACP-echo demographics</a:t>
            </a:r>
            <a:endParaRPr lang="en-US" sz="950" dirty="0"/>
          </a:p>
        </p:txBody>
      </p:sp>
      <p:sp>
        <p:nvSpPr>
          <p:cNvPr id="35" name="Text 33"/>
          <p:cNvSpPr txBox="1"/>
          <p:nvPr/>
        </p:nvSpPr>
        <p:spPr>
          <a:xfrm>
            <a:off x="3456432" y="4562856"/>
            <a:ext cx="3145536" cy="621792"/>
          </a:xfrm>
          <a:prstGeom prst="rect">
            <a:avLst/>
          </a:prstGeom>
          <a:noFill/>
          <a:ln/>
        </p:spPr>
        <p:txBody>
          <a:bodyPr wrap="square" lIns="0" tIns="0" rIns="0" bIns="0" rtlCol="0" anchor="ctr"/>
          <a:lstStyle/>
          <a:p>
            <a:pPr indent="0" marL="0">
              <a:buNone/>
            </a:pPr>
            <a:r>
              <a:rPr lang="en-US" sz="950" dirty="0">
                <a:solidFill>
                  <a:srgbClr val="5B6672"/>
                </a:solidFill>
                <a:latin typeface="Calibri" pitchFamily="34" charset="0"/>
                <a:ea typeface="Calibri" pitchFamily="34" charset="-122"/>
                <a:cs typeface="Calibri" pitchFamily="34" charset="-120"/>
              </a:rPr>
              <a:t>Retention-priced value tier with credit-friendly terms at delinquency</a:t>
            </a:r>
            <a:endParaRPr lang="en-US" sz="950" dirty="0"/>
          </a:p>
        </p:txBody>
      </p:sp>
      <p:sp>
        <p:nvSpPr>
          <p:cNvPr id="36" name="Text 34"/>
          <p:cNvSpPr txBox="1"/>
          <p:nvPr/>
        </p:nvSpPr>
        <p:spPr>
          <a:xfrm>
            <a:off x="6748272" y="4562856"/>
            <a:ext cx="2368296" cy="621792"/>
          </a:xfrm>
          <a:prstGeom prst="rect">
            <a:avLst/>
          </a:prstGeom>
          <a:noFill/>
          <a:ln/>
        </p:spPr>
        <p:txBody>
          <a:bodyPr wrap="square" lIns="0" tIns="0" rIns="0" bIns="0" rtlCol="0" anchor="ctr"/>
          <a:lstStyle/>
          <a:p>
            <a:pPr indent="0" marL="0">
              <a:buNone/>
            </a:pPr>
            <a:r>
              <a:rPr lang="en-US" sz="950" dirty="0">
                <a:solidFill>
                  <a:srgbClr val="1E7A46"/>
                </a:solidFill>
                <a:latin typeface="Calibri" pitchFamily="34" charset="0"/>
                <a:ea typeface="Calibri" pitchFamily="34" charset="-122"/>
                <a:cs typeface="Calibri" pitchFamily="34" charset="-120"/>
              </a:rPr>
              <a:t>Save-rate vs. control; 6-month survival</a:t>
            </a:r>
            <a:endParaRPr lang="en-US" sz="950" dirty="0"/>
          </a:p>
        </p:txBody>
      </p:sp>
      <p:sp>
        <p:nvSpPr>
          <p:cNvPr id="37" name="Text 35"/>
          <p:cNvSpPr txBox="1"/>
          <p:nvPr/>
        </p:nvSpPr>
        <p:spPr>
          <a:xfrm>
            <a:off x="9262872" y="4562856"/>
            <a:ext cx="2368296" cy="621792"/>
          </a:xfrm>
          <a:prstGeom prst="rect">
            <a:avLst/>
          </a:prstGeom>
          <a:noFill/>
          <a:ln/>
        </p:spPr>
        <p:txBody>
          <a:bodyPr wrap="square" lIns="0" tIns="0" rIns="0" bIns="0" rtlCol="0" anchor="ctr"/>
          <a:lstStyle/>
          <a:p>
            <a:pPr indent="0" marL="0">
              <a:buNone/>
            </a:pPr>
            <a:r>
              <a:rPr lang="en-US" sz="950" dirty="0">
                <a:solidFill>
                  <a:srgbClr val="C8102E"/>
                </a:solidFill>
                <a:latin typeface="Calibri" pitchFamily="34" charset="0"/>
                <a:ea typeface="Calibri" pitchFamily="34" charset="-122"/>
                <a:cs typeface="Calibri" pitchFamily="34" charset="-120"/>
              </a:rPr>
              <a:t>Save-rate economics below LTV threshold</a:t>
            </a:r>
            <a:endParaRPr lang="en-US" sz="950" dirty="0"/>
          </a:p>
        </p:txBody>
      </p:sp>
      <p:sp>
        <p:nvSpPr>
          <p:cNvPr id="38" name="Text 36"/>
          <p:cNvSpPr txBox="1"/>
          <p:nvPr/>
        </p:nvSpPr>
        <p:spPr>
          <a:xfrm>
            <a:off x="576072" y="5184648"/>
            <a:ext cx="265176" cy="621792"/>
          </a:xfrm>
          <a:prstGeom prst="rect">
            <a:avLst/>
          </a:prstGeom>
          <a:noFill/>
          <a:ln/>
        </p:spPr>
        <p:txBody>
          <a:bodyPr wrap="square" lIns="0" tIns="0" rIns="0" bIns="0" rtlCol="0" anchor="ctr"/>
          <a:lstStyle/>
          <a:p>
            <a:pPr indent="0" marL="0">
              <a:buNone/>
            </a:pPr>
            <a:r>
              <a:rPr lang="en-US" sz="1200" b="1" dirty="0">
                <a:solidFill>
                  <a:srgbClr val="0072CE"/>
                </a:solidFill>
                <a:latin typeface="Calibri" pitchFamily="34" charset="0"/>
                <a:ea typeface="Calibri" pitchFamily="34" charset="-122"/>
                <a:cs typeface="Calibri" pitchFamily="34" charset="-120"/>
              </a:rPr>
              <a:t>6</a:t>
            </a:r>
            <a:endParaRPr lang="en-US" sz="1200" dirty="0"/>
          </a:p>
        </p:txBody>
      </p:sp>
      <p:sp>
        <p:nvSpPr>
          <p:cNvPr id="39" name="Text 37"/>
          <p:cNvSpPr txBox="1"/>
          <p:nvPr/>
        </p:nvSpPr>
        <p:spPr>
          <a:xfrm>
            <a:off x="987552" y="5184648"/>
            <a:ext cx="2322576" cy="621792"/>
          </a:xfrm>
          <a:prstGeom prst="rect">
            <a:avLst/>
          </a:prstGeom>
          <a:noFill/>
          <a:ln/>
        </p:spPr>
        <p:txBody>
          <a:bodyPr wrap="square" lIns="0" tIns="0" rIns="0" bIns="0" rtlCol="0" anchor="ctr"/>
          <a:lstStyle/>
          <a:p>
            <a:pPr indent="0" marL="0">
              <a:buNone/>
            </a:pPr>
            <a:r>
              <a:rPr lang="en-US" sz="950" dirty="0">
                <a:solidFill>
                  <a:srgbClr val="0B1F3A"/>
                </a:solidFill>
                <a:latin typeface="Calibri" pitchFamily="34" charset="0"/>
                <a:ea typeface="Calibri" pitchFamily="34" charset="-122"/>
                <a:cs typeface="Calibri" pitchFamily="34" charset="-120"/>
              </a:rPr>
              <a:t>No cohort &gt;25–30% — diffuse losses</a:t>
            </a:r>
            <a:endParaRPr lang="en-US" sz="950" dirty="0"/>
          </a:p>
        </p:txBody>
      </p:sp>
      <p:sp>
        <p:nvSpPr>
          <p:cNvPr id="40" name="Text 38"/>
          <p:cNvSpPr txBox="1"/>
          <p:nvPr/>
        </p:nvSpPr>
        <p:spPr>
          <a:xfrm>
            <a:off x="3456432" y="5184648"/>
            <a:ext cx="3145536" cy="621792"/>
          </a:xfrm>
          <a:prstGeom prst="rect">
            <a:avLst/>
          </a:prstGeom>
          <a:noFill/>
          <a:ln/>
        </p:spPr>
        <p:txBody>
          <a:bodyPr wrap="square" lIns="0" tIns="0" rIns="0" bIns="0" rtlCol="0" anchor="ctr"/>
          <a:lstStyle/>
          <a:p>
            <a:pPr indent="0" marL="0">
              <a:buNone/>
            </a:pPr>
            <a:r>
              <a:rPr lang="en-US" sz="950" dirty="0">
                <a:solidFill>
                  <a:srgbClr val="5B6672"/>
                </a:solidFill>
                <a:latin typeface="Calibri" pitchFamily="34" charset="0"/>
                <a:ea typeface="Calibri" pitchFamily="34" charset="-122"/>
                <a:cs typeface="Calibri" pitchFamily="34" charset="-120"/>
              </a:rPr>
              <a:t>Default to the market layer (Rec 3) plus spend-capped experiments from 1–3</a:t>
            </a:r>
            <a:endParaRPr lang="en-US" sz="950" dirty="0"/>
          </a:p>
        </p:txBody>
      </p:sp>
      <p:sp>
        <p:nvSpPr>
          <p:cNvPr id="41" name="Text 39"/>
          <p:cNvSpPr txBox="1"/>
          <p:nvPr/>
        </p:nvSpPr>
        <p:spPr>
          <a:xfrm>
            <a:off x="6748272" y="5184648"/>
            <a:ext cx="2368296" cy="621792"/>
          </a:xfrm>
          <a:prstGeom prst="rect">
            <a:avLst/>
          </a:prstGeom>
          <a:noFill/>
          <a:ln/>
        </p:spPr>
        <p:txBody>
          <a:bodyPr wrap="square" lIns="0" tIns="0" rIns="0" bIns="0" rtlCol="0" anchor="ctr"/>
          <a:lstStyle/>
          <a:p>
            <a:pPr indent="0" marL="0">
              <a:buNone/>
            </a:pPr>
            <a:r>
              <a:rPr lang="en-US" sz="950" dirty="0">
                <a:solidFill>
                  <a:srgbClr val="1E7A46"/>
                </a:solidFill>
                <a:latin typeface="Calibri" pitchFamily="34" charset="0"/>
                <a:ea typeface="Calibri" pitchFamily="34" charset="-122"/>
                <a:cs typeface="Calibri" pitchFamily="34" charset="-120"/>
              </a:rPr>
              <a:t>Multiple response to disclosure; experiment read-outs</a:t>
            </a:r>
            <a:endParaRPr lang="en-US" sz="950" dirty="0"/>
          </a:p>
        </p:txBody>
      </p:sp>
      <p:sp>
        <p:nvSpPr>
          <p:cNvPr id="42" name="Text 40"/>
          <p:cNvSpPr txBox="1"/>
          <p:nvPr/>
        </p:nvSpPr>
        <p:spPr>
          <a:xfrm>
            <a:off x="9262872" y="5184648"/>
            <a:ext cx="2368296" cy="621792"/>
          </a:xfrm>
          <a:prstGeom prst="rect">
            <a:avLst/>
          </a:prstGeom>
          <a:noFill/>
          <a:ln/>
        </p:spPr>
        <p:txBody>
          <a:bodyPr wrap="square" lIns="0" tIns="0" rIns="0" bIns="0" rtlCol="0" anchor="ctr"/>
          <a:lstStyle/>
          <a:p>
            <a:pPr indent="0" marL="0">
              <a:buNone/>
            </a:pPr>
            <a:r>
              <a:rPr lang="en-US" sz="950" dirty="0">
                <a:solidFill>
                  <a:srgbClr val="C8102E"/>
                </a:solidFill>
                <a:latin typeface="Calibri" pitchFamily="34" charset="0"/>
                <a:ea typeface="Calibri" pitchFamily="34" charset="-122"/>
                <a:cs typeface="Calibri" pitchFamily="34" charset="-120"/>
              </a:rPr>
              <a:t>A later read crosses a threshold → that scenario fires</a:t>
            </a:r>
            <a:endParaRPr lang="en-US" sz="950" dirty="0"/>
          </a:p>
        </p:txBody>
      </p:sp>
      <p:sp>
        <p:nvSpPr>
          <p:cNvPr id="43" name="Text 41"/>
          <p:cNvSpPr txBox="1"/>
          <p:nvPr/>
        </p:nvSpPr>
        <p:spPr>
          <a:xfrm>
            <a:off x="502920" y="5870448"/>
            <a:ext cx="11201400" cy="411480"/>
          </a:xfrm>
          <a:prstGeom prst="rect">
            <a:avLst/>
          </a:prstGeom>
          <a:noFill/>
          <a:ln/>
        </p:spPr>
        <p:txBody>
          <a:bodyPr wrap="square" lIns="0" tIns="0" rIns="0" bIns="0" rtlCol="0" anchor="ctr"/>
          <a:lstStyle/>
          <a:p>
            <a:pPr indent="0" marL="0">
              <a:buNone/>
            </a:pPr>
            <a:r>
              <a:rPr lang="en-US" sz="1050" i="1" dirty="0">
                <a:solidFill>
                  <a:srgbClr val="5B6672"/>
                </a:solidFill>
                <a:latin typeface="Calibri" pitchFamily="34" charset="0"/>
                <a:ea typeface="Calibri" pitchFamily="34" charset="-122"/>
                <a:cs typeface="Calibri" pitchFamily="34" charset="-120"/>
              </a:rPr>
              <a:t>Every play carries a pre-authorized budget, a pre-registered review date, and a named owner. Kill conditions travel with the play to the executive team — falsifiable by design. Every scenario is gated on unit economics: no play is funded through ARPU compression.</a:t>
            </a:r>
            <a:endParaRPr lang="en-US" sz="1050" dirty="0"/>
          </a:p>
        </p:txBody>
      </p:sp>
      <p:sp>
        <p:nvSpPr>
          <p:cNvPr id="44" name="Text 42"/>
          <p:cNvSpPr txBox="1"/>
          <p:nvPr/>
        </p:nvSpPr>
        <p:spPr>
          <a:xfrm>
            <a:off x="11567160" y="6446520"/>
            <a:ext cx="457200" cy="274320"/>
          </a:xfrm>
          <a:prstGeom prst="rect">
            <a:avLst/>
          </a:prstGeom>
          <a:noFill/>
          <a:ln/>
        </p:spPr>
        <p:txBody>
          <a:bodyPr wrap="square" lIns="0" tIns="0" rIns="0" bIns="0" rtlCol="0" anchor="ctr"/>
          <a:lstStyle/>
          <a:p>
            <a:pPr algn="r" indent="0" marL="0">
              <a:buNone/>
            </a:pPr>
            <a:r>
              <a:rPr lang="en-US" sz="1000" dirty="0">
                <a:solidFill>
                  <a:srgbClr val="8A94A0"/>
                </a:solidFill>
                <a:latin typeface="Calibri" pitchFamily="34" charset="0"/>
                <a:ea typeface="Calibri" pitchFamily="34" charset="-122"/>
                <a:cs typeface="Calibri" pitchFamily="34" charset="-120"/>
              </a:rPr>
              <a:t>13</a:t>
            </a:r>
            <a:endParaRPr lang="en-US" sz="1000" dirty="0"/>
          </a:p>
        </p:txBody>
      </p:sp>
      <p:sp>
        <p:nvSpPr>
          <p:cNvPr id="45" name="Text 43"/>
          <p:cNvSpPr txBox="1"/>
          <p:nvPr/>
        </p:nvSpPr>
        <p:spPr>
          <a:xfrm>
            <a:off x="502920" y="6446520"/>
            <a:ext cx="10881360" cy="274320"/>
          </a:xfrm>
          <a:prstGeom prst="rect">
            <a:avLst/>
          </a:prstGeom>
          <a:noFill/>
          <a:ln/>
        </p:spPr>
        <p:txBody>
          <a:bodyPr wrap="square" lIns="0" tIns="0" rIns="0" bIns="0" rtlCol="0" anchor="ctr"/>
          <a:lstStyle/>
          <a:p>
            <a:pPr indent="0" marL="0">
              <a:buNone/>
            </a:pPr>
            <a:r>
              <a:rPr lang="en-US" sz="900" dirty="0">
                <a:solidFill>
                  <a:srgbClr val="8A94A0"/>
                </a:solidFill>
                <a:latin typeface="Calibri" pitchFamily="34" charset="0"/>
                <a:ea typeface="Calibri" pitchFamily="34" charset="-122"/>
                <a:cs typeface="Calibri" pitchFamily="34" charset="-120"/>
              </a:rPr>
              <a:t>Final Presentation  ·  “Changing the Trajectory”  ·  Charter Communications (CHTR)  ·  Anchored to Q1 2026; Q2 2026 labeled as later public fact where used</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02920" y="292608"/>
            <a:ext cx="10515600" cy="274320"/>
          </a:xfrm>
          <a:prstGeom prst="rect">
            <a:avLst/>
          </a:prstGeom>
          <a:noFill/>
          <a:ln/>
        </p:spPr>
        <p:txBody>
          <a:bodyPr wrap="square" lIns="0" tIns="0" rIns="0" bIns="0" rtlCol="0" anchor="ctr"/>
          <a:lstStyle/>
          <a:p>
            <a:pPr indent="0" marL="0">
              <a:buNone/>
            </a:pPr>
            <a:r>
              <a:rPr lang="en-US" sz="1100" b="1" spc="200" kern="0" dirty="0">
                <a:solidFill>
                  <a:srgbClr val="0072CE"/>
                </a:solidFill>
                <a:latin typeface="Calibri" pitchFamily="34" charset="0"/>
                <a:ea typeface="Calibri" pitchFamily="34" charset="-122"/>
                <a:cs typeface="Calibri" pitchFamily="34" charset="-120"/>
              </a:rPr>
              <a:t>3  ·  RECOMMENDATION 2 — SCENARIOS 1–3 (COMPETITIVE ATTACKERS)</a:t>
            </a:r>
            <a:endParaRPr lang="en-US" sz="1100" dirty="0"/>
          </a:p>
        </p:txBody>
      </p:sp>
      <p:sp>
        <p:nvSpPr>
          <p:cNvPr id="3" name="Text 1"/>
          <p:cNvSpPr txBox="1"/>
          <p:nvPr/>
        </p:nvSpPr>
        <p:spPr>
          <a:xfrm>
            <a:off x="502920" y="566928"/>
            <a:ext cx="11155680" cy="1005840"/>
          </a:xfrm>
          <a:prstGeom prst="rect">
            <a:avLst/>
          </a:prstGeom>
          <a:noFill/>
          <a:ln/>
        </p:spPr>
        <p:txBody>
          <a:bodyPr wrap="square" lIns="0" tIns="0" rIns="0" bIns="0" rtlCol="0" anchor="t"/>
          <a:lstStyle/>
          <a:p>
            <a:pPr indent="0" marL="0">
              <a:buNone/>
            </a:pPr>
            <a:r>
              <a:rPr lang="en-US" sz="2100" b="1" dirty="0">
                <a:solidFill>
                  <a:srgbClr val="0B1F3A"/>
                </a:solidFill>
                <a:latin typeface="Calibri" pitchFamily="34" charset="0"/>
                <a:ea typeface="Calibri" pitchFamily="34" charset="-122"/>
                <a:cs typeface="Calibri" pitchFamily="34" charset="-120"/>
              </a:rPr>
              <a:t>If it’s fixed wireless, price attacks; if it’s fiber, the network answers first; if it’s satellite, outrun it to the premise</a:t>
            </a:r>
            <a:endParaRPr lang="en-US" sz="2100" dirty="0"/>
          </a:p>
        </p:txBody>
      </p:sp>
      <p:sp>
        <p:nvSpPr>
          <p:cNvPr id="4" name="Shape 2"/>
          <p:cNvSpPr/>
          <p:nvPr/>
        </p:nvSpPr>
        <p:spPr>
          <a:xfrm>
            <a:off x="502920" y="1645920"/>
            <a:ext cx="3611880" cy="4434840"/>
          </a:xfrm>
          <a:prstGeom prst="roundRect">
            <a:avLst>
              <a:gd name="adj" fmla="val 2025"/>
            </a:avLst>
          </a:prstGeom>
          <a:solidFill>
            <a:srgbClr val="FFFFFF"/>
          </a:solidFill>
          <a:ln w="12700">
            <a:solidFill>
              <a:srgbClr val="D7E0EA"/>
            </a:solidFill>
            <a:prstDash val="solid"/>
          </a:ln>
        </p:spPr>
      </p:sp>
      <p:sp>
        <p:nvSpPr>
          <p:cNvPr id="5" name="Shape 3"/>
          <p:cNvSpPr/>
          <p:nvPr/>
        </p:nvSpPr>
        <p:spPr>
          <a:xfrm>
            <a:off x="502920" y="1645920"/>
            <a:ext cx="3611880" cy="548640"/>
          </a:xfrm>
          <a:prstGeom prst="roundRect">
            <a:avLst>
              <a:gd name="adj" fmla="val 13333"/>
            </a:avLst>
          </a:prstGeom>
          <a:solidFill>
            <a:srgbClr val="0B1F3A"/>
          </a:solidFill>
          <a:ln/>
        </p:spPr>
      </p:sp>
      <p:sp>
        <p:nvSpPr>
          <p:cNvPr id="6" name="Text 4"/>
          <p:cNvSpPr txBox="1"/>
          <p:nvPr/>
        </p:nvSpPr>
        <p:spPr>
          <a:xfrm>
            <a:off x="685800" y="1645920"/>
            <a:ext cx="3291840" cy="54864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SCENARIO 1  —  FWA-DRIVEN</a:t>
            </a:r>
            <a:endParaRPr lang="en-US" sz="1150" dirty="0"/>
          </a:p>
        </p:txBody>
      </p:sp>
      <p:sp>
        <p:nvSpPr>
          <p:cNvPr id="7" name="Text 5"/>
          <p:cNvSpPr txBox="1"/>
          <p:nvPr/>
        </p:nvSpPr>
        <p:spPr>
          <a:xfrm>
            <a:off x="685800" y="2331720"/>
            <a:ext cx="3246120" cy="621792"/>
          </a:xfrm>
          <a:prstGeom prst="rect">
            <a:avLst/>
          </a:prstGeom>
          <a:noFill/>
          <a:ln/>
        </p:spPr>
        <p:txBody>
          <a:bodyPr wrap="square" lIns="0" tIns="0" rIns="0" bIns="0" rtlCol="0" anchor="t"/>
          <a:lstStyle/>
          <a:p>
            <a:pPr indent="0" marL="0">
              <a:buNone/>
            </a:pPr>
            <a:r>
              <a:rPr lang="en-US" sz="950" b="1" dirty="0">
                <a:solidFill>
                  <a:srgbClr val="C8102E"/>
                </a:solidFill>
                <a:latin typeface="Calibri" pitchFamily="34" charset="0"/>
                <a:ea typeface="Calibri" pitchFamily="34" charset="-122"/>
                <a:cs typeface="Calibri" pitchFamily="34" charset="-120"/>
              </a:rPr>
              <a:t>SIGNAL  </a:t>
            </a:r>
            <a:pPr indent="0" marL="0">
              <a:buNone/>
            </a:pPr>
            <a:r>
              <a:rPr lang="en-US" sz="950" dirty="0">
                <a:solidFill>
                  <a:srgbClr val="5B6672"/>
                </a:solidFill>
                <a:latin typeface="Calibri" pitchFamily="34" charset="0"/>
                <a:ea typeface="Calibri" pitchFamily="34" charset="-122"/>
                <a:cs typeface="Calibri" pitchFamily="34" charset="-120"/>
              </a:rPr>
              <a:t>&gt;35–40% of losses map to FWA-covered addresses; low-tenure / low-ARPU skew; audited exit data cites price.</a:t>
            </a:r>
            <a:endParaRPr lang="en-US" sz="950" dirty="0"/>
          </a:p>
        </p:txBody>
      </p:sp>
      <p:sp>
        <p:nvSpPr>
          <p:cNvPr id="8" name="Text 6"/>
          <p:cNvSpPr txBox="1"/>
          <p:nvPr/>
        </p:nvSpPr>
        <p:spPr>
          <a:xfrm>
            <a:off x="685800" y="2953512"/>
            <a:ext cx="3246120" cy="749808"/>
          </a:xfrm>
          <a:prstGeom prst="rect">
            <a:avLst/>
          </a:prstGeom>
          <a:noFill/>
          <a:ln/>
        </p:spPr>
        <p:txBody>
          <a:bodyPr wrap="square" lIns="0" tIns="0" rIns="0" bIns="0" rtlCol="0" anchor="t"/>
          <a:lstStyle/>
          <a:p>
            <a:pPr indent="0" marL="0">
              <a:buNone/>
            </a:pPr>
            <a:r>
              <a:rPr lang="en-US" sz="950" b="1" dirty="0">
                <a:solidFill>
                  <a:srgbClr val="0072CE"/>
                </a:solidFill>
                <a:latin typeface="Calibri" pitchFamily="34" charset="0"/>
                <a:ea typeface="Calibri" pitchFamily="34" charset="-122"/>
                <a:cs typeface="Calibri" pitchFamily="34" charset="-120"/>
              </a:rPr>
              <a:t>PLAY  </a:t>
            </a:r>
            <a:pPr indent="0" marL="0">
              <a:buNone/>
            </a:pPr>
            <a:r>
              <a:rPr lang="en-US" sz="950" dirty="0">
                <a:solidFill>
                  <a:srgbClr val="5B6672"/>
                </a:solidFill>
                <a:latin typeface="Calibri" pitchFamily="34" charset="0"/>
                <a:ea typeface="Calibri" pitchFamily="34" charset="-122"/>
                <a:cs typeface="Calibri" pitchFamily="34" charset="-120"/>
              </a:rPr>
              <a:t>Convergence pricing attack: Internet + unlimited mobile at/below T-Mobile Home Internet’s price, offered only in FWA-exposed zones; market on speed and capacity.</a:t>
            </a:r>
            <a:endParaRPr lang="en-US" sz="950" dirty="0"/>
          </a:p>
        </p:txBody>
      </p:sp>
      <p:sp>
        <p:nvSpPr>
          <p:cNvPr id="9" name="Text 7"/>
          <p:cNvSpPr txBox="1"/>
          <p:nvPr/>
        </p:nvSpPr>
        <p:spPr>
          <a:xfrm>
            <a:off x="685800" y="3703320"/>
            <a:ext cx="3246120" cy="658368"/>
          </a:xfrm>
          <a:prstGeom prst="rect">
            <a:avLst/>
          </a:prstGeom>
          <a:noFill/>
          <a:ln/>
        </p:spPr>
        <p:txBody>
          <a:bodyPr wrap="square" lIns="0" tIns="0" rIns="0" bIns="0" rtlCol="0" anchor="t"/>
          <a:lstStyle/>
          <a:p>
            <a:pPr indent="0" marL="0">
              <a:buNone/>
            </a:pPr>
            <a:r>
              <a:rPr lang="en-US" sz="950" b="1" dirty="0">
                <a:solidFill>
                  <a:srgbClr val="B26A00"/>
                </a:solidFill>
                <a:latin typeface="Calibri" pitchFamily="34" charset="0"/>
                <a:ea typeface="Calibri" pitchFamily="34" charset="-122"/>
                <a:cs typeface="Calibri" pitchFamily="34" charset="-120"/>
              </a:rPr>
              <a:t>GATE  </a:t>
            </a:r>
            <a:pPr indent="0" marL="0">
              <a:buNone/>
            </a:pPr>
            <a:r>
              <a:rPr lang="en-US" sz="950" dirty="0">
                <a:solidFill>
                  <a:srgbClr val="5B6672"/>
                </a:solidFill>
                <a:latin typeface="Calibri" pitchFamily="34" charset="0"/>
                <a:ea typeface="Calibri" pitchFamily="34" charset="-122"/>
                <a:cs typeface="Calibri" pitchFamily="34" charset="-120"/>
              </a:rPr>
              <a:t>Bundle discount &lt; churn-avoided LTV. Requires MVNO wholesale cost per line (client data ask). If the gate fails, do not run it.</a:t>
            </a:r>
            <a:endParaRPr lang="en-US" sz="950" dirty="0"/>
          </a:p>
        </p:txBody>
      </p:sp>
      <p:sp>
        <p:nvSpPr>
          <p:cNvPr id="10" name="Text 8"/>
          <p:cNvSpPr txBox="1"/>
          <p:nvPr/>
        </p:nvSpPr>
        <p:spPr>
          <a:xfrm>
            <a:off x="685800" y="4361688"/>
            <a:ext cx="3246120" cy="566928"/>
          </a:xfrm>
          <a:prstGeom prst="rect">
            <a:avLst/>
          </a:prstGeom>
          <a:noFill/>
          <a:ln/>
        </p:spPr>
        <p:txBody>
          <a:bodyPr wrap="square" lIns="0" tIns="0" rIns="0" bIns="0" rtlCol="0" anchor="t"/>
          <a:lstStyle/>
          <a:p>
            <a:pPr indent="0" marL="0">
              <a:buNone/>
            </a:pPr>
            <a:r>
              <a:rPr lang="en-US" sz="950" b="1" dirty="0">
                <a:solidFill>
                  <a:srgbClr val="1E7A46"/>
                </a:solidFill>
                <a:latin typeface="Calibri" pitchFamily="34" charset="0"/>
                <a:ea typeface="Calibri" pitchFamily="34" charset="-122"/>
                <a:cs typeface="Calibri" pitchFamily="34" charset="-120"/>
              </a:rPr>
              <a:t>PROOF  </a:t>
            </a:r>
            <a:pPr indent="0" marL="0">
              <a:buNone/>
            </a:pPr>
            <a:r>
              <a:rPr lang="en-US" sz="950" dirty="0">
                <a:solidFill>
                  <a:srgbClr val="5B6672"/>
                </a:solidFill>
                <a:latin typeface="Calibri" pitchFamily="34" charset="0"/>
                <a:ea typeface="Calibri" pitchFamily="34" charset="-122"/>
                <a:cs typeface="Calibri" pitchFamily="34" charset="-120"/>
              </a:rPr>
              <a:t>Churn delta, treated vs. untreated FWA zones, within 2 quarters — pre-registered controlled experiment.</a:t>
            </a:r>
            <a:endParaRPr lang="en-US" sz="950" dirty="0"/>
          </a:p>
        </p:txBody>
      </p:sp>
      <p:sp>
        <p:nvSpPr>
          <p:cNvPr id="11" name="Text 9"/>
          <p:cNvSpPr txBox="1"/>
          <p:nvPr/>
        </p:nvSpPr>
        <p:spPr>
          <a:xfrm>
            <a:off x="685800" y="4928616"/>
            <a:ext cx="3246120" cy="530352"/>
          </a:xfrm>
          <a:prstGeom prst="rect">
            <a:avLst/>
          </a:prstGeom>
          <a:noFill/>
          <a:ln/>
        </p:spPr>
        <p:txBody>
          <a:bodyPr wrap="square" lIns="0" tIns="0" rIns="0" bIns="0" rtlCol="0" anchor="t"/>
          <a:lstStyle/>
          <a:p>
            <a:pPr indent="0" marL="0">
              <a:buNone/>
            </a:pPr>
            <a:r>
              <a:rPr lang="en-US" sz="950" b="1" dirty="0">
                <a:solidFill>
                  <a:srgbClr val="C8102E"/>
                </a:solidFill>
                <a:latin typeface="Calibri" pitchFamily="34" charset="0"/>
                <a:ea typeface="Calibri" pitchFamily="34" charset="-122"/>
                <a:cs typeface="Calibri" pitchFamily="34" charset="-120"/>
              </a:rPr>
              <a:t>KILL  </a:t>
            </a:r>
            <a:pPr indent="0" marL="0">
              <a:buNone/>
            </a:pPr>
            <a:r>
              <a:rPr lang="en-US" sz="950" dirty="0">
                <a:solidFill>
                  <a:srgbClr val="5B6672"/>
                </a:solidFill>
                <a:latin typeface="Calibri" pitchFamily="34" charset="0"/>
                <a:ea typeface="Calibri" pitchFamily="34" charset="-122"/>
                <a:cs typeface="Calibri" pitchFamily="34" charset="-120"/>
              </a:rPr>
              <a:t>No churn separation after 2 quarters, or bundle margin negative after CBRS-offload assumptions.</a:t>
            </a:r>
            <a:endParaRPr lang="en-US" sz="950" dirty="0"/>
          </a:p>
        </p:txBody>
      </p:sp>
      <p:sp>
        <p:nvSpPr>
          <p:cNvPr id="12" name="Text 10"/>
          <p:cNvSpPr txBox="1"/>
          <p:nvPr/>
        </p:nvSpPr>
        <p:spPr>
          <a:xfrm>
            <a:off x="685800" y="5458968"/>
            <a:ext cx="3246120" cy="548640"/>
          </a:xfrm>
          <a:prstGeom prst="rect">
            <a:avLst/>
          </a:prstGeom>
          <a:noFill/>
          <a:ln/>
        </p:spPr>
        <p:txBody>
          <a:bodyPr wrap="square" lIns="0" tIns="0" rIns="0" bIns="0" rtlCol="0" anchor="t"/>
          <a:lstStyle/>
          <a:p>
            <a:pPr indent="0" marL="0">
              <a:buNone/>
            </a:pPr>
            <a:r>
              <a:rPr lang="en-US" sz="950" b="1" dirty="0">
                <a:solidFill>
                  <a:srgbClr val="5B6672"/>
                </a:solidFill>
                <a:latin typeface="Calibri" pitchFamily="34" charset="0"/>
                <a:ea typeface="Calibri" pitchFamily="34" charset="-122"/>
                <a:cs typeface="Calibri" pitchFamily="34" charset="-120"/>
              </a:rPr>
              <a:t>FALLBACK  </a:t>
            </a:r>
            <a:pPr indent="0" marL="0">
              <a:buNone/>
            </a:pPr>
            <a:r>
              <a:rPr lang="en-US" sz="950" dirty="0">
                <a:solidFill>
                  <a:srgbClr val="5B6672"/>
                </a:solidFill>
                <a:latin typeface="Calibri" pitchFamily="34" charset="0"/>
                <a:ea typeface="Calibri" pitchFamily="34" charset="-122"/>
                <a:cs typeface="Calibri" pitchFamily="34" charset="-120"/>
              </a:rPr>
              <a:t>Value flanker tier to defend the base without repricing it — or concede the segment and route budget to 2 / 6.</a:t>
            </a:r>
            <a:endParaRPr lang="en-US" sz="950" dirty="0"/>
          </a:p>
        </p:txBody>
      </p:sp>
      <p:sp>
        <p:nvSpPr>
          <p:cNvPr id="13" name="Shape 11"/>
          <p:cNvSpPr/>
          <p:nvPr/>
        </p:nvSpPr>
        <p:spPr>
          <a:xfrm>
            <a:off x="4297680" y="1645920"/>
            <a:ext cx="3611880" cy="4434840"/>
          </a:xfrm>
          <a:prstGeom prst="roundRect">
            <a:avLst>
              <a:gd name="adj" fmla="val 2025"/>
            </a:avLst>
          </a:prstGeom>
          <a:solidFill>
            <a:srgbClr val="FFFFFF"/>
          </a:solidFill>
          <a:ln w="12700">
            <a:solidFill>
              <a:srgbClr val="D7E0EA"/>
            </a:solidFill>
            <a:prstDash val="solid"/>
          </a:ln>
        </p:spPr>
      </p:sp>
      <p:sp>
        <p:nvSpPr>
          <p:cNvPr id="14" name="Shape 12"/>
          <p:cNvSpPr/>
          <p:nvPr/>
        </p:nvSpPr>
        <p:spPr>
          <a:xfrm>
            <a:off x="4297680" y="1645920"/>
            <a:ext cx="3611880" cy="548640"/>
          </a:xfrm>
          <a:prstGeom prst="roundRect">
            <a:avLst>
              <a:gd name="adj" fmla="val 13333"/>
            </a:avLst>
          </a:prstGeom>
          <a:solidFill>
            <a:srgbClr val="0B1F3A"/>
          </a:solidFill>
          <a:ln/>
        </p:spPr>
      </p:sp>
      <p:sp>
        <p:nvSpPr>
          <p:cNvPr id="15" name="Text 13"/>
          <p:cNvSpPr txBox="1"/>
          <p:nvPr/>
        </p:nvSpPr>
        <p:spPr>
          <a:xfrm>
            <a:off x="4480560" y="1645920"/>
            <a:ext cx="3291840" cy="54864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SCENARIO 2  —  FIBER-DRIVEN</a:t>
            </a:r>
            <a:endParaRPr lang="en-US" sz="1150" dirty="0"/>
          </a:p>
        </p:txBody>
      </p:sp>
      <p:sp>
        <p:nvSpPr>
          <p:cNvPr id="16" name="Text 14"/>
          <p:cNvSpPr txBox="1"/>
          <p:nvPr/>
        </p:nvSpPr>
        <p:spPr>
          <a:xfrm>
            <a:off x="4480560" y="2331720"/>
            <a:ext cx="3246120" cy="621792"/>
          </a:xfrm>
          <a:prstGeom prst="rect">
            <a:avLst/>
          </a:prstGeom>
          <a:noFill/>
          <a:ln/>
        </p:spPr>
        <p:txBody>
          <a:bodyPr wrap="square" lIns="0" tIns="0" rIns="0" bIns="0" rtlCol="0" anchor="t"/>
          <a:lstStyle/>
          <a:p>
            <a:pPr indent="0" marL="0">
              <a:buNone/>
            </a:pPr>
            <a:r>
              <a:rPr lang="en-US" sz="950" b="1" dirty="0">
                <a:solidFill>
                  <a:srgbClr val="C8102E"/>
                </a:solidFill>
                <a:latin typeface="Calibri" pitchFamily="34" charset="0"/>
                <a:ea typeface="Calibri" pitchFamily="34" charset="-122"/>
                <a:cs typeface="Calibri" pitchFamily="34" charset="-120"/>
              </a:rPr>
              <a:t>SIGNAL  </a:t>
            </a:r>
            <a:pPr indent="0" marL="0">
              <a:buNone/>
            </a:pPr>
            <a:r>
              <a:rPr lang="en-US" sz="950" dirty="0">
                <a:solidFill>
                  <a:srgbClr val="5B6672"/>
                </a:solidFill>
                <a:latin typeface="Calibri" pitchFamily="34" charset="0"/>
                <a:ea typeface="Calibri" pitchFamily="34" charset="-122"/>
                <a:cs typeface="Calibri" pitchFamily="34" charset="-120"/>
              </a:rPr>
              <a:t>Losses skew to AT&amp;T / Verizon / Frontier fiber DMAs; higher-ARPU customers leaving; exit data cites speed, reliability, or upload.</a:t>
            </a:r>
            <a:endParaRPr lang="en-US" sz="950" dirty="0"/>
          </a:p>
        </p:txBody>
      </p:sp>
      <p:sp>
        <p:nvSpPr>
          <p:cNvPr id="17" name="Text 15"/>
          <p:cNvSpPr txBox="1"/>
          <p:nvPr/>
        </p:nvSpPr>
        <p:spPr>
          <a:xfrm>
            <a:off x="4480560" y="2953512"/>
            <a:ext cx="3246120" cy="749808"/>
          </a:xfrm>
          <a:prstGeom prst="rect">
            <a:avLst/>
          </a:prstGeom>
          <a:noFill/>
          <a:ln/>
        </p:spPr>
        <p:txBody>
          <a:bodyPr wrap="square" lIns="0" tIns="0" rIns="0" bIns="0" rtlCol="0" anchor="t"/>
          <a:lstStyle/>
          <a:p>
            <a:pPr indent="0" marL="0">
              <a:buNone/>
            </a:pPr>
            <a:r>
              <a:rPr lang="en-US" sz="950" b="1" dirty="0">
                <a:solidFill>
                  <a:srgbClr val="0072CE"/>
                </a:solidFill>
                <a:latin typeface="Calibri" pitchFamily="34" charset="0"/>
                <a:ea typeface="Calibri" pitchFamily="34" charset="-122"/>
                <a:cs typeface="Calibri" pitchFamily="34" charset="-120"/>
              </a:rPr>
              <a:t>PLAY  </a:t>
            </a:r>
            <a:pPr indent="0" marL="0">
              <a:buNone/>
            </a:pPr>
            <a:r>
              <a:rPr lang="en-US" sz="950" dirty="0">
                <a:solidFill>
                  <a:srgbClr val="5B6672"/>
                </a:solidFill>
                <a:latin typeface="Calibri" pitchFamily="34" charset="0"/>
                <a:ea typeface="Calibri" pitchFamily="34" charset="-122"/>
                <a:cs typeface="Calibri" pitchFamily="34" charset="-120"/>
              </a:rPr>
              <a:t>Re-sequence network evolution by competitive exposure, not construction cost: DOCSIS 4.0 / high-split first where fiber overlaps; symmetric-speed win-back in completed zones.</a:t>
            </a:r>
            <a:endParaRPr lang="en-US" sz="950" dirty="0"/>
          </a:p>
        </p:txBody>
      </p:sp>
      <p:sp>
        <p:nvSpPr>
          <p:cNvPr id="18" name="Text 16"/>
          <p:cNvSpPr txBox="1"/>
          <p:nvPr/>
        </p:nvSpPr>
        <p:spPr>
          <a:xfrm>
            <a:off x="4480560" y="3703320"/>
            <a:ext cx="3246120" cy="658368"/>
          </a:xfrm>
          <a:prstGeom prst="rect">
            <a:avLst/>
          </a:prstGeom>
          <a:noFill/>
          <a:ln/>
        </p:spPr>
        <p:txBody>
          <a:bodyPr wrap="square" lIns="0" tIns="0" rIns="0" bIns="0" rtlCol="0" anchor="t"/>
          <a:lstStyle/>
          <a:p>
            <a:pPr indent="0" marL="0">
              <a:buNone/>
            </a:pPr>
            <a:r>
              <a:rPr lang="en-US" sz="950" b="1" dirty="0">
                <a:solidFill>
                  <a:srgbClr val="B26A00"/>
                </a:solidFill>
                <a:latin typeface="Calibri" pitchFamily="34" charset="0"/>
                <a:ea typeface="Calibri" pitchFamily="34" charset="-122"/>
                <a:cs typeface="Calibri" pitchFamily="34" charset="-120"/>
              </a:rPr>
              <a:t>GATE  </a:t>
            </a:r>
            <a:pPr indent="0" marL="0">
              <a:buNone/>
            </a:pPr>
            <a:r>
              <a:rPr lang="en-US" sz="950" dirty="0">
                <a:solidFill>
                  <a:srgbClr val="5B6672"/>
                </a:solidFill>
                <a:latin typeface="Calibri" pitchFamily="34" charset="0"/>
                <a:ea typeface="Calibri" pitchFamily="34" charset="-122"/>
                <a:cs typeface="Calibri" pitchFamily="34" charset="-120"/>
              </a:rPr>
              <a:t>Re-sequencing premium vs. LTV at risk in exposed DMAs; the end-2027 completion target is the binding constraint to test.</a:t>
            </a:r>
            <a:endParaRPr lang="en-US" sz="950" dirty="0"/>
          </a:p>
        </p:txBody>
      </p:sp>
      <p:sp>
        <p:nvSpPr>
          <p:cNvPr id="19" name="Text 17"/>
          <p:cNvSpPr txBox="1"/>
          <p:nvPr/>
        </p:nvSpPr>
        <p:spPr>
          <a:xfrm>
            <a:off x="4480560" y="4361688"/>
            <a:ext cx="3246120" cy="566928"/>
          </a:xfrm>
          <a:prstGeom prst="rect">
            <a:avLst/>
          </a:prstGeom>
          <a:noFill/>
          <a:ln/>
        </p:spPr>
        <p:txBody>
          <a:bodyPr wrap="square" lIns="0" tIns="0" rIns="0" bIns="0" rtlCol="0" anchor="t"/>
          <a:lstStyle/>
          <a:p>
            <a:pPr indent="0" marL="0">
              <a:buNone/>
            </a:pPr>
            <a:r>
              <a:rPr lang="en-US" sz="950" b="1" dirty="0">
                <a:solidFill>
                  <a:srgbClr val="1E7A46"/>
                </a:solidFill>
                <a:latin typeface="Calibri" pitchFamily="34" charset="0"/>
                <a:ea typeface="Calibri" pitchFamily="34" charset="-122"/>
                <a:cs typeface="Calibri" pitchFamily="34" charset="-120"/>
              </a:rPr>
              <a:t>PROOF  </a:t>
            </a:r>
            <a:pPr indent="0" marL="0">
              <a:buNone/>
            </a:pPr>
            <a:r>
              <a:rPr lang="en-US" sz="950" dirty="0">
                <a:solidFill>
                  <a:srgbClr val="5B6672"/>
                </a:solidFill>
                <a:latin typeface="Calibri" pitchFamily="34" charset="0"/>
                <a:ea typeface="Calibri" pitchFamily="34" charset="-122"/>
                <a:cs typeface="Calibri" pitchFamily="34" charset="-120"/>
              </a:rPr>
              <a:t>Charter’s cleanest natural experiment: churn in evolution-complete vs. incomplete overbuilt zones.</a:t>
            </a:r>
            <a:endParaRPr lang="en-US" sz="950" dirty="0"/>
          </a:p>
        </p:txBody>
      </p:sp>
      <p:sp>
        <p:nvSpPr>
          <p:cNvPr id="20" name="Text 18"/>
          <p:cNvSpPr txBox="1"/>
          <p:nvPr/>
        </p:nvSpPr>
        <p:spPr>
          <a:xfrm>
            <a:off x="4480560" y="4928616"/>
            <a:ext cx="3246120" cy="530352"/>
          </a:xfrm>
          <a:prstGeom prst="rect">
            <a:avLst/>
          </a:prstGeom>
          <a:noFill/>
          <a:ln/>
        </p:spPr>
        <p:txBody>
          <a:bodyPr wrap="square" lIns="0" tIns="0" rIns="0" bIns="0" rtlCol="0" anchor="t"/>
          <a:lstStyle/>
          <a:p>
            <a:pPr indent="0" marL="0">
              <a:buNone/>
            </a:pPr>
            <a:r>
              <a:rPr lang="en-US" sz="950" b="1" dirty="0">
                <a:solidFill>
                  <a:srgbClr val="C8102E"/>
                </a:solidFill>
                <a:latin typeface="Calibri" pitchFamily="34" charset="0"/>
                <a:ea typeface="Calibri" pitchFamily="34" charset="-122"/>
                <a:cs typeface="Calibri" pitchFamily="34" charset="-120"/>
              </a:rPr>
              <a:t>KILL  </a:t>
            </a:r>
            <a:pPr indent="0" marL="0">
              <a:buNone/>
            </a:pPr>
            <a:r>
              <a:rPr lang="en-US" sz="950" dirty="0">
                <a:solidFill>
                  <a:srgbClr val="5B6672"/>
                </a:solidFill>
                <a:latin typeface="Calibri" pitchFamily="34" charset="0"/>
                <a:ea typeface="Calibri" pitchFamily="34" charset="-122"/>
                <a:cs typeface="Calibri" pitchFamily="34" charset="-120"/>
              </a:rPr>
              <a:t>Parity product, continued losses. Then fiber losses are brand / price-structural, not product.</a:t>
            </a:r>
            <a:endParaRPr lang="en-US" sz="950" dirty="0"/>
          </a:p>
        </p:txBody>
      </p:sp>
      <p:sp>
        <p:nvSpPr>
          <p:cNvPr id="21" name="Text 19"/>
          <p:cNvSpPr txBox="1"/>
          <p:nvPr/>
        </p:nvSpPr>
        <p:spPr>
          <a:xfrm>
            <a:off x="4480560" y="5458968"/>
            <a:ext cx="3246120" cy="548640"/>
          </a:xfrm>
          <a:prstGeom prst="rect">
            <a:avLst/>
          </a:prstGeom>
          <a:noFill/>
          <a:ln/>
        </p:spPr>
        <p:txBody>
          <a:bodyPr wrap="square" lIns="0" tIns="0" rIns="0" bIns="0" rtlCol="0" anchor="t"/>
          <a:lstStyle/>
          <a:p>
            <a:pPr indent="0" marL="0">
              <a:buNone/>
            </a:pPr>
            <a:r>
              <a:rPr lang="en-US" sz="950" b="1" dirty="0">
                <a:solidFill>
                  <a:srgbClr val="5B6672"/>
                </a:solidFill>
                <a:latin typeface="Calibri" pitchFamily="34" charset="0"/>
                <a:ea typeface="Calibri" pitchFamily="34" charset="-122"/>
                <a:cs typeface="Calibri" pitchFamily="34" charset="-120"/>
              </a:rPr>
              <a:t>FALLBACK  </a:t>
            </a:r>
            <a:pPr indent="0" marL="0">
              <a:buNone/>
            </a:pPr>
            <a:r>
              <a:rPr lang="en-US" sz="950" dirty="0">
                <a:solidFill>
                  <a:srgbClr val="5B6672"/>
                </a:solidFill>
                <a:latin typeface="Calibri" pitchFamily="34" charset="0"/>
                <a:ea typeface="Calibri" pitchFamily="34" charset="-122"/>
                <a:cs typeface="Calibri" pitchFamily="34" charset="-120"/>
              </a:rPr>
              <a:t>Harvest, don’t chase: stop defending unwinnable zones at full cost; make it legible via re-segmented disclosure (Rec 3).</a:t>
            </a:r>
            <a:endParaRPr lang="en-US" sz="950" dirty="0"/>
          </a:p>
        </p:txBody>
      </p:sp>
      <p:sp>
        <p:nvSpPr>
          <p:cNvPr id="22" name="Shape 20"/>
          <p:cNvSpPr/>
          <p:nvPr/>
        </p:nvSpPr>
        <p:spPr>
          <a:xfrm>
            <a:off x="8092440" y="1645920"/>
            <a:ext cx="3611880" cy="4434840"/>
          </a:xfrm>
          <a:prstGeom prst="roundRect">
            <a:avLst>
              <a:gd name="adj" fmla="val 2025"/>
            </a:avLst>
          </a:prstGeom>
          <a:solidFill>
            <a:srgbClr val="FFFFFF"/>
          </a:solidFill>
          <a:ln w="12700">
            <a:solidFill>
              <a:srgbClr val="D7E0EA"/>
            </a:solidFill>
            <a:prstDash val="solid"/>
          </a:ln>
        </p:spPr>
      </p:sp>
      <p:sp>
        <p:nvSpPr>
          <p:cNvPr id="23" name="Shape 21"/>
          <p:cNvSpPr/>
          <p:nvPr/>
        </p:nvSpPr>
        <p:spPr>
          <a:xfrm>
            <a:off x="8092440" y="1645920"/>
            <a:ext cx="3611880" cy="548640"/>
          </a:xfrm>
          <a:prstGeom prst="roundRect">
            <a:avLst>
              <a:gd name="adj" fmla="val 13333"/>
            </a:avLst>
          </a:prstGeom>
          <a:solidFill>
            <a:srgbClr val="0B1F3A"/>
          </a:solidFill>
          <a:ln/>
        </p:spPr>
      </p:sp>
      <p:sp>
        <p:nvSpPr>
          <p:cNvPr id="24" name="Text 22"/>
          <p:cNvSpPr txBox="1"/>
          <p:nvPr/>
        </p:nvSpPr>
        <p:spPr>
          <a:xfrm>
            <a:off x="8275320" y="1645920"/>
            <a:ext cx="3291840" cy="54864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SCENARIO 3  —  LEO-SATELLITE-DRIVEN</a:t>
            </a:r>
            <a:endParaRPr lang="en-US" sz="1150" dirty="0"/>
          </a:p>
        </p:txBody>
      </p:sp>
      <p:sp>
        <p:nvSpPr>
          <p:cNvPr id="25" name="Text 23"/>
          <p:cNvSpPr txBox="1"/>
          <p:nvPr/>
        </p:nvSpPr>
        <p:spPr>
          <a:xfrm>
            <a:off x="8275320" y="2331720"/>
            <a:ext cx="3246120" cy="621792"/>
          </a:xfrm>
          <a:prstGeom prst="rect">
            <a:avLst/>
          </a:prstGeom>
          <a:noFill/>
          <a:ln/>
        </p:spPr>
        <p:txBody>
          <a:bodyPr wrap="square" lIns="0" tIns="0" rIns="0" bIns="0" rtlCol="0" anchor="t"/>
          <a:lstStyle/>
          <a:p>
            <a:pPr indent="0" marL="0">
              <a:buNone/>
            </a:pPr>
            <a:r>
              <a:rPr lang="en-US" sz="950" b="1" dirty="0">
                <a:solidFill>
                  <a:srgbClr val="C8102E"/>
                </a:solidFill>
                <a:latin typeface="Calibri" pitchFamily="34" charset="0"/>
                <a:ea typeface="Calibri" pitchFamily="34" charset="-122"/>
                <a:cs typeface="Calibri" pitchFamily="34" charset="-120"/>
              </a:rPr>
              <a:t>SIGNAL  </a:t>
            </a:r>
            <a:pPr indent="0" marL="0">
              <a:buNone/>
            </a:pPr>
            <a:r>
              <a:rPr lang="en-US" sz="950" dirty="0">
                <a:solidFill>
                  <a:srgbClr val="5B6672"/>
                </a:solidFill>
                <a:latin typeface="Calibri" pitchFamily="34" charset="0"/>
                <a:ea typeface="Calibri" pitchFamily="34" charset="-122"/>
                <a:cs typeface="Calibri" pitchFamily="34" charset="-120"/>
              </a:rPr>
              <a:t>Losses map to low-density census blocks where Starlink (and Kuiper next) is the only alternative.</a:t>
            </a:r>
            <a:endParaRPr lang="en-US" sz="950" dirty="0"/>
          </a:p>
        </p:txBody>
      </p:sp>
      <p:sp>
        <p:nvSpPr>
          <p:cNvPr id="26" name="Text 24"/>
          <p:cNvSpPr txBox="1"/>
          <p:nvPr/>
        </p:nvSpPr>
        <p:spPr>
          <a:xfrm>
            <a:off x="8275320" y="2953512"/>
            <a:ext cx="3246120" cy="749808"/>
          </a:xfrm>
          <a:prstGeom prst="rect">
            <a:avLst/>
          </a:prstGeom>
          <a:noFill/>
          <a:ln/>
        </p:spPr>
        <p:txBody>
          <a:bodyPr wrap="square" lIns="0" tIns="0" rIns="0" bIns="0" rtlCol="0" anchor="t"/>
          <a:lstStyle/>
          <a:p>
            <a:pPr indent="0" marL="0">
              <a:buNone/>
            </a:pPr>
            <a:r>
              <a:rPr lang="en-US" sz="950" b="1" dirty="0">
                <a:solidFill>
                  <a:srgbClr val="0072CE"/>
                </a:solidFill>
                <a:latin typeface="Calibri" pitchFamily="34" charset="0"/>
                <a:ea typeface="Calibri" pitchFamily="34" charset="-122"/>
                <a:cs typeface="Calibri" pitchFamily="34" charset="-120"/>
              </a:rPr>
              <a:t>PLAY  </a:t>
            </a:r>
            <a:pPr indent="0" marL="0">
              <a:buNone/>
            </a:pPr>
            <a:r>
              <a:rPr lang="en-US" sz="950" dirty="0">
                <a:solidFill>
                  <a:srgbClr val="5B6672"/>
                </a:solidFill>
                <a:latin typeface="Calibri" pitchFamily="34" charset="0"/>
                <a:ea typeface="Calibri" pitchFamily="34" charset="-122"/>
                <a:cs typeface="Calibri" pitchFamily="34" charset="-120"/>
              </a:rPr>
              <a:t>Accelerate rural subsidized build activation — penetrate new passings before satellite entrenches. Satellite is capacity-constrained: it wins by default where wireline is absent.</a:t>
            </a:r>
            <a:endParaRPr lang="en-US" sz="950" dirty="0"/>
          </a:p>
        </p:txBody>
      </p:sp>
      <p:sp>
        <p:nvSpPr>
          <p:cNvPr id="27" name="Text 25"/>
          <p:cNvSpPr txBox="1"/>
          <p:nvPr/>
        </p:nvSpPr>
        <p:spPr>
          <a:xfrm>
            <a:off x="8275320" y="3703320"/>
            <a:ext cx="3246120" cy="658368"/>
          </a:xfrm>
          <a:prstGeom prst="rect">
            <a:avLst/>
          </a:prstGeom>
          <a:noFill/>
          <a:ln/>
        </p:spPr>
        <p:txBody>
          <a:bodyPr wrap="square" lIns="0" tIns="0" rIns="0" bIns="0" rtlCol="0" anchor="t"/>
          <a:lstStyle/>
          <a:p>
            <a:pPr indent="0" marL="0">
              <a:buNone/>
            </a:pPr>
            <a:r>
              <a:rPr lang="en-US" sz="950" b="1" dirty="0">
                <a:solidFill>
                  <a:srgbClr val="B26A00"/>
                </a:solidFill>
                <a:latin typeface="Calibri" pitchFamily="34" charset="0"/>
                <a:ea typeface="Calibri" pitchFamily="34" charset="-122"/>
                <a:cs typeface="Calibri" pitchFamily="34" charset="-120"/>
              </a:rPr>
              <a:t>GATE  </a:t>
            </a:r>
            <a:pPr indent="0" marL="0">
              <a:buNone/>
            </a:pPr>
            <a:r>
              <a:rPr lang="en-US" sz="950" dirty="0">
                <a:solidFill>
                  <a:srgbClr val="5B6672"/>
                </a:solidFill>
                <a:latin typeface="Calibri" pitchFamily="34" charset="0"/>
                <a:ea typeface="Calibri" pitchFamily="34" charset="-122"/>
                <a:cs typeface="Calibri" pitchFamily="34" charset="-120"/>
              </a:rPr>
              <a:t>Program already funded ($8B+, &gt;$2B subsidies, “infrastructure-style returns”); the variable is activation pace vs. BEAD / RDOF milestone penalties.</a:t>
            </a:r>
            <a:endParaRPr lang="en-US" sz="950" dirty="0"/>
          </a:p>
        </p:txBody>
      </p:sp>
      <p:sp>
        <p:nvSpPr>
          <p:cNvPr id="28" name="Text 26"/>
          <p:cNvSpPr txBox="1"/>
          <p:nvPr/>
        </p:nvSpPr>
        <p:spPr>
          <a:xfrm>
            <a:off x="8275320" y="4361688"/>
            <a:ext cx="3246120" cy="566928"/>
          </a:xfrm>
          <a:prstGeom prst="rect">
            <a:avLst/>
          </a:prstGeom>
          <a:noFill/>
          <a:ln/>
        </p:spPr>
        <p:txBody>
          <a:bodyPr wrap="square" lIns="0" tIns="0" rIns="0" bIns="0" rtlCol="0" anchor="t"/>
          <a:lstStyle/>
          <a:p>
            <a:pPr indent="0" marL="0">
              <a:buNone/>
            </a:pPr>
            <a:r>
              <a:rPr lang="en-US" sz="950" b="1" dirty="0">
                <a:solidFill>
                  <a:srgbClr val="1E7A46"/>
                </a:solidFill>
                <a:latin typeface="Calibri" pitchFamily="34" charset="0"/>
                <a:ea typeface="Calibri" pitchFamily="34" charset="-122"/>
                <a:cs typeface="Calibri" pitchFamily="34" charset="-120"/>
              </a:rPr>
              <a:t>PROOF  </a:t>
            </a:r>
            <a:pPr indent="0" marL="0">
              <a:buNone/>
            </a:pPr>
            <a:r>
              <a:rPr lang="en-US" sz="950" dirty="0">
                <a:solidFill>
                  <a:srgbClr val="5B6672"/>
                </a:solidFill>
                <a:latin typeface="Calibri" pitchFamily="34" charset="0"/>
                <a:ea typeface="Calibri" pitchFamily="34" charset="-122"/>
                <a:cs typeface="Calibri" pitchFamily="34" charset="-120"/>
              </a:rPr>
              <a:t>Penetration on new rural passings vs. vintage cohorts. Rural is already the one footprint growing (+41k Q1, +47k Q2).</a:t>
            </a:r>
            <a:endParaRPr lang="en-US" sz="950" dirty="0"/>
          </a:p>
        </p:txBody>
      </p:sp>
      <p:sp>
        <p:nvSpPr>
          <p:cNvPr id="29" name="Text 27"/>
          <p:cNvSpPr txBox="1"/>
          <p:nvPr/>
        </p:nvSpPr>
        <p:spPr>
          <a:xfrm>
            <a:off x="8275320" y="4928616"/>
            <a:ext cx="3246120" cy="530352"/>
          </a:xfrm>
          <a:prstGeom prst="rect">
            <a:avLst/>
          </a:prstGeom>
          <a:noFill/>
          <a:ln/>
        </p:spPr>
        <p:txBody>
          <a:bodyPr wrap="square" lIns="0" tIns="0" rIns="0" bIns="0" rtlCol="0" anchor="t"/>
          <a:lstStyle/>
          <a:p>
            <a:pPr indent="0" marL="0">
              <a:buNone/>
            </a:pPr>
            <a:r>
              <a:rPr lang="en-US" sz="950" b="1" dirty="0">
                <a:solidFill>
                  <a:srgbClr val="C8102E"/>
                </a:solidFill>
                <a:latin typeface="Calibri" pitchFamily="34" charset="0"/>
                <a:ea typeface="Calibri" pitchFamily="34" charset="-122"/>
                <a:cs typeface="Calibri" pitchFamily="34" charset="-120"/>
              </a:rPr>
              <a:t>KILL  </a:t>
            </a:r>
            <a:pPr indent="0" marL="0">
              <a:buNone/>
            </a:pPr>
            <a:r>
              <a:rPr lang="en-US" sz="950" dirty="0">
                <a:solidFill>
                  <a:srgbClr val="5B6672"/>
                </a:solidFill>
                <a:latin typeface="Calibri" pitchFamily="34" charset="0"/>
                <a:ea typeface="Calibri" pitchFamily="34" charset="-122"/>
                <a:cs typeface="Calibri" pitchFamily="34" charset="-120"/>
              </a:rPr>
              <a:t>Penetration on new passings falls below the underwriting curve.</a:t>
            </a:r>
            <a:endParaRPr lang="en-US" sz="950" dirty="0"/>
          </a:p>
        </p:txBody>
      </p:sp>
      <p:sp>
        <p:nvSpPr>
          <p:cNvPr id="30" name="Text 28"/>
          <p:cNvSpPr txBox="1"/>
          <p:nvPr/>
        </p:nvSpPr>
        <p:spPr>
          <a:xfrm>
            <a:off x="8275320" y="5458968"/>
            <a:ext cx="3246120" cy="548640"/>
          </a:xfrm>
          <a:prstGeom prst="rect">
            <a:avLst/>
          </a:prstGeom>
          <a:noFill/>
          <a:ln/>
        </p:spPr>
        <p:txBody>
          <a:bodyPr wrap="square" lIns="0" tIns="0" rIns="0" bIns="0" rtlCol="0" anchor="t"/>
          <a:lstStyle/>
          <a:p>
            <a:pPr indent="0" marL="0">
              <a:buNone/>
            </a:pPr>
            <a:r>
              <a:rPr lang="en-US" sz="950" b="1" dirty="0">
                <a:solidFill>
                  <a:srgbClr val="5B6672"/>
                </a:solidFill>
                <a:latin typeface="Calibri" pitchFamily="34" charset="0"/>
                <a:ea typeface="Calibri" pitchFamily="34" charset="-122"/>
                <a:cs typeface="Calibri" pitchFamily="34" charset="-120"/>
              </a:rPr>
              <a:t>FALLBACK  </a:t>
            </a:r>
            <a:pPr indent="0" marL="0">
              <a:buNone/>
            </a:pPr>
            <a:r>
              <a:rPr lang="en-US" sz="950" dirty="0">
                <a:solidFill>
                  <a:srgbClr val="5B6672"/>
                </a:solidFill>
                <a:latin typeface="Calibri" pitchFamily="34" charset="0"/>
                <a:ea typeface="Calibri" pitchFamily="34" charset="-122"/>
                <a:cs typeface="Calibri" pitchFamily="34" charset="-120"/>
              </a:rPr>
              <a:t>Slow non-committed rural extensions; subsidy-committed builds continue regardless.</a:t>
            </a:r>
            <a:endParaRPr lang="en-US" sz="950" dirty="0"/>
          </a:p>
        </p:txBody>
      </p:sp>
      <p:sp>
        <p:nvSpPr>
          <p:cNvPr id="31" name="Text 29"/>
          <p:cNvSpPr txBox="1"/>
          <p:nvPr/>
        </p:nvSpPr>
        <p:spPr>
          <a:xfrm>
            <a:off x="11567160" y="6446520"/>
            <a:ext cx="457200" cy="274320"/>
          </a:xfrm>
          <a:prstGeom prst="rect">
            <a:avLst/>
          </a:prstGeom>
          <a:noFill/>
          <a:ln/>
        </p:spPr>
        <p:txBody>
          <a:bodyPr wrap="square" lIns="0" tIns="0" rIns="0" bIns="0" rtlCol="0" anchor="ctr"/>
          <a:lstStyle/>
          <a:p>
            <a:pPr algn="r" indent="0" marL="0">
              <a:buNone/>
            </a:pPr>
            <a:r>
              <a:rPr lang="en-US" sz="1000" dirty="0">
                <a:solidFill>
                  <a:srgbClr val="8A94A0"/>
                </a:solidFill>
                <a:latin typeface="Calibri" pitchFamily="34" charset="0"/>
                <a:ea typeface="Calibri" pitchFamily="34" charset="-122"/>
                <a:cs typeface="Calibri" pitchFamily="34" charset="-120"/>
              </a:rPr>
              <a:t>14</a:t>
            </a:r>
            <a:endParaRPr lang="en-US" sz="1000" dirty="0"/>
          </a:p>
        </p:txBody>
      </p:sp>
      <p:sp>
        <p:nvSpPr>
          <p:cNvPr id="32" name="Text 30"/>
          <p:cNvSpPr txBox="1"/>
          <p:nvPr/>
        </p:nvSpPr>
        <p:spPr>
          <a:xfrm>
            <a:off x="502920" y="6446520"/>
            <a:ext cx="10881360" cy="274320"/>
          </a:xfrm>
          <a:prstGeom prst="rect">
            <a:avLst/>
          </a:prstGeom>
          <a:noFill/>
          <a:ln/>
        </p:spPr>
        <p:txBody>
          <a:bodyPr wrap="square" lIns="0" tIns="0" rIns="0" bIns="0" rtlCol="0" anchor="ctr"/>
          <a:lstStyle/>
          <a:p>
            <a:pPr indent="0" marL="0">
              <a:buNone/>
            </a:pPr>
            <a:r>
              <a:rPr lang="en-US" sz="900" dirty="0">
                <a:solidFill>
                  <a:srgbClr val="8A94A0"/>
                </a:solidFill>
                <a:latin typeface="Calibri" pitchFamily="34" charset="0"/>
                <a:ea typeface="Calibri" pitchFamily="34" charset="-122"/>
                <a:cs typeface="Calibri" pitchFamily="34" charset="-120"/>
              </a:rPr>
              <a:t>Final Presentation  ·  “Changing the Trajectory”  ·  Charter Communications (CHTR)  ·  Anchored to Q1 2026; Q2 2026 labeled as later public fact where used</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02920" y="292608"/>
            <a:ext cx="10515600" cy="274320"/>
          </a:xfrm>
          <a:prstGeom prst="rect">
            <a:avLst/>
          </a:prstGeom>
          <a:noFill/>
          <a:ln/>
        </p:spPr>
        <p:txBody>
          <a:bodyPr wrap="square" lIns="0" tIns="0" rIns="0" bIns="0" rtlCol="0" anchor="ctr"/>
          <a:lstStyle/>
          <a:p>
            <a:pPr indent="0" marL="0">
              <a:buNone/>
            </a:pPr>
            <a:r>
              <a:rPr lang="en-US" sz="1100" b="1" spc="200" kern="0" dirty="0">
                <a:solidFill>
                  <a:srgbClr val="0072CE"/>
                </a:solidFill>
                <a:latin typeface="Calibri" pitchFamily="34" charset="0"/>
                <a:ea typeface="Calibri" pitchFamily="34" charset="-122"/>
                <a:cs typeface="Calibri" pitchFamily="34" charset="-120"/>
              </a:rPr>
              <a:t>3  ·  RECOMMENDATION 2 — SCENARIOS 4–6 (NON-COMPETITIVE AND NULL)</a:t>
            </a:r>
            <a:endParaRPr lang="en-US" sz="1100" dirty="0"/>
          </a:p>
        </p:txBody>
      </p:sp>
      <p:sp>
        <p:nvSpPr>
          <p:cNvPr id="3" name="Text 1"/>
          <p:cNvSpPr txBox="1"/>
          <p:nvPr/>
        </p:nvSpPr>
        <p:spPr>
          <a:xfrm>
            <a:off x="502920" y="566928"/>
            <a:ext cx="11155680" cy="1005840"/>
          </a:xfrm>
          <a:prstGeom prst="rect">
            <a:avLst/>
          </a:prstGeom>
          <a:noFill/>
          <a:ln/>
        </p:spPr>
        <p:txBody>
          <a:bodyPr wrap="square" lIns="0" tIns="0" rIns="0" bIns="0" rtlCol="0" anchor="t"/>
          <a:lstStyle/>
          <a:p>
            <a:pPr indent="0" marL="0">
              <a:buNone/>
            </a:pPr>
            <a:r>
              <a:rPr lang="en-US" sz="2100" b="1" dirty="0">
                <a:solidFill>
                  <a:srgbClr val="0B1F3A"/>
                </a:solidFill>
                <a:latin typeface="Calibri" pitchFamily="34" charset="0"/>
                <a:ea typeface="Calibri" pitchFamily="34" charset="-122"/>
                <a:cs typeface="Calibri" pitchFamily="34" charset="-120"/>
              </a:rPr>
              <a:t>If it’s housing, there is no attacker to fight; if it’s non-pay, run a save-rate test; if it’s nobody in particular, that is still an answer</a:t>
            </a:r>
            <a:endParaRPr lang="en-US" sz="2100" dirty="0"/>
          </a:p>
        </p:txBody>
      </p:sp>
      <p:sp>
        <p:nvSpPr>
          <p:cNvPr id="4" name="Shape 2"/>
          <p:cNvSpPr/>
          <p:nvPr/>
        </p:nvSpPr>
        <p:spPr>
          <a:xfrm>
            <a:off x="502920" y="1645920"/>
            <a:ext cx="3611880" cy="4434840"/>
          </a:xfrm>
          <a:prstGeom prst="roundRect">
            <a:avLst>
              <a:gd name="adj" fmla="val 2025"/>
            </a:avLst>
          </a:prstGeom>
          <a:solidFill>
            <a:srgbClr val="FFFFFF"/>
          </a:solidFill>
          <a:ln w="12700">
            <a:solidFill>
              <a:srgbClr val="D7E0EA"/>
            </a:solidFill>
            <a:prstDash val="solid"/>
          </a:ln>
        </p:spPr>
      </p:sp>
      <p:sp>
        <p:nvSpPr>
          <p:cNvPr id="5" name="Shape 3"/>
          <p:cNvSpPr/>
          <p:nvPr/>
        </p:nvSpPr>
        <p:spPr>
          <a:xfrm>
            <a:off x="502920" y="1645920"/>
            <a:ext cx="3611880" cy="548640"/>
          </a:xfrm>
          <a:prstGeom prst="roundRect">
            <a:avLst>
              <a:gd name="adj" fmla="val 13333"/>
            </a:avLst>
          </a:prstGeom>
          <a:solidFill>
            <a:srgbClr val="0B1F3A"/>
          </a:solidFill>
          <a:ln/>
        </p:spPr>
      </p:sp>
      <p:sp>
        <p:nvSpPr>
          <p:cNvPr id="6" name="Text 4"/>
          <p:cNvSpPr txBox="1"/>
          <p:nvPr/>
        </p:nvSpPr>
        <p:spPr>
          <a:xfrm>
            <a:off x="685800" y="1645920"/>
            <a:ext cx="3291840" cy="54864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SCENARIO 4  —  HOUSING-DRIVEN</a:t>
            </a:r>
            <a:endParaRPr lang="en-US" sz="1150" dirty="0"/>
          </a:p>
        </p:txBody>
      </p:sp>
      <p:sp>
        <p:nvSpPr>
          <p:cNvPr id="7" name="Text 5"/>
          <p:cNvSpPr txBox="1"/>
          <p:nvPr/>
        </p:nvSpPr>
        <p:spPr>
          <a:xfrm>
            <a:off x="685800" y="2331720"/>
            <a:ext cx="3246120" cy="731520"/>
          </a:xfrm>
          <a:prstGeom prst="rect">
            <a:avLst/>
          </a:prstGeom>
          <a:noFill/>
          <a:ln/>
        </p:spPr>
        <p:txBody>
          <a:bodyPr wrap="square" lIns="0" tIns="0" rIns="0" bIns="0" rtlCol="0" anchor="t"/>
          <a:lstStyle/>
          <a:p>
            <a:pPr indent="0" marL="0">
              <a:buNone/>
            </a:pPr>
            <a:r>
              <a:rPr lang="en-US" sz="950" b="1" dirty="0">
                <a:solidFill>
                  <a:srgbClr val="B26A00"/>
                </a:solidFill>
                <a:latin typeface="Calibri" pitchFamily="34" charset="0"/>
                <a:ea typeface="Calibri" pitchFamily="34" charset="-122"/>
                <a:cs typeface="Calibri" pitchFamily="34" charset="-120"/>
              </a:rPr>
              <a:t>SIGNAL  </a:t>
            </a:r>
            <a:pPr indent="0" marL="0">
              <a:buNone/>
            </a:pPr>
            <a:r>
              <a:rPr lang="en-US" sz="950" dirty="0">
                <a:solidFill>
                  <a:srgbClr val="5B6672"/>
                </a:solidFill>
                <a:latin typeface="Calibri" pitchFamily="34" charset="0"/>
                <a:ea typeface="Calibri" pitchFamily="34" charset="-122"/>
                <a:cs typeface="Calibri" pitchFamily="34" charset="-120"/>
              </a:rPr>
              <a:t>Gross adds down while churn-to-competitor is flat; disconnects cluster on move-outs with no replacement household; losses spread evenly across exposure classes.</a:t>
            </a:r>
            <a:endParaRPr lang="en-US" sz="950" dirty="0"/>
          </a:p>
        </p:txBody>
      </p:sp>
      <p:sp>
        <p:nvSpPr>
          <p:cNvPr id="8" name="Text 6"/>
          <p:cNvSpPr txBox="1"/>
          <p:nvPr/>
        </p:nvSpPr>
        <p:spPr>
          <a:xfrm>
            <a:off x="685800" y="3063240"/>
            <a:ext cx="3246120" cy="731520"/>
          </a:xfrm>
          <a:prstGeom prst="rect">
            <a:avLst/>
          </a:prstGeom>
          <a:noFill/>
          <a:ln/>
        </p:spPr>
        <p:txBody>
          <a:bodyPr wrap="square" lIns="0" tIns="0" rIns="0" bIns="0" rtlCol="0" anchor="t"/>
          <a:lstStyle/>
          <a:p>
            <a:pPr indent="0" marL="0">
              <a:buNone/>
            </a:pPr>
            <a:r>
              <a:rPr lang="en-US" sz="950" b="1" dirty="0">
                <a:solidFill>
                  <a:srgbClr val="0072CE"/>
                </a:solidFill>
                <a:latin typeface="Calibri" pitchFamily="34" charset="0"/>
                <a:ea typeface="Calibri" pitchFamily="34" charset="-122"/>
                <a:cs typeface="Calibri" pitchFamily="34" charset="-120"/>
              </a:rPr>
              <a:t>PLAY  </a:t>
            </a:r>
            <a:pPr indent="0" marL="0">
              <a:buNone/>
            </a:pPr>
            <a:r>
              <a:rPr lang="en-US" sz="950" dirty="0">
                <a:solidFill>
                  <a:srgbClr val="5B6672"/>
                </a:solidFill>
                <a:latin typeface="Calibri" pitchFamily="34" charset="0"/>
                <a:ea typeface="Calibri" pitchFamily="34" charset="-122"/>
                <a:cs typeface="Calibri" pitchFamily="34" charset="-120"/>
              </a:rPr>
              <a:t>Shift spend from retention to mover capture: builder and MDU partnerships (Community Solutions), instant-on self-install — win the connect when the move happens.</a:t>
            </a:r>
            <a:endParaRPr lang="en-US" sz="950" dirty="0"/>
          </a:p>
        </p:txBody>
      </p:sp>
      <p:sp>
        <p:nvSpPr>
          <p:cNvPr id="9" name="Text 7"/>
          <p:cNvSpPr txBox="1"/>
          <p:nvPr/>
        </p:nvSpPr>
        <p:spPr>
          <a:xfrm>
            <a:off x="685800" y="3794760"/>
            <a:ext cx="3246120" cy="566928"/>
          </a:xfrm>
          <a:prstGeom prst="rect">
            <a:avLst/>
          </a:prstGeom>
          <a:noFill/>
          <a:ln/>
        </p:spPr>
        <p:txBody>
          <a:bodyPr wrap="square" lIns="0" tIns="0" rIns="0" bIns="0" rtlCol="0" anchor="t"/>
          <a:lstStyle/>
          <a:p>
            <a:pPr indent="0" marL="0">
              <a:buNone/>
            </a:pPr>
            <a:r>
              <a:rPr lang="en-US" sz="950" b="1" dirty="0">
                <a:solidFill>
                  <a:srgbClr val="B26A00"/>
                </a:solidFill>
                <a:latin typeface="Calibri" pitchFamily="34" charset="0"/>
                <a:ea typeface="Calibri" pitchFamily="34" charset="-122"/>
                <a:cs typeface="Calibri" pitchFamily="34" charset="-120"/>
              </a:rPr>
              <a:t>GATE  </a:t>
            </a:r>
            <a:pPr indent="0" marL="0">
              <a:buNone/>
            </a:pPr>
            <a:r>
              <a:rPr lang="en-US" sz="950" dirty="0">
                <a:solidFill>
                  <a:srgbClr val="5B6672"/>
                </a:solidFill>
                <a:latin typeface="Calibri" pitchFamily="34" charset="0"/>
                <a:ea typeface="Calibri" pitchFamily="34" charset="-122"/>
                <a:cs typeface="Calibri" pitchFamily="34" charset="-120"/>
              </a:rPr>
              <a:t>Mover-capture cost per connect vs. standard acquisition cost; MDU deals underwritten building by building.</a:t>
            </a:r>
            <a:endParaRPr lang="en-US" sz="950" dirty="0"/>
          </a:p>
        </p:txBody>
      </p:sp>
      <p:sp>
        <p:nvSpPr>
          <p:cNvPr id="10" name="Text 8"/>
          <p:cNvSpPr txBox="1"/>
          <p:nvPr/>
        </p:nvSpPr>
        <p:spPr>
          <a:xfrm>
            <a:off x="685800" y="4361688"/>
            <a:ext cx="3246120" cy="548640"/>
          </a:xfrm>
          <a:prstGeom prst="rect">
            <a:avLst/>
          </a:prstGeom>
          <a:noFill/>
          <a:ln/>
        </p:spPr>
        <p:txBody>
          <a:bodyPr wrap="square" lIns="0" tIns="0" rIns="0" bIns="0" rtlCol="0" anchor="t"/>
          <a:lstStyle/>
          <a:p>
            <a:pPr indent="0" marL="0">
              <a:buNone/>
            </a:pPr>
            <a:r>
              <a:rPr lang="en-US" sz="950" b="1" dirty="0">
                <a:solidFill>
                  <a:srgbClr val="1E7A46"/>
                </a:solidFill>
                <a:latin typeface="Calibri" pitchFamily="34" charset="0"/>
                <a:ea typeface="Calibri" pitchFamily="34" charset="-122"/>
                <a:cs typeface="Calibri" pitchFamily="34" charset="-120"/>
              </a:rPr>
              <a:t>PROOF  </a:t>
            </a:r>
            <a:pPr indent="0" marL="0">
              <a:buNone/>
            </a:pPr>
            <a:r>
              <a:rPr lang="en-US" sz="950" dirty="0">
                <a:solidFill>
                  <a:srgbClr val="5B6672"/>
                </a:solidFill>
                <a:latin typeface="Calibri" pitchFamily="34" charset="0"/>
                <a:ea typeface="Calibri" pitchFamily="34" charset="-122"/>
                <a:cs typeface="Calibri" pitchFamily="34" charset="-120"/>
              </a:rPr>
              <a:t>Connect share of new move-ins inside the footprint; gross-add recovery as turnover normalizes.</a:t>
            </a:r>
            <a:endParaRPr lang="en-US" sz="950" dirty="0"/>
          </a:p>
        </p:txBody>
      </p:sp>
      <p:sp>
        <p:nvSpPr>
          <p:cNvPr id="11" name="Text 9"/>
          <p:cNvSpPr txBox="1"/>
          <p:nvPr/>
        </p:nvSpPr>
        <p:spPr>
          <a:xfrm>
            <a:off x="685800" y="4910328"/>
            <a:ext cx="3246120" cy="502920"/>
          </a:xfrm>
          <a:prstGeom prst="rect">
            <a:avLst/>
          </a:prstGeom>
          <a:noFill/>
          <a:ln/>
        </p:spPr>
        <p:txBody>
          <a:bodyPr wrap="square" lIns="0" tIns="0" rIns="0" bIns="0" rtlCol="0" anchor="t"/>
          <a:lstStyle/>
          <a:p>
            <a:pPr indent="0" marL="0">
              <a:buNone/>
            </a:pPr>
            <a:r>
              <a:rPr lang="en-US" sz="950" b="1" dirty="0">
                <a:solidFill>
                  <a:srgbClr val="C8102E"/>
                </a:solidFill>
                <a:latin typeface="Calibri" pitchFamily="34" charset="0"/>
                <a:ea typeface="Calibri" pitchFamily="34" charset="-122"/>
                <a:cs typeface="Calibri" pitchFamily="34" charset="-120"/>
              </a:rPr>
              <a:t>KILL  </a:t>
            </a:r>
            <a:pPr indent="0" marL="0">
              <a:buNone/>
            </a:pPr>
            <a:r>
              <a:rPr lang="en-US" sz="950" dirty="0">
                <a:solidFill>
                  <a:srgbClr val="5B6672"/>
                </a:solidFill>
                <a:latin typeface="Calibri" pitchFamily="34" charset="0"/>
                <a:ea typeface="Calibri" pitchFamily="34" charset="-122"/>
                <a:cs typeface="Calibri" pitchFamily="34" charset="-120"/>
              </a:rPr>
              <a:t>Port-out destination data contradicts the macro story → re-route to Scenarios 1–2.</a:t>
            </a:r>
            <a:endParaRPr lang="en-US" sz="950" dirty="0"/>
          </a:p>
        </p:txBody>
      </p:sp>
      <p:sp>
        <p:nvSpPr>
          <p:cNvPr id="12" name="Text 10"/>
          <p:cNvSpPr txBox="1"/>
          <p:nvPr/>
        </p:nvSpPr>
        <p:spPr>
          <a:xfrm>
            <a:off x="685800" y="5413248"/>
            <a:ext cx="3246120" cy="576072"/>
          </a:xfrm>
          <a:prstGeom prst="rect">
            <a:avLst/>
          </a:prstGeom>
          <a:noFill/>
          <a:ln/>
        </p:spPr>
        <p:txBody>
          <a:bodyPr wrap="square" lIns="0" tIns="0" rIns="0" bIns="0" rtlCol="0" anchor="t"/>
          <a:lstStyle/>
          <a:p>
            <a:pPr indent="0" marL="0">
              <a:buNone/>
            </a:pPr>
            <a:r>
              <a:rPr lang="en-US" sz="950" b="1" dirty="0">
                <a:solidFill>
                  <a:srgbClr val="5B6672"/>
                </a:solidFill>
                <a:latin typeface="Calibri" pitchFamily="34" charset="0"/>
                <a:ea typeface="Calibri" pitchFamily="34" charset="-122"/>
                <a:cs typeface="Calibri" pitchFamily="34" charset="-120"/>
              </a:rPr>
              <a:t>FALLBACK  </a:t>
            </a:r>
            <a:pPr indent="0" marL="0">
              <a:buNone/>
            </a:pPr>
            <a:r>
              <a:rPr lang="en-US" sz="950" dirty="0">
                <a:solidFill>
                  <a:srgbClr val="5B6672"/>
                </a:solidFill>
                <a:latin typeface="Calibri" pitchFamily="34" charset="0"/>
                <a:ea typeface="Calibri" pitchFamily="34" charset="-122"/>
                <a:cs typeface="Calibri" pitchFamily="34" charset="-120"/>
              </a:rPr>
              <a:t>Activates Rec 3 hardest: disclose losses by cohort so the multiple stops pricing macro softness as competitive share loss.</a:t>
            </a:r>
            <a:endParaRPr lang="en-US" sz="950" dirty="0"/>
          </a:p>
        </p:txBody>
      </p:sp>
      <p:sp>
        <p:nvSpPr>
          <p:cNvPr id="13" name="Shape 11"/>
          <p:cNvSpPr/>
          <p:nvPr/>
        </p:nvSpPr>
        <p:spPr>
          <a:xfrm>
            <a:off x="4297680" y="1645920"/>
            <a:ext cx="3611880" cy="4434840"/>
          </a:xfrm>
          <a:prstGeom prst="roundRect">
            <a:avLst>
              <a:gd name="adj" fmla="val 2025"/>
            </a:avLst>
          </a:prstGeom>
          <a:solidFill>
            <a:srgbClr val="FFFFFF"/>
          </a:solidFill>
          <a:ln w="12700">
            <a:solidFill>
              <a:srgbClr val="D7E0EA"/>
            </a:solidFill>
            <a:prstDash val="solid"/>
          </a:ln>
        </p:spPr>
      </p:sp>
      <p:sp>
        <p:nvSpPr>
          <p:cNvPr id="14" name="Shape 12"/>
          <p:cNvSpPr/>
          <p:nvPr/>
        </p:nvSpPr>
        <p:spPr>
          <a:xfrm>
            <a:off x="4297680" y="1645920"/>
            <a:ext cx="3611880" cy="548640"/>
          </a:xfrm>
          <a:prstGeom prst="roundRect">
            <a:avLst>
              <a:gd name="adj" fmla="val 13333"/>
            </a:avLst>
          </a:prstGeom>
          <a:solidFill>
            <a:srgbClr val="0B1F3A"/>
          </a:solidFill>
          <a:ln/>
        </p:spPr>
      </p:sp>
      <p:sp>
        <p:nvSpPr>
          <p:cNvPr id="15" name="Text 13"/>
          <p:cNvSpPr txBox="1"/>
          <p:nvPr/>
        </p:nvSpPr>
        <p:spPr>
          <a:xfrm>
            <a:off x="4480560" y="1645920"/>
            <a:ext cx="3291840" cy="54864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SCENARIO 5  —  ECONOMIC / NON-PAY</a:t>
            </a:r>
            <a:endParaRPr lang="en-US" sz="1150" dirty="0"/>
          </a:p>
        </p:txBody>
      </p:sp>
      <p:sp>
        <p:nvSpPr>
          <p:cNvPr id="16" name="Text 14"/>
          <p:cNvSpPr txBox="1"/>
          <p:nvPr/>
        </p:nvSpPr>
        <p:spPr>
          <a:xfrm>
            <a:off x="4480560" y="2331720"/>
            <a:ext cx="3246120" cy="731520"/>
          </a:xfrm>
          <a:prstGeom prst="rect">
            <a:avLst/>
          </a:prstGeom>
          <a:noFill/>
          <a:ln/>
        </p:spPr>
        <p:txBody>
          <a:bodyPr wrap="square" lIns="0" tIns="0" rIns="0" bIns="0" rtlCol="0" anchor="t"/>
          <a:lstStyle/>
          <a:p>
            <a:pPr indent="0" marL="0">
              <a:buNone/>
            </a:pPr>
            <a:r>
              <a:rPr lang="en-US" sz="950" b="1" dirty="0">
                <a:solidFill>
                  <a:srgbClr val="B26A00"/>
                </a:solidFill>
                <a:latin typeface="Calibri" pitchFamily="34" charset="0"/>
                <a:ea typeface="Calibri" pitchFamily="34" charset="-122"/>
                <a:cs typeface="Calibri" pitchFamily="34" charset="-120"/>
              </a:rPr>
              <a:t>SIGNAL  </a:t>
            </a:r>
            <a:pPr indent="0" marL="0">
              <a:buNone/>
            </a:pPr>
            <a:r>
              <a:rPr lang="en-US" sz="950" dirty="0">
                <a:solidFill>
                  <a:srgbClr val="5B6672"/>
                </a:solidFill>
                <a:latin typeface="Calibri" pitchFamily="34" charset="0"/>
                <a:ea typeface="Calibri" pitchFamily="34" charset="-122"/>
                <a:cs typeface="Calibri" pitchFamily="34" charset="-120"/>
              </a:rPr>
              <a:t>Losses skew to non-pay disconnects and downgrades; demographics echo the ACP-expiration cohort.</a:t>
            </a:r>
            <a:endParaRPr lang="en-US" sz="950" dirty="0"/>
          </a:p>
        </p:txBody>
      </p:sp>
      <p:sp>
        <p:nvSpPr>
          <p:cNvPr id="17" name="Text 15"/>
          <p:cNvSpPr txBox="1"/>
          <p:nvPr/>
        </p:nvSpPr>
        <p:spPr>
          <a:xfrm>
            <a:off x="4480560" y="3063240"/>
            <a:ext cx="3246120" cy="731520"/>
          </a:xfrm>
          <a:prstGeom prst="rect">
            <a:avLst/>
          </a:prstGeom>
          <a:noFill/>
          <a:ln/>
        </p:spPr>
        <p:txBody>
          <a:bodyPr wrap="square" lIns="0" tIns="0" rIns="0" bIns="0" rtlCol="0" anchor="t"/>
          <a:lstStyle/>
          <a:p>
            <a:pPr indent="0" marL="0">
              <a:buNone/>
            </a:pPr>
            <a:r>
              <a:rPr lang="en-US" sz="950" b="1" dirty="0">
                <a:solidFill>
                  <a:srgbClr val="0072CE"/>
                </a:solidFill>
                <a:latin typeface="Calibri" pitchFamily="34" charset="0"/>
                <a:ea typeface="Calibri" pitchFamily="34" charset="-122"/>
                <a:cs typeface="Calibri" pitchFamily="34" charset="-120"/>
              </a:rPr>
              <a:t>PLAY  </a:t>
            </a:r>
            <a:pPr indent="0" marL="0">
              <a:buNone/>
            </a:pPr>
            <a:r>
              <a:rPr lang="en-US" sz="950" dirty="0">
                <a:solidFill>
                  <a:srgbClr val="5B6672"/>
                </a:solidFill>
                <a:latin typeface="Calibri" pitchFamily="34" charset="0"/>
                <a:ea typeface="Calibri" pitchFamily="34" charset="-122"/>
                <a:cs typeface="Calibri" pitchFamily="34" charset="-120"/>
              </a:rPr>
              <a:t>Retention-priced value tier with credit-friendly terms (deposit alternatives, seasonal pause), offered at the point of delinquency.</a:t>
            </a:r>
            <a:endParaRPr lang="en-US" sz="950" dirty="0"/>
          </a:p>
        </p:txBody>
      </p:sp>
      <p:sp>
        <p:nvSpPr>
          <p:cNvPr id="18" name="Text 16"/>
          <p:cNvSpPr txBox="1"/>
          <p:nvPr/>
        </p:nvSpPr>
        <p:spPr>
          <a:xfrm>
            <a:off x="4480560" y="3794760"/>
            <a:ext cx="3246120" cy="566928"/>
          </a:xfrm>
          <a:prstGeom prst="rect">
            <a:avLst/>
          </a:prstGeom>
          <a:noFill/>
          <a:ln/>
        </p:spPr>
        <p:txBody>
          <a:bodyPr wrap="square" lIns="0" tIns="0" rIns="0" bIns="0" rtlCol="0" anchor="t"/>
          <a:lstStyle/>
          <a:p>
            <a:pPr indent="0" marL="0">
              <a:buNone/>
            </a:pPr>
            <a:r>
              <a:rPr lang="en-US" sz="950" b="1" dirty="0">
                <a:solidFill>
                  <a:srgbClr val="B26A00"/>
                </a:solidFill>
                <a:latin typeface="Calibri" pitchFamily="34" charset="0"/>
                <a:ea typeface="Calibri" pitchFamily="34" charset="-122"/>
                <a:cs typeface="Calibri" pitchFamily="34" charset="-120"/>
              </a:rPr>
              <a:t>GATE  </a:t>
            </a:r>
            <a:pPr indent="0" marL="0">
              <a:buNone/>
            </a:pPr>
            <a:r>
              <a:rPr lang="en-US" sz="950" dirty="0">
                <a:solidFill>
                  <a:srgbClr val="5B6672"/>
                </a:solidFill>
                <a:latin typeface="Calibri" pitchFamily="34" charset="0"/>
                <a:ea typeface="Calibri" pitchFamily="34" charset="-122"/>
                <a:cs typeface="Calibri" pitchFamily="34" charset="-120"/>
              </a:rPr>
              <a:t>Save-rate × retained margin vs. discount cost + bad-debt exposure. Note 60+ day delinquencies improved in FY2025 (~82k vs. ~103k) — size before funding.</a:t>
            </a:r>
            <a:endParaRPr lang="en-US" sz="950" dirty="0"/>
          </a:p>
        </p:txBody>
      </p:sp>
      <p:sp>
        <p:nvSpPr>
          <p:cNvPr id="19" name="Text 17"/>
          <p:cNvSpPr txBox="1"/>
          <p:nvPr/>
        </p:nvSpPr>
        <p:spPr>
          <a:xfrm>
            <a:off x="4480560" y="4361688"/>
            <a:ext cx="3246120" cy="548640"/>
          </a:xfrm>
          <a:prstGeom prst="rect">
            <a:avLst/>
          </a:prstGeom>
          <a:noFill/>
          <a:ln/>
        </p:spPr>
        <p:txBody>
          <a:bodyPr wrap="square" lIns="0" tIns="0" rIns="0" bIns="0" rtlCol="0" anchor="t"/>
          <a:lstStyle/>
          <a:p>
            <a:pPr indent="0" marL="0">
              <a:buNone/>
            </a:pPr>
            <a:r>
              <a:rPr lang="en-US" sz="950" b="1" dirty="0">
                <a:solidFill>
                  <a:srgbClr val="1E7A46"/>
                </a:solidFill>
                <a:latin typeface="Calibri" pitchFamily="34" charset="0"/>
                <a:ea typeface="Calibri" pitchFamily="34" charset="-122"/>
                <a:cs typeface="Calibri" pitchFamily="34" charset="-120"/>
              </a:rPr>
              <a:t>PROOF  </a:t>
            </a:r>
            <a:pPr indent="0" marL="0">
              <a:buNone/>
            </a:pPr>
            <a:r>
              <a:rPr lang="en-US" sz="950" dirty="0">
                <a:solidFill>
                  <a:srgbClr val="5B6672"/>
                </a:solidFill>
                <a:latin typeface="Calibri" pitchFamily="34" charset="0"/>
                <a:ea typeface="Calibri" pitchFamily="34" charset="-122"/>
                <a:cs typeface="Calibri" pitchFamily="34" charset="-120"/>
              </a:rPr>
              <a:t>Save-rate on treated delinquent accounts vs. control; 6-month survival of saved accounts.</a:t>
            </a:r>
            <a:endParaRPr lang="en-US" sz="950" dirty="0"/>
          </a:p>
        </p:txBody>
      </p:sp>
      <p:sp>
        <p:nvSpPr>
          <p:cNvPr id="20" name="Text 18"/>
          <p:cNvSpPr txBox="1"/>
          <p:nvPr/>
        </p:nvSpPr>
        <p:spPr>
          <a:xfrm>
            <a:off x="4480560" y="4910328"/>
            <a:ext cx="3246120" cy="502920"/>
          </a:xfrm>
          <a:prstGeom prst="rect">
            <a:avLst/>
          </a:prstGeom>
          <a:noFill/>
          <a:ln/>
        </p:spPr>
        <p:txBody>
          <a:bodyPr wrap="square" lIns="0" tIns="0" rIns="0" bIns="0" rtlCol="0" anchor="t"/>
          <a:lstStyle/>
          <a:p>
            <a:pPr indent="0" marL="0">
              <a:buNone/>
            </a:pPr>
            <a:r>
              <a:rPr lang="en-US" sz="950" b="1" dirty="0">
                <a:solidFill>
                  <a:srgbClr val="C8102E"/>
                </a:solidFill>
                <a:latin typeface="Calibri" pitchFamily="34" charset="0"/>
                <a:ea typeface="Calibri" pitchFamily="34" charset="-122"/>
                <a:cs typeface="Calibri" pitchFamily="34" charset="-120"/>
              </a:rPr>
              <a:t>KILL  </a:t>
            </a:r>
            <a:pPr indent="0" marL="0">
              <a:buNone/>
            </a:pPr>
            <a:r>
              <a:rPr lang="en-US" sz="950" dirty="0">
                <a:solidFill>
                  <a:srgbClr val="5B6672"/>
                </a:solidFill>
                <a:latin typeface="Calibri" pitchFamily="34" charset="0"/>
                <a:ea typeface="Calibri" pitchFamily="34" charset="-122"/>
                <a:cs typeface="Calibri" pitchFamily="34" charset="-120"/>
              </a:rPr>
              <a:t>Save-rate economics below LTV threshold — let it churn and stop subsidizing.</a:t>
            </a:r>
            <a:endParaRPr lang="en-US" sz="950" dirty="0"/>
          </a:p>
        </p:txBody>
      </p:sp>
      <p:sp>
        <p:nvSpPr>
          <p:cNvPr id="21" name="Text 19"/>
          <p:cNvSpPr txBox="1"/>
          <p:nvPr/>
        </p:nvSpPr>
        <p:spPr>
          <a:xfrm>
            <a:off x="4480560" y="5413248"/>
            <a:ext cx="3246120" cy="576072"/>
          </a:xfrm>
          <a:prstGeom prst="rect">
            <a:avLst/>
          </a:prstGeom>
          <a:noFill/>
          <a:ln/>
        </p:spPr>
        <p:txBody>
          <a:bodyPr wrap="square" lIns="0" tIns="0" rIns="0" bIns="0" rtlCol="0" anchor="t"/>
          <a:lstStyle/>
          <a:p>
            <a:pPr indent="0" marL="0">
              <a:buNone/>
            </a:pPr>
            <a:r>
              <a:rPr lang="en-US" sz="950" b="1" dirty="0">
                <a:solidFill>
                  <a:srgbClr val="5B6672"/>
                </a:solidFill>
                <a:latin typeface="Calibri" pitchFamily="34" charset="0"/>
                <a:ea typeface="Calibri" pitchFamily="34" charset="-122"/>
                <a:cs typeface="Calibri" pitchFamily="34" charset="-120"/>
              </a:rPr>
              <a:t>FALLBACK  </a:t>
            </a:r>
            <a:pPr indent="0" marL="0">
              <a:buNone/>
            </a:pPr>
            <a:r>
              <a:rPr lang="en-US" sz="950" dirty="0">
                <a:solidFill>
                  <a:srgbClr val="5B6672"/>
                </a:solidFill>
                <a:latin typeface="Calibri" pitchFamily="34" charset="0"/>
                <a:ea typeface="Calibri" pitchFamily="34" charset="-122"/>
                <a:cs typeface="Calibri" pitchFamily="34" charset="-120"/>
              </a:rPr>
              <a:t>None needed: this scenario is self-limiting by design.</a:t>
            </a:r>
            <a:endParaRPr lang="en-US" sz="950" dirty="0"/>
          </a:p>
        </p:txBody>
      </p:sp>
      <p:sp>
        <p:nvSpPr>
          <p:cNvPr id="22" name="Shape 20"/>
          <p:cNvSpPr/>
          <p:nvPr/>
        </p:nvSpPr>
        <p:spPr>
          <a:xfrm>
            <a:off x="8092440" y="1645920"/>
            <a:ext cx="3611880" cy="4434840"/>
          </a:xfrm>
          <a:prstGeom prst="roundRect">
            <a:avLst>
              <a:gd name="adj" fmla="val 2025"/>
            </a:avLst>
          </a:prstGeom>
          <a:solidFill>
            <a:srgbClr val="FFFFFF"/>
          </a:solidFill>
          <a:ln w="12700">
            <a:solidFill>
              <a:srgbClr val="D7E0EA"/>
            </a:solidFill>
            <a:prstDash val="solid"/>
          </a:ln>
        </p:spPr>
      </p:sp>
      <p:sp>
        <p:nvSpPr>
          <p:cNvPr id="23" name="Shape 21"/>
          <p:cNvSpPr/>
          <p:nvPr/>
        </p:nvSpPr>
        <p:spPr>
          <a:xfrm>
            <a:off x="8092440" y="1645920"/>
            <a:ext cx="3611880" cy="548640"/>
          </a:xfrm>
          <a:prstGeom prst="roundRect">
            <a:avLst>
              <a:gd name="adj" fmla="val 13333"/>
            </a:avLst>
          </a:prstGeom>
          <a:solidFill>
            <a:srgbClr val="0B1F3A"/>
          </a:solidFill>
          <a:ln/>
        </p:spPr>
      </p:sp>
      <p:sp>
        <p:nvSpPr>
          <p:cNvPr id="24" name="Text 22"/>
          <p:cNvSpPr txBox="1"/>
          <p:nvPr/>
        </p:nvSpPr>
        <p:spPr>
          <a:xfrm>
            <a:off x="8275320" y="1645920"/>
            <a:ext cx="3291840" cy="54864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SCENARIO 6  —  NULL — NO DOMINANT DRIVER</a:t>
            </a:r>
            <a:endParaRPr lang="en-US" sz="1150" dirty="0"/>
          </a:p>
        </p:txBody>
      </p:sp>
      <p:sp>
        <p:nvSpPr>
          <p:cNvPr id="25" name="Text 23"/>
          <p:cNvSpPr txBox="1"/>
          <p:nvPr/>
        </p:nvSpPr>
        <p:spPr>
          <a:xfrm>
            <a:off x="8275320" y="2331720"/>
            <a:ext cx="3246120" cy="731520"/>
          </a:xfrm>
          <a:prstGeom prst="rect">
            <a:avLst/>
          </a:prstGeom>
          <a:noFill/>
          <a:ln/>
        </p:spPr>
        <p:txBody>
          <a:bodyPr wrap="square" lIns="0" tIns="0" rIns="0" bIns="0" rtlCol="0" anchor="t"/>
          <a:lstStyle/>
          <a:p>
            <a:pPr indent="0" marL="0">
              <a:buNone/>
            </a:pPr>
            <a:r>
              <a:rPr lang="en-US" sz="950" b="1" dirty="0">
                <a:solidFill>
                  <a:srgbClr val="0072CE"/>
                </a:solidFill>
                <a:latin typeface="Calibri" pitchFamily="34" charset="0"/>
                <a:ea typeface="Calibri" pitchFamily="34" charset="-122"/>
                <a:cs typeface="Calibri" pitchFamily="34" charset="-120"/>
              </a:rPr>
              <a:t>SIGNAL  </a:t>
            </a:r>
            <a:pPr indent="0" marL="0">
              <a:buNone/>
            </a:pPr>
            <a:r>
              <a:rPr lang="en-US" sz="950" dirty="0">
                <a:solidFill>
                  <a:srgbClr val="5B6672"/>
                </a:solidFill>
                <a:latin typeface="Calibri" pitchFamily="34" charset="0"/>
                <a:ea typeface="Calibri" pitchFamily="34" charset="-122"/>
                <a:cs typeface="Calibri" pitchFamily="34" charset="-120"/>
              </a:rPr>
              <a:t>No cause-cohort exceeds ~25–30% of losses; everything is nibbling at once. Plausibly the true state of the world — the playbook does not skip it.</a:t>
            </a:r>
            <a:endParaRPr lang="en-US" sz="950" dirty="0"/>
          </a:p>
        </p:txBody>
      </p:sp>
      <p:sp>
        <p:nvSpPr>
          <p:cNvPr id="26" name="Text 24"/>
          <p:cNvSpPr txBox="1"/>
          <p:nvPr/>
        </p:nvSpPr>
        <p:spPr>
          <a:xfrm>
            <a:off x="8275320" y="3063240"/>
            <a:ext cx="3246120" cy="731520"/>
          </a:xfrm>
          <a:prstGeom prst="rect">
            <a:avLst/>
          </a:prstGeom>
          <a:noFill/>
          <a:ln/>
        </p:spPr>
        <p:txBody>
          <a:bodyPr wrap="square" lIns="0" tIns="0" rIns="0" bIns="0" rtlCol="0" anchor="t"/>
          <a:lstStyle/>
          <a:p>
            <a:pPr indent="0" marL="0">
              <a:buNone/>
            </a:pPr>
            <a:r>
              <a:rPr lang="en-US" sz="950" b="1" dirty="0">
                <a:solidFill>
                  <a:srgbClr val="0072CE"/>
                </a:solidFill>
                <a:latin typeface="Calibri" pitchFamily="34" charset="0"/>
                <a:ea typeface="Calibri" pitchFamily="34" charset="-122"/>
                <a:cs typeface="Calibri" pitchFamily="34" charset="-120"/>
              </a:rPr>
              <a:t>PLAY  </a:t>
            </a:r>
            <a:pPr indent="0" marL="0">
              <a:buNone/>
            </a:pPr>
            <a:r>
              <a:rPr lang="en-US" sz="950" dirty="0">
                <a:solidFill>
                  <a:srgbClr val="5B6672"/>
                </a:solidFill>
                <a:latin typeface="Calibri" pitchFamily="34" charset="0"/>
                <a:ea typeface="Calibri" pitchFamily="34" charset="-122"/>
                <a:cs typeface="Calibri" pitchFamily="34" charset="-120"/>
              </a:rPr>
              <a:t>Default to Rec 3: re-segmented disclosure, steady-state post-2027 capex guidance, capital-regime shift — plus small controlled bets from Scenarios 1–3 run as experiments, not campaigns.</a:t>
            </a:r>
            <a:endParaRPr lang="en-US" sz="950" dirty="0"/>
          </a:p>
        </p:txBody>
      </p:sp>
      <p:sp>
        <p:nvSpPr>
          <p:cNvPr id="27" name="Text 25"/>
          <p:cNvSpPr txBox="1"/>
          <p:nvPr/>
        </p:nvSpPr>
        <p:spPr>
          <a:xfrm>
            <a:off x="8275320" y="3794760"/>
            <a:ext cx="3246120" cy="566928"/>
          </a:xfrm>
          <a:prstGeom prst="rect">
            <a:avLst/>
          </a:prstGeom>
          <a:noFill/>
          <a:ln/>
        </p:spPr>
        <p:txBody>
          <a:bodyPr wrap="square" lIns="0" tIns="0" rIns="0" bIns="0" rtlCol="0" anchor="t"/>
          <a:lstStyle/>
          <a:p>
            <a:pPr indent="0" marL="0">
              <a:buNone/>
            </a:pPr>
            <a:r>
              <a:rPr lang="en-US" sz="950" b="1" dirty="0">
                <a:solidFill>
                  <a:srgbClr val="B26A00"/>
                </a:solidFill>
                <a:latin typeface="Calibri" pitchFamily="34" charset="0"/>
                <a:ea typeface="Calibri" pitchFamily="34" charset="-122"/>
                <a:cs typeface="Calibri" pitchFamily="34" charset="-120"/>
              </a:rPr>
              <a:t>GATE  </a:t>
            </a:r>
            <a:pPr indent="0" marL="0">
              <a:buNone/>
            </a:pPr>
            <a:r>
              <a:rPr lang="en-US" sz="950" dirty="0">
                <a:solidFill>
                  <a:srgbClr val="5B6672"/>
                </a:solidFill>
                <a:latin typeface="Calibri" pitchFamily="34" charset="0"/>
                <a:ea typeface="Calibri" pitchFamily="34" charset="-122"/>
                <a:cs typeface="Calibri" pitchFamily="34" charset="-120"/>
              </a:rPr>
              <a:t>Disclosure costs ~nothing; experiments are spend-capped.</a:t>
            </a:r>
            <a:endParaRPr lang="en-US" sz="950" dirty="0"/>
          </a:p>
        </p:txBody>
      </p:sp>
      <p:sp>
        <p:nvSpPr>
          <p:cNvPr id="28" name="Text 26"/>
          <p:cNvSpPr txBox="1"/>
          <p:nvPr/>
        </p:nvSpPr>
        <p:spPr>
          <a:xfrm>
            <a:off x="8275320" y="4361688"/>
            <a:ext cx="3246120" cy="548640"/>
          </a:xfrm>
          <a:prstGeom prst="rect">
            <a:avLst/>
          </a:prstGeom>
          <a:noFill/>
          <a:ln/>
        </p:spPr>
        <p:txBody>
          <a:bodyPr wrap="square" lIns="0" tIns="0" rIns="0" bIns="0" rtlCol="0" anchor="t"/>
          <a:lstStyle/>
          <a:p>
            <a:pPr indent="0" marL="0">
              <a:buNone/>
            </a:pPr>
            <a:r>
              <a:rPr lang="en-US" sz="950" b="1" dirty="0">
                <a:solidFill>
                  <a:srgbClr val="1E7A46"/>
                </a:solidFill>
                <a:latin typeface="Calibri" pitchFamily="34" charset="0"/>
                <a:ea typeface="Calibri" pitchFamily="34" charset="-122"/>
                <a:cs typeface="Calibri" pitchFamily="34" charset="-120"/>
              </a:rPr>
              <a:t>PROOF  </a:t>
            </a:r>
            <a:pPr indent="0" marL="0">
              <a:buNone/>
            </a:pPr>
            <a:r>
              <a:rPr lang="en-US" sz="950" dirty="0">
                <a:solidFill>
                  <a:srgbClr val="5B6672"/>
                </a:solidFill>
                <a:latin typeface="Calibri" pitchFamily="34" charset="0"/>
                <a:ea typeface="Calibri" pitchFamily="34" charset="-122"/>
                <a:cs typeface="Calibri" pitchFamily="34" charset="-120"/>
              </a:rPr>
              <a:t>Multiple response to disclosure (does the market start pricing two businesses?); experiment read-outs feed the next cycle.</a:t>
            </a:r>
            <a:endParaRPr lang="en-US" sz="950" dirty="0"/>
          </a:p>
        </p:txBody>
      </p:sp>
      <p:sp>
        <p:nvSpPr>
          <p:cNvPr id="29" name="Text 27"/>
          <p:cNvSpPr txBox="1"/>
          <p:nvPr/>
        </p:nvSpPr>
        <p:spPr>
          <a:xfrm>
            <a:off x="8275320" y="4910328"/>
            <a:ext cx="3246120" cy="502920"/>
          </a:xfrm>
          <a:prstGeom prst="rect">
            <a:avLst/>
          </a:prstGeom>
          <a:noFill/>
          <a:ln/>
        </p:spPr>
        <p:txBody>
          <a:bodyPr wrap="square" lIns="0" tIns="0" rIns="0" bIns="0" rtlCol="0" anchor="t"/>
          <a:lstStyle/>
          <a:p>
            <a:pPr indent="0" marL="0">
              <a:buNone/>
            </a:pPr>
            <a:r>
              <a:rPr lang="en-US" sz="950" b="1" dirty="0">
                <a:solidFill>
                  <a:srgbClr val="C8102E"/>
                </a:solidFill>
                <a:latin typeface="Calibri" pitchFamily="34" charset="0"/>
                <a:ea typeface="Calibri" pitchFamily="34" charset="-122"/>
                <a:cs typeface="Calibri" pitchFamily="34" charset="-120"/>
              </a:rPr>
              <a:t>KILL  </a:t>
            </a:r>
            <a:pPr indent="0" marL="0">
              <a:buNone/>
            </a:pPr>
            <a:r>
              <a:rPr lang="en-US" sz="950" dirty="0">
                <a:solidFill>
                  <a:srgbClr val="5B6672"/>
                </a:solidFill>
                <a:latin typeface="Calibri" pitchFamily="34" charset="0"/>
                <a:ea typeface="Calibri" pitchFamily="34" charset="-122"/>
                <a:cs typeface="Calibri" pitchFamily="34" charset="-120"/>
              </a:rPr>
              <a:t>A later quarter’s read crosses a threshold → the matching scenario fires. Null is a state, not a verdict.</a:t>
            </a:r>
            <a:endParaRPr lang="en-US" sz="950" dirty="0"/>
          </a:p>
        </p:txBody>
      </p:sp>
      <p:sp>
        <p:nvSpPr>
          <p:cNvPr id="30" name="Text 28"/>
          <p:cNvSpPr txBox="1"/>
          <p:nvPr/>
        </p:nvSpPr>
        <p:spPr>
          <a:xfrm>
            <a:off x="8275320" y="5413248"/>
            <a:ext cx="3246120" cy="576072"/>
          </a:xfrm>
          <a:prstGeom prst="rect">
            <a:avLst/>
          </a:prstGeom>
          <a:noFill/>
          <a:ln/>
        </p:spPr>
        <p:txBody>
          <a:bodyPr wrap="square" lIns="0" tIns="0" rIns="0" bIns="0" rtlCol="0" anchor="t"/>
          <a:lstStyle/>
          <a:p>
            <a:pPr indent="0" marL="0">
              <a:buNone/>
            </a:pPr>
            <a:r>
              <a:rPr lang="en-US" sz="950" b="1" dirty="0">
                <a:solidFill>
                  <a:srgbClr val="5B6672"/>
                </a:solidFill>
                <a:latin typeface="Calibri" pitchFamily="34" charset="0"/>
                <a:ea typeface="Calibri" pitchFamily="34" charset="-122"/>
                <a:cs typeface="Calibri" pitchFamily="34" charset="-120"/>
              </a:rPr>
              <a:t>FALLBACK  </a:t>
            </a:r>
            <a:pPr indent="0" marL="0">
              <a:buNone/>
            </a:pPr>
            <a:r>
              <a:rPr lang="en-US" sz="950" dirty="0">
                <a:solidFill>
                  <a:srgbClr val="5B6672"/>
                </a:solidFill>
                <a:latin typeface="Calibri" pitchFamily="34" charset="0"/>
                <a:ea typeface="Calibri" pitchFamily="34" charset="-122"/>
                <a:cs typeface="Calibri" pitchFamily="34" charset="-120"/>
              </a:rPr>
              <a:t>Not applicable — Scenario 6 is the system’s floor: a defensible recommendation in every world.</a:t>
            </a:r>
            <a:endParaRPr lang="en-US" sz="950" dirty="0"/>
          </a:p>
        </p:txBody>
      </p:sp>
      <p:sp>
        <p:nvSpPr>
          <p:cNvPr id="31" name="Text 29"/>
          <p:cNvSpPr txBox="1"/>
          <p:nvPr/>
        </p:nvSpPr>
        <p:spPr>
          <a:xfrm>
            <a:off x="11567160" y="6446520"/>
            <a:ext cx="457200" cy="274320"/>
          </a:xfrm>
          <a:prstGeom prst="rect">
            <a:avLst/>
          </a:prstGeom>
          <a:noFill/>
          <a:ln/>
        </p:spPr>
        <p:txBody>
          <a:bodyPr wrap="square" lIns="0" tIns="0" rIns="0" bIns="0" rtlCol="0" anchor="ctr"/>
          <a:lstStyle/>
          <a:p>
            <a:pPr algn="r" indent="0" marL="0">
              <a:buNone/>
            </a:pPr>
            <a:r>
              <a:rPr lang="en-US" sz="1000" dirty="0">
                <a:solidFill>
                  <a:srgbClr val="8A94A0"/>
                </a:solidFill>
                <a:latin typeface="Calibri" pitchFamily="34" charset="0"/>
                <a:ea typeface="Calibri" pitchFamily="34" charset="-122"/>
                <a:cs typeface="Calibri" pitchFamily="34" charset="-120"/>
              </a:rPr>
              <a:t>15</a:t>
            </a:r>
            <a:endParaRPr lang="en-US" sz="1000" dirty="0"/>
          </a:p>
        </p:txBody>
      </p:sp>
      <p:sp>
        <p:nvSpPr>
          <p:cNvPr id="32" name="Text 30"/>
          <p:cNvSpPr txBox="1"/>
          <p:nvPr/>
        </p:nvSpPr>
        <p:spPr>
          <a:xfrm>
            <a:off x="502920" y="6446520"/>
            <a:ext cx="10881360" cy="274320"/>
          </a:xfrm>
          <a:prstGeom prst="rect">
            <a:avLst/>
          </a:prstGeom>
          <a:noFill/>
          <a:ln/>
        </p:spPr>
        <p:txBody>
          <a:bodyPr wrap="square" lIns="0" tIns="0" rIns="0" bIns="0" rtlCol="0" anchor="ctr"/>
          <a:lstStyle/>
          <a:p>
            <a:pPr indent="0" marL="0">
              <a:buNone/>
            </a:pPr>
            <a:r>
              <a:rPr lang="en-US" sz="900" dirty="0">
                <a:solidFill>
                  <a:srgbClr val="8A94A0"/>
                </a:solidFill>
                <a:latin typeface="Calibri" pitchFamily="34" charset="0"/>
                <a:ea typeface="Calibri" pitchFamily="34" charset="-122"/>
                <a:cs typeface="Calibri" pitchFamily="34" charset="-120"/>
              </a:rPr>
              <a:t>Final Presentation  ·  “Changing the Trajectory”  ·  Charter Communications (CHTR)  ·  Anchored to Q1 2026; Q2 2026 labeled as later public fact where used</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02920" y="292608"/>
            <a:ext cx="10515600" cy="274320"/>
          </a:xfrm>
          <a:prstGeom prst="rect">
            <a:avLst/>
          </a:prstGeom>
          <a:noFill/>
          <a:ln/>
        </p:spPr>
        <p:txBody>
          <a:bodyPr wrap="square" lIns="0" tIns="0" rIns="0" bIns="0" rtlCol="0" anchor="ctr"/>
          <a:lstStyle/>
          <a:p>
            <a:pPr indent="0" marL="0">
              <a:buNone/>
            </a:pPr>
            <a:r>
              <a:rPr lang="en-US" sz="1100" b="1" spc="200" kern="0" dirty="0">
                <a:solidFill>
                  <a:srgbClr val="0072CE"/>
                </a:solidFill>
                <a:latin typeface="Calibri" pitchFamily="34" charset="0"/>
                <a:ea typeface="Calibri" pitchFamily="34" charset="-122"/>
                <a:cs typeface="Calibri" pitchFamily="34" charset="-120"/>
              </a:rPr>
              <a:t>3  ·  RECOMMENDATION 3 — THE MARKET LAYER</a:t>
            </a:r>
            <a:endParaRPr lang="en-US" sz="1100" dirty="0"/>
          </a:p>
        </p:txBody>
      </p:sp>
      <p:sp>
        <p:nvSpPr>
          <p:cNvPr id="3" name="Text 1"/>
          <p:cNvSpPr txBox="1"/>
          <p:nvPr/>
        </p:nvSpPr>
        <p:spPr>
          <a:xfrm>
            <a:off x="502920" y="566928"/>
            <a:ext cx="11155680" cy="1005840"/>
          </a:xfrm>
          <a:prstGeom prst="rect">
            <a:avLst/>
          </a:prstGeom>
          <a:noFill/>
          <a:ln/>
        </p:spPr>
        <p:txBody>
          <a:bodyPr wrap="square" lIns="0" tIns="0" rIns="0" bIns="0" rtlCol="0" anchor="t"/>
          <a:lstStyle/>
          <a:p>
            <a:pPr indent="0" marL="0">
              <a:buNone/>
            </a:pPr>
            <a:r>
              <a:rPr lang="en-US" sz="2200" b="1" dirty="0">
                <a:solidFill>
                  <a:srgbClr val="0B1F3A"/>
                </a:solidFill>
                <a:latin typeface="Calibri" pitchFamily="34" charset="0"/>
                <a:ea typeface="Calibri" pitchFamily="34" charset="-122"/>
                <a:cs typeface="Calibri" pitchFamily="34" charset="-120"/>
              </a:rPr>
              <a:t>Give the market a trajectory it can verify: publish the rules, split the disclosure, and retire the signal that stopped working</a:t>
            </a:r>
            <a:endParaRPr lang="en-US" sz="2200" dirty="0"/>
          </a:p>
        </p:txBody>
      </p:sp>
      <p:sp>
        <p:nvSpPr>
          <p:cNvPr id="4" name="Shape 2"/>
          <p:cNvSpPr/>
          <p:nvPr/>
        </p:nvSpPr>
        <p:spPr>
          <a:xfrm>
            <a:off x="502920" y="1783080"/>
            <a:ext cx="3520440" cy="4160520"/>
          </a:xfrm>
          <a:prstGeom prst="roundRect">
            <a:avLst>
              <a:gd name="adj" fmla="val 2078"/>
            </a:avLst>
          </a:prstGeom>
          <a:solidFill>
            <a:srgbClr val="F2F6FB"/>
          </a:solidFill>
          <a:ln w="12700">
            <a:solidFill>
              <a:srgbClr val="D7E0EA"/>
            </a:solidFill>
            <a:prstDash val="solid"/>
          </a:ln>
        </p:spPr>
      </p:sp>
      <p:sp>
        <p:nvSpPr>
          <p:cNvPr id="5" name="Shape 3"/>
          <p:cNvSpPr/>
          <p:nvPr/>
        </p:nvSpPr>
        <p:spPr>
          <a:xfrm>
            <a:off x="731520" y="1938528"/>
            <a:ext cx="457200" cy="457200"/>
          </a:xfrm>
          <a:prstGeom prst="ellipse">
            <a:avLst/>
          </a:prstGeom>
          <a:solidFill>
            <a:srgbClr val="0072CE"/>
          </a:solidFill>
          <a:ln/>
        </p:spPr>
      </p:sp>
      <p:sp>
        <p:nvSpPr>
          <p:cNvPr id="6" name="Text 4"/>
          <p:cNvSpPr txBox="1"/>
          <p:nvPr/>
        </p:nvSpPr>
        <p:spPr>
          <a:xfrm>
            <a:off x="731520" y="193852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7" name="Text 5"/>
          <p:cNvSpPr txBox="1"/>
          <p:nvPr/>
        </p:nvSpPr>
        <p:spPr>
          <a:xfrm>
            <a:off x="1307592" y="1938528"/>
            <a:ext cx="2514600" cy="45720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Publish the triggers</a:t>
            </a:r>
            <a:endParaRPr lang="en-US" sz="1450" dirty="0"/>
          </a:p>
        </p:txBody>
      </p:sp>
      <p:sp>
        <p:nvSpPr>
          <p:cNvPr id="8" name="Text 6"/>
          <p:cNvSpPr txBox="1"/>
          <p:nvPr/>
        </p:nvSpPr>
        <p:spPr>
          <a:xfrm>
            <a:off x="731520" y="2542032"/>
            <a:ext cx="3063240" cy="2194560"/>
          </a:xfrm>
          <a:prstGeom prst="rect">
            <a:avLst/>
          </a:prstGeom>
          <a:noFill/>
          <a:ln/>
        </p:spPr>
        <p:txBody>
          <a:bodyPr wrap="square" lIns="0" tIns="0" rIns="0" bIns="0" rtlCol="0" anchor="t"/>
          <a:lstStyle/>
          <a:p>
            <a:pPr indent="0" marL="0">
              <a:buNone/>
            </a:pPr>
            <a:r>
              <a:rPr lang="en-US" sz="1050" dirty="0">
                <a:solidFill>
                  <a:srgbClr val="5B6672"/>
                </a:solidFill>
                <a:latin typeface="Calibri" pitchFamily="34" charset="0"/>
                <a:ea typeface="Calibri" pitchFamily="34" charset="-122"/>
                <a:cs typeface="Calibri" pitchFamily="34" charset="-120"/>
              </a:rPr>
              <a:t>At an investor day, disclose the playbook’s thresholds and pre-committed responses. Our event study shows the tape prices surprise; a published contingent plan means every future print arrives pre-mapped to a known response. This is a surprise-reduction machine for the one variable the market prices.</a:t>
            </a:r>
            <a:endParaRPr lang="en-US" sz="1050" dirty="0"/>
          </a:p>
        </p:txBody>
      </p:sp>
      <p:sp>
        <p:nvSpPr>
          <p:cNvPr id="9" name="Text 7"/>
          <p:cNvSpPr txBox="1"/>
          <p:nvPr/>
        </p:nvSpPr>
        <p:spPr>
          <a:xfrm>
            <a:off x="731520" y="4800600"/>
            <a:ext cx="3063240" cy="1051560"/>
          </a:xfrm>
          <a:prstGeom prst="rect">
            <a:avLst/>
          </a:prstGeom>
          <a:noFill/>
          <a:ln/>
        </p:spPr>
        <p:txBody>
          <a:bodyPr wrap="square" lIns="0" tIns="0" rIns="0" bIns="0" rtlCol="0" anchor="t"/>
          <a:lstStyle/>
          <a:p>
            <a:pPr indent="0" marL="0">
              <a:buNone/>
            </a:pPr>
            <a:r>
              <a:rPr lang="en-US" sz="1000" b="1" dirty="0">
                <a:solidFill>
                  <a:srgbClr val="0072CE"/>
                </a:solidFill>
                <a:latin typeface="Calibri" pitchFamily="34" charset="0"/>
                <a:ea typeface="Calibri" pitchFamily="34" charset="-122"/>
                <a:cs typeface="Calibri" pitchFamily="34" charset="-120"/>
              </a:rPr>
              <a:t>Why: </a:t>
            </a:r>
            <a:pPr indent="0" marL="0">
              <a:buNone/>
            </a:pPr>
            <a:r>
              <a:rPr lang="en-US" sz="1000" i="1" dirty="0">
                <a:solidFill>
                  <a:srgbClr val="5B6672"/>
                </a:solidFill>
                <a:latin typeface="Calibri" pitchFamily="34" charset="0"/>
                <a:ea typeface="Calibri" pitchFamily="34" charset="-122"/>
                <a:cs typeface="Calibri" pitchFamily="34" charset="-120"/>
              </a:rPr>
              <a:t>Comcast does not do this. It is Charter-specific and out-of-the-box in the CEO’s sense.</a:t>
            </a:r>
            <a:endParaRPr lang="en-US" sz="1000" dirty="0"/>
          </a:p>
        </p:txBody>
      </p:sp>
      <p:sp>
        <p:nvSpPr>
          <p:cNvPr id="10" name="Shape 8"/>
          <p:cNvSpPr/>
          <p:nvPr/>
        </p:nvSpPr>
        <p:spPr>
          <a:xfrm>
            <a:off x="4343400" y="1783080"/>
            <a:ext cx="3520440" cy="4160520"/>
          </a:xfrm>
          <a:prstGeom prst="roundRect">
            <a:avLst>
              <a:gd name="adj" fmla="val 2078"/>
            </a:avLst>
          </a:prstGeom>
          <a:solidFill>
            <a:srgbClr val="F2F6FB"/>
          </a:solidFill>
          <a:ln w="12700">
            <a:solidFill>
              <a:srgbClr val="D7E0EA"/>
            </a:solidFill>
            <a:prstDash val="solid"/>
          </a:ln>
        </p:spPr>
      </p:sp>
      <p:sp>
        <p:nvSpPr>
          <p:cNvPr id="11" name="Shape 9"/>
          <p:cNvSpPr/>
          <p:nvPr/>
        </p:nvSpPr>
        <p:spPr>
          <a:xfrm>
            <a:off x="4572000" y="1938528"/>
            <a:ext cx="457200" cy="457200"/>
          </a:xfrm>
          <a:prstGeom prst="ellipse">
            <a:avLst/>
          </a:prstGeom>
          <a:solidFill>
            <a:srgbClr val="0072CE"/>
          </a:solidFill>
          <a:ln/>
        </p:spPr>
      </p:sp>
      <p:sp>
        <p:nvSpPr>
          <p:cNvPr id="12" name="Text 10"/>
          <p:cNvSpPr txBox="1"/>
          <p:nvPr/>
        </p:nvSpPr>
        <p:spPr>
          <a:xfrm>
            <a:off x="4572000" y="193852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txBox="1"/>
          <p:nvPr/>
        </p:nvSpPr>
        <p:spPr>
          <a:xfrm>
            <a:off x="5148072" y="1938528"/>
            <a:ext cx="2514600" cy="45720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Re-segment the disclosure</a:t>
            </a:r>
            <a:endParaRPr lang="en-US" sz="1450" dirty="0"/>
          </a:p>
        </p:txBody>
      </p:sp>
      <p:sp>
        <p:nvSpPr>
          <p:cNvPr id="14" name="Text 12"/>
          <p:cNvSpPr txBox="1"/>
          <p:nvPr/>
        </p:nvSpPr>
        <p:spPr>
          <a:xfrm>
            <a:off x="4572000" y="2542032"/>
            <a:ext cx="3063240" cy="2194560"/>
          </a:xfrm>
          <a:prstGeom prst="rect">
            <a:avLst/>
          </a:prstGeom>
          <a:noFill/>
          <a:ln/>
        </p:spPr>
        <p:txBody>
          <a:bodyPr wrap="square" lIns="0" tIns="0" rIns="0" bIns="0" rtlCol="0" anchor="t"/>
          <a:lstStyle/>
          <a:p>
            <a:pPr indent="0" marL="0">
              <a:buNone/>
            </a:pPr>
            <a:r>
              <a:rPr lang="en-US" sz="1050" dirty="0">
                <a:solidFill>
                  <a:srgbClr val="5B6672"/>
                </a:solidFill>
                <a:latin typeface="Calibri" pitchFamily="34" charset="0"/>
                <a:ea typeface="Calibri" pitchFamily="34" charset="-122"/>
                <a:cs typeface="Calibri" pitchFamily="34" charset="-120"/>
              </a:rPr>
              <a:t>Report the subsidized rural build (growing, ~$8B program, “infrastructure-style returns”) separately from the mature core footprint. Publish churn by exposure class once the sensor validates it. Guide steady-state post-2027 capex explicitly so the ~$11.4B → lower step-down is a number, not a hope.</a:t>
            </a:r>
            <a:endParaRPr lang="en-US" sz="1050" dirty="0"/>
          </a:p>
        </p:txBody>
      </p:sp>
      <p:sp>
        <p:nvSpPr>
          <p:cNvPr id="15" name="Text 13"/>
          <p:cNvSpPr txBox="1"/>
          <p:nvPr/>
        </p:nvSpPr>
        <p:spPr>
          <a:xfrm>
            <a:off x="4572000" y="4800600"/>
            <a:ext cx="3063240" cy="1051560"/>
          </a:xfrm>
          <a:prstGeom prst="rect">
            <a:avLst/>
          </a:prstGeom>
          <a:noFill/>
          <a:ln/>
        </p:spPr>
        <p:txBody>
          <a:bodyPr wrap="square" lIns="0" tIns="0" rIns="0" bIns="0" rtlCol="0" anchor="t"/>
          <a:lstStyle/>
          <a:p>
            <a:pPr indent="0" marL="0">
              <a:buNone/>
            </a:pPr>
            <a:r>
              <a:rPr lang="en-US" sz="1000" b="1" dirty="0">
                <a:solidFill>
                  <a:srgbClr val="0072CE"/>
                </a:solidFill>
                <a:latin typeface="Calibri" pitchFamily="34" charset="0"/>
                <a:ea typeface="Calibri" pitchFamily="34" charset="-122"/>
                <a:cs typeface="Calibri" pitchFamily="34" charset="-120"/>
              </a:rPr>
              <a:t>Why: </a:t>
            </a:r>
            <a:pPr indent="0" marL="0">
              <a:buNone/>
            </a:pPr>
            <a:r>
              <a:rPr lang="en-US" sz="1000" i="1" dirty="0">
                <a:solidFill>
                  <a:srgbClr val="5B6672"/>
                </a:solidFill>
                <a:latin typeface="Calibri" pitchFamily="34" charset="0"/>
                <a:ea typeface="Calibri" pitchFamily="34" charset="-122"/>
                <a:cs typeface="Calibri" pitchFamily="34" charset="-120"/>
              </a:rPr>
              <a:t>Forces the market to price two businesses instead of one melting one. Risk: if non-overlap losses show up, the bears get a better model — own it.</a:t>
            </a:r>
            <a:endParaRPr lang="en-US" sz="1000" dirty="0"/>
          </a:p>
        </p:txBody>
      </p:sp>
      <p:sp>
        <p:nvSpPr>
          <p:cNvPr id="16" name="Shape 14"/>
          <p:cNvSpPr/>
          <p:nvPr/>
        </p:nvSpPr>
        <p:spPr>
          <a:xfrm>
            <a:off x="8183880" y="1783080"/>
            <a:ext cx="3520440" cy="4160520"/>
          </a:xfrm>
          <a:prstGeom prst="roundRect">
            <a:avLst>
              <a:gd name="adj" fmla="val 2078"/>
            </a:avLst>
          </a:prstGeom>
          <a:solidFill>
            <a:srgbClr val="F2F6FB"/>
          </a:solidFill>
          <a:ln w="12700">
            <a:solidFill>
              <a:srgbClr val="D7E0EA"/>
            </a:solidFill>
            <a:prstDash val="solid"/>
          </a:ln>
        </p:spPr>
      </p:sp>
      <p:sp>
        <p:nvSpPr>
          <p:cNvPr id="17" name="Shape 15"/>
          <p:cNvSpPr/>
          <p:nvPr/>
        </p:nvSpPr>
        <p:spPr>
          <a:xfrm>
            <a:off x="8412480" y="1938528"/>
            <a:ext cx="457200" cy="457200"/>
          </a:xfrm>
          <a:prstGeom prst="ellipse">
            <a:avLst/>
          </a:prstGeom>
          <a:solidFill>
            <a:srgbClr val="0072CE"/>
          </a:solidFill>
          <a:ln/>
        </p:spPr>
      </p:sp>
      <p:sp>
        <p:nvSpPr>
          <p:cNvPr id="18" name="Text 16"/>
          <p:cNvSpPr txBox="1"/>
          <p:nvPr/>
        </p:nvSpPr>
        <p:spPr>
          <a:xfrm>
            <a:off x="8412480" y="193852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txBox="1"/>
          <p:nvPr/>
        </p:nvSpPr>
        <p:spPr>
          <a:xfrm>
            <a:off x="8988552" y="1938528"/>
            <a:ext cx="2514600" cy="45720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Change the capital regime</a:t>
            </a:r>
            <a:endParaRPr lang="en-US" sz="1450" dirty="0"/>
          </a:p>
        </p:txBody>
      </p:sp>
      <p:sp>
        <p:nvSpPr>
          <p:cNvPr id="20" name="Text 18"/>
          <p:cNvSpPr txBox="1"/>
          <p:nvPr/>
        </p:nvSpPr>
        <p:spPr>
          <a:xfrm>
            <a:off x="8412480" y="2542032"/>
            <a:ext cx="3063240" cy="2194560"/>
          </a:xfrm>
          <a:prstGeom prst="rect">
            <a:avLst/>
          </a:prstGeom>
          <a:noFill/>
          <a:ln/>
        </p:spPr>
        <p:txBody>
          <a:bodyPr wrap="square" lIns="0" tIns="0" rIns="0" bIns="0" rtlCol="0" anchor="t"/>
          <a:lstStyle/>
          <a:p>
            <a:pPr indent="0" marL="0">
              <a:buNone/>
            </a:pPr>
            <a:r>
              <a:rPr lang="en-US" sz="1050" dirty="0">
                <a:solidFill>
                  <a:srgbClr val="5B6672"/>
                </a:solidFill>
                <a:latin typeface="Calibri" pitchFamily="34" charset="0"/>
                <a:ea typeface="Calibri" pitchFamily="34" charset="-122"/>
                <a:cs typeface="Calibri" pitchFamily="34" charset="-120"/>
              </a:rPr>
              <a:t>Suspend discretionary buybacks and deleverage below 4.0x until Internet net adds stabilize for two consecutive quarters. $79.7B of repurchases since 2016 converted flat earnings into EPS growth; the last $5.4B bought no price support. Redirect the cash to the balance sheet, where a lower interest bill (~$5B/yr) is visible in FCF.</a:t>
            </a:r>
            <a:endParaRPr lang="en-US" sz="1050" dirty="0"/>
          </a:p>
        </p:txBody>
      </p:sp>
      <p:sp>
        <p:nvSpPr>
          <p:cNvPr id="21" name="Text 19"/>
          <p:cNvSpPr txBox="1"/>
          <p:nvPr/>
        </p:nvSpPr>
        <p:spPr>
          <a:xfrm>
            <a:off x="8412480" y="4800600"/>
            <a:ext cx="3063240" cy="1051560"/>
          </a:xfrm>
          <a:prstGeom prst="rect">
            <a:avLst/>
          </a:prstGeom>
          <a:noFill/>
          <a:ln/>
        </p:spPr>
        <p:txBody>
          <a:bodyPr wrap="square" lIns="0" tIns="0" rIns="0" bIns="0" rtlCol="0" anchor="t"/>
          <a:lstStyle/>
          <a:p>
            <a:pPr indent="0" marL="0">
              <a:buNone/>
            </a:pPr>
            <a:r>
              <a:rPr lang="en-US" sz="1000" b="1" dirty="0">
                <a:solidFill>
                  <a:srgbClr val="0072CE"/>
                </a:solidFill>
                <a:latin typeface="Calibri" pitchFamily="34" charset="0"/>
                <a:ea typeface="Calibri" pitchFamily="34" charset="-122"/>
                <a:cs typeface="Calibri" pitchFamily="34" charset="-120"/>
              </a:rPr>
              <a:t>Why: </a:t>
            </a:r>
            <a:pPr indent="0" marL="0">
              <a:buNone/>
            </a:pPr>
            <a:r>
              <a:rPr lang="en-US" sz="1000" i="1" dirty="0">
                <a:solidFill>
                  <a:srgbClr val="5B6672"/>
                </a:solidFill>
                <a:latin typeface="Calibri" pitchFamily="34" charset="0"/>
                <a:ea typeface="Calibri" pitchFamily="34" charset="-122"/>
                <a:cs typeface="Calibri" pitchFamily="34" charset="-120"/>
              </a:rPr>
              <a:t>The buyback signal is demonstrably spent. Deleveraging is the credible act that says management believes the fundamentals — and it shrinks the equity stub’s downside.</a:t>
            </a:r>
            <a:endParaRPr lang="en-US" sz="1000" dirty="0"/>
          </a:p>
        </p:txBody>
      </p:sp>
      <p:sp>
        <p:nvSpPr>
          <p:cNvPr id="22" name="Text 20"/>
          <p:cNvSpPr txBox="1"/>
          <p:nvPr/>
        </p:nvSpPr>
        <p:spPr>
          <a:xfrm>
            <a:off x="502920" y="6144768"/>
            <a:ext cx="11155680" cy="256032"/>
          </a:xfrm>
          <a:prstGeom prst="rect">
            <a:avLst/>
          </a:prstGeom>
          <a:noFill/>
          <a:ln/>
        </p:spPr>
        <p:txBody>
          <a:bodyPr wrap="square" lIns="0" tIns="0" rIns="0" bIns="0" rtlCol="0" anchor="ctr"/>
          <a:lstStyle/>
          <a:p>
            <a:pPr indent="0" marL="0">
              <a:buNone/>
            </a:pPr>
            <a:r>
              <a:rPr lang="en-US" sz="900" i="1" dirty="0">
                <a:solidFill>
                  <a:srgbClr val="8A94A0"/>
                </a:solidFill>
                <a:latin typeface="Calibri" pitchFamily="34" charset="0"/>
                <a:ea typeface="Calibri" pitchFamily="34" charset="-122"/>
                <a:cs typeface="Calibri" pitchFamily="34" charset="-120"/>
              </a:rPr>
              <a:t>Source: FY2025 10-K (buybacks, rural program, capex guide); Q1 2026 10-Q (4.15x leverage; $1.0B Q1 repurchases). Regime and disclosure design are team recommendations.</a:t>
            </a:r>
            <a:endParaRPr lang="en-US" sz="900" dirty="0"/>
          </a:p>
        </p:txBody>
      </p:sp>
      <p:sp>
        <p:nvSpPr>
          <p:cNvPr id="23" name="Text 21"/>
          <p:cNvSpPr txBox="1"/>
          <p:nvPr/>
        </p:nvSpPr>
        <p:spPr>
          <a:xfrm>
            <a:off x="11567160" y="6446520"/>
            <a:ext cx="457200" cy="274320"/>
          </a:xfrm>
          <a:prstGeom prst="rect">
            <a:avLst/>
          </a:prstGeom>
          <a:noFill/>
          <a:ln/>
        </p:spPr>
        <p:txBody>
          <a:bodyPr wrap="square" lIns="0" tIns="0" rIns="0" bIns="0" rtlCol="0" anchor="ctr"/>
          <a:lstStyle/>
          <a:p>
            <a:pPr algn="r" indent="0" marL="0">
              <a:buNone/>
            </a:pPr>
            <a:r>
              <a:rPr lang="en-US" sz="1000" dirty="0">
                <a:solidFill>
                  <a:srgbClr val="8A94A0"/>
                </a:solidFill>
                <a:latin typeface="Calibri" pitchFamily="34" charset="0"/>
                <a:ea typeface="Calibri" pitchFamily="34" charset="-122"/>
                <a:cs typeface="Calibri" pitchFamily="34" charset="-120"/>
              </a:rPr>
              <a:t>16</a:t>
            </a:r>
            <a:endParaRPr lang="en-US" sz="1000" dirty="0"/>
          </a:p>
        </p:txBody>
      </p:sp>
      <p:sp>
        <p:nvSpPr>
          <p:cNvPr id="24" name="Text 22"/>
          <p:cNvSpPr txBox="1"/>
          <p:nvPr/>
        </p:nvSpPr>
        <p:spPr>
          <a:xfrm>
            <a:off x="502920" y="6446520"/>
            <a:ext cx="10881360" cy="274320"/>
          </a:xfrm>
          <a:prstGeom prst="rect">
            <a:avLst/>
          </a:prstGeom>
          <a:noFill/>
          <a:ln/>
        </p:spPr>
        <p:txBody>
          <a:bodyPr wrap="square" lIns="0" tIns="0" rIns="0" bIns="0" rtlCol="0" anchor="ctr"/>
          <a:lstStyle/>
          <a:p>
            <a:pPr indent="0" marL="0">
              <a:buNone/>
            </a:pPr>
            <a:r>
              <a:rPr lang="en-US" sz="900" dirty="0">
                <a:solidFill>
                  <a:srgbClr val="8A94A0"/>
                </a:solidFill>
                <a:latin typeface="Calibri" pitchFamily="34" charset="0"/>
                <a:ea typeface="Calibri" pitchFamily="34" charset="-122"/>
                <a:cs typeface="Calibri" pitchFamily="34" charset="-120"/>
              </a:rPr>
              <a:t>Final Presentation  ·  “Changing the Trajectory”  ·  Charter Communications (CHTR)  ·  Anchored to Q1 2026; Q2 2026 labeled as later public fact where used</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02920" y="292608"/>
            <a:ext cx="10515600" cy="274320"/>
          </a:xfrm>
          <a:prstGeom prst="rect">
            <a:avLst/>
          </a:prstGeom>
          <a:noFill/>
          <a:ln/>
        </p:spPr>
        <p:txBody>
          <a:bodyPr wrap="square" lIns="0" tIns="0" rIns="0" bIns="0" rtlCol="0" anchor="ctr"/>
          <a:lstStyle/>
          <a:p>
            <a:pPr indent="0" marL="0">
              <a:buNone/>
            </a:pPr>
            <a:r>
              <a:rPr lang="en-US" sz="1100" b="1" spc="200" kern="0" dirty="0">
                <a:solidFill>
                  <a:srgbClr val="0072CE"/>
                </a:solidFill>
                <a:latin typeface="Calibri" pitchFamily="34" charset="0"/>
                <a:ea typeface="Calibri" pitchFamily="34" charset="-122"/>
                <a:cs typeface="Calibri" pitchFamily="34" charset="-120"/>
              </a:rPr>
              <a:t>4  ·  FEASIBILITY — DOES IT MOVE THE NEEDLE?</a:t>
            </a:r>
            <a:endParaRPr lang="en-US" sz="1100" dirty="0"/>
          </a:p>
        </p:txBody>
      </p:sp>
      <p:sp>
        <p:nvSpPr>
          <p:cNvPr id="3" name="Text 1"/>
          <p:cNvSpPr txBox="1"/>
          <p:nvPr/>
        </p:nvSpPr>
        <p:spPr>
          <a:xfrm>
            <a:off x="502920" y="566928"/>
            <a:ext cx="11155680" cy="1005840"/>
          </a:xfrm>
          <a:prstGeom prst="rect">
            <a:avLst/>
          </a:prstGeom>
          <a:noFill/>
          <a:ln/>
        </p:spPr>
        <p:txBody>
          <a:bodyPr wrap="square" lIns="0" tIns="0" rIns="0" bIns="0" rtlCol="0" anchor="t"/>
          <a:lstStyle/>
          <a:p>
            <a:pPr indent="0" marL="0">
              <a:buNone/>
            </a:pPr>
            <a:r>
              <a:rPr lang="en-US" sz="2200" b="1" dirty="0">
                <a:solidFill>
                  <a:srgbClr val="0B1F3A"/>
                </a:solidFill>
                <a:latin typeface="Calibri" pitchFamily="34" charset="0"/>
                <a:ea typeface="Calibri" pitchFamily="34" charset="-122"/>
                <a:cs typeface="Calibri" pitchFamily="34" charset="-120"/>
              </a:rPr>
              <a:t>It does not need to return Charter to growth. It needs to bend the second derivative by more than the Street has modeled</a:t>
            </a:r>
            <a:endParaRPr lang="en-US" sz="2200" dirty="0"/>
          </a:p>
        </p:txBody>
      </p:sp>
      <p:sp>
        <p:nvSpPr>
          <p:cNvPr id="4" name="Shape 2"/>
          <p:cNvSpPr/>
          <p:nvPr/>
        </p:nvSpPr>
        <p:spPr>
          <a:xfrm>
            <a:off x="502920" y="1828800"/>
            <a:ext cx="3657600" cy="4114800"/>
          </a:xfrm>
          <a:prstGeom prst="roundRect">
            <a:avLst>
              <a:gd name="adj" fmla="val 2000"/>
            </a:avLst>
          </a:prstGeom>
          <a:solidFill>
            <a:srgbClr val="F2F6FB"/>
          </a:solidFill>
          <a:ln w="12700">
            <a:solidFill>
              <a:srgbClr val="D7E0EA"/>
            </a:solidFill>
            <a:prstDash val="solid"/>
          </a:ln>
        </p:spPr>
      </p:sp>
      <p:sp>
        <p:nvSpPr>
          <p:cNvPr id="5" name="Text 3"/>
          <p:cNvSpPr txBox="1"/>
          <p:nvPr/>
        </p:nvSpPr>
        <p:spPr>
          <a:xfrm>
            <a:off x="731520" y="1965960"/>
            <a:ext cx="3200400" cy="256032"/>
          </a:xfrm>
          <a:prstGeom prst="rect">
            <a:avLst/>
          </a:prstGeom>
          <a:noFill/>
          <a:ln/>
        </p:spPr>
        <p:txBody>
          <a:bodyPr wrap="square" lIns="0" tIns="0" rIns="0" bIns="0" rtlCol="0" anchor="ctr"/>
          <a:lstStyle/>
          <a:p>
            <a:pPr indent="0" marL="0">
              <a:buNone/>
            </a:pPr>
            <a:r>
              <a:rPr lang="en-US" sz="1000" b="1" spc="150" kern="0" dirty="0">
                <a:solidFill>
                  <a:srgbClr val="0072CE"/>
                </a:solidFill>
                <a:latin typeface="Calibri" pitchFamily="34" charset="0"/>
                <a:ea typeface="Calibri" pitchFamily="34" charset="-122"/>
                <a:cs typeface="Calibri" pitchFamily="34" charset="-120"/>
              </a:rPr>
              <a:t>THE TARGET PRINTS</a:t>
            </a:r>
            <a:endParaRPr lang="en-US" sz="1000" dirty="0"/>
          </a:p>
        </p:txBody>
      </p:sp>
      <p:sp>
        <p:nvSpPr>
          <p:cNvPr id="6" name="Text 4"/>
          <p:cNvSpPr txBox="1"/>
          <p:nvPr/>
        </p:nvSpPr>
        <p:spPr>
          <a:xfrm>
            <a:off x="731520" y="2286000"/>
            <a:ext cx="3200400" cy="3566160"/>
          </a:xfrm>
          <a:prstGeom prst="rect">
            <a:avLst/>
          </a:prstGeom>
          <a:noFill/>
          <a:ln/>
        </p:spPr>
        <p:txBody>
          <a:bodyPr wrap="square" lIns="0" tIns="0" rIns="0" bIns="0" rtlCol="0" anchor="t"/>
          <a:lstStyle/>
          <a:p>
            <a:pPr indent="0" marL="0">
              <a:spcAft>
                <a:spcPts val="1000"/>
              </a:spcAft>
              <a:buNone/>
            </a:pPr>
            <a:r>
              <a:rPr lang="en-US" sz="1400" b="1" dirty="0">
                <a:solidFill>
                  <a:srgbClr val="0B1F3A"/>
                </a:solidFill>
                <a:latin typeface="Calibri" pitchFamily="34" charset="0"/>
                <a:ea typeface="Calibri" pitchFamily="34" charset="-122"/>
                <a:cs typeface="Calibri" pitchFamily="34" charset="-120"/>
              </a:rPr>
              <a:t>Q1 2027 must beat −120k.</a:t>
            </a:r>
            <a:endParaRPr lang="en-US" sz="1100" dirty="0"/>
          </a:p>
          <a:p>
            <a:pPr indent="0" marL="0">
              <a:spcAft>
                <a:spcPts val="1000"/>
              </a:spcAft>
              <a:buNone/>
            </a:pPr>
            <a:r>
              <a:rPr lang="en-US" sz="1400" b="1" dirty="0">
                <a:solidFill>
                  <a:srgbClr val="0B1F3A"/>
                </a:solidFill>
                <a:latin typeface="Calibri" pitchFamily="34" charset="0"/>
                <a:ea typeface="Calibri" pitchFamily="34" charset="-122"/>
                <a:cs typeface="Calibri" pitchFamily="34" charset="-120"/>
              </a:rPr>
              <a:t>Q2 2027 must beat −172k.</a:t>
            </a:r>
            <a:endParaRPr lang="en-US" sz="1100" dirty="0"/>
          </a:p>
          <a:p>
            <a:pPr indent="0" marL="0">
              <a:spcAft>
                <a:spcPts val="1000"/>
              </a:spcAft>
              <a:buNone/>
            </a:pPr>
            <a:r>
              <a:rPr lang="en-US" sz="1100" dirty="0">
                <a:solidFill>
                  <a:srgbClr val="5B6672"/>
                </a:solidFill>
                <a:latin typeface="Calibri" pitchFamily="34" charset="0"/>
                <a:ea typeface="Calibri" pitchFamily="34" charset="-122"/>
                <a:cs typeface="Calibri" pitchFamily="34" charset="-120"/>
              </a:rPr>
              <a:t>On a ~29.5M base at roughly 1% monthly churn, quarterly disconnects run ~880–970k. Neutralizing a −120k quarter is ~13 bps of monthly churn; turning Q2’27 into a visible YoY improvement is ~6–8 bps.</a:t>
            </a:r>
            <a:endParaRPr lang="en-US" sz="1100" dirty="0"/>
          </a:p>
          <a:p>
            <a:pPr indent="0" marL="0">
              <a:spcAft>
                <a:spcPts val="800"/>
              </a:spcAft>
              <a:buNone/>
            </a:pPr>
            <a:r>
              <a:rPr lang="en-US" sz="1100" dirty="0">
                <a:solidFill>
                  <a:srgbClr val="5B6672"/>
                </a:solidFill>
                <a:latin typeface="Calibri" pitchFamily="34" charset="0"/>
                <a:ea typeface="Calibri" pitchFamily="34" charset="-122"/>
                <a:cs typeface="Calibri" pitchFamily="34" charset="-120"/>
              </a:rPr>
              <a:t>A 6–13 bps improvement is a segmented retention program, not a miracle — and it only has to land in the cohort the sensor identifies.</a:t>
            </a:r>
            <a:endParaRPr lang="en-US" sz="1100" dirty="0"/>
          </a:p>
          <a:p>
            <a:pPr indent="0" marL="0">
              <a:buNone/>
            </a:pPr>
            <a:r>
              <a:rPr lang="en-US" sz="950" i="1" dirty="0">
                <a:solidFill>
                  <a:srgbClr val="0072CE"/>
                </a:solidFill>
                <a:latin typeface="Calibri" pitchFamily="34" charset="0"/>
                <a:ea typeface="Calibri" pitchFamily="34" charset="-122"/>
                <a:cs typeface="Calibri" pitchFamily="34" charset="-120"/>
              </a:rPr>
              <a:t>[Churn not disclosed; ~1% monthly is a team assumption]</a:t>
            </a:r>
            <a:endParaRPr lang="en-US" sz="1100" dirty="0"/>
          </a:p>
        </p:txBody>
      </p:sp>
      <p:sp>
        <p:nvSpPr>
          <p:cNvPr id="7" name="Shape 5"/>
          <p:cNvSpPr/>
          <p:nvPr/>
        </p:nvSpPr>
        <p:spPr>
          <a:xfrm>
            <a:off x="4297680" y="1828800"/>
            <a:ext cx="3657600" cy="4114800"/>
          </a:xfrm>
          <a:prstGeom prst="roundRect">
            <a:avLst>
              <a:gd name="adj" fmla="val 2000"/>
            </a:avLst>
          </a:prstGeom>
          <a:solidFill>
            <a:srgbClr val="F2F6FB"/>
          </a:solidFill>
          <a:ln w="12700">
            <a:solidFill>
              <a:srgbClr val="D7E0EA"/>
            </a:solidFill>
            <a:prstDash val="solid"/>
          </a:ln>
        </p:spPr>
      </p:sp>
      <p:sp>
        <p:nvSpPr>
          <p:cNvPr id="8" name="Text 6"/>
          <p:cNvSpPr txBox="1"/>
          <p:nvPr/>
        </p:nvSpPr>
        <p:spPr>
          <a:xfrm>
            <a:off x="4526280" y="1965960"/>
            <a:ext cx="3200400" cy="256032"/>
          </a:xfrm>
          <a:prstGeom prst="rect">
            <a:avLst/>
          </a:prstGeom>
          <a:noFill/>
          <a:ln/>
        </p:spPr>
        <p:txBody>
          <a:bodyPr wrap="square" lIns="0" tIns="0" rIns="0" bIns="0" rtlCol="0" anchor="ctr"/>
          <a:lstStyle/>
          <a:p>
            <a:pPr indent="0" marL="0">
              <a:buNone/>
            </a:pPr>
            <a:r>
              <a:rPr lang="en-US" sz="1000" b="1" spc="150" kern="0" dirty="0">
                <a:solidFill>
                  <a:srgbClr val="0072CE"/>
                </a:solidFill>
                <a:latin typeface="Calibri" pitchFamily="34" charset="0"/>
                <a:ea typeface="Calibri" pitchFamily="34" charset="-122"/>
                <a:cs typeface="Calibri" pitchFamily="34" charset="-120"/>
              </a:rPr>
              <a:t>THE EQUITY STUB AMPLIFIES IT</a:t>
            </a:r>
            <a:endParaRPr lang="en-US" sz="1000" dirty="0"/>
          </a:p>
        </p:txBody>
      </p:sp>
      <p:sp>
        <p:nvSpPr>
          <p:cNvPr id="9" name="Text 7"/>
          <p:cNvSpPr txBox="1"/>
          <p:nvPr/>
        </p:nvSpPr>
        <p:spPr>
          <a:xfrm>
            <a:off x="4526280" y="2286000"/>
            <a:ext cx="3200400" cy="3566160"/>
          </a:xfrm>
          <a:prstGeom prst="rect">
            <a:avLst/>
          </a:prstGeom>
          <a:noFill/>
          <a:ln/>
        </p:spPr>
        <p:txBody>
          <a:bodyPr wrap="square" lIns="0" tIns="0" rIns="0" bIns="0" rtlCol="0" anchor="t"/>
          <a:lstStyle/>
          <a:p>
            <a:pPr indent="0" marL="0">
              <a:spcAft>
                <a:spcPts val="1000"/>
              </a:spcAft>
              <a:buNone/>
            </a:pPr>
            <a:r>
              <a:rPr lang="en-US" sz="1400" b="1" dirty="0">
                <a:solidFill>
                  <a:srgbClr val="0B1F3A"/>
                </a:solidFill>
                <a:latin typeface="Calibri" pitchFamily="34" charset="0"/>
                <a:ea typeface="Calibri" pitchFamily="34" charset="-122"/>
                <a:cs typeface="Calibri" pitchFamily="34" charset="-120"/>
              </a:rPr>
              <a:t>~$25B equity on ~$119B EV</a:t>
            </a:r>
            <a:endParaRPr lang="en-US" sz="1100" dirty="0"/>
          </a:p>
          <a:p>
            <a:pPr indent="0" marL="0">
              <a:spcAft>
                <a:spcPts val="800"/>
              </a:spcAft>
              <a:buNone/>
            </a:pPr>
            <a:r>
              <a:rPr lang="en-US" sz="1100" dirty="0">
                <a:solidFill>
                  <a:srgbClr val="5B6672"/>
                </a:solidFill>
                <a:latin typeface="Calibri" pitchFamily="34" charset="0"/>
                <a:ea typeface="Calibri" pitchFamily="34" charset="-122"/>
                <a:cs typeface="Calibri" pitchFamily="34" charset="-120"/>
              </a:rPr>
              <a:t>At the April 24, 2026 close ($180) with ~$94B net debt and ~$22.6B TTM EBITDA, Charter trades near 5.3x. Because the equity is a thin slice of the enterprise:</a:t>
            </a:r>
            <a:endParaRPr lang="en-US" sz="1100" dirty="0"/>
          </a:p>
          <a:p>
            <a:pPr marL="342900" indent="-342900">
              <a:spcAft>
                <a:spcPts val="500"/>
              </a:spcAft>
              <a:buSzPct val="100000"/>
              <a:buChar char="•"/>
            </a:pPr>
            <a:r>
              <a:rPr lang="en-US" sz="1100" b="1" dirty="0">
                <a:solidFill>
                  <a:srgbClr val="0B1F3A"/>
                </a:solidFill>
                <a:latin typeface="Calibri" pitchFamily="34" charset="0"/>
                <a:ea typeface="Calibri" pitchFamily="34" charset="-122"/>
                <a:cs typeface="Calibri" pitchFamily="34" charset="-120"/>
              </a:rPr>
              <a:t>0.1x of EV/EBITDA ≈ $2.3B ≈ 9% of the market cap</a:t>
            </a:r>
            <a:endParaRPr lang="en-US" sz="1100" dirty="0"/>
          </a:p>
          <a:p>
            <a:pPr marL="342900" indent="-342900">
              <a:spcAft>
                <a:spcPts val="800"/>
              </a:spcAft>
              <a:buSzPct val="100000"/>
              <a:buChar char="•"/>
            </a:pPr>
            <a:r>
              <a:rPr lang="en-US" sz="1100" b="1" dirty="0">
                <a:solidFill>
                  <a:srgbClr val="0B1F3A"/>
                </a:solidFill>
                <a:latin typeface="Calibri" pitchFamily="34" charset="0"/>
                <a:ea typeface="Calibri" pitchFamily="34" charset="-122"/>
                <a:cs typeface="Calibri" pitchFamily="34" charset="-120"/>
              </a:rPr>
              <a:t>0.5x re-rating from “engine shrinking” to “engine stabilized” ≈ 45% of the market cap</a:t>
            </a:r>
            <a:endParaRPr lang="en-US" sz="1100" dirty="0"/>
          </a:p>
          <a:p>
            <a:pPr indent="0" marL="0">
              <a:spcAft>
                <a:spcPts val="800"/>
              </a:spcAft>
              <a:buNone/>
            </a:pPr>
            <a:r>
              <a:rPr lang="en-US" sz="1100" dirty="0">
                <a:solidFill>
                  <a:srgbClr val="5B6672"/>
                </a:solidFill>
                <a:latin typeface="Calibri" pitchFamily="34" charset="0"/>
                <a:ea typeface="Calibri" pitchFamily="34" charset="-122"/>
                <a:cs typeface="Calibri" pitchFamily="34" charset="-120"/>
              </a:rPr>
              <a:t>This is why a churn program measured in basis points can be a share-price program measured in tens of percent.</a:t>
            </a:r>
            <a:endParaRPr lang="en-US" sz="1100" dirty="0"/>
          </a:p>
          <a:p>
            <a:pPr indent="0" marL="0">
              <a:buNone/>
            </a:pPr>
            <a:r>
              <a:rPr lang="en-US" sz="950" i="1" dirty="0">
                <a:solidFill>
                  <a:srgbClr val="0072CE"/>
                </a:solidFill>
                <a:latin typeface="Calibri" pitchFamily="34" charset="0"/>
                <a:ea typeface="Calibri" pitchFamily="34" charset="-122"/>
                <a:cs typeface="Calibri" pitchFamily="34" charset="-120"/>
              </a:rPr>
              <a:t>[Team estimate from filings and Yahoo close; analysis, not a filing]</a:t>
            </a:r>
            <a:endParaRPr lang="en-US" sz="1100" dirty="0"/>
          </a:p>
        </p:txBody>
      </p:sp>
      <p:sp>
        <p:nvSpPr>
          <p:cNvPr id="10" name="Shape 8"/>
          <p:cNvSpPr/>
          <p:nvPr/>
        </p:nvSpPr>
        <p:spPr>
          <a:xfrm>
            <a:off x="8092440" y="1828800"/>
            <a:ext cx="3611880" cy="4114800"/>
          </a:xfrm>
          <a:prstGeom prst="roundRect">
            <a:avLst>
              <a:gd name="adj" fmla="val 2025"/>
            </a:avLst>
          </a:prstGeom>
          <a:solidFill>
            <a:srgbClr val="FFFFFF"/>
          </a:solidFill>
          <a:ln w="12700">
            <a:solidFill>
              <a:srgbClr val="D7E0EA"/>
            </a:solidFill>
            <a:prstDash val="solid"/>
          </a:ln>
        </p:spPr>
      </p:sp>
      <p:sp>
        <p:nvSpPr>
          <p:cNvPr id="11" name="Text 9"/>
          <p:cNvSpPr txBox="1"/>
          <p:nvPr/>
        </p:nvSpPr>
        <p:spPr>
          <a:xfrm>
            <a:off x="8321040" y="1965960"/>
            <a:ext cx="3200400" cy="256032"/>
          </a:xfrm>
          <a:prstGeom prst="rect">
            <a:avLst/>
          </a:prstGeom>
          <a:noFill/>
          <a:ln/>
        </p:spPr>
        <p:txBody>
          <a:bodyPr wrap="square" lIns="0" tIns="0" rIns="0" bIns="0" rtlCol="0" anchor="ctr"/>
          <a:lstStyle/>
          <a:p>
            <a:pPr indent="0" marL="0">
              <a:buNone/>
            </a:pPr>
            <a:r>
              <a:rPr lang="en-US" sz="1000" b="1" spc="150" kern="0" dirty="0">
                <a:solidFill>
                  <a:srgbClr val="0072CE"/>
                </a:solidFill>
                <a:latin typeface="Calibri" pitchFamily="34" charset="0"/>
                <a:ea typeface="Calibri" pitchFamily="34" charset="-122"/>
                <a:cs typeface="Calibri" pitchFamily="34" charset="-120"/>
              </a:rPr>
              <a:t>THE HISTORICAL ANALOGS</a:t>
            </a:r>
            <a:endParaRPr lang="en-US" sz="1000" dirty="0"/>
          </a:p>
        </p:txBody>
      </p:sp>
      <p:sp>
        <p:nvSpPr>
          <p:cNvPr id="12" name="Text 10"/>
          <p:cNvSpPr txBox="1"/>
          <p:nvPr/>
        </p:nvSpPr>
        <p:spPr>
          <a:xfrm>
            <a:off x="8321040" y="2331720"/>
            <a:ext cx="1280160" cy="457200"/>
          </a:xfrm>
          <a:prstGeom prst="rect">
            <a:avLst/>
          </a:prstGeom>
          <a:noFill/>
          <a:ln/>
        </p:spPr>
        <p:txBody>
          <a:bodyPr wrap="square" lIns="0" tIns="0" rIns="0" bIns="0" rtlCol="0" anchor="ctr"/>
          <a:lstStyle/>
          <a:p>
            <a:pPr indent="0" marL="0">
              <a:buNone/>
            </a:pPr>
            <a:r>
              <a:rPr lang="en-US" sz="2000" b="1" dirty="0">
                <a:solidFill>
                  <a:srgbClr val="1E7A46"/>
                </a:solidFill>
                <a:latin typeface="Calibri" pitchFamily="34" charset="0"/>
                <a:ea typeface="Calibri" pitchFamily="34" charset="-122"/>
                <a:cs typeface="Calibri" pitchFamily="34" charset="-120"/>
              </a:rPr>
              <a:t>+11.4%</a:t>
            </a:r>
            <a:endParaRPr lang="en-US" sz="2000" dirty="0"/>
          </a:p>
        </p:txBody>
      </p:sp>
      <p:sp>
        <p:nvSpPr>
          <p:cNvPr id="13" name="Text 11"/>
          <p:cNvSpPr txBox="1"/>
          <p:nvPr/>
        </p:nvSpPr>
        <p:spPr>
          <a:xfrm>
            <a:off x="9601200" y="2331720"/>
            <a:ext cx="1965960" cy="731520"/>
          </a:xfrm>
          <a:prstGeom prst="rect">
            <a:avLst/>
          </a:prstGeom>
          <a:noFill/>
          <a:ln/>
        </p:spPr>
        <p:txBody>
          <a:bodyPr wrap="square" lIns="0" tIns="0" rIns="0" bIns="0" rtlCol="0" anchor="ctr"/>
          <a:lstStyle/>
          <a:p>
            <a:pPr indent="0" marL="0">
              <a:buNone/>
            </a:pPr>
            <a:r>
              <a:rPr lang="en-US" sz="950" dirty="0">
                <a:solidFill>
                  <a:srgbClr val="5B6672"/>
                </a:solidFill>
                <a:latin typeface="Calibri" pitchFamily="34" charset="0"/>
                <a:ea typeface="Calibri" pitchFamily="34" charset="-122"/>
                <a:cs typeface="Calibri" pitchFamily="34" charset="-120"/>
              </a:rPr>
              <a:t>Apr 25, 2025 — Q1’25 printed −59k, better than −72k</a:t>
            </a:r>
            <a:endParaRPr lang="en-US" sz="950" dirty="0"/>
          </a:p>
        </p:txBody>
      </p:sp>
      <p:sp>
        <p:nvSpPr>
          <p:cNvPr id="14" name="Text 12"/>
          <p:cNvSpPr txBox="1"/>
          <p:nvPr/>
        </p:nvSpPr>
        <p:spPr>
          <a:xfrm>
            <a:off x="8321040" y="3200400"/>
            <a:ext cx="1280160" cy="457200"/>
          </a:xfrm>
          <a:prstGeom prst="rect">
            <a:avLst/>
          </a:prstGeom>
          <a:noFill/>
          <a:ln/>
        </p:spPr>
        <p:txBody>
          <a:bodyPr wrap="square" lIns="0" tIns="0" rIns="0" bIns="0" rtlCol="0" anchor="ctr"/>
          <a:lstStyle/>
          <a:p>
            <a:pPr indent="0" marL="0">
              <a:buNone/>
            </a:pPr>
            <a:r>
              <a:rPr lang="en-US" sz="2000" b="1" dirty="0">
                <a:solidFill>
                  <a:srgbClr val="1E7A46"/>
                </a:solidFill>
                <a:latin typeface="Calibri" pitchFamily="34" charset="0"/>
                <a:ea typeface="Calibri" pitchFamily="34" charset="-122"/>
                <a:cs typeface="Calibri" pitchFamily="34" charset="-120"/>
              </a:rPr>
              <a:t>+7.6%</a:t>
            </a:r>
            <a:endParaRPr lang="en-US" sz="2000" dirty="0"/>
          </a:p>
        </p:txBody>
      </p:sp>
      <p:sp>
        <p:nvSpPr>
          <p:cNvPr id="15" name="Text 13"/>
          <p:cNvSpPr txBox="1"/>
          <p:nvPr/>
        </p:nvSpPr>
        <p:spPr>
          <a:xfrm>
            <a:off x="9601200" y="3200400"/>
            <a:ext cx="1965960" cy="731520"/>
          </a:xfrm>
          <a:prstGeom prst="rect">
            <a:avLst/>
          </a:prstGeom>
          <a:noFill/>
          <a:ln/>
        </p:spPr>
        <p:txBody>
          <a:bodyPr wrap="square" lIns="0" tIns="0" rIns="0" bIns="0" rtlCol="0" anchor="ctr"/>
          <a:lstStyle/>
          <a:p>
            <a:pPr indent="0" marL="0">
              <a:buNone/>
            </a:pPr>
            <a:r>
              <a:rPr lang="en-US" sz="950" dirty="0">
                <a:solidFill>
                  <a:srgbClr val="5B6672"/>
                </a:solidFill>
                <a:latin typeface="Calibri" pitchFamily="34" charset="0"/>
                <a:ea typeface="Calibri" pitchFamily="34" charset="-122"/>
                <a:cs typeface="Calibri" pitchFamily="34" charset="-120"/>
              </a:rPr>
              <a:t>Jan 30, 2026 — Q4’25 printed −119k, better than −177k</a:t>
            </a:r>
            <a:endParaRPr lang="en-US" sz="950" dirty="0"/>
          </a:p>
        </p:txBody>
      </p:sp>
      <p:sp>
        <p:nvSpPr>
          <p:cNvPr id="16" name="Text 14"/>
          <p:cNvSpPr txBox="1"/>
          <p:nvPr/>
        </p:nvSpPr>
        <p:spPr>
          <a:xfrm>
            <a:off x="8321040" y="4069080"/>
            <a:ext cx="1280160" cy="457200"/>
          </a:xfrm>
          <a:prstGeom prst="rect">
            <a:avLst/>
          </a:prstGeom>
          <a:noFill/>
          <a:ln/>
        </p:spPr>
        <p:txBody>
          <a:bodyPr wrap="square" lIns="0" tIns="0" rIns="0" bIns="0" rtlCol="0" anchor="ctr"/>
          <a:lstStyle/>
          <a:p>
            <a:pPr indent="0" marL="0">
              <a:buNone/>
            </a:pPr>
            <a:r>
              <a:rPr lang="en-US" sz="2000" b="1" dirty="0">
                <a:solidFill>
                  <a:srgbClr val="C8102E"/>
                </a:solidFill>
                <a:latin typeface="Calibri" pitchFamily="34" charset="0"/>
                <a:ea typeface="Calibri" pitchFamily="34" charset="-122"/>
                <a:cs typeface="Calibri" pitchFamily="34" charset="-120"/>
              </a:rPr>
              <a:t>−25.5%</a:t>
            </a:r>
            <a:endParaRPr lang="en-US" sz="2000" dirty="0"/>
          </a:p>
        </p:txBody>
      </p:sp>
      <p:sp>
        <p:nvSpPr>
          <p:cNvPr id="17" name="Text 15"/>
          <p:cNvSpPr txBox="1"/>
          <p:nvPr/>
        </p:nvSpPr>
        <p:spPr>
          <a:xfrm>
            <a:off x="9601200" y="4069080"/>
            <a:ext cx="1965960" cy="731520"/>
          </a:xfrm>
          <a:prstGeom prst="rect">
            <a:avLst/>
          </a:prstGeom>
          <a:noFill/>
          <a:ln/>
        </p:spPr>
        <p:txBody>
          <a:bodyPr wrap="square" lIns="0" tIns="0" rIns="0" bIns="0" rtlCol="0" anchor="ctr"/>
          <a:lstStyle/>
          <a:p>
            <a:pPr indent="0" marL="0">
              <a:buNone/>
            </a:pPr>
            <a:r>
              <a:rPr lang="en-US" sz="950" dirty="0">
                <a:solidFill>
                  <a:srgbClr val="5B6672"/>
                </a:solidFill>
                <a:latin typeface="Calibri" pitchFamily="34" charset="0"/>
                <a:ea typeface="Calibri" pitchFamily="34" charset="-122"/>
                <a:cs typeface="Calibri" pitchFamily="34" charset="-120"/>
              </a:rPr>
              <a:t>Apr 24, 2026 — Q1’26 printed −120k, double −59k</a:t>
            </a:r>
            <a:endParaRPr lang="en-US" sz="950" dirty="0"/>
          </a:p>
        </p:txBody>
      </p:sp>
      <p:sp>
        <p:nvSpPr>
          <p:cNvPr id="18" name="Text 16"/>
          <p:cNvSpPr txBox="1"/>
          <p:nvPr/>
        </p:nvSpPr>
        <p:spPr>
          <a:xfrm>
            <a:off x="8321040" y="4937760"/>
            <a:ext cx="3200400" cy="914400"/>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A single improving print has been worth +8 to +11% on the day. Two in a row, with a published playbook explaining why, is a re-rating — not a bounce.</a:t>
            </a:r>
            <a:endParaRPr lang="en-US" sz="1050" dirty="0"/>
          </a:p>
        </p:txBody>
      </p:sp>
      <p:sp>
        <p:nvSpPr>
          <p:cNvPr id="19" name="Text 17"/>
          <p:cNvSpPr txBox="1"/>
          <p:nvPr/>
        </p:nvSpPr>
        <p:spPr>
          <a:xfrm>
            <a:off x="502920" y="6144768"/>
            <a:ext cx="11155680" cy="256032"/>
          </a:xfrm>
          <a:prstGeom prst="rect">
            <a:avLst/>
          </a:prstGeom>
          <a:noFill/>
          <a:ln/>
        </p:spPr>
        <p:txBody>
          <a:bodyPr wrap="square" lIns="0" tIns="0" rIns="0" bIns="0" rtlCol="0" anchor="ctr"/>
          <a:lstStyle/>
          <a:p>
            <a:pPr indent="0" marL="0">
              <a:buNone/>
            </a:pPr>
            <a:r>
              <a:rPr lang="en-US" sz="900" i="1" dirty="0">
                <a:solidFill>
                  <a:srgbClr val="8A94A0"/>
                </a:solidFill>
                <a:latin typeface="Calibri" pitchFamily="34" charset="0"/>
                <a:ea typeface="Calibri" pitchFamily="34" charset="-122"/>
                <a:cs typeface="Calibri" pitchFamily="34" charset="-120"/>
              </a:rPr>
              <a:t>Source: Ex99.1 / trending (customers); Q1 2026 10-Q (net debt, leverage); Yahoo Finance closes. Blue = team assumption. Cox close changes EV and the base; the logic holds on the combined entity.</a:t>
            </a:r>
            <a:endParaRPr lang="en-US" sz="900" dirty="0"/>
          </a:p>
        </p:txBody>
      </p:sp>
      <p:sp>
        <p:nvSpPr>
          <p:cNvPr id="20" name="Text 18"/>
          <p:cNvSpPr txBox="1"/>
          <p:nvPr/>
        </p:nvSpPr>
        <p:spPr>
          <a:xfrm>
            <a:off x="11567160" y="6446520"/>
            <a:ext cx="457200" cy="274320"/>
          </a:xfrm>
          <a:prstGeom prst="rect">
            <a:avLst/>
          </a:prstGeom>
          <a:noFill/>
          <a:ln/>
        </p:spPr>
        <p:txBody>
          <a:bodyPr wrap="square" lIns="0" tIns="0" rIns="0" bIns="0" rtlCol="0" anchor="ctr"/>
          <a:lstStyle/>
          <a:p>
            <a:pPr algn="r" indent="0" marL="0">
              <a:buNone/>
            </a:pPr>
            <a:r>
              <a:rPr lang="en-US" sz="1000" dirty="0">
                <a:solidFill>
                  <a:srgbClr val="8A94A0"/>
                </a:solidFill>
                <a:latin typeface="Calibri" pitchFamily="34" charset="0"/>
                <a:ea typeface="Calibri" pitchFamily="34" charset="-122"/>
                <a:cs typeface="Calibri" pitchFamily="34" charset="-120"/>
              </a:rPr>
              <a:t>17</a:t>
            </a:r>
            <a:endParaRPr lang="en-US" sz="1000" dirty="0"/>
          </a:p>
        </p:txBody>
      </p:sp>
      <p:sp>
        <p:nvSpPr>
          <p:cNvPr id="21" name="Text 19"/>
          <p:cNvSpPr txBox="1"/>
          <p:nvPr/>
        </p:nvSpPr>
        <p:spPr>
          <a:xfrm>
            <a:off x="502920" y="6446520"/>
            <a:ext cx="10881360" cy="274320"/>
          </a:xfrm>
          <a:prstGeom prst="rect">
            <a:avLst/>
          </a:prstGeom>
          <a:noFill/>
          <a:ln/>
        </p:spPr>
        <p:txBody>
          <a:bodyPr wrap="square" lIns="0" tIns="0" rIns="0" bIns="0" rtlCol="0" anchor="ctr"/>
          <a:lstStyle/>
          <a:p>
            <a:pPr indent="0" marL="0">
              <a:buNone/>
            </a:pPr>
            <a:r>
              <a:rPr lang="en-US" sz="900" dirty="0">
                <a:solidFill>
                  <a:srgbClr val="8A94A0"/>
                </a:solidFill>
                <a:latin typeface="Calibri" pitchFamily="34" charset="0"/>
                <a:ea typeface="Calibri" pitchFamily="34" charset="-122"/>
                <a:cs typeface="Calibri" pitchFamily="34" charset="-120"/>
              </a:rPr>
              <a:t>Final Presentation  ·  “Changing the Trajectory”  ·  Charter Communications (CHTR)  ·  Anchored to Q1 2026; Q2 2026 labeled as later public fact where used</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02920" y="292608"/>
            <a:ext cx="10515600" cy="274320"/>
          </a:xfrm>
          <a:prstGeom prst="rect">
            <a:avLst/>
          </a:prstGeom>
          <a:noFill/>
          <a:ln/>
        </p:spPr>
        <p:txBody>
          <a:bodyPr wrap="square" lIns="0" tIns="0" rIns="0" bIns="0" rtlCol="0" anchor="ctr"/>
          <a:lstStyle/>
          <a:p>
            <a:pPr indent="0" marL="0">
              <a:buNone/>
            </a:pPr>
            <a:r>
              <a:rPr lang="en-US" sz="1100" b="1" spc="200" kern="0" dirty="0">
                <a:solidFill>
                  <a:srgbClr val="0072CE"/>
                </a:solidFill>
                <a:latin typeface="Calibri" pitchFamily="34" charset="0"/>
                <a:ea typeface="Calibri" pitchFamily="34" charset="-122"/>
                <a:cs typeface="Calibri" pitchFamily="34" charset="-120"/>
              </a:rPr>
              <a:t>4  ·  FEASIBILITY — GOVERNANCE AND TIMELINE</a:t>
            </a:r>
            <a:endParaRPr lang="en-US" sz="1100" dirty="0"/>
          </a:p>
        </p:txBody>
      </p:sp>
      <p:sp>
        <p:nvSpPr>
          <p:cNvPr id="3" name="Text 1"/>
          <p:cNvSpPr txBox="1"/>
          <p:nvPr/>
        </p:nvSpPr>
        <p:spPr>
          <a:xfrm>
            <a:off x="502920" y="566928"/>
            <a:ext cx="11155680" cy="777240"/>
          </a:xfrm>
          <a:prstGeom prst="rect">
            <a:avLst/>
          </a:prstGeom>
          <a:noFill/>
          <a:ln/>
        </p:spPr>
        <p:txBody>
          <a:bodyPr wrap="square" lIns="0" tIns="0" rIns="0" bIns="0" rtlCol="0" anchor="t"/>
          <a:lstStyle/>
          <a:p>
            <a:pPr indent="0" marL="0">
              <a:buNone/>
            </a:pPr>
            <a:r>
              <a:rPr lang="en-US" sz="2400" b="1" dirty="0">
                <a:solidFill>
                  <a:srgbClr val="0B1F3A"/>
                </a:solidFill>
                <a:latin typeface="Calibri" pitchFamily="34" charset="0"/>
                <a:ea typeface="Calibri" pitchFamily="34" charset="-122"/>
                <a:cs typeface="Calibri" pitchFamily="34" charset="-120"/>
              </a:rPr>
              <a:t>Live in one quarter, acting in three, published in five — inside the eight-quarter window</a:t>
            </a:r>
            <a:endParaRPr lang="en-US" sz="2400" dirty="0"/>
          </a:p>
        </p:txBody>
      </p:sp>
      <p:sp>
        <p:nvSpPr>
          <p:cNvPr id="4" name="Shape 2"/>
          <p:cNvSpPr/>
          <p:nvPr/>
        </p:nvSpPr>
        <p:spPr>
          <a:xfrm>
            <a:off x="502920" y="1691640"/>
            <a:ext cx="11201400" cy="777240"/>
          </a:xfrm>
          <a:prstGeom prst="roundRect">
            <a:avLst>
              <a:gd name="adj" fmla="val 9412"/>
            </a:avLst>
          </a:prstGeom>
          <a:solidFill>
            <a:srgbClr val="FFFFFF"/>
          </a:solidFill>
          <a:ln w="12700">
            <a:solidFill>
              <a:srgbClr val="D7E0EA"/>
            </a:solidFill>
            <a:prstDash val="solid"/>
          </a:ln>
        </p:spPr>
      </p:sp>
      <p:sp>
        <p:nvSpPr>
          <p:cNvPr id="5" name="Text 3"/>
          <p:cNvSpPr txBox="1"/>
          <p:nvPr/>
        </p:nvSpPr>
        <p:spPr>
          <a:xfrm>
            <a:off x="777240" y="1801368"/>
            <a:ext cx="10698480" cy="566928"/>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Owner:  </a:t>
            </a:r>
            <a:pPr indent="0" marL="0">
              <a:buNone/>
            </a:pPr>
            <a:r>
              <a:rPr lang="en-US" sz="1200" dirty="0">
                <a:solidFill>
                  <a:srgbClr val="5B6672"/>
                </a:solidFill>
                <a:latin typeface="Calibri" pitchFamily="34" charset="0"/>
                <a:ea typeface="Calibri" pitchFamily="34" charset="-122"/>
                <a:cs typeface="Calibri" pitchFamily="34" charset="-120"/>
              </a:rPr>
              <a:t>a single executive sponsor (COO or Chief Customer Officer) with the sensor, the playbook budgets, and the disclosure calendar in one line of accountability. Thresholds, budgets, and kill conditions are ratified by the executive team before the first read — and cannot be renegotiated after it.</a:t>
            </a:r>
            <a:endParaRPr lang="en-US" sz="1200" dirty="0"/>
          </a:p>
        </p:txBody>
      </p:sp>
      <p:sp>
        <p:nvSpPr>
          <p:cNvPr id="6" name="Shape 4"/>
          <p:cNvSpPr/>
          <p:nvPr/>
        </p:nvSpPr>
        <p:spPr>
          <a:xfrm>
            <a:off x="731520" y="3108960"/>
            <a:ext cx="10698480" cy="0"/>
          </a:xfrm>
          <a:prstGeom prst="line">
            <a:avLst/>
          </a:prstGeom>
          <a:noFill/>
          <a:ln w="25400">
            <a:solidFill>
              <a:srgbClr val="B9C4D0"/>
            </a:solidFill>
            <a:prstDash val="solid"/>
          </a:ln>
        </p:spPr>
      </p:sp>
      <p:sp>
        <p:nvSpPr>
          <p:cNvPr id="7" name="Shape 5"/>
          <p:cNvSpPr/>
          <p:nvPr/>
        </p:nvSpPr>
        <p:spPr>
          <a:xfrm>
            <a:off x="1828800" y="3008376"/>
            <a:ext cx="201168" cy="201168"/>
          </a:xfrm>
          <a:prstGeom prst="ellipse">
            <a:avLst/>
          </a:prstGeom>
          <a:solidFill>
            <a:srgbClr val="0072CE"/>
          </a:solidFill>
          <a:ln/>
        </p:spPr>
      </p:sp>
      <p:sp>
        <p:nvSpPr>
          <p:cNvPr id="8" name="Text 6"/>
          <p:cNvSpPr txBox="1"/>
          <p:nvPr/>
        </p:nvSpPr>
        <p:spPr>
          <a:xfrm>
            <a:off x="1371600" y="2542032"/>
            <a:ext cx="1143000" cy="320040"/>
          </a:xfrm>
          <a:prstGeom prst="rect">
            <a:avLst/>
          </a:prstGeom>
          <a:noFill/>
          <a:ln/>
        </p:spPr>
        <p:txBody>
          <a:bodyPr wrap="square" lIns="0" tIns="0" rIns="0" bIns="0" rtlCol="0" anchor="ctr"/>
          <a:lstStyle/>
          <a:p>
            <a:pPr algn="ctr" indent="0" marL="0">
              <a:buNone/>
            </a:pPr>
            <a:r>
              <a:rPr lang="en-US" sz="1500" b="1" dirty="0">
                <a:solidFill>
                  <a:srgbClr val="0072CE"/>
                </a:solidFill>
                <a:latin typeface="Calibri" pitchFamily="34" charset="0"/>
                <a:ea typeface="Calibri" pitchFamily="34" charset="-122"/>
                <a:cs typeface="Calibri" pitchFamily="34" charset="-120"/>
              </a:rPr>
              <a:t>Q+1</a:t>
            </a:r>
            <a:endParaRPr lang="en-US" sz="1500" dirty="0"/>
          </a:p>
        </p:txBody>
      </p:sp>
      <p:sp>
        <p:nvSpPr>
          <p:cNvPr id="9" name="Shape 7"/>
          <p:cNvSpPr/>
          <p:nvPr/>
        </p:nvSpPr>
        <p:spPr>
          <a:xfrm>
            <a:off x="731520" y="3429000"/>
            <a:ext cx="2423160" cy="2240280"/>
          </a:xfrm>
          <a:prstGeom prst="roundRect">
            <a:avLst>
              <a:gd name="adj" fmla="val 3265"/>
            </a:avLst>
          </a:prstGeom>
          <a:solidFill>
            <a:srgbClr val="F2F6FB"/>
          </a:solidFill>
          <a:ln w="12700">
            <a:solidFill>
              <a:srgbClr val="D7E0EA"/>
            </a:solidFill>
            <a:prstDash val="solid"/>
          </a:ln>
        </p:spPr>
      </p:sp>
      <p:sp>
        <p:nvSpPr>
          <p:cNvPr id="10" name="Text 8"/>
          <p:cNvSpPr txBox="1"/>
          <p:nvPr/>
        </p:nvSpPr>
        <p:spPr>
          <a:xfrm>
            <a:off x="896112" y="3566160"/>
            <a:ext cx="2103120" cy="292608"/>
          </a:xfrm>
          <a:prstGeom prst="rect">
            <a:avLst/>
          </a:prstGeom>
          <a:noFill/>
          <a:ln/>
        </p:spPr>
        <p:txBody>
          <a:bodyPr wrap="square" lIns="0" tIns="0" rIns="0" bIns="0" rtlCol="0" anchor="ctr"/>
          <a:lstStyle/>
          <a:p>
            <a:pPr indent="0" marL="0">
              <a:buNone/>
            </a:pPr>
            <a:r>
              <a:rPr lang="en-US" sz="1250" b="1" dirty="0">
                <a:solidFill>
                  <a:srgbClr val="0B1F3A"/>
                </a:solidFill>
                <a:latin typeface="Calibri" pitchFamily="34" charset="0"/>
                <a:ea typeface="Calibri" pitchFamily="34" charset="-122"/>
                <a:cs typeface="Calibri" pitchFamily="34" charset="-120"/>
              </a:rPr>
              <a:t>Sensor live</a:t>
            </a:r>
            <a:endParaRPr lang="en-US" sz="1250" dirty="0"/>
          </a:p>
        </p:txBody>
      </p:sp>
      <p:sp>
        <p:nvSpPr>
          <p:cNvPr id="11" name="Text 9"/>
          <p:cNvSpPr txBox="1"/>
          <p:nvPr/>
        </p:nvSpPr>
        <p:spPr>
          <a:xfrm>
            <a:off x="896112" y="3877056"/>
            <a:ext cx="2103120" cy="1691640"/>
          </a:xfrm>
          <a:prstGeom prst="rect">
            <a:avLst/>
          </a:prstGeom>
          <a:noFill/>
          <a:ln/>
        </p:spPr>
        <p:txBody>
          <a:bodyPr wrap="square" lIns="0" tIns="0" rIns="0" bIns="0" rtlCol="0" anchor="ctr"/>
          <a:lstStyle/>
          <a:p>
            <a:pPr indent="0" marL="0">
              <a:buNone/>
            </a:pPr>
            <a:r>
              <a:rPr lang="en-US" sz="1000" dirty="0">
                <a:solidFill>
                  <a:srgbClr val="5B6672"/>
                </a:solidFill>
                <a:latin typeface="Calibri" pitchFamily="34" charset="0"/>
                <a:ea typeface="Calibri" pitchFamily="34" charset="-122"/>
                <a:cs typeface="Calibri" pitchFamily="34" charset="-120"/>
              </a:rPr>
              <a:t>BDC cross-reference built; disconnect join complete; audited exit-survey sampling starts. Thresholds and budgets ratified. Buyback pause announced with the rationale.</a:t>
            </a:r>
            <a:endParaRPr lang="en-US" sz="1000" dirty="0"/>
          </a:p>
        </p:txBody>
      </p:sp>
      <p:sp>
        <p:nvSpPr>
          <p:cNvPr id="12" name="Shape 10"/>
          <p:cNvSpPr/>
          <p:nvPr/>
        </p:nvSpPr>
        <p:spPr>
          <a:xfrm>
            <a:off x="4498848" y="3008376"/>
            <a:ext cx="201168" cy="201168"/>
          </a:xfrm>
          <a:prstGeom prst="ellipse">
            <a:avLst/>
          </a:prstGeom>
          <a:solidFill>
            <a:srgbClr val="0072CE"/>
          </a:solidFill>
          <a:ln/>
        </p:spPr>
      </p:sp>
      <p:sp>
        <p:nvSpPr>
          <p:cNvPr id="13" name="Text 11"/>
          <p:cNvSpPr txBox="1"/>
          <p:nvPr/>
        </p:nvSpPr>
        <p:spPr>
          <a:xfrm>
            <a:off x="4041648" y="2542032"/>
            <a:ext cx="1143000" cy="320040"/>
          </a:xfrm>
          <a:prstGeom prst="rect">
            <a:avLst/>
          </a:prstGeom>
          <a:noFill/>
          <a:ln/>
        </p:spPr>
        <p:txBody>
          <a:bodyPr wrap="square" lIns="0" tIns="0" rIns="0" bIns="0" rtlCol="0" anchor="ctr"/>
          <a:lstStyle/>
          <a:p>
            <a:pPr algn="ctr" indent="0" marL="0">
              <a:buNone/>
            </a:pPr>
            <a:r>
              <a:rPr lang="en-US" sz="1500" b="1" dirty="0">
                <a:solidFill>
                  <a:srgbClr val="0072CE"/>
                </a:solidFill>
                <a:latin typeface="Calibri" pitchFamily="34" charset="0"/>
                <a:ea typeface="Calibri" pitchFamily="34" charset="-122"/>
                <a:cs typeface="Calibri" pitchFamily="34" charset="-120"/>
              </a:rPr>
              <a:t>Q+2</a:t>
            </a:r>
            <a:endParaRPr lang="en-US" sz="1500" dirty="0"/>
          </a:p>
        </p:txBody>
      </p:sp>
      <p:sp>
        <p:nvSpPr>
          <p:cNvPr id="14" name="Shape 12"/>
          <p:cNvSpPr/>
          <p:nvPr/>
        </p:nvSpPr>
        <p:spPr>
          <a:xfrm>
            <a:off x="3401568" y="3429000"/>
            <a:ext cx="2423160" cy="2240280"/>
          </a:xfrm>
          <a:prstGeom prst="roundRect">
            <a:avLst>
              <a:gd name="adj" fmla="val 3265"/>
            </a:avLst>
          </a:prstGeom>
          <a:solidFill>
            <a:srgbClr val="F2F6FB"/>
          </a:solidFill>
          <a:ln w="12700">
            <a:solidFill>
              <a:srgbClr val="D7E0EA"/>
            </a:solidFill>
            <a:prstDash val="solid"/>
          </a:ln>
        </p:spPr>
      </p:sp>
      <p:sp>
        <p:nvSpPr>
          <p:cNvPr id="15" name="Text 13"/>
          <p:cNvSpPr txBox="1"/>
          <p:nvPr/>
        </p:nvSpPr>
        <p:spPr>
          <a:xfrm>
            <a:off x="3566160" y="3566160"/>
            <a:ext cx="2103120" cy="292608"/>
          </a:xfrm>
          <a:prstGeom prst="rect">
            <a:avLst/>
          </a:prstGeom>
          <a:noFill/>
          <a:ln/>
        </p:spPr>
        <p:txBody>
          <a:bodyPr wrap="square" lIns="0" tIns="0" rIns="0" bIns="0" rtlCol="0" anchor="ctr"/>
          <a:lstStyle/>
          <a:p>
            <a:pPr indent="0" marL="0">
              <a:buNone/>
            </a:pPr>
            <a:r>
              <a:rPr lang="en-US" sz="1250" b="1" dirty="0">
                <a:solidFill>
                  <a:srgbClr val="0B1F3A"/>
                </a:solidFill>
                <a:latin typeface="Calibri" pitchFamily="34" charset="0"/>
                <a:ea typeface="Calibri" pitchFamily="34" charset="-122"/>
                <a:cs typeface="Calibri" pitchFamily="34" charset="-120"/>
              </a:rPr>
              <a:t>First attribution read</a:t>
            </a:r>
            <a:endParaRPr lang="en-US" sz="1250" dirty="0"/>
          </a:p>
        </p:txBody>
      </p:sp>
      <p:sp>
        <p:nvSpPr>
          <p:cNvPr id="16" name="Text 14"/>
          <p:cNvSpPr txBox="1"/>
          <p:nvPr/>
        </p:nvSpPr>
        <p:spPr>
          <a:xfrm>
            <a:off x="3566160" y="3877056"/>
            <a:ext cx="2103120" cy="1691640"/>
          </a:xfrm>
          <a:prstGeom prst="rect">
            <a:avLst/>
          </a:prstGeom>
          <a:noFill/>
          <a:ln/>
        </p:spPr>
        <p:txBody>
          <a:bodyPr wrap="square" lIns="0" tIns="0" rIns="0" bIns="0" rtlCol="0" anchor="ctr"/>
          <a:lstStyle/>
          <a:p>
            <a:pPr indent="0" marL="0">
              <a:buNone/>
            </a:pPr>
            <a:r>
              <a:rPr lang="en-US" sz="1000" dirty="0">
                <a:solidFill>
                  <a:srgbClr val="5B6672"/>
                </a:solidFill>
                <a:latin typeface="Calibri" pitchFamily="34" charset="0"/>
                <a:ea typeface="Calibri" pitchFamily="34" charset="-122"/>
                <a:cs typeface="Calibri" pitchFamily="34" charset="-120"/>
              </a:rPr>
              <a:t>Loss matrix by cause-cohort × value-cohort; thresholds applied; scenario(s) identified. Board briefed on which plays fire. Re-segmented disclosure begins.</a:t>
            </a:r>
            <a:endParaRPr lang="en-US" sz="1000" dirty="0"/>
          </a:p>
        </p:txBody>
      </p:sp>
      <p:sp>
        <p:nvSpPr>
          <p:cNvPr id="17" name="Shape 15"/>
          <p:cNvSpPr/>
          <p:nvPr/>
        </p:nvSpPr>
        <p:spPr>
          <a:xfrm>
            <a:off x="7168896" y="3008376"/>
            <a:ext cx="201168" cy="201168"/>
          </a:xfrm>
          <a:prstGeom prst="ellipse">
            <a:avLst/>
          </a:prstGeom>
          <a:solidFill>
            <a:srgbClr val="0072CE"/>
          </a:solidFill>
          <a:ln/>
        </p:spPr>
      </p:sp>
      <p:sp>
        <p:nvSpPr>
          <p:cNvPr id="18" name="Text 16"/>
          <p:cNvSpPr txBox="1"/>
          <p:nvPr/>
        </p:nvSpPr>
        <p:spPr>
          <a:xfrm>
            <a:off x="6711696" y="2542032"/>
            <a:ext cx="1143000" cy="320040"/>
          </a:xfrm>
          <a:prstGeom prst="rect">
            <a:avLst/>
          </a:prstGeom>
          <a:noFill/>
          <a:ln/>
        </p:spPr>
        <p:txBody>
          <a:bodyPr wrap="square" lIns="0" tIns="0" rIns="0" bIns="0" rtlCol="0" anchor="ctr"/>
          <a:lstStyle/>
          <a:p>
            <a:pPr algn="ctr" indent="0" marL="0">
              <a:buNone/>
            </a:pPr>
            <a:r>
              <a:rPr lang="en-US" sz="1500" b="1" dirty="0">
                <a:solidFill>
                  <a:srgbClr val="0072CE"/>
                </a:solidFill>
                <a:latin typeface="Calibri" pitchFamily="34" charset="0"/>
                <a:ea typeface="Calibri" pitchFamily="34" charset="-122"/>
                <a:cs typeface="Calibri" pitchFamily="34" charset="-120"/>
              </a:rPr>
              <a:t>Q+3</a:t>
            </a:r>
            <a:endParaRPr lang="en-US" sz="1500" dirty="0"/>
          </a:p>
        </p:txBody>
      </p:sp>
      <p:sp>
        <p:nvSpPr>
          <p:cNvPr id="19" name="Shape 17"/>
          <p:cNvSpPr/>
          <p:nvPr/>
        </p:nvSpPr>
        <p:spPr>
          <a:xfrm>
            <a:off x="6071616" y="3429000"/>
            <a:ext cx="2423160" cy="2240280"/>
          </a:xfrm>
          <a:prstGeom prst="roundRect">
            <a:avLst>
              <a:gd name="adj" fmla="val 3265"/>
            </a:avLst>
          </a:prstGeom>
          <a:solidFill>
            <a:srgbClr val="F2F6FB"/>
          </a:solidFill>
          <a:ln w="12700">
            <a:solidFill>
              <a:srgbClr val="D7E0EA"/>
            </a:solidFill>
            <a:prstDash val="solid"/>
          </a:ln>
        </p:spPr>
      </p:sp>
      <p:sp>
        <p:nvSpPr>
          <p:cNvPr id="20" name="Text 18"/>
          <p:cNvSpPr txBox="1"/>
          <p:nvPr/>
        </p:nvSpPr>
        <p:spPr>
          <a:xfrm>
            <a:off x="6236208" y="3566160"/>
            <a:ext cx="2103120" cy="292608"/>
          </a:xfrm>
          <a:prstGeom prst="rect">
            <a:avLst/>
          </a:prstGeom>
          <a:noFill/>
          <a:ln/>
        </p:spPr>
        <p:txBody>
          <a:bodyPr wrap="square" lIns="0" tIns="0" rIns="0" bIns="0" rtlCol="0" anchor="ctr"/>
          <a:lstStyle/>
          <a:p>
            <a:pPr indent="0" marL="0">
              <a:buNone/>
            </a:pPr>
            <a:r>
              <a:rPr lang="en-US" sz="1250" b="1" dirty="0">
                <a:solidFill>
                  <a:srgbClr val="0B1F3A"/>
                </a:solidFill>
                <a:latin typeface="Calibri" pitchFamily="34" charset="0"/>
                <a:ea typeface="Calibri" pitchFamily="34" charset="-122"/>
                <a:cs typeface="Calibri" pitchFamily="34" charset="-120"/>
              </a:rPr>
              <a:t>Plays trigger</a:t>
            </a:r>
            <a:endParaRPr lang="en-US" sz="1250" dirty="0"/>
          </a:p>
        </p:txBody>
      </p:sp>
      <p:sp>
        <p:nvSpPr>
          <p:cNvPr id="21" name="Text 19"/>
          <p:cNvSpPr txBox="1"/>
          <p:nvPr/>
        </p:nvSpPr>
        <p:spPr>
          <a:xfrm>
            <a:off x="6236208" y="3877056"/>
            <a:ext cx="2103120" cy="1691640"/>
          </a:xfrm>
          <a:prstGeom prst="rect">
            <a:avLst/>
          </a:prstGeom>
          <a:noFill/>
          <a:ln/>
        </p:spPr>
        <p:txBody>
          <a:bodyPr wrap="square" lIns="0" tIns="0" rIns="0" bIns="0" rtlCol="0" anchor="ctr"/>
          <a:lstStyle/>
          <a:p>
            <a:pPr indent="0" marL="0">
              <a:buNone/>
            </a:pPr>
            <a:r>
              <a:rPr lang="en-US" sz="1000" dirty="0">
                <a:solidFill>
                  <a:srgbClr val="5B6672"/>
                </a:solidFill>
                <a:latin typeface="Calibri" pitchFamily="34" charset="0"/>
                <a:ea typeface="Calibri" pitchFamily="34" charset="-122"/>
                <a:cs typeface="Calibri" pitchFamily="34" charset="-120"/>
              </a:rPr>
              <a:t>Lead play(s) launch with pre-authorized budgets; controlled experiments start with pre-registered treatment / control and review dates.</a:t>
            </a:r>
            <a:endParaRPr lang="en-US" sz="1000" dirty="0"/>
          </a:p>
        </p:txBody>
      </p:sp>
      <p:sp>
        <p:nvSpPr>
          <p:cNvPr id="22" name="Shape 20"/>
          <p:cNvSpPr/>
          <p:nvPr/>
        </p:nvSpPr>
        <p:spPr>
          <a:xfrm>
            <a:off x="9838944" y="3008376"/>
            <a:ext cx="201168" cy="201168"/>
          </a:xfrm>
          <a:prstGeom prst="ellipse">
            <a:avLst/>
          </a:prstGeom>
          <a:solidFill>
            <a:srgbClr val="0072CE"/>
          </a:solidFill>
          <a:ln/>
        </p:spPr>
      </p:sp>
      <p:sp>
        <p:nvSpPr>
          <p:cNvPr id="23" name="Text 21"/>
          <p:cNvSpPr txBox="1"/>
          <p:nvPr/>
        </p:nvSpPr>
        <p:spPr>
          <a:xfrm>
            <a:off x="9381744" y="2542032"/>
            <a:ext cx="1143000" cy="320040"/>
          </a:xfrm>
          <a:prstGeom prst="rect">
            <a:avLst/>
          </a:prstGeom>
          <a:noFill/>
          <a:ln/>
        </p:spPr>
        <p:txBody>
          <a:bodyPr wrap="square" lIns="0" tIns="0" rIns="0" bIns="0" rtlCol="0" anchor="ctr"/>
          <a:lstStyle/>
          <a:p>
            <a:pPr algn="ctr" indent="0" marL="0">
              <a:buNone/>
            </a:pPr>
            <a:r>
              <a:rPr lang="en-US" sz="1500" b="1" dirty="0">
                <a:solidFill>
                  <a:srgbClr val="0072CE"/>
                </a:solidFill>
                <a:latin typeface="Calibri" pitchFamily="34" charset="0"/>
                <a:ea typeface="Calibri" pitchFamily="34" charset="-122"/>
                <a:cs typeface="Calibri" pitchFamily="34" charset="-120"/>
              </a:rPr>
              <a:t>Q+4–5</a:t>
            </a:r>
            <a:endParaRPr lang="en-US" sz="1500" dirty="0"/>
          </a:p>
        </p:txBody>
      </p:sp>
      <p:sp>
        <p:nvSpPr>
          <p:cNvPr id="24" name="Shape 22"/>
          <p:cNvSpPr/>
          <p:nvPr/>
        </p:nvSpPr>
        <p:spPr>
          <a:xfrm>
            <a:off x="8741664" y="3429000"/>
            <a:ext cx="2423160" cy="2240280"/>
          </a:xfrm>
          <a:prstGeom prst="roundRect">
            <a:avLst>
              <a:gd name="adj" fmla="val 3265"/>
            </a:avLst>
          </a:prstGeom>
          <a:solidFill>
            <a:srgbClr val="F2F6FB"/>
          </a:solidFill>
          <a:ln w="12700">
            <a:solidFill>
              <a:srgbClr val="D7E0EA"/>
            </a:solidFill>
            <a:prstDash val="solid"/>
          </a:ln>
        </p:spPr>
      </p:sp>
      <p:sp>
        <p:nvSpPr>
          <p:cNvPr id="25" name="Text 23"/>
          <p:cNvSpPr txBox="1"/>
          <p:nvPr/>
        </p:nvSpPr>
        <p:spPr>
          <a:xfrm>
            <a:off x="8906256" y="3566160"/>
            <a:ext cx="2103120" cy="292608"/>
          </a:xfrm>
          <a:prstGeom prst="rect">
            <a:avLst/>
          </a:prstGeom>
          <a:noFill/>
          <a:ln/>
        </p:spPr>
        <p:txBody>
          <a:bodyPr wrap="square" lIns="0" tIns="0" rIns="0" bIns="0" rtlCol="0" anchor="ctr"/>
          <a:lstStyle/>
          <a:p>
            <a:pPr indent="0" marL="0">
              <a:buNone/>
            </a:pPr>
            <a:r>
              <a:rPr lang="en-US" sz="1250" b="1" dirty="0">
                <a:solidFill>
                  <a:srgbClr val="0B1F3A"/>
                </a:solidFill>
                <a:latin typeface="Calibri" pitchFamily="34" charset="0"/>
                <a:ea typeface="Calibri" pitchFamily="34" charset="-122"/>
                <a:cs typeface="Calibri" pitchFamily="34" charset="-120"/>
              </a:rPr>
              <a:t>Proof, kill, publish</a:t>
            </a:r>
            <a:endParaRPr lang="en-US" sz="1250" dirty="0"/>
          </a:p>
        </p:txBody>
      </p:sp>
      <p:sp>
        <p:nvSpPr>
          <p:cNvPr id="26" name="Text 24"/>
          <p:cNvSpPr txBox="1"/>
          <p:nvPr/>
        </p:nvSpPr>
        <p:spPr>
          <a:xfrm>
            <a:off x="8906256" y="3877056"/>
            <a:ext cx="2103120" cy="1691640"/>
          </a:xfrm>
          <a:prstGeom prst="rect">
            <a:avLst/>
          </a:prstGeom>
          <a:noFill/>
          <a:ln/>
        </p:spPr>
        <p:txBody>
          <a:bodyPr wrap="square" lIns="0" tIns="0" rIns="0" bIns="0" rtlCol="0" anchor="ctr"/>
          <a:lstStyle/>
          <a:p>
            <a:pPr indent="0" marL="0">
              <a:buNone/>
            </a:pPr>
            <a:r>
              <a:rPr lang="en-US" sz="1000" dirty="0">
                <a:solidFill>
                  <a:srgbClr val="5B6672"/>
                </a:solidFill>
                <a:latin typeface="Calibri" pitchFamily="34" charset="0"/>
                <a:ea typeface="Calibri" pitchFamily="34" charset="-122"/>
                <a:cs typeface="Calibri" pitchFamily="34" charset="-120"/>
              </a:rPr>
              <a:t>Proof metrics read; kill conditions executed without renegotiation; winners scale. Investor day publishes the triggers once the first read validates the map.</a:t>
            </a:r>
            <a:endParaRPr lang="en-US" sz="1000" dirty="0"/>
          </a:p>
        </p:txBody>
      </p:sp>
      <p:sp>
        <p:nvSpPr>
          <p:cNvPr id="27" name="Text 25"/>
          <p:cNvSpPr txBox="1"/>
          <p:nvPr/>
        </p:nvSpPr>
        <p:spPr>
          <a:xfrm>
            <a:off x="502920" y="5852160"/>
            <a:ext cx="11201400" cy="365760"/>
          </a:xfrm>
          <a:prstGeom prst="rect">
            <a:avLst/>
          </a:prstGeom>
          <a:noFill/>
          <a:ln/>
        </p:spPr>
        <p:txBody>
          <a:bodyPr wrap="square" lIns="0" tIns="0" rIns="0" bIns="0" rtlCol="0" anchor="ctr"/>
          <a:lstStyle/>
          <a:p>
            <a:pPr indent="0" marL="0">
              <a:buNone/>
            </a:pPr>
            <a:r>
              <a:rPr lang="en-US" sz="1050" i="1" dirty="0">
                <a:solidFill>
                  <a:srgbClr val="5B6672"/>
                </a:solidFill>
                <a:latin typeface="Calibri" pitchFamily="34" charset="0"/>
                <a:ea typeface="Calibri" pitchFamily="34" charset="-122"/>
                <a:cs typeface="Calibri" pitchFamily="34" charset="-120"/>
              </a:rPr>
              <a:t>Ongoing cadence: attribution refreshes every quarter; thresholds re-checked; a null quarter can become a triggered quarter. The system runs as long as the Internet print is the priced variable.</a:t>
            </a:r>
            <a:endParaRPr lang="en-US" sz="1050" dirty="0"/>
          </a:p>
        </p:txBody>
      </p:sp>
      <p:sp>
        <p:nvSpPr>
          <p:cNvPr id="28" name="Text 26"/>
          <p:cNvSpPr txBox="1"/>
          <p:nvPr/>
        </p:nvSpPr>
        <p:spPr>
          <a:xfrm>
            <a:off x="11567160" y="6446520"/>
            <a:ext cx="457200" cy="274320"/>
          </a:xfrm>
          <a:prstGeom prst="rect">
            <a:avLst/>
          </a:prstGeom>
          <a:noFill/>
          <a:ln/>
        </p:spPr>
        <p:txBody>
          <a:bodyPr wrap="square" lIns="0" tIns="0" rIns="0" bIns="0" rtlCol="0" anchor="ctr"/>
          <a:lstStyle/>
          <a:p>
            <a:pPr algn="r" indent="0" marL="0">
              <a:buNone/>
            </a:pPr>
            <a:r>
              <a:rPr lang="en-US" sz="1000" dirty="0">
                <a:solidFill>
                  <a:srgbClr val="8A94A0"/>
                </a:solidFill>
                <a:latin typeface="Calibri" pitchFamily="34" charset="0"/>
                <a:ea typeface="Calibri" pitchFamily="34" charset="-122"/>
                <a:cs typeface="Calibri" pitchFamily="34" charset="-120"/>
              </a:rPr>
              <a:t>18</a:t>
            </a:r>
            <a:endParaRPr lang="en-US" sz="1000" dirty="0"/>
          </a:p>
        </p:txBody>
      </p:sp>
      <p:sp>
        <p:nvSpPr>
          <p:cNvPr id="29" name="Text 27"/>
          <p:cNvSpPr txBox="1"/>
          <p:nvPr/>
        </p:nvSpPr>
        <p:spPr>
          <a:xfrm>
            <a:off x="502920" y="6446520"/>
            <a:ext cx="10881360" cy="274320"/>
          </a:xfrm>
          <a:prstGeom prst="rect">
            <a:avLst/>
          </a:prstGeom>
          <a:noFill/>
          <a:ln/>
        </p:spPr>
        <p:txBody>
          <a:bodyPr wrap="square" lIns="0" tIns="0" rIns="0" bIns="0" rtlCol="0" anchor="ctr"/>
          <a:lstStyle/>
          <a:p>
            <a:pPr indent="0" marL="0">
              <a:buNone/>
            </a:pPr>
            <a:r>
              <a:rPr lang="en-US" sz="900" dirty="0">
                <a:solidFill>
                  <a:srgbClr val="8A94A0"/>
                </a:solidFill>
                <a:latin typeface="Calibri" pitchFamily="34" charset="0"/>
                <a:ea typeface="Calibri" pitchFamily="34" charset="-122"/>
                <a:cs typeface="Calibri" pitchFamily="34" charset="-120"/>
              </a:rPr>
              <a:t>Final Presentation  ·  “Changing the Trajectory”  ·  Charter Communications (CHTR)  ·  Anchored to Q1 2026; Q2 2026 labeled as later public fact where used</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02920" y="292608"/>
            <a:ext cx="10515600" cy="274320"/>
          </a:xfrm>
          <a:prstGeom prst="rect">
            <a:avLst/>
          </a:prstGeom>
          <a:noFill/>
          <a:ln/>
        </p:spPr>
        <p:txBody>
          <a:bodyPr wrap="square" lIns="0" tIns="0" rIns="0" bIns="0" rtlCol="0" anchor="ctr"/>
          <a:lstStyle/>
          <a:p>
            <a:pPr indent="0" marL="0">
              <a:buNone/>
            </a:pPr>
            <a:r>
              <a:rPr lang="en-US" sz="1100" b="1" spc="200" kern="0" dirty="0">
                <a:solidFill>
                  <a:srgbClr val="0072CE"/>
                </a:solidFill>
                <a:latin typeface="Calibri" pitchFamily="34" charset="0"/>
                <a:ea typeface="Calibri" pitchFamily="34" charset="-122"/>
                <a:cs typeface="Calibri" pitchFamily="34" charset="-120"/>
              </a:rPr>
              <a:t>4  ·  FEASIBILITY — COST, RISK, AND THE TRADE-OFFS WE OWN</a:t>
            </a:r>
            <a:endParaRPr lang="en-US" sz="1100" dirty="0"/>
          </a:p>
        </p:txBody>
      </p:sp>
      <p:sp>
        <p:nvSpPr>
          <p:cNvPr id="3" name="Text 1"/>
          <p:cNvSpPr txBox="1"/>
          <p:nvPr/>
        </p:nvSpPr>
        <p:spPr>
          <a:xfrm>
            <a:off x="502920" y="566928"/>
            <a:ext cx="11155680" cy="1005840"/>
          </a:xfrm>
          <a:prstGeom prst="rect">
            <a:avLst/>
          </a:prstGeom>
          <a:noFill/>
          <a:ln/>
        </p:spPr>
        <p:txBody>
          <a:bodyPr wrap="square" lIns="0" tIns="0" rIns="0" bIns="0" rtlCol="0" anchor="t"/>
          <a:lstStyle/>
          <a:p>
            <a:pPr indent="0" marL="0">
              <a:buNone/>
            </a:pPr>
            <a:r>
              <a:rPr lang="en-US" sz="2300" b="1" dirty="0">
                <a:solidFill>
                  <a:srgbClr val="0B1F3A"/>
                </a:solidFill>
                <a:latin typeface="Calibri" pitchFamily="34" charset="0"/>
                <a:ea typeface="Calibri" pitchFamily="34" charset="-122"/>
                <a:cs typeface="Calibri" pitchFamily="34" charset="-120"/>
              </a:rPr>
              <a:t>Cheap sensor, gated plays, honest failure modes — and three trade-offs we are asking the CEO to accept</a:t>
            </a:r>
            <a:endParaRPr lang="en-US" sz="2300" dirty="0"/>
          </a:p>
        </p:txBody>
      </p:sp>
      <p:sp>
        <p:nvSpPr>
          <p:cNvPr id="4" name="Shape 2"/>
          <p:cNvSpPr/>
          <p:nvPr/>
        </p:nvSpPr>
        <p:spPr>
          <a:xfrm>
            <a:off x="502920" y="1783080"/>
            <a:ext cx="3520440" cy="2606040"/>
          </a:xfrm>
          <a:prstGeom prst="roundRect">
            <a:avLst>
              <a:gd name="adj" fmla="val 2807"/>
            </a:avLst>
          </a:prstGeom>
          <a:solidFill>
            <a:srgbClr val="F2F6FB"/>
          </a:solidFill>
          <a:ln w="12700">
            <a:solidFill>
              <a:srgbClr val="D7E0EA"/>
            </a:solidFill>
            <a:prstDash val="solid"/>
          </a:ln>
        </p:spPr>
      </p:sp>
      <p:sp>
        <p:nvSpPr>
          <p:cNvPr id="5" name="Text 3"/>
          <p:cNvSpPr txBox="1"/>
          <p:nvPr/>
        </p:nvSpPr>
        <p:spPr>
          <a:xfrm>
            <a:off x="731520" y="1920240"/>
            <a:ext cx="3063240" cy="256032"/>
          </a:xfrm>
          <a:prstGeom prst="rect">
            <a:avLst/>
          </a:prstGeom>
          <a:noFill/>
          <a:ln/>
        </p:spPr>
        <p:txBody>
          <a:bodyPr wrap="square" lIns="0" tIns="0" rIns="0" bIns="0" rtlCol="0" anchor="ctr"/>
          <a:lstStyle/>
          <a:p>
            <a:pPr indent="0" marL="0">
              <a:buNone/>
            </a:pPr>
            <a:r>
              <a:rPr lang="en-US" sz="1000" b="1" spc="150" kern="0" dirty="0">
                <a:solidFill>
                  <a:srgbClr val="0072CE"/>
                </a:solidFill>
                <a:latin typeface="Calibri" pitchFamily="34" charset="0"/>
                <a:ea typeface="Calibri" pitchFamily="34" charset="-122"/>
                <a:cs typeface="Calibri" pitchFamily="34" charset="-120"/>
              </a:rPr>
              <a:t>COST</a:t>
            </a:r>
            <a:endParaRPr lang="en-US" sz="1000" dirty="0"/>
          </a:p>
        </p:txBody>
      </p:sp>
      <p:sp>
        <p:nvSpPr>
          <p:cNvPr id="6" name="Text 4"/>
          <p:cNvSpPr txBox="1"/>
          <p:nvPr/>
        </p:nvSpPr>
        <p:spPr>
          <a:xfrm>
            <a:off x="731520" y="2194560"/>
            <a:ext cx="3063240" cy="457200"/>
          </a:xfrm>
          <a:prstGeom prst="rect">
            <a:avLst/>
          </a:prstGeom>
          <a:noFill/>
          <a:ln/>
        </p:spPr>
        <p:txBody>
          <a:bodyPr wrap="square" lIns="0" tIns="0" rIns="0" bIns="0" rtlCol="0" anchor="ctr"/>
          <a:lstStyle/>
          <a:p>
            <a:pPr indent="0" marL="0">
              <a:buNone/>
            </a:pPr>
            <a:r>
              <a:rPr lang="en-US" sz="2000" b="1" dirty="0">
                <a:solidFill>
                  <a:srgbClr val="0B1F3A"/>
                </a:solidFill>
                <a:latin typeface="Calibri" pitchFamily="34" charset="0"/>
                <a:ea typeface="Calibri" pitchFamily="34" charset="-122"/>
                <a:cs typeface="Calibri" pitchFamily="34" charset="-120"/>
              </a:rPr>
              <a:t>Low single-digit $M</a:t>
            </a:r>
            <a:endParaRPr lang="en-US" sz="2000" dirty="0"/>
          </a:p>
        </p:txBody>
      </p:sp>
      <p:sp>
        <p:nvSpPr>
          <p:cNvPr id="7" name="Text 5"/>
          <p:cNvSpPr txBox="1"/>
          <p:nvPr/>
        </p:nvSpPr>
        <p:spPr>
          <a:xfrm>
            <a:off x="731520" y="2697480"/>
            <a:ext cx="3063240" cy="1645920"/>
          </a:xfrm>
          <a:prstGeom prst="rect">
            <a:avLst/>
          </a:prstGeom>
          <a:noFill/>
          <a:ln/>
        </p:spPr>
        <p:txBody>
          <a:bodyPr wrap="square" lIns="0" tIns="0" rIns="0" bIns="0" rtlCol="0" anchor="t"/>
          <a:lstStyle/>
          <a:p>
            <a:pPr indent="0" marL="0">
              <a:buNone/>
            </a:pPr>
            <a:r>
              <a:rPr lang="en-US" sz="1000" dirty="0">
                <a:solidFill>
                  <a:srgbClr val="5B6672"/>
                </a:solidFill>
                <a:latin typeface="Calibri" pitchFamily="34" charset="0"/>
                <a:ea typeface="Calibri" pitchFamily="34" charset="-122"/>
                <a:cs typeface="Calibri" pitchFamily="34" charset="-120"/>
              </a:rPr>
              <a:t>Sensor: BI / data-science build on existing billing, BDC (public), and portability data.  </a:t>
            </a:r>
            <a:pPr indent="0" marL="0">
              <a:buNone/>
            </a:pPr>
            <a:r>
              <a:rPr lang="en-US" sz="1000" i="1" dirty="0">
                <a:solidFill>
                  <a:srgbClr val="0072CE"/>
                </a:solidFill>
                <a:latin typeface="Calibri" pitchFamily="34" charset="0"/>
                <a:ea typeface="Calibri" pitchFamily="34" charset="-122"/>
                <a:cs typeface="Calibri" pitchFamily="34" charset="-120"/>
              </a:rPr>
              <a:t>[assumption — to size with client]</a:t>
            </a:r>
            <a:endParaRPr lang="en-US" sz="1000" dirty="0"/>
          </a:p>
          <a:p>
            <a:pPr indent="0" marL="0">
              <a:buNone/>
            </a:pPr>
            <a:endParaRPr lang="en-US" sz="1000" dirty="0"/>
          </a:p>
          <a:p>
            <a:pPr indent="0" marL="0">
              <a:buNone/>
            </a:pPr>
            <a:r>
              <a:rPr lang="en-US" sz="1000" dirty="0">
                <a:solidFill>
                  <a:srgbClr val="5B6672"/>
                </a:solidFill>
                <a:latin typeface="Calibri" pitchFamily="34" charset="0"/>
                <a:ea typeface="Calibri" pitchFamily="34" charset="-122"/>
                <a:cs typeface="Calibri" pitchFamily="34" charset="-120"/>
              </a:rPr>
              <a:t>Plays: each carries its own pre-authorized budget, released only by its trigger and gated by its economics test — the playbook spends nothing until the data speaks. Deleveraging redirects cash already being spent on buybacks (~$1.0B in Q1 2026).</a:t>
            </a:r>
            <a:endParaRPr lang="en-US" sz="1000" dirty="0"/>
          </a:p>
        </p:txBody>
      </p:sp>
      <p:sp>
        <p:nvSpPr>
          <p:cNvPr id="8" name="Shape 6"/>
          <p:cNvSpPr/>
          <p:nvPr/>
        </p:nvSpPr>
        <p:spPr>
          <a:xfrm>
            <a:off x="4343400" y="1783080"/>
            <a:ext cx="3520440" cy="2606040"/>
          </a:xfrm>
          <a:prstGeom prst="roundRect">
            <a:avLst>
              <a:gd name="adj" fmla="val 2807"/>
            </a:avLst>
          </a:prstGeom>
          <a:solidFill>
            <a:srgbClr val="F2F6FB"/>
          </a:solidFill>
          <a:ln w="12700">
            <a:solidFill>
              <a:srgbClr val="D7E0EA"/>
            </a:solidFill>
            <a:prstDash val="solid"/>
          </a:ln>
        </p:spPr>
      </p:sp>
      <p:sp>
        <p:nvSpPr>
          <p:cNvPr id="9" name="Text 7"/>
          <p:cNvSpPr txBox="1"/>
          <p:nvPr/>
        </p:nvSpPr>
        <p:spPr>
          <a:xfrm>
            <a:off x="4572000" y="1920240"/>
            <a:ext cx="3063240" cy="256032"/>
          </a:xfrm>
          <a:prstGeom prst="rect">
            <a:avLst/>
          </a:prstGeom>
          <a:noFill/>
          <a:ln/>
        </p:spPr>
        <p:txBody>
          <a:bodyPr wrap="square" lIns="0" tIns="0" rIns="0" bIns="0" rtlCol="0" anchor="ctr"/>
          <a:lstStyle/>
          <a:p>
            <a:pPr indent="0" marL="0">
              <a:buNone/>
            </a:pPr>
            <a:r>
              <a:rPr lang="en-US" sz="1000" b="1" spc="150" kern="0" dirty="0">
                <a:solidFill>
                  <a:srgbClr val="0072CE"/>
                </a:solidFill>
                <a:latin typeface="Calibri" pitchFamily="34" charset="0"/>
                <a:ea typeface="Calibri" pitchFamily="34" charset="-122"/>
                <a:cs typeface="Calibri" pitchFamily="34" charset="-120"/>
              </a:rPr>
              <a:t>TIME TO MATTER</a:t>
            </a:r>
            <a:endParaRPr lang="en-US" sz="1000" dirty="0"/>
          </a:p>
        </p:txBody>
      </p:sp>
      <p:sp>
        <p:nvSpPr>
          <p:cNvPr id="10" name="Text 8"/>
          <p:cNvSpPr txBox="1"/>
          <p:nvPr/>
        </p:nvSpPr>
        <p:spPr>
          <a:xfrm>
            <a:off x="4572000" y="2194560"/>
            <a:ext cx="3063240" cy="457200"/>
          </a:xfrm>
          <a:prstGeom prst="rect">
            <a:avLst/>
          </a:prstGeom>
          <a:noFill/>
          <a:ln/>
        </p:spPr>
        <p:txBody>
          <a:bodyPr wrap="square" lIns="0" tIns="0" rIns="0" bIns="0" rtlCol="0" anchor="ctr"/>
          <a:lstStyle/>
          <a:p>
            <a:pPr indent="0" marL="0">
              <a:buNone/>
            </a:pPr>
            <a:r>
              <a:rPr lang="en-US" sz="2000" b="1" dirty="0">
                <a:solidFill>
                  <a:srgbClr val="0B1F3A"/>
                </a:solidFill>
                <a:latin typeface="Calibri" pitchFamily="34" charset="0"/>
                <a:ea typeface="Calibri" pitchFamily="34" charset="-122"/>
                <a:cs typeface="Calibri" pitchFamily="34" charset="-120"/>
              </a:rPr>
              <a:t>2 → 5 quarters</a:t>
            </a:r>
            <a:endParaRPr lang="en-US" sz="2000" dirty="0"/>
          </a:p>
        </p:txBody>
      </p:sp>
      <p:sp>
        <p:nvSpPr>
          <p:cNvPr id="11" name="Text 9"/>
          <p:cNvSpPr txBox="1"/>
          <p:nvPr/>
        </p:nvSpPr>
        <p:spPr>
          <a:xfrm>
            <a:off x="4572000" y="2697480"/>
            <a:ext cx="3063240" cy="1645920"/>
          </a:xfrm>
          <a:prstGeom prst="rect">
            <a:avLst/>
          </a:prstGeom>
          <a:noFill/>
          <a:ln/>
        </p:spPr>
        <p:txBody>
          <a:bodyPr wrap="square" lIns="0" tIns="0" rIns="0" bIns="0" rtlCol="0" anchor="t"/>
          <a:lstStyle/>
          <a:p>
            <a:pPr indent="0" marL="0">
              <a:buNone/>
            </a:pPr>
            <a:r>
              <a:rPr lang="en-US" sz="1000" dirty="0">
                <a:solidFill>
                  <a:srgbClr val="5B6672"/>
                </a:solidFill>
                <a:latin typeface="Calibri" pitchFamily="34" charset="0"/>
                <a:ea typeface="Calibri" pitchFamily="34" charset="-122"/>
                <a:cs typeface="Calibri" pitchFamily="34" charset="-120"/>
              </a:rPr>
              <a:t>Attribution read in two quarters; first churn deltas from triggered plays two quarters later; published triggers by Q+5. Squarely inside the ~8-quarter window the diagnostic set — and every quarter produces a board-legible artifact, win or lose. The first market-visible change (buyback pause, re-segmented disclosure) lands in Q+1–2.</a:t>
            </a:r>
            <a:endParaRPr lang="en-US" sz="1000" dirty="0"/>
          </a:p>
        </p:txBody>
      </p:sp>
      <p:sp>
        <p:nvSpPr>
          <p:cNvPr id="12" name="Shape 10"/>
          <p:cNvSpPr/>
          <p:nvPr/>
        </p:nvSpPr>
        <p:spPr>
          <a:xfrm>
            <a:off x="8183880" y="1783080"/>
            <a:ext cx="3520440" cy="2606040"/>
          </a:xfrm>
          <a:prstGeom prst="roundRect">
            <a:avLst>
              <a:gd name="adj" fmla="val 2807"/>
            </a:avLst>
          </a:prstGeom>
          <a:solidFill>
            <a:srgbClr val="F2F6FB"/>
          </a:solidFill>
          <a:ln w="12700">
            <a:solidFill>
              <a:srgbClr val="D7E0EA"/>
            </a:solidFill>
            <a:prstDash val="solid"/>
          </a:ln>
        </p:spPr>
      </p:sp>
      <p:sp>
        <p:nvSpPr>
          <p:cNvPr id="13" name="Text 11"/>
          <p:cNvSpPr txBox="1"/>
          <p:nvPr/>
        </p:nvSpPr>
        <p:spPr>
          <a:xfrm>
            <a:off x="8412480" y="1920240"/>
            <a:ext cx="3063240" cy="256032"/>
          </a:xfrm>
          <a:prstGeom prst="rect">
            <a:avLst/>
          </a:prstGeom>
          <a:noFill/>
          <a:ln/>
        </p:spPr>
        <p:txBody>
          <a:bodyPr wrap="square" lIns="0" tIns="0" rIns="0" bIns="0" rtlCol="0" anchor="ctr"/>
          <a:lstStyle/>
          <a:p>
            <a:pPr indent="0" marL="0">
              <a:buNone/>
            </a:pPr>
            <a:r>
              <a:rPr lang="en-US" sz="1000" b="1" spc="150" kern="0" dirty="0">
                <a:solidFill>
                  <a:srgbClr val="0072CE"/>
                </a:solidFill>
                <a:latin typeface="Calibri" pitchFamily="34" charset="0"/>
                <a:ea typeface="Calibri" pitchFamily="34" charset="-122"/>
                <a:cs typeface="Calibri" pitchFamily="34" charset="-120"/>
              </a:rPr>
              <a:t>RISKS &amp; MITIGATIONS</a:t>
            </a:r>
            <a:endParaRPr lang="en-US" sz="1000" dirty="0"/>
          </a:p>
        </p:txBody>
      </p:sp>
      <p:sp>
        <p:nvSpPr>
          <p:cNvPr id="14" name="Text 12"/>
          <p:cNvSpPr txBox="1"/>
          <p:nvPr/>
        </p:nvSpPr>
        <p:spPr>
          <a:xfrm>
            <a:off x="8412480" y="2194560"/>
            <a:ext cx="3063240" cy="457200"/>
          </a:xfrm>
          <a:prstGeom prst="rect">
            <a:avLst/>
          </a:prstGeom>
          <a:noFill/>
          <a:ln/>
        </p:spPr>
        <p:txBody>
          <a:bodyPr wrap="square" lIns="0" tIns="0" rIns="0" bIns="0" rtlCol="0" anchor="ctr"/>
          <a:lstStyle/>
          <a:p>
            <a:pPr indent="0" marL="0">
              <a:buNone/>
            </a:pPr>
            <a:r>
              <a:rPr lang="en-US" sz="2000" b="1" dirty="0">
                <a:solidFill>
                  <a:srgbClr val="0B1F3A"/>
                </a:solidFill>
                <a:latin typeface="Calibri" pitchFamily="34" charset="0"/>
                <a:ea typeface="Calibri" pitchFamily="34" charset="-122"/>
                <a:cs typeface="Calibri" pitchFamily="34" charset="-120"/>
              </a:rPr>
              <a:t>Four honest ones</a:t>
            </a:r>
            <a:endParaRPr lang="en-US" sz="2000" dirty="0"/>
          </a:p>
        </p:txBody>
      </p:sp>
      <p:sp>
        <p:nvSpPr>
          <p:cNvPr id="15" name="Text 13"/>
          <p:cNvSpPr txBox="1"/>
          <p:nvPr/>
        </p:nvSpPr>
        <p:spPr>
          <a:xfrm>
            <a:off x="8412480" y="2697480"/>
            <a:ext cx="3063240" cy="1645920"/>
          </a:xfrm>
          <a:prstGeom prst="rect">
            <a:avLst/>
          </a:prstGeom>
          <a:noFill/>
          <a:ln/>
        </p:spPr>
        <p:txBody>
          <a:bodyPr wrap="square" lIns="0" tIns="0" rIns="0" bIns="0" rtlCol="0" anchor="t"/>
          <a:lstStyle/>
          <a:p>
            <a:pPr indent="0" marL="0">
              <a:buNone/>
            </a:pPr>
            <a:r>
              <a:rPr lang="en-US" sz="1000" dirty="0">
                <a:solidFill>
                  <a:srgbClr val="5B6672"/>
                </a:solidFill>
                <a:latin typeface="Calibri" pitchFamily="34" charset="0"/>
                <a:ea typeface="Calibri" pitchFamily="34" charset="-122"/>
                <a:cs typeface="Calibri" pitchFamily="34" charset="-120"/>
              </a:rPr>
              <a:t>(1) BDC data lags / overstates coverage → validate against port-out destinations. (2) Exit surveys under-sample silent churners → weight by portability data. (3) Pre-commitment could misfire on a bad read → full-scale requires two consecutive quarters above threshold; experiments can start on one. (4) Cox / Liberty close resets the base → restate cohorts on the combined footprint from day one.</a:t>
            </a:r>
            <a:endParaRPr lang="en-US" sz="1000" dirty="0"/>
          </a:p>
        </p:txBody>
      </p:sp>
      <p:sp>
        <p:nvSpPr>
          <p:cNvPr id="16" name="Shape 14"/>
          <p:cNvSpPr/>
          <p:nvPr/>
        </p:nvSpPr>
        <p:spPr>
          <a:xfrm>
            <a:off x="502920" y="4572000"/>
            <a:ext cx="11201400" cy="1463040"/>
          </a:xfrm>
          <a:prstGeom prst="roundRect">
            <a:avLst>
              <a:gd name="adj" fmla="val 5000"/>
            </a:avLst>
          </a:prstGeom>
          <a:solidFill>
            <a:srgbClr val="0B1F3A"/>
          </a:solidFill>
          <a:ln w="12700">
            <a:solidFill>
              <a:srgbClr val="D7E0EA"/>
            </a:solidFill>
            <a:prstDash val="solid"/>
          </a:ln>
        </p:spPr>
      </p:sp>
      <p:sp>
        <p:nvSpPr>
          <p:cNvPr id="17" name="Text 15"/>
          <p:cNvSpPr txBox="1"/>
          <p:nvPr/>
        </p:nvSpPr>
        <p:spPr>
          <a:xfrm>
            <a:off x="777240" y="4681728"/>
            <a:ext cx="10698480" cy="237744"/>
          </a:xfrm>
          <a:prstGeom prst="rect">
            <a:avLst/>
          </a:prstGeom>
          <a:noFill/>
          <a:ln/>
        </p:spPr>
        <p:txBody>
          <a:bodyPr wrap="square" lIns="0" tIns="0" rIns="0" bIns="0" rtlCol="0" anchor="ctr"/>
          <a:lstStyle/>
          <a:p>
            <a:pPr indent="0" marL="0">
              <a:buNone/>
            </a:pPr>
            <a:r>
              <a:rPr lang="en-US" sz="1000" b="1" spc="150" kern="0" dirty="0">
                <a:solidFill>
                  <a:srgbClr val="0072CE"/>
                </a:solidFill>
                <a:latin typeface="Calibri" pitchFamily="34" charset="0"/>
                <a:ea typeface="Calibri" pitchFamily="34" charset="-122"/>
                <a:cs typeface="Calibri" pitchFamily="34" charset="-120"/>
              </a:rPr>
              <a:t>TRADE-OFFS WE OWN</a:t>
            </a:r>
            <a:endParaRPr lang="en-US" sz="1000" dirty="0"/>
          </a:p>
        </p:txBody>
      </p:sp>
      <p:sp>
        <p:nvSpPr>
          <p:cNvPr id="18" name="Text 16"/>
          <p:cNvSpPr txBox="1"/>
          <p:nvPr/>
        </p:nvSpPr>
        <p:spPr>
          <a:xfrm>
            <a:off x="777240" y="4937760"/>
            <a:ext cx="10698480" cy="1051560"/>
          </a:xfrm>
          <a:prstGeom prst="rect">
            <a:avLst/>
          </a:prstGeom>
          <a:noFill/>
          <a:ln/>
        </p:spPr>
        <p:txBody>
          <a:bodyPr wrap="square" lIns="0" tIns="0" rIns="0" bIns="0" rtlCol="0" anchor="t"/>
          <a:lstStyle/>
          <a:p>
            <a:pPr indent="0" marL="0">
              <a:buNone/>
            </a:pPr>
            <a:r>
              <a:rPr lang="en-US" sz="1050" b="1" dirty="0">
                <a:solidFill>
                  <a:srgbClr val="FFFFFF"/>
                </a:solidFill>
                <a:latin typeface="Calibri" pitchFamily="34" charset="0"/>
                <a:ea typeface="Calibri" pitchFamily="34" charset="-122"/>
                <a:cs typeface="Calibri" pitchFamily="34" charset="-120"/>
              </a:rPr>
              <a:t>EPS accretion for balance-sheet credibility. </a:t>
            </a:r>
            <a:pPr indent="0" marL="0">
              <a:spcAft>
                <a:spcPts val="400"/>
              </a:spcAft>
              <a:buNone/>
            </a:pPr>
            <a:r>
              <a:rPr lang="en-US" sz="1050" dirty="0">
                <a:solidFill>
                  <a:srgbClr val="DCE9F7"/>
                </a:solidFill>
                <a:latin typeface="Calibri" pitchFamily="34" charset="0"/>
                <a:ea typeface="Calibri" pitchFamily="34" charset="-122"/>
                <a:cs typeface="Calibri" pitchFamily="34" charset="-120"/>
              </a:rPr>
              <a:t>Pausing buybacks ends the mechanism that turned flat earnings into +4% EPS. We are betting the market rewards deleveraging more than it has rewarded repurchases — the last $5.4B says it will.</a:t>
            </a:r>
            <a:endParaRPr lang="en-US" sz="1050" dirty="0"/>
          </a:p>
          <a:p>
            <a:pPr indent="0" marL="0">
              <a:buNone/>
            </a:pPr>
            <a:r>
              <a:rPr lang="en-US" sz="1050" b="1" dirty="0">
                <a:solidFill>
                  <a:srgbClr val="FFFFFF"/>
                </a:solidFill>
                <a:latin typeface="Calibri" pitchFamily="34" charset="0"/>
                <a:ea typeface="Calibri" pitchFamily="34" charset="-122"/>
                <a:cs typeface="Calibri" pitchFamily="34" charset="-120"/>
              </a:rPr>
              <a:t>Transparency for optionality. </a:t>
            </a:r>
            <a:pPr indent="0" marL="0">
              <a:spcAft>
                <a:spcPts val="400"/>
              </a:spcAft>
              <a:buNone/>
            </a:pPr>
            <a:r>
              <a:rPr lang="en-US" sz="1050" dirty="0">
                <a:solidFill>
                  <a:srgbClr val="DCE9F7"/>
                </a:solidFill>
                <a:latin typeface="Calibri" pitchFamily="34" charset="0"/>
                <a:ea typeface="Calibri" pitchFamily="34" charset="-122"/>
                <a:cs typeface="Calibri" pitchFamily="34" charset="-120"/>
              </a:rPr>
              <a:t>Publishing triggers and cohort churn hands competitors and bears a better map of Charter. We accept that because the market has stopped pricing anything it cannot verify.</a:t>
            </a:r>
            <a:endParaRPr lang="en-US" sz="1050" dirty="0"/>
          </a:p>
          <a:p>
            <a:pPr indent="0" marL="0">
              <a:buNone/>
            </a:pPr>
            <a:r>
              <a:rPr lang="en-US" sz="1050" b="1" dirty="0">
                <a:solidFill>
                  <a:srgbClr val="FFFFFF"/>
                </a:solidFill>
                <a:latin typeface="Calibri" pitchFamily="34" charset="0"/>
                <a:ea typeface="Calibri" pitchFamily="34" charset="-122"/>
                <a:cs typeface="Calibri" pitchFamily="34" charset="-120"/>
              </a:rPr>
              <a:t>Discipline for flexibility. </a:t>
            </a:r>
            <a:pPr indent="0" marL="0">
              <a:buNone/>
            </a:pPr>
            <a:r>
              <a:rPr lang="en-US" sz="1050" dirty="0">
                <a:solidFill>
                  <a:srgbClr val="DCE9F7"/>
                </a:solidFill>
                <a:latin typeface="Calibri" pitchFamily="34" charset="0"/>
                <a:ea typeface="Calibri" pitchFamily="34" charset="-122"/>
                <a:cs typeface="Calibri" pitchFamily="34" charset="-120"/>
              </a:rPr>
              <a:t>Pre-commitment removes management’s freedom to re-decide after the data lands — including the freedom to keep defending zones the kill condition says to harvest.</a:t>
            </a:r>
            <a:endParaRPr lang="en-US" sz="1050" dirty="0"/>
          </a:p>
        </p:txBody>
      </p:sp>
      <p:sp>
        <p:nvSpPr>
          <p:cNvPr id="19" name="Text 17"/>
          <p:cNvSpPr txBox="1"/>
          <p:nvPr/>
        </p:nvSpPr>
        <p:spPr>
          <a:xfrm>
            <a:off x="502920" y="6144768"/>
            <a:ext cx="11155680" cy="256032"/>
          </a:xfrm>
          <a:prstGeom prst="rect">
            <a:avLst/>
          </a:prstGeom>
          <a:noFill/>
          <a:ln/>
        </p:spPr>
        <p:txBody>
          <a:bodyPr wrap="square" lIns="0" tIns="0" rIns="0" bIns="0" rtlCol="0" anchor="ctr"/>
          <a:lstStyle/>
          <a:p>
            <a:pPr indent="0" marL="0">
              <a:buNone/>
            </a:pPr>
            <a:r>
              <a:rPr lang="en-US" sz="900" i="1" dirty="0">
                <a:solidFill>
                  <a:srgbClr val="8A94A0"/>
                </a:solidFill>
                <a:latin typeface="Calibri" pitchFamily="34" charset="0"/>
                <a:ea typeface="Calibri" pitchFamily="34" charset="-122"/>
                <a:cs typeface="Calibri" pitchFamily="34" charset="-120"/>
              </a:rPr>
              <a:t>Source: Blue bracketed items are team assumptions pending client data (blue = assumption, per the team workbook convention). All other figures from filings and releases cited in the diagnostic.</a:t>
            </a:r>
            <a:endParaRPr lang="en-US" sz="900" dirty="0"/>
          </a:p>
        </p:txBody>
      </p:sp>
      <p:sp>
        <p:nvSpPr>
          <p:cNvPr id="20" name="Text 18"/>
          <p:cNvSpPr txBox="1"/>
          <p:nvPr/>
        </p:nvSpPr>
        <p:spPr>
          <a:xfrm>
            <a:off x="11567160" y="6446520"/>
            <a:ext cx="457200" cy="274320"/>
          </a:xfrm>
          <a:prstGeom prst="rect">
            <a:avLst/>
          </a:prstGeom>
          <a:noFill/>
          <a:ln/>
        </p:spPr>
        <p:txBody>
          <a:bodyPr wrap="square" lIns="0" tIns="0" rIns="0" bIns="0" rtlCol="0" anchor="ctr"/>
          <a:lstStyle/>
          <a:p>
            <a:pPr algn="r" indent="0" marL="0">
              <a:buNone/>
            </a:pPr>
            <a:r>
              <a:rPr lang="en-US" sz="1000" dirty="0">
                <a:solidFill>
                  <a:srgbClr val="8A94A0"/>
                </a:solidFill>
                <a:latin typeface="Calibri" pitchFamily="34" charset="0"/>
                <a:ea typeface="Calibri" pitchFamily="34" charset="-122"/>
                <a:cs typeface="Calibri" pitchFamily="34" charset="-120"/>
              </a:rPr>
              <a:t>19</a:t>
            </a:r>
            <a:endParaRPr lang="en-US" sz="1000" dirty="0"/>
          </a:p>
        </p:txBody>
      </p:sp>
      <p:sp>
        <p:nvSpPr>
          <p:cNvPr id="21" name="Text 19"/>
          <p:cNvSpPr txBox="1"/>
          <p:nvPr/>
        </p:nvSpPr>
        <p:spPr>
          <a:xfrm>
            <a:off x="502920" y="6446520"/>
            <a:ext cx="10881360" cy="274320"/>
          </a:xfrm>
          <a:prstGeom prst="rect">
            <a:avLst/>
          </a:prstGeom>
          <a:noFill/>
          <a:ln/>
        </p:spPr>
        <p:txBody>
          <a:bodyPr wrap="square" lIns="0" tIns="0" rIns="0" bIns="0" rtlCol="0" anchor="ctr"/>
          <a:lstStyle/>
          <a:p>
            <a:pPr indent="0" marL="0">
              <a:buNone/>
            </a:pPr>
            <a:r>
              <a:rPr lang="en-US" sz="900" dirty="0">
                <a:solidFill>
                  <a:srgbClr val="8A94A0"/>
                </a:solidFill>
                <a:latin typeface="Calibri" pitchFamily="34" charset="0"/>
                <a:ea typeface="Calibri" pitchFamily="34" charset="-122"/>
                <a:cs typeface="Calibri" pitchFamily="34" charset="-120"/>
              </a:rPr>
              <a:t>Final Presentation  ·  “Changing the Trajectory”  ·  Charter Communications (CHTR)  ·  Anchored to Q1 2026; Q2 2026 labeled as later public fact where used</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1F3A"/>
          </a:solidFill>
          <a:ln/>
        </p:spPr>
      </p:sp>
      <p:sp>
        <p:nvSpPr>
          <p:cNvPr id="3" name="Text 1"/>
          <p:cNvSpPr txBox="1"/>
          <p:nvPr/>
        </p:nvSpPr>
        <p:spPr>
          <a:xfrm>
            <a:off x="822960" y="1005840"/>
            <a:ext cx="10515600" cy="365760"/>
          </a:xfrm>
          <a:prstGeom prst="rect">
            <a:avLst/>
          </a:prstGeom>
          <a:noFill/>
          <a:ln/>
        </p:spPr>
        <p:txBody>
          <a:bodyPr wrap="square" lIns="0" tIns="0" rIns="0" bIns="0" rtlCol="0" anchor="ctr"/>
          <a:lstStyle/>
          <a:p>
            <a:pPr indent="0" marL="0">
              <a:buNone/>
            </a:pPr>
            <a:r>
              <a:rPr lang="en-US" sz="1200" b="1" spc="300" kern="0" dirty="0">
                <a:solidFill>
                  <a:srgbClr val="0072CE"/>
                </a:solidFill>
                <a:latin typeface="Calibri" pitchFamily="34" charset="0"/>
                <a:ea typeface="Calibri" pitchFamily="34" charset="-122"/>
                <a:cs typeface="Calibri" pitchFamily="34" charset="-120"/>
              </a:rPr>
              <a:t>THE RECOMMENDATION IN ONE BREATH</a:t>
            </a:r>
            <a:endParaRPr lang="en-US" sz="1200" dirty="0"/>
          </a:p>
        </p:txBody>
      </p:sp>
      <p:sp>
        <p:nvSpPr>
          <p:cNvPr id="4" name="Text 2"/>
          <p:cNvSpPr txBox="1"/>
          <p:nvPr/>
        </p:nvSpPr>
        <p:spPr>
          <a:xfrm>
            <a:off x="822960" y="1463040"/>
            <a:ext cx="10515600" cy="1554480"/>
          </a:xfrm>
          <a:prstGeom prst="rect">
            <a:avLst/>
          </a:prstGeom>
          <a:noFill/>
          <a:ln/>
        </p:spPr>
        <p:txBody>
          <a:bodyPr wrap="square" lIns="0" tIns="0" rIns="0" bIns="0" rtlCol="0" anchor="ctr"/>
          <a:lstStyle/>
          <a:p>
            <a:pPr indent="0" marL="0">
              <a:lnSpc>
                <a:spcPct val="115000"/>
              </a:lnSpc>
              <a:buNone/>
            </a:pPr>
            <a:r>
              <a:rPr lang="en-US" sz="2600" b="1" dirty="0">
                <a:solidFill>
                  <a:srgbClr val="FFFFFF"/>
                </a:solidFill>
                <a:latin typeface="Calibri" pitchFamily="34" charset="0"/>
                <a:ea typeface="Calibri" pitchFamily="34" charset="-122"/>
                <a:cs typeface="Calibri" pitchFamily="34" charset="-120"/>
              </a:rPr>
              <a:t>“We can’t tell you today which war Charter is losing —</a:t>
            </a:r>
            <a:endParaRPr lang="en-US" sz="2600" dirty="0"/>
          </a:p>
          <a:p>
            <a:pPr indent="0" marL="0">
              <a:lnSpc>
                <a:spcPct val="115000"/>
              </a:lnSpc>
              <a:buNone/>
            </a:pPr>
            <a:r>
              <a:rPr lang="en-US" sz="2600" b="1" dirty="0">
                <a:solidFill>
                  <a:srgbClr val="FFFFFF"/>
                </a:solidFill>
                <a:latin typeface="Calibri" pitchFamily="34" charset="0"/>
                <a:ea typeface="Calibri" pitchFamily="34" charset="-122"/>
                <a:cs typeface="Calibri" pitchFamily="34" charset="-120"/>
              </a:rPr>
              <a:t>nobody can, and we can prove nobody can.</a:t>
            </a:r>
            <a:endParaRPr lang="en-US" sz="2600" dirty="0"/>
          </a:p>
          <a:p>
            <a:pPr indent="0" marL="0">
              <a:lnSpc>
                <a:spcPct val="115000"/>
              </a:lnSpc>
              <a:buNone/>
            </a:pPr>
            <a:r>
              <a:rPr lang="en-US" sz="2600" b="1" dirty="0">
                <a:solidFill>
                  <a:srgbClr val="FFFFFF"/>
                </a:solidFill>
                <a:latin typeface="Calibri" pitchFamily="34" charset="0"/>
                <a:ea typeface="Calibri" pitchFamily="34" charset="-122"/>
                <a:cs typeface="Calibri" pitchFamily="34" charset="-120"/>
              </a:rPr>
              <a:t>So we’re not recommending a guess.”</a:t>
            </a:r>
            <a:endParaRPr lang="en-US" sz="2600" dirty="0"/>
          </a:p>
        </p:txBody>
      </p:sp>
      <p:sp>
        <p:nvSpPr>
          <p:cNvPr id="5" name="Text 3"/>
          <p:cNvSpPr txBox="1"/>
          <p:nvPr/>
        </p:nvSpPr>
        <p:spPr>
          <a:xfrm>
            <a:off x="822960" y="3200400"/>
            <a:ext cx="10332720" cy="1051560"/>
          </a:xfrm>
          <a:prstGeom prst="rect">
            <a:avLst/>
          </a:prstGeom>
          <a:noFill/>
          <a:ln/>
        </p:spPr>
        <p:txBody>
          <a:bodyPr wrap="square" lIns="0" tIns="0" rIns="0" bIns="0" rtlCol="0" anchor="ctr"/>
          <a:lstStyle/>
          <a:p>
            <a:pPr indent="0" marL="0">
              <a:lnSpc>
                <a:spcPct val="110000"/>
              </a:lnSpc>
              <a:buNone/>
            </a:pPr>
            <a:r>
              <a:rPr lang="en-US" sz="1450" dirty="0">
                <a:solidFill>
                  <a:srgbClr val="DCE9F7"/>
                </a:solidFill>
                <a:latin typeface="Calibri" pitchFamily="34" charset="0"/>
                <a:ea typeface="Calibri" pitchFamily="34" charset="-122"/>
                <a:cs typeface="Calibri" pitchFamily="34" charset="-120"/>
              </a:rPr>
              <a:t>We are recommending the sensor that identifies the attacker within two quarters using data Charter already has; a pre-committed battle plan for every answer it can return, including the answer that there is no single attacker; and a disclosure and capital regime that lets the market watch the trajectory change instead of waiting to be surprised by it.</a:t>
            </a:r>
            <a:endParaRPr lang="en-US" sz="1450" dirty="0"/>
          </a:p>
        </p:txBody>
      </p:sp>
      <p:sp>
        <p:nvSpPr>
          <p:cNvPr id="6" name="Shape 4"/>
          <p:cNvSpPr/>
          <p:nvPr/>
        </p:nvSpPr>
        <p:spPr>
          <a:xfrm>
            <a:off x="822960" y="4480560"/>
            <a:ext cx="10515600" cy="0"/>
          </a:xfrm>
          <a:prstGeom prst="line">
            <a:avLst/>
          </a:prstGeom>
          <a:noFill/>
          <a:ln w="12700">
            <a:solidFill>
              <a:srgbClr val="27405F"/>
            </a:solidFill>
            <a:prstDash val="solid"/>
          </a:ln>
        </p:spPr>
      </p:sp>
      <p:sp>
        <p:nvSpPr>
          <p:cNvPr id="7" name="Text 5"/>
          <p:cNvSpPr txBox="1"/>
          <p:nvPr/>
        </p:nvSpPr>
        <p:spPr>
          <a:xfrm>
            <a:off x="822960" y="4617720"/>
            <a:ext cx="10515600" cy="274320"/>
          </a:xfrm>
          <a:prstGeom prst="rect">
            <a:avLst/>
          </a:prstGeom>
          <a:noFill/>
          <a:ln/>
        </p:spPr>
        <p:txBody>
          <a:bodyPr wrap="square" lIns="0" tIns="0" rIns="0" bIns="0" rtlCol="0" anchor="ctr"/>
          <a:lstStyle/>
          <a:p>
            <a:pPr indent="0" marL="0">
              <a:buNone/>
            </a:pPr>
            <a:r>
              <a:rPr lang="en-US" sz="1100" b="1" spc="200" kern="0" dirty="0">
                <a:solidFill>
                  <a:srgbClr val="0072CE"/>
                </a:solidFill>
                <a:latin typeface="Calibri" pitchFamily="34" charset="0"/>
                <a:ea typeface="Calibri" pitchFamily="34" charset="-122"/>
                <a:cs typeface="Calibri" pitchFamily="34" charset="-120"/>
              </a:rPr>
              <a:t>WHAT WE NEED FROM THE CLIENT TO START</a:t>
            </a:r>
            <a:endParaRPr lang="en-US" sz="1100" dirty="0"/>
          </a:p>
        </p:txBody>
      </p:sp>
      <p:sp>
        <p:nvSpPr>
          <p:cNvPr id="8" name="Text 6"/>
          <p:cNvSpPr txBox="1"/>
          <p:nvPr/>
        </p:nvSpPr>
        <p:spPr>
          <a:xfrm>
            <a:off x="822960" y="4937760"/>
            <a:ext cx="10515600" cy="1188720"/>
          </a:xfrm>
          <a:prstGeom prst="rect">
            <a:avLst/>
          </a:prstGeom>
          <a:noFill/>
          <a:ln/>
        </p:spPr>
        <p:txBody>
          <a:bodyPr wrap="square" lIns="0" tIns="0" rIns="0" bIns="0" rtlCol="0" anchor="ctr"/>
          <a:lstStyle/>
          <a:p>
            <a:pPr marL="342900" indent="-342900">
              <a:spcAft>
                <a:spcPts val="400"/>
              </a:spcAft>
              <a:buSzPct val="100000"/>
              <a:buChar char="•"/>
            </a:pPr>
            <a:r>
              <a:rPr lang="en-US" sz="1250" dirty="0">
                <a:solidFill>
                  <a:srgbClr val="DCE9F7"/>
                </a:solidFill>
                <a:latin typeface="Calibri" pitchFamily="34" charset="0"/>
                <a:ea typeface="Calibri" pitchFamily="34" charset="-122"/>
                <a:cs typeface="Calibri" pitchFamily="34" charset="-120"/>
              </a:rPr>
              <a:t>MVNO wholesale cost per line and incremental mobile margin (gates Scenario 1).</a:t>
            </a:r>
            <a:endParaRPr lang="en-US" sz="1250" dirty="0"/>
          </a:p>
          <a:p>
            <a:pPr marL="342900" indent="-342900">
              <a:spcAft>
                <a:spcPts val="400"/>
              </a:spcAft>
              <a:buSzPct val="100000"/>
              <a:buChar char="•"/>
            </a:pPr>
            <a:r>
              <a:rPr lang="en-US" sz="1250" dirty="0">
                <a:solidFill>
                  <a:srgbClr val="DCE9F7"/>
                </a:solidFill>
                <a:latin typeface="Calibri" pitchFamily="34" charset="0"/>
                <a:ea typeface="Calibri" pitchFamily="34" charset="-122"/>
                <a:cs typeface="Calibri" pitchFamily="34" charset="-120"/>
              </a:rPr>
              <a:t>Any existing churn split by competitive exposure, and access to disconnect records and portability data (accelerates the first read from Q+2 to Q+1).</a:t>
            </a:r>
            <a:endParaRPr lang="en-US" sz="1250" dirty="0"/>
          </a:p>
          <a:p>
            <a:pPr marL="342900" indent="-342900">
              <a:spcAft>
                <a:spcPts val="400"/>
              </a:spcAft>
              <a:buSzPct val="100000"/>
              <a:buChar char="•"/>
            </a:pPr>
            <a:r>
              <a:rPr lang="en-US" sz="1250" dirty="0">
                <a:solidFill>
                  <a:srgbClr val="DCE9F7"/>
                </a:solidFill>
                <a:latin typeface="Calibri" pitchFamily="34" charset="0"/>
                <a:ea typeface="Calibri" pitchFamily="34" charset="-122"/>
                <a:cs typeface="Calibri" pitchFamily="34" charset="-120"/>
              </a:rPr>
              <a:t>A decision on whether the 4.0–4.5x leverage band and the buyback authorization are board constants — or on the table (shapes Recommendation 3C).</a:t>
            </a:r>
            <a:endParaRPr lang="en-US" sz="1250" dirty="0"/>
          </a:p>
          <a:p>
            <a:pPr marL="342900" indent="-342900">
              <a:buSzPct val="100000"/>
              <a:buChar char="•"/>
            </a:pPr>
            <a:r>
              <a:rPr lang="en-US" sz="1250" dirty="0">
                <a:solidFill>
                  <a:srgbClr val="DCE9F7"/>
                </a:solidFill>
                <a:latin typeface="Calibri" pitchFamily="34" charset="0"/>
                <a:ea typeface="Calibri" pitchFamily="34" charset="-122"/>
                <a:cs typeface="Calibri" pitchFamily="34" charset="-120"/>
              </a:rPr>
              <a:t>An executive sponsor and a date for ratifying thresholds, budgets, and kill conditions.</a:t>
            </a:r>
            <a:endParaRPr lang="en-US" sz="1250" dirty="0"/>
          </a:p>
        </p:txBody>
      </p:sp>
      <p:sp>
        <p:nvSpPr>
          <p:cNvPr id="9" name="Text 7"/>
          <p:cNvSpPr txBox="1"/>
          <p:nvPr/>
        </p:nvSpPr>
        <p:spPr>
          <a:xfrm>
            <a:off x="822960" y="6263640"/>
            <a:ext cx="10515600" cy="320040"/>
          </a:xfrm>
          <a:prstGeom prst="rect">
            <a:avLst/>
          </a:prstGeom>
          <a:noFill/>
          <a:ln/>
        </p:spPr>
        <p:txBody>
          <a:bodyPr wrap="square" lIns="0" tIns="0" rIns="0" bIns="0" rtlCol="0" anchor="ctr"/>
          <a:lstStyle/>
          <a:p>
            <a:pPr indent="0" marL="0">
              <a:buNone/>
            </a:pPr>
            <a:r>
              <a:rPr lang="en-US" sz="1100" dirty="0">
                <a:solidFill>
                  <a:srgbClr val="8A94A0"/>
                </a:solidFill>
                <a:latin typeface="Calibri" pitchFamily="34" charset="0"/>
                <a:ea typeface="Calibri" pitchFamily="34" charset="-122"/>
                <a:cs typeface="Calibri" pitchFamily="34" charset="-120"/>
              </a:rPr>
              <a:t>[Team Name]  ·  Josh · Kishore · Justin · Kyle  ·  MAN 6930 Foundations of Consulting  ·  September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2026-09-22T17:10:25Z</dcterms:created>
  <dcterms:modified xsi:type="dcterms:W3CDTF">2026-09-22T17:10:25Z</dcterms:modified>
</cp:coreProperties>
</file>