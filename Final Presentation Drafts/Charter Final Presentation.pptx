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7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67"/>
  </p:notesMasterIdLst>
  <p:sldIdLst>
    <p:sldId id="308" r:id="rId5"/>
    <p:sldId id="257" r:id="rId6"/>
    <p:sldId id="264" r:id="rId7"/>
    <p:sldId id="258" r:id="rId8"/>
    <p:sldId id="301" r:id="rId9"/>
    <p:sldId id="312" r:id="rId10"/>
    <p:sldId id="313" r:id="rId11"/>
    <p:sldId id="299" r:id="rId12"/>
    <p:sldId id="263" r:id="rId13"/>
    <p:sldId id="330" r:id="rId14"/>
    <p:sldId id="331" r:id="rId15"/>
    <p:sldId id="267" r:id="rId16"/>
    <p:sldId id="306" r:id="rId17"/>
    <p:sldId id="269" r:id="rId18"/>
    <p:sldId id="270" r:id="rId19"/>
    <p:sldId id="271" r:id="rId20"/>
    <p:sldId id="272" r:id="rId21"/>
    <p:sldId id="273" r:id="rId22"/>
    <p:sldId id="305"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56" r:id="rId45"/>
    <p:sldId id="310" r:id="rId46"/>
    <p:sldId id="311" r:id="rId47"/>
    <p:sldId id="314" r:id="rId48"/>
    <p:sldId id="315" r:id="rId49"/>
    <p:sldId id="316" r:id="rId50"/>
    <p:sldId id="319" r:id="rId51"/>
    <p:sldId id="317" r:id="rId52"/>
    <p:sldId id="318" r:id="rId53"/>
    <p:sldId id="320" r:id="rId54"/>
    <p:sldId id="321" r:id="rId55"/>
    <p:sldId id="322" r:id="rId56"/>
    <p:sldId id="323" r:id="rId57"/>
    <p:sldId id="327" r:id="rId58"/>
    <p:sldId id="328" r:id="rId59"/>
    <p:sldId id="326" r:id="rId60"/>
    <p:sldId id="324" r:id="rId61"/>
    <p:sldId id="325" r:id="rId62"/>
    <p:sldId id="329" r:id="rId63"/>
    <p:sldId id="296" r:id="rId64"/>
    <p:sldId id="297" r:id="rId65"/>
    <p:sldId id="298" r:id="rId66"/>
  </p:sldIdLst>
  <p:sldSz cx="18288000" cy="10287000"/>
  <p:notesSz cx="6858000" cy="9144000"/>
  <p:embeddedFontLst>
    <p:embeddedFont>
      <p:font typeface="Calibri (MS)" panose="020B0604020202020204" charset="0"/>
      <p:regular r:id="rId68"/>
    </p:embeddedFont>
    <p:embeddedFont>
      <p:font typeface="Segoe UI Symbol" panose="020B0502040204020203" pitchFamily="34" charset="0"/>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26072F-1E7D-79D2-E104-C9BB7844CAB0}" name="Conger, Kyle E." initials="KC" userId="S::kyle.conger@ufl.edu::dd654b26-270a-4e81-bd47-ad4326746d76" providerId="AD"/>
  <p188:author id="{E26B736C-FC25-51DB-4A87-F0E0B9C14A22}" name="Chriqui, Josh" initials="JC" userId="S::jchriqui@ufl.edu::df6a34a1-64a3-4b3c-a46a-2e6c52a473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6717D"/>
    <a:srgbClr val="0000FF"/>
    <a:srgbClr val="0099D8"/>
    <a:srgbClr val="0030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 dt="2026-09-28T18:57:11.619"/>
    <p1510:client id="{1D7AD665-1CDB-4A8C-BD7A-43E2E5F1376A}" v="126" dt="2026-09-29T00:19:12.249"/>
    <p1510:client id="{59AE3067-581F-486A-8F16-91BBDCBC38F7}" v="8491" vWet="8493" dt="2026-09-28T23:16:16.323"/>
    <p1510:client id="{E217C9F1-F6B7-884A-BD2B-DE6421BA3F6E}" v="19" dt="2026-09-28T23:50:38.247"/>
    <p1510:client id="{E352A963-CE8E-F7B6-8EB7-219E7178F70E}" v="26" dt="2026-09-28T21:37:25.066"/>
    <p1510:client id="{EC468E58-3601-118D-1CCB-58C0DEFE53D2}" v="99" dt="2026-09-28T15:54:41.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580"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1.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Owner\Desktop\MAN6930%20Case\Decisions\EH&amp;B\MASTE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05"/>
          <c:w val="0.96"/>
          <c:h val="0.83"/>
        </c:manualLayout>
      </c:layout>
      <c:barChart>
        <c:barDir val="col"/>
        <c:grouping val="clustered"/>
        <c:varyColors val="0"/>
        <c:ser>
          <c:idx val="0"/>
          <c:order val="0"/>
          <c:tx>
            <c:strRef>
              <c:f>Sheet1!$B$1</c:f>
              <c:strCache>
                <c:ptCount val="1"/>
                <c:pt idx="0">
                  <c:v>Upgrade/rebuild capex ($M)</c:v>
                </c:pt>
              </c:strCache>
            </c:strRef>
          </c:tx>
          <c:spPr>
            <a:solidFill>
              <a:schemeClr val="accent1">
                <a:lumMod val="20000"/>
                <a:lumOff val="80000"/>
              </a:schemeClr>
            </a:solidFill>
            <a:ln>
              <a:noFill/>
            </a:ln>
          </c:spPr>
          <c:invertIfNegative val="0"/>
          <c:dPt>
            <c:idx val="4"/>
            <c:invertIfNegative val="0"/>
            <c:bubble3D val="0"/>
            <c:spPr>
              <a:solidFill>
                <a:schemeClr val="accent1"/>
              </a:solidFill>
              <a:ln>
                <a:noFill/>
              </a:ln>
            </c:spPr>
            <c:extLst>
              <c:ext xmlns:c16="http://schemas.microsoft.com/office/drawing/2014/chart" uri="{C3380CC4-5D6E-409C-BE32-E72D297353CC}">
                <c16:uniqueId val="{00000001-7A1B-4E22-9F31-2C4E7D8A11B1}"/>
              </c:ext>
            </c:extLst>
          </c:dPt>
          <c:dLbls>
            <c:numFmt formatCode="&quot;$&quot;#,##0" sourceLinked="0"/>
            <c:spPr>
              <a:noFill/>
              <a:ln>
                <a:noFill/>
              </a:ln>
              <a:effectLst/>
            </c:spPr>
            <c:txPr>
              <a:bodyPr wrap="none"/>
              <a:lstStyle/>
              <a:p>
                <a:pPr>
                  <a:defRPr sz="1800" b="0">
                    <a:solidFill>
                      <a:schemeClr val="tx2"/>
                    </a:solidFill>
                    <a:latin typeface="Calibri (M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Sheet1!$A$2:$A$6</c:f>
              <c:strCache>
                <c:ptCount val="5"/>
                <c:pt idx="0">
                  <c:v>Q1 2025</c:v>
                </c:pt>
                <c:pt idx="1">
                  <c:v>Q2 2025</c:v>
                </c:pt>
                <c:pt idx="2">
                  <c:v>Q3 2025</c:v>
                </c:pt>
                <c:pt idx="3">
                  <c:v>Q4 2025</c:v>
                </c:pt>
                <c:pt idx="4">
                  <c:v>Q1 2026</c:v>
                </c:pt>
              </c:strCache>
            </c:strRef>
          </c:cat>
          <c:val>
            <c:numRef>
              <c:f>Sheet1!$B$2:$B$6</c:f>
              <c:numCache>
                <c:formatCode>General</c:formatCode>
                <c:ptCount val="5"/>
                <c:pt idx="0">
                  <c:v>395</c:v>
                </c:pt>
                <c:pt idx="1">
                  <c:v>457</c:v>
                </c:pt>
                <c:pt idx="2">
                  <c:v>484</c:v>
                </c:pt>
                <c:pt idx="3">
                  <c:v>601</c:v>
                </c:pt>
                <c:pt idx="4">
                  <c:v>675</c:v>
                </c:pt>
              </c:numCache>
            </c:numRef>
          </c:val>
          <c:extLst>
            <c:ext xmlns:c16="http://schemas.microsoft.com/office/drawing/2014/chart" uri="{C3380CC4-5D6E-409C-BE32-E72D297353CC}">
              <c16:uniqueId val="{00000002-7A1B-4E22-9F31-2C4E7D8A11B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low"/>
        <c:spPr>
          <a:ln w="9525">
            <a:solidFill>
              <a:srgbClr val="C5C6C7"/>
            </a:solidFill>
          </a:ln>
        </c:spPr>
        <c:txPr>
          <a:bodyPr rot="0" vert="horz"/>
          <a:lstStyle/>
          <a:p>
            <a:pPr>
              <a:defRPr sz="1800" b="0">
                <a:solidFill>
                  <a:schemeClr val="tx2"/>
                </a:solidFill>
                <a:latin typeface="Calibri (MS)"/>
              </a:defRPr>
            </a:pPr>
            <a:endParaRPr lang="en-US"/>
          </a:p>
        </c:txPr>
        <c:crossAx val="2"/>
        <c:crosses val="autoZero"/>
        <c:auto val="1"/>
        <c:lblAlgn val="ctr"/>
        <c:lblOffset val="100"/>
        <c:noMultiLvlLbl val="1"/>
      </c:catAx>
      <c:valAx>
        <c:axId val="2"/>
        <c:scaling>
          <c:orientation val="minMax"/>
          <c:max val="780"/>
          <c:min val="0"/>
        </c:scaling>
        <c:delete val="1"/>
        <c:axPos val="l"/>
        <c:numFmt formatCode="General" sourceLinked="1"/>
        <c:majorTickMark val="none"/>
        <c:minorTickMark val="none"/>
        <c:tickLblPos val="low"/>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2"/>
          <c:y val="0.05"/>
          <c:w val="0.96"/>
          <c:h val="0.83"/>
        </c:manualLayout>
      </c:layout>
      <c:barChart>
        <c:barDir val="col"/>
        <c:grouping val="clustered"/>
        <c:varyColors val="0"/>
        <c:ser>
          <c:idx val="0"/>
          <c:order val="0"/>
          <c:tx>
            <c:v>Values</c:v>
          </c:tx>
          <c:spPr>
            <a:solidFill>
              <a:srgbClr val="A7B1BC"/>
            </a:solidFill>
            <a:ln>
              <a:noFill/>
            </a:ln>
          </c:spPr>
          <c:invertIfNegative val="0"/>
          <c:dPt>
            <c:idx val="8"/>
            <c:invertIfNegative val="0"/>
            <c:bubble3D val="0"/>
            <c:spPr>
              <a:solidFill>
                <a:srgbClr val="0099D8"/>
              </a:solidFill>
              <a:ln>
                <a:noFill/>
              </a:ln>
            </c:spPr>
            <c:extLst>
              <c:ext xmlns:c16="http://schemas.microsoft.com/office/drawing/2014/chart" uri="{C3380CC4-5D6E-409C-BE32-E72D297353CC}">
                <c16:uniqueId val="{00000001-9078-3A47-82F9-FB6C106B8C90}"/>
              </c:ext>
            </c:extLst>
          </c:dPt>
          <c:dLbls>
            <c:numFmt formatCode="0&quot;k&quot;;\-0&quot;k&quot;" sourceLinked="0"/>
            <c:spPr>
              <a:noFill/>
              <a:ln>
                <a:noFill/>
              </a:ln>
              <a:effectLst/>
            </c:spPr>
            <c:txPr>
              <a:bodyPr wrap="none"/>
              <a:lstStyle/>
              <a:p>
                <a:pPr>
                  <a:defRPr sz="1400" b="1">
                    <a:solidFill>
                      <a:srgbClr val="171A1F"/>
                    </a:solidFill>
                    <a:latin typeface="Calibri (M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10"/>
              <c:pt idx="0">
                <c:v>Q1</c:v>
              </c:pt>
              <c:pt idx="1">
                <c:v>Q2</c:v>
              </c:pt>
              <c:pt idx="2">
                <c:v>Q3</c:v>
              </c:pt>
              <c:pt idx="3">
                <c:v>Q4</c:v>
              </c:pt>
              <c:pt idx="4">
                <c:v>Q1</c:v>
              </c:pt>
              <c:pt idx="5">
                <c:v>Q2</c:v>
              </c:pt>
              <c:pt idx="6">
                <c:v>Q3</c:v>
              </c:pt>
              <c:pt idx="7">
                <c:v>Q4</c:v>
              </c:pt>
              <c:pt idx="8">
                <c:v>Q1</c:v>
              </c:pt>
              <c:pt idx="9">
                <c:v>Q2*</c:v>
              </c:pt>
            </c:strLit>
          </c:cat>
          <c:val>
            <c:numLit>
              <c:formatCode>General</c:formatCode>
              <c:ptCount val="10"/>
              <c:pt idx="0">
                <c:v>-72</c:v>
              </c:pt>
              <c:pt idx="1">
                <c:v>-148</c:v>
              </c:pt>
              <c:pt idx="2">
                <c:v>-110</c:v>
              </c:pt>
              <c:pt idx="3">
                <c:v>-177</c:v>
              </c:pt>
              <c:pt idx="4">
                <c:v>-59</c:v>
              </c:pt>
              <c:pt idx="5">
                <c:v>-116</c:v>
              </c:pt>
              <c:pt idx="6">
                <c:v>-109</c:v>
              </c:pt>
              <c:pt idx="7">
                <c:v>-119</c:v>
              </c:pt>
              <c:pt idx="8">
                <c:v>-120</c:v>
              </c:pt>
              <c:pt idx="9">
                <c:v>-172</c:v>
              </c:pt>
            </c:numLit>
          </c:val>
          <c:extLst>
            <c:ext xmlns:c16="http://schemas.microsoft.com/office/drawing/2014/chart" uri="{C3380CC4-5D6E-409C-BE32-E72D297353CC}">
              <c16:uniqueId val="{00000002-9078-3A47-82F9-FB6C106B8C9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low"/>
        <c:spPr>
          <a:ln w="9525">
            <a:solidFill>
              <a:srgbClr val="C5C6C7"/>
            </a:solidFill>
          </a:ln>
        </c:spPr>
        <c:txPr>
          <a:bodyPr rot="0" vert="horz"/>
          <a:lstStyle/>
          <a:p>
            <a:pPr>
              <a:defRPr sz="1400" b="0">
                <a:solidFill>
                  <a:srgbClr val="171A1F"/>
                </a:solidFill>
                <a:latin typeface="Calibri (MS)"/>
              </a:defRPr>
            </a:pPr>
            <a:endParaRPr lang="en-US"/>
          </a:p>
        </c:txPr>
        <c:crossAx val="2"/>
        <c:crosses val="autoZero"/>
        <c:auto val="1"/>
        <c:lblAlgn val="ctr"/>
        <c:lblOffset val="100"/>
        <c:noMultiLvlLbl val="1"/>
      </c:catAx>
      <c:valAx>
        <c:axId val="2"/>
        <c:scaling>
          <c:orientation val="minMax"/>
          <c:max val="0"/>
          <c:min val="-200"/>
        </c:scaling>
        <c:delete val="1"/>
        <c:axPos val="l"/>
        <c:numFmt formatCode="General" sourceLinked="1"/>
        <c:majorTickMark val="none"/>
        <c:minorTickMark val="none"/>
        <c:tickLblPos val="low"/>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A7B1BC"/>
            </a:solidFill>
            <a:ln>
              <a:noFill/>
            </a:ln>
          </c:spPr>
          <c:invertIfNegative val="0"/>
          <c:dPt>
            <c:idx val="0"/>
            <c:invertIfNegative val="0"/>
            <c:bubble3D val="0"/>
            <c:spPr>
              <a:solidFill>
                <a:srgbClr val="0099D8"/>
              </a:solidFill>
              <a:ln>
                <a:noFill/>
              </a:ln>
            </c:spPr>
            <c:extLst>
              <c:ext xmlns:c16="http://schemas.microsoft.com/office/drawing/2014/chart" uri="{C3380CC4-5D6E-409C-BE32-E72D297353CC}">
                <c16:uniqueId val="{00000001-6705-CF48-9EA0-5FC69F82FCAA}"/>
              </c:ext>
            </c:extLst>
          </c:dPt>
          <c:dLbls>
            <c:numFmt formatCode="\+0.0&quot;%&quot;;\-0.0&quot;%&quot;" sourceLinked="0"/>
            <c:spPr>
              <a:noFill/>
              <a:ln>
                <a:noFill/>
              </a:ln>
              <a:effectLst/>
            </c:spPr>
            <c:txPr>
              <a:bodyPr wrap="none"/>
              <a:lstStyle/>
              <a:p>
                <a:pPr>
                  <a:defRPr sz="1400" b="1">
                    <a:solidFill>
                      <a:srgbClr val="171A1F"/>
                    </a:solidFill>
                    <a:latin typeface="Calibri (M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CHTR</c:v>
              </c:pt>
              <c:pt idx="1">
                <c:v>CMCSA</c:v>
              </c:pt>
            </c:strLit>
          </c:cat>
          <c:val>
            <c:numLit>
              <c:formatCode>General</c:formatCode>
              <c:ptCount val="2"/>
              <c:pt idx="0">
                <c:v>-25.5</c:v>
              </c:pt>
              <c:pt idx="1">
                <c:v>-12.9</c:v>
              </c:pt>
            </c:numLit>
          </c:val>
          <c:extLst>
            <c:ext xmlns:c16="http://schemas.microsoft.com/office/drawing/2014/chart" uri="{C3380CC4-5D6E-409C-BE32-E72D297353CC}">
              <c16:uniqueId val="{00000002-6705-CF48-9EA0-5FC69F82FCA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low"/>
        <c:spPr>
          <a:ln w="9525">
            <a:solidFill>
              <a:srgbClr val="C5C6C7"/>
            </a:solidFill>
          </a:ln>
        </c:spPr>
        <c:txPr>
          <a:bodyPr rot="0" vert="horz"/>
          <a:lstStyle/>
          <a:p>
            <a:pPr>
              <a:defRPr sz="1400" b="0">
                <a:solidFill>
                  <a:srgbClr val="171A1F"/>
                </a:solidFill>
                <a:latin typeface="Calibri (MS)"/>
              </a:defRPr>
            </a:pPr>
            <a:endParaRPr lang="en-US"/>
          </a:p>
        </c:txPr>
        <c:crossAx val="2"/>
        <c:crosses val="autoZero"/>
        <c:auto val="1"/>
        <c:lblAlgn val="ctr"/>
        <c:lblOffset val="100"/>
        <c:noMultiLvlLbl val="1"/>
      </c:catAx>
      <c:valAx>
        <c:axId val="2"/>
        <c:scaling>
          <c:orientation val="minMax"/>
          <c:max val="0"/>
          <c:min val="-30"/>
        </c:scaling>
        <c:delete val="1"/>
        <c:axPos val="l"/>
        <c:numFmt formatCode="General" sourceLinked="1"/>
        <c:majorTickMark val="none"/>
        <c:minorTickMark val="none"/>
        <c:tickLblPos val="low"/>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Other leads</c:v>
                </c:pt>
              </c:strCache>
            </c:strRef>
          </c:tx>
          <c:spPr>
            <a:solidFill>
              <a:srgbClr val="8A94A0"/>
            </a:solidFill>
            <a:effectLst/>
          </c:spPr>
          <c:invertIfNegative val="0"/>
          <c:dLbls>
            <c:numFmt formatCode="0.00" sourceLinked="0"/>
            <c:spPr>
              <a:noFill/>
              <a:ln>
                <a:noFill/>
              </a:ln>
              <a:effectLst/>
            </c:spPr>
            <c:txPr>
              <a:bodyPr/>
              <a:lstStyle/>
              <a:p>
                <a:pPr>
                  <a:defRPr sz="11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NY</c:v>
                </c:pt>
                <c:pt idx="1">
                  <c:v>OH</c:v>
                </c:pt>
                <c:pt idx="2">
                  <c:v>NC</c:v>
                </c:pt>
                <c:pt idx="3">
                  <c:v>TX</c:v>
                </c:pt>
                <c:pt idx="4">
                  <c:v>WI</c:v>
                </c:pt>
              </c:strCache>
            </c:strRef>
          </c:cat>
          <c:val>
            <c:numRef>
              <c:f>Sheet1!$B$2:$B$6</c:f>
              <c:numCache>
                <c:formatCode>General</c:formatCode>
                <c:ptCount val="5"/>
                <c:pt idx="1">
                  <c:v>4.41</c:v>
                </c:pt>
                <c:pt idx="2">
                  <c:v>4.3600000000000003</c:v>
                </c:pt>
                <c:pt idx="3">
                  <c:v>3.76</c:v>
                </c:pt>
                <c:pt idx="4">
                  <c:v>2.31</c:v>
                </c:pt>
              </c:numCache>
            </c:numRef>
          </c:val>
          <c:extLst>
            <c:ext xmlns:c16="http://schemas.microsoft.com/office/drawing/2014/chart" uri="{C3380CC4-5D6E-409C-BE32-E72D297353CC}">
              <c16:uniqueId val="{00000000-71D7-430B-BB5D-AED380A7583A}"/>
            </c:ext>
          </c:extLst>
        </c:ser>
        <c:ser>
          <c:idx val="1"/>
          <c:order val="1"/>
          <c:tx>
            <c:strRef>
              <c:f>Sheet1!$C$1</c:f>
              <c:strCache>
                <c:ptCount val="1"/>
                <c:pt idx="0">
                  <c:v>Largest lead</c:v>
                </c:pt>
              </c:strCache>
            </c:strRef>
          </c:tx>
          <c:spPr>
            <a:solidFill>
              <a:srgbClr val="0072CE"/>
            </a:solidFill>
            <a:effectLst/>
          </c:spPr>
          <c:invertIfNegative val="0"/>
          <c:dLbls>
            <c:numFmt formatCode="0.00" sourceLinked="0"/>
            <c:spPr>
              <a:noFill/>
              <a:ln>
                <a:noFill/>
              </a:ln>
              <a:effectLst/>
            </c:spPr>
            <c:txPr>
              <a:bodyPr/>
              <a:lstStyle/>
              <a:p>
                <a:pPr>
                  <a:defRPr sz="11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NY</c:v>
                </c:pt>
                <c:pt idx="1">
                  <c:v>OH</c:v>
                </c:pt>
                <c:pt idx="2">
                  <c:v>NC</c:v>
                </c:pt>
                <c:pt idx="3">
                  <c:v>TX</c:v>
                </c:pt>
                <c:pt idx="4">
                  <c:v>WI</c:v>
                </c:pt>
              </c:strCache>
            </c:strRef>
          </c:cat>
          <c:val>
            <c:numRef>
              <c:f>Sheet1!$C$2:$C$6</c:f>
              <c:numCache>
                <c:formatCode>General</c:formatCode>
                <c:ptCount val="5"/>
                <c:pt idx="0">
                  <c:v>5.54</c:v>
                </c:pt>
              </c:numCache>
            </c:numRef>
          </c:val>
          <c:extLst>
            <c:ext xmlns:c16="http://schemas.microsoft.com/office/drawing/2014/chart" uri="{C3380CC4-5D6E-409C-BE32-E72D297353CC}">
              <c16:uniqueId val="{00000001-71D7-430B-BB5D-AED380A7583A}"/>
            </c:ext>
          </c:extLst>
        </c:ser>
        <c:dLbls>
          <c:showLegendKey val="0"/>
          <c:showVal val="0"/>
          <c:showCatName val="0"/>
          <c:showSerName val="0"/>
          <c:showPercent val="0"/>
          <c:showBubbleSize val="0"/>
        </c:dLbls>
        <c:gapWidth val="60"/>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888888"/>
            </a:solidFill>
          </a:ln>
        </c:spPr>
        <c:txPr>
          <a:bodyPr/>
          <a:lstStyle/>
          <a:p>
            <a:pPr>
              <a:defRPr sz="1200" b="1">
                <a:solidFill>
                  <a:srgbClr val="0B1F3A"/>
                </a:solidFill>
                <a:latin typeface="Calibri"/>
              </a:defRPr>
            </a:pPr>
            <a:endParaRPr lang="en-US"/>
          </a:p>
        </c:txPr>
        <c:crossAx val="-2113994440"/>
        <c:crosses val="min"/>
        <c:auto val="1"/>
        <c:lblAlgn val="ctr"/>
        <c:lblOffset val="100"/>
        <c:noMultiLvlLbl val="0"/>
      </c:catAx>
      <c:valAx>
        <c:axId val="-2113994440"/>
        <c:scaling>
          <c:orientation val="minMax"/>
          <c:max val="7"/>
          <c:min val="0"/>
        </c:scaling>
        <c:delete val="0"/>
        <c:axPos val="t"/>
        <c:majorGridlines>
          <c:spPr>
            <a:ln w="6350">
              <a:solidFill>
                <a:srgbClr val="E3E9F0"/>
              </a:solidFill>
            </a:ln>
          </c:spPr>
        </c:majorGridlines>
        <c:numFmt formatCode="0.0" sourceLinked="0"/>
        <c:majorTickMark val="out"/>
        <c:minorTickMark val="none"/>
        <c:tickLblPos val="nextTo"/>
        <c:spPr>
          <a:ln>
            <a:solidFill>
              <a:srgbClr val="888888"/>
            </a:solidFill>
          </a:ln>
        </c:spPr>
        <c:txPr>
          <a:bodyPr/>
          <a:lstStyle/>
          <a:p>
            <a:pPr>
              <a:defRPr sz="1000" b="0">
                <a:solidFill>
                  <a:srgbClr val="5B6672"/>
                </a:solidFill>
                <a:latin typeface="Calibri"/>
              </a:defRPr>
            </a:pPr>
            <a:endParaRPr lang="en-US"/>
          </a:p>
        </c:txPr>
        <c:crossAx val="-2068027336"/>
        <c:crosses val="min"/>
        <c:crossBetween val="between"/>
      </c:valAx>
      <c:spPr>
        <a:noFill/>
        <a:ln>
          <a:noFill/>
        </a:ln>
      </c:spPr>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Other leads</c:v>
                </c:pt>
              </c:strCache>
            </c:strRef>
          </c:tx>
          <c:spPr>
            <a:solidFill>
              <a:srgbClr val="8A94A0"/>
            </a:solidFill>
            <a:effectLst/>
          </c:spPr>
          <c:invertIfNegative val="0"/>
          <c:dLbls>
            <c:numFmt formatCode="0.00" sourceLinked="0"/>
            <c:spPr>
              <a:noFill/>
              <a:ln>
                <a:noFill/>
              </a:ln>
              <a:effectLst/>
            </c:spPr>
            <c:txPr>
              <a:bodyPr/>
              <a:lstStyle/>
              <a:p>
                <a:pPr>
                  <a:defRPr sz="11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PA</c:v>
                </c:pt>
                <c:pt idx="1">
                  <c:v>IL</c:v>
                </c:pt>
                <c:pt idx="2">
                  <c:v>MD</c:v>
                </c:pt>
                <c:pt idx="3">
                  <c:v>MA</c:v>
                </c:pt>
                <c:pt idx="4">
                  <c:v>WA</c:v>
                </c:pt>
              </c:strCache>
            </c:strRef>
          </c:cat>
          <c:val>
            <c:numRef>
              <c:f>Sheet1!$B$2:$B$6</c:f>
              <c:numCache>
                <c:formatCode>General</c:formatCode>
                <c:ptCount val="5"/>
                <c:pt idx="1">
                  <c:v>4.2699999999999996</c:v>
                </c:pt>
                <c:pt idx="2">
                  <c:v>2.46</c:v>
                </c:pt>
                <c:pt idx="3">
                  <c:v>2.4500000000000002</c:v>
                </c:pt>
                <c:pt idx="4">
                  <c:v>2.35</c:v>
                </c:pt>
              </c:numCache>
            </c:numRef>
          </c:val>
          <c:extLst>
            <c:ext xmlns:c16="http://schemas.microsoft.com/office/drawing/2014/chart" uri="{C3380CC4-5D6E-409C-BE32-E72D297353CC}">
              <c16:uniqueId val="{00000000-4A0F-41B2-B5FF-AE88768FED8B}"/>
            </c:ext>
          </c:extLst>
        </c:ser>
        <c:ser>
          <c:idx val="1"/>
          <c:order val="1"/>
          <c:tx>
            <c:strRef>
              <c:f>Sheet1!$C$1</c:f>
              <c:strCache>
                <c:ptCount val="1"/>
                <c:pt idx="0">
                  <c:v>Largest lead</c:v>
                </c:pt>
              </c:strCache>
            </c:strRef>
          </c:tx>
          <c:spPr>
            <a:solidFill>
              <a:srgbClr val="0072CE"/>
            </a:solidFill>
            <a:effectLst/>
          </c:spPr>
          <c:invertIfNegative val="0"/>
          <c:dLbls>
            <c:numFmt formatCode="0.00" sourceLinked="0"/>
            <c:spPr>
              <a:noFill/>
              <a:ln>
                <a:noFill/>
              </a:ln>
              <a:effectLst/>
            </c:spPr>
            <c:txPr>
              <a:bodyPr/>
              <a:lstStyle/>
              <a:p>
                <a:pPr>
                  <a:defRPr sz="11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PA</c:v>
                </c:pt>
                <c:pt idx="1">
                  <c:v>IL</c:v>
                </c:pt>
                <c:pt idx="2">
                  <c:v>MD</c:v>
                </c:pt>
                <c:pt idx="3">
                  <c:v>MA</c:v>
                </c:pt>
                <c:pt idx="4">
                  <c:v>WA</c:v>
                </c:pt>
              </c:strCache>
            </c:strRef>
          </c:cat>
          <c:val>
            <c:numRef>
              <c:f>Sheet1!$C$2:$C$6</c:f>
              <c:numCache>
                <c:formatCode>General</c:formatCode>
                <c:ptCount val="5"/>
                <c:pt idx="0">
                  <c:v>4.3600000000000003</c:v>
                </c:pt>
              </c:numCache>
            </c:numRef>
          </c:val>
          <c:extLst>
            <c:ext xmlns:c16="http://schemas.microsoft.com/office/drawing/2014/chart" uri="{C3380CC4-5D6E-409C-BE32-E72D297353CC}">
              <c16:uniqueId val="{00000001-4A0F-41B2-B5FF-AE88768FED8B}"/>
            </c:ext>
          </c:extLst>
        </c:ser>
        <c:dLbls>
          <c:showLegendKey val="0"/>
          <c:showVal val="0"/>
          <c:showCatName val="0"/>
          <c:showSerName val="0"/>
          <c:showPercent val="0"/>
          <c:showBubbleSize val="0"/>
        </c:dLbls>
        <c:gapWidth val="60"/>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888888"/>
            </a:solidFill>
          </a:ln>
        </c:spPr>
        <c:txPr>
          <a:bodyPr/>
          <a:lstStyle/>
          <a:p>
            <a:pPr>
              <a:defRPr sz="1200" b="1">
                <a:solidFill>
                  <a:srgbClr val="0B1F3A"/>
                </a:solidFill>
                <a:latin typeface="Calibri"/>
              </a:defRPr>
            </a:pPr>
            <a:endParaRPr lang="en-US"/>
          </a:p>
        </c:txPr>
        <c:crossAx val="-2113994440"/>
        <c:crosses val="min"/>
        <c:auto val="1"/>
        <c:lblAlgn val="ctr"/>
        <c:lblOffset val="100"/>
        <c:noMultiLvlLbl val="0"/>
      </c:catAx>
      <c:valAx>
        <c:axId val="-2113994440"/>
        <c:scaling>
          <c:orientation val="minMax"/>
          <c:max val="7"/>
          <c:min val="0"/>
        </c:scaling>
        <c:delete val="0"/>
        <c:axPos val="t"/>
        <c:majorGridlines>
          <c:spPr>
            <a:ln w="6350">
              <a:solidFill>
                <a:srgbClr val="E3E9F0"/>
              </a:solidFill>
            </a:ln>
          </c:spPr>
        </c:majorGridlines>
        <c:numFmt formatCode="0.0" sourceLinked="0"/>
        <c:majorTickMark val="out"/>
        <c:minorTickMark val="none"/>
        <c:tickLblPos val="nextTo"/>
        <c:spPr>
          <a:ln>
            <a:solidFill>
              <a:srgbClr val="888888"/>
            </a:solidFill>
          </a:ln>
        </c:spPr>
        <c:txPr>
          <a:bodyPr/>
          <a:lstStyle/>
          <a:p>
            <a:pPr>
              <a:defRPr sz="1000" b="0">
                <a:solidFill>
                  <a:srgbClr val="5B6672"/>
                </a:solidFill>
                <a:latin typeface="Calibri"/>
              </a:defRPr>
            </a:pPr>
            <a:endParaRPr lang="en-US"/>
          </a:p>
        </c:txPr>
        <c:crossAx val="-2068027336"/>
        <c:crosses val="min"/>
        <c:crossBetween val="between"/>
      </c:valAx>
      <c:spPr>
        <a:noFill/>
        <a:ln>
          <a:noFill/>
        </a:ln>
      </c:spPr>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3200"/>
            </a:pPr>
            <a:r>
              <a:rPr lang="en-US" sz="3200" b="1" i="0">
                <a:solidFill>
                  <a:schemeClr val="tx2"/>
                </a:solidFill>
                <a:latin typeface="Calibri"/>
              </a:rPr>
              <a:t>ABS 2023: share of firms that had any work-from-home employees (%)</a:t>
            </a:r>
          </a:p>
        </c:rich>
      </c:tx>
      <c:overlay val="0"/>
    </c:title>
    <c:autoTitleDeleted val="0"/>
    <c:plotArea>
      <c:layout/>
      <c:barChart>
        <c:barDir val="col"/>
        <c:grouping val="clustered"/>
        <c:varyColors val="1"/>
        <c:ser>
          <c:idx val="0"/>
          <c:order val="0"/>
          <c:tx>
            <c:strRef>
              <c:f>Sheet1!$B$1</c:f>
              <c:strCache>
                <c:ptCount val="1"/>
                <c:pt idx="0">
                  <c:v>Rate</c:v>
                </c:pt>
              </c:strCache>
            </c:strRef>
          </c:tx>
          <c:spPr>
            <a:solidFill>
              <a:srgbClr val="A8B3BF"/>
            </a:solidFill>
            <a:effectLst/>
          </c:spPr>
          <c:invertIfNegative val="1"/>
          <c:dPt>
            <c:idx val="0"/>
            <c:invertIfNegative val="1"/>
            <c:bubble3D val="0"/>
            <c:extLst>
              <c:ext xmlns:c16="http://schemas.microsoft.com/office/drawing/2014/chart" uri="{C3380CC4-5D6E-409C-BE32-E72D297353CC}">
                <c16:uniqueId val="{00000001-2A7D-4B4C-B97A-B26C504BCCF9}"/>
              </c:ext>
            </c:extLst>
          </c:dPt>
          <c:dPt>
            <c:idx val="1"/>
            <c:invertIfNegative val="1"/>
            <c:bubble3D val="0"/>
            <c:spPr>
              <a:solidFill>
                <a:srgbClr val="0072CE"/>
              </a:solidFill>
              <a:effectLst/>
            </c:spPr>
            <c:extLst>
              <c:ext xmlns:c16="http://schemas.microsoft.com/office/drawing/2014/chart" uri="{C3380CC4-5D6E-409C-BE32-E72D297353CC}">
                <c16:uniqueId val="{00000003-2A7D-4B4C-B97A-B26C504BCCF9}"/>
              </c:ext>
            </c:extLst>
          </c:dPt>
          <c:dLbls>
            <c:numFmt formatCode="0.0&quot;%&quot;" sourceLinked="0"/>
            <c:spPr>
              <a:noFill/>
              <a:ln>
                <a:noFill/>
              </a:ln>
              <a:effectLst/>
            </c:spPr>
            <c:txPr>
              <a:bodyPr/>
              <a:lstStyle/>
              <a:p>
                <a:pPr>
                  <a:defRPr sz="18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Firms under 500</c:v>
                </c:pt>
                <c:pt idx="1">
                  <c:v>Firms with 500+</c:v>
                </c:pt>
              </c:strCache>
            </c:strRef>
          </c:cat>
          <c:val>
            <c:numRef>
              <c:f>Sheet1!$B$2:$B$3</c:f>
              <c:numCache>
                <c:formatCode>General</c:formatCode>
                <c:ptCount val="2"/>
                <c:pt idx="0">
                  <c:v>35.799999999999997</c:v>
                </c:pt>
                <c:pt idx="1">
                  <c:v>77.5</c:v>
                </c:pt>
              </c:numCache>
            </c:numRef>
          </c:val>
          <c:extLst>
            <c:ext xmlns:c14="http://schemas.microsoft.com/office/drawing/2007/8/2/chart" uri="{6F2FDCE9-48DA-4B69-8628-5D25D57E5C99}">
              <c14:invertSolidFillFmt>
                <c14:spPr xmlns:c14="http://schemas.microsoft.com/office/drawing/2007/8/2/chart">
                  <a:solidFill>
                    <a:srgbClr val="FFFFFF"/>
                  </a:solidFill>
                  <a:effectLst/>
                </c14:spPr>
              </c14:invertSolidFillFmt>
            </c:ext>
            <c:ext xmlns:c16="http://schemas.microsoft.com/office/drawing/2014/chart" uri="{C3380CC4-5D6E-409C-BE32-E72D297353CC}">
              <c16:uniqueId val="{00000004-2A7D-4B4C-B97A-B26C504BCCF9}"/>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w="12700">
            <a:solidFill>
              <a:srgbClr val="888888"/>
            </a:solidFill>
          </a:ln>
        </c:spPr>
        <c:txPr>
          <a:bodyPr/>
          <a:lstStyle/>
          <a:p>
            <a:pPr>
              <a:defRPr sz="1800">
                <a:solidFill>
                  <a:srgbClr val="5B6672"/>
                </a:solidFill>
                <a:latin typeface="Calibri"/>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w="9525">
              <a:solidFill>
                <a:srgbClr val="E3E9F0"/>
              </a:solidFill>
            </a:ln>
          </c:spPr>
        </c:majorGridlines>
        <c:numFmt formatCode="0" sourceLinked="0"/>
        <c:majorTickMark val="out"/>
        <c:minorTickMark val="none"/>
        <c:tickLblPos val="nextTo"/>
        <c:spPr>
          <a:ln w="12700">
            <a:solidFill>
              <a:srgbClr val="888888"/>
            </a:solidFill>
          </a:ln>
        </c:spPr>
        <c:txPr>
          <a:bodyPr/>
          <a:lstStyle/>
          <a:p>
            <a:pPr>
              <a:defRPr sz="1000">
                <a:solidFill>
                  <a:srgbClr val="5B6672"/>
                </a:solidFill>
                <a:latin typeface="Calibri"/>
              </a:defRPr>
            </a:pPr>
            <a:endParaRPr lang="en-US"/>
          </a:p>
        </c:txPr>
        <c:crossAx val="-2068027336"/>
        <c:crosses val="autoZero"/>
        <c:crossBetween val="between"/>
        <c:majorUnit val="20"/>
      </c:valAx>
      <c:spPr>
        <a:noFill/>
        <a:ln>
          <a:noFill/>
        </a:ln>
      </c:spPr>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sz="2800" b="1" i="0">
                <a:solidFill>
                  <a:schemeClr val="tx2"/>
                </a:solidFill>
                <a:latin typeface="Calibri"/>
              </a:rPr>
              <a:t>ACS 2024 usually worked from home (%)  ·  U.S. rate 13.3%</a:t>
            </a:r>
          </a:p>
        </c:rich>
      </c:tx>
      <c:overlay val="0"/>
    </c:title>
    <c:autoTitleDeleted val="0"/>
    <c:plotArea>
      <c:layout/>
      <c:barChart>
        <c:barDir val="bar"/>
        <c:grouping val="clustered"/>
        <c:varyColors val="0"/>
        <c:ser>
          <c:idx val="0"/>
          <c:order val="0"/>
          <c:tx>
            <c:strRef>
              <c:f>Sheet1!$B$1</c:f>
              <c:strCache>
                <c:ptCount val="1"/>
                <c:pt idx="0">
                  <c:v>Rate</c:v>
                </c:pt>
              </c:strCache>
            </c:strRef>
          </c:tx>
          <c:spPr>
            <a:solidFill>
              <a:schemeClr val="accent1"/>
            </a:solidFill>
          </c:spPr>
          <c:invertIfNegative val="0"/>
          <c:dPt>
            <c:idx val="1"/>
            <c:invertIfNegative val="0"/>
            <c:bubble3D val="0"/>
            <c:spPr>
              <a:solidFill>
                <a:schemeClr val="accent1">
                  <a:lumMod val="60000"/>
                  <a:lumOff val="40000"/>
                </a:schemeClr>
              </a:solidFill>
            </c:spPr>
            <c:extLst>
              <c:ext xmlns:c16="http://schemas.microsoft.com/office/drawing/2014/chart" uri="{C3380CC4-5D6E-409C-BE32-E72D297353CC}">
                <c16:uniqueId val="{00000003-6756-4294-9060-79C8F15992C5}"/>
              </c:ext>
            </c:extLst>
          </c:dPt>
          <c:dPt>
            <c:idx val="2"/>
            <c:invertIfNegative val="0"/>
            <c:bubble3D val="0"/>
            <c:spPr>
              <a:solidFill>
                <a:schemeClr val="accent1">
                  <a:lumMod val="40000"/>
                  <a:lumOff val="60000"/>
                </a:schemeClr>
              </a:solidFill>
            </c:spPr>
            <c:extLst>
              <c:ext xmlns:c16="http://schemas.microsoft.com/office/drawing/2014/chart" uri="{C3380CC4-5D6E-409C-BE32-E72D297353CC}">
                <c16:uniqueId val="{00000005-6756-4294-9060-79C8F15992C5}"/>
              </c:ext>
            </c:extLst>
          </c:dPt>
          <c:dPt>
            <c:idx val="3"/>
            <c:invertIfNegative val="0"/>
            <c:bubble3D val="0"/>
            <c:spPr>
              <a:solidFill>
                <a:schemeClr val="accent1">
                  <a:lumMod val="40000"/>
                  <a:lumOff val="60000"/>
                </a:schemeClr>
              </a:solidFill>
            </c:spPr>
            <c:extLst>
              <c:ext xmlns:c16="http://schemas.microsoft.com/office/drawing/2014/chart" uri="{C3380CC4-5D6E-409C-BE32-E72D297353CC}">
                <c16:uniqueId val="{00000007-6756-4294-9060-79C8F15992C5}"/>
              </c:ext>
            </c:extLst>
          </c:dPt>
          <c:dPt>
            <c:idx val="4"/>
            <c:invertIfNegative val="0"/>
            <c:bubble3D val="0"/>
            <c:spPr>
              <a:solidFill>
                <a:schemeClr val="accent1">
                  <a:lumMod val="20000"/>
                  <a:lumOff val="80000"/>
                </a:schemeClr>
              </a:solidFill>
            </c:spPr>
            <c:extLst>
              <c:ext xmlns:c16="http://schemas.microsoft.com/office/drawing/2014/chart" uri="{C3380CC4-5D6E-409C-BE32-E72D297353CC}">
                <c16:uniqueId val="{00000009-6756-4294-9060-79C8F15992C5}"/>
              </c:ext>
            </c:extLst>
          </c:dPt>
          <c:dPt>
            <c:idx val="5"/>
            <c:invertIfNegative val="0"/>
            <c:bubble3D val="0"/>
            <c:spPr>
              <a:solidFill>
                <a:schemeClr val="bg1">
                  <a:lumMod val="75000"/>
                </a:schemeClr>
              </a:solidFill>
            </c:spPr>
            <c:extLst>
              <c:ext xmlns:c16="http://schemas.microsoft.com/office/drawing/2014/chart" uri="{C3380CC4-5D6E-409C-BE32-E72D297353CC}">
                <c16:uniqueId val="{0000000B-6756-4294-9060-79C8F15992C5}"/>
              </c:ext>
            </c:extLst>
          </c:dPt>
          <c:dPt>
            <c:idx val="6"/>
            <c:invertIfNegative val="0"/>
            <c:bubble3D val="0"/>
            <c:spPr>
              <a:solidFill>
                <a:schemeClr val="bg1">
                  <a:lumMod val="75000"/>
                </a:schemeClr>
              </a:solidFill>
            </c:spPr>
            <c:extLst>
              <c:ext xmlns:c16="http://schemas.microsoft.com/office/drawing/2014/chart" uri="{C3380CC4-5D6E-409C-BE32-E72D297353CC}">
                <c16:uniqueId val="{0000000D-6756-4294-9060-79C8F15992C5}"/>
              </c:ext>
            </c:extLst>
          </c:dPt>
          <c:dPt>
            <c:idx val="7"/>
            <c:invertIfNegative val="0"/>
            <c:bubble3D val="0"/>
            <c:spPr>
              <a:solidFill>
                <a:schemeClr val="bg1">
                  <a:lumMod val="75000"/>
                </a:schemeClr>
              </a:solidFill>
            </c:spPr>
            <c:extLst>
              <c:ext xmlns:c16="http://schemas.microsoft.com/office/drawing/2014/chart" uri="{C3380CC4-5D6E-409C-BE32-E72D297353CC}">
                <c16:uniqueId val="{0000000F-6756-4294-9060-79C8F15992C5}"/>
              </c:ext>
            </c:extLst>
          </c:dPt>
          <c:dPt>
            <c:idx val="8"/>
            <c:invertIfNegative val="0"/>
            <c:bubble3D val="0"/>
            <c:spPr>
              <a:solidFill>
                <a:schemeClr val="bg1">
                  <a:lumMod val="75000"/>
                </a:schemeClr>
              </a:solidFill>
            </c:spPr>
            <c:extLst>
              <c:ext xmlns:c16="http://schemas.microsoft.com/office/drawing/2014/chart" uri="{C3380CC4-5D6E-409C-BE32-E72D297353CC}">
                <c16:uniqueId val="{00000011-6756-4294-9060-79C8F15992C5}"/>
              </c:ext>
            </c:extLst>
          </c:dPt>
          <c:dPt>
            <c:idx val="9"/>
            <c:invertIfNegative val="0"/>
            <c:bubble3D val="0"/>
            <c:spPr>
              <a:solidFill>
                <a:schemeClr val="bg1">
                  <a:lumMod val="75000"/>
                </a:schemeClr>
              </a:solidFill>
            </c:spPr>
            <c:extLst>
              <c:ext xmlns:c16="http://schemas.microsoft.com/office/drawing/2014/chart" uri="{C3380CC4-5D6E-409C-BE32-E72D297353CC}">
                <c16:uniqueId val="{00000013-6756-4294-9060-79C8F15992C5}"/>
              </c:ext>
            </c:extLst>
          </c:dPt>
          <c:dLbls>
            <c:numFmt formatCode="0.0&quot;%&quot;" sourceLinked="0"/>
            <c:spPr>
              <a:noFill/>
              <a:ln>
                <a:noFill/>
              </a:ln>
              <a:effectLst/>
            </c:spPr>
            <c:txPr>
              <a:bodyPr/>
              <a:lstStyle/>
              <a:p>
                <a:pPr>
                  <a:defRPr sz="18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D.C.</c:v>
                </c:pt>
                <c:pt idx="1">
                  <c:v>Colorado</c:v>
                </c:pt>
                <c:pt idx="2">
                  <c:v>Oregon</c:v>
                </c:pt>
                <c:pt idx="3">
                  <c:v>Washington</c:v>
                </c:pt>
                <c:pt idx="4">
                  <c:v>Arizona</c:v>
                </c:pt>
                <c:pt idx="5">
                  <c:v>Alabama</c:v>
                </c:pt>
                <c:pt idx="6">
                  <c:v>South Dakota</c:v>
                </c:pt>
                <c:pt idx="7">
                  <c:v>Louisiana</c:v>
                </c:pt>
                <c:pt idx="8">
                  <c:v>North Dakota</c:v>
                </c:pt>
                <c:pt idx="9">
                  <c:v>Mississippi</c:v>
                </c:pt>
              </c:strCache>
            </c:strRef>
          </c:cat>
          <c:val>
            <c:numRef>
              <c:f>Sheet1!$B$2:$B$11</c:f>
              <c:numCache>
                <c:formatCode>General</c:formatCode>
                <c:ptCount val="10"/>
                <c:pt idx="0">
                  <c:v>22.9</c:v>
                </c:pt>
                <c:pt idx="1">
                  <c:v>19.899999999999999</c:v>
                </c:pt>
                <c:pt idx="2">
                  <c:v>17.100000000000001</c:v>
                </c:pt>
                <c:pt idx="3">
                  <c:v>16.399999999999999</c:v>
                </c:pt>
                <c:pt idx="4">
                  <c:v>16.3</c:v>
                </c:pt>
                <c:pt idx="5">
                  <c:v>8.3000000000000007</c:v>
                </c:pt>
                <c:pt idx="6">
                  <c:v>8</c:v>
                </c:pt>
                <c:pt idx="7">
                  <c:v>8</c:v>
                </c:pt>
                <c:pt idx="8">
                  <c:v>7.1</c:v>
                </c:pt>
                <c:pt idx="9">
                  <c:v>6.2</c:v>
                </c:pt>
              </c:numCache>
            </c:numRef>
          </c:val>
          <c:extLst>
            <c:ext xmlns:c16="http://schemas.microsoft.com/office/drawing/2014/chart" uri="{C3380CC4-5D6E-409C-BE32-E72D297353CC}">
              <c16:uniqueId val="{00000014-6756-4294-9060-79C8F15992C5}"/>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axMin"/>
        </c:scaling>
        <c:delete val="0"/>
        <c:axPos val="r"/>
        <c:numFmt formatCode="General" sourceLinked="0"/>
        <c:majorTickMark val="out"/>
        <c:minorTickMark val="none"/>
        <c:tickLblPos val="nextTo"/>
        <c:spPr>
          <a:ln w="12700">
            <a:solidFill>
              <a:srgbClr val="888888"/>
            </a:solidFill>
          </a:ln>
        </c:spPr>
        <c:txPr>
          <a:bodyPr/>
          <a:lstStyle/>
          <a:p>
            <a:pPr>
              <a:defRPr sz="1800">
                <a:solidFill>
                  <a:srgbClr val="5B6672"/>
                </a:solidFill>
                <a:latin typeface="Calibri"/>
              </a:defRPr>
            </a:pPr>
            <a:endParaRPr lang="en-US"/>
          </a:p>
        </c:txPr>
        <c:crossAx val="-2113994440"/>
        <c:crosses val="max"/>
        <c:auto val="1"/>
        <c:lblAlgn val="ctr"/>
        <c:lblOffset val="100"/>
        <c:noMultiLvlLbl val="0"/>
      </c:catAx>
      <c:valAx>
        <c:axId val="-2113994440"/>
        <c:scaling>
          <c:orientation val="minMax"/>
          <c:max val="100"/>
          <c:min val="0"/>
        </c:scaling>
        <c:delete val="0"/>
        <c:axPos val="t"/>
        <c:majorGridlines>
          <c:spPr>
            <a:ln w="9525">
              <a:solidFill>
                <a:srgbClr val="E3E9F0"/>
              </a:solidFill>
            </a:ln>
          </c:spPr>
        </c:majorGridlines>
        <c:numFmt formatCode="0" sourceLinked="0"/>
        <c:majorTickMark val="out"/>
        <c:minorTickMark val="none"/>
        <c:tickLblPos val="nextTo"/>
        <c:spPr>
          <a:ln w="12700">
            <a:solidFill>
              <a:srgbClr val="888888"/>
            </a:solidFill>
          </a:ln>
        </c:spPr>
        <c:txPr>
          <a:bodyPr/>
          <a:lstStyle/>
          <a:p>
            <a:pPr>
              <a:defRPr sz="1000">
                <a:solidFill>
                  <a:srgbClr val="5B6672"/>
                </a:solidFill>
                <a:latin typeface="Calibri"/>
              </a:defRPr>
            </a:pPr>
            <a:endParaRPr lang="en-US"/>
          </a:p>
        </c:txPr>
        <c:crossAx val="-2068027336"/>
        <c:crosses val="autoZero"/>
        <c:crossBetween val="between"/>
        <c:majorUnit val="20"/>
      </c:valAx>
      <c:spPr>
        <a:noFill/>
        <a:ln>
          <a:noFill/>
        </a:ln>
      </c:spPr>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b="1"/>
            </a:pPr>
            <a:r>
              <a:rPr lang="en-US" sz="2800" b="1" i="0">
                <a:solidFill>
                  <a:schemeClr val="tx2"/>
                </a:solidFill>
                <a:latin typeface="Calibri"/>
              </a:rPr>
              <a:t>American Time Use Survey 2024</a:t>
            </a:r>
          </a:p>
          <a:p>
            <a:pPr>
              <a:defRPr b="1"/>
            </a:pPr>
            <a:r>
              <a:rPr lang="en-US" sz="2800" b="1" i="0">
                <a:solidFill>
                  <a:schemeClr val="tx2"/>
                </a:solidFill>
                <a:latin typeface="Calibri"/>
              </a:rPr>
              <a:t>50%</a:t>
            </a:r>
            <a:r>
              <a:rPr lang="en-US" sz="2800" b="1" i="0" baseline="0">
                <a:solidFill>
                  <a:schemeClr val="tx2"/>
                </a:solidFill>
                <a:latin typeface="Calibri"/>
              </a:rPr>
              <a:t> of all E</a:t>
            </a:r>
            <a:r>
              <a:rPr lang="en-US" sz="2800" b="1" i="0">
                <a:solidFill>
                  <a:schemeClr val="tx2"/>
                </a:solidFill>
                <a:latin typeface="Calibri"/>
              </a:rPr>
              <a:t>mployees with Bachelor’s degrees Worked</a:t>
            </a:r>
            <a:r>
              <a:rPr lang="en-US" sz="2800" b="1" i="0" baseline="0">
                <a:solidFill>
                  <a:schemeClr val="tx2"/>
                </a:solidFill>
                <a:latin typeface="Calibri"/>
              </a:rPr>
              <a:t> from Home at a point during the year</a:t>
            </a:r>
          </a:p>
        </c:rich>
      </c:tx>
      <c:overlay val="0"/>
    </c:title>
    <c:autoTitleDeleted val="0"/>
    <c:plotArea>
      <c:layout/>
      <c:barChart>
        <c:barDir val="bar"/>
        <c:grouping val="clustered"/>
        <c:varyColors val="1"/>
        <c:ser>
          <c:idx val="0"/>
          <c:order val="0"/>
          <c:tx>
            <c:strRef>
              <c:f>Sheet1!$B$1</c:f>
              <c:strCache>
                <c:ptCount val="1"/>
                <c:pt idx="0">
                  <c:v>Rate</c:v>
                </c:pt>
              </c:strCache>
            </c:strRef>
          </c:tx>
          <c:spPr>
            <a:solidFill>
              <a:srgbClr val="A8B3BF"/>
            </a:solidFill>
            <a:effectLst/>
          </c:spPr>
          <c:invertIfNegative val="0"/>
          <c:dPt>
            <c:idx val="0"/>
            <c:invertIfNegative val="0"/>
            <c:bubble3D val="0"/>
            <c:spPr>
              <a:solidFill>
                <a:srgbClr val="0072CE"/>
              </a:solidFill>
              <a:effectLst/>
            </c:spPr>
            <c:extLst>
              <c:ext xmlns:c16="http://schemas.microsoft.com/office/drawing/2014/chart" uri="{C3380CC4-5D6E-409C-BE32-E72D297353CC}">
                <c16:uniqueId val="{00000001-9C06-4E2E-82F7-DAA3CFAB3AE5}"/>
              </c:ext>
            </c:extLst>
          </c:dPt>
          <c:dPt>
            <c:idx val="1"/>
            <c:invertIfNegative val="0"/>
            <c:bubble3D val="0"/>
            <c:spPr>
              <a:solidFill>
                <a:schemeClr val="accent1"/>
              </a:solidFill>
              <a:effectLst/>
            </c:spPr>
            <c:extLst>
              <c:ext xmlns:c16="http://schemas.microsoft.com/office/drawing/2014/chart" uri="{C3380CC4-5D6E-409C-BE32-E72D297353CC}">
                <c16:uniqueId val="{00000003-9C06-4E2E-82F7-DAA3CFAB3AE5}"/>
              </c:ext>
            </c:extLst>
          </c:dPt>
          <c:dPt>
            <c:idx val="2"/>
            <c:invertIfNegative val="0"/>
            <c:bubble3D val="0"/>
            <c:spPr>
              <a:solidFill>
                <a:srgbClr val="0072CE"/>
              </a:solidFill>
              <a:effectLst/>
            </c:spPr>
            <c:extLst>
              <c:ext xmlns:c16="http://schemas.microsoft.com/office/drawing/2014/chart" uri="{C3380CC4-5D6E-409C-BE32-E72D297353CC}">
                <c16:uniqueId val="{00000005-9C06-4E2E-82F7-DAA3CFAB3AE5}"/>
              </c:ext>
            </c:extLst>
          </c:dPt>
          <c:dPt>
            <c:idx val="3"/>
            <c:invertIfNegative val="0"/>
            <c:bubble3D val="0"/>
            <c:spPr>
              <a:solidFill>
                <a:schemeClr val="accent1"/>
              </a:solidFill>
              <a:effectLst/>
            </c:spPr>
            <c:extLst>
              <c:ext xmlns:c16="http://schemas.microsoft.com/office/drawing/2014/chart" uri="{C3380CC4-5D6E-409C-BE32-E72D297353CC}">
                <c16:uniqueId val="{00000007-9C06-4E2E-82F7-DAA3CFAB3AE5}"/>
              </c:ext>
            </c:extLst>
          </c:dPt>
          <c:dPt>
            <c:idx val="4"/>
            <c:invertIfNegative val="0"/>
            <c:bubble3D val="0"/>
            <c:extLst>
              <c:ext xmlns:c16="http://schemas.microsoft.com/office/drawing/2014/chart" uri="{C3380CC4-5D6E-409C-BE32-E72D297353CC}">
                <c16:uniqueId val="{00000009-9C06-4E2E-82F7-DAA3CFAB3AE5}"/>
              </c:ext>
            </c:extLst>
          </c:dPt>
          <c:dPt>
            <c:idx val="5"/>
            <c:invertIfNegative val="0"/>
            <c:bubble3D val="0"/>
            <c:extLst>
              <c:ext xmlns:c16="http://schemas.microsoft.com/office/drawing/2014/chart" uri="{C3380CC4-5D6E-409C-BE32-E72D297353CC}">
                <c16:uniqueId val="{0000000B-9C06-4E2E-82F7-DAA3CFAB3AE5}"/>
              </c:ext>
            </c:extLst>
          </c:dPt>
          <c:dPt>
            <c:idx val="6"/>
            <c:invertIfNegative val="0"/>
            <c:bubble3D val="0"/>
            <c:extLst>
              <c:ext xmlns:c16="http://schemas.microsoft.com/office/drawing/2014/chart" uri="{C3380CC4-5D6E-409C-BE32-E72D297353CC}">
                <c16:uniqueId val="{0000000D-9C06-4E2E-82F7-DAA3CFAB3AE5}"/>
              </c:ext>
            </c:extLst>
          </c:dPt>
          <c:dPt>
            <c:idx val="7"/>
            <c:invertIfNegative val="0"/>
            <c:bubble3D val="0"/>
            <c:extLst>
              <c:ext xmlns:c16="http://schemas.microsoft.com/office/drawing/2014/chart" uri="{C3380CC4-5D6E-409C-BE32-E72D297353CC}">
                <c16:uniqueId val="{0000000F-9C06-4E2E-82F7-DAA3CFAB3AE5}"/>
              </c:ext>
            </c:extLst>
          </c:dPt>
          <c:dLbls>
            <c:numFmt formatCode="0.0&quot;%&quot;" sourceLinked="0"/>
            <c:spPr>
              <a:noFill/>
              <a:ln>
                <a:noFill/>
              </a:ln>
              <a:effectLst/>
            </c:spPr>
            <c:txPr>
              <a:bodyPr/>
              <a:lstStyle/>
              <a:p>
                <a:pPr>
                  <a:defRPr sz="1800" b="1">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Top earnings quartile</c:v>
                </c:pt>
                <c:pt idx="1">
                  <c:v>Bachelor's or higher</c:v>
                </c:pt>
                <c:pt idx="2">
                  <c:v>Management, business, finance</c:v>
                </c:pt>
                <c:pt idx="3">
                  <c:v>Professional and related</c:v>
                </c:pt>
                <c:pt idx="4">
                  <c:v>ATUS overall</c:v>
                </c:pt>
                <c:pt idx="5">
                  <c:v>High school, no college</c:v>
                </c:pt>
                <c:pt idx="6">
                  <c:v>Bottom earnings quartile</c:v>
                </c:pt>
                <c:pt idx="7">
                  <c:v>Service occupations</c:v>
                </c:pt>
              </c:strCache>
            </c:strRef>
          </c:cat>
          <c:val>
            <c:numRef>
              <c:f>Sheet1!$B$2:$B$9</c:f>
              <c:numCache>
                <c:formatCode>General</c:formatCode>
                <c:ptCount val="8"/>
                <c:pt idx="0">
                  <c:v>51</c:v>
                </c:pt>
                <c:pt idx="1">
                  <c:v>50</c:v>
                </c:pt>
                <c:pt idx="2">
                  <c:v>48.1</c:v>
                </c:pt>
                <c:pt idx="3">
                  <c:v>46.5</c:v>
                </c:pt>
                <c:pt idx="4">
                  <c:v>32.5</c:v>
                </c:pt>
                <c:pt idx="5">
                  <c:v>17.8</c:v>
                </c:pt>
                <c:pt idx="6">
                  <c:v>13.3</c:v>
                </c:pt>
                <c:pt idx="7">
                  <c:v>10.5</c:v>
                </c:pt>
              </c:numCache>
            </c:numRef>
          </c:val>
          <c:extLst>
            <c:ext xmlns:c16="http://schemas.microsoft.com/office/drawing/2014/chart" uri="{C3380CC4-5D6E-409C-BE32-E72D297353CC}">
              <c16:uniqueId val="{00000010-9C06-4E2E-82F7-DAA3CFAB3AE5}"/>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axMin"/>
        </c:scaling>
        <c:delete val="0"/>
        <c:axPos val="r"/>
        <c:numFmt formatCode="General" sourceLinked="0"/>
        <c:majorTickMark val="out"/>
        <c:minorTickMark val="none"/>
        <c:tickLblPos val="nextTo"/>
        <c:spPr>
          <a:ln w="12700">
            <a:solidFill>
              <a:srgbClr val="888888"/>
            </a:solidFill>
          </a:ln>
        </c:spPr>
        <c:txPr>
          <a:bodyPr/>
          <a:lstStyle/>
          <a:p>
            <a:pPr>
              <a:defRPr sz="1800">
                <a:solidFill>
                  <a:srgbClr val="5B6672"/>
                </a:solidFill>
                <a:latin typeface="Calibri"/>
              </a:defRPr>
            </a:pPr>
            <a:endParaRPr lang="en-US"/>
          </a:p>
        </c:txPr>
        <c:crossAx val="-2113994440"/>
        <c:crosses val="max"/>
        <c:auto val="1"/>
        <c:lblAlgn val="ctr"/>
        <c:lblOffset val="100"/>
        <c:noMultiLvlLbl val="0"/>
      </c:catAx>
      <c:valAx>
        <c:axId val="-2113994440"/>
        <c:scaling>
          <c:orientation val="minMax"/>
          <c:max val="100"/>
          <c:min val="0"/>
        </c:scaling>
        <c:delete val="0"/>
        <c:axPos val="t"/>
        <c:majorGridlines>
          <c:spPr>
            <a:ln w="9525">
              <a:solidFill>
                <a:srgbClr val="E3E9F0"/>
              </a:solidFill>
            </a:ln>
          </c:spPr>
        </c:majorGridlines>
        <c:numFmt formatCode="0" sourceLinked="0"/>
        <c:majorTickMark val="out"/>
        <c:minorTickMark val="none"/>
        <c:tickLblPos val="nextTo"/>
        <c:spPr>
          <a:ln w="12700">
            <a:solidFill>
              <a:srgbClr val="888888"/>
            </a:solidFill>
          </a:ln>
        </c:spPr>
        <c:txPr>
          <a:bodyPr/>
          <a:lstStyle/>
          <a:p>
            <a:pPr>
              <a:defRPr sz="1000">
                <a:solidFill>
                  <a:srgbClr val="5B6672"/>
                </a:solidFill>
                <a:latin typeface="Calibri"/>
              </a:defRPr>
            </a:pPr>
            <a:endParaRPr lang="en-US"/>
          </a:p>
        </c:txPr>
        <c:crossAx val="-2068027336"/>
        <c:crosses val="autoZero"/>
        <c:crossBetween val="between"/>
        <c:majorUnit val="20"/>
      </c:valAx>
      <c:spPr>
        <a:noFill/>
        <a:ln>
          <a:noFill/>
        </a:ln>
      </c:spPr>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sz="3200" b="1" i="0">
                <a:solidFill>
                  <a:schemeClr val="tx2"/>
                </a:solidFill>
                <a:latin typeface="Calibri"/>
              </a:rPr>
              <a:t>Share of Q2 2026 company revenue</a:t>
            </a:r>
          </a:p>
        </c:rich>
      </c:tx>
      <c:overlay val="0"/>
    </c:title>
    <c:autoTitleDeleted val="0"/>
    <c:plotArea>
      <c:layout/>
      <c:barChart>
        <c:barDir val="bar"/>
        <c:grouping val="clustered"/>
        <c:varyColors val="1"/>
        <c:ser>
          <c:idx val="0"/>
          <c:order val="0"/>
          <c:tx>
            <c:strRef>
              <c:f>Sheet1!$B$1</c:f>
              <c:strCache>
                <c:ptCount val="1"/>
                <c:pt idx="0">
                  <c:v>Share of company revenue</c:v>
                </c:pt>
              </c:strCache>
            </c:strRef>
          </c:tx>
          <c:spPr>
            <a:solidFill>
              <a:srgbClr val="B7C3CE"/>
            </a:solidFill>
          </c:spPr>
          <c:invertIfNegative val="1"/>
          <c:dPt>
            <c:idx val="6"/>
            <c:invertIfNegative val="1"/>
            <c:bubble3D val="0"/>
            <c:spPr>
              <a:solidFill>
                <a:srgbClr val="0072CE"/>
              </a:solidFill>
            </c:spPr>
            <c:extLst>
              <c:ext xmlns:c16="http://schemas.microsoft.com/office/drawing/2014/chart" uri="{C3380CC4-5D6E-409C-BE32-E72D297353CC}">
                <c16:uniqueId val="{00000001-E407-435B-BCEE-4DF505CE6F67}"/>
              </c:ext>
            </c:extLst>
          </c:dPt>
          <c:dLbls>
            <c:numFmt formatCode="0.0%" sourceLinked="0"/>
            <c:spPr>
              <a:noFill/>
              <a:ln>
                <a:noFill/>
              </a:ln>
              <a:effectLst/>
            </c:spPr>
            <c:txPr>
              <a:bodyPr/>
              <a:lstStyle/>
              <a:p>
                <a:pPr>
                  <a:defRPr sz="1800" b="0">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Voice</c:v>
                </c:pt>
                <c:pt idx="1">
                  <c:v>Advertising</c:v>
                </c:pt>
                <c:pt idx="2">
                  <c:v>Other</c:v>
                </c:pt>
                <c:pt idx="3">
                  <c:v>Mobile service</c:v>
                </c:pt>
                <c:pt idx="4">
                  <c:v>Commercial</c:v>
                </c:pt>
                <c:pt idx="5">
                  <c:v>Video</c:v>
                </c:pt>
                <c:pt idx="6">
                  <c:v>Internet</c:v>
                </c:pt>
              </c:strCache>
            </c:strRef>
          </c:cat>
          <c:val>
            <c:numRef>
              <c:f>Sheet1!$B$2:$B$8</c:f>
              <c:numCache>
                <c:formatCode>General</c:formatCode>
                <c:ptCount val="7"/>
                <c:pt idx="0">
                  <c:v>2.4471388399999999E-2</c:v>
                </c:pt>
                <c:pt idx="1">
                  <c:v>3.0755581800000001E-2</c:v>
                </c:pt>
                <c:pt idx="2">
                  <c:v>6.6094928299999994E-2</c:v>
                </c:pt>
                <c:pt idx="3">
                  <c:v>8.0955197399999998E-2</c:v>
                </c:pt>
                <c:pt idx="4">
                  <c:v>0.13788259650000001</c:v>
                </c:pt>
                <c:pt idx="5">
                  <c:v>0.2328108827</c:v>
                </c:pt>
                <c:pt idx="6">
                  <c:v>0.4270294248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407-435B-BCEE-4DF505CE6F67}"/>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l"/>
        <c:numFmt formatCode="General" sourceLinked="0"/>
        <c:majorTickMark val="out"/>
        <c:minorTickMark val="none"/>
        <c:tickLblPos val="nextTo"/>
        <c:spPr>
          <a:ln w="12700">
            <a:solidFill>
              <a:srgbClr val="888888"/>
            </a:solidFill>
          </a:ln>
        </c:spPr>
        <c:txPr>
          <a:bodyPr/>
          <a:lstStyle/>
          <a:p>
            <a:pPr>
              <a:defRPr sz="1800">
                <a:solidFill>
                  <a:srgbClr val="5B6672"/>
                </a:solidFill>
                <a:latin typeface="Calibri"/>
              </a:defRPr>
            </a:pPr>
            <a:endParaRPr lang="en-US"/>
          </a:p>
        </c:txPr>
        <c:crossAx val="-2113994440"/>
        <c:crosses val="autoZero"/>
        <c:auto val="1"/>
        <c:lblAlgn val="ctr"/>
        <c:lblOffset val="100"/>
        <c:noMultiLvlLbl val="0"/>
      </c:catAx>
      <c:valAx>
        <c:axId val="-2113994440"/>
        <c:scaling>
          <c:orientation val="minMax"/>
          <c:max val="0.6"/>
          <c:min val="0"/>
        </c:scaling>
        <c:delete val="1"/>
        <c:axPos val="b"/>
        <c:majorGridlines>
          <c:spPr>
            <a:ln w="9525">
              <a:solidFill>
                <a:srgbClr val="E3E9F0"/>
              </a:solidFill>
            </a:ln>
          </c:spPr>
        </c:majorGridlines>
        <c:numFmt formatCode="0.0%" sourceLinked="0"/>
        <c:majorTickMark val="out"/>
        <c:minorTickMark val="none"/>
        <c:tickLblPos val="nextTo"/>
        <c:crossAx val="-2068027336"/>
        <c:crosses val="autoZero"/>
        <c:crossBetween val="between"/>
        <c:majorUnit val="0.1"/>
      </c:valAx>
      <c:spPr>
        <a:noFill/>
        <a:ln>
          <a:noFill/>
        </a:ln>
      </c:spPr>
    </c:plotArea>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sz="3200" b="1" i="0">
                <a:solidFill>
                  <a:schemeClr val="tx2"/>
                </a:solidFill>
                <a:latin typeface="Calibri"/>
              </a:rPr>
              <a:t>Residential Internet Net Add</a:t>
            </a:r>
            <a:r>
              <a:rPr lang="en-US" sz="3200" b="1" i="0" baseline="0">
                <a:solidFill>
                  <a:schemeClr val="tx2"/>
                </a:solidFill>
                <a:latin typeface="Calibri"/>
              </a:rPr>
              <a:t> (thousands)</a:t>
            </a:r>
            <a:endParaRPr lang="en-US" sz="3200" b="1" i="0">
              <a:solidFill>
                <a:schemeClr val="tx2"/>
              </a:solidFill>
              <a:latin typeface="Calibri"/>
            </a:endParaRPr>
          </a:p>
        </c:rich>
      </c:tx>
      <c:overlay val="0"/>
    </c:title>
    <c:autoTitleDeleted val="0"/>
    <c:plotArea>
      <c:layout/>
      <c:barChart>
        <c:barDir val="col"/>
        <c:grouping val="clustered"/>
        <c:varyColors val="1"/>
        <c:ser>
          <c:idx val="0"/>
          <c:order val="0"/>
          <c:tx>
            <c:strRef>
              <c:f>Sheet1!$B$1</c:f>
              <c:strCache>
                <c:ptCount val="1"/>
                <c:pt idx="0">
                  <c:v>Residential Internet net adds (000s)</c:v>
                </c:pt>
              </c:strCache>
            </c:strRef>
          </c:tx>
          <c:spPr>
            <a:solidFill>
              <a:srgbClr val="C8102E"/>
            </a:solidFill>
          </c:spPr>
          <c:invertIfNegative val="0"/>
          <c:dLbls>
            <c:numFmt formatCode="#,##0;\−#,##0" sourceLinked="0"/>
            <c:spPr>
              <a:noFill/>
              <a:ln>
                <a:noFill/>
              </a:ln>
              <a:effectLst/>
            </c:spPr>
            <c:txPr>
              <a:bodyPr/>
              <a:lstStyle/>
              <a:p>
                <a:pPr>
                  <a:defRPr sz="1800" b="0">
                    <a:solidFill>
                      <a:srgbClr val="0B1F3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Q1'24</c:v>
                </c:pt>
                <c:pt idx="1">
                  <c:v>Q2'24</c:v>
                </c:pt>
                <c:pt idx="2">
                  <c:v>Q3'24</c:v>
                </c:pt>
                <c:pt idx="3">
                  <c:v>Q4'24</c:v>
                </c:pt>
                <c:pt idx="4">
                  <c:v>Q1'25</c:v>
                </c:pt>
                <c:pt idx="5">
                  <c:v>Q2'25</c:v>
                </c:pt>
                <c:pt idx="6">
                  <c:v>Q3'25</c:v>
                </c:pt>
                <c:pt idx="7">
                  <c:v>Q4'25</c:v>
                </c:pt>
                <c:pt idx="8">
                  <c:v>Q1'26</c:v>
                </c:pt>
                <c:pt idx="9">
                  <c:v>Q2'26*</c:v>
                </c:pt>
              </c:strCache>
            </c:strRef>
          </c:cat>
          <c:val>
            <c:numRef>
              <c:f>Sheet1!$B$2:$B$11</c:f>
              <c:numCache>
                <c:formatCode>General</c:formatCode>
                <c:ptCount val="10"/>
                <c:pt idx="0">
                  <c:v>-72</c:v>
                </c:pt>
                <c:pt idx="1">
                  <c:v>-154</c:v>
                </c:pt>
                <c:pt idx="2">
                  <c:v>-113</c:v>
                </c:pt>
                <c:pt idx="3">
                  <c:v>-171</c:v>
                </c:pt>
                <c:pt idx="4">
                  <c:v>-55</c:v>
                </c:pt>
                <c:pt idx="5">
                  <c:v>-111</c:v>
                </c:pt>
                <c:pt idx="6">
                  <c:v>-108</c:v>
                </c:pt>
                <c:pt idx="7">
                  <c:v>-119</c:v>
                </c:pt>
                <c:pt idx="8">
                  <c:v>-117</c:v>
                </c:pt>
                <c:pt idx="9">
                  <c:v>-166</c:v>
                </c:pt>
              </c:numCache>
            </c:numRef>
          </c:val>
          <c:extLst>
            <c:ext xmlns:c16="http://schemas.microsoft.com/office/drawing/2014/chart" uri="{C3380CC4-5D6E-409C-BE32-E72D297353CC}">
              <c16:uniqueId val="{00000000-6C11-4B88-9A7E-0355121F4F74}"/>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w="12700">
            <a:solidFill>
              <a:srgbClr val="888888"/>
            </a:solidFill>
          </a:ln>
        </c:spPr>
        <c:txPr>
          <a:bodyPr/>
          <a:lstStyle/>
          <a:p>
            <a:pPr>
              <a:defRPr sz="1800" b="1">
                <a:solidFill>
                  <a:schemeClr val="bg1"/>
                </a:solidFill>
                <a:latin typeface="Calibri"/>
              </a:defRPr>
            </a:pPr>
            <a:endParaRPr lang="en-US"/>
          </a:p>
        </c:txPr>
        <c:crossAx val="-2113994440"/>
        <c:crosses val="autoZero"/>
        <c:auto val="1"/>
        <c:lblAlgn val="ctr"/>
        <c:lblOffset val="100"/>
        <c:noMultiLvlLbl val="0"/>
      </c:catAx>
      <c:valAx>
        <c:axId val="-2113994440"/>
        <c:scaling>
          <c:orientation val="minMax"/>
          <c:max val="0"/>
          <c:min val="-220"/>
        </c:scaling>
        <c:delete val="0"/>
        <c:axPos val="l"/>
        <c:majorGridlines>
          <c:spPr>
            <a:ln w="9525">
              <a:solidFill>
                <a:srgbClr val="E3E9F0"/>
              </a:solidFill>
            </a:ln>
          </c:spPr>
        </c:majorGridlines>
        <c:numFmt formatCode="#,##0;\−#,##0" sourceLinked="0"/>
        <c:majorTickMark val="out"/>
        <c:minorTickMark val="none"/>
        <c:tickLblPos val="nextTo"/>
        <c:spPr>
          <a:ln w="12700">
            <a:solidFill>
              <a:srgbClr val="888888"/>
            </a:solidFill>
          </a:ln>
        </c:spPr>
        <c:txPr>
          <a:bodyPr/>
          <a:lstStyle/>
          <a:p>
            <a:pPr>
              <a:defRPr sz="1000">
                <a:solidFill>
                  <a:srgbClr val="5B6672"/>
                </a:solidFill>
                <a:latin typeface="Calibri"/>
              </a:defRPr>
            </a:pPr>
            <a:endParaRPr lang="en-US"/>
          </a:p>
        </c:txPr>
        <c:crossAx val="-2068027336"/>
        <c:crosses val="autoZero"/>
        <c:crossBetween val="between"/>
        <c:majorUnit val="55"/>
      </c:valAx>
      <c:spPr>
        <a:noFill/>
        <a:ln>
          <a:noFill/>
        </a:ln>
      </c:spPr>
    </c:plotArea>
    <c:plotVisOnly val="1"/>
    <c:dispBlanksAs val="gap"/>
    <c:showDLblsOverMax val="1"/>
  </c:chart>
  <c:txPr>
    <a:bodyPr/>
    <a:lstStyle/>
    <a:p>
      <a:pPr>
        <a:defRPr sz="1800"/>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'Top broker by state'!$A$4:$A$37</cx:f>
        <cx:nf>'Top broker by state'!$A$3</cx:nf>
        <cx:lvl ptCount="34" name="State">
          <cx:pt idx="0">Alabama</cx:pt>
          <cx:pt idx="1">Alaska</cx:pt>
          <cx:pt idx="2">California</cx:pt>
          <cx:pt idx="3">Colorado</cx:pt>
          <cx:pt idx="4">Connecticut</cx:pt>
          <cx:pt idx="5">Delaware</cx:pt>
          <cx:pt idx="6">Florida</cx:pt>
          <cx:pt idx="7">Georgia</cx:pt>
          <cx:pt idx="8">Hawaii</cx:pt>
          <cx:pt idx="9">Idaho</cx:pt>
          <cx:pt idx="10">Illinois</cx:pt>
          <cx:pt idx="11">Indiana</cx:pt>
          <cx:pt idx="12">Iowa</cx:pt>
          <cx:pt idx="13">Kansas</cx:pt>
          <cx:pt idx="14">Louisiana</cx:pt>
          <cx:pt idx="15">Massachusetts</cx:pt>
          <cx:pt idx="16">Michigan</cx:pt>
          <cx:pt idx="17">Minnesota</cx:pt>
          <cx:pt idx="18">Missouri</cx:pt>
          <cx:pt idx="19">Montana</cx:pt>
          <cx:pt idx="20">Nevada</cx:pt>
          <cx:pt idx="21">New Jersey</cx:pt>
          <cx:pt idx="22">New York</cx:pt>
          <cx:pt idx="23">North Carolina</cx:pt>
          <cx:pt idx="24">North Dakota</cx:pt>
          <cx:pt idx="25">Ohio</cx:pt>
          <cx:pt idx="26">Oklahoma</cx:pt>
          <cx:pt idx="27">Pennsylvania</cx:pt>
          <cx:pt idx="28">Rhode Island</cx:pt>
          <cx:pt idx="29">South Carolina</cx:pt>
          <cx:pt idx="30">South Dakota</cx:pt>
          <cx:pt idx="31">Tennessee</cx:pt>
          <cx:pt idx="32">Texas</cx:pt>
          <cx:pt idx="33">Virginia</cx:pt>
        </cx:lvl>
      </cx:strDim>
      <cx:strDim type="colorStr">
        <cx:f>'Top broker by state'!$B$4:$B$37</cx:f>
        <cx:lvl ptCount="34">
          <cx:pt idx="0">Lockton</cx:pt>
          <cx:pt idx="1">Marsh</cx:pt>
          <cx:pt idx="2">Marsh</cx:pt>
          <cx:pt idx="3">Lockton</cx:pt>
          <cx:pt idx="4">Marsh</cx:pt>
          <cx:pt idx="5">Marsh</cx:pt>
          <cx:pt idx="6">Marsh</cx:pt>
          <cx:pt idx="7">Lockton</cx:pt>
          <cx:pt idx="8">Marsh</cx:pt>
          <cx:pt idx="9">WTW</cx:pt>
          <cx:pt idx="10">Gallagher</cx:pt>
          <cx:pt idx="11">Gallagher</cx:pt>
          <cx:pt idx="12">Gallagher</cx:pt>
          <cx:pt idx="13">Lockton</cx:pt>
          <cx:pt idx="14">Gallagher</cx:pt>
          <cx:pt idx="15">Marsh</cx:pt>
          <cx:pt idx="16">Marsh</cx:pt>
          <cx:pt idx="17">USI</cx:pt>
          <cx:pt idx="18">Lockton</cx:pt>
          <cx:pt idx="19">Marsh</cx:pt>
          <cx:pt idx="20">Marsh</cx:pt>
          <cx:pt idx="21">Marsh</cx:pt>
          <cx:pt idx="22">Marsh</cx:pt>
          <cx:pt idx="23">Marsh</cx:pt>
          <cx:pt idx="24">Marsh</cx:pt>
          <cx:pt idx="25">USI</cx:pt>
          <cx:pt idx="26">Gallagher</cx:pt>
          <cx:pt idx="27">Marsh</cx:pt>
          <cx:pt idx="28">Marsh</cx:pt>
          <cx:pt idx="29">Gallagher</cx:pt>
          <cx:pt idx="30">Marsh</cx:pt>
          <cx:pt idx="31">Gallagher</cx:pt>
          <cx:pt idx="32">Lockton</cx:pt>
          <cx:pt idx="33">Marsh</cx:pt>
        </cx:lvl>
      </cx:strDim>
    </cx:data>
  </cx:chartData>
  <cx:chart>
    <cx:title pos="t" align="ctr" overlay="0">
      <cx:tx>
        <cx:txData>
          <cx:v>EH&amp;B Dominant Firm by State</cx:v>
        </cx:txData>
      </cx:tx>
      <cx:txPr>
        <a:bodyPr spcFirstLastPara="1" vertOverflow="ellipsis" horzOverflow="overflow" wrap="square" lIns="0" tIns="0" rIns="0" bIns="0" anchor="ctr" anchorCtr="1"/>
        <a:lstStyle/>
        <a:p>
          <a:pPr algn="ctr" rtl="0">
            <a:defRPr sz="3200"/>
          </a:pPr>
          <a:r>
            <a:rPr lang="en-US" sz="4400" b="1" i="0" u="none" strike="noStrike" baseline="0">
              <a:solidFill>
                <a:schemeClr val="tx2"/>
              </a:solidFill>
              <a:latin typeface="Calibri"/>
            </a:rPr>
            <a:t>EH&amp;B Dominant Firm by State</a:t>
          </a:r>
        </a:p>
      </cx:txPr>
    </cx:title>
    <cx:plotArea>
      <cx:plotAreaRegion>
        <cx:series layoutId="regionMap" uniqueId="{4BCB2CB7-1018-45BF-A305-EDF0D79CF798}">
          <cx:tx>
            <cx:txData>
              <cx:f>'Top broker by state'!$B$3</cx:f>
              <cx:v>Company</cx:v>
            </cx:txData>
          </cx:tx>
          <cx:dataId val="0"/>
          <cx:layoutPr>
            <cx:geography cultureLanguage="en-US" cultureRegion="US" attribution="Powered by Bing">
              <cx:geoCache provider="{E9337A44-BEBE-4D9F-B70C-5C5E7DAFC167}">
                <cx:binary>1FzZctw4lv0Vh5+HKmIHOromoslUarPlRbanyi+MtKTiTnDfvn4OlZJLYqlsdbRmIqQHZzhJJAGc
u557wX9ejv+4zK539asxz4rmH5fjr6+jti3/8csvzWV0ne+agzy+rG1j/2gPLm3+i/3jj/jy+per
ejfERfgLdQn/5TLa1e31+Pq//4lfC6/tG3u5a2NbfOiu6+njddNlbfODa49eerW7yuNiEzdtHV+2
5NfX/8p233b57vWr66KN2+nTVF7/+vrBTa9f/bL+qb889lWGmbXdFcYyeqCk5JRS9fpVZovw9ntH
ywPNXcaoS83+7+6h57scA58wk5t57K6u6uumwUpuPu8NfDBtfP/m9atL2xXtslshNu7X15+LuL2+
enXR7trr5vWruLH+/gbfLnP/fHGz2F8e7vd//3P1BZa/+uYeJOu9+tmlvyDi28zWuyt7tzvPAIk+
MEYL4XLq3vyRh8gQVxwIrjST7O6he0ieMpXHMflz5AoU/92LBOXEDs+oI5weuIpLoTjfA4J9v68q
hh0IXJDEvb0uH+Lys9k8jsl+1AqPk3+9SDy20JH46hkhofpAGCGIJLfGyTyERNMDrhXjVLPvkO1N
5l5VnjChx1H5PnAFzPZlWi9Y8SZ9RlwkPyCcc+VSdw8Mf4gLEfSAKqMl4eKhkvx8Jo8Dcjduhce/
zl6koryL4mf0JNw94ARaYtQtGvohGtASXGHQE/WolvxsNo8jsh+1wuPd8YvEw99l8R+2LuJn1BGm
DqjgUhpi9rtOHqJCiDmQRFFF+K11e6gpT5vT49jcH7tCyP/Xi0Roc53thl19fbdHzxB/mQPX1UpS
Jr5HvvfdvRIHXGrJGdH76ytL9pQZPY7OnyNX2GwOXyQ257Zuo1ebXWrbZ9Qfrg44l8zVhD2KD3Fh
9qRhlN4FB3eysff9T53V4xg9HL3C6XzzInHybVFcX7bxZdfebdV/rkacHAgliGBsCY7xtzJzCs6H
aaoJXenPE2fzODwPBq/Q8T+9SHTOr4dXv9s6fUZo6IFhhvIlu7/5WyU0sHASVwSitL2GrRKap8zo
cXj+HLnC5vz3F4nN0bWtw2cNDuiB5NAKbmDGlr+V1mgG48eZ4q7eX19xAE+Y0OPIfB+4AuboZYYF
xwgK4vj5VOYmJkNU4DLowv1oAPH1gaBq4Wr22T8Au59p/nwij+NxN24Fx/HJi9STRe9Pr+vmerrb
nWdwMO4BIgDXCHarKvQhMoofSKUFyNnbMAG56H1knjanx9G5P3aF0Pnpi0Toje3iJt4Vu7tN+s8B
Yu6B0cBGfmdpHgJkyIE2RFOq/yQL7gP0pCk9js+9oSt43rxMe3ZytYuekxngB0wbV9G7FHPFDBAC
5RGgBrS7is5+OpHHAbkdtgLj5GXGyydZFhc2bp5PVcDUEGABTv824jIPVUUb8GpaMqH/zEnvq8pT
ZvQ3wHxfyxqbl8lovo2RyzTPm3DKA4Z4jDNzG3PBxd8PAQxITwOiGRnnnUTsM80nzeVxWO4NXeHy
9vxF+peT4uqZvYs5AINmuBZ/RsL3UUEBE8mlMiAC9pHy2pD9fEKPQ/N9JStgTl4mMGe7otk9oylj
GqUXrqhRt6TyWls0XI9LtHtHr6HwfN+U/Xw+j8NyN26FytnFi1SXC9v9X1Bn/ICzpfaioBfL36ro
v1BnlLkwdnIVLD91Po9j83D0CqGLlxkEvN01ze4y6prrtn1G9UGxGdw/Q13m8ZqNIgfSFWjM0Cu9
efJ8HodoNXyF0duXGTW/jS+jONwVdxbmP89pOD/Qiiuj9G1WuQqctQCr6Rqo1+31FXX2lBn9DUDf
17LG5mVSAm/jprFdHT8fNvA8TCqEA/xxQsCgKUAppshdYWAVETxlRn+Hzd1a1ti8zP6Zt7Zon5UK
QM0GJmupRD/eQkNc1Dy5IFSyleN5wlT+BpO7Nawh+fQiA4Lz6373nB00zBwwITkXsFY3fytDRogE
AyDgZvQ+vkYYdz9M+/l8HoflbtwKlfMvLxOVmwqnv6stGIHd3Q79526GgVRmoF++o7MK1BT4AA1w
pJT75GblZvZVyqfM629QWq1rjZb/ItH6GKFv9NVJk+2Kq+fDCoVOSTU14rYdwKw0CRGbIFAi2Le9
prG7Z+9ZgqfO6nGkHo5e4fTxZYYG79IMbOeztjlDnzRD28BtLXpdVjMKLZxLr+BdYgT+7b61e8qM
Hsfnz5ErbN69zA6199dF0UxZv3vWnijwn9qgJeqWyvlL2VOpA820XjiF797qPj5PndXjGD0cvcLp
/ctMffYp91M8wL95YIAdGJcZTsltkA1r9oB2W5BEdZqgje3mb+WZnj6vx7Faj1+hdfEyPdMnaBVO
SVxf35mdZwkhNMfZDfc2fnNX5VHwo4wzunQa7kOIVYD3pCk9jtG9oSt4Pr1MjvTT9fisFClBgxrT
HEryfevv65BBbI7eHFi727M3iCjuW7ufTufvYLlZxRqS315kLPclRuPNs/og9OUiAdUGHMJ3H3Mf
FaUPFgclUDbdX1/FcU+Z0ePA/Dlyhc2Xl+F7Ln94bGsvuXuD9uDOf/eomkGMxnAKB+Tozd/K80Br
UFbAqShzW0NdMQmr02R/P63HQVoNf7CS/6ejan9/jO37Eb/Nrt0d3pwNvHeS7cdXb5aLA4urobcW
51Hc9nt3cvXra8qxy99PHC4/8cBSrTZtNe5617S/vnakPDCKMRywAnqos7oIGYbr5RJ806KT8GGG
CfTMaxjCYklNf32NrIrhFBzgvm0hbZaKCYbg9ByjYJoMQQe9QRv99xOZ7202hbb4vhu3/39VdPl7
Gxdtg+OQkKlyf9uyuuWJBEdZJGFUoaUYjXm4frn7iFOfuJv8V0aSuiBDKq41CdrOHNKSl07mu2Uf
z1+E6Mp0x51aNNuimpqJb1o6imj0HRu438Ki5oXjWzqm6tREYuo2qXGK6ngweda8zUReOpNn01GU
30TaJqPdYK+yhPmhUpxcq9FO3ccsGlW201qUwSXLWSXPQxlXJfNyEjeYCi9Fnb+LiNsOxSbMRJ2W
nh1Enr8haqow5TDPyXRGc1YkfzhNbzHmHqSPbBK4iAd7hEoF5QZk0hLBY7sgEff3SJE87iIZ6etg
sEVSHbc5z/hxxvumVsdzE7bx4M9xiZMWmRvENNj++PEEgczD5y+kLkM7q2ZACpN5+Pw5YbqRroyv
EpKyNPZbywSLPGOoUyXbehzCut3UURvyyHO4M5fF+4GzqaE+4bMc2Gkro6JJPWsrVpNzJPoVrv14
khDh+3NE3yBjaOCAc0FP7SKWD+c4RrFDo5o5V9Kpe5duwlmFqtpmmrfM9Yq6lfJrKtygRUb/Xd1+
js3yXG5QjaUC53g1Wz+37CarrMP0VThB5qTXu2XW/BbxgBahNyRxF78rApyFbr0ospRK78ePR9q8
WrZClIOGVsMFGr3Usi331CcUfey4Y8SuHJWpivlicKXYQZGc9sTOscrOY4dY8pal1dRdpI3rzpHX
RHGGTfnxTMDtP5yJoGisFUJLIbEbbAVAK2M3mdIiuAzMXIj6yFZlHkyHTpA3ZjqadD0ClR8/8q+L
B3kqwTmgv21JmdyHi49UFGTJ5NZXXA7Q8u1E5EzSraiHruGHsQ64/Fp32PXKa6RS8qt1p742h31s
3XL4iSCQlSVTS+CCeH9RVLR+oQT/cDahmRNhytb5FsW1yp3jsY0WhchHG+HcdTckfOZ+nDcTLb3R
UIZZidiNuou8lMnkFw6piwuTR3ldbCpha/ox7+Oi+fbjPVvs6T17qwhB+Zm7KAXg7AC0ZWVLuiHQ
tVvN47exbmsIgdulLjbLHQcmHG+sWe9clDStFqVpB7t8xGXY/bubBfYbJ36Zi4CPMw7T9nCzdEWb
dmqk/VZkwoENT2C95sHrJ7edxBkLBOx+E3Z1ussTUcCi1mVeE3GsncTpU6+KYG0Xyz9FGFXEc9af
8TEtbf4Ts0LWMoYsG/EqRaMrBcJSrvzTyIaiNMXMvjUBlU5+mLRNmXXvq7mNy8IfqqnC5ByV97hm
pyq300an8+RcDGUZnDSmzpLQz+fZnc7yqCrawCuMK4PW74TrZB9lbsI59ykzI0widZKJFKfubDL8
ahoHQ1X9RE0Jss4HAoCEFEyQkS5BeQJnfFcWA5JZVH3Rl1+VsCIRfumixbfygqAzpvbJrByY9mDa
W8+s47jW3ZiTkgQal8ahZbLadgP7uULztRVHeQrBiDCEUHDvfxGLdEybPIhs+bWsoUXVIWtSzd9S
ErHpjDXdhO0wQZ/NX/JonCbldVE9VJEPgz/Ij2E1B85xnfNk/lI7XSPPdSyXAGHkfZ6Zo7QTCzy2
YQYiNPVK9B/LOknnL3Mm0yH13CxbnFaM3QdAtjARvmRTjUhE5+MI7JhIJnw0sxu2elOKhjVbqboF
u3QMYwQY1c3jjQ6dafC0HRP8hEXwgJnHTrHEBm0p8nQ3NrKoyq3pa9JfcGbn9k1dp0HtZVle09x3
wiAfj0MO5/p7oYuAf+ndnkDIlA4RZ/RVYRGi/Ng2rE04dl+BoEWMz5VE1/dKNFgwFSExZfZ1JnlT
h95IXVU23mATm52wrhpgKH78xLU1Ql8/dymB3ybLibL1E5vabaIhZ8PvbO4WYRw6vpg/2qgUzlv2
lZBfg4TNEMKBdm0TvlUwLJDTH09jORH1QCkY3tFBFRwXutkpR5T80BzNrO8qx8j8S86LvGVeazvh
XNsqqmCNorQpyGEdKBu/7xsdwuKUkbDhYahb2ltPKzVkvdfSsDrLAi0vRlZnevKagcj+Y6sdN/Yr
MY/2DELkRl7i8iAuPR5Isih75EIObR8hujgJkrRdNL9HWfHd8k6RcvJYWrOxP/rxitd2TaO/xUW4
gVUvGR1ygocrTmUQFUPVqM99V7gIYkVdUwSx/bzILUeQxY8jMowQ2zE1DB9hexPZOrJcRJp1yUCD
i2CUi0jTKp7z+jguKVtMZDU3LtlWWV828dEsphRaFwz5ElOTSefQTkUqqNGPl0RXlk0jAtJwm7Bq
QBDMz8pUV6zIZ5sU9LNuIwbdastwmUDrsG5R3Rs9BlU3YW5BNC4qDlu5mJS6rOBonIggjCejWL6y
VYpz/ZlJFD+Oh2zZh2oarDwPqhF3xRFbljiFuWy2qaNqti113bPGn+AvsNyfLG2VAWBphuBlC2is
AD/CEe89RKsdU6Kyzk6fWdgvlqqtK4jWnM2xvWxdndLCm1pbzV8ULRb/mDuWAJBR5lk4Hc65JG24
Nczphs+IUmtsx6ASBulj/QxrUsSOgYjxISsX69bBbB7HtBxg1lpEJHhg3AYu/occi2Ar8pBjK9pW
RU7ri6xLoBKRoQn+t9+fxRQur0X4UaS90lGNcAHRlaJCI+10/xLqkmHmcpKV86nPlYV12Ie3NNJj
n/rILKOw+JlZWLmj5ZEcpyupC7eE8uI68XITixCyHNWnpiOQkHZCp1p8BN+P/eFJya04DAbHjo0n
MzZhw7M+KBCywOhhl4Z6zNr3SjY6SLZByzWMARSy/1iDFYMHyB0ofjsWcFS3sIXVUGArx0wX0BVo
0QJHmI4LEE4SE3yYKTH9R9fmFjMRaQrflMp2yVN/vNvcsIc2EYtfnACMBM4qIApaZzYIBxsndMfp
UxRNMgu8tktZ6QeDGyTnks68ng6rqJal9gylJom8uq7i6tTNOjYKr0S045zVYe7wt0EeKeZXgx3D
SzfO3OMh6LjcpKqw2RVPsrn+mFuZ42VQM8mGd7wn7jhvdFIYUfoV4sem2w6D0P15XUXBaD2Zuzl5
w9yamE1R1Ib4ydh2deDZUVdz4kVFX/PRD8e0hzL0cz1MmTc6IuHJ1lDS8QuZtRMPfXck3dAdlWaI
SID4LQjbkzZSiMx8NWfDPCOthSiWJ2M6BZ1XNWUit71RIduI3BnnT4O0NP7S8SwMNoy3lPgT8lM7
eTJsG7MxMR1SPxRZeIyexHZTWXeYzwJTuO4RGUhEt6HT6Mg9LFOb88+T6MPU+WysO46fxnZk7Vun
aQvnIzyG6q5ELWX9eVZ9WFivtJZEzQczzll6FMRgN7az5Tq3nkkto5Gv6rmp9DeSJ7q4imhp+3ED
UZmqa9O1w+D6aTY0JDlug6ISeoM8QGTyKMidVJ4bopw0PeplSZssuo50wVrs8kiYrvnbmdkeIj2T
uimjD0y6rXQPi4KXpTrpTBBH2ZtCjGkVHiZ92A79m0EEYRxvA54PnfgYFJRVJzLhUai3kBXJUq/s
ZxduPWt0PBgvdLis2k0U1HMynQxh40Tx0RDn8DZ+agYOA9uXcSd+s04nRXMC4RicwB8YwhZy3pWI
uozXTkyP8l1GlcJHu//SieMM1/DSDo7Hzbbh1be5qwztTxNZlyE9JqPjKOVPiUg7dTQWCckzT/B+
8YuucGIsJ2QCTmU3BpN0jZ+IyIjw3TSUQ6neJ4GTDNlWpcyh5UnaTUb372TCRGy8ypiFk1B1K6L0
iwqDwJnPOM8a7JQzVTDZb2G1q0icOSyoVfaGxFVMsvdJMiQ6OBwSGILw0MY4tVf7MFnLlKbeyVx6
6IbRFFcbt0yTWm+K1nVE8RsNaYHn5UlmzOcu1FXl18iDsbNUdzE8iE9ktPwI5o+Qxasqs8T0PGqw
er+MSMHkNomGZcdY1qb4sE3UOhdFrhaTz/s21Mo3Q2shAHOBeOOoNXWO+8r9UqNWzNi+KlH4gy9p
AjwtiwiSzILECzyk5BEV/0OycdnngpsEXJLTOTWgcIpUR/y6qpDQVNs6jhFp+YMmk6r8WEeic4Ag
76ruS5sUXVxgv5xotkdRN3MyvtWJWqYcA+lyvpCQLDyB4VL1LXDGRcBk7SzIi8nBd5nJl63pe4Jb
4WJ1NWAOfdHgsf7teuqaseobCLcI34mxtPIiFTwwzOeDAQHklSoi2Itb6QnmxuAnVeIsiwva6WYz
OkhN7d/GuEbMYvkfa0T6lrlx7VzcbrWzv/1uk/f3gSmg6VtFyxwTIIUT9d/SWJZxfRQXbMKiKzrj
HXxeSFkYuxdIwENrPLEHys59C1FD5t3V4UlBzBQIj6RRP8l3Ju8sdqmneYZbaAmOrfZBcwS98VJ3
WoLeMBcUX2YqdKtvZr+DtoQGwa7t1xTRGDmaX9pCDuR46vSSnbt7aPfiIYM0w/5IHmPEoVDZsvhR
ThHkNCT18piIRxJfTrZyVfR5dmLetadYKVu2dy9Iczd1mCUWufwKiesG41DZYJCupo2Wqe831JmH
Gf+xGbNcHTquKNLkZKZCjeVR6ILRcg+HuLPQaZOEC/PRDMA37hWtvhEZFhCfRiBixeLrHsHuuwZc
9vKDtF8+eB9qfGSFu6hDPotl/kUnw2j43GVhFsbbItT43ahiJGTHaTMp0p6xvazESWNadXS75Sbp
a0xnjFmKH4EHsHh4UsYp/HxPqlm6nxG5JbrflJXTFrHvNmGAh4skwvt1Nm1WgtvMQBiAsgFMUXei
bLiocwf/iu/SqZOJ3qYIFsfplJkmG+1xy62b535meJb3XtCEoA2JIR3uj9qqwQeCRpGd51WHf6d8
AIkm3IGAKqrA5WfnfdoGIAWGOsHTSRTa/ossghFZQDDNi+wPBqY82Y6sorAwuo6yTh9mOVxsfjg6
RWCaE2HgqsbfXTkmsDdhZm2aHt/SyUmbRXWy7aIM+e7lxBu8c+G4TCJsxxG70ZnK6gwb1gRDGsxf
WKTt0H6u2BAN8rjdL300YYMtYuU4p1hRGg6NOJSzS2Dl2pov20fGcpEa8FWLiO/5U92kA3aAdHRZ
bxvHFB81BBz3VzGoUMeLsxm8Mpo50sJ4oCwmmb9lJalxh5zIksP2omsgV3uSZSYiq4NtV1R1QE/C
oJrxG/OeeguQloM1rARPwZcGJEXqm+fInQq/zUBMiLM8lYs+tXyIQcKHqW5hKpkMJvi8ZoKlSbbI
9ZbN62K2UAW00ym4+CQrQgyvpwyr/H1AeBY4p0PQ1HV8bliykJS2g7t7q9KAyfYDB401BYdjkDhT
tJVDKbJmA+oCZ1o8BRJIfuUhI0jJ4QwNwJ8dPmNVssgXt5GLYBG3mtYEwrffyaS1YKJZ7MasPx1m
kQfqQzp3g3NRI5gGqzCXlZFfYW8hX85QztiBhLvLGoKycGD8kV4uLFUWI15FZG1yO5RfpZmiinzj
Yyazcymrcgq2nNqmdf4YYpKMwSE8GsuE12Tgvx1fZ0TVX8BIDmn7yQ2rJAz9QEwsGj8OCrFNdWX6
uK/o702gQU0c1WnX58Z36NykX2beUW69Dt5hRLJPiEVMqZQwHekg5XliqN/jS0f1nhpQmRo3tyvZ
Y1mVCQhiHx3B07KsG3OTZf1i/8wULtYE0f+ivHGTL3cUN+x9kNDlO0FcB3dM4bTcGDCwE/khMvel
thFnQQlVDhEtBudzO5HyMIGiLlpp8uXKrcgipoQlMji6hEt7Pnwxp07o1+NUM+URWrv6fRepcLDe
4BZgz/k0B4aeDFWxaHnozAsd2KBOhA+OsKw9qWYX8s1d1B/OwVsuM09jVBq/3j5I1AYurYKoOBf7
jK2Ik1mlXlKUHf+Q7g1WuicaK5x2hzQ4WbWQkE0ta843eZhXNvCiSnbORReLEmtuB1Tx+tOYhksY
F/ERz1B9tkyru1E4x6bwI14gukXJS7qUGTfFMC4yqYKZprEnoqbI88MoyaCN2/2GgAdejF6Kk8L4
Xd4QJzmLKMuU/gnxtUroweXAPkCCKYybJH+hlaMWNQTw1fQislZi1ioMR2jDYGFmK4cvGpT1IF4i
r4+rZe4/ye4e5nbL4/FSWjRr7t/xuKbf6260ztAoUFV705iAA8YskAdAk378qBWBDm1y0U6AZ4Gy
wr9ySevvVagGnVY6QCh5JyNuOlrrV2XA+TscA1qk28hoAbWLEyBsec0B2a1x/PFcHlIIaE2F/Gi8
MUlLlMMh5/ThXIKeUdC3SXiBYxQwY7EgSzzeNHjT5eFsETr/bJ//+kA0GIE4kNpQkItmxSumUe2S
LHeDj9VYwFGEKTz+iZpSmLlbzf7xAslC2/1Z3llWuLxrUOAIjqZ4XeqayByzhIdFm8mPtxZjiOaF
tJ8km4TYjrzR/TYpg7n+0A1sSjZ5Vyz2nNUwDU4zc/ijn8zooaRjRkillrdQMGUETkOsy2KTcZ1B
Taz6mO2VakBcBx0fuzSAXY91HwOCiHcTNNMwOAeEFk60TCQpWdXNfl8hs9+KnFnheiNMy+TD1Fe4
HfoRkPN4Ysgn/WFfzyr3ZvbHi1jDCODwqmZXoGKCtku8uu6h3MDvVi0dnf48atLFMs03gVDZiKL7
MDm64zjq/3SqS6AAgl529/alkcsRhIfPUyOiEbzUozu/dXtjGFWJ51pYVuvVDU7k/XvPA+W/NNBD
MdChzW/Opt7XUTYEYKL7ODnfuyUEyQsaKs2gF0VTLQ7jxw9cynv3xBQCgfLTclYM/SgcjOaKzxym
eYzrWaTHqnDqVPgqzxX7KmsozM9U8K+PAnQaFTw0ayLJXJu6PKD51IUyPN6HIr0AOwI5olWOjx+v
alVbw6+jQwMH5unyTlwj8fbch7gVbhsFyViaSzcBTX2rVlSmS6hYs3xJJwfdF7nv5rymylN1hkqH
lyEUbfyWFaP6nAwujOBP5rVvEbm34eAwsQU3R/Xxaiut12VM10W9SMVRc1TP1I2aQyrGpUuiwzuy
O/tHMxcotPu2CcH5Gi8PZmSxXivCluRniCLQGhT6Ni3BSL2hHJyI+z4PRBja4wkxi7DnwRinZJz8
gKIU9ntTVTnSszqhvKgO86ybaeu71pVNvtG1AAX4ho3EMvne7OuMqUSSxN4FRU6q8W0aRr1BK0/X
y5iAq0nQQnKMBEjF+SZzkhIichs4KQfDIi/dhzvIHDScmLwxr/sUKL3ZzSHKKVwKUtYlPBl66iDQ
tlQjfyloh+1G6Cc7dc6abAkynX3MVaJoC9zcUpM59tKmzcnsFU1tingjS5UlnXdHxVRw55F3G2Dd
RHao+A3Y37nSS3Chqh6MF3KeVNLDUls8Mk+R7fSnLqoocehnY94gz0OdIUuyzwzhuGHncmoNL08S
6ToLSdH0NfjfaZ8fmmFqWLWJ0i4HHQxmSKH64SVRq23gO50NBzf3KnT8C/reVKZUw2FYwehUn8Rk
+tl+Qh1kqbQhNnWpPLdtg+LGp7gECx5uIOdoc9hGdUVI4ucEwfAfE1LiRp8KOQ70KxHj1Opz0HlB
+aEwJknpYVI0josMHa8rGlsfLWao8R8WdgK2m2Gkcz15rgPGpPcRMhKh/YlPwfAmNU3bzB7K5EOM
LN/oGvXaOHKbI+5m7fBNunk6RZuAIxEovFwVef1bAUbI6Ty9LwXe2sgKdfpQvtE5/EmyLaJM0g7R
/U38B0J+iV+nol2c4V40spsotVBZilSyNujUKb2+dmVOYGFDqzANmqbUG1KnN5/gXKy+KAvjZNs8
FqHwojAcLsQUi2QzxUNwFPOeHccum0/yeuyPwbDYj6qW1B+NiM5V3GYuuOy+/hRAqI95KGzjQfui
b0ldZr+Fbmw3oyEBcuSMtUdIwkF10UKc6dL9alOoYzGU8o0c4nKjeBQBXdept4ka+WFi4+7dnGSt
e4hsoT3Uk8sySKzML6Oyu6CEl2c1d8KzvG/aQ9GAGkeDTHjc285sIjPoD6qMKvQblPFV3FTBJovK
0Jt4UWxEYKpTPdN8OwUFqtNFKTh+Wk+Fz5NCbQf85IlGnvitHm13hH6M4KoyaXaUjiSbvckkYhsl
rr0oOWoGXgbqqPEcZsPPwzjrXeYUAhRDl38aNI0PXdq6p9w1UexZx2FvOOjDbd02aO1PVPABpGaM
PqqWmSuCEhTyLFKSjz1NonhbToVzSJq8/dj0HEQITMGmmcbulDX1lHoiH7QfKBNE+re4p2Y6QWdE
d9lQnpBD25Ut0q84jyavxyuCrnUrVL5xAqc+zQ3aJDactMmHsWcp8rfcnommJZUf6Mju3KQp34w4
lXvWSLJIaCCW2m7YD6cjwuy3rkr7E7DyzmmcsohuNKzfFRkGVnjzrEmEdL50fh/KariuHGf0aUzm
XdMklqLToURb4zw3kNwoKzMPnVx1tynnIR1PZRdWoeeSMj6fiIIhRqrn9wPL2CnXblae1mNVb2nZ
0TOR5aMHBvqLGKZLtwuCc06gPn3TtRtQnm7shWPeq42YLDvkqi3Oy4jXv0/liFjRRdk9bLwuRW9G
6qs4FKXndIzvUDG3HqNZcWRBYHjUzdsPIynSD000tamftm34uYqm6rd6LHPqVWM3+gGpy8RLMD9U
gjW4QCjeGM0+H/Xw3tAmyvxi7pNdkpezh+JT/gVviaq8suzJB4PixklJa+13tRuc8rjgu0bL8U2C
OkSPcgjv8NCg9YLOqZApd+EbqR0bexlJza52kKRsNOLGxBNJU72Xg0y3MPRS+iae1XFLbPQe/UPo
ORmi+jO1RXnUdyM5Sspe7moWfB6Qv3+eq3zWR1XJJy+p8vB6woYcRa3qukOEp9NFWxsReDWvUElO
w9Zzo74/kSb9X/bOa8dyHFvTrzIvoAPKUCKBwbmQ2TYiMlxmRuYNUZFGhjIUKVKinv78O6vaVNd0
D+Z+gEYDWbGNtkSz1v9/a1EdZ8THYV5nhn/k48Lf403Fr50W07vb3f7DYoCXLpui+wTAw5Fgpyjn
bV5eEPcGOV1HdxdoI7/uZBqPcR8KEGOQuR8aTxLsZRtWJNK1DDoVlekpg2FUKDN2R0mt/gjmLMb1
u+gSkjE+dGlsvkAvnB/52OhT6Hv+Mgx6v9amm6stw5KL9HxoH8aELBdtk/VxNEK/asaSb7F0WByi
2buHxA+YPNDaPoTxYq+bztZzu27xBD2JjUeRDkmJtB3kJ+QYft4DLe6EaPTTHrHmI4Ok82Xe2fKK
Db8+YbJl93sYLGCr0vbQc0Hv4LyHcbEMvC/Z7scY412Ph70OpkcJa+Cx3iY1FyBWyEGv3fxFLTap
kfTv+53mib0CoJJQLYbptY53PmDNHrYqziQ7hfAiC6f25ANzdQzHQAffAxGBjbvzNNlbXvhhQwxe
ZhZSO7uTNHbZUhG0ke2XvOdK3K2Bqh+h/vQPQeLHT/2if8N7agjQbfjJDIhgOpt1DxvvgIVSFbYX
Pqnoqw2EXYu+Wck9ECT7sY2cm49N1MdJwZswuyZi0uzAyTDyy9AwVcJfTvbcwYcvGd+HLO/2hbt8
iMX4MAXgEK4+mDPc65Ssi76buYMBFW46XM9jMg8f4i0JnrKRt6pIN91MVcOVfu7q1g0VrGjfXIdW
Tm0Z6JGC1BQiDI6ZM2Z/9mzUtjneQg9S8nnDUS0Sd21aa3mR0Ap0X4QZIpeCDla4e6g4nSliG9av
a7ZPvphIn94BIxRhuYYIEa8LBILlE22RlWqsI1otNEXgVI/AnU5uSbMLjTYydq977EXkcr/NhNtL
hMWOnFkCp+I4937UZeMMtS88qGUHMqjuuc51IOpeFkHCt5c2Bs2TR03SP00+DPbjigS4K0g2R+Ru
5d02FpGGv3Cf9VhOS4B7ezlBcbt00dIWKOmSlyXwm+k+9D5I+R7j9o9kG0roR4O80WMqosOHZUk6
tpQ+7dI+gvBvJswHBtu1sKGPhioJbd/cyQaucT6MkJ+LfdnmMY8HD0Mqs508jW1Cp6pe6XovW8i3
Zbe12ymu0cuuTBlpMkh1nQ7PstYKNqmlmc+jFa58ukTLQ0D5lhVDJxKTZ4mMIRFCS/wUqkB/dxyh
SayVj47TJMK4ql0T2ahACNcEUwFmAIjcmmdN+uyDZMoQmFnm277ASrrgBRMJ2q39hkVoZmnVqF7l
tJ7DjVdyyMKsqVS0TZTeh4FL7UeYzIM4dTNLfqud+7rvTf2xbtTXmiva5UgThpcVzEklmNBHgs2D
YJFINWy5bL/2PuofdNzag2s0L9SsdpVnwEdVPgx0eNFjn5Zapz63rE2wvrpl+LbUYj9kUw97sd7E
PZxPRopwM+tc7thskkdumvglA9iky9ZBg8J4wIDJwemt38NJySc1j4ZVJsvqOzON04udzVJXdqud
OEPNrrM8GDZ+HqZuLqNx7g9yFvRllCSs+NJMVylocB/JLblGCmbqVBuY6hxpURlFAgW+NrPHfYui
PicZNuGScDebSoXp9ACucV3OSq8i52YlWzHLuiuS1DiV83AQYFsBatqzSfHjKg/x/WUXOAJGwI+f
jx18v1JjUq757qV+wC6Pzb9NZV+2HeILXIJ4xq7THmzG08KOqvnUtXX4FYrgdgBMxI8T4cMhU1n3
GHREF25ImzcyDh/7DoRajcTtkEWi+zKt0TLlNJ6mLzER+mKjWGy50FvHihai7UWoCD+6JlDe280V
SMLjDx3Skotbw/abbOLsqxR1+CbDeL1zcJRLqubpHEPK/gRTIJK3NW1TedyR+T4VIkbcisXxNgiT
b4m8Jel+HG679haZ98mxoK36tIVBC5F7Ss8jHdupMLrdFnhg+wQRM1u7sIh7rCN5GrQdve+Vid6b
pllkHvW4hrzrs4YVEp9bQJbDmGi8ouchtVFWIoV3vUasJevLoKbls0LW1hRSxTH5io131TkP2OpO
wSLTclFdcGpnGn288QyHcHfS5q0P1AdKt+7dOqawPSDzPExWgNKaBI3vYCnqq/KAXXJdI6S524xV
7zJatrYwkD9d3rp++7YsHnMFkxJ5mlVQV787uGkuh1PoqrFz8QXieQ2Uq912BPPAWX+gxaIThyFr
lmvikb/lAcKRpezFHNAqmAewyGR39NNi+v5LptxWSBObsifBTB7smoUvcP0YB62EGC5Pl7XpjyuC
qgtWv3GttrlpOoRyHKEn6JJgeoibNQwKK26EoB8IVZVWDpUPIGUwiIqkGZouke5QuxQWzyCLTiJI
09UtjXWF8HMbIaaOR7G/jcaO8kM0haspkVUIiSWNp9OuCh3auvfHgETdmHxIbSxYLsO5jX/rgbMG
Y+ECtnXiACNPbuReNlM68QLZ9pao3O7NYGyRYcOlvmzgq7E+t6DME1+OzotBXj0TkHQKY5GAqcfe
QbWK8w34ObcHbdXcvtW1TKa6XDFVYO+gSigede62eUqXQ41YbTzbxgbDTzObzdGqAZc1jBWd4QG+
CBLBEzoqAFzLWGqfBKR77KySeA5JAIzLdiCs4U044Pf4+T+GgGcE99F0oy+5ajb6RjWNmpffReRA
3YyQpec3yTYKxaauKKe8IQXgGG7+DObhnn2vE0G29Ajee8d8m0PD2y9WrU3Q5CODABcgsxXdmmKL
wHK8fLINBAV2tyCg3B5Ix4lPClsbO8vjDtcNTwtbXjd17zGzoxtK2i/Wj9fY4uftOY6biyJTAMaJ
B/ESL1S1aZUCoG3jC7F29hP4qHZBjIPcoZ4PSrEO63GwTKUEHXUfATJD6K44VkzPWwRRLDm2SzZ4
r6AOOyi8bQHUy/ZrUtXjlrR9pVaQQBzawTixux2hH6tE0KcC7pwTXNk8TGaeVJnf4+QIP3L4pJjt
PwagfpY8mlAUlycWc6cCBTN8J6NElAUqv9GymlLDm9Jp8DNbvkczTNE9tf4X/X/hbe0eIeK6E/Tp
9m4iIi5klNr7LvR+qFQ8ACJzHAa1CvqXjm9rdp4RwmV5PCqf5Nu4yvGoFwK6cmNqHVE05OR3tRMh
sbQmg8hT7KO2XOLdP5s2WDcECEFfIQJFhig6RelRp8kylGJg23uwi82rPKzXOXxmspW0xKmK4zeN
Nmo6N51DajDugUM2oruwqRBOaHOyDZXuex1sN8UFEXU0Frts6gPqx5wIDoMNGaChaOZjIUgyTVXi
iTmFZsq+9K5PIFhmIqqnAoJiS5GhZt48DCwltowItcsbkAzgHGBrQf8VYE1mhwApjMA7Qdx6qJF5
D3kyIw6/32AEbvkay6zKZNpfgtpMQOwtRdEHmD81ACmJvDUlGymHVRYszRH1FHgw2VYHeQzm7zSr
fu4KC8HsfQdIgbEh+JMNyITfuatDGqrt0eNhlwkXjFcdmI8fAaAqiIedqu8CLMPmK5LLtXnKukHf
oq44ak+IYNKLTjLavmOJjP0xdkn3PK2xuAe+WX+vdYg7z9Z9A0YnLJSRfW+3XLVk/cg2ah9X3Tf4
CSivg2udDRNW02xAEYWk/DmEfJiVvJvWcwjRoi1XMDuf1zhBfSOVJjmNSdcBm9T0ZRb1dFiikbyl
2oQ5z8BHNrrfUTlgdp+jLss/oNYzasvIGodis34EuM9bx925TjWoOTPuwFRrsW64XN7fkA1kw4Ua
Mx8d4FzB/yUxCh7L2sUOS2+AOow2X1QG7DGuzYygYPTmPrbK3tVR6FhJaK2yAwAN9bpu2QIaehnx
K0EpZF8T3bA6HxCAf5iDW8RrUKw/5oipfZunUnBgMnJumxIbegciDHLJ4z5AAcj3VKm0kg7gXxmT
oa32ecN7agrMDzjLoEoXq5+racYqEmYr1oX6LxlWC3fdllGrsp8dezZULxZfR+mMhKCFCjRE033c
i+jKml5mwJeEH3IdCn4NgiZ6930rL1ugzCMYwq4Amxb9hmodO8L/yLgvWmo6XWRr0vrSrr4zea/Z
IirbtKzH+qvj/tqFkaeHJV3pp0A0anuAciVjiAHT4PNeDeGXloPEyAcAIg8TyBdSZSv1SAp4hGqL
WRA6VEPYNa+SbnotsG8iqkN8XjaxntntvqUf1niFDB1Hk3hg/RC/zaA/6tzZ/ktshulNL9OUN2iu
/ZyB9ATAVTsM+V5/qYOV1IittqAIEHnca4uyIwPd5etY2+CsO0zqUrcy+7DYZbosdEYNis7kHXSB
7BQIwj5BMW4zDIM6fVfRHldbQsyz0z46S/SLjorOsfUWrZEBSM8IiSczhp1M3IxpufMAgdPQ8u04
0sj1z6jibUsNcavUGOpJMcfUVghfwuvopwbM4hq+NcJvb1wsYa6MJSjppLIaWC9+AncmZUKT5SND
uH8MExG+TyDj3wjeQvNgw41DKcIbaoHY/Qb44KjcglnH7G8Ap5dHZYkXOVsmEmIe7I+8DiQimjAZ
jtgP9Ig0w8QlywDN4N136xzpzx3EjpJtSFRm1Drv+daE06eA9clL18TJUCRQ9c9KjSEsOhCgMo6/
eQv1X1dSQQ/S79ig5OBKePOornpDRjsN6lknZkroh6VrZqzyBh16wEzpGXXZgBc23w0zvAYYodOH
xAPx8cc1Qg1JVMYT2ZbmTGwzdPsZgLlfPop2W+k3OiaTPHUTG5akEIkmS1AyR5NVY/GSoGzgtYHb
6HjYpqQEEBjuCBsZ8W2hZarJdrZ+g4qZp9FGD0kyruxrOo4LFpVZyX7rsY7RhtAScR74iTLwaV0D
tEnAfgGTRhgP2sujRhuTBnh9QoGoNmr6QebAZ6aE0QqAsDJq9bKBk9rWEhSTqsUNbscYnGGD1F29
k/nJxWxBCtPGW6r1p4mtwnUlDGKGvA+lTO3WPXTdZOxUmhXniYUVUbE187uVuwt9jk9RrS/WKUFI
lu+qwcpwEijf7HgBxfr2S5K0Jrw/NvXmsvmzDeo9onkrmMTfwOhn6XYNFoOE+dp5I/q02AhnmTv8
Z3vuzw45XEMQIDj/9MYcwCZHdeafXUNIZWwhqF74MUzqVtvkfmdcYjpqGOUmaxILJM2RLUABRtvB
ovu/XMCf7e3bBQAUQPEuTvqASwhT6M8X0FKP2qi6zb7L3y9g+J08GSTvMeKCCb7Y707pH/0THn93
Hn/vA/BtUqisqZs/Dmf++z//+3Ua8L9fRwf/4z/+79tJ0X97x3+jmav+dSj0f3wVTta5NXoz//qi
29X8/bNwMX9c3a2Hwp/+8Zd2Dv+mYcPvZ0z/mz/+qZvDn7qM/K21zK3fAbqf4eb+HQX4SzuHP52u
9Y9mDr+/7Y9uDmjMkN388xSPCkEIu5Xr/97NIcji/8oArxKCcyUStGZPAeP80c7hdsYuvR18hHP1
cBG/Gi3Atr11dEBvMA6CGv3b6C9whIf/Lx0dcFrSv5r7sPX5rzo61BgTVM/8eTjRyKP8dGrdCadh
h2WEYvOq2Ude0GV586l8Z8R10Ov3pRqRcRWyS02+bV5eWChVQRb2yhyTlwDE+f1m+zvHbupWkD5E
s45z5KpjnnUOCu0tbEQysh+SeCDlXKNmBq4jPygetAVPLS8yHj0p4UiJjQFpf8JkFc4I6esQ3wmD
wRVdOOI7yUzKTpo31/NXS9sJS90UIZvp3tNAkbJHmRcyzh0aj8v0WTn9FrJGFTt1MdRYGlQgGj9h
h31GUdW70/j6lKq3fsLZl/WCXBLee4EDEZ/Chpk8GvF7UFYEOVnPb2nYoVZBZ2O+Bvh56IsByxDp
dumC7Kw1O4PnWSphcGscF1W9DKgM6uTPSAZbnqa4lRPTpiQzPhQVd3GeyPojfgJuA2HnAU2CS6Hx
KkdwDU4lQdVARELlbDSdukSrwwRQuUznFH+VydPK7FLd3tklyLJbjuR0j9IxB3locgVrsqJLuD/V
U//E0cWu6g2+ssfWfKXJjMtf46iyMy4oVqksyV5/BPMExSizrOTT+NOP83SaYw0dUnhZrtJHdc77
+pvogxD3gb/iUM+lisdeFYYg/r1tcIdkYQxMtIsK3XHzChFRQudO4XEE/X5A5rSfVoa7Fxt86Uqz
MwuD11+DpJ09K30ym1JlGAehj58Gx7DXEQ7PMXRFJPF/UC6eXIuLqjuZnONA80PYIeOYYBhcMr5E
lVO3UbTgtciqHloTShTzmKjKXNMVqUhvaSIGlu0HVQyUPmA8/9w4wj+czsPyfm3fwcPg2e/4Vyfo
lqOYdyzXhSGPchPeM+AumVCxEuVG+z1sUl5oo99+Pe+hRvDsegwrgI/7oW4wZLBT4NHPCMxtyvoL
CeufmOQY1SleyxqMTpZhqEy3uVDPi//Yo2Y+TxkS+BAXgpnHcqdk+wBJ+YyO3K9+x5NfZ8wT1LOK
ywrs/b7JMDt4Zt4yiNhFCloPEw6DiWE2/roZo8KkWAO8VMnhHVRuVAmo7Jc+AmKdCAzaXhpx8SMP
nxFYqwJVhVDstXdFvCgFrjeKKi0nUg46wS0lDtdQN+bKTLAd6zQK7+JZoH522aNKwh5DgWUMX6gb
kU1OGGUj/rito7xnESYqMga4fK7pK+nrviKYJ6R37ZNr6MOv6RV3+34iQLoRvfYoeprYdoOfp5wM
eNxJw+Wlbsh43EgsK0iFmIaSTcWvZxsM+PmBGO9SlAJgCcEQGCFqFTAMFRIsPD9wrfthUpofTZ3I
CgUh/AAypC+Rvavi1wC4jXBM8ac22eHjeSxjHPlalex8P/16zAvAPMwDDKMNimDlulD8ploanGiD
n7oH+C7k0cEJRSdYvZCYgn/DIwjlzxpdG2CmY/aQALN5QMlWEY2huBBtx7usha5DN3pka/ce1K3P
A2DKd0JGsgLf2hZ2J8Gpppin007DO581/JClGGQjei3cBdCPin3E8oX8GCdeYHEI9xFaU3LkTQ+U
IdjwYeHqisTEaZEtJIZiT02OTg/6vKIIssxGZI1bO5ATmWgMyrfGoliHWNxWPLogk/wobPTU4JiY
4x6O/qgWLCYqca6gM342SlFaVIiHmEWZmk4Dwwo2ZMgzfq1NEd+i6tekhRDuUD8fvOKzm0c07yGl
pslT5Dt/TEXAcrpAHpTdisE0bwroL5wxOSGlaGYy3m1psj3YTP5EyxXcGo8Z8Otep5zKUg74SHh+
/JCMqaySbTFlgEbCeZ9QSBNoHPAYhftQQvrqj0zMP+cM/3mwXYVJr3IwBtslCfr2gBqBbwxAQ4W+
H2Cr5uzTMCVTJYPmMVjtQzYtXR6vrL74dqu7POhNH5aQoIB4yHVCV44tSG2JCmB0tbnVbqCBRZJW
OC7MoKJg19171E1bGaqO0wLy3SutYQ4Ytqru3kPVu7So42Q5NH0IyNDnE1vdIve8mdrlEX1LUlHn
adjX2UFD0ewKLwGXbJ5rU+1Jo0IgmHNwUcL+Bglv+m64+5a0ZLJ5HW/yJ5vjYE+xSiC/KzAx1hNS
8+kA/XfjCkYdGtWoDpbi0CUuKGtsRSUqn8U9X6c9OPTxuJoHicre7DzyxAwnVEItwZsH8lE0tnb9
nWh4vORa92FazB5KwgN1aeRRETSK4HlE3cOlydLXfwrF/ohZ/7lX1S0M/ieG7td59ykQyTTNbkDv
v9LDPUchAIpF7ClrvQdI1/xsJTaXeGSvVk8xhhVmXdJipP/n771Rg3/5Xvh9ALEYweEH/xJPcZ9E
ni/KnsL112KHORi38vu4BjLflPz5n7/tz8kAQsQMmPaNScdxWVCN/5XX3VcUX7b7aE+9xwC5RQJc
iqBCnSr5/Xf9/yTg/9hb9B/RfJxGt94E/z4L+PzDLP/rHz0L//LOvyUCGaJ90MHomxHSCJXq+NA/
EgGGU04p+lGhUQM6a5D01vDib4kA+S8Yp0g4GfKDGCQ80oc/EgE0aMQ5W2h4jlZsQM9u6cPfsp0/
psd/au2Wsr8MpTgFWZygoiRE0fNfunvUHg0Fxq5uzmbI7HWCfIsAMVLmilr5pOyTBQictHH4jDoL
uEc1fFI4znCjwvUEEjiAWywsViDUlL5gZQuwufX8U8sWpOw3JxeGMZ+u00bRjiYdAB1tsqFnI/ZM
H2xnxV7QIFnTnDOKIqAEFVWl4wg6qUJrlVkkl5EBMs21rzWKG1n9MRwNF7mjWiB96N74un4KTS9S
9Oow/uO+OKBKa+8PrQtICe/fPqFUJrws09hCXRrNWi1wIBx2aTE/o49Ee4e3hKrU5GYATcFTK1Rn
ygb1yScdz9P9vvoRTlNMPu9au2sXE/8qlI8PXpvmMeKwf3MOKAYR8ihB7Q5pW6KyqUfTGerGvFn9
8FI3IPsj4EQFQJO2zMgcXiHufJzkRHO0KHH3LPEH5vqlgMs3QeCdHCiVNlleJAqAHsUUxk8iiQki
IRTchAc0xcMv7rF6l9wKnkPxSKpIuRBo7dyXuGZZxgbqEtyXIYe5lUGqij8DEVOnsG3usgTIQWib
DzVDwWkZgVDqS8TJUZHQNclHZAvJ3RKgoDI3Y7rkLN1h/QzLia/j8jFB8THSw3YPq8BFKMLpfAyl
1owUz4Pau51Fp6UjX9ouoqXFb6mkWD6J0ZMLX/VHL+FbcU/GryCC/CVsVJYPnjUlldgewoWWaMhU
P5tkjMcbb9WjTHiYH/qxGXCre3QqyBWaEXyoAUc8oohblEGTuS8CBXtPKNHuKlqDOfO7+rGgxNbn
o9/TSsxt/bivnblsHJ4u+KoiZuF2h7ZCAvxZKko7BuIJlNQbvI0RmXAmz02qRX1dFwSoTyjDmebf
dF2br2Sd7c+2A/GWDopeu3qOX2SadCUquu0dNWZOIQYNuGUrWmLd24h8XbfEPgQqCqpoJT/QweZr
tq6TQR4yzmfXJRZ1czH54PsshLWqPfvC6sa+7uCEIdqKvkpn0dtiH6wdTiRBJ56DSKexR2Hrun5t
6h3heQj3RFUmgMEJy0SH+Y6nXNFsGSo0KXPkyU07Gtegm80dYmK0e9hCL56cih5XGn7ZDf+CKDTX
aONWaQBm6sQRdfEiyZpZHx0AtSOpo/QzFey1FuoHsEMBxA54TqXBM55o7xz70PQwdEeOYLVr0uhU
Y815xifUeRab5sHM7ZWlfD0DQxwMBvPNSIGFuUb3hpu9Rjy26Rr4oPoytIGyz3pBCym0IDp0gRWP
KKdDccUsFbis2JXGpdvBEn70SdycJTTF+SkCuDacrAhRFcis764yRopRtUaN6C+BqPbe0FhUWTw1
52YQYTWrZUVoFgSIxFL2OdED5Ollv44kQ6y9mOYoWQ9iLY2CA/JhePvErwf4Pjcms5dvG6oFESXN
65W1GULOZciV8CHYZ5PIXOqOPqHPv6yQayMEBOdeMCTxBdDE+dLJGFCTteAYE4PkHsjs/eroijuA
JOh17gk904Xp+w0S8ae1LhvbXy2RdYkWMaBN23piKNGNBxQMXVMo8REKoMsJEPp528VeUbzq2lMy
3Yc93NmcJsGm83kCYlVSS+PsLFPHsFLp+QnVdPErDhpsihQNQ8qGhkA8vNpR6BqICS0Eeim/7B23
ebJlK6SEECGvdl97CZu4cbbZcoqEF0ZVGubb7h76vfY/Ye05/DXLDg2tgSVnrbLHTZhvaK0E3RwJ
jMybdAzLKSL2LAYPtmkS+g7gyldsLOlhXXp3GvcZFE4vJtjYCzzlFLl4u3yLRuw2FRJjcwdHlh9c
Hb7UWcpOaHFEri06YxV6ZN2xzwKAhbs+GcVQLIwNthozsG8oznenSI/kTFD0jRRCNud0TbYKkTq5
Aq1ADH8D/Ywi0Z3NQn7dxqytYDA8i3T3RWbq7Lgqbhg84fanbb2d4LKyBP4R1t41hF+DGHU+z+CF
9rxD9leSLX7U4YTuqFvkC4opeg+Su31A6gfcpVdB4XfJSwrI+OKXWRxWO1+3AdArgTv4HU0H0TRl
UGvV9b26W+K4znebNGe983fGl+FcU/195rWtrFzfhwFZAwl9WFmL7SbUzRlKVH2yax+Xg2APLhTP
gLfjB7hv0CSso08w0IaDDsxD7btni9LRp7XpHjfc14vYaITZ2D/U2bAftlRybI3Aa0meOpMe6G50
idroekQ7A4sKg2TzHxPpfb5a3NdnWPF1etk7NDe494bUUxVh59R51G6xypGO+rrJk3VCBpWObCeQ
wbjaX4aW8OANDXY2X7ZZxvYSVl9UwJAfM5g8Mux7IAQo9/UnRdsXCqS/KwHsIpQxsk9QAB+Cgpxo
CKWngx1xQ1SHH35CHyn0VtxnAC1R0JRId/bPsbLb5wHOzSVbuvBqgZ8dZx+sC/Ar9CgpQi/dhaRy
xdLfQ9bcXLMA7CYgFAasmEwG6W++Y12JeK67OJCRSDqibHhmu20v6IkDPSSmFdTk9eAjVn+fIxsc
zbLSR+PZfFjZHB5ijWYZoBGxvEIvwA2SHq0zG1LXn1CQgeKCbkBmpSTySD7E6AOl98RByKMWjeBs
uObY3VCFPiUqvmplh6ZaIq1uSbm3kJSwc5EDNdjbcuYb1hUms22+y765eBOOdbkz4+yZNN5e+0YG
52CeUwR+Ao0o4UAn/AOK7VN031v2uT1IOnMQlXwH8YleD6UEB/rFoOVBWG4d6Z4YGKfnjncrzO4U
DtYUcno0rdgOGufFnPawAVUzS9Q65cTrDOKF9stntEPhpTA8vENvnIHmPR7+2x63ySE19IgyaguI
ZgfekjPomXh/Kwozxe5Ug8VwKHtHF5YYPQ4AQKcdWOggm/tiwBk256RNyGcgzl1RKyKaorYxk6hN
SEaH4bKQotUQwbF471WMm3SdOMrXMwmeFEr6kOOJChS5o9/GlnMUw1XrYjuPngMUqMiSAoVKgKp8
GMFoIQOXja0W2twruqKR4Dosd6vN6BmNghXgcBQgP5leW1mhTLE/Qq7QFcqJ4guDR+bKfkz89w0l
DF85Yu6P0Oyzq0hg1RYtsOQ7QxCalRAGan4PcTQGgJG9QXo2n72AVZrWNDn0wV4XMAnJWUd+14Xp
uvRLDL1mLQxTaAcH6gF7ScTv0aXV/4jA5xYLGtr8D3vntRw3koXpV9kXwARcIoHLLU/vKXODoEgJ
3ifs0++XIntaLM1Q0Xs9EWNCIlVAJRInj/nNE/E0oQFhWNu5cb3PaDR18zprCxnuDEAB/kaZi43g
XNHuoOw4tz1csa3wAMpUs8y2mZsE+2Aq+i0ktuEMPaTxcu6i8RYuXQtwfZzoi8HcgbAWP4E8nRrQ
PpW7s5JKeavaqtttYw9qXVRTsnJC1WwNL/Z2Nh3yF7u0p3NU45ZLhKTqu3pkxLEmnqc/KmV190Fp
wtWxzDzaCIS4Tqs5Ck9R2TVPTeD0qP6I5sxsIu/GWdS4Hs26OrEZZW4NTWu1pFtv51Ja5P6mtxUi
7NeVVDFkibwod6NXi30KI+ZkMsnF6yAf76s2d3aG2W4VxIWrJGpRD0yL4RLevn1GkBg2vIC8LHKA
7TIQ+RALTNax0dSAdFNvO7tWAfhjmJtVhTYSGYObntUJOQqs5IYESuXPceaJ5SABXW6Tpvd+DKoa
X7xiAiFZ58F0Mdj25OxGYAyvY8f/1f9/qP8t5nMflf//N3/69vS3OZOeG77+k7e638cik9LeoriH
t8vAnIbRX3U/3sBwv7Fg9G1Q6pB6/13343hGYU+W5BNFaWFpa9q/6n5MaVH3DqA8eSCAAVn8k7r/
ePzHp2gSusUEENW836bJqVXbtIBd4xAYhptyIMzLoaeN94du3HFzQV9GAksKuJqJ9LXu1v2iK7BY
HUOEZTAOsNate+TTwAv1pn9VjEjx/oHYe9yB41pI0jooMDrINbhCS+X9ci2eRUqH0wkPs1UFV6bX
Dhewf2FaLeZ0XXsF1f8vD/w/tBod6/evJ7XYujARe7SQZdVil79ccso60ViyDQ/JTJm4CptKndN7
jODWwGcRIHvG4NGEUm/vTFqiwKpzouzeYwJT7hsR9WsxDO7InKcE/ZIm7SGoJiOBkdea30rY18zP
umAPsCzYj0ub7AtvttdI95SnIIqKmzxDMTc3WvVgKa88Rae23qHlnVyGs0ou3QhV5o0TlfF+bsD7
JFGHGqDqihsbMZjvsCmXxzhz20dZRxdmPyfbUebluoepc1hsJ7twXZqd6zh1+hu764sfi7NUV4sz
pg+2mTByMMN8R9O/BIlVDOu+KkeGBiHyuktj7/3B1JXaPG453+tVrpzuTFqqugQviD4O2JsnIrRx
yD3NBWiN8dBQ+0bUFkHogf2wq+fOR7/fW4oJXtkS9yuzode+an13Z3Z2+yXJjGDMNlNMzkD/fh6j
sfsSCFvM3Xlc1ulOlhJg5Biyz9dmjJw4uUtRfutbWX9JkVr7lAaZfRsAL4k5BrrgJfXRDlyhMcSg
t7DnKoNmnJCmDD6wLFQd4m9ZnPv06ks3v6Il4DNuA1JzLtEnPJuBBz/6sy6ww6SFXaBZfukSdSsX
fPsVaj+38ZSY63BK59uYwei2s8z2CzqZw66ivKP74xmCMbRXvLRFEe/jMn6e27TeRKQJZ1Hg9+BH
FxEX247Ficswv2jyYvmE3rlx46CvfW4uaOKsusnKoEYMprHJkjQ0V0aF+IuXiJPQhYc2jGW3deYk
OzfTqH+JOk99y6w5zbdLtHjl1lBJcMoS0AILvedG5ZQxY3tZ5ibYZ5m/mM5EuZy5Z6GhaDMwyA46
wFtNWOd7o/aBC0HIALU2lihwueYarUFvJWt1lhqty5hdRWhDmH76hAxFyC/Lr07YOxvw4DO0Nq+5
DcfcPvfi7lpM42itfKyI2dq8PdQeA4enC4/ZGr5PhaQebw11gbLq8k3hE7HmyYpvNSTIK1B8aE8s
St026ACuIRXfojOUbHuxfDb61rm0l9jekhJ1l4Zclu0YeONdWQb9OrKCYUfv86Yci0/SCSv7kEAE
GdyVgpwzP5deQt4SDj2YJq+HIZ6vZr+2GcGD4iX5LTKxhdY8Z+s5b7zl3KcZOZ3kgYn5wDomNzZX
oQGK6THrRrTJUDnou5EazqiaTT8PXXrvoiAWqXyFOpI/jPdyVvE2sDqp8xmAz2sjRGNiJRqTrqny
y3I/DosnP0+Gi1YjwiU2NAl/ZBSQ5MZM8Zp2SePSPFUId2XjEt0OmdCqjnUyRJdeA3uMxKMtx+sI
moXvrGqv6eKzIDQGmJlodokvdg35DnELBjfkuy3K+I8pylBiB81AyBc5wTBYxQrZwdNsRom+vcsK
hAJA/QVd9sUQdXYXDEWyb03dhK0KKQ6DqfJHGc6GlkqyKXSoEJ1TkkXmZuMyjP1KGHGwFxS4p/Dv
m3NrmsTBLgxTUvHNQDyLJbDu7bhi8tY1+q9l6IV389yPzx4jJn9VAhvZQbhyTqocuvqqd8HqZ33u
ntSdWZ6CxAu2quiXcl00IbBuGCPVWeO6UMPkIK0d+JNqk7cJJIE6UOuyMxlEQ6MGdBmGwVdoegUz
b6O8Wzr0VleiNHqQr8NY3EyOW393QXOdcyNJtMtQpYJMEhTLBuG5PN626BSfQLENrnKReE95QUqN
fOOA6nEnixtjzCQZJ9P9co2YMz8Thip+QH3MH5kdT9c5gJwFvmVR3UVFDJlZWzPTdakyBo44Lvxv
CvQ6sPlDFuigqvvhFOhOo7P+z+YpqxRyLr8MgV7/4VsyGHj/cskQQG/97eDzlgxapvsv9BpIxoR2
KIFa+e9k0BX/CojdYE0ZpgMII/t4ywXBiYEWt5kAkgZiEsA/+gczIGgy74eXGHMwmzJN/B4sMGG4
TrzPYwLqSJDxSAG7rjXc+MItGCC3RJF8ybayBnRhLoN96+TesPcr6mJrmAPgO3Tso6wa79GPKM6c
DkV8q1H+IUtMwJxhmpbrskKcQnplvM1UdAv46+BmChFDl34MsNXHsc+uR9tVq2yM/LXBPHlleSn8
ic4NaG3QsaWHyuHbuLl9p0qANHVty/XiRBT249Ddl06ACJlU7ga9TA4nOPOz7zzAgfnh1Iq0IOxv
5mBWt2nliX0zChdmZ9oXtwic9adV7TdngCigXUxNgZausyQbpPgYHoyePCng3G9TmLynbkt3UXW9
AzeqWrxNxHJetp5hw4mgI7MZUAMqVnJqtIKFWc6HxWzNrVlrhrdoxLnZ+oc8t29r04JhgkzvRZGB
og5hq6YTHVVGQEBn4mxeQeQMd8qsizUbptr6Jd2fhrC9SsYGPUHYozys4mxRbraTwpCnBRX9OqzC
gvgm691kR1N5mEqy2bXopmibwUBoGDJsxjl+DGbLfhgL4Z1MLhOT0kLCIO6aYGPODmj1GqC4uc2r
OIHhicKTZZ4NqMotd2XrZFm/TcbKN54BGFv03aq8NxaGeoDuV7Tlu2Vtigrqm+GqRkFxJ81B7t2/
DCLkpbb0tZyJMd7QjPsCuMkBOOu0l0WJHkNiufIKPJ26NcCkqNWcGFTMK0i6DjyhKBHnNA1MYIDQ
k7dGtjBTh7uD1GgKXPvSgKdWGxuyjila9iB7GNNdVGmOzixcj4r8AXFBZ4AisIZMVy7lqQxL5bVf
KjsUt+1SI9UIwbNKjDRbgc1v0/EmVFmxBwXny+jKkQtBfYcsBb3CvbvUrboNGIbM3gPKNZ15Z6DN
6qMOHKQ5Mwc7KvqJhB8h/CnhBjw0B6YLyD5z3eyaLiz7tcX09FPl19MNfY+lWM1p2UDwYGhIH8CI
JsaHItASMV0XbGn1GOTpIsk29gLXaqWo+y8yqlFOuKB5EQueGhs6+uFtmccGECYpmnqV0lh5DNFS
LS4xLLGtdVHP5hUHqzfQFAI8tu6buCpXliqpJqAcgQTNjW2ySCdaAzCc79oQlcEVOLvpU5bktOlF
4zlfm9i1N3lURFdaOOLKQ2Rzq4aaTBj9uHHPDZgXiwmwrCDV2U5lvlAdlfW1h7rnYzA1U7+SDZZT
KxeCBjlOYLUnNGXDkxitiRO/lsa4Eh2zN3pLk9hYhqUW+rWl5JEvGfI5wlHzymJSuUWARt32gyyv
G7+O9pIkJ7YGcQX3MroP83o6gw8NWLwh2/rys/b7X1vkDwcixxWHx39HRdAWwXLh15Pw9V+8HYS4
2OFyZzPgA8FiuhjL/dUVgfjEGQnkIbDBRPyENfwFhtAmdxyQSK1x6DlCn3Z/HYSCHwkTNS+MxZBv
AV/xTw5CR9frf4N49O1g3sDcCvcdvicgovfnIDP0uSiQ2/oem0ud/qC4Ch1zM45YqEFcVqk9P6YA
4tSum50cZk6HXt/zxE5D1boSvIK72qBvSs8eUZOMtzOkv4xWUBZPD61Z8B4yEak9UFd0v6PBWA/O
0ICXcvIe/iO08L6zrywJ4xusg1kb40Oseoi4yFhFWNm4kC6hji49sWXvdBGUZoYvqVYnzcfJ4Nwo
B5RukvXcgaQ21r88yP/Q7rDeZwkucBNGVSin8l9BXnK8OhXaOUhQLeI7AswDI3S499C0oE459AqC
CDoRckxWUhY/Gq9N5nvSHe1WZFM68H0wEIymh49v6SdK/dcHhjlsYAmJYqEAJkMu9P6BydSe8Fho
oxciKtq4tQtT5XRx0QhIiERegrJIgaIag0qgsX7PUBwsFtoc9HyzJyQ7tIuI7IWRnlLddma8XcJo
0Yi9iUexVWqJaZG04BGZCC4ZroPLQuCNtwWtMtGgidHB3f9DW+l9a87FrE7vwYAWoLACj3fh/XcK
42xKjCwvv5sjtJ07qPNGdVsw+lyuP169I9FPLsSgyUUNT8BooVmpn/cv3auZoiNYvCl8AbVkIz1R
52Hmoktt8oZPjkzdq7EDA0pC44kc15AaIc7hltITM5KP7+R9H01/ZUdoQT4UxRxgTcfyfxYYDTOY
Uu9l6PzWuxT1nMJkaguD4cQpDYpF/MmST2+MXzYOVySYgJ2jB2r79AuPFtlOyjwDsGu/TFYEyua7
Te8pjk/CumcvAPPQXzufvR7TnY+/6lHPUH/XAB9Nmn4CeTbeqaNVT3GEyFC3K1460KiFPCRBWD7k
KJo06FxjNxDVV1OwhGZxXiVtidi4GGLcr9JO1oD4i5zIEaIiFBbBDYkfOMF1PJR2fp4NUevPzHVd
t2gPH9/0b1tSOADHLOAAQNLYM0f3DPjVAIQjnecc1gC+Ds1cawObwV+0VcA/vRYb39P/sSlxfhNB
xOIA9T5oHs/QuHqfmbnM8WQJbSNhS3x8qd82gUBnlqoLRSQLqs5xQLOCzLexzyqfy1m1LC5GAxmu
XdZsYFpRFV7lwN0eKuxdPr6u9ft64p/m0Tw1Ldu1Kbvev3mhYZlT3QrjGxMny14A74ukh2Pg1zFp
ruUAzM/B3riZfEJUDAGlTdO2bQABwZjs4T5B6x7+I6Y6i8JfFW7KzilB1p6JYnb/jGw9gggyJYDG
JH4++ABKEonl+9sV0Vi3BejZb7GPvLqHNtislusOnSKezzLT2Br2QVdjkYMlRsL+6EpqO5pu3jwT
LIPMjeZnnmWR/vA6k5Xh+HO1gP5gudRprwEY7UCii5iQAf3cRQGMUj1wR6EMToXqeDraHpRjmMJm
4ImA3NEh2uhw7JyBr2HHcwOfV01fllmnEAhgLCFrQWqpZS/MJdEK97bbCHZsE4+Jngm4afHdA6ye
WNRkYbdcs6ED8blMSt64Fp8q7lGjs0tkCsDzf4ZCW6fltvcm3O0W5cjhfmix6LjtUv4GVwQEP1iS
OPYqnpkdT2h/IAEVA0Fep9Qomi/q8xkwPmDNwOOfmeUirteNqc1velaiFRAT9K0Lby+GKVY3akS7
KaGBP2njpo7RIF5RaRRw6b+U3R08ezDNjebau3TQk2m+NH6C8EHoDk1ykbulDyPV6qbyLIbe2Z/2
CO+wlyZEfli6ZEjwyvIHPN6Y7YfY1OLciNYGQYTiWAGzqNyyRq/+7QuIVP20c5Qm6MuNaYbam0SY
JduPalMHzDfjAEod7cWYyHouQBho05O/PqOpG6PdOgkyfPGaLVdBeHfiRbAGvZNoj6apjgnE1KR8
J6z09Kq6WTaycsIHz9AexpGZ7GnJ7BwbICumwiy2jiHJ2uY61EKf9Swbvh6hS2+XKlCcWg5C/Wya
NPTS4rZUogKVlDpUykycRQoOaDUglMmuifBB4Jk5k8kHwse0QrlTkcp859Rwp2R+boppYA0rYPdc
n+YKzsh3fm56GngCjSofT0Ja8NoCYCl17kbt6vCz2SNb5EukQe3hA4JzR4lZDJpr3LG0B6LAtl2c
nz6Vdqj3LwhUl69GW7ZxhtMACQI+pZorl1ehx/OXPxmRkkRjZEkUtzTz7fnLsU/1vbgBvGcPUpDk
FQRegq73xlngmR4GRnbcXlokvs7b4N9BM+o0//Rz0rv8YR04s2Y4p26g17hBXCv90U+j9mlbfKn3
XE4K6B5SNeF8hMSKp7eoTq2H+9ov+d/G8nNeYJkqYgOp40KWgTEC7/nczosOHnFGIpZCNdOvNJ5M
fGiL+DFPQnTkjagR1JYz3Eta7qxCXMm6mw/DZHZpcaEFLvhAeGwt98egpde72kmAb2zqDFyROEx+
Dkt/k5r3OE8nwbABCY2a8Rrl0RjGmmcyQQCtVDs7BRfJBS8cLzlNrcGsl2sxzxPb3+8Y47rboKCP
j6cEjVvv0hNiAMYQ08NuTJhlqZNc4fSUhND70l4/4TLBJtWCAi27wThJOjOHzDO1DXDq9ZR3nTGi
TNVJ7jE0Op5N4/pJJeDsAElDYBGueFTdBfSlXfTjuioAG+aZCcDmLYGYcLNVTpQiHhDVfRUEq/7V
8QD7UxUfQhpcCP+u/Iww6z0vIwhrNOotKu5lh65attBQbuMpjqPzrIp7S16qiUEjmydB05adqMYZ
bz7stPS+NLHOZA+FToL+1Vm1VAs/A5zRt9YlECtCZdfAOfI3tLQsJDMn07D65hK+t03IpbXR85RK
y0XTGPeuYuSzAjDOLFLP4rNzzQRblGFnAuzjNylhGn6m2lDHpcwc9PxPpTojhGQdEZ5qd/JYP0Wv
wbscWEXeBctWHRtqgH06Vyc8fW0K6aOz5h78vFu4cdwEey7t4mLE/RMuOY6GuZac8jDpaXJufTfX
h6xSvTY+nDwImgaHcjsTH0AnG+7VBEAJYUVClHAPdaNKvpJftVWL2ritsxV01LP5ufAbqpG3OoSo
rxcHSXWnwt+U8SdwKdiBo2OcaJAnGnu+70SbJhzLcOui/dncvRkYVhz+83aYR8kdy3Q0WKUK9DMv
dgoTTFvtgq5nBd+2dZGM+mezW9GMxW180okz5o863HfIICyPlsGudLaObIN2BA2G1ivvJ0wz3lzX
D4VEawF9w/rSTgi7my6A+G+s5GLNeH6UY97emcWU378zk/PKesh2XjX09fPvjnJodCbNV+aQ3rL7
b2ZyCE/kTH0gEzMlcUBKAUT8o7FczrGKUp0arHXDM/qDsZwrZ0BOq7o1ZvXlnb1c2rjZpMH79hzi
2PbfXeYCjGTMdhfaC2MiRlCIrniwn0ca6/XuV7+5KGUqxcHnKXnaMY+CwuUqOnAzBIx/u84h5iO1
2KEEPv+R9xy+IVZJO1XiI7mOQ0cY168+dCDE2rTam7Wksbj93Y7ONdxueVQlu3olWu9vU7pcAfet
90jfRMu0MgdZe5vg/8ehjlZc3697eH5ypa2clLn/Bz51FbwOOGWWgDiGDJWjHCO6BKQGiOr6Lfs2
Z3gd1u0YFRUslBG6OsdSXThg7h/GWdS1u6nDsUVMqjLNiBwFVBx2jV0IPr/e4Ziic03E6xmA7lv8
WfWxEhBIeLkbX6ePLQc4r0OMph+hoRCmzjATYw6tcJfO+QjbhS9Wj/7Z0kTajFTEzcDRwxBeW6Cp
UkT2sp+l5DN3vUAoZ1khpaorB5laC3c7v9oa902ReJ9F2eFUtkf5UfMo8XGi11D3jSBMiq4js9fo
0dreuzYEhs+jSe5mwJMYa2JZ6if60AiNMRw5w4tOmJr76i3OAWsj/IgPJUAfYkrRFyZflLzEp9+E
FHKrAyIQP87okTkUqckIVY0FQldIn5x4qE3caRvFkmv3cpHVcjdAleRnKOBMfJg22STMdICPuf8O
/zciSuZCpcRXNrWgBG7KsO6s9iloUaJP9q8G0LbqW+/biDNNtfPsVJbnUQX01ML1tda5VFlLnbLE
oJYBssDQ8ZT1oze6GfwzqrII5qw4D+kbgB8IJ9Y2MFvB8hPDtUh89bPd4+FGzSn1doK5TDQGkEam
7ljAM9B3bzmhti+vIzcNqv2coBX5g9kFC0uYSfUd9JgXsn3+WomlwdFx1dfOQkYqy5hPrJiew4fK
oLz6SNNBIGLJEpM84FYUUyg+50j8ZAjA68fIgWlZj5R/vbr3m3DiGztpafGMEH6SCAuVUTaMsWaj
mGHwZcikQGUUGauoGE9c0tHhfmFWyLeyllo3n9q2H5L4pGayxGeZCujOiKTqrGtiH/VJ73NBv86a
1jBGW6mAYNtkKRGy9RyXMNch+R7MOuoG/3pRMDmTcy+E4NEe5gWCFHAQp9VmqANg4+E+71z9ikBP
0A2vMm34hXBAsOYptXJK46QBt8IULcSe0N43tkSedoMzjj5dUVKOODRR7iJRXTtOTRboOeigaeFY
vR/DPE3JrE1WIP0BCazkD/y9/m2yEmR+xtyXHJdWzH0hpRJLnRoy1Y50Mu/U+m5fX49MAQe5z/ux
4qFCgHVUgWOBM0RfkTiKwFIx58TDhdk+eyEHMUtOkO7c1tV7Ny/toLwoRiuC/BThaGkhP6UKdJw3
OfBznm1vDLDNcXhq+QpmPQCWSjtLp9bBUFHyRTJI2qehxcarADbc14rgMo8uguijpbIShWObfVbg
es7KprWgYjMZYPFAmG2SXlJ48pzROFywTR9t6ifwgDMOv5PtNNnTEFsTixK+Zj5dZA7kGh0yEnzb
BNECEoO3ithHt4PEYIoik+qrjBqHP0XULCg4GsiVPztD3yzXpjGY5tqJ65hyBAlXnKEOvlc7/b23
5A42jcZosf6ALnTRDdhfZ2HtZOkiH1qHTuSjGoD1fdiFEU9NFTR00cOHghYAmR4EYAvksyuALSQh
xIDFaqh5TxpZQxXW9QPbCcWNmA9qw0WHypqY7B1qBoEgXFDxY+sfQFMCspmxwJufX1+9csCODll6
owiwT4DfhRfnRg3I5LMxENznNo3QmfWWlKY/llemO01lw4IsuuIWgaFYSEDC+hUHvhbVFx74JZLX
eUyjPR7bU3/jTXJBJL9HEf/ggy7rWg42w8V+1plQKpQ7L88qPiZwVUusSptSZ6IgkYni6/G1apyy
KOMtbeCFEaRI+HsPvcqR6LxF4ktXga+FRR4u+qYrTOXmaM1bNgPgUP5CxesitcZGp0gC4rYe47Lk
kSbw9Lj1vpw4CbdT3IeIEUDld3GDq2mO8IvLzI7CdVIHLMVjNGJ4ll2S/FRX7RYmA7GDnbFTTbpC
Z3apI0cwdTrRLaxM78qPe1zHLV16RmBYMTNhoCMF9Nb3PSN/0lJQoKO/TaHSdeYQG3ksNga+dTl+
jX3L9/3DJY+7avqSlKc4p7iIfpM4vb/kjPeEj8ut+iawwyPCv24NKJK6V/nxt/v9Uhq8awcQBG2a
58cu5thY18tAd+IbQsc6PkFjcwaSQoI1sevja/3sBv7aq4aOROPVgSTiYtP721SqM6G3aq2yb5NT
9BQyyInZ7EShXPAC67gtLM7CBTGD7KkvXQEWskeiy8/XtbKpu+lC6MkGAhC6w9O9Rua32UeJ+qNO
kaRg/H0O+G7kTx/f/m9L5dDtJrG1QDRb4I31z3+ZMkwtpNEINbInFNcn7oMDSpeFHK6UUB9f6rc9
B5UZqAyY44C+qn/sn0MaleCs7tVPQew7/XwIZ3QLH61F6lcEsYTxj1vueIQC6NdCEsgWXBPztWN8
c9t0jh8xK3jCIFfHKDUldBH7hMh+G9nwRedNGOAyTTIx8+fv+Byb7RXRrhAnH3/342VmaiqE7s4z
JhUWDmrvlxlS7jSMQeR8pSdB3TzH+Fw++wBgiYAfX+l4lW0B8YFBrCm5Gs2xo+Z1RmLoO1ZqfQXz
IbMLVee6NE9SFx4SU3mdNX58wffSawxocNqi7cyQVzDho330/qup1F8IJnP7tUWYkR3UOqEOcwTF
mecatg1wFOQUozlGSyoTMSfjxzdwJJbFHXhs4sDEnBZCPl/9OLK4UZxbtSwBP+CyW26ZZQGMousR
BynCuzptGdpYp8ae6+r4/dYUN4TSLa/Cwwo2PhlfF6cAlc0a0fqfeYsrOPlUC8urmzxmppWPhqqj
wCICi8nww9qiP6kPS5gj1VAB7jN58RGXZIaebpTsaR6Bz53GhPSNFt0Wy8LEVicJo2WIchXOOFym
A1dKsDBaW1LFgAfVxznAQnIbzBT1EV/XLTpNMBp/Nug7UnuiJt46OmlCP/9nxmdbOlkO0yIlkmBt
CyNv7UdpS2fSHqZBN1lKQEynHy//bxtOuuCEPSHx50NF4Xhr91QWsWEu85cqbhxy1qhWugQKFqUz
gLeW9ceX1G/LryFXh1rkmJnR+GABpEYc/Bq0mDnBvESI5UsQwe9wtn0SeNmFQJgvMy7NzuQOIN8H
PUXUZOHHShM2L/TdfHwbx98cDWvXJHJqYgPv3M/x9y+xs/SacuRZxl8y+InFaVK0qnhAWgY1crtT
f/CAPI4gsDSEdOgUeQ46r6442uSeZUZJXHfd16HBnu9RpFJvizStdWb18feyj15pPt2HogG7TzJ5
Q5P9KDuIxsnM83KwH8pOmf4mpH2pol1EG5VKN0lHTocVA++C/5M0bNiXk3CCR4o10aJ3QluXFgwl
j57f1/jpkIdai6sT9SSiQomhm8/PcZWiXb12J0O3AXyF3F18MviebhMDT+a3B8Ny+HIG3m/uIYoM
PSmyhkLHawqCbGpO0J1N5nxXVmbkXny8CEfrzRpgN+mYvKcIhf4+CBYYtwWo2U8PfYF9O6LSFaMK
QMhjRZ/u40tpkZFf97N+pgQvD8AFGpvE0aP9PFY1PVXLDe99t/p5rV7QOs2GRqf6PaGeEPQ6e88B
6bAK5VTqLunbn9qh1x0CY0QL6bNwpe5nUgvWRDq7QHNzPDEybEGX845XFa+QpC6ycT8j9Mm7k5Uh
5XGCxSVlydvgj2mRHiIZeWrz7iy+iWzHbqgg0KKbJ1KuAvWfdFi+tiYGiw4ojvNa0pTx46sFuRwI
/NVGtYluLL+N0Hgj2bspMw/OvRDaIB84W8VIC+TjJfXfPz4txwlqwMS/E3dWXCfNoy3c8A0GH0Lh
cz448jOupEIj+Gxx8DK/dunxx6jOu1OAcD3mvxuQoOWhsLP8ccDzHZltNBEZmkaIgYHRR2oQK++H
kPq1u86nbojXsT9APAjSm6KU5jOagF298lojhnQuI+9qEGF1FptJd8GJFC9U6/GQbYwudT4tzJGH
0xBpDYEYYGC6G7qG2aOxGOBhVQ5Wf90F7bXLqZTt3NxwLuTcDrgkzM2WmXj+GANNOAWtypQgrZVA
aywbGeEpK/8KDkCczSh6J2j2N6aFgmAr723O56c6rixQv60X08KIum6PEUB5P0qnf0wcBxlZlLTc
EilaUX/J+qB7yY26vfPcriMtCvtDOvVYwjGkQDuNedGEYlyQGKveLYZTjMW3asQzB9G8NP3U+55H
1zzss40a2+p+QSp8Q/qpZfPhs61Nz7xx1Wx+w0m2+wpW1X2Ie9Gv4wmccia7ZItEdHL28Y74bUOQ
fml0GpkK86Df0vRedEEFm6p4acqSes7JayjbhYNPyB+i509cwt+nE1uPesq2AWIE6AY5wXFtNeFu
YyM5Hb9YiIzhdGATRVcVdUACGSqXt6VdhLdJFxoQnnIR1BtnqJN8j2Stt5lyBRoKDJt31XptcFri
SvTAMdSRPvS5eiwKznRblUW9spXl3iADWv4oYEifl3QtbwZ7tj8FKeXbyqosswaRDEC2CHi8hiw8
mhoZIyprDOg3tcH8kiKtidJF3+6sSJhP5qQcdPoC5x+lCD9X5Ofqk6ZpA9FjKFNF603CpytfeFem
68AOy2zr5VqezWtN7+HjB/0+mL5eTAJS1CkW+fNxNhguLml1G5QvnikL8FmTeQ/RxO5WRZFdDK7T
U3tHVXHDeBYSx8fXPgLhcXGdBpAGsQGgDNjHKYFlyG5yYZm9uL3eZXHixHsHsPNhWqan0gqQGDeC
adPbEc7nTWt4B0gv0AA/vg2ho9u7LSg1WNMFD4JWBsf40YFiZWHB+CDGwaJf8HPKyxaZMx9i66Zj
SqI2g4t6kywUaF9UXIpbGvjFoaJvdTHUHmh7mH7G1WJF7gH7BBpnwOu/IuhRYieQGRcAhuX57Mz7
EhePe3qg+VVlsDtXHoOxeb2oibELqtLhWtaBvCVtHKodqhU/Zi9NLh1ZJ/uMTvEBdZT6qhAqV5sq
7Ppvcx73D6awsxujhM238iZr3Dm2GpHPRx75fswDVAHixuQLxBO2poOKGAHItEnjteRMvHOF4Z8n
8ex+srTf+oqhAzKhHy+uXrvjtUUEmBzUo5qVtg40v2R9PS1hnrvEozFxxSU6fOkjbPAZ6lJTmpfW
qClUH1/xd09cJFI06hY8Etp5QOPeXxLDrLwtODq/p3XqntI2g50b9rNxRqMy3TGIUER6EbUvtWPm
j0k0qfMkCcwbXDed3R/u5T9sLTJRML1Asmz5W+fIsUdAltOYfUcWDVIXFNr0GziCebdUZfmdrF2+
LF2vzZ+Mb/OQIjgwewPkiz/cxnssMC8aq6BBrrzgfgCP+2hJwOJ0RbfI/HsI6bbfeDgmXntLH+co
02AoYy4YjjZt2e9mLw63dRBOX2K/HepD3C3W/R9u5j9sCc0AMoHG2QDjjjGhiD6NQ4Vu+/dImt5d
41ndrZ0jWCRpHZ5xxPSXfd6o0xpZqZN8cqwLVUrOBJmr6TrBRgnIazkO54nROz/AZjdi5TdJdvfx
XXq/PzmKBIIvtuYSDPUxjLOFV9L5EQ8pglyS03Gpwq8VEozDptGSSg0GNfSmigr/VIW40LxBIEqw
XlGyocMVBGtG1UW8aStPfsaKddBNe4YfpdHFF5mXdIfGcaZLr48jNG5k5K4qpKPHVQenBeeLGnXY
VWshBAttTtR7lGDrXZop4wIK98AvjNI4//kY52kkEUGWtd5FI3kXiiSwYQsG9NQCTgEnM29yaCkD
4mRbvETyRzHQVCCL7O6UPZXIRuUOXnaykOjeTAz61h792msnSEqG5UA8UWmbmAgqL88jVElkfTEi
EoTcVVJ7IKIRRbVOgBUh9296kf0J39rkM/Rh9cNNbMgo3ZBCR/z46Wje2lFYganuwFW3wUxTVB5t
6KHATCNo3P47Xe8meuB0E6iP2Zhk9p05XNreAMlo7BasgP1WVD/iBVvU1RLa9bh3ZNU9ChSgz83/
x96ZbEeKZdv2X16fGBSHqvE6GGbITIWpdnd1GJLLRV3Dofj6O1FkREpyv64b2c5OjMhChoHB4ey9
15rLHrM7vSWTh/i8LNy1aZvzMESpvSHGEGPO67f+r8/idq5//P//9/hcJKWfdBQp3/u3rgmcfawB
/7vPYkOKY/v4XP38N385LVRY8tAm4UUw+FsJ9H85LRCXumDmLYHuGzkXKHruhL+4k9of6yuAhht3
CD2XFUn5L8+hYf3BdhM3IlrQVyHwP+JOvu5R//2SM1X6aJAhXNemV4ba/ePyqhYx7B1KklMCWhoE
rBqC+Hn42kpXlO0hVZHtN14GIz9OA5Yy3OtnhpsXJGSjvTft3jOrWdTRYY0KyozzUkFeTvQgsUOR
mlIbYNvtgiFL+ykE35aYSXKGjlViIFz4byk3woYVXLAbkGOzRF404NqKz6j+CXshC9WxFQS2yrhR
EMqVxYGXpkF2rTGuOi7cwlL9ppctvbTKQjs836TNsjaKHMEyA/FoGmL3mCRwskk7Yr2Dg6zg6BsA
Gnr5wHxm9uwZHzfSjwrz0n+fmv+TXZcu2bob/98fmx1PTfL83p/059/8hW1R/+AjcF4g0GeMbL95
bBwbJisG3fUp4BHCRff3Y2Pw2Kiau+JTVTo6iO7/fmx08QfYV96pr7tkHf70P3EovV/DeU4sHhYK
WZ5A/pVH9f0+be2bLU5dDSc6aas92Ha3INSGyMwzMRgu5CyzLc8YlrPouLQn/DfX6vLPp/MtW/l9
O9I0VYYqLCSre4GW6E/TDnIMF2Lppz4YB10S2VZYWy3Rc3+2k+LkPzgUoxxoODin6X2+P9HWYIaq
sXMP0IImQa6DNIMeWW8ZyDX/wVlxKV2GR8RZM2J7f6hFmzLYX6IP8mlKggnNhw//K9v0kz180jR6
Py768wLyBsZbxjQPy8uHs5pkP2QIUvvATUC2ylm/IizPemEI7kdIPje04ZR1cck2NWlun5SO3INv
3v9/HRzDy3oXg1j7cJ79FKPmrPuerBhhrWwJRu6aaM7+6Q+H2JktBkNYi1riY2HYIVTuZBMOQesK
tjritTdhTo0tt2ldlMUnJ/W+kbyelMkAli2nwcgXH/160m9qJbORuhFr/RCAl0cfmrU/bEN/cSi/
PS0vTlHm/mttJYYm+lH94iH4+TKugz5emxj6aV6/boLfHBF7VoqKqhqCFPEPQl2XOavqVtvfX8b3
G/4/z4tWBi89dPSwjNZH8c1RBPhSsteyITDQEePBVc5gex/Z6JI7okLD+/3RfnUV3x7tw63BEIKc
ejMfgPaMGo1owKYSwGCNhxjlvIteI8uefn9I/X199ecZsgmwTDTqNMI/LmUzRDNnHHnstNgSR1GJ
/B79CmVdtTgnQxVl/tBc23J2Nk0uumeLOcGhNo2TIWorQt9ducVlPXrtaNffpwnd22yBDNBp+d4s
LVFujAA2WtYsnyxMH7w7r997nbFSnK7jnp/uOKcj76LqeYySEfO5J1ZUB8k4ptwqCjm4Sac1mxpH
g29w9bZ6PokHlQxE8ghImbX7xUCyHQFQRPL7ybNg/uLWRIrATJonHD/kx8ZB6oIyXsy8D1Y5jR4i
t0hQeaOOtXqGlVF3NyUGktPRIqqdIUN5mMq0pWdf0DkuULl4kjTeTHSkxxIQ5xlaHfohmgoPlct8
Gg16S5WwKPuFKaXfyL73mevXIFBa934YE+W+J8EZ20DSbFqh2DtaZ3QVmS5uh2o69FmLhlOBYdyH
putNuXkai+xuGB1yBMRMn56h6q41BjIWlf5YufZy0iRwBmZBfAQu2/AMIKX6RWkbGaRlpmxCc37J
ZuO6J4KMuMUoO+lpox/55HL3+7v15wfE4ZdfS6LVL/mTtGTqImC54/qjgzBWMjp8iaPutWS6HZaw
3g5Dof3jR5IjMkoB9Wba63rzfgFw20lC1Mz6oA3DvUbEWK5F391SnLVGKTZExH39/Rn+/G5fu3M4
WagNXbY+H8YZOK4kU+mhD5C90vqFSraPiNBk1N3O/u8P9fNtCkRYt3TGmszU6S2/P7VoMOnaYKsL
XEeap5XSaPsKKOYnF/CXR8HSzTZl9bl+VAMVVBdFP3IBFVrAIDRsVzkZmsi5/P3JfGidresBZ+No
yIEQx6NV+PBDZYmyaBbFfTBNWuVXWpfurKmIaBhBqgZJb7Ol4MZHSxEdWudLq0dBJbLks2XJ4KK9
qadevwZbmHX8YDIk/zgTaBqwLIm0u0BMub0dGzffhWPa78TYJ87GEIvYayWx8K1a/cir0b7O+nQM
6MnL82JZAC9l1WdzCv2X38m2V28xplc0Mh9+aIH6MIyNLiC9stzTkN266kAaetk3F2FXM4+xh/pb
bvIo5zjTjsMaBUgnRSd/sax8u8x/5NokLzJn8pdlfBhSwvWapK9v5hJebd0n5glN6PFQzvmFovaf
bS5+fQKvUEG29Dz/6zvszVs41BAzz5C0AhHP1xFwsR1qvuguZhXb1I2dwqfV1E2B0J83VlscGGo+
wgC/7VrL3Q91GGKya+U2Viv3qkJWzfh1+bGYYXkwHIJ7xjqaCddKFd4Vfb5rE7JeP7k737fk/rw7
KVjAIv55Bh/uTtjZfOFq7oJZSaNDuLjloTcnml9rNkLSssgPVM1pqu6Nirinribw9/dfwfjlXcCQ
gJYD0wLG/u8vooO2F63+0AWpEvdEfQPQe2JbdWmLjlrYVZ+rXE5fbF2LvyO67AcZbdJKj/2MTFJP
Rt1OV8FwISG2CVHXRig7+oBmnAMGk0n2GI5I7cdcahpLpX1jEwllIlf3LcX9Qn51ewIRRD1TTHSd
S1U92lK9sWYOFAlt2NSj25mfXPOft25rOocGKgmYE2aaD5ccT7NNZjcLQpPmX8owsGWa+8qiwj3D
LfXJPvEXyzb9YArDVyM7DeL3F7fLiTVvWXSCOipf3MQJeWsT/SWm5TPj+vpJHxaY1ZLNkECItfH+
4WGGQTmQM2xyJ7XRbYZl/0uaL2tnAxUTwucshw9tKRDCLe2z8cQv3r4WUSeI+4B7qmy8358kACDg
NqlKP8eev4W9A4q8uVZF+JLb/RMlr+X//pZ93Xv+dK5M+FB3UnDj1H9/QFcq3ZTgxQwow8vrwWDf
M4eGP5cxrA65/FBDUjOTfPKjuWZzg3VvI7uo9VV2K7//Kr+8mejV8Wahw6R+fC0nQy/NWPL8jk7V
+3h9CP2IYYooSRVhRvkMxPCLl6alsnNEQEnt/ZPuycJ4v9KL+JHnlmS3Wgs3y+DEn9SIv7y+CFoF
dxKXF7HR++ubdlpUaaLuAmrkljSEiRj3ksRXK3SU/YgebRNJotUVtMLbMYwKAjC0fDtJ5XQhevqT
5/XnohyNF1UhRTnKlZ/EfeMMEjLuMr6MJD4rjuxo17UL+RJosyO0tZu6K8ogtvsVVj2onzzAH3gQ
rys06yKjYpqqFqKgD/caTMlQN0q1DXCHxU+QX2CAjm3UHzsgUIU3WpWFSnDgA0APkhPoSavJTZ8m
JxTKokHUTrTfPJ7L2CAlTMe8qG3MyOyef38j/mKhcVzIw9SjJAUx3nn/k8WKgzQLQVoAMITgHrHI
LZxE+Il4uD+5JL84FINIYTPJow33k4w3SbWublq7CfolLF4ELuSrheSXltRE9T84rVXXucoLeZZ/
WtVqohH72hFNQNxCe+WamkWyjh2e4u6ii/h3o/EXfYNfLGIcibYIW0Rmix87FTpkmbQaOBIpL5Ef
9mV9AyELBKnaYRudCuEhzZo/WT5+eSmpr6FQWxqCsw+/Go6Qssf53AQAwAjQBKiKULfQ/VZFrvD7
82OuwC3wYdVcdYr09Onqk0/54U52MtK1I0wfgSVwE+2AP/TtJonFuPgmNFAGgm2n+yhEQMo2hhyV
HZXjMG2XyTaKq8IxebgSgx7jniCn/J4wI6zYbZk5mOTy3CLoPmzixwo383kGEbcjYjNf2Z8leUbQ
IegRQRoE94ZBxxy13WioBkgM/CwBeGZ7wS7Wxkhfsli7tQZ90Qi3mhBtpVoxWVvDrWOd8CJQxj+s
lGZJ5NVUMPEpeGEj9Aldb+O7Lq+0eZ8jszCDONEKsVXUWjsUyzQR4TBksrswC4LtzkU/EKxjdVpe
7vjPyrgrxrbLiB4Vblb6ZSZFdO7YpWn7g4l8A+9gk99IhbTUQ1sq1YnWIpvzyLzSW8+Nk/uiI6bb
mwZ4GXs7wsJCtE1VZTucSnO0Be1WtmeppJxMML3VYx503ejCRpbmPPmVnEP1tFDwRdJ3KGrdrwtz
3VwlRBA/2l1IvwRZ8LRZkAe2N0RoKHYA6imdL8fQljdlItoeLxGRQddqRQbXFk5tNDDBjKdd40xu
QupNhCKLgcyybLoudYOSfN1qm4erNElVdOhxTWc6d0Soo+XMi8rYdCImrSqta5OUyOGKPu+O8JH6
S1jr+ddccdTrvrRGMqfS6URZ8cRG4x4HdAAkK+wmQk+vQ9hLUsQgDhf42brIRj9zs2IXDfJg4Jre
6HX3mGaW8MxBJ94pBZFfGMazMJRxK8uZ2EPR2oHVjerWFYkVCHepiIEFTof7ODrtRD092X0z+oIc
IVwS8nFpmFhLY0KOPc2emeT3KikBlmI1l6ZbtFsNwC2JVOOyGdREO3WKPD43Rn4PqgVYukl4Py2G
GYB9uUpQ23rxPIX70BXEoqXZwKaiszc5bwm/6+zlCtDivukF6nqgJvwjO2Z0l5het4dsmnR/UbNm
O2FI8tI4lJvMzorT0YhXpodzGTriulDiCTWWE+/wmS+bWekHP0TCFeD6UK/DKK8fcO6rZ2VsE8Db
N+jD1L59sZQG7ixUP9+hYR3YVWXucT3hA4NYuTfURN93pNxsaVIcdG3akYWuEQMyfy3UoQGfEp7Y
prhJhvmrOYUllg+XRt0Qfi3gC0M2ywpnLwe73EmlCX2E8LcM+sJDB2HAtyICjdRUKPwODdCP1F38
mLrhOmkVedlErXPdDRPvRaM76+fQ9vJpAZiulD+6ZiR+xeiTE5QbxUlZOPJFdD080ASeMKmgMumX
GWtiUy4GpbmutlG4rRK3xy7qIKHUuXm+FJhoJ99uqCN4mbJIwMgev5F0ll00KG9oj5C962TaHqD7
vFWqHmertjin/Eu1nXggtvj+VgK58yePHGCz3TXerIcCVvmCs+wbouMd6G1Q5orOdw7slXWO/Yxk
NiPL9cEvnNaWHvE0tnOmKBYqtgwKAaqEWZrKgfas2tGkbZKTtuVKeZgNCXxzCnkL6Gy61BHV3oZF
mSX7MSVPxHSTBtWQ7uzwT4/E5TQ042KIFE+WGrKfpL9bb+1FzU9rXrLfwShEFomqEbFjo5kYZ9PU
WTdCZuGLS3MfZH0JS5+EK6KWl9mZ7pgzFS9t3ZI/PRed9lBONvTzoYbDSI7gN0Dco9/F3Rz07Fhu
nVmk32TH58xKPm2rXm8OS0U9neBn2+uC8BK6cIxB0i5edr0cuBNiw22+xpHTfG9qqKe49ZuvdqMn
JykD2HyPQS/bJbPafWGWOlMfVuPoW6FZQEhZOh6OXFdMUs+ILo4sy9ykbLj2uK4z36aFvKUqJbQq
o24qToqaMA+vTyJ5D44hWraOmWiO50ZrqGelCoKEC0aD+xqAyHoPKuMhctMYKAKo0cpuB33XcTmV
eyJROUUbDEl8ikWcr0r4173Up2E8j8IwOiZOg64WzMh5RWz2mYgFnwqROxBqYt3IXjcBrIKwOVh1
HB/TsasfaN3pWxpn5jFqeVS3ZUUE04IyewcASBQBkqboSCaUtGHOxuaRh6jhoeLXpQnfHDIG50dU
o/VTCyrsSiytdtslXO8EZ0iACm8OnJiLCqV9PlW4Na9qs62fzLXCBOW01MDNcViRzmsmJ+ZU8LHK
MF1qrWgONQyqs0V29VM/1+1XxHP6drHt5jvKzHYlFsZc1qYswkNENyIY3L57dsfOPAqs1nCgKjc6
Tgzpa/a7RTE/Lyi4YW3X+ohf3TNGLZzP4ALrtY8aLNooJMg3HsEGackKNUBdaSpVu621Gc6+WYV3
tRVDNjeH6sGKCBvvCSGLiQBaQs1DtE2I1kBocdQ7DTkKauhHyiBP24KTR/Q93TlKyroYhcmJUfPX
tapEx8GF5Y4iwGQHXqoOEwujyfctOsjQ612aOH6SEcgdFz3/B0KQHS+KRnSH6VJXg7fwnNPGKknm
mWlaA5rsnhEwmZswnPO91vbrXT7E9cDMRTdvEsTc96LqB3uDH4igblPNrp2+rR8NJFM3Ck7m3MNV
Gx9nqyg1DMVl+zVvlunSsbrhXoWAf52sP7fehs6ZSTr1dSMkB8qUeQdTUdXRSVfxUeAtvHVSlG1q
pMwv6lIlgTIJEydt64TXepGKfaPGhGkbI59YLdk1W/bpDk1597yMUiiHBZ1FvEW2Nb/YgN/LTTjE
YDTot5BkU4JpKTeWUpGnQBRCoWwSxQqv8cpxd9dD18z7QkoMA/HAnbQoTcvSawnuNNas+AjkvIJb
qy3VpWKkNHElPAhaqZ0Ty71lkFW6cbv+BSQxNZNUkag3xdi8KFWq3YuoHn05dtoPS6ZQKnj0Gqi+
+fJS6WndbiDEQ+hvU3P4oTvDgnBd2tz7dc1lsXiTd4E6khrmrdac2wWx3bXbq6xmtkXyQO00V5Au
aPw3en3Ry7n+NqVhc6X1TnQk1i4Jeth16H4cY8865mLERt63LyE1fWkw5apXreJ0rPFVhhEQmhMX
D1nmOTVxuKshfrKIoY2kb9obAwNhw3lYOqe/CAswtzInD08AI9g3vDbPjFZksPLtKLlExb1CHUR3
19bkdqK8e+lRwO7qrq5rP5S18WTC6dyJOl82tZhBlBkTQZfSsAKN6+Ux0QRxgFgJO7JRzNcQC6ZL
NiGjR9pheK/nkdjkSnWDpuVc2mvOsaom1DJt64+Dm1409H/UIZaHtKhbDptZR3UstIvYhv1vwdYm
sj1RzqH31EdUyeGNFerV3p2SIWLRJSBPw8nuNQSu7M2kP8h5zqFxDPJcjcb2rIzskuD3cvbY6rMF
XLV/tFAfXaAce9Ay03VWSeMZLNShSVSNJc3hH0bXbEtLgwzVi9NpSsUX9tsqkO6penLHdc5U9buY
zvK+IeSQaVnMhlRi4vviYLe+Vst43NlTfWJVeeO7o5KA/2mqE2dcHun/Fd+yAmAG7xwuErEqEQs9
Fc7GnmcRwwrPun2mqIYnQ0U9ZoUgyHwYGHxpa1LAPI6XAsJRYKRpdzM0isVS50bXQ8dBBjO0LweV
fD0a0zPZY6F4dLGh3Vtdn58kiX1PuFoR0C6N2QeylfOKZCZ4Jhnj8wQaGaJGfQ+6W3uK1XDcSUeB
zkLsuQ8yyPBHycPY4cX3xoxWYTTP1imbC/ElFWZQmlO143FiAa5SqtPIasjyIpDtRYJs+TLVeOfd
AnaoHxXitiYpF36YK3Yg1MzTIuzye8207atZ8iuZspvI3GJf6LV9G22jaap/LIyadHgchNQ0KbcB
NM4o8XC0k2hZ1zMRgEUKJos8PpIWYsJ1ex03vsWGnkybx3SeskM0lid91uTELgjlrJrT6WpRUVJC
Dt/xKO4SYyFBjxkbGzJ7uCiEGd7h4GebISQcIlslvtbpk2tHbRc/KwzntJsTVi+sRLEJ1RbQunmE
M1NVm3h0SVIFZL2f50oSKqTw2ikcJeOBI3Wnjqb0mKdGXHlNuuQ8d/hUU3AFKY8RMzR5Dssw/bp6
tgOIr2t0zwTNhuQyWhpDouBXCI3mbKaZTVVnS/SfZG1kBOUm6jXs20Ob2tNJSBaadLpsxQpUp105
2qz6FdEjDHg8+Ao90jVS6ICxn2iT4n51mZlS5zy2EO82RWwumwbh/QYGS+x4Uvba12kW7R4I0ZO2
WD9AATYP7Fjzh7wrKhatTrmzc1PZwY6ItrhMi6vZYseSkzvE0Nvtl000wVtkOzSdQDOVyUExqlH4
0lY7+8SGBMY7RljVURmxiHjlbFdH2jeEe+hOSkDSkOcsQjiG0oeiSMsrvXGKKyuhjwxdiwUUS1z/
nHc6OUhdGj83IUTmja7wgQ0qgIMJ+uhmFrozfm3Z8fC7JRQ5RWzlvCUUy9jntcMbxZ3qb7wt6Z0t
uaaT7UJDcl+FiX7L/pjKNCticYgyYjULEh6eO5AjFKYzWUeZWGX23dKHD8DmNIJ/Wt70lZiny66Z
wgc9aynCRZgoUOUhTT4TcoJoXkdUaG+XzCxvcgiU/EhAIKudHfU4FIQ70tFAZsjtEYMLQyVc5tVN
TIqMyR4TtTT2Iv7Grae8BSDkZqYvSuhoXmnMfebLjm+5TaEUOWAwsQhQxJBw6KWJKLvTZDEJTibY
RGrEGQG1j3ZsXvnkRYHGsBegwQh1Fe6sBMq8bgGIweaUKKbcszRWUURbbcGmFeQSv5Ky8Krb5NMQ
PshWYu+J8MBOXhiZxJAMA0cdGmPW/BGD0sOfF9OUSoSRgvFksiERBWWarS1T5VFPVIHhmqA0GuBI
G3pBXHosLuWNiX6sDPIEifWqLEgoMLMpO4E0vLhHvTEnUEHmguMMLP+NOaKo4Cdk3kqoE2nOPMcm
/ZC2VrP0tEPFIAPiY+343JW9fJFky/Io6RBHzi1Fi2+zWepBOZTll0Jz7avMdhvSGQiEvR3xvc4n
E2348CgGTvpEl7DlabULvnVShvx4hOuWCvO/ygTPp2LF9ej9o2GnL8NVlApmZBYJvXtOqF4I2h3Z
Ec+d7H4kaZfmgTsAC2DjWyRpAFxRnzY5bHD2u/ycy0lJ/+8wAnhSCSzo2dGZsajTPSFmNFFaZitk
ljaJieuqhCfL34JxmzYFVhEo4zgJi42+QPA6xtJQN826hcztUsdmgzbwTktVfdvklXpgJg05EzfX
VRE50xlapuR+WeLxbtShkL/2A/+r3P5EuY3tYbWf/d0a9h/7x38Fw1w8Fmi+T5GyDt+z+a10+19/
9JcIVQOSTzFnusg/XjXYfyUHun8gMkCCgoSfUQUgqH9LUN0/8IQh61dVw7JWgerfElSU2xi1XJ4w
BGtMJPmrf5AW81EAhQR0NeY4JsYYZOI/OdAMnLUYw8PoQHJwH8N40uwrOErLzgBCESQILQ5SfUqV
cdrXjRBk0ZINe00GfH+CY0IGRkOLWO0TYERvLuMvOuwM6N53oPlqnBzachV1Cdq8jziOqTNnMkUd
a2/TSKyOrpupR2ex0BykSmiCSRyqm0QTitgm4AL7yHA9pZa4IIhgCZ9J0tKuOhQWTbuFHlvYX5Ya
JN0cN4T/irjTvhV0ouio5LKm8Catjfchex71CIzN6RRfWGAbTsYsXHwAqmUf+xrNxIwGrCC/5C6m
aXpCvh/0hI1r5s21w1YJ1g8AhgIPeukenHbQtpU+p9upxV3kUDYPW3d0jEvWvOHOrdgfjW1TEEGe
sxn3BpwcTwXhw9ciZFdLM7StU1rulUoqLsY0bcdwKc4PvVHltEgon9bIFINos6bzM/LydkjY76cw
UoI2WdpDE6VaMAxG9z1R4/boMjDwQTmdMq471JXV3dol3GTNnebA7ob+lBBdeZgUqZDKvDQt0/zU
umiY2LBXj3cKjQU6nATDXiuCaHkj7dZY3qry16RhksohPnsquqpzBWbYFbp8d9rYQD22YyKns8he
bmiy5ceWVHvyxF0iQGCKatEOSp54arsi5U0Zd95E1UK/lbakda06WX0tk9LgLeMUl6ZcCPfZGGxa
zo0y7wgGWuNZJ01JjsvSbInu0XdoZYgwUolzXSFJ+2mNeM3XsNf6NfdVa61h0+Eu2C5rLOxkIPiy
IVZ6xkJo7KQSHyvWIFltjZTlqjfk22ftDoaEeog0gyw9oCaHWFvzaMM1mrbute62WuNqm3FNrs0G
pb4hsWC5MNZgW2ONuCVawdqJNfa2IDPba9coXNp/7VZP1nxcrrvY0VQgNbfOCNDN1ihdQycZvOdO
I4mOoF3VJnLXZWE/Ncdu2OaCQF7RxPm2V5bS08fE4IQI7o3XCN/hNcy3Tcj1xQlIxu8INQin5Rr9
C8dAbJQpV4BXu+T5MiR51CMckcVrYnAThee4z4XvTFN7IiC+jRugZda37jVwOLRjba9LK2199GRz
jHvTptUkK53IPNvsiE7Xm8LWN6bLO8pTDXcmXiaPVpBiqNyaU7fuc0CDUie2GoZEszKJlVHzvbQX
hFWFlsdnEU0qJjUjVw/p7LIRMt2muOh3+aybdO6dUHwHPDtCHs/H9naBMHq2FjRcvqUB7GGm4c6o
iNzRnWR9uugvEZiXi1AG0sqN3Nfp8VzZvPfNwM4qa0+RfOfG4/JkI4jfhmMn9uBYKtjdhLz5taZU
F6yE4zcCA52WSsOaVfIyFmLus6TN3A3lyzh7RFfYDyVjjME36X2kXoXOTF7AtxT7SQMz6hVI9kik
lBCDzmZyiHXPnaXcV2yp2OuxiDAbD538SJ1isfNNIv2IeX+8slpJ2jdjUzl5c9nlR+rMOqAJzARs
BCOj7NpOo89CWBJQNpaD0yJ2c0z9YV7cM5xsrqkSezrauW6ch83YnBGBUnW+bTQqvcu0urVBkuS+
NiTCVyv+d4t7FHmZNscHgtfb81GP48tExy1WF1p565i9tonYWftFPSLRgSTnemaXZd/TiAg9LxFA
13HftdZlB3FD+VozCRw3E6GN17oxOskWXiGWv4hGc7sTauH+AJRN/67Qxm+RE+cbOWvyWutlczJV
tb8olsKoYajiE1VPiRbvCS46jV1JLOgo2xumbkvqhZoVX5GNpn+pZJFc2/NUaCdd20WXDHDrmoZT
n0G4tOPugUx66HMCp7cZtOs4KmTb/hg3bsNuDZXaeU8HvvIibTRJzDAcCpmM4MajMvVK5lMGc7ic
MoD+0+xeuwpthca2ugd0ShyCiKzlDBSjAXbUYEub6dMWGFezZW2Y9imKoq9sbzX+wU3HOs9DTq4h
keQqJQQohhhOqFroJaHajX2G196NMBjpbIBVBMkHFzxQuJd9M5z2sBNef7YTxYlPQYUCTRgMTlJq
9raLre+poY7+6AggKc1k3CdaX+/T2rYvQUlpHLX4rjedy41oZsZxUuozym2WHDM/i2Yn/D51dHSo
Fz3q5IkwzULxHZVWWV2L9GIGuR6ICvCDtyyTfix50AWyLme8YESnbnR90H16iTolMP9AZKs8wBpq
rlo6VaeQp0S+di3Kb8y65Xdp5N1phvbTb4kJD9Z9yVOuZNV37lLS0AW+FJaO1JbOdkY0c9ZVEh8o
r9P21HCaqfMgd9nGRsPmKxhpwmPyx6LF0Tyvw0t/Wgb13kr7vtw2VpM9CeI5su3sluSYRQK4pp92
ygz0K++LCTCFPYLvBrIc1FlCts8g1fYbzdHsHvMdP1f8SNKyPCrMIa5n1brJoIYGBIWD9DMYQy7k
S8bGeZeMGBmY5uvHMGMiwharepirsN/1FF1+1av8XqGa0uqhJ1o+GGZT8JmJfNZxDGxVKxTrS7Qt
zp2m0846ljOeom6mXifCjzQ15JWk8eK64wYBZ/RIKfStUzSLbFGNMBHKlvqQOqFCTN3oKMIzmFDG
myGHTs24qymuRwhjF1WazleoDpKbKZeqgdoVRZjXMmnZDV13Hblrf8J0zPPYrGJ/qnjEzhJcACak
4a7rNpj1ccKZhYi2bo5BGN65/X1Mp+bJcZta0rtU3AMKwXHdYJp6uy3SCm6hRuwdkv922Ttkn1Se
izDmrC/URXgQLgbdm5TFBtmapvKsISuX+op1JN20tCLMDduT9gsY2lm5klRtIhh46V/x1IKiQaMv
QijKuXWQ0G3DjaBP25xkANgnfxrDOOTVSuOU1DvDuUHrK4hcsxXCfVNaZ06bsdDGrgFWubLy9LyN
52zCHWIXF2npTPet7jbXmjHaD03opEFlMcLxMhKMv1NzKgenshsSobt2Ils0KmgYxhoMMVTL8RAk
Ra1dwuOOi4NTJ+4xGuz6xS1VkVBDRuoelWOukrQoFY+5mqX6E8luRn9qObNeWf8t6/5P1kIT39+b
cuSnqm7zmCcvVVsm78yFf/7VX5ZcTfyhwdaiP8MIk5ufD/wrBRSboFghQlhtkOtQp/1d2Al8vAx6
V+4dyvzV7PTvwk7/w4ROgGoNmZQBHu0fRcJ/VLKrq+uXbC8MvihjQK6tYqI3amesKVXdMIi5KEfD
3Uruedw/Bu8ehAWjvCKcej6kk1xXGTXrv/WVkHe4RdiDdm7ZfHlz9X5RzGkf9FLrt4F9hlQK2SOF
nfVBew21ZB2eDhjTm1K7iJB40KuyKwu4iuwrhB+jGL7ZsqbX0hYOJv4mbWk0hktni43j2uWz2/f0
3EHTDL6e59odQgMGAoRZhT+I+EG28Ptv/GqveaN/ev3GFk00JLImStyPWk2xghYsokYvDNAoGABo
yNxJKnPCJey5YkI1TxpjQptk4mUFN3hzphpBIVvaaC1+iOeYpVFjRFazteuTisW6iOH72K2Z0TiH
ZnYJN+lQdG7MRkxV3fsubk6zfKTHTevIOsftI4vg92f1889gC/hf/BA0FX72FLFWRqNS590FCbHu
fRUhmSWJRefWqEtmdvC13Zs61PKvvz/sB+Eayj9Uho5tgG5hx4/29f29aKpThD40Ki9KZ9EutCwe
LkpE2wic4/vfH+mDrvn1SK5KsxRgKO+61fD79q5nXDZTusbVhYPn8rEZEQAEaIzZfVBYbdVmoE1t
qDNYiZRkguKzm+aDQJ/Dc6MgCcTVa+HT/3h42zaSOCqL5MJuMvOxSAfzMcPEnAfmUnRbq62qdY+X
xsGYN6PuNVll/+hzt9uP7izOJssgMMqAhZOtrf3izmhrnSx1Z55/1Ar6HVVZCpvSCu3bCaCAZfhE
9fdRvrp+f3tdNrA464JndW3JvFk0VGswS9MMlXNtCItHole6yNOUrC/XncNcRoeRmIanyHHrs2lp
YmIixJRsUCPaLz2569VmRnG7QdYmfyStYT/TuIntT+hQ0AX5Fm8fTcwPsFyIlluJWSvm8P23tFon
+R/2zmw5biPruq/yvwAcyMR8W6i5yOJMkbxB0BowT4kZT/8taOiWKLcU+q8djrbdIZNVhQIyT56z
99q6ilrjMjHrKvDcNarIGZvcaJDqS5K7r8Zav+mhlHSrKIocX4lih1an2mVmJf2Uc9ZtlQF6B6ky
hO+GhBnJ1MDOq6y6eqCpDcMQHBDiogSZV9waCcK1pCnOQ4Vts9ZmYxOSK5/QVicWnVo7yveW3Wa3
Mgmvw2mpKLPOqc8oHO9bMs4pqHoUiCJGt7kGtjEjER3c5AKEsvsc6J15jGxXXMwhKUT+oEdmDjBi
ig8aQRjoUibAn5xDtPWcjO9B/7V3na45lL556xAwXncHM5Dyvo7EkO4CRxPxksQT/O0ZuupX1D3a
S5c7nGOrRh7ITKoOgibJh7ivEPlVRp7ekVo3Oqu+NjE1BQoxD9dhtzQor+ohHwn5UfVWiFH0m4yO
Zuj3xDvXDOFB5eTou9dd5V1FgRbqa0Go5J6tRg601ZOF0+hkT2OuRycJqJ1zWmvRNmc+u23sHHuN
XapNo48k2fSpG261cdRfiUsbPjUhUkLgYq3erYpQ9uF2bMnTRX03bKaw79ytKoNonTHZ3hf8pys2
IIVPpM978DhNkpD1ElC2QrhD3me2WeCDYS3ynbLTTYgCUL8ZGFow1Vc6bTTupHZrtBhIMHg54wXW
S4Z/N91Qg5FHc0ZYkPrAqUPK+bkZtNHJGWQqlvLyvSR6pjUY/rVdV+nnNm3zdDwieZh3vUe80iFX
MUOfRDIc0h0NDcFkMJjp+A7QhNZEJfJ15QhdISuyH7ZZOtQbm36e7itITcEVBCuq4306OUO0JhrN
awHftAZ31BBgFhl8BA/a1taiJLiiEjZsKORuhSBNGGmTb4uM+GcYOGxeAar72GYKi23QWiEjxXwI
d4vZTuR1A22izMnyTUOMVbq1ijCffZeTIGcZmZrL3JF8iVXfTGHDqV7LiWwIY/cTE30n1mkbSPrF
ptu5Z0sLwuBYGE5LEoJfwCWfp32DU0FFmwrMWL4Jmn6ut55qing7ZXY+7fWmySvfIsMm9p3RmjJ6
mHXMORh34zuYY2j3DMNO8zX/0zUmtDrVekfa8bskz738YCivzcjcbu3buWsNTt5EsohTNEQNchUn
klG7CwA6FXdsxsYxCWeZgq3mHaBaoz+1cQVNySW8oBouc5cTJuejolLrQBAmoAzLytZhYIQdRrae
rzN2mmUQirRp/gjN27PXLm8gXxtTjn5BEO60D2MntX2ZEsOwjssYbWQXMMDTBlV51wl+PtPHXJvM
qxzKpXbSg8zcYtINLd6u51Qbmi9zeUCZPKCJ9cxoQE40ayuBbqDg9gmNRTyKYXEFp1oDp4zwRFsR
quLKs0BCi5DSRdNj3E/ZILszrkYkIkRMt5eAS9iSwsZJ+QEPDa2xDYhVLZ5nFM7REdVdNm6bwZrj
kyAn7d5kBPWK9pPJmCu4ebew6x1jQ5JnzJvvwOOvM0IOGh9IPHh7IuuyYaCySMKkv2sse/i7UpGx
750BiSY91UWw5Ab8Hisrk5GudQ+9f6zoZDeQpO5Fq/FfDDbwdb8VkzNuGEkn6CNHKYdD4YTE6qJp
9h4LvV5uziRhFudkqBKvmYK3rq/XA99NNBS8sZJob3FiB/MeDVfn7qbDlKq1S9u7PLSNF8jrRHVp
eitdVH7kqCdDd9miQaT4RM57jZ3RRtg45Lx0Wc5zvwLY2M5M/Zzlwy9vfWB94n3RGDsjtuJToEbk
Ui1haIRBpj2PTpWRJQAewlkEBUhGXkP+jDVVtkV0VUPJXOIOKpyFhwj4c3eJ0rdqVjE6i3E7gu42
NiStM/Hm/ze1zydiARk9sdTJwB0fkUAybujj2KVxYaXcF0RlvQ7w9sjGUSS3G+2oN6eQMjc5lVWR
Jncuu8WuKXRxrr2wfsasZNckckWxPJZu6HWnICrDfo3Uvsbj6UzGrkLemvq6U09ExqfW9dg1ermv
9alP36HzC5t9zgj60zQD9tksTOpozTnANTYxcNVmW9m5907Da4V4vgo51Zssc5MaIpRobXPy8jSx
1vQGZMiyh5V61UfSe1SJ1oebTBY8JjO5EN7BLEpRf8xZkKejK7ilNsOyYjNI17iiY4+VhU1mqE9C
dZLEDS9re3Za+vCU3nXyojxQbxqJdeI4e60SH9oG7TiNZ+H0h3iQ/CrahhFd5yG0w0XFCWFVw6IN
sQ6lxeU4Odld0qMCdp1mDxixt/bzYPPlpDq9p12FLqW8LOzRvNBauB+bCKVkfwrJ/SEd0Wry6J5K
pPmAFohlhKWz6ekmNUMDG693a3aBqb7LwlrET6KcDbdfzVRg00NFopLHL0Pfv4kcLQ2PWlANfwNI
0no/cxo7PcDwEzdjowXzTnWMIIh/77hJYU4nxvWYZrN1zm3MFyt6MrpN7k5Ed4kG5cCMJqr41ga3
QKukZgReK7dpQH+OBoF7fSZdtZtdGEsABcbQWU8BAl0/qBq7fjfQarpPPgsq2Om8R+71vLkuvEKw
wMrKS7YuSo4Bu8Mz2rzBpeuY9s6DJQuk+APcZPMSphKpsHUAyJbNnTt6AyKRb5ODwzRexEablheO
qiLjWoKatg/BWHp8Lnwa4WWqNLSBcItZM6jGuvYyywLevyJUZdtEbhqt4ezoh4lgMEVio+3EGLkj
5wv/+d8B+W8G5LQqOGP97/n4+mP2Oryqj9/Px7/8zNc+imNBNkM/jcoWH5pDiPJ/+ij8EYR+yBxL
D+ULvuwr2czw/gLJi0cfpyync0PgTvpGNnP/wqyLqBDxN7AABP5/NB/3lsPEd4cNc+HGM6eBj4rx
3cPK/ONhI036CCSgV+8ne4qe2gSr19qujKFjiJmXPvL4vN1W9XSdlUTJ+bQ/fZ0TON1CHWAhw8tk
NaPbewrijpqxKCgJeE6Hj2Nr00vnl/tshekyTLgukL6yPWQvpqbcNeiMaluEVKQTHjPcGR7ebi5i
vA9yy7pL2qFAzd/O5yyxWlDKDP32DsuDuSD91RG4I9CVMhhB+WYEakUotylT1GkkaG5l50aGRM9K
dgNvjmmjsquDMzNWIL60vcUvg1KtiV8Sp9ae4izX7sO6wK1ajwX1uwyp4yqDSVhTXc0j/PB8bG56
N/xgaSkfMuCTikjemHJKt8ztKVs/mwBCJAUku32qlBHTpPVaChJg4RsLR8ZW1i1BlDOvHvXyxiat
lSKrvWwBOa46KW+Q7t8HfXcpAlSUEfRWHCXiYiQcZpWlRY8SbVj+RtL2lF+YbvVEVAmxiaIdj6SB
vmDGOtg1bZjMMG7SKX2pAVdwPCjvyOKdn4lo19cVYOs1wO+OCSr+eXrGPrfgPUNiZIecZtLAXt4C
2b4Wv9pjoLJDLqpfGammcfJMy7uw8bLHcurMR5bOYseUGqIKdSO2EgRiRQuzO9LzT81cXdM9nEn1
1Y4tKTqvJWis+4rkJyDAbOe+UWGWdWV1TUNoH7gzO7vV1lcTUU9PZure201c7soRnJagICcALEWo
hgxlj7IdK0/mPmToHeqVaQwPoYm+w8xL3EgUT/mN9ILuvabDO/WdWjduWpkZ5xyNNgIwYo7dFdEM
8yaLijuDxtoGqL5iLy+N2yZrvW3jBgW1eMTeypODXK2P1xH5Ej7RnihLVW1U6SGshIBLzVwjQYKx
at3eLs9onboTYP622w5Ksx4oAeKTmdv6CxLEft1MbeyjqJIxAzY20a1wOY2uDIL/TiSYWu2hhNK0
YrzbTp+0wpq1nUtHJfg0ec5wmUkFAzgkRmmTOTHnMQGss8oTcfd5+fp3of/NQk/rzqNv979X+vPH
4f/tX/OqieIfl/uvP/ltvdf/WtZTNFJfVvSvPXOH7veCxvnW/Nb/K4Yyrb/QY5Dt7hFoYYLPYsP5
utjTTofBR68cIgb30R8u9m/88iYpU/wibNuuTgv+J0ydSaUf1i6gorSwmFTNNg5sO/xNh/JNL/TL
i8DdXIIGGAS8RQG1DHYqQGHzvktlvRqdBkecs5h8UrPdfHf9/6HrvnTrvt+6ls9jclmw53FG+MkL
X+bBWCehMe859eM6zOL0JKURwHoHsIxGu93nQmk7cmXNFbzO31HPfrqcdI/BO3iOYDs2FqHaD81E
mc2uRWFc76EV30sEWG7crH/9CZdf8cMnXF4CxQrucr43+XZzVuS/opoU9d4Sw/1oGY+NJ0q/kwIp
0lxTlPzndv6Hywnv7ueXw0joWqbNlIbK4E132QgR0BCtTNk/IFbA+YgRofTIckmtID9mvflgBkON
riCsW515dJnkKwLSZrXKU5WrdYNYGeAJvcNVlLjpoRscL/cR03kc2YALl6uGNE7kPLXAv4GGY6US
Tx5kkht/ywXw02OQKUx3mZK0unyclpRnOALoMFKtMM5R3XlrI0qNNfvX+DglgbqIbQzGqIkc1nAc
b/m9bWXhuxgFN0d/ZdwEIRY0i/CI20UKv4jOEAOHbXjuepSr8FmDdemy5UG2qrc9vcsDjbpL4D39
1sgx9DvZbRmb7+3ZvQF8nDMLdvNjpY8vQB8GXiKxN5rF78yNBGk+Ap1dWlvkkyKesZpk+Kgirz44
SXRVTRREsUdD0JR5txnKwT6Dgkt9D5fRUYbGI63N4JhEcevXjUMLpu8/Gggu7kdiWNeTSJIzdVp4
39roCjqXs6rXh2unBKTAyLffzyR3bBJ9jC4LMDEYm0gbwtd5skKdniA7Ujuh5JlC79ASJ4sPFiD1
fY3egA68JRYxkXNR6dB1TgUoDbEtRqXsB+IDtHdR2qsrDqb8HnRT8r4UaX8CWtvtwRVwkFeqRU1e
W9EpyGt1WWa6teH8k3IW9rhFckJy67KcfPjnYkM0lNz2caZjGqMVzcl/xCMXy+65i/Wa9qs+iQsm
4+F9vOzTRVxC+cNBtI4WQfaC1fEOMyH0Fwj61E01F+oaB9RF4E3Gcz279HM6I93XWiQuKVLsPZEk
6JFnG8d2W4y7IjeeQS9aExPtLkT5Zox7s4m9G+DWyU4jIuRyDrXyGvP2WjbddEluZFX7XpXpW1JK
6ufSXuLKY5tobTFaZPV6ZneKgyUUZ45sCObNFnYlTMegdcTKE+FL0qXRgR97N/ZLoRLU67Eabqop
fYAegbG2T7SdmRf9qeWYu4qjviHeIhxutGAQO2nE+l7oVbaf8tY8WHTIT1NJN22lh1Z5xRTARYAS
StslWDLUb4ygnl4brdQBrmrFRR8m2qkNbbkzRi9a22SiAlRCA79Ng9pZ13rNq4WpwejGgwnol3IM
tgTjTEgl3eDZpbXkB3RMdhhBh9OYwDByym7AuK9Fu6bXSWRMc20FsCTk3Nmh8yYmfWXY2XCcZUQB
6xnuNkhsxnFlmfh5Cu0VrfurERjvPGQDGBtb/TamCELGbrw4fK9kf4d3hOKaK+FwpY14poYsccUF
KUocU2vXAYK/dU32pm/PyaXW1NVNUgfZuqjnD3HootKL9JTTRBD2B/r23UZo+s04ddt2LDE9aR3i
NcADuznl14Z44B4UWRUko9L7Xle1KjnZl8Zr0+OtKaPK3jSgA6rQuLesiqOPSFVBo65vrhE8Ga+s
2+4hzgdjpwukXSOdnQ1zXL4hy6zmc5ClKOEQYk4PpXARHpXWfBAjLvNKWs+qpDUC3EdD6hOUflYF
ElsEIkEXjAsbwCrvdSIowpBeV4Y27dzgR896+YAbBHsK5E0/dNXRVC4DFFpI6yDVXFy76cdg9BI0
kc3G6aT52ulm9XfSGf1VZTY5araMZ48lwb6KsSNdMG3PDnYu1d5w4xTx4zw84RJD2hEvVhLdQz3p
EyVQcN4qxuQTM47sHakS+n1AYM0N/iV7bWSe8AGZopzFd8DZgVShjV1wf4nRHj9gldWuSIUgJrkp
/FQ5ySPG32I/eXEJY0PBWhTmaPoJ2oNN5tbZrkPmcpFxluJoR4QlymVXI3JVt/26dt47iHjaVe/x
vdeBlSCycR3igEeBJSzON0qapA/1U7ynuy83wvaifReX5YlUUUhsrWVd2ThO9pEWhi+utckp53fZ
FHH5cQQ/kAqTryUD8S0XKbsnORFSjS7Q1GhtKu9MLM32kOfv2ik1X2DiRmdb2fO7pjAIIIrJt0sq
pc6dqNptyqB0205OsjdTHD+ZzU3G5vkJUw89nVoRRx8GzYH9cTj0icGaUY+lY59akU8Ai2XWdF/q
in+L/N8V+UIsVJn/VEU/CWMu4/dkL74W37dz5Jcf+lrfu/IvAlu/dzz8p5/j6chi6KxbDG1tyF9L
q+cbqt79i/4KWRgkdNjsiQuR6FuNL5YaX6dYNgXtIarZP2rovKnhaAmBzzOZHlPlmyZl449VaT0i
4ayzRrCJm0go/T7M43GvrD4mO1iHhsCCNuXlRZIKbXj4zDEYMTGicaTYsl6duC+Y4k56YqARsxJ7
nnBGm5mZQAYgLXPlkVYU4o5Hd7r77kr/Q/35ptiV9KCgZ3NpadNbC4b8x3fuEj6cBWpG7hjq462I
CEH/4kvCpXeGGsV6+usXNNwF8vNdfc1L0vcSjonmnqMK1+zHl9TijMxn8L0n2/YuytbREj/rhbB3
iUmNi72p1uq9UHr17AGppE7pzN4x957d9cEWmKMoD4ETU67OvbOMy+ygm3eytcdrOs2MkLAzjtcR
iPR7oOBMVYhVK08Axehxh3FBu5lQCmWvalwSs2+NHbsyWmuutWb3420242HEBEsabVFhwkzqpTL2
gKfQLnPogtFeDmhufRkl2XwjtZ+3WHaZmmvT5WTH8l4Jg5uA0EHrVRn4midTowk9t5U4K5eFio7J
wuQZYo9Jg1jeOfN5/Hx1FMp7gfOAPvTnUWCjKH0IdBuvQ9YvLA4ydumdWLJ6lj22XOJQJC74Mcp5
Rx79sMM0C9ZRRVXIqK7WpLiXSSSak8RgIs9geR2mus5kV0/S6JjLtarh/gsbZl6adKz+dlaFvNeM
TI6wEfGJvhiy5crFDdHVq6ktmXCpymW622M6m/0A35xc4a/kT6sODOcGKTX6BZQc6JI0KtvoOkBo
bpM+VpDcwiGHz59wGH5NmNw9dhNFSt8tuixMAypf17F9g92RX61j/g838WTyLdjkzTdPTN9IzzFn
jIMbriPzKugjXJZYQ/myHullzXfTDPMCGYHFhA6LYBYdKULlvbNcHI9EG76/yihPXq2hqYqzVnP8
ue+Hyygc5huQQtG4SkYeXgP6o7uua8TNm0ZBIsG6IniXynYGZ132JHabgRNi76lJS5PDON3brWzP
muWNDr6HwERcD17iNUxa63Jidvao9Q6Dvb7KrtFlh68Sheseronp+lgcnVfy7vt3laEzvWTUSnTf
QFBZP/QMH6OEXc/PsyCdjnK0UXOhkvYeYQo17Y2MUbLT3Vpmh71yuLxDnNvqSm85vG4bK9QAa+Vd
bYgFlAzGxlgn3JHyPTIMvrvYqMzh05RMXfXMv+bJp2ocRuAQgB8S0mmgmoTcI40sGEdFpSfuCRHn
66HQrW2q34HvNh1mJj3gS6tnrgwPl5MUPJRpVSIAaHStap6awBpvOdfzIHDM4ALHspL2Ls308mTJ
GbVYMDYkt+KrT7Fny/HaNKx6D5aDaY1RkGpNX7XjVWxCjsAA8LR5G8z6i4fUW2aSnaXKUxGlUt2j
s9C0R63DcXTRSqWp64nKL8DqAY7lYSalx3uIMQiktwFK3v2Ya6r2g94wDnMPtm41TznXUoH4X/gF
AyM1zwu5EOQHqT1jJSbZJqtKdKxqoIwcsLiRQc7wxZWax3Ns98tD0SqT30I5xxpamKW8jzu4Pr4r
3Mh+GjO3k1dJ4LFQUOV8VqQPYBBsrM9Ek+S8JuM4uFZOECoGjEJB9AJSFbYfjMBt03eKFYJSfAxw
UlyVeVFwFCF0MSAMOAs1XECp4Dfp3E7Hpnb4zttMiXOChHN853ZBnX608H/SLaJRzAQ913spr3L2
n7leyS4JGYgVNL4hGpY2k66IPGOFiwEGEQ6tUH+Jx5kzKHX/uaDJ92T1HTyBWdw5fTjidMrL7mHR
DmzStok4L1eNb3RhdKBcDdZGEGBhz2ENISeByEKzKrf2Gtat4aI0k1qL34WR2TVgKCybWUdZLUgl
wkQPixf3sbEQXBm5/qKhmli1xeLFnwqaUbh73L1IZfh31gTOxzGkL1UIVVy1mX3RDaqeNtSC441d
OuGLZfTFhqEHKu2iMW7dOihe4CvmW1noIbFxc26t9NZR114IBgRODyMDiS3tMq7C7EEmDS5sHMBb
MjMpz/sRLTdR6ZueSfRVn835hWX23YZuTHbDsl69JF4X3fVmdj04aJNoaTfmtp7qcQWKtiB5sYxp
9NvZw5CbTbhVqFDwH1EVZBDqjxkWkK1rmLAdYUw1sOuZOMa9Ud6z6VRPhZVXESCZptgiYyvfRTaz
UcHW463A64NcseEYnSt7NOif9zmiE6f5FCsoTFlnmns5JyE6HSnPVog2dh3pFgiNcaIcWDeYdk41
jv+dm9VT5ieZUR4c6D3b0BI3SVBWO7of3VrxGZ+SVNFjGvFyHYopQNo15ZAV4JMFd/jw7J3WwG+3
YNj5GvMRdwtTwj5DV6pPLNjodYpiOgza0mpoUyRZjYL2K5E61MDV9lHR2Pd93M8fdD1LTgzW5hNT
BEj1v65QfirmECka/IXU08MS+zaCoy5BPSQcCY9jWynatkHm64PBJvR5gpbofXlCAKD2v37Vper5
sSoitBPJt8RCTq7f2xauSRvDiQbLO2JxAyJjxiwMVSuRq/z6dd60iqm+CIhcUgk8qj2p62+qrz4q
7a7xkFKZ6SI2cnTFml0AQUCLw4Lx5y+GzJi8AQpkMvIW0eV30k/BM6yFFIFH0pi9TVlG5gH/UOZr
MaHlv36pnwtZV/fon1KLM1X9iUtbh6ibtFG3j4Y9iXPRUXpbA8kbQHGAYTil+5u75B9ej+4zTV/B
/BY56ZsRLiFyPLZZbh1nUlMev2xBBQ2QGPoZnLk1FjUu768/4xuNKt8dH45hBpuKyZf3tlifcLcB
ImuZotoF1ZWj6RQ/LKjswAUKIgLHkWcbvpaT5AZSMWH7+PUb+PkmdRf3NKhujD/S0t986LIwa30E
KH3suhhMwIDwcBTkbP9/vAqjF2CyGOs4mfx412SBHIogbuxjyIB5D3Ml3jn0VH9zMf/pszC7hO+C
5pcH782r2IgdaybL9tEjxn1tx8QRSrBNf36bEFSJQp0Gv8tx880VS2nDxlVcWkcZMFZFfs9NAdUH
QdAUtOLcVoiLfnOk+3n9Yk1fnnKPF+bf3nywIu6Dachs86iVgf0kOjc8znpPKdJlGKQKd0LUYjcz
t8ivv7afV5bF10CywGc9/k9PBKylGAKLJY9px9MdYCE9tTaNbrpU7m/w0P/wEbk5HMAZPOoc+eWP
dwgKa8VL5fI4qij3MXiWp7lpCQowuWEQwbnrcblr/vzzLXM8ZCMWOpC31PZexzMe0bI7ZnatgEeC
68p0N9px0Pntk/4ZlvzjdsD0iRmbCeQYjsNPT1rkKjyRkQ49rYEUB4HWGkB46dlt1c8Kcx2T9FUw
USaPA3XdQK3VnPu6p49sao3J4aK0XrMQ2IiIGoOqEzpRdO2mSLV+c1l+XghhuRlLNqwh0dR89rx8
t8YXsTWQwRlwhy+iTz8O4uo5GTX2y56mIoJNj7L+19/EW8AECyEgZp4qtmfMMch5fvz+w4x+ScAe
d9RQtyigmgbnhxbhygdXCbbMqAqW+z2JUSJ2Wf3c99ai9QVPc1s3kiZnTSgx/GF7gMM2YQ//46fe
Y6JHN4iHge/urc9HryFT9i5PfT67FN06CCMRasaxyYwiXtHA/V0b56dnjxzg5WlYbFD0V96+YB03
S9E/zcfeBALWwA5NkIGDcmFn/22i1j+9GH0j5ueE1rEdvFnT3JmU4LD2GFaE43hNzo53oSPgoPPO
wCT+Tb3y0zLNJ3NhYgudLCCWszePep5qokKHNx2BSnKwZMDMncWDyCnx1zeVXAatPzxyS7LbUjxY
fDiUBMs7+e5GzowoHu3KGaggFLJfnTNc5wPha9OHQCvn5lQlPZ0QMzTdCyTgOD2yyjHIjcmWbbCs
x1t8LPQJtIHDkt+QSf08O0rtdc2mlUXXC6ZrtnQ/BlK7Zpz24XTdFsDlfpen8fP3Yy0WFhqmnoUx
6+2MPC4mt3LypjlK+HbroejKU47HZhfq0x9XXSSEcg+YDkwhCPlvt7c21GULm18dFUr8A0pgPn9d
An3X5FiezIJMpt/sMsvu9d23ZLKtLYGg6EaIsdF/+paKOTdErSzzaNej+RHOTX9UJr6zzw0R22no
6tRzZj2UjEx/s9LJt7cIA3rSHmwb3YEuDSqhRdf33S1iZkEboy9KjoI44HwGsQ/IAy0drilD+sMY
uH/bIk1hnJWNaM4Au3gCDRUyDmkn3IkALaZbvcvpIs6ftd61IjZ3ZXawVVbz4uNQOXy2Xcfvv3Za
mMX8poEMG08LUyAPKbFyNxbAvUe13F4ZaJp5B0NdVEc8gqi7pd0gL0e8DI8kSOn7pTSOAnCEPQJb
NxwkJAtdQ7OqizS/Geg2nBVImt0I2/q6nIQ27yBxgm/r2wJDEQhd/YK2tF74jWN1KAzAx1y0KapL
38mqeViXUz1zgJ7jIwAGAVUjszpoAwLqQbHqAFIxoy71fihfF9oeqceZIBTE7yqRiQ+DchHhJlrC
8wKHbWmGTsDXr7FB8u+OVmNVsEtalDsPv3W0J3+YUxHzRv50hr/8pfiEO0znxcuWuqaueNaiIoOg
Src8Hvx0ocsSHIbSEQGZq423FRLL6NrIic+9SMO6b28ao+ELkWSXqE0p8iq9LWed/UJ1rUBPr9tg
I3XpXoAGLsGbVqL5AHKETzEYiTUjFyg681LVYmlFDRlfMwhLfpCPjsNh4O3eVUsy6CaViXnRczWh
elZA3bdx2qbj1q4mXp4+CJ2rdo5ohLv5ZBub3lhMNB3Z4eLveQA7U49Jp92NxIqA6ktndi0Psw0t
nCgzsC8Q3221tyLW8H6m3C7RNYrPUvm4HQYUHVpsHvpeYdBYExmi+TPJBsPalizh1hxyBxUMDe2V
dAYkCWYfiOEQjRreghaPVnzGcEhPCxkjcvQx4wy7kqAmFVZzfVT3orBwfxCiyw0GPtCWZy1W7A2f
6wB69tx9c0hS3j6yS/pmaHYB7wc0QlzQv1M5fgIXGFy7cw+R73MLjqhB3owRjeKLUyQOItwzTddA
8P7yWNmSteWz92lwjMR9Zf5I621YhOO4yqIY0WJMb162Jsu4si3uImLuOJlFuPQw2DVLzxzgUPf3
FINg3I4xffgvoxmUu6+BZSyFRGhS2+G9N19zkSydWGbWoK0Tjj8jYtjZ/7z9OXZHkzGid+VcWA7z
iFWqx2OyLUF3wk3xQh7TvNKYNGSTyYWFGmPiJkLzGt80Rc0bETq9k22Vyea2mEU9vnS4YTSEpY6F
j8QtPQwc1piRS5AkGKw6FcTTRwCT3LKJW0vzZhIVXeAIIwHz404MTs5+zBgA5mREu4J7xWSak/IE
t4bzjsI8bcMVuLgSyW2GbQ+ZThDMOb15DWLVMVOYCtZTZhCTQAdtdmlJJGZwzHV9pNVGhxyYCeDA
jqC2Lzv+v3PS38xJF2LHL2XvJ+Agr833U9KvP/J1SuoRJEwH3QFvxsHBk+K/qndIZwR6Uxd+OcCg
d/zvlJTy7ZvMfQnwZpi6hKViDqUT9UdTUfPN0WApz6k/GI6yU7JzvlXS1ZiksyQc7VMumSX5xDcJ
VhwxTEPt0xmqEC47pJ4AXwOvWgbnspiE5St2KOWt55Z69y4rax0tXEO4hRqZHIxs9ns36AA8dkaP
DMrBrgU4OzIZ8m6xTuXmcG5pwzDHmVjLTN/E996G27bJcvuiN+vmfYrKp8WLH/hCMv4xI9vZZqbn
TVsiMNcVVdOd5s7owOc2ipFaewJTGHIRmTBnFGoJQxhFBiW+AY2DAaiJm30Giq2+TsjrvlN14D0z
UDMin+EgWTtK9Ul1gpHOClZO3pNG4GHJS1A2bEZ6vPEOdg65msaEScUoY3cRbNjPteMMa80rh5e4
N5Pr2cKZW3aT5dNFAA2SwKtuV6VB7s6qhZezS+c8OyRdFr3YjVU/ycaQJbLM2Htfeu77bJzOrq7w
HvdpPh34W3DZd7YBDR2pEzJZscHR4/mjoef8N/D0b7oEsjHCsIkguCGk1W5WSAtXJUF2YCMDnAOD
sPp9gYH8uhNd88gcMjiQBonGB3fXjdfI6ah5CeyfCZwlcLBAi/dRlsQfuB+smyTte7Y5KFFXUV64
u9Gy1b4pR3ExwJe6jxgTYRDqiOSdTcfvxzAqfdNt5aVp9fg3y6wxV3YtjavSxEKJVqwkaM9xDn0s
5lPWWlO/jjsTHZIsOhj+PUNbLRi3Bu6EPbP1EWc5Ee8v2pRXtM0zbVfjrz2YkZzfA0pyDvD8qrtZ
n4Jzp9XlRYmmKd+ZMzGEYzfbjKxxhpmtRD327Z+IVMw+utQsWZFdGOufI+rrr4H1wAqG4gj8eMhI
LvySac9w6tbVhDvo0CqyZpg3Otu9/v7z0ebfFfV3K+qX/vb/Vp7sPpYU368/LKlffuab8ET/i8Mg
1Rm0Ww7XpsFx5Ku43LX+sglelrRCORMAOeCPvjmJOJF9W1L1v6BL0aKiw0hLEzHEH4A16Wi/Of0w
krD5CyMSonUSfJej33cHEE+WmFxLN0MwFj4PKYtc2wD8tR39qdDsO9Vr+wKD55ObiyfY4WLbOaxq
ZLCghHI34PPlwRh4/JslqqUAAHDwlvgWNenVmnq78NveU5+mgLjxMiLwpXRZ7bQlBIaemH6rySUY
Bq8FsjMCbCo3jrcB0rRNFzq3+JLc62GOMbu0+akYqL4BJyzZDHW9aTQp19NALA3pMX7d51dTIy0C
OomuSciwoS6dbyyGxOuS+To169DdU2CmAOGIv4mWIBxTEzfDTDRO04bvbJNVSg7E5lDoRJctFfcp
WUJ19CVeR6DL2FhL5A492Y0ZZ48dWTzdEsoz1cTz5OT0lHiMWef6AXoCIT4x9iROSwT7GEvET5XV
sLiX2B+1BAANSxTQYBJHwjH+Q5sQE2QugUHxEh0EPfz1/9g7k+XIjTRbv8q1u4cM87C4m0DMDE7B
JJnMDYxMkpgdDjjmp78fKFUrxVQrrWpdm25ZVYkxAQ7385/zHRNRd+nDOYJkJo2ass/MlsqhuRXw
q2ghGpY6orJW25Z+ornSrqOFEMfCMu6lhS1x9CrjHCzFRi2Ai0dyRNsSoCBRo/Kco16f0sJvuhV2
uzynQaG4bMBWDRvT78H54vr92lHNcJtbjFgspbWhZQl48zIGZFdbWnRnYuq/sPMJeLRWOgzaW7cG
7yvTq6Yqhq9RgFSIwyp4GEsrF0x9Ox7VFfUySR8QvR1yygQo5rz1Bjy3Ah2DshmTmGpr+fLJSzNQ
0GDUigeBtePCKajU0s2C8LL4QGsbBXpNrMvmxJHSX5PENPjyArMzoH9S1KFMKciGRRHBtkoXR3gY
2MNrX3g1GYN8IKFeQUDRqdC5mNhwbM3By755Zs+eFzip2DgmxUkfOASfY9NmLNPqjqm6cWW5ixCx
oJYRq7JvUvIMwh/swYZO89nYlpk2blrdGm8m7FpXHSFtDq6xPRI3Vvx+4N72MBwWdQs66rqpORvU
ulU8TPTJvDQdp1AN9EIWxqrlW20q/jcgFW/4AjWeWRMH+4AJ2RdKWWjTbvmTlJNO3VoXyD/s/4sH
p4umfO+ong+P42U6gwXlPZYVhqzcRbxRlePmoQU2ciP9gj9I/CypN1jBBRHuclqPbcmpl/tvl7oI
p3SNUy0RjYxQSP23xYM0RHpFVhXyNHHbndFZ8s0ZOZ9FXcWwenlnWZRJHyu+wZ9nEOzdxgswEJ60
44ZWlPi39sg1iA24fC8WIrpwRPdFZfYQVi5DXPYkfHC4GdOZssT23hux8ZOZzcyD07OIrBEupo0e
KHq5Bzv79nGlETHk1eY46LsVp1/nIh2ZEqL9VteDBMq0goKOxYcmkwc7GMzHQSyFYW1pe7eNE9uH
Ko+wrAFPX2OFN0Mz7rCJoYiw6nW2OGrlUj5qRoPcFmBNXlsvSa+EXrnXbH2nixoX1xlMnn8eaq3c
JFyR+WoOnOhbYBJrHJwyocclGvlDvc8retNyfIsT7a6a6343w/K8q5FBdxUBts3Hr1UOJfTgeOLg
qPJItCGsST+sMr65CT/cyWDmH61cf8HZuTF/viMZgJAC1hPWYQbM0H/yGxy0Zl2locrmKyUSVP0J
y7P60tdkOXqn+iaI5MelO4WBf2m23bU+xDdJr5P3bJN9mTXvDD4vAoC+qxb0vDC986gsMP3JrnXn
h7hRuIU4eZ9cmrRoaXI2ucJLLqcq9E1RnTHQw7gxrarbGanhnsGM3ysjM64Azpjr3PBjvOQSKKLH
QTQtp6t0DIhDZ2sVVUdLeNENsIXx2hhNUtpVTC3a4LvJDu0kW/lBb2/AdtFeIhmi9D1RxtbP62St
kZoX8Rj2tflWC2ZHNXvvi2zu1EaYpXGwTOd7Y7R7wcaRCp4izPvOujbxrjxpsflVaf73qUNKnQV4
kqIvWmpnRb/RSmsCwjjjEQED0IcSDeeus2w7JCU7v5a9AxedUcpS8LmV7Xgnsk4eAy+ncQN0tePM
/MCpy1av7qJVNkz5KXeNe3cRm6DDH/JxKg86guUeoSdf634nQc/mi3m7o/dhllutqp5qeDyrUVSI
abnuHRsufGrC4PA5ffSkG2XNzLbm1D69W5M8y9T33lKTUC44A/2bRzvOGlXxS0tz+PM0adaGex3z
jVWDpehwg5Bxb4+QWOx61c8z64HVF/s4m3E1M6azw5kalyC6q0v1mkxttNEZAl6h2g5yY7Gvb0PR
mvCgxQxLeu5NcSJ0csVuNL/lsmo2ECONG2ue7A3MD8Emu9MyfBG5XHO26lfKMOWbQvnZzKV5wOaa
YxyXz0wbTeICKlhnRv9Vj2YyzBVP+4CxK43r3XfE3ScohDt9qqP7wZDTCltcT8IJIkRlU+HY2M59
NAk9dLkNyYSK+CsoFQUFEzeTofunwad5gk2C/2p7WBc9ygzuc0Kd7CEYyIfKdqfj0EYDYDUz8kGN
9tl95nXIm8ou37AIZW9t0xTHAJ4xQCBFKqkngsQzfdjCNj4OcQkkY271K4yf1S0OYPp8k5qdlUWd
0CAb/0r2cvgm9Kn4NgDQuHLJTGCgLSd8gum8Bo1bsZK3KTVNiXAwmVFsF6zcMYtPPTwQ46gIE4CF
VLN7Bf+x2/pxXercEvEDtlDt2jUaP8wtmon4EUmXRE2sbfo8606e09hcMQJIZ1VjiFrZM/hN7KzV
VQXC4miDC9lEQEPg4tTRA2JYe8YxmmabWdVCrNpAaFdt7DsHdgr5ztCrepOOEI3IBlf2JmnGd1Ga
5rVRxu390KTDHupW/ejC+EWUmsQacyUlEt6g1potUxgehLhKdmHUNWlHvWIBkwY5vYpC6FA2bQaF
eIoomDN83lZB36hdvHiq8FeqiYbr3NX0yyYSzRZ/UbOrTSLvHZz0kD3D5Uj9JU3xu9iMKZzw56es
aQD4ZqIn+DHUDYHs3MD+pYptaettWDW5vZur+XJMk2nX4LHE0kZe2ilUfzPn7PFyBHqeXL1/jRZR
3NWZGvY+iesnqw2uAPiqt8FL2YC4U7sNpBtvoZviyLNqDKCQl9ZdM3OLM7FaURYGuZ5MkPBGurmC
blopfXAeLDnu8FHGa2VhSnUt72pMTYPQMmxPqsh3jB5VWBgozn0Vv9Xw0q2WR15fV8WmT7MObPg4
HlOss2GXqegw1NEpjeuzHTnOGkBghtXXHS+ijJp4OsS0JDc29Cedg5zV1bjwOs1N+00mk8JAGiiH
LL613Kxecwsrsnt8YLvHc6tpMY+EuNbxXTPVmz4k7Gk8jOx/55PDVgVsXFzmDm6srF+PvoTJ7XT5
mOFKB4tWrUs3hSyuYjjW35OcvDyHciuqzD1Pw0dKK241InPbUgRLt0o33BFdmdH5Z3UVZ04FzcCx
L2nw+FrPVrqZpXsmrqeF2dyS2acecF0ETnZde9J5UeOSZjPF/GIoo70cSrzMqdG/NfFE651j9pc+
gsIa/IN9tEdOP3RkqBsaVczT4Ln1OWarsjEjuo0mzfuGlT8iJddlz0MbTzAVG9vieY/EqaXMGTPK
B/KazEzfpyNUEj/hUcnwnI6odKf7wZdg8f05uX2Bo3JY0b/x6pnAAuy6bK4YAoVFZX9P0HMpv0qD
4xTPrthkxrLpj+kqedFp5Xn1cic7DRj62Mcre2+5KS2aWXCn910A2pW9jEYpZZsf5jny8RPP9nSy
qbm8BawyPxZQxi5VUn7nAAoiGCt4B822nZ0LZk3VOhXJ97oseeprdfnqUUbAmhW1LaSltN82ht48
sX1xN8R3xzPoxjlkD3S20sy5JlYZEyAiwn+Es1GvvWnmTuvE8OB2Q3dRS0uc5qL3EcemtrjORQ2k
fmYK/yJqRSYtytJxC/CGR4EeNLCyOBpSPjAUgf/qxzoLR497EIB47D+2jceg1CrFy0wrAfSayLI1
lnxvAVLpg/gilt5MZ2nQjJYuTcXCCFhrPqSLKVQujZvV0r2Zxt3whN/fWLv1Us3piIREaJYNFQCH
iksoZlNC0QQ1nmJp9MQct7R7goL4KPtk97x0f46/N4FailbQplb9e7I0hXpLZ2hTM3sYqRHNlz5R
tTSLUl91yhtI1jKmddTFRHsTJ608W0snKcg1drcZvX1OTGNps3SXZkuLKW/snoNftPaCpNpq2ZIt
+6g9/a/qI9q0nX6h+pgI3cjb/7vqc/ms1PP3pFNvhAZ+1H7++Df/0H7c4DfchHAF8GXiBkXr+R/t
x7N+Q4KBz0bJCVOrD3rAv0JH5m++D0ySZyzjad9fGkb+DB2ZuCA5gfmwMBf6zL8jBn2a8vOnDY8p
OLEmLF68u0/GiMAi2pxLjULbtHhPKsKiml8x6vX1Xznl/u6VFlUMLd+12MV8eqVC2MKeR4NXMsFg
l7r8JpdJLvTfLvzhd7j5fYz/f0RX3lSpaNX/+79/90q8BlMD0ii27X+St8D8R3NDXcW+HfIOlUO/
Vj0dHm49P/zbL4RviHysw8vpvNZfdbTeKwxC4bPcTyp/hzz2jirwnvH//5OXwU9iePziP/1GrZvM
KnGoBow0TraBvygdi/81H9P/4Ktb6LSgIBZ2BXGpv36imGwC7fB8oj4qm9Oos8vlIeyfGpH94kMt
f+lHBwYXHgPcxe+F2Q+P06fvzutLX2sD1sJkkYLcjiN/PD4Y2vQge+x+//wNfrZ7fLwYlgt3sV7g
Z/n0sTTDqbg3K4a+i0vTU6gxzDupWdPSZ92PyzC1Gwv1IGr//UvRxxDkWAzU4O5+vr3A6nYmHju5
lzVSUreYCJxAyx+0jH/658+4fGE/faFwSlgVFrO098lPNXdZxwi6lHut40xcdnLaUBkU3f3zq/zN
vYVZ689X+cSZ8LFn91pX8CrB6FyYzfhAVEEcqff5j766H17p03oxEJKueiBFjHo62s/G7Bm9c0kO
/PL20n/+UHi+fRzkSKg2stSny6OCWuWXkEeQfcxqLfVeo/CCY/zNbJfTJoh0Ts5BY2xr9Pm9Tqvi
mvxCsLFq9KG+xuZJey5eXH+M8QhUYviORsQWOIusA5HJRT7P3z+KWePZ6C+lp0AtynmxSQRVjYuD
/wlUz3Kj5wP9kzwx9t5YU4TYBOZj7tFc6kQZ9XglyiFpK6BLS36mmkSwGzKu59wbAavSJkhZXi5G
f43GYx/aNhEbZHmxaU1P3LVaZh/1YB6+1xGrPHlB3rtr8CqZXV0MvuqzEK0+qTYcqajVyhfhTvF+
NDPAtgDXbtlDyi0NyvKapulq3To2sh7+EhRHoyuAxdace6htboBl6RHcwxoBUWukFpbAFTnXs3CV
mdeGXivMEL0bHwFZyo3r8gjg4EMHXyIr6icDwzraVD3usmauLgz02rWPA3rnB5SJomuaBHt652KM
jexb7FfFgzvkKa0GlnyqCcI/sj1F6fdQA55kCdSY99Qj4iUeFCsk7Yl7fXRt1FHNbooHNfjOha9B
n8Ld0n6L+GoukqyW126XvesGv2mXueZj6afvoxqiO+Sv6jAsS2OiFEJyYaJKN4WOlg0oCH9shgfk
TPzPPrCit0TCCG/2MT2ZbAPoeqR5XRzT2PIpzuzi9Cq2YBRnbizeIYbAIK8yvsSugPVgaoMPw325
7AsF9oz6VZR0l68sT/kSaECGEmAnU1hCOPiCo5KPFHtp/i2YOUyUMMbXkZNgCwI0WVGCOTdusUuF
qUso2r0M1riC+q9JJAnBmUaP4CjIlVKIpIvmpLEffvSBWQExyeli9JLqyGecNqJl5dR1v97bmQEb
wnSNLxatEFnoNPrCT2GwmpN1TSgz7EZKHxsAqmTfFqdNG41wZkdTohliRtNCSMzBgwLbsJa2PqN1
2zzi5inwd60lUXSdAjjlQ0ujcb/rfJE9I+FqWwiO/SXkYQOYR9AXO1Tv8TzAz/w6N3O+c2TXFttB
a8x0m0nLmTczTBuKYZmddugmOVaoANClOXNv2VqE2w+9Qt33XiufYpppL7yJaE45VrzZpsNy61KC
QYPaAPaX+KZ9dJI4/1bHJmL8MjdoRgW8u8neTc7RJ8p+LBzXKMhGjK6uTUuSIynhDMQ0jzHlKoId
84KBURKPvs7i512M2msnQV7Lepiv60SOyZuQgbOHytevJjfhHG0b3Veppn6H7YxayKDjQpgBYx6J
gL6raFEa4HriGaUFsonf2q7x1olCjKzNfVv1L10ypcdSuOami6RLHAtB+mNuQhvyuNGNor/s24aS
3pz7nBE5TkPp5Y++IecLWNDbckYwjcHhtmE5kPuBwoIRwGoLLmpWReLShZzWosuCa4tN5bbWuOvz
BcbS9zJa4Y+bNjO8Ys70LfOD5bkrgV+szTJ7plfAv/YpqXwugPbdWj2xhioeCI/SOHccO66onAX1
WwczItQLeMG94OM7ivPiqvTr4LoV3fBdaQ2Yhlix5iSw6G4NFxHe1otnx2GhbBrWDzfRvNs5HRcp
t5nWEYUoEXJh599GVd6cjKFb6keXnVYXNPWu0MuOpCvQ7tJEp3DxyK+bCkdmSiYIvrwxfIeEcZCi
ECuIiDpXMC2YTVpcW5JzZjJYQHoASF+retlXV2Z1gZbCxTTUCYVrpWHTesG3k0YBrFCXXr6PVRen
7VOb+8abPrBa9cs1Qn+ncZWjA1xlzhhv+4mKLW9gJ7HStNa5yijcVpSfA21qKDlbSrBR2ZDCZ7cC
FsA3NHvg8WD2NiHmftjc/MIACnXMxYzxxJdeElj0XSGO0UwNr+pYe7SY1YMGgI3I+5LvnB6cLXbF
GpodYy4rojY3MCjo6zXaSiGyXPu5KvbK1ZnQJFWww7SmXdLzfW2lVv+VLJG6nsakvYyy+THVreHR
zzEXA/hKsUQY4GqDFGxQQtWQBBN0U+RPXk2cO7WSd2BJcWi36T3380PT6/GeA7m2SWJ0byZv8tpm
FkxtzhTvWNxfNKdi/ODx0MshRh60NCkeakpZj41gxdFL3/iS6oaswpmfVP6+yLo2vebUOBpbzl7Y
iVwy2Dy3UW+mpau1hCnW7ATsK9NISCi2H0Qsug5ZzDIOeUT4zQxqlhHr+UEgupOblCQsxQdhC1gS
2ddCWmm5Ate1ULg+iFwEUO5VaZbHobbKI9VrOuQubEBHSqe6dfc7SCT6HSsyDeZYzjx8iob1r/SG
6FwTmBnWFNMmgIhIZSZHppQWAAiSXL1/tPuuIuLhdoTrQvbiTecynmq8dzVlFDT7OHjepOPCQ0pj
7zD6+FJDgs2NYnfj6JuaqX/GdwCPOw1bssw3wvVQLzO7Q4lTfpxtWpk09nq2OqMvWXvUN9yKOerp
WNwNmTVStG1AZ1o21+ROpTf1R1Fk+TqV+gtI9r0ES7TSJpopEeuTrelyf7Fw9LfAFCl7sISWrVsP
m7wGsnPHfWpaK8rCmcPTLbVHrGo3Yx0958ClNx7O5I2pk9Kj5sj4CmRzvKIlCgjVGDf6Gpcr09Sg
sOYrbtf4e1x4RrfC36yhRY8BW0tNO6QjxritBygYgd9l+bZjdieclkCGDXZQOJQVLPGgbsnS+0x7
f2EPX/iwf93HM8jl7K/r2O5NqIKfdthqnhE4MQbvax6gOGvp9W6xx3orv2Gf8DF+JICOyGvis9zl
AXl1bnjngrFpnK7ofvjFQc37u/ez8A2ZLS6H3c8HNeRy7gHeT1MaD8DbLpp8GWx66bMounMEKmL7
z0eMZbf9l4NMoOOGNnmlj+zs5+CesnunjAegWX3NJkxETMwMweNYiKS60OypOvzz632uFoEDyAt6
DgERvIbWT/ED0bDBsd28YEGp8QiwSiB7KiAR66wpn1uNvFuuEvaDjj/cfDx2BjLq7i4xscYkRqEx
kAHS8THQHRXP9X9+f9ZPxxPen2MsUQEMfChJn44nckwrzbc7eEcl7c1dr8r3ihkCSmg7KL2kI47N
NjXn3EgAgdurpUkSlz/vmJG9yVC9fGYrI46+SaRtMjl5qnTJ8xQM2S9s/DEn0WQNE0kVbNqepOGq
7SJnH0esytbIwXVje2V0ZxGjeMZ0CNog4P/scJx5t+SzeQBHdD886Gmafft4KgpB+DMc5txMfvFd
GMsp9vPF4bCjpMHKdYKf8paosxFaqMr3rUvO2NFUhbM8i8PBsr/WqaftocD1Kz9LzK3TBE5I/dmv
Sl5+egeEpMDc8KPgbwULyn//g3kK7NbgSqoE9gxpSAdTKXsB+uJXy8BPisUSSiNczUjHppvq82/e
pWBqXFGle9dm8+zGLFxCuuAFTeDhKzevSCNkHB6SnE3vP19v5s/fMVsU/GbwkEie2Z+Pw5OR231T
DAlsPZgUmByr4KRFUfCt7Ngaqwp3/HUAoeSBSqOHPJjqd5qkhk079ZSYtzjzQczEmCnINHVA9uNW
sp0Ecb5n/x2cCDyrV2wTUXvQyBzHvysu/3Up/kKvNki1sTD873r1Hth5mv4oVP/xr/whVCMA/0Yi
m7wochVysMuD6Q+TouHqv5mQRXkY0Sq3QM3/x6Romr/xkPJoIiNKabumj9fwD6Ha8H9DrMQaQM7K
M/hv/i0f+KdqpaW+DD860p0Jko9w4mdVV3eDYs6c2LxTClssfbolm4DeQFAPwcYEJ2nHzW2SFs13
Di3mlyTJtTPD8GknbOAWYZH6FDOq0RWwNQss0a4RtoEmGXb38knpOn+H8QnVNVpfpTRvjBJGiXSs
Q5WM1AWgG22kgQHM1ADqMFMc1tROTztaVvPz0rVCoMRT1Clq3ZuYNbZ6iT3YtLKmkJUoukF+UO3w
jHoyPXsWJzE8AHxtYRL3nNp5ps5blI366EyafOnMJHtuIX7e0K9grE0/m56mZm5AWca5h4lrbt/6
JjY4oBX2ITYpV4gT99ZotTSlOFKZ94tLMf+Fivoh0f+5+H78BC4GeH5Vdifot5+2JuVs23jTlXvH
KS44sBdzNtIcyVMG1YhkRhS+9eh0KIObypPmSXBUZ8vnEmEN05wjwZxwAiR5QHErkY/LGXHiyuzs
6pUcnPYoakedkwkjnZNm2SUGMCNZ+YvzDAuYv4sTdKVOWdW17zf3bcE50pHDyYsH84uZmDuaaV6z
2q1ffrhJbn7/dD8OExaS9A9PHD40hOLlAmZ3AOTspyC89F0/Bpgv7myoxU/QKMFoVZXx1TDt8UaD
fHHoMqs5ULbebuwEt8Oq1Np5q5h+Xo7dqL9IcG2YBcnTXS8M8ONQWc5dNPFPtWWab6asYExp5nCd
dK5x4mhAlMqPHjAPmrsgxdqXk8kK2Z/o+1QMoCU1yMh5b7nrqWraDRwrrmmr1fsLfbZehdudhsY0
9h/PcEqhVQvck5qfcco3ozOYGx1X3NZJnwoKMI62XQ3fKXInvtNaw3fJfPHwIX40rdHTM4OBAhlm
26bAnLgp8yuv17iZVJ7uc+sVk3/WrFD8XMJiGSNjnxEy4W1/7NYpualV5SFm6TMHUjNFDPSEGM+j
4FcCuJNml2Vi1afJL8zHCU7aG2wYdA0x4C1bOdR078fZA2aLzLYn2Jfixm/1y4/uG38RgKiT4cNB
IIPnVCdztp+aJAtQxGLzjJI3XqvW4Aul0XSbzmCtB2e5N7V8vqWrVj3aiapfgjiPT7bdBKGOs/Pq
n6+dT2sWmWaYeOxVLLglAb/lR4PDD3sFM+4jOKaedk5afb5tg07sNEMVDyQTUSO8LgjtYLl2mmr+
Ppj+HKpWyYl+lyl5zWS1wHbM6MhZsX70aluui6TQyZ/Jr2NgQ1Ht3PKe2vYAF1vjUBXWw/Uv+O1P
FXxdsEOAhAB3AYkoK/M86vhZVh6icohSPF3aSZSGLFfTtrdxaLCgVjmeMtkaG6fVzM1S8cPfHPvx
qsmr+fbjspVZHVA+4E4kFR3jxPk5eq8KX//qa6V6DGDiPhLkqK8wvVLlAE6I+BfOoPRF6PmurhqN
KOIIwmhldZ27oxGRboDcT5B+9Bpr5z9//Z83Mnz91G9wlKJpGiwhzPG/btWGmqNdPDfRmVobCM4t
GBYynLV2l80Bn8BgPhICP9O+ZFNKYTMjtkBejo1Ixp2vpzxeLO5BVISijo5+3svnvHebCcYnNUH4
kproCZslH2bxKB9qwFy/OAn93QcA0cLbcuHHe+bnpLCYc9UYxB7PhUsXxZgZ4xVKb7yt3QiZSwnW
mageWC9MlyVGJI62cX0hn/VIdy6MwY3eufcsFuaJ5OzoGSd3GPNjYsou2taFH30pvJpgb0I9tv+L
nfrH8/jPh8Vy7bN1JMJrMFChsvHze8fxnDazPTjnqnMcsRqUit65miOfbSCqu0FD12XGcem68Hqx
axkHYsUHQHage7g/Vsjt4YCH9lA4Q3PgPK9Bzy6DXTCgAYVN3Ynr2VfpCbvMeDOUBKDQYwb1TgsF
HsAgtV9UNHQHfZ79HgvOPN509pCLndejf0kSt6jQnGPbrosegR1ntJRr/pFyKHMTgYrYFsqKSVIm
4xOYHFqLhj7CK5IAYBSeoP3LNMc3I2aSiNBiUzGhpGlsZqT8rVXlLwYTRpVYol5ZuZSHgiTskyDm
f2BPAJNuufUi0tivTUSiiEo9/kMIkhEYoMY8Y/fB2l2C8QwDwIyvulTzNiPS88SV17/ZRbmsIMtX
k3nRERV4vly0c5JVJSufTBud0FqZf9EJoUF2rt30q1dm3+FaV4c6TsYDYyZFngwjq2Zja0pG7HcO
BuIr6mR4lvzzXcgm8S9PUK4EqnDYMyyQnI/t4KdtA2t12am8r8+4yFoUNYgk4+pjbS6GEQtfVCc0
iS+O+mRO4i1bMfnsmu1MbIE1aYMUc0g0gNdkvopjnWIpXU2lnuZhr2WIaXEsti0db9yuTEVfJtSx
e5b/9sXEnPbWpZ6trQPXKb01nUscaQXbsctetHCDPX3iOrAFjTOFVUTFtjCiSl8Fc9ntfZw+62mW
qGJ2eY8/HOqelyjgZRpZu6B2tVucexOMpk7vXmuHxwrXV4I4XFekeme1s7lr916RLlvO5XeVQ9o+
QsDcAwxilAeGc95gwHg0pKS2pOIczftJQFnDvtwhWnKxZqayQxe56DvnxJL23j4/VkamI5QWNORh
1at3MzbH6hL2tx2EElz5A8+B9EFpGXVas0R/XlVpmT0qLPG48vPajQEnezq4b4vVACuBTF41kntn
jSpmNjjMN4+6P/KoUqW7buaFS2Ml6GzkBUqdj5uz5BWV4otSQ8M/R23HbTAlhDDRj5Vtr4vZEF/i
uFWHiBZ6m56wzHpJLNLGYWy4Mr/QoCKy/Qmm25gCYm0z4x18KWGWcYCsS1QKVnY91Agxn2JnyI/w
OHPs6gPBDRQgEnwOKN2lhSz1uZ66+TYTNMcAHc/Gc8Peck+hZhCvFGraO9E6/+B3s7YpujKn+BMj
MkzDZh42dk+tqa+YyoVugxML0j5XYcoksVqOsOs2oGRv5chIR4Kei3eylGesXuBJHLat0WrIPYHV
NS+vPGo3b2iSIOloFrjuVDDNtx830n9Ptr862fIQsX5Yc34iPx9en5PqLwfb3/+Nfx1sDYMeL2zV
nF8X2syyPv3rYGt4HF8BcVAYy8EG4e1f/qvgN511C+iOy6pF6hd95k//FcJM4C4SCesZp+F/x38F
OO/T6rj8hUXN4oDL0vmT+pgbUd2R9nevnMTWDnEkxvpCeBNmVI1KSwe1HShbbjFp1AO3uJtT6QQv
wP/ekmp27mwvt5zQqKwvYNBG3AJaeoEPjUwvzXhgFyREz5IFTQXVWsN93561woyBPcTDUN/roo60
FaOcwiov8iBVO7IUlFV4JtUXKzzN/jZViTiU0cTil3VMOCYjXouysNc06TjbJOXxvwFKeZszW29W
mT5EYN+lPKmO0tXJ7eujGTTDK/2d3+yyxWPPjOypwC+x02UqvzVlroe4zN2Da6lnq8m4NUc/Ie7h
mU1yMU/JuNdlZTMY8LUrwfFzXHtev00IoDdRiEOCbFroSeYk/dahBYrtWjpk1wjk5iMEkJPdWXJt
pKMMVZro50kt2ZSuBonS6o+Fkwb3ozOSxRU0ZkkzeBxH3930+hRGVl/ect5lzN015lVTlpz0iIUx
sk7TUwlR5eC4SXoZaMVz0NaEXUBhbBzp5hd1mQe7otL6F5V70WGCArHNhVHQDZmygcgY6y0bV5it
qqn2gZm+dZ3ZbIIhHb86hj8wSUxRN2vp05dbFv430+zyjUMVCd9N9Vim5SMdGemlqCV4lWTon6JW
czZstJFq85QebumVVMsCOgbySTrFoIkhKO+8ebTdVaQn8rBckfc1qI6tb9CwuiILmO89E9YKNgmv
5d333lpoOKF3OkfNaS2LcZmdQ0I527mR30yTmq+jIdHDZLbrU2KZtN6m+ujwKlZFWNGzd3ZWsF2m
ZTq9G1xVnOCLTqcEG/slvrBsi/tguBmautkKpcbvrW8zQ+U01YZdrsl32myyjjXfNnallw0nzPLp
foSLeGppHWOBdof4NTGR3wspnX1iEJJcwR/2LgxOuNUqbRf4uJj0ldsEc7ECSQ2Bpnb7YEXPRPdA
exfMgNqazG1u5TWuXd1L1ybWki01EE6YayU4i6o0g4u+LAlWtdIGgoq3vtkGA+WPNW/Kq115VPOk
7mMcyiWxeJNRJSnKje8XwR4zhntqHO3VnR2dp2iyDLuiGCZJo9GyPs4cly2KPLdepgePRAPzBb58
ISPipxQvJ0TFHP0Fn06xNUlRfc/raGaTWPY8sPrE3S1lZSsCTcPXoLIt1KLIW2McjehLwagTinyY
LqpBs9vQJ/F7hDM0yDVlqMmGJpf5BnRctZmB7ISuO4o1NeXmQZl5c6YFxgHVOnRLz0N1S91cMq0y
+imIK8XpBdUZ08opA58RWMBHomzdp9GCuniy8wMwlqafNsbcZxjdo2mTDv58349QanvOZNuECds6
CSZ+Epiul4lPDYzr1msj8psvKEHuObC6fSOs+XrAu80o0Ts6Hbc1GV9zPKRRScxicKubrDS1jTEY
amTQ6k93zJ7lZal6BCGTPtVUN2p0PmJU3dAMB39Kk+jAaMKjV6+mJI/whjVK/ZIEAGGmariN7bo5
TZkEJU8b2JXq+LmJNSahKFMQA3odrGNr0A9zbbySenavpF2LA84Z81AqBqupoWCWC2miHEbxrjGp
AQdk90XzQA+zJ7faO+Iu0xvmVxnOmjftYfbYt95Ul0iABnk+dpRJaKROvvO6Ua7TiIVcN+f2Ik26
8V4UOrRfKWK2hL17CUNFI2LLQhTEyUB7SOA/WZWe7Cc5sEuljnvT2OCfSK457hMPwXkPn0J7M2Aj
Q5ROrHBy7e49g0tGPXBanVWNKAq8GxJErT/Hcxlv6v/P3pksR66k2fldtBbKMA8LbRCIkYwgGWSS
SW5gZDITgGNywDE48PT64nZJ6iqpVdb7XlRZWd3MvJFBDL//55zvWBU1FtTL7sMJc8VGMqy/c6wY
7vu6uiryqSdohs3G6Xt5Z9+qIteGPMasw/XRtIroQeU9zhuWUSvMM7/f4y8tEKJxqVFmPyVjkLu/
s1vGDprlL7ATHNZ4ZlZxWs6QLyh+us8NEmktCsOb1FGxcbGjXP1wjgiKtv77GObcG44vk9ULqyOb
RA07aKQLpspQbL3C/SgB/VGJ2xUXK22a/Wq21ucMBZXE6/qDIEe6sefFPniTT/mYCYTwuSgsjQ9w
DY8cLK+raR2ZHjgX9FhZt6UJujxuUIgSKheeZllmb/RV1hsx1gqrToMDrFJLExtdNr+amd+dIqcL
TlmYy5AnaBodeG4a7HrMewWt67qu4yNGsJteYlZ3I1/YxuPaYyuBKwARLuaW4NgCQOTeX6Ff0zhz
LcnxboA2tiF5t5sxosnCA+S5cZeFtI0rZ6w3ZpjSFSHLfeurkUlchITzzAJ0fU0ZETvm3VhzHsoG
OnVsXXUQENOaebvn8T2n82demHJv0Md7t04q+GUFVfXVY625eKp/Uk7tPa+h+8NcXHUpo7QjguIE
x36A/hWOwbjtvGDC2ZCPJ8+vP8UqhmMuApYXJf2QE5Ggw7hWgR9TlatOBYkaIvaZe1VZ0z6unKfw
/E3eFAvxZGXSfjfmZr6PeCuzPLLS6c0qCuNQrZN3X0tYanbh7VpHdMzfJjkw91UbsxubYV1tIW6m
cZBN1UsUZnI/DmH3IMPB2mgloel16e+QuPaGLG2+J2lI+oUMGAiRar3PXXe+k16Z/ZwiRUGaQpKX
a9Ulru+tf7yueoE50mzsUgTPZcpHGCy8D3y+JfaFc554qm5lbn2kigBH3br5A2u9+4pKjLP29T3q
qfuj6kqi6sJxt67RTze6a7TDnpR+9OOi964u+g/yIoSJIoCogPGnYzDTSlP56mPGVUEwvLbonrgV
IJPfqcb80xg98uOLQ690KNYTTJqYjovqTg93Qeu7pPzaerq4VZthPDPbDUJE9UMYfvPMUFXeNV3I
q96zOBAVcxmKh7YdrH0UZPJSZe6u9h25D1knnhFdm6TRnrHPhVvvzNzO7mH289ixxYh+LAoyk7Pw
HztP6iPlFARgw5GqYyE8OAjzB2gUsWkDto77ebbWB0kef1N6vXXCq9js0Nv15ximIb1D3cqQUirf
i0sqqJvYJ4meeO2qfzUo3R8+pai4W9VnnYGG54P8qce62wkSYwBaGqM/LsoMaVQojQMrQapug45y
n9hyy+YstU0yHg/Adp5qlhGGm32nQ28ncAdmXmk+WiZ6MEH6Ujww926GwsRfaPvrzkwlb9A5pbKb
5wCJU6bNHCnhkDqG+ScMQi8elmqKxwEzZgtCaGsVHJYZPfqtqsonDysvejydeHdpinusa2xxNPlR
f7T0ix041afboBklRV+EDIAbjGpDelwl3Qx0Pe6CNPjZ5WYf7awx8OJiNZ+w8NwgNUsmLtY8WL+0
DCqqcDUPBPomyOGX9i5t1qqxnkOdjoLeqQnf7y9agCc4FHVTUcUX6BwC4Sn1qJS6G3QYtS/zMvGt
tcO3Ngw2bA2Tcix631odIA5WMG0a7HuJFxUlLdx51lBRlQpanmBv/Aaol3/PEZ+QGcH7ye9pP4yM
MoXFnuSRSKemFXUKdQICtDiNtI2fO8mvbpXfvjvceU659Dv+jca5jIiSjYT19kXgyTbOpG7Yo5nW
uS10eAS2vXIHc5i7BKP/suY4gTv4A99uBQEUPOIq71IvmrdksvtrX+OGED6lxEYt6ydzpmXXBzJA
HDafx4NbDeHtaYCDsSOH3FIyDC5E3XZORXnw+8qlJ8Gz78xGgdM2UcIKz3S2RPN14vlLzUbH4N9n
UmHxQxeT+6as0mP3VUiiwsoyQA2aFW2AfHNXFjXIZNWwvFMN85CJkK/VxFX9DM4gSybE/nQzjKt5
XmRmb8SgVNI7lSYLQkv1GKeZZIvOWxgcCSnzowAdSmkjPo+TroV4ycJqeB8YPTkzqemyNGv2XHur
2oW3L5taZAr0ooHTl2fX+QUD1tzHEN1ZTo6SinKhuuc0rc0hKVp+6Qji4MhyurkOWYThsrO6V3hS
qGIy7H42bfaasly7d212XoTpTePg3GBGcRORzRsn8w4ElHymrEs1SZrKJjiPOnefcP59BmtPzF6u
gJpiIzfXDVgjXvsFtqiZLyT1H8pqqd6ECVAgFHO6R4OheXAZLXvPUWj4QZRu/qY7w9lI283uVJ3J
hE/U7ERPjC9hv08rhw/YKebowawDr8lO0tybv1amPiZ+AyBY3+rlsQtuHe1NVBXXPouYxHDwEY4X
o72lzsza2sEaHWGaFMd8XcW9l0/FsSYKcqlufZW48rmYTOOrCtv1BwzA1It9y+cvRzy/3ZpeubyV
PCrA9k2zuVlFsD4YS0vee5TpfrCn6trc5iQqM/yYVfoQW52ZnVIb+CumQez5ZFwPjUgtmnCsG4Sh
uQ2yltffew7DddGY3u0JBjlm6eYg57ITdfezHeawfrBKoZxtBXTDOXcWb4GYLHMe0j3pEzyOWYms
3wap+fnRisjp+zlQhKKZjOWNHjmpX1aMp7xfMZ7iSnkcTYV8sR3HwA6oOXF6Pd/xlfRhuGuzjj5m
R1kthvn/XruTyl3ADpc10/vUCLqXqqr1679b//w/NFvrn9wzZmiydfZCLCwsVyzY7P8o/MhOzyQ0
rPmSGcpLjAgfkmWDutf10QiBmmQfYKb3k7BPTuntSAHsvNzahkF6liOaWTts+avuo1UkJbGD//+H
+yc31799NvQcywU9juv9n/x0tTV1jQmc/iJlfwkks2J6KKZ/pTz+01Lp9gXAdnIDwAwkBf/5C6CH
WnPoneZLYdNVzn98o9pRpvlvAtV/rST/xUqSlaHLz/U/Ntu8/Nb/yFj8++/4+0oyuiU/b9E3K8LT
R86Ti+B/rSRN/2/kI21US4vuyL+Sn39fSjr+39wIx9mtdwOvHXVr/3spaXt/C1lHEqNDdwswNP6n
QqHsRTH7/DvXg4dqx04UDCRAJyKq/Lv+8Q4yB8PgldeaEAPs/m0yXN5X1fIr1HZ1WS2j2+YI2bEG
03EN5vCMJ2f66U+ie5at8dyZvTrRyZXHt87qswvEiCWY46f7qQUoOzad8TkGAbWlfmuyXwtTnk7E
ZDP12ATe4jy5LjSAmrpK5orjCr3CvmA5NNsfquqoFaLUaG1Z15FTkOdQ9iZTI3RgZhzwAxNoHxiB
pXB3WGnNYCLd3ffdjypE8tExS5rK4syqfV6+Ns1J2yA3XbXLK15Wp8GFpQRtvilxg7B4XWBdI56s
1iloF/vVXTLVwfdpLSwt7C50yNuHUrAj7ZQeIABc0oF4SRfDGCmIC9C8khyqw6do0vA7w7EIwNZW
WnXbnpQ641SogsJ81msvZDLwEdS+1K19F5rOCrGB3kvQDOxRNvMQeGoH9VdM27UVN898Kw51RsmL
bgroyFXjDAdCJeF2huv5jhXPjZkgcmIKNAJVzD6xHsW5A81zEPb8KtrC2YthZgLGo38o54xEe1dn
+VtBeD2DCFUcg1CfW7enQmwc31RWk6Sv1KNT65y+vIlz0pT5vwadzmRk5nfMWQrkEGYE7RwzXb7q
aWjiJbLECT/XV1a0/ZbZc+TQOMJeX416P/KVGiwtYy+g0VUFebCDHbSHSH6d1uLVr2zMBcVwt+I5
jPE9Xta8oxVtHN7bWp1YwTaHcihgzhVOosHGxGqR/p2U5On6bn0kGtDGpV2+SkhYydgb7basp9/k
p/xz7UMKnqPWZ/aGKRkhA8fKSZNyGcu9O7lYxtfpwRa4bKZpAvpikTvB5pnfsyntz+GAkYbtmXkM
Wuh1jV69eDSyfLOqLvwqRnvac3gtvsK80yfdL8tWUhNyxfzlxo3IfqewLR48Y3iG4UNAp14q1uEs
gRpqPm6RHz+mUJktYbt47Oc9DDiY4448F/Idum20y2rP3Xi5Ee0nf/7demV9HHJicinPjrjM0IQ3
kLu+WgeQzOQBBM2yHk6HWaukbfHaYx1YYGIZ+GzMqdpaBiN2aOsXy2vMmPnrFWQzuIiGFJmSNGwP
xpu3pGwwQXac8s6LNoYkdIQDrP+g6nWD7TgWcO+QE6eOQ8S4mCU78nKknnHgjh/7sEscqJd/WqIm
BFpI7DLd8/rKkl5MIBOWWhvUvZrjdWEcCp4rt5SPiDDssTtKTy6SZC/SegH3hTOPoqx2FC/Kr4fN
YFprti9Ea5+aMetp8nA44aN2NOUap/PAVqlzNmY6TY9iLq3NRJKFw/RUWTGN2Mt3R/LM3GaBu5zG
oWiArIOWjfYDlxbt1vCV9Kbj05K4VPPwx+o6RlqOLnLn63HM6bxTEffaHMFpcM1Ozhfi/updeVwt
NibAfN1ZU23e5U1U7+cC2kXeGfbeBMIYd+WM20r4mNdanhKauGVrwubxHKJv9OZyApCds4WqcSub
oKEdj9BPbbnRa1BIfamEQRlz+WavhQlND4Rj3Q0nQB3uRZh2mfSVLe7AnX2nKuyTwpbFa92Lqo19
6RVnu18mK65HWt1Wq7YecYL86CobnfVWaIWfsmpPVjTsMIxO99NYyKvrRMZz6arg0649DIwl5fBr
HeH0oZSN23jWiEEpp4bdAkf97KcLoLV0UEk2DAMoKMKl/DkN/Xbmsu9vd20JAPapXicHHwt9hEZX
5XQPT49V7haUNqrDbLFVQGHm9N+FaxgvuKKfZmd5x6TvHdypjn71tnoKtJvPsSqd6eCEw0+fvSpi
hGlsbWc6sncgJDuiGMcDpb5/0tZ1t8IYjDsM8DkHoNFKGnONtjiuinjJwmyXuhbPA/hWrK7Lh9Uw
p/NSRCJuljEAiaJZ3SvBrYVisgUNnu3zyKWDDQ/Xhn04UpDV7xcj63kGD+do5Km1OguHZixiG3PQ
zXEoXU4Dc+/FmTVfR7KbcUkZ5bZ1a3aLYxsdOq33xtJFx96cKMWzNNscP6p/cXaYtqZxU0ksgzWn
KjtKwVu0vii01UtUiChxiFUlnVtFiRq6Y2QghfcoKroLftRFwMIimsedqQAukfWhsxMX4DZvNAvB
sdYno+y+p3I9V0M63ln6ZiOYoU5VxIgfSG2Y97bmBwuuSuxwNLAOZwA/GB54SnbTCBhNU9BGWNJh
EfJ3HksgPyiYPO86/2OFhBs3IZzgvBw+SM6Wd8jrJDwWyqVTZ15iOPbWPdeA2qvChQ1Vln9Gv4p2
Wq4fmeRPLTm4gx5avPSctlYKPAkdgBd/9lVLC/29GvpHdhzpJgd7dJndELWwsiWp1uy9tbw/Mup+
4yHC7OExMEzafatxMVBvrrrX6tZVuALrpIZUD3/60eWorYgruTxEWf/N+SP92OIJhCoaWmiv9xDQ
+RqC8mOscQnwMG15ahfTG5k2XhiDwy6Z9Th1hlA3kRbj0S+qLxtUGmExoiyjW/vQi4Jl00RGs1OC
yj/bsm9u+hW6nLN8qZxl4gT1Op4jPsPMXgYEYhe+KoSBx9JRLV8ox3Ef4W7UDV8YocoY3I9457Yv
h/MwN+FLF3j8XsdcnvsxPfqIeRujirKnUVXzo8ei5j0Q/rPn+8gtVXZx7VYdHEqfnI3OBbImUE0e
ZkXu/sASMW9ukGV6XMOtu6a+velUkPGTnuYlWTuwZQUim7XJWvvbw23jYVQtiVtKq32YrHU4mKsO
iLh74QcxUvN9NPUvIdPhYTUdQ2ynKZ8OQg7OA7LwhIwkdMOTVQ5Q3cg6R/YUsQr0PK4Is752YeRd
58Vkd8ZT02DEsOl19FxV/VG9EwLMUyLjZ0rgqo2XoPf3Uloet0zjDy1WNJzIGzJlmGkz55lc5kg6
3bznWC5+KmAcX03WnchCpGsi2hw5NnO+2bx6zw19sL+sTOBoXAH33vosR32Uc8uGoChzMdIku+hf
Jj2fiWxH9byidB7pcw3OU26Q0G38R8xW0IiCIUgmXgf6QHGG4HL2p+A7zYJ6k9sqeIgGr3jzZO+S
2S68pK/nCoO0IzeyZRMNSjQA2oQUcu0dty82cLbVRZcEkfG5t15MpHnMEo7iQ51MWi0PDaSXfWb1
YpcG87DDfIixnc+1H3rf2AtPpPW+w7X0xtOsfOMVN/7EpmU+l2JID6YIiqPpzUy8aeefQCyy6CgM
BfSSXEz1mtmFWEiDLjfPAYUukWFzQ+TmXG5lUUUnu+unTU5jLLRrt5GJP2UmDmb0hGHVw5sZruM3
ru7pEKo2umuFGB7I3/U/sEz3JfdfK4bE6fykrD32ekxX62vUDzVUKAK+80tm8YTdcE4aIb9H0vFj
tn7LtC0E9wNdj+6t8jet/B8zCrL/kwA6eD3WjrxZw9GNuBF7BLel93WGkO76F98p8/cpmH2EtmB8
rlbY8tjIGuNcNbp4BxzR7Po0rN2kXnV1RDA0E0H5ahgTeAGprm74MlgI6dPEL6UjlsdrX0fPkEQb
hrBu/GrqBmdGHiCHD2tGFSUjadVM3RAPFPC9WHQExdjT7T1bm5LwjOp2Sz3kCXuVaiONtVKx10tv
N1vN/FS5Xt8n3prWmIGLcjsJa7yvm3WMXVs0hzHQ2aMtnXS5hoHo2wd2bNpLokybHWxYbI82wwKu
3Qj4aIwnwSYkz7hZQEgkft3N7nM7ZHTV8Bhb2jDo1UFEeQ2WWCwTsHR9Q24pYW2B6Td94qD9xVJT
dMvo5DuHIfe9NzssCFSv9NAGh77kXvzCmZMmpiHS7L4Ak9bFXMK92NoUzRB/hFOAEk+yM86Hvr2f
BlhFVE9aV93hJaytztiv+DCwcyzGqZt7eey5JikncYp7bJ74LO0x+IPD2v1lEvNj9VeAEdzrWr4o
VKvi3bKoBq1Bw56Hm/kxxDLmJb4Kw99tKLODP9aM4NaAYNcVffC6CmjOGKBXdxuxwN8pW62fJoP1
HTFi1tucjwk/mPuWP/a0koh4kvhcfuaYCK9oHDQ9SpDWeEYleX/LkbGVg4fMSpzsrZkyHeBk3Oty
ugH/BbosJDhaXZCJFFMkFjxyqmtjiW3Gu47hnDJanKDDdqyCoyGbKWk5uLOULaJdX5r2p+dq91CX
PcXIJU8mHHZhHLDC3QOgmPAqeuG9Q88zP16Vz19VZEz7ynYfHE2aAgrEw8QnQaY3bZap9nJADu4Y
pcbsnkbTUBM3dWf2Zn63k5H2tt2C2Q8DeGXGlijy7cxeeRvRp8dpxCg/FDN93EZBfTAKIgnGzJuk
mf2GHHI1qI1hGnjfBQ1XbYoI3USB8TDgWcI4mR9GTWmuLlHkvYwyJCZwo2J/mee/pfTdM13ABQ/a
Ljuk2AndEqi/HhGXFizzGzbK9bYvh4mXzrw8YcaPLpPOyq1oCv9Qwsvb2pXJAxM9+4Rr4DFEesQ8
CCpwM8rsUwWNYIW8DOylrS680Fndb3RtllurSl1cCZHznkGDBlKuyFXWRV6/01b93jkBkJAp3Lse
NS9o2NO3qXmx0q67gjjtK76/EQjA5GFb0piwNwuUzhiR1E/8FWhB5ORgHFuyvo3+KUMOERneyLX7
bkT1E5vo7XobzXY7Dk2JIcZxsH+zT66KKD2Jgr7tUuk0rjMTQo2z/OWoBLmIPMc7L3N1d9/64rbC
VwHoToJFNmXT91WWlYBaiUQlo6vHcDtBxLmogXmb0iForLf1jw6VpAm9qxC/phVMbGj+nhuOaGIQ
06F2gbvPcOKfxBCwEZD9ryHXwykgL4ImWwYn9JkkzxeJ29unxsM2ypMd1NPTWuIAzorui/Mao9jS
3LAbq6iPaGATHPdJLW/TkKqYfc/ZobH7lVHqpTC6bhP0Q3CX+8686fTK4Njmx3ReOzJZo9EnzTR+
RFZ3RjJ1iMnar5DugVJOrruTPnjUmfDzW64twvld39CJhG0c3Kf3gvPUA+xb2nfNkt8XRvM+yECB
/MqfEb/+0CvI/LcwHTUZIaG8td8dMsFHeqHdb+VRJmRmvZNIo37VUAX+SFkb6y5rQn+I2XowfGuJ
h3b162u4DFAP20xYySBDgD8wZiZaISb6QaJlvnbWTdLBtk8aigXEjN/NJUcmasDGQOW9fTk60RVw
mjfEUE9aWOpTGowEx/PB4E6g9dws+xMt8TGA/YxqkyxN+FHJ4FwKD4S37zJYW6UB63AtCyv2bVTC
7RRWltqOuMYutuWHR/4H/6hswj82dnNXtDw8wiI/RdLEqOvxcrVIEqWlHLt9Sf34FlcCwZMAkoRX
6dNaBCW3uvWKSIx51hoQhOzbLvDma1miMYgDC+QJ9wRTXmF5e9tjEs6UzSPB1/00H0Q7HoKpA/2z
njQXPNk+JKoS0kQaKWadyutgDwUndNBhNztETILSr07SY/3XRSboX0Z9CnY1ECKsa302PUVC3cJM
XPHp4m0j3TwRt0HbrpfgSGYLSrMx5DhHFhaIa208zLb7VliuuhtSQyYzmN4NgB+yWaaEJdzW1kEL
Dme9N6pjQ78dmwuIt2bpfcs5jZ5Gw2QNl84EcNrlo8zAs1Lt5uyCsi9iMThfqTdZz3CJysTXy9xj
LWnn354KpmeefRSv+h6mR7MbT0hY59C0xMZKDfdc9aHBnqUoIJCYZXnAmXN2h0pt0tVxxwQLVTRu
g8xCfSRPgAOb96NFUcGuLBb5iUbTvoOhc+qkNNb1F1a2VFOiUBqfLRLpA72hxkHwwutjJwj0ISxJ
jQclR6QgInFNW2p26tHOt069LF/MWdxamaw/C2GFD+3spOd1yMdfgFH/ZL21IBQhZJ861tBPGBPT
jVfgWNzIwpx/hNobH207d9dLj+URQTegO5wtaJ3HEWSgZF0jf0ctjRUkfllg1rGLpkckXOSukMg9
rpkaF6vovWnj8TI4FOn0smTeDyYE7xkCVrvLgI4euA+Wrd8ri8NV+AphnCd83tjPmQlSnAAHkHeV
kp5vYMnWabghCWsXScUh3bibbYaa+wrMb9wNU37HDDHoHR6nFmBo4Y8nt+H5E/sDSuU+S2dMalRJ
55jMw46ZpvYtujNWPJ3OjLtpE/ht/9rjKLvrujCc4rwliBmPJju+RYp0g55vvfutjpwLXX7my8Qf
4CdhN65vYzmAVqJ5jqURC+ocOsuizs4oATxz9eCJkfOwn7umuF8lshM0XCeKh37MmJiWGWHRHuqB
1/xtEuIp845NHrRtn4fc2qMYDnBrW+BCGt8FMYIQf6pRTbToOPrZGyUoE+Jd0sdzgLFP2kb0SoQl
+waSJDALw23RCTu15bqUk8ZowY2G6VAvNz8NB29t84pmBK1lMjnyz8x4vUUieFoMxnooaeZJlv6Q
eHKc94jg3ZPOJvtNCCbwxHN5YK+9Zz2C17Gose6m8KooJGPi7bP2sVqN6c1wi/Hk5B17mXqFdt8v
xvBWSsO8mPW87G1apSIOr8p5QkoPrhFAqBo7XhrdGUZufy1VUZ4GFU7Ptu2wDNX2yF1KhUqfx4Dj
GvrsFLaBwlOCm3K+gaIg8gsVO32EB4MN/8D7BO9YdScse8Ej5M8eP+labDGZZCLRpXqElOvio1yk
vXVYQ72Ya5CdBO7uDY27y59K1tZ7ahGX500xhAmbjv6SR1GRwRguurfRv5nuDN66GVZMXvYI3Rx2
iq2ZUQQp4YiZMavRuz7VNBvN5rCVyi/v4UMAfi/Blt63azv/GEQDjtjXRZ3k2KcIRbgpj5MBVHDZ
yYu3zOGhzq1sq6YVy46CCu/IkqvE6OfhHFa185PtrcFLbJYvJvPdPWmYGTMq0z/rzIAtjZFfARdN
+EYzQNBoGZtMqvo8DtEvY7KsLQ+nFLnZGxIDtMg5mrg1HGHn26K7RbGt8LHBOXWcIa+cfCMAJUoW
LnEHTh0jEyNG1qE/qTwaz0YflPdA/76aUFtb6qzNnQiXT+jU+cbGJr0Bf81a0UqBvHT98moUTroL
sGFupb06uO/dcJ9PUm2mfrExO7TsbNqyWWwWbWuSOxpGMFyRePBaZlmCdu9FResCR4WVJKr2V15k
anwMAzxbDHr4KBvo0tVVe3mBQYaXjfBK2MYlCZt7lHBaB5Fv2LFaTBptvqOnk9aPdr0QLeL/N1M8
dzjVZ5KzsT2Vr5GyfzoZD2vPaLaF66x0ZOvPqLnlsTMEj3nO4YYbFeCbwGh3NliHw+zSPZWJ6xpK
jgqu522i0Vyxs6wPFNcSAhbdm1SdeIQ4AW7UPjBYDftpdacPgyQoxk3jp2Na5s5cmZB1Z9A6NvGi
xtb1WdPR9TSP3dPY2tUSg+Hh1W7dDoJ5ZTyEhH02qWnnR+Rvm2pI49s1gvHc2k2Pu0G7cYEMxqIn
cn8OM276rNb3k8Q31lfd219a7H/J1v9CtrZwYWOV+I9l62NVFUBF1D+Gaf76TX9XrsMADTqwHQQP
DjQczfnz/q5cRxaitufDaYiocPfAh/yfOI3NP2JbBsLWD/gQtxAME/6Q/4//hqh908Bv9M0bPcL0
/1PdVr77f8FLiL440CgALQeeQ+35PwrXhU/DJPNqftId9TzxLNmBebRk3MkuIKGwoJ4kLoi6Z55o
5JuH1MNXZU6hRykDZ5zu0PMAIsfWVv6J/jk33VawE4F9UVn5NDpu7e4tESzGUxmJ/q1rMIJuJulk
HDVZLKGJ2mrC4AmSLq5STLbxWJsrgnQ7+veRgFkYE5pbEbXX4SYFwhbCBOv028kSOt/w3E5PJGUl
CHhGua9ILMGvv5peBh6Y24wNaRPn8nZaXkLP9hKLfIR9H9lshFRU++cZmkFcT+NVVXASA2XhIsN/
aDr40aziGdrW8qRzc7j0mV1fb7VFzTbQrZFvBPhSD63RZHnlC3mtPAmkL5s7NrDtcshmn/Wd7Is7
3EJ7Wgg4lORt0e68BgqorXI284iipcXeM+127hDYb1XE5Fw4ffVs2drfRrn7kU2LfPDoL0zgpTuP
oy3649QubpJb9iOQQ4KoEMa2xgI9X0ujenQCo7o4zXz1TKyYXlVxapY6yH/5LHr3btA6m56u4Tur
rqsE8GZ3nXq8SPGYF9kZt6R7mfNbvhPr3HhvztvObttLKvv6j5j8aDeVLtVmHjHCrA/UFXrwLy8F
e28BqIEHknexr/iv3FvfqD5lFUKwZiMr70QZMYjXImqeRa+cq6MjfefIYH4slNnxusy/6CPOPzmF
zZTW6jsSFUvijWhlhKBdDGjSeJpaXT9XfVlzIqnUxWbZSLCYKSKNyqe+EsPFYOOxKbhjf4CLT2NX
QTRbClUnUnv21vL4pIAkM3SHNHtZwwACbBVikaBQtsUg3ghB8QpLtjvGH/NEUvK74tdTt+tWT8Su
KXSlGC26BoUnn2B/TcxSoGYB0a/rxb1pTEJihCrZWuxXY2yups0VHfjjcG+Xrntjn8aSvTMKp63O
rXbWd+IrXrEl35mfXJFbiXTLqsOjPrlJV5bzHr9ptjM6hGEnUicz98/TpLqAsQYBqGtDsQkFSrDT
VCAfFdcgxELGsTGljYwQ/KuBkYmik2tIcRYb7Dt3ijBUdg11KqN4zJ3+wYAYYoE5SFg8XbHMVdsm
lL+UDAIgHe3r4lDUw3z6UQd9xcGHgxcbG/sOvbba0B10Vy3fRkZPR3s7mq6j+cY2GYziEqUHNtPG
eQbOvk3ZCyXCdN95GKoHW9Z6ZxDm2lRl5h2XTrmvrm+gk4hAkbchkW2w2PGFcQpwGnKutdkqp912
DOp+TwjfPgp1WofinjkcpXOgYY6yrSZFlkdcYLwi/EsEqd7Osyx25Sz0xsXBdw1Tp3qSoZcdJ8HX
DE/BOUaRr59qXa37Zijt5Dbw79dS+2e3n06wb+djv7hpmZCbmZ9I07+O1gI3q1s8xDIrb7jBWuXO
JiVGxMMj9j2c1B+XdHbq+7n1LnUffpFx9ra+v0YvAjPjzrXR/fKwSB8XJyweKMz4bFxJyKCjkGgt
rE9fcp6P894cPlTPX9msc5n0srLvsqrBOW57XNImC7Cpdv9a61WP/5O9M2lu3FiX6C9CB4AqoIC3
5ExK1Cy11BuEesI8FuZf/w7kdtgt39u+3nvnCIeaJAgWqvLLPDmx7K6ikfUuKwFurlUxfZo7H7Us
YH3uO+7BeBqnT/7EuXPF2b2+rxu8FCZwkdAr8uuShjF/1fvYKW9CJ6D8CR1R7zGF4lHMnJ6Q7pyU
xyrtA8JiRZttyqrw79pEfa9KYkehDZF4iLwML7xnoUvTAOuBsynyMlhLVOwRv3fnLNPe2DV21syk
3+MgBcu5Joy9ohgbauRTlE3akoeJxDnwVROYoFca9ZfUSBjcRTLpzO0YDTa21sYDWZmUowddkK3p
5Sgb93bkgX0vmoCfSDpw6xGw6J1nzdH2FM35pFftLJzPLXc/R/mOeP/aMgIlV0DK1F2dGR7eVsts
TqVteqd6Coxd6ycFMmndHqdYhNfgtbN7z0iEWqGcq32UAj9dA4qOXipP6m2P8HKADhm9ekzFfGCr
1GFQqNjKy1A0nLmUrEhxzANzxb7CoD0IHDMr+EOcGljav6O64yjFY4bC3mt9A7qgNjfKnfB8kxOv
mOU64IpWcpw7ZiWifq0bM37hmUyH3pB3Z7pv8uugd/zv5hh1bL2zQBBWTznZpdl8lZvqiGREujIX
LgNH3yHCDVimW3UO3pbQx5/rlP0xZ7UFWckRjEbqZknFBlxF8iWR99T1k3PJXC/7aiRmQnsLsw+9
gvM23Aa1dJ94jmAPIK6360jmGmQWYLaCAgbOcWzicfySYsaVLEYhJUlp0d+MCq8u5WGRcRMnrq5W
tsibl4Tu7CuRgfDgLm6po7V9cJ74A9Kvsq1ThO7iPmMiC7RvLoIjOcuczq6IH2tVtvX1XIs6WEO5
8KaVrcnBbSfbN89QKoYXh4P8t4CJ2CdPyn4HNhNfthH6oc82ndEItJP+pnBYbwDxNsYXaU76emo4
na+E4WlmQ1PVHJQxVJ+YB0G4mKhUPlYWVKBNEic15gUgEh9rL5a4XUrR3kHmpZfTGEVNYVWVHfnN
xTjDbbPCzYO4vCAIgaSrxnzBZhfIbRGb6bjhfOjsu0zGdwGK4Z78pVoXDM6oLfQkrUYiSjzCJ8BE
RWqrS+SJ+mRFLYo4Pp3N1HeaQixuOJVV83qk6G5bm7gT3MRutw4mG7mydHVrdbrdaALcl5nRU62i
aH3ZjCqpjlpJjhl5VjQvEJsXYFXYaQssjS6f08mu4KVLDNO0s9fzN5cN1DkwCU0K2/3MKNJ/VFGR
v5ahLncioiFuwxLPuG3qU/qGBj9lRXTGyTzGylRnn8rhTz2l9ocqqijps0NnxhMnJvFZDcSb28AS
T34bQczzcsEZiPEo3jggwYfQG/nPdO5S75DAC7vz0qDuF7HEeu39nnlM4VSfMJW3t45PDdc6GW1G
6TMbyG1oDh33kqnRfgtlffVr4pDbgDGPccI3GDzTXFM8AhFz9U4A47jodDdhh0buYFKMNppTfXNM
GAOYcxc/14W6CqlBLqO8X/eesaUxjUzk1Pq3svXNq47ioE3oU1NM+qOyr92MvaFnhWoPesSpmE/2
8rOvZqxpEsLDgg1UpEnzgUyUZQiLM7OOzb3P4IExgz1vB0gSRzvJIIZJhIC5EtmuM83u0iK46nZN
/g0Bv0Pu61z1zU1ITK16Og43yETNY0iY/jPV2MGuL00afPg28VIyP+/OkT2m0NJEStld4JBEiJFf
5CpMZfK1ol+qWOGZpg3IiDKWFjGcS9KOH7NgzB5Q3KK9GTsG54Ogu2yIImKdTF3vImWeuw5N9oj5
EJ481GG9K5oagEjsI8UVdpg+Q9q2mhVxZ8JrUYzdYltVtrslzDtfpIZVnQaoBZd8wuzSlnH8JZjj
lvrXtj3kVd3vQl8UxzoLxcZO548V9KhubdEh/hqKWt2IuibTacbNb1zUf0/Jf3NKtoUpfmnuvvrW
v359/fMZ+cef/DgjM439YOLpFhx4fzT0/H5GtmzOq78zJmwYEwql3IWOZOGz+AOdKBz+F0dpzNzS
xi4I/vMfFD7DJf3ZzW26Fi5znOPgbTll/yUOELVy7IumEmcVaPVEgTJ7VAHphbkW8tAU0cywGavy
RDVMbbHxrXGYoUhuB1pGWdF1fekEZmc/OxEVWaXKWLrqsRdybRO1cDYdGKwndvj9c5vmUFNCqDqs
d/a49nuPfriqxbZBGqaA4T9M1l2Haeml6IP+em58RgyeURA4TOdG4UEOmmEX5xIaQZNAC2to6GRQ
NrV7FwYcIZcoQUMOkTkTFEIx3shpAtcUjd4QHnxpzRhv0oQCC7zK0yqb0vQrB//6Og6dHgcU/RnX
nO80dIUw4LOT+iJzn4yE1o7l1Mh5N1skr/d6YiKMg8Gp7BM2KLJAkVNPx5A+hGST59PISsobLC9k
MHPoKqlIE7e2V5W3vkxCgJBpf11nVCcnKms3Q5SDcgh0uRTXNupAqrio1xRvzCGh3Xa8abwuJTAn
sZ9UZ557jzjbW6Jqm4HykbY+BJYTd/s8sEOh9p5TpCFKJVNkk8dP3lBuyThuvBLMpgqwllNvHOVv
iZvqLX6TuIj2RbqNvczIxo8aaiRn1p72zVUjXAsnDSoIoLe07ikA3S6YCn9VlSjGu4pkfbhC+BCg
WiF0J8F1wHlhx6aZ88Pa0a2AmVl3dCdcatPoo01Ym8gcB1MPVnABxCMLsCLqfrlx1HygodaZd8aI
FXfFDGTIaBUHwlWZV9aUM/pCDNQaLz9VJgNRO+s5DCLbnl/GOJuK5ms71G2er5BE5yz4F7Dz7X+p
OkMWpFH+V7Jg8RWa908r3o+/+V0VlB8ojKIFfQEHS6FYPn+Igp73gRpDjpxCvMVSbP7X7+uf9UE5
9N+YSjkWdNmlAup3UVB9UPyP5c9+aIn/ZP0j9vTz+kezmbB4F1Tes03zWFF/FgVZwaJ4jkbjGIh5
xECW4a1IQDMuLnucoRF1tZRs6AkAYwcFa52GQBTdqMnPsxtIZqAWP57AjPuvCtDM9Uyf8yffTKbF
R55CXeev8s1YBjy0i7n4lDtQNFmU7esmHlyc8UhSZwg4AB7TJCekrf3MpWXbu1dNmt011Ftcm/1r
XjZsElDSntrebF6oYumN9dxn4OdSsyJwlLVw8GPNYAQ5IaQ4fvRJCML+VHhZ8FGknyO2LdC6mhw6
+GQ3AXWOU0y9cD2y5ckYihDGpcK0o0iX9HRje3KbYeRCQxPAG+mFT8S+9sGwrcYoiC5Fonpvyw49
pu+9yFyBFSstv1QQeF9KkJbQ9Sdz3YlMX9B9MXzBNlO84K2lDILT23RBfLy+ZXoZvkJoRQpM7HIF
sHLHjrxauxwVaEr0hqvZGcsbR0wlTjJvrHGW5oPaZyzKVx5xk1sJsn/HI2Az6fKo1IAbrUYX64sO
+Kic9oMdqxur1j7eGZF/GTXWfjHm3o3rWKSLefrciwnGXYylZyuHSRyCubIynEok752WVE4yzd2F
Nw4xqQdt1ad+ziJaJ0MH53Ts1OrSM3O7WDfGlD2JvOruO3jWq6SzGPBi0rCeMTUEz3jTFgso9oMC
N+/lMNNyyrTGXZXzJNfDGMyXc2h1H7N0qjAg+FSsDUFTXxAY77/7QGoSUt6tkW40lqnrXhbZtqr9
xXtEugA0DiHrM/pdYxGc6tLX+q0GVI80IYcxlTArOxn0JwajWbYeAuD5q7QW4U3hUZdzAN0Y30VV
Kj7aYR7f+rPDq2EsbO4tylh3XR3JC8tOUEWirozAqOMKWk3049ptXx94avd3YZRnazdPxhejCJsT
c1z/G2AV1excE5zGyhKDF2+HuvbvULrnAcJFWBrPSSjcG/z8izXcC4xi5es5/SKrkhl0F9HYEDJM
2vgOQIY6hxvH95jiIdHRjRoTfdbWFJ0UsEJ/a5UDpKGgkFBdpjBfnJblgydq8xrMe0mFcM3/t8pQ
nnmOdVjaqUO7Sog9xhohgV/584h1jjlrFvq+5PKMBH7p6e6JClSnsrDIKaxGvyeRAdrEH83sskD2
L4DMapi+9NYADAp6apjupgFv9imiXelQD+6N5eERr6Sa10KgRk0AZe9H8Iz9Vo9d9gI8fVrhFeO4
qPCZahxRdglVBh9x1zFBX02xRZBFTvU64pR8JdETL1tsjXtZJ85Kl5p2lXQiyRv06dYTuOAafi93
gYZZtMI1mT0Sw0KfQ5k1kxsVU1Xub2SFenkvZz0sVjPlFg4Gnto4DF3zJNEMbo3U81MC0UiCAm2w
DwlGlYtcmC/CYbZIiFWXT7fIsjaUYwTGcpEavUlnt0MjwAT9ECLjXSD8bKsqvkgqDFf5IlxadXRF
dI4BCJKmibbZJyfi4PxLwqj33SJ/+uig7iKIOiijCd7nroYqCHha888s8ukipEaQ3Y7BIq5ai8yK
10Rfxyiv/iLBDjNFbOUiyxLSC2BOsFpPaLbFIt4Gi4ybTl8b3V+0M9cwaM2L5E3xtfyUIaaOHsc3
ORhd2FN4fXKUYtqvsy0DjjtzEZED1GR0rmt3SJKbFp2ZGDcQgOlCLQJ0bpb3fUygKh9p+hoWpRqv
c7+x3+RrNpLeQUXU+EKFyRaLwSJ0I3nXkIJOjcA+tKjhtF31e4IqMNX0BCxHEg7dKD+NTg2ppJiP
V80vROX12R8HuXMHuN/cRkSr0EBxl9lAaxZtfqzLveEU9MBwtGcXyOh4epPzdWnRibBo/DWBxjsB
/4JtWtxmt+kyDXD95qsqI/OUxqF1QaCn3hoau/G6wra4LLM1O1wSJeGDoux2AzueipZl/jAvk4jQ
DaerbJlOECdqHmfSZ2sD/z1N5PGt0xg1PwnmGqArNdIxsw7AQfl9nwXBrbNMQuQyE3FKc2K33V9Q
tjds0mVyko3Ba7TMUiihGm7sZb4SL5MWd5m5dMv0pRXuSS/zGJKNrPyG+dFZZjVsUjmMJ2OwhvpJ
Z32qvgxoKXcekMv13I3TTkyzv+sGlX13dVBcAYLUy3RoaCWDomaZGbHGGJdJGzNIqjkd3TnYSDf1
MmcSy8TJWWZP/qijL/JtIOWXWq9V2t1xE2ZXfmlmN4mzxP2XWVa8TLUsy7xRFMZvlvnOMV9mXxkj
8Y3RLfOwwfrk9A2CgGWk9/kyNXOW+VkLcGKn34ZqLIfLgA0Yz9qSqthNbwM4R7h7a5nJGcyyTo4e
pgP2/vHotjwix3R2j0ZmudZvHPh/hYG/EwYcdzlZ//fx+c037DJMU1+L+KfNsv3bH/7YLCv5gSJQ
z1IuKP0l4G39sVs2PzhL6YZvu0waHbGUA/2+W6ZogRE5koAtLM7xzp/UAv+DshwSQCyMnO+XjfQ/
UAvoU3i/W6bJge26ZTIJsXB0viMU4OLRc16Z08HhhsfMtNjssG4O4sqmBtLfwu4DroG7iOPh0Lq1
z+OxAW3slRhD5roZaJLM8K0RC2rpS4rIJhlk88Ju0/hfsIsE14PrThegJM0N1qzRWs05GgigQLZn
lJvTJkX0t2KPqy1jq/D08QCOAnIqTRLNENTt8qnRU3OaEh4xVFaYWzAroLxsSIMkPlS0bXxMd8vz
v74PU/p9DmZNZGpDiE69UtZAIiu14JisSle4UEUqHoPMc4JNFxWHWM3xN8Oywi8DUOXzyN88O1NJ
oocgnbxkE0RtmqW0iS7BDJN1nVaKbWkMzg18qeyiZyt9jWm7PUOZN/YWXWcYXwLJWK3tx603BOku
USEeKIeLsh5R8xjwuQupMWeW6UObXfWZIx69hstsGYofPrAu81RgytkWypUH267DLeUW/krG0joN
s5/ftIZwsZbNUGzmDDZe5zXXUYC+tOrNZZur7IoZP4hewGpqZ/u22a6ZgpwRiMngoKEQNCGQMSdr
PAAfEZTay66UzwDk23tL6wLPcRP4wOCMJKyIjXrpvmg68TRm8ISSTnj7vAqZS/ZzEBD5T/E4CTNd
5yV4asdh/cXg6CUMDQPnJIzB/K4BTm1lbt2p/mYRRDZ6kDXuJPNGYoov17q0xRXJ5O4Fr2j42CCQ
X/cachQ+Bx5QtO852DBXKmrzvSjG7ORnTXDpV0lx65itPGNM/RgPkrBQaaabye2mXYHoc0/os966
hpMfBhMmEmNe9lZJchd0bCQ7Q6tNMMrhGLrlPk2Et83lMKwjbPabYC7JaPt9GZB7CZwd/P30uz8M
X/AKGjtSpQwS6auw7rjJw5Uex/qoidau2IyJreU5PNmELTdsxG5L7jbcpGScTFD9uEVcQkD6mUov
Z0U6zthFNv5QZ/J4lzqix6hjUGN1VnzKiI89S6XCI3Of5clUVedJOv5JeZpYmxFN28Ya+3WGf/NK
9Iz9C27bAVwmyKSKntlVR0PPMrsO0nXl0uGB12dkQ9sC6wpjWYZ7V+ZTaD3i4B3jHVmbgZiKYxFz
owkRU1nk3Q3uiNllPRm+12GLTJ3h3sGpCXTAqdPIerIk9wKImyS+cMEz3LYex8mPo5yxmXYWbJYd
XC5Qy5mL/9az6BL0vcn+6ON9NDGhWaTEaKKAti4tcDzUHYgiOQ6lTegrK4ngrMYEV02xb0qQaezA
Yjnct2ncMW0IQ2aZV6kw++QlTdtmLjYY7AqkxcihpRNCgE/mCyMFK1sXh+FLznCTXuHIokcP73vO
7TmUE1NZ/Ich/sB45ON7w6TCTZYUnretc9Gm4YH4o3yhXY+EuUp9ZgEvXCMf8EMGfPOE6VOwUSyC
tOWIXrgBAxWzxKpHGq5rg4ci7dyJtA+CBd5vUJH8sKxx+/b4+fdJ/TdPahLwHhrQf39SH8vhpyf0
jz/48YT2zQ+WoxQa109alg+ZRfKzQ0Gnmc5+61v6/em8AF1cy1MS99vyBP5Dy5LmB+Eu6piJWY4y
LVg8/+DpzBDh56fzUlHnILais/kmVjexaP1/6hQh/Nf2hYq9k1nn44WRaERiIBd3o3DSr3nRUw/5
NloGTMaYOX2bOL/Nnt/G0KATjBtGcwynUej7Gyna4Cmd2Yhf1MscO2ohDx/Lt0FzUHBSW8I0TL1Z
4bbMwRgeOO1w2zFLgJE18Sg8Ma7NvvbL/LyvO+8pGsuEuf7bgL19G7YXy9ydMfKRjHx8BOmYbZO3
8bz7Nqovlqm9t8zvCwb5oErmq8Qf+49tXMs7vAgM/DvqY7+TBMuvQ6M/pyAOGaLSH/MyL24BScXK
xzGs87VNKOe7IQSWAj90aJtuRnVTub2PODcJzZ48HM8zFl9oIowsvqvcMG7LIoGdqPo8vOoNm2z0
m50hxCiAe7AU8tKOkhS+DFt7RukDeMW5CotD5gZ66/RBxNNJhONaeLm314slccXzKbufrCi65myP
9aArUfmHLNyHuM9PDjarvVmOFdiFPHfv8yikqnUuokyRfGREyfzF7litIEbjnpel/5WNEvxqunwU
tOWsxztF6HVtB2l96gDdbGG94TbG2Oaus3r0LxoWvDfTI8UDfuVdSZQ1jui96u56ldeHEIL+ITVM
jV4Y8Bz1Y9D7azm71T0zi/ZkKQ+Lgz1ycbAttyuChdm1BXbDXHnhzOaGks5uzaC1f8468vzke1oP
X2AJxieaJ1L1xJd9BCI3aDdhPiTbTJMlBMvKzHaM8RLAa4WhOYzECsxYw6xIchGt3Ih8Kq7h75p/
pTuY7VzHG8MT5fcBnIBciWFmpBLLuf1SMLcwDiShsqegG5Mj1Tf1llaXRBxBnvevleUj/w0NU2sG
5TvfEA2ZF1ELQiM+EukYW8P13OowearNNBj729nw4hIUyox3ba94JJEqV9EN+OfJyr7y7VInQXS5
ibm2ZJeJrlzi+aa59opxRx5cEbzwN7lV4vWWbQ/Eb6DKZLLsx9DjNYLl2ZzN91ITLR4KoGXr1rL6
4hAUVrUzqKDHDJpQp+7b6oS3hmBpnub8vEWzpuZpTe/XsFIFU2QM0uVWQ4tZ160V7JIonVaGains
oVhn1SyG8Cy1LuzWh4hoEkocS3kHJeyQDaZD/oOgDflaHm9mMR3wS3Ldu3GEfNvLKdiQauAOlEVt
XtGgO7kbrTuxxn8EkzSZ25OdNzlxaqQSHI/DZUfN8GaAd76vHRxZ0LLn+sLVBJPspMtBuRSyoPTY
dfYEDds7w9e3MHzqVVom32lufqQtbeVmXvrVI6C7SWiCp6wi0Q9GR46W2LlaE5KOsIY71n0jU1Yt
Dz4lCiLOLtNltwnoIVolQ+it8SkBm+yILsriyafYnapqfthGKQ5JG965cHm3Od0Z66CG2JrEJulJ
lGLqaMjercfUXa52OTyYQkQbE7sfaB85Ewx1YR/biX3nVov1JJvTLfKec4T+Q6DO8XnIh1J3ZwdF
aVuPCVRXuIofRSbls8qZFkYp6ttYRaiYXasemIZ0F9UAgoFFSrOmIChgRoqdwPgCGIGsU5RixzdT
wshxESY3M32e31LwjodylvLQGX5yOVgGld2hDsddYEMwaAu2sgN79TVgyvoq7/p4r5p8cSfYr6aL
+ghguN+NQT5DMq3bLZRsExAhF+V2QOreEhArEHfDjKtti4QfKnKJ/yWOJx4inlhi2cugck1NS3EZ
Y/C7TrQHZtGkcqgHtINkaJtb0yM0R2ql2zXay5/RDb2bqA0xBIV8/c8JjQG20wEQTsfi2oIFgxMr
NB84jEBrmGT7wllE3qt6yd/VERQq7Ju7rMK60c+txwZK0sqbMYPYOp6dsehGcXdP9AGyeaTFq9Dc
0kLUwyUWs+JMcbk+jIZjXWvtpOuxZfJAIH+6J2Piehw3rfiq7X00NGTVS7Ka8A0iJ1n3iU4JR3gs
mVl4bfk6IT5mxNDVO+Wt0t5T2N9EuBFJy1AjIO9xIi4W7XKGOwD3suAxghvLrr5y9CeEmhhimNHH
l4Q29EHbAZHU2Ro/522XgoWp5gfRC/w8QaLoh4Z3Fa5UrR/rcLAvZzwjl3h6GKJnrsnpyamjO8ft
rHt6D+wd8ZlqMzESndbu1EYfq7rSRHddCgp1yXiLhak+8EQfX6MUVrGIJBWFtMyN+EgF3FFbzuuE
u/JEYuq27SadoKQLq22fAQIsMhRQBys1n0HZZMUBDnsTf5SodgXyYul2PIlSEz7wXEZEXAqY09vO
AuQ+iX7Mt5U5zl+9tne3QTohWBO8V6uIlo5+1TRDsAqjqdtzBHsYOCjtYxBkW27S4MhXmW26oshu
xTLzcQp16kJSlrUL3uLf/fH/NPFFf/qlknVZdoDh3s98f/ur32e+3gd2ZbDY2PK+bWvRqn5PguB/
kbC7yIC4lkDg+kPGEuKDaXs2VSUe22hoHH8kQWz+QZ9wCFtrXIsmOad/slEWi0r1p/4xy6K6lk0y
G3mmy4pd1c/75Hhqhg7hqjk6RaC8TZIY1p0JMOTs9XG1K+vEA+pcURilDRU8qMgHEZ0XwcloYiIY
zJvWin7wy9J0iz3cCNLgvZWhg3up8eBVgNRUBEVrW5qtv7aQm6+tgnrBpGFyDCAve5I2y2y11Jgx
Nwt4FEugwIWtoC7UPNQRXZph3xIGP2Aece+7ohv/BgK6UE5/vgJSLt4iLgPXVHDw+OmkACWw6Usi
VEcmhuMN+1V/H060Bdptu3wu3vefjlD/AbvKKP8vr+djngIBhbRpvS/u5vxqAlVIq+NgNIL+pOzz
8gRe6iB//G6/jP8Xfiv/wyu9m+fz3UolbLahiCY+dqd3n2xmCZt15GYcdWq9sQm1EJAHQ049S3wP
5FruyRgGd//44ymyT6blcjOhwy4f/08HL4hqDNIKDeXFjfAMGcvcQnNEw/80OvSc/PNXI72K+oqA
6ZKP+vnVQt8b4iJPaDQwByc9F00+70aXo8t1l/kPv36t963ay/WEvc2LKEFuinPvzy82AoePKOKJ
j3U0Zmz3ooAluK7zcoMGyVGEFp7rrumsy4EetwOBpbbaxhrJ8tfv4683ELktT+EiUUs/jHr3tRLb
UlPeieRYdynFkdCK9MYNg+DBdxdd6Ncv9td7yDEtZHPsdZzL5WLM+/PX2dR+JkAeJXic5/m29Bq9
AXrafcOpm0bHScds3VThp39XjPifPqRy0fgt1/WVa75bl9IwGeLQrZJjMdQ9eTG+zUF0wwD7EbLp
rz/ju9eSKOvs7H0LKw2roLmoEn/+jDI2BquP/PgYW3XIzG6CR1KZzXQRToN4/PVrLf/Wn1abt9ei
pZ5LCXQZQ+O7Ly/JW5diWu6heZoHa1MGKj9lseh/TJ/+62//nf7x2+sIF5mFRYbb1f75M8GC0w0x
+JhCC6cnPD0kfCg5EcMOeuHcR3GMxjjiBwA8Dg092OJNiM6//qzv7p3lPXB+ZKEjzsj85P2901OR
HtdOy3voAU7AmajtVTgb4TkQU34qQ8/ZwAaY/mY9f7uE7y6xzRIEk5uQJXmNd18nuFUyMQEErojc
z8cmcfMT7N7pCsk72jeiIsvdGiW0tGEaQ7UOhm7qj/B1xq/IKzXF2CghpzQomJObBtUiJAhOwZwY
t7++Ov/pfS54Y99X7A6IdL77aaWOAHygDONgCuV+nqZONuu+zrDnEJEc3APhhAqxIzEUSb9ySM9m
bwMsF0UQHLu0lBcY2oMj1iBx5RuuVju6jsoE/7mv+v2v3+tf71rP5GoCW8Zu67rv36rpFxhHsiGm
6MWcUoxfHu5S6qja7a9f56+/RFKvfGVKYSnhB/JuhY0Nm4sCZRVhki5dP17qOmH2OBeZls79r1/r
/XLO7elhqvNsno4O/jnv3fWfPO1oOSYs52WTbkIv6DccULp1xk+F8+JSXgsH6QKjq3ox8iLcj6XT
/s2FtUxn+SX+fLt6AgcRHfBsCng77z5z1lSGzS8jOKhuaKajemOLtj5y+jHsqvmWgZX52Vm6UGO6
J3B94e0N+W+CUCs3p8FW0598gpA03XBMo4iXYHrVrGtK3qgQSnMIlZFGgITffzdnIvje49x48qZs
PqM/joh8deMup0nYQgwYL3pImtWCZLPvnC51792oMg8tQ9XLiEhCt6GQzqCraZhvAeOIDgxb1F/n
jdm+ZsADPuPzDc7aqHDfAYgJvtNY61SnIq85UxcolAecY4CkExXB8yH2suwRSrJPq6K25WtE2ugL
bB7xOCBQQpGAb0QHEEGx71nfymGT074V0SuQRGcMU/lJOiwtDELiz13E4o1l2fmOncqz8Q2xbVwX
gYmneIj9EJRn5Mr9AH1Wk/Uf9VdPUVFQwMB58WpwI3fIHtxv/PrDdJeWPi+Py8cg8alZO4mJqJcZ
WwvGaT88q+VvtVPyNiaHUpo6HjTSU5wZD34ppjPPmeyprqfh+u3yBi6953YRmbeVqEHKlLPKAC9Z
oStONjG/c0oyhDIgut+rrXpbrcgbXjTA7tTas0bjU1Gm3JGlOcKnyjJrPoCa5dpNVI/QUmua0QMd
OPJj14CfIUFjFjdLMGjRGfh3BpiUZ+JHkA5qFX9uTJ/2vKBpphB8v5+B5HV4KGBBY5xa9FhlDJtr
m1MK/jkLc3tnoTu9Jk5tUDHjaEqVgzifb53BGDniMjm+Mft6vI4nibFZSSv+lLktSxM2DzKmJllF
sdyH+RLb9jp0qPUUeW28mQFJRRsrL+dd0WfcSypv53M4TGBaA45eE2XFPT3kjmHS/ECMj8mzRiZJ
+AB6RZc8c1rNDbbFolS9RkNocvr2uHudpSq4CVDZD13EiQGHi/HgogEubkU5nQGzJKfUy7b+jI9w
bOR4XRpZvSPVaJHhppeu1oHD4K5sqF6NgDl6TXExhGibiMDxxrW1ebZEMZ+YhroHrL7BQ9iqbSkX
w6FbpGew7uma+Iy6zme1T+O5orQmGAnHJOLFw0O5qoBMmNDSwLR3ArLfOK9tznxryy1ozhtx7pDA
ovaEq2o/+XGPN7+YTonl76IIgRaJvaQxi6FbZGCNS/MBsGzOx8pSr1mDP81IgQF4sbUMgG/IF4Lb
4oyp8Rr3vLeisnDc9JMn1zxwxM6p40c3cInK6cq+yHCmQtVy1lVbDPvUz3HOz9aiWpvuxq/AA8Z+
dKej6TNBpteKaTCg4FwwPUbHtLEJHw3Te64X29AKWA3AttHjqdZV9qdcyNMMNwECQHwVucswUboP
fR9clIUKn1ugIttITuMpynIWYLnskUDAXrmxEKAHdX1rxZk+GT3Qp3l2L+EtTl61kjkRYh8mcA0e
/xtadXWYLMwITBb7gMRvKJKTVcrSWgVGqC47J+MNlZkUmAgme34EniV245BRr9X2VBmiOtfXbJRk
tBlc1osUqtNjQzjtETvucD+VDvuHUi+m/wou9zmlznGJjqmdTKnvTHB9HJn9UudU+zkvyi763ITm
HdPtgSoASOdi7rrt8vxBXwV5F63jqs5vNHEGKkSpzDpKQ7IVsFNitM3EXiQFJFikhavXLg2MLEVg
xwm28URQoa8OVcLRp+P+g1U2FTt/NiUxkl5W66ay82tttk8qm6kPHKjRkPVMhDzE1JxsWnq1k52T
2Ci7YJJ3RZI6NyZBv52ruvBjm4TDhehgE8XBcEqGzsRmAqLpk0hGmoKcgoglaIfGOBZ+E52QFXF2
2gNZybnPuTET9g4cETLjNpsatc2nhuIbFE4zR/7vJHw0YjeI825h2Q8As9XHEaPGvDedGBpbBw8K
KAT7MQpfDxU8q6vRqF1i/3pai7Ks1kZbK7qqBv/gjwCaQA92zbfKZgBdwds81S1xnlyaZ5/EDKhh
37rEBYCxJSwU7srMv82CGm8BqHnB4T+JJDJFYz0YMTV+VguMlS8Vl6rDgI2HMGMe6j7llxEa663C
yXyE9qSpGaAcx3O5BRDw8akGobMfQDLsXJQ9goCxfExxZd+ErRbYPq3kGCS1vRS7xxtBXLDuA2vf
Ow43tl+cXeSDdZD79g30UueAsVpc+iFG46aanfvAqa1N7g3lPjPnapfN2nvtlmgjC0297vUQi7XX
lsCXUnqpYPP8P3vntRs7trXXV/ELsMG0GADDF8XKpSrleENI2hJzWIuZT+9BdbdP9zGOz/8D9oWB
/3L37q1QxSLXnPObY5QmGe7BwI3VhKwV6qN16XSvutaJoMBIRg+4qvFgl5uJuT6AmbTPdzlRgFeR
OTRxKhmdaA97BDtI5xwIM0xfLeX4FcPK7ra1sSmsELr3kCmzkmc6jFAVlFUvLlTs9S4rIAqEvVEd
c2PCjt2zujOkRc7EUbTXHvGPvSUhEQWJDzUJuM1h8BA29mguTxUb4ue0I1RjR33xkZXSRSwImfrZ
ZnC5dZyUYIkoQJPUbl0diHfSS0pz9eQ29VvBl94oWdl54IsZpVcTzv27XtvkIjhjIhGuO86ynkHC
R8bgl+2UdDtOuoS0S7rhHU8QIZifg+ajmOxq4L2QJptNGUXT2fW76sM1yv7Ipo629nyegTK25t2E
AGBte1l7Y+h985GqjHs2KuwCbrevsqgNehunmnhs9a50m09G6dCXdRus+HcMyBxpWgP9LLLbkjKp
1b4lC2HnkQUrIOuie4S50H9AMPZeo85nQ3eJ0LNdi4SRUIdg1AwQmY5IudccezqaZgoPBT7089TS
xtezAuK/tzD9U5myzr+A/jlFRZfJnNx1uxgALFOGTGPz0eKnase9Xab62R7AhubZwDODVYmpCPKu
c0hkZFWMTjyV494Il4moIvS/hvRecTubUGd5MKkwxgqTAa8/8hgx6A5xXeY+d59m1h6gHetbP0Ml
VPNQ2Fl63R7rOek+a2ojKgzypCWC2W+pvOQtNJdLmY6Sfo7d2kTda6px7+hW+DQJ03rXzFr7Np1u
uAo9YriiJKVlVHzZ0R79R6NM+pXZoWIIFykDtJclepc8cjAON23oEOnP5J1jPYF5YnC+WB1C9A5a
VzzpAt+D7mlksFDBp245B7rrbRE1oJxaHBHM3ApIqjHtTjcmDFNCiPSosen2o5bwcUxkuRmXgUad
TJofBcWEX57RsUk6avgCTuDvqOXtQCq0FRkJioV8dzSbAmt10hP6Q27hsaYeMNHR1m7I5ayno3Ga
BH6Q2WDYzheOq87bmRPqFVbv8h0bJuO9dFClmuzmndOy/9Zq3VpJ1t9WTt+bx4TG7gYS3nhM1JTv
fZ32gDn2DJ5r1e1qCLAfWcvsjRqfpw4HoSP7AjZ7OYncFkPLaLcd06vMGHcZWsiVxYEroKh24NiN
pBd1A3LD6OyFwhaoFz2gZ1nj7QK6bXIUvBmNRl+1eVpvvbb5ahfzSK1V885wkmUBxn8DQVdsFVmk
U1vTO8BTc2B3A76Q9p44NvxbQOd6519YETgWmnwdivm6y8IjU5fHWoVnbrk0jBY3iqPm71RGT4YP
xgV5Ss1pGu4LTmo9GeB+0KR0W//DEHAvZ0UG09cM8YhWBTBMZX6Mi58l1yJu8rF5yDEdrkkGkuer
T2PsDowNnc+ix/Vi/mhfhEZFEA34YGZr/hyRxDhpZ24XXvgAvHOKnvW6iYAsKy872qpmqwoFAAAb
a2fMm14mL1DEgA208ZWQjzrqhQfpSX8TY6lxF12NO/hZoGTfvWim8jYjQrd9Tw1zhUKE3WvEvXzM
J/0orMR9cRoiYEkhHWSy8aAOiXRojw7pUk64fjzuKuakGzajoRLPRCSuQGdoahsX4x1xWgDHDiCn
o1bnNHRA0zWevjN7c7BOrVcgnyb63Y83uamWr2fKLH0nX0JcdEqNsD1ETDz9rQtuX63oatopfjjI
U1u0jaQaMs5De9fqXO3SMvVNALFVKQgRn6apw2bkVYxuPVCdGb56URZ+N6HDB5DvyohBkGpQHEUo
pNbmEqoNIi77bl1xe6HPtMw0yF+Er11EgRBqkhqjMgWLDfN4kTzjnjwZTmfNBu7JYpS2aSfp6JdU
E0m/af2JsqNzuS0NTWoFWMmpTsi49V/pbA7XqTOxiG5kSEsilR3jbAhfo0KjyR0RFr4zGtEyhFRU
ItHc6x/Ihx1xbuN+KXn9tpqCWNQNWKyeo0OuOfquNix14GzPlybvqZHJpUBfiymat67hUl+xIPfm
5IW5ThTHv5Ud1zdCsShHOOIAHCQNZh75BzNreJBi6DlasaAp0FDke51Lj2CZ1Px8v762tc1UOeoQ
OqBYqRPI2bh28fLzv+CqZqPDoeyv3NTfuULMe0gAUE8L0F7BqEy6BJ41XA8zxx6NYpNZz1w6937G
iwliQGBab+X2p1GMDJ0xylh56y6jb5wXAGhXSRL7O83nRyziITs6c1vunEI0z1XS8gskKV+R+8h8
29B4uRFJbrwUnc67XmY6P/MwqoMCSnuTjZx3Z9SH+znr5vNYT1OLm5zfy4ZM9lALyj7Zx3UVCALQ
O45q1PYdAHC17rOQtdpkpitC85KbAVJEfO+ssVR2L+QhC/Wi4PrXZ+3Kr6KaLDQEPz1L6Sh688lX
qiG+kvstLRnJYBumMXDYFvCMfZXLVr8IYxBg+WcmZLOgeRXOGaBprjstKedtn/IOWDMbM1C6Zjjb
DRmGftSWny8mwqWxpExThDLrlowkr0neMWUz+CPv1ch+cM/LRpMysHE8n83SKHfV0oprOjLELgSi
a/I/HgajZN46NldAa2N2IpC7fME8de4j09fAjPVQSHP2wVq39tZj6eovhc4/yUpbHdxy+duq5dUy
nJEL1rDc6dzzhTYT2+gCsaqmv8SGYL88azN/lzRc97HG8drAbcsncin4DZJi3zOSuFOfcjVZM18U
bFX1TiuxBNNQmv1jCz/oivBseOzjsHoPY32EohTz0dFiPsK21TGbHNrwGCLGeM/cpgWoPWoWi6h9
rjMkz0PjjuKA3xCwNu2vEDA3J+BwKLFHJOYVdYt6bv3l5S3QiB7Jos7nntj03YCUhJMWP7jZZPGv
gjj/O+QWvvXYNf0xb6fw0NJyhavlac37DJok0unItZJ/5yuUr9x8PzrRIGswEkqPtv4sdc8nKQZ7
uulVeNRb3p0WEvezHPkEht3k07Eo8Sapvt1ElTOdLVrg57row1c1iEkEszMbp5zV2usSF9xR5BY/
eUvlI9Ylt8OdztIDYG/FWyyWq2AAzHolakFLQcC0CTIcFmoFwpirxJ31j0hPa8ItngYcKq75TFdK
hOuK6pQFV+6PpJ7LHetJ2sNMQfDthjW/sN8u16DS8QW7og6PSWQWIeeAad5rbuetXc+l7POcuP/y
HOpkAPXG+NLgln0be48pVMOBXNFKBfQcc6zgyQgp5spo+vISD233AL7Y+1X3dvidAOs99gIAFLR6
nkx2MiBvEO5EPJEk16H3ZfiaOkJA1WWbLly7sPH7dV4n1fR7+/m/gsD/JgjMsqHJ8OZfB4GfJyL7
ZfRXmMcf/+aPmANTs9901saZ1C3STsOly/1HzIGxKX/FDo/FlvrvSeE/48DwO1ifsTzHdm2HSpPW
9x+r7cSBWYdnOq4zdeAsTTbiPxMH/nuL/UcmapARZvCG7dNfuCV/HfCF3WAQHJPDpSt+Rcxs4/zj
L6/Gv5+0/2/f4J+memq08qIe+QZeyjGcnFrnv9NmSXyikL/+z9/qn+cFzGA8b9l5sog2C5tR8N9/
mcloDPpztnFOBfqwlCUTDfCKw2zfMzMp3pp0jLzPuCKyqu/0mp3cGVmRmJLyqFu6jIpfYOk8N1rw
hjET0V1IY2o3eWX3lTCUSYorQCWNZp90p54PeeOnoXrwUn06OTYJzIdJttvUTMSxgSZ8k8oqxQaW
EhckawvGh5uEAmJn9mymsk/Mmg/hpBxfeHYvfeJYKqBJ2LvsRlYeI0hCsiDEys4EvVUnj9OYdzwv
ZccOYj/lw7bok9wqTm7LnFlAC754uKGHN43AySrTaGeuvNZUlGOkwa9B5dbzKW0hpt8PPPPscmPB
GvO1mi51ioMRa5pKmt9nOP911/g3dw3TsJfI0r++a5yTsvwC+Py3HYI//tWf8Sj/N/jn9McFH0sD
Ti2fnD/jUe5v3BqYi3pU8GzLOnyvP28c/m+kqSzhkqKzfiC6/7hxWJB3+YT7BtNK+jFANv4TNw7D
MPkufx3P6fB7kYHwPAMLxM3qZ4r4lzyLxSO3aO1SP6HnrmIJUgpk5Xo0GA8nrTHWm4zlAJxZFj3Q
LecSA7tI3VpfI2sAzCjmBFIWkcHzOIW2Dx7eSufncSb2Si2aW/AlG+Mj8szosRi56Mk8iGdsG+0Z
MF57Q1tTC7dJRSQf1brmMhvhL4PeGf16pxFq3mPpKU9uOrJ2P4rbXGFF0AY7nE56I2nMkXxq2Sj3
7fLRysLOvWpmOcOiYMAM7s0urO5XOk+Ko1NDStjhwe1Tjs9TA441Q+huKd0KYiq0V6z1QzyynV0g
l7cSAYNIFW69zXhv74EEFeir0aZC2MjD5NGIYcNF8UCnRNFQdA4AgJtfLpzze8fuzEPjIoowx/RX
Lv1pk7hJErDEjPaEtoS54/bygOMlu3GgxoEO8CfrPLkot9ZM/5I9O0MtABxmVpvW0N5Hhj0rTGQF
yM7GhQVSskfGvWbBkXpxv55jV4rNbGvNHUM5ce4JI2+MtnONQ+f7smLp3Q+fWK507+tlkKPayfQO
Kmwtbc3eiMiX6TO4N5ct8ZceIN0GSikNGnjNvAYU7xKh3NHxq5w2BeFUxpe4L02mHzqLJdNworQl
ea1FdbxxWXO+k2VkQ3ILo0LtMwOZQqumYWW2w35ipFVyuJqYB9ihTLfeFIZ7mwnISz0TmgD0r80P
fu4S82+jwU32NpOW/CmBjFQSoYdvpQN4t+ksbQaa102zQwSM6+wQR4uaj6SUgDNK601FvHP0AYXI
fWLOMKpkbYMYCQci72G5cTh7HZJ+vmMl7YdJvKAVKnZWE0FvyyaMF8SOjw2ha5FgIRBgp7QRGPny
OWQrbWQmU2ruQwb3qhAmk2x1Zk0PUwEoEMxKywQCoY3AIjsW4dHNym3pZM0jbL3b0SKOr/g22wjb
GZjm6ZV0F4Wwm4SsZ0z3ep42B6nieDM7Mr2ShaYfasEyQBtKE5kaJIqsQcbSwGFaFYxFaVvlgP+9
Kjlp+TQfdMlH02R79tGfzLeyZQom2fZZpTEGGCD5/ZZhVEve1yJl1STDh6pUflSJHZ0kQxEGT4W+
YRq0q1jfbey6oxWIqwLh0ToptDKIpOZrTCLSmFRj/CVm+eKOBjVDSG7dkaDkSd5nXqDb3rD2uym6
Kpd5UoNeZCfT+b7FFbda9omZkgkoqooHLT99ekrFpDF8BX91MCyLFBbeNlpScF9cPmx7CQc4c2tr
KUhbApOS9JS4l1Z+l3lILYxw56tOD1JzfkicdlfpDfuQ0XBHQ+9QzjQXPH3aRCmvfuTEgdfbj42U
O28az6mpEcSnpt6Co23RBMyME0L7yWGzYTXQf2OKm3/ltk5HBlcVSxxxd48F6OxJwwj8ln6ObAU3
wcQ7g+0AClOw/0KtBKQBovKtzrLSphhViSSlH7i26sYoeT+cHT1QJguYCvaeyj9nFx+GJDh7RCtL
4llZIRkBK8Xy0Kb7zmMpgU+FcRvF8paAOnoCfqm5Ki8jraf3fLmbZV0I2dZLG+0EXtC+S0wUfVXd
xgFvmNrWY+2/ujJ+0bWGJUVz/GZzlqGw23RBk8BCZ78NKbAW+scOMuym4bZ+yyhkafU4/iFL3bvQ
Ubd05NDZ8FyhD6ANLGhAXXzmvoJeBqQxtm2rTS/gGenKoNDd6bxRW72S3UVEIr6zEJid1ajfzUpr
GUwUr03EaDj1u+tpLFjQZf9gXNJBdGHuaB9wd6HtHHZ6uk0tql/BIOcdmAwLnjFPB3CoY2ZQpKft
Q443eWsWc3iPV+xc/zi6jDZ9dLX0UUSAgyGBvjez/+JE5oF2OcMho6u3Rc4mRmwOW7jsB3xYO9bb
KQhTJLqmEcnd4KnPkvJ1Q1eqYSfJfKhDN+MCzmj/FKxjnYQc9EtsWHedX19huX1yMpN1rHymw2oD
umxq1o39N8ZHTWDZAvgL99Ja8268xto1pPPvRt66gnlrJANuo95bFkbGSy48Zw3LnI+axqSb5DA9
kJ4masaqr9luBdmaEwFGb0WOMJFAwxlOZFPuQU7q5kNctfu2To99Ema7NtfJIXNcBBaj0S7MkKKF
vstaq+1Dr7M7+9PWeL9WLQmTy8SI9TYuwHOyLCfPebcMLIeeJnYq4o96dIAZmd3VmIBqKof80bD7
fRlWyDpmHqwpeGxTtff91Fxk4hafPfv3rPe+kD7KNz2/D63OKgts4SanfrIODFeMrc2uuslOmZgv
o7BzXJ8hLfVujo2TSASQFM2a4GxF1itT0/oOCUVWsjbflvWGRDaG1cIqb1gPZEGkUrETtDzXwPeW
eyba6ZpSrt6iEOuuzKgMg8Q0673f6QnTUe0R1cnyeAajXi2sbU9cBt3FTF7m5bUe1f24tqccMTyj
k7S7g4rtHfwmwz3VW4/2qNcf7CBrEJWLssu2wh1YjbRyY2BVy66mfs9z1tz0+E0Krb8xYjcB9DO0
d40ob4ZSY8Ey024BBXfX2Zg8L42AbTc61VHOzrPX2PkDGKwj2ep2Y/Dr0VrK5Ru3V1wexhS+s5Wo
NoMIFftYmrlJqz7eOWxVk1OvWb7Hr0zXtH9dhqwbOjjaOeoHhOh+Szqqb7xv9r+jdccQDreqlb9T
Pk337sD0J+u8VysTdVB4hfsEuY9NPEZJJDni9KGMGBuNg97sfJeeimWN1RoDMx8i3jCwUqOVbek3
cUP2+fEi1RSbAsSqyj4mXXPvfL/sn6G9MKPt4kuOFotEB49s8LxGEXiJQhg418pesqr5CSEjsqwO
h9jclNHZMPN9m7G7rgm33nSdX93R2pWM5r24u9Wk5e1n15HP2uzvq3YaH4hoAqj3E/rtPlqzq7Jt
f8nM++TunG8l0Dj4lWH3mKTGCTW5v6t9Bal/0JJNWDs8IBKfsQ94Hlrbps6kq0rNS2lZCTMBIa9S
o5lX+Bimq8JmVD8gamYzQH6SLlqgwnli3NR1z74O1vtxY8FKI9zWDjFTrDJqtvgkMh5eDVo56frW
KXIQBDGiTJ70QVlTUHk56QjNniwWRS3jo8wFHOKkBBI/t7CdQ1g3mpFzYOh4zU2fm+VM3pkDcM+6
2aytkg7/i2VehxQqADsHmA1E5uA4FJw8ApjtPchwBvfFEJ8UTJxtVvTRPfuSrTLOHLQCVoqfQJMd
HHP4VYWOs5O1O5NWq8dNF0bOIWT4ALJA+CsekjvetaNI2cQj18NErELhNNrdGwk3iui5JrZSY34U
eRWuYJovk/VqH2OCJVkA5YOGX763WtMGFZ/2xxJfQ6isSxqn1mNiO6Dya4i7SVxU1MJxEWQEGKY5
3ua9VHcq7u2dbnx07LORdwqrDcquR8YYOBEIMeBHs9ZE/uo1fqiV10P5Vs6E/ULm+7nkuisUkDzM
JkZQaWUdJHbPCGOU3E5gMtg0AxnygVHCUPg2sDRGotbfIqzVVoVfP45VWW2IQjKqTorTANZgjfWs
IHPN0TBvAemvIrfmmZhXh6qy7/wBkYgTWZ952T1W9SSuNYf+a0GdYrZiIrFT2uRb2nVtT4xWaqHw
GY39Vs2a+ZQPiqQvuJDHsW1YewYpFIyThonSgLxsIZ5OY6FhXE6r6op29WMh63FbNZzpkipMfmXK
WBujO9/OCVc5/dIVUbbFrueFj66RX8m4sy8KnVnQyfKbwy8g6rjZGOlcBRAGkZ/b/fUIqXA7513x
qOx0caJ10Vbapb+xSXdx6PbEatLSnPwfN5dpyIqtrwtQ4V74oTdgpHyUBDsGJSNQKngXfuMYwZS7
nHqM2r8G33Ipx6m7mHoFQ0QOwdxgAI5tfbow+j9qBt6/2YHF5C60efYJhiv4lL8q6o3c0F5Nb36P
aodF3qa7oswFmJ5m2yGfD6GX9ZtZ03Y5u+IelHjDaXT6t2m9l5m6kYl1IrLA7TGWXsAepb6ta8rb
3lTWzmoBdVWgaqw0PQHj4QGa6kc98x6FG1srK5nfR7f7DLuIyRgYMDjpt117dqvwsWKDcUU5Fb1p
pGIDBByHNpnnAKDrFWvhL6Bj18r3YY7wcFyZkVdfUG6nYBd1gj12fZsOnM60JtUDVCbg1dBu6Zcs
ZA5M8vymczCfkZUbZx4JKcZwkyeBBAzGXuLkec1BcQW/TSr+srKBayTEtB5bcHtWg51j1o5F8ZpX
eOQ3SWIUFx5ZZOHGyso54FXKXZuxKm+H1mQaiwaOEb2T7dIEw31Qm0qPEWO19atJNzJgZCsocmr5
OHRefuixeR84VWcHH3L6zvZLrIAkKE6D3jlbVXYPk5rhOVb+NSyR9KZMNONbJE13muPEORKeUHt0
Ust0I5y2YrDVg40ei8UU850aPj0z1aHAj/TreY7AkzdVdGWNEC0ZfYmzoTskWOdx3FnkJ9cMR6tt
79qLBIGdMEWgK7TKcteTZlhHIy7rQkLOZCOdVH83aaQcYAvanRewsGFtENWF147ROns3R3BYdJDu
TPfdjXJeMQ6157JjTVKl04EJKUPwob8QAV2yuzGq4syHGaona8lawzotYnaTa1FyDFIzBAe+fOMP
QcdnJ3KQtppU/dvF2kxnAO/YOKbbGK7YgXPjAeZZSlS26LeLiGnD3XzirRflJs+SXRoDFJs0765D
37GjFKbjYo3pa5/5izfd1rMzj2qeQgPVwmVq/FMJ3GdVZ6m9NkNXwLMsAq2n/IBDIE/uRJSBveBk
32T2IiWu01XWNvqpzWSLxtX6lnN3nmDvsLUav5hzcjG4u2+gRhQ3qeJtrDKHrFyGribPsc4PWHQc
RqLrTHpIFO30JjExvWZVcY4c96ny/GbH+VoGI1zKBaKzLQ19Fw30O/JWUMsggd92GXkDzetgiibt
11zVt07Vnqd6SqFShAh3rA1dBuos0yI+RsZ9NWBIMkPCh47VBHo8clcWeriPq1xt5gxzM26148An
NegIx6xgtHCPFIZacwD86N30I3HFwbPlzdhW44EEr0niWJ64RT/VYV9u7W7cUGpxJRsIDdqeNBCf
Bv0yG525IxVLGwVbO7ZV66Bq447lh4OXdhuWu7NASqP0KXTm8lnaaGnBVA/e1syNB+6dd+YUTfxG
TNUyZ6Dy8lCTKMrBVtNX84w9lY4AvqJkOMZMGxiVlR8sNfi3aYSbntPsTg4yXjvIeR49w75xZ/rW
Y22Y8Pb0bdsIZu6oph0wA0JbOzlofgqc9KEI4y/PkJdmNk+Z57zTuN/W+XtrkMtpvW+FyIkyF3zP
IrFk9IcoBp+rkdbpepb9d92qLMiRPscSaL+0cRI1tRZkUCpoqmC2c2cSXOuypBcQ405Zcdd6S6v0
Butk1sPhVc4Y1KyZXrPMbrKVGTtMLyMCEENPUd7LSfE/8SRHC8xUT6+BrjbjIptr0dtKfF+FcVK6
QAwBfmSxR3dbujjRkUeWgDVuINyDNSa7K4I5amc3Zs4qPgbcQ5LL8MbjrgbOoDGUIJARy9hDo4F6
8UGznaLZFl6jTVulZSQCLSOm1UYojU9hIc0u2aaEMUn1lLxGAgIlqRtt0q8617M/mmx0s/YqZKuc
jsXqpwn9f7tfv/uqLu/FV/Pfly/8yeGC+1zc/o+//7H5/c/sY67f2/e//WHzs2J8232p6e6r6XL+
6e/bW8v/+R/9y//29R9ZVDb5iP2bTnzDYE0lfx3g/fGP/tGIZwMFG9wC7DEZkP3ZhRcwpumVskXG
f/yz/67/5lALstLlepapc03/r/47ojp9WeFZdvd00IxsX/35e/8xR+Ml+5dbbHBf/rn9ziqQYeuC
07jlWuKfN4KU4aSyw9dznAXkThb/2e5qV3YamnwAHbt/1aPCBcIhqjv2IRZKJZ036RW6EZR+l24M
N9Hv0zab4X2ZY3bN3kGarRwNkYrvqt3oJ9axLTsSduw7y7XwRs9aVaFv8xDIOOdPwGtPfT5UIEQZ
FayQNl7VscpuFh7FrtD9eBeCfNnh7+LsTgYoXDdd5uzmJFYHRgPOGfgzt1oWcbXA6iYa18XgmSds
csMbGb+J9QM3jFgm7aDea8vJoazCu0rawMhYTBwPHSG8bK7eaQt4Z8xVobWivdpygAQFMDAK2AJm
ca6HcPSijeH4OfSbsNIP1L32PlOm9jlUSn67deJfW5C5DlBU1Fc0QlhgOlkbN0lcd7vWstSdjdDq
mJJ1J12RpcQ8iW9+weOiQhUgauk2WtRRU+Rc2C+JTk09a5/g9hRq3LoyL9osS2xJ8qX3R3mXDqaz
y2Kvf4zrtr33/XakxNBm9WGHJP25K2Q+HWDOnI4TkdSnbQ8F1ysPVLooCc1F1RGDC0H/s0g85I/P
w7SHZ6CQPFW6Mv8g2dfu/cUCYiw+kHkxgyQ6brM5EsdMtfVRLe6QOkTDi9Sn2bqj15hrPNRUC/rU
mYr3M8peqHppqPEqdXy1xUxiNlZ+mmD5BKoqHH7RxWPSLEoTBsnYnRfNySjD/KEq7fg5axOWPYay
tjjCj1VF4FZgJ9fCRZ4S/4hUEq49WtYgOrof0Ur3I10BFx1u45l8Rx7RpAdNQnImny0jImo8Dt+Q
wEGM1Ni9CLfkzbyr07i8SRxgKjblwFWkKlLpQIBWBFGKc91q6RV0R1QxrIPQl6KvxnNKLDaZ0F3E
Mj4++w8JHpeFkVpw7l8cNFWtF/u5ZtNozaGPc5hXGpe5EP5tFE4Y4onP1TEh9Ri5jaPEhcxu/1ku
7htd0T4a0kWI0ze4ceD9jKd5ptu7TRd3jr9YdLQfoQ6deeQ6/uLZoQ/YdPDdBjhLPyKefsqM19bP
Qw51peywEpWS7KduBn49GO8ZzR6OrFM73TXQaL29zeGcMLznV/sEmBUkKWvEHfkjCOpCw3qyej0+
ST22Pzjw6yDBbS7awFUzhiGc8m+pi3UoE4uAaFxcRICg0BJNP4oiDn3wp+vFXOQtDiOx2Ixo/X9o
i9/IqWHUG50zfYlaMeJqDKMqN6EXlgC8OWIE+Y8siZ6Yem1dSrwVc6v64C1eJRpbzNxagW0JfhU1
a6tujYbU70omfJ55CsuFXmVvvMXZxJEZXdjicRrtOlnbdMA384DlKasM90hOlQn5jwRKLT6o6kcN
RSvEDYir67s+xxxl9jikqh+dlPajlrJdpb+ai29qXsxTvamzTOX/CKnYVc8P8FrkhWYYwiqW2No7
QtdorFhRTp+zH7mVNOh0czPDeYWumrazpw31W/8jxbIXP5bUfQiMYrFm2Ys/qxIuzf5msWpNi18r
zebYX1U/2i1/MXBpi4vLWaxcEtb262SXxtn6kXa1Q4PAyxLAmQMfgtl1jFswW3tYBGlQDOEhNrWB
dSm9Bl4K3s3L/IFGL/STIs8k+Ej3aC9klH5hpPgLLQVuY3hIF4JKZcDQHIGqRKXods3CWUmAZNC7
+MGvaAuJxV+YLHKhs8xWD6ilX5gt1UJv0X9ALrkO02XUjYU0ZucsfbUMavAOPrPhTH0zuTaJxRdv
yuhz06j54cWwpAk8JhxDbWUCf7820iHcsiWn7pwi1+8cw41uuC2OO9fL5kMfDU+cU8s7CSD3rsOx
DsM6ScOnQTnli6Ux9FuVbsmJdoqyJ690lkpg4GPlJXW5rPAUN4AaYCNHxMjbJLMvfsQwhRqbFijz
NW7bPO2CsZiSS2f6Hc1IV6YceIsCuJzevnROhrGPfQRemJwQxZD6NJ0M1ThX0uDHZzxnnglmhVRx
cxve255yDimMmgfOch54acBvX9asTdelFnUFIUxZXU36FAJ/rut7Jk6g7PjFP2nMA+SblNj94IfG
UM5vbCWNVTBL0B+RkU8cFydaKsxtN7JlTSuj/9Ovu8SYgXjN7oENR1ogQ3ojc3wHQprWdVgxuF2x
hR7esSm4TC1MhipVBFN+xio3eR0bObOb7JbX80FVSxAxndWe24W7S6XSrrOMPbmNaQ6M1v05/gUy
MEFFQ3W2UnIk0iz0djpOTKVuzQxQiT/5/qE3uuZJhVVx0xui3/N5IpxTdhVKudpljtAMUc/W/TTp
a4b3MdWs5cvbwUL4viJs7AcewahNLBJ9z+aITaKdjdrZ9cdDw4MxWdXmcCl971OvEv/TaCxsEaIR
8iWhpfemw809NJVW70or1jwGGdxquPxiHtIIIrCEE7faJn2a3TAJGd5q12UFrzWcV7NKvGtzKotN
iwWVUtDPTYh7wyDmjVKmWd2Xk/+SmLjwNn3sxfVJQjAzAr30WDHo2T98TbQwuwfd3MgbRzVJw2Kk
LxmPOA67hEVqSP3KdOjn0Dw2Sp21PFYr62VezytfmfN0r1jhhWLqAR+P2aWrcSKD+gcLGrCFdjuD
NE5PLbtfBdl4LX4RtSWSd9PhIx5MZqaLjRqYbNOWd5Yy5GwY49gz54yyRO+OXLImYW2Erg5pTqxi
rxx7x2fGtuVn2o8sWZIJeAABUR+lTB7wuU2bwpLFAc5UHbgdrj23Gu+cfIao2H3bSfyets4ra9vd
h1WxRkGFSE6jEd2r62vpHlxJfiONfINOXLvizTFXnqqzQ5m18tuaBQ411hoy6li68cgYuyTfKxZC
by0xZFNAK5/WVK0YSjx4Tqc2xWySFmY3jjhoNYhC+39TF52TT1U11Xf790ro51T/jzLp/6PqyYL/
DvDgX+eYiE9EyT/Byv/4R39UT674zSTBAm9ULJagJa74ZwHlWb85C6VlQceIJZFEyPGPMsoi/MQ8
gZCjbjkO0aK/wMqd3/hq1v9k70yW7DaybPsrZTWHDO5wAI5BTW7fRd8xYgILMUj0fY+vrwUys1Kk
lNLTszd6VjINKAXj4qL3c87ea2vqKKaUUjp/C4fqCrBVv1UxMejyXDLU+Ei+xeKz4Oe/UTHp3imK
AlrxQesphw7ZF3pdUxBy803VJRqsLV79tynXNhRtHYRPJrERa2VaBXOEoLvGJIiCvO5xCrtkPm9r
14ZZNwUlb9x8WQZPOeBlpY/o4R+x3I4kY3bVu2mVSR3RQayDJ5YD+bNsoa6V2eCnrD6M+sNmLnIu
wsC74Pm133kopMRVysZ+t0qHvyQd5T23TmF8oSMwPiVWkY1fFqCGG58iqpVraJrbmpeaDsb4bMZJ
qfdO7+fAYlSwqLsNevRdK4WgN4sHHLsHA5Q5zPttqeMFIUe7vMmAqG5caY3Xoh7TDbkP+i2l3JLn
pu01h6WQ8iDGIbgweuvW1Hfc7AhbC1Z+PB93PNhYJjXJryqb83MwRMw39LfoIJV8quMm39rCJ47F
JQWdVNbhWcp4us9okQdHoIjRviizkufxbLr70Q/V0Rx747VtcJozDhufQvztG1ZgqH6qua/c57KJ
+nbtOqPBUq6e4T2Psc+b3vdoQa7dWbXyhhb9XO0MGC2PdaXVe1eqcAYjOZSvKlD64kDYfxwHaznK
ieBYhIUnHr3ENqli6FE/En1RgFunk1iuWuub1r5oxXVjWXSp3LYpGeCCPM222u7pqOmQleTaqKuc
CQKvu7OoU2lRFvHHFJg1ePfSqZ1VBbQuAwCQLV04a0rcS5mPdMWpvLK13Wb+c6x0Eq3tzsFj2qul
OgqDWdB5tr1nXSRWt85b33sWnQEEsNbQu7g0lXik48FufKM60qLsZhYTnnW0wtZ+L8e0anDEaWyx
DLAwceRAR0lQEsVZBhh5iJmb2SF3OSiSQo33TEK60QkbFV9gEBVAUmj0HF2U+uUr0fXo4fFiEj3L
CtWKN3pElLXRbuHIaxJsWNc1rW8Gx7bso3kVFHH7EcdUGVEy89+KQVTEEa9qvLZx3FbLNK1HcOIY
i1eDHDo+HgUBf9ZzS+09S0J81/Uw8n9mDMF0aDN1HAmpJ428YaoA9R7tklGyEz4e9VtGls7l2xZR
LCXjrjcc6zikgmuz6iXHFwzDspLErr7ILSj+1CD7eV/XQr2b09TotQpGOnZmXb5WUszo3OyxPgRR
bKs7CnZvm4CyKI6RReAIxufOstaVjPj8wMLYsp8yrYkhSp0XFFWT8fztW+p07oJDOjGbpSNo82Xt
0uEqQ8Isrr0acQrgyoY068YZOM9MWSvkUANCiF2RLqdUmsvx0Yum7bqdvOKMVaw4TzVapmtvihhL
aHihDkwRcMFUdVwQXlZFe3dIeUIhhakPiubQtIuqMv06zzZXZOwYyzXFyJykMtvQGeUUwfVnV6DJ
RIqUjOulHTlsWk/Oh2Z2hntz0ONtH0/lK0knoF/NohPI4CgYSZ1SCFxa3a2L0qaCsaXBQLSRjbft
oMhY6wmV4jUmLv8cs1585mQ64WZJmriPw4lM87RuytdWdY2/c2M5PiCKsAhE1NmOzoBcm31g33VR
23yOKfUtkuy5LVIvHR+0QysbTywXtqyHmp3hAFwcUxnsXZYU1mou7LxZt0OdMl32cqp3Dlk/H0bP
dlFKeO7niihGKPxY9JfZwADwA2+MOgYkwB5pQyyBaWSePdeuyxOEHCL8ITLDDoYTaEuuswy2BiXi
ChMxvtGsViWKC2yNRapD0m14Y9xB8s3v075YTE9JigvZTUKEeBBRdsZQT1+Um1knv26jQ9xr8ZHa
7vysg250dyaPwAuwmuiLRQ/jsbPt6VhmLFhJ+PLXRWQ81bFRP4dSAXipElS5qaej/SSYWKGITC9i
xNSbgqVhIp3RkidS60tE7cQdMBDOhhnRReISu5NCuOtbrzTBmnPLBKhaY6BALkok0BVyRhvhw4AM
EiEeXPrIn92LHVTXFJ/ZF8r7UG1noILgbKl5T3k7aiC9xr1AqD9C+xdwDRPdN+KSJjzN70BPhEfc
yHsKznE391a/aaoEl3yX45A0Ov8WJAtPk8kFfmaU3b3Iqf6CQQTrlpCwYA8h1rqUSW7KJ7+0imdk
E/VDOqjbEPHTPQvjYDXA0L338W08IGwMYe+Prb6p4PcdIjctt2YQmp8COYxn5evHOZDOC21LuS9G
u6j39pAXHvcH/b9DX4/LjT8ckMkxMCjlbdMExcrJytDepmZoXiA3AfwgON28a0KaYaNEk5rGtViK
mxoRWd+G5RbMcm5uiDsYsGOPJKYJRUg8VIiuyw4T0YPEIwnAMb1VFWs9mu2jzBP9GsHEhMYRMXDs
YtXh6ALB0GNkpHlmxW8jr/fzgDn9upXmG0yf6qpsZhgrYhhLZ+3mPvGbzhxveuXJh8nD5TCNsbhD
hdt+7dVYv01eUFTvY2um/V3k1H5AvcFUNgCIsC6r+pMk8PsuDIVPjHLC/FGL8dK3JJAQSL7qXac+
dY1l3NR162wbaQUTDaDsS4oh+lLNEfHS9iTv4gj2hY4cH+x36Nx6pWffjN2AAjXJyVFaYacpr12K
qSuTvlm+IVbDuFNwsDau6hDo4vJf9coZTyVesreoa9WaJt8TgBXSqcyaYMSi3xL+DF8tNl+FDLBN
x83FmGz1aRgCgrjchMGQ8BuBMzYMQUip4MbSBe1Jtz7obkBB6wLTCE3R8dQsylFdhrBV7KEWaxmS
AMXET3ZYOybjmqGOBGwTXuhsF4yhxYsfK3cVpE62qmWhMIe1CaO1NN0IRD48C0u1DUdUZIHl+TOe
2coh+4FX+A6MqklumCytOx0o51aDcH8o6Jvyos/7gv0JySGZxx0s7/4KbpeNuj54csxKnPPaiDbC
ggEPKAeYOQmoDxFSL+abLD92GCWjzSjRDi/MXWPVtY5NCdqE0MvH2tqRhTE9mnXdn6fGMl9Qq/GA
coLiiidQT9FPPbtpM+/Oas1+X0K64D+lKs8WMO97hAH0mKe8Gbb4CyNQOUicTp2Ku7socsxN7YM5
b2N9KZJgejKb1HdWdtY9h134CV27v7ZtoVlQjH3w1AO4WLnNiN6gaqyTQ5zbYTQDCVkj1DunczgP
bR0PDjZ/05vXYKycejcloc2dQCYdDWPgGEQG8XZMQ49Zq5ul+3JQGkUbO96XY/3gx4W7IxTRj7e8
DocDelhm7ikIHe0z1x1r3Jy+AyqPMCGShqagOdNNVkAhwqk7Q0xCTy3laO34nRHCyhhq7IV2/8G4
xvmq6eVto8TBPYwwN/1Ml6E6eKQYb9NlaQUXFoZzT/90Voz+12kWO9vIqMotkAJshZ3uroZl9upP
abue+mqRNbsMWOOsv54bXVpPvN+SqzZPrbBfkwfEEL2Fe9IkzIG6bAyc+xRx1owQ1qtXfRuzLMgH
9WsipBnsPCfPuYHMBZHiiOQm4CUb9Ol4yROilaaOBtw6brR/17AMuJJEx/DknawAUDnDmc1sxayx
lAeBQxT3sz8sHqwg3BG2OV3oxNjXVR6i+fSqyth0hd2d0Bq151FU017n0Xgr7LZ5DIfsxMj5XGqy
VnErVDcZAYafwQHTvW2r+iR629/XgX5moTbs3AbfsluruxhbVLqy+yQhH2nMgvREDMAgdpE3zxMy
FZQH2L1yFGWZxGvQgdT4dUyyFNE+/HCExzkoEitfMu8tkjYTgAHZ5wncwC1gl/mG8XodbYMysrtf
dVs+ou/IEwThUad8uWc2YhEPiyQJ2Il7X4j0hdT5MTwjt3T9i5Wb7+3glfBKWMhFqIO7YzJEAJjm
eCKRMYlDZI2weM2XKONP9UCWUu7fFmVT7bB6r2ojXdvl8DKHYDOUVevAvQ1kWd3y9jsiw86M4fCb
Sv4PnHuLM+8H+p5pkciLWwjzkQAE/BN9L/CGbpIB61q3rtVxsKhE7SiUj/PkNh9eLaLvZrF/P9Fc
vIY/blCRsgsb11r4n/Kbve83lTi91Mmhe18c8qz2Lm3I0p0huf2eGC0sNFl0n0kFU+o66HWHCKJ2
LH9ak/AVZhj+4pQnHzf21qlwaUPd68V1Zjgzgy4pvOc+bL0tswwWgGrOfZZtmdN8mIFpeRT0qp0f
pGP4Nfz9pD5EXccyE63ye2H3Q/sAZN9udjPkKwTYOXRN9YZnBnmsr0cKtsC3Ldb6AbVIwhPjMXOt
8nVIp+ZjUWR81XOfP1hewIq+rRr+PjbR8tXEfTFeAmojY3l2mhRYwvDvZuKqmp0XUzjsdVDUh4m/
WN+oohTOvg6FM24boYvXb7Vw5lTiLxChv8NZYgd0FJ0abQPRdX8G+SLskz5ytuIAYIGKzo5iaoNO
pJRrf351LVfPjyebDXkODB96H5b8+eqiHY5ePGVDBCNyikud0V3NK84P9556byLaqNSGI0XIzFv2
9e9ufaF2EuisFeZaaKx8u99caqXBBNNkIInWqpSPDmqZTVRFE+vHtAaUR5oaGluXIsAYQDN87yb+
2wtdkM/3075/Z3kiBXUt73f7jl/M8Au/Lg4Nxk4IvkPQqSs3qeRjTnJAtlECmSnLmAkDVlCyRjWR
uVH45YGbHgI1isdvR+P/tezj/7/2JjZNPML/vr35UACS+Y/1ew3O5sf4cuv7r/6zyal/WZqVrgP/
dbFj/kskQo/Tsnlq8UyghfXtJ/9scdIYpaKBSmTRZJW2yx2CEqUN/+s/LQn+fqHf27SgbBj0f08p
4tFi/fF6c23TRunEZzrUveZPvugukklex1FxGHtXDPAtqFLWCKe8fZhX5c7JpaIMDmINVxYSxUrS
8r0egFts+hSuBx6STjzGfmS9OE043dLHyR/6xvHfQIHTs5yx+MDdme0DI2CaMx7H6BwZrEkxrxVw
j0ayUTatMbI44N3oWRedGuE1AYpIjFO8iqdurtIKY2K0kH/wBQqsSGT5bOY+Rj6cwfOk/TSpXWI0
6iYUMYyT0Fco6WkGbs3KsFAzMJ5BfmUTdm1YoaRsHBvuIRJoruim+ticJZnq4FOt00BwzBHylJlv
6X2hk8n4Upsq89svbIVRZ40KWUCkyEHS6bJizeo66bSFEG8dR5/lOA7HFj8nIhT7EJkMpYCWmNnX
iBN+ILYVVn5uM0sVc+R/zKylyavh1fGCKMTlc/lmL6q0m5d8MJN7Ul/GW3+MwpuhoztbNvDn2gbl
15nQ9QD2Gi0rFDehq5eAx1T4a1MsIce0NvUdqrRpWzklBzIWPhYg04p8JBDx6KLNnss3EZCg4qdA
g1cA5EyxwbSj8o2HbGfn6owmEwPCkR7rDYpJ75b8W4qVGHv9oeH47fqi8i64Qar9HIbDJew8uRvD
nnZkZOfFgxCVvjMUV0ucoKb3Jm0fMhEghfdr8egDrz1G+G5ORhrRkevc4iapq954mMkH3DpuLE6K
qSya9qRTm4glAWhEI8PW1QlrR0+l+nWYs+q17gr5Qp6osjBgVLazxgnWfAgj09uaZYKDC2ny7sYS
0NY0Ke9BolfDKznTmPTGGtG63VtvRI82yPNTw5abNjSGd4T4eo0b0ruUpeUSUTaZwQnqZB4daGu0
85GRtJz2kd8ZF+kb/YBnyc22VGEa90RDSGeLCgfLPXAOWg8ui4TkEpJqdFtqg+6TqB3nKSeN9Cps
UEggZEqxpNKgi4sZVaGoZ2sfILTw/JURx0NJChMHgje+HRX6tVp6t0brDUiRSlY6nB+DNCK84l01
bDUo/l0AWl92B7/ACXdqSRcyj2lVTdGLLBsPiyb/LJZbaX5CRmU8TIj+4dL5lCRZf6ZL3ryEVXbt
e1ZwQYXPxJT3UkwOi7SyQhmnIDOB5LoyNZ/gM0e7aF6kQXM7Y6mYkh1chZDmN4riamYaH7USg48X
FlcUotW2Kdv7uBPhJkpL6dBdlDQBE66hZ/I7A+fA7W3gArL8fVHXc73qbCsr1yaJOxukPWgUkjHY
Ga1sgg/yW3DsTGY0dqu+k91masfxbGBrPhadifPHy++LmYZ43KBh6EWz9nQxnoYIdaw7RulWIX9B
Hz7uB0MZH1hOt1Xqg4H2aYNrEe9J2BGrqWzd62YaHyCpBhusn3uKUvtZQAJe4R1ChDV1xc2gzXvs
pUSi1uRVG41HDLbCOkQaNcbJ0gl2Pv2WJrbzs5mXzZd4cq9NwvFeGabQGBqq9IFwMX0T90WznkgF
YfLcYOrqfMpFOLurIQoRCwFziCo97THEtOsQgcaOUb1YwQdq1gJU7zqq66LcJHp+BZMPjTd1b/A7
XdEOBvgoKfwYB9X7yoeXSwvXvKpr2EcOYVVI04tfPZ62e3Szehv5k78rcMpDg7bRPyDYPszgkdZp
3yNJySI4eunUrzo3eCsi2WwCEUa4ZqZ8gyqCLiJorZchroYDkPz2Ke7qlgtjMPZBPX7taodedxhP
27ZmaMIkxH/DEUYW+LfVqxODpsUtJ00CMYC4H6wMHFJeEa7ieTQsVmVQRPuyS9RJ+1Q/YKDcu66E
kQUvqkAA30T7lgwtrgpndhGiE8tF33RpJekqau+ZtfvPXmVzy9qZv+XdG15jlKh+xb1YkKiELe5T
iftsJ7p+wTZLvcua1tsXc1++loNvvnh1APys7/J1gV3/mmk+/fRqqA+Zlek7ix9cNQyabhodPLvk
BwJx9IiIwkPuXBPIKWACjG0iTvYYBxcvyTRtnRwpU9pGAA0IKSdioHKimflCRje8pbLrpbCuLR/s
6pyFY70iOY8OPcSSvVu6CSrmgCFcGXSryuiM57Y0mxeuuBx3dTeUZxOlIqTW4m6cYW1ZcZJvdKuO
TpdyGahhZzI/XI8iXAKAa3/VN8rAze/GX6xGZV9AqC/6Ibo2azKWB0wYyqFJiwjWWsdTZW8cHPJP
cC37+5BYi49Rd8GWjoy+VL58M7zuawQp5xMiRAxnU27i/7afcmUbC504WaP264GX8pybp8p/Cmq1
H2lMMh7BSVfZ+7nA9TVDIl1b0fRpIkAN7GYh4UYicUS4tOot85iEY7KlSCm/BL7br5LYIKAdluah
l/SEcYhNdJgdX9ymjVNvk2ZI6Ko713nQ5pdsrrst0D0CB6GtRO16CFElUU9l83UwtT5hO81HF4eP
uENYSrG+iBgrrAarTw8u3qWN7ZuyIjuOh2tiE8IVWjh8WoWXipmVtQ1zH8lFkjyCCC821lCZb6EE
RIB6xP1Si/q+68VXnyYmozba5ob7mqckWC85EPsxMd2TN9F2KClHV65VvRYBDNvZ605DTjs1wXhG
UFqFzCvoSaQbp+wIWONoIwZkTCOeomFKMA9XPq1wB4pg3Xh7ickNDXy8p+Venop2fFBz2OxQy+c0
mex1F8bzR8v6c91aXfFAOUvaTjNzrP3MmjbpxDDYdoqWsMwm241dQdfS0J/9QH5CDOK/mpVt3ZAd
lGLytO+QwHFd2Z8zmQFImDu6iYhYziXdyXNXyS9uNqxZF3w0OsFP0PGV1oK24EGTXLaCFaC2UYX5
s4edtWfF4t4LtIkQiQaa36web2Tu+qDLixM4zA22i30UYpueIDTQFOYSFTrYEDSDilXE4toq46cx
KZ17fww7eny0bVbwLWmChV1BE4vgZ1RsNm3MleKVfjGqhrBCZ35u4wi1ktrhqbgp3JZZ/+CdZVlg
KgoOlaRHFBrmjT80wOSWAWwLZL6BkFBmb3Xq5cwcx8eh6W5L0d60+PxZrYHwcOaJ+94f16RZ0Djo
O0jvMbe5TUOw39gWFKbVCNXlkscMB52syqFI1Cs5uTYzQDx4t7LOk/P/Fn7/Z64AV6Mo+feF31WR
tz+Fly1pUfzOPyq+b1QvcqPwR7mmydIOWck/fAGo/ynflgAyikHTVZJy7J/uAA8LgMmPqPmRt5Dn
+z81n1K/UAbaaFEoEmyHltvfcQfQOPux5jMJ7iE6jX9p4sFJ/lnWUuKakj4i5Ru3RFKGkSZj1DeE
0l7blZNMBxe1QI4NKgiBVEVWeRXI1FinGD0+Gh8uBOj0jMB3TeIZqPa5wgFVNK7zea4lVJQ8As2s
snK6FHge05doVtWlaGbzIybL1iNoPGG1RvnrTou4t7f2keEUT5BDXHkk57TvT1iU6+GqLslwD1vi
HFFWLC60yUmuyF6FNd755KtNxsXsphJpQklYhYjzWW5w7ryxEKxRH4b4sfrRnLiXtPhCHY41h3a0
2nnaD+UW0iGGL+WE0RVj1eHYpZ17MGq4iX2R0Zuuo3y86yuDB2Un4Td7L0M+WvvQSFtqGLpPfCs8
+y+jjcwN6zU8gWm8hJ6I6sNinEc7AyeajNquSCGW89iuAXyJhfUleUABzGVSNeP2dHC4snbusBQs
fDB42s1tA4XdOQ/CtT9zRKYzgNKFJzYvbLH2O2fMrQNed8uAsFTU4+W+1mWYbuUoh6siVlRVvJnS
Cb9JvgP7kPViPagwbHk/RETjViNt/7Lv3POMcRQP9hpCmmDSOoQJ7zm0ISzTZH8UGQiM/pwO9B0d
so+wSmgGe9pw3XJTIux67S0p7huWx7eYlo3xA7V6GX/18K5/nXgpDta1zBs7Ew8E2YodQkYX5UKJ
++NTycwRbU7m9RcyeAEvAlHgQNWJH7Js7eJjhKPT2tZpcodgHKZwhCraBxt700z05M0oirkssbRu
JjphawO90knHSbENGFHvZsJe0DKEN4g3xvvW6VSETzuFBQtxPyfMuA1OWiM3p2XO0V7LWJPRmZt4
4VJrso/ZaNa8Y+fmvZBl+lm2FYWnlzQOix8SR1atBqW7Qi5VQ44hyP7UWIAPlMVsgcVxLA4q797C
WCE5YvliMyiI8XoXhNe/sb4xz2gDsh34KWPfkyq7cdncVepYJTBjMd7liIYWBzNqaSV8F/OXHrpV
Ik3wmZBDMADKBg8wQa7HfjCxF7R+jNC3TdXF0fF8Ql1MHwD+3CYhVZrvCBXJBIXRpcG1E2K22XTK
udDmbT6xbPLf0Lp6OxJ2GdLFYJiTKslPnXDLp7iZrymz7Lvlyr7xgU9vcLqAOqrE1czQf8V7vF1r
XOQ7HeHX5QiU5teCAJObwk6CTwxF5nNdqeFSIFw4NClWuylygn0c98nej0hDAMbRfMghafZInbyH
QBn2CpWfvOjEfZ6lCdIzBiQFIuLC6N++oHvGTRI3w4tdFWShxsk4AAyx5GtmLwHR3TQXDO9T07p3
aF+hy2isr4araUO0HI1dMlOedwzYaAF7kLb8Rm+Mbqo88lcd9VBaZEfDouiLz0ovRPRYBeaqSGr7
Vzz00T4HEMVnlMYx1alcW1aJd4oly3EwQWskI5AnCnmG1n080qkI9GG0HX81sNjRq87BbNvaAcEC
btdGZ+GF3WOLNWqdcnwemS0y+ozBTsjp4g24n+zE96CH0tGBEVi5J03546GWSVlkk7B766U6OvR+
kX/g2fI2qYlyYVVmpunAK1Ym7nsBszi+B2+qj/DWxk3C1f0gDNRzDPgnCavE8tdDi4PTxH+DoJCJ
OpNHGjcpw1zqaOutSINhlYUdCLdBAK8dTcd+tcmz2FjQdO9hkUZr5dbDC1b+HH1aXCwDwKRh8j1+
NkaWir202q/kTOPStKt5W5CuBGBeWp8kCKWbWWCz6kc93065XexECsVNYgc++8ZgPrj0Q5J1Q50M
IpmsIuq1ynzXZVdvFAvP+xjCIgPPIQS6FnfGSok2+IpH2DzkPYEMFkp3YzNzaW1nHjnrsJ16+kJB
OGxyGNNHPWDncRF7XknaFXD3DWunAkG4duWVZz3Y4anw6vK2EqzG2spkaTh54YQGpm4fbLg68Zog
qnDTmFOKel9ATfBHZvNC9PI407Ps1uR1fskyuEdiLDzcGbK4AkQUrw2rqi9zXgx3KSxtghW8K2Rm
drQC2BT6R2LIkyvUBOSP4AN6ox0gH+MmLa/cUgP0GkRDNeWE3r3yRixwuh2PxehHCiueGtZ9GJk3
0LSTl8wrqpdA5/UtJnL/uUz86NzRQmTerucnUasJ3GxBt4PW4taf2mplMsQON4q9Lcg2lmZ7zFNq
XzgT3ZNSJmVSpJp8Y9DqWzs2oeH4hszbqnExR7v4dk45DZUWX/ownW08cUtbQsitLpTFcWyHT2p0
beaxobMHzQS3DdrSfBKRcD5LPp+EeD+PCP5A5+/EpvcyzfT/TDXzotc5hrVVEzTRzmFYfnGjsnyk
4ENZZKBLS9AXYsDZaLQjKK2QABHxnH9PI/3fqchfwCsRXC+rxX+/OH6Jms9F3kT5bz2z//itf3pm
nV+YNUjGG9KmFwmq8n+Wx578Rf+Y+/uv5bH7C8ZYqQBfaCXRZPM1/jESURJ4JXNhRnVK0lH/e+bZ
H0fbisEfsxXLZNLMpwnn5/hX9OYsgOzQOSNpqg91xhTDJpnigPMEvWtbI7L+zQG6/T7X/A/ohbdF
lLfNf/3nH23QlYB8lbBN7Yhl7PqbeWPCXpe4s+wzjwW9Ef2AfcQD4k50fXUIpuavxrg/jtK/76Cr
HI4XxE9k9z9NfDBQzQ2Vizq7Rei8xx4bgDgiHhubXPc/37UfB7nfNsWp5lxTtZDVx6zqh12rwwEV
fCLUGWOl/R65cX2w25mJjYN6+LqFzv3sJtTjNXOR+z/f9B/sJVeSzdWgKcFc8dMUd6iSHhxUrc6N
RIOZa3QxPB5yqGp9wJz9zzf209T2245yBQqAGHDsKN1+2tERy1RGP1mdh8JhQ25Zm/1qiE3G5H3r
oqZlBVOGJ+h9CIQBpfTNJyV4B25gOBlrU+be5c+/0e9338GvwMhRC7wQTNJ/PPKxCLEjghrk9aXY
3W9iXtOA4PF/uS00kNCVuYS5cH66oIKYRn/IcOVskT1x3SkDZGlLDEYXy7+azS/H8V/KgOU4UzdT
sNq2a9pMQZdp5m/ulaglMcspOnXGIvf1uzhYElf494+dcFB+LBvjKfXTyTR7ZHitTNUZlissKE0c
wkozR1uLOaH1/OcbW4bKv9sliIZCMgbmEP6cxUzYquhnZkJn8K3M9y0gM2dB0pLzXdGsST16p9fK
TRp54/1EAXckudL6C8nFH1zBKJp57C0NBpO+xE8XjC/pwPtkmp0xycuTleSCRa3v6UtJ6NPaJI8t
2yaJRPwwzd0kNt9uXpToMGG8pj78+UH5o6tXQR5X3nKmaaL8eJqTFIdZlpTcvHhi7mmbUO4shgiF
r2v79ze1ZN7SbuDV8jth0VjquqjdyjpHeMeBxy3KFoOaEoHgIpH/8439+Kjn8c3SxTNdLLpLx+h3
ly/RQAVTuNI4EfmJIsgw6vI1t9Lydf4mjM8X+8Cfb1H8+AheNglsgoLMQVDDCf6dmiWZlcQg651M
v472OCQYJDV1gyFvMMZ7qi/Oq2XP422oY/kYBejtMyg0ZxdM2bBBbcvQp+L19+0J0qqEAn2aJV4M
PzRwl0Si+KuDhGPrh1vCRg3B2GAROHgm+gdejT+efoI8Yvi2RB42qZntzDmcd0XkGDuKpqRbFWZG
AjGIorgGqFPE5eRsBR92V6OD+6Zq5zsiDuVE+nbQ4kPO2o8RoylG/nDmvpIEcoYbs44Z59tiQEMj
Ak+9g2EZ71MHq4MZ82s1eomjSzFVI5+VmEBkXL22INjPOlCICmIO4Dfew20QpUa9dSzpPbdzaMRr
4lgrcSDOho9uXAYJm8wLQfFAUQdDEaA7d/ZpXrENzZH+ppuoKkLhV6pXMlwhacAvRCgx7AglyteJ
TvO8N/zZc04DSnXsVTCQN1Mt8vCU0GT+SOK0enVLAiNOmVikSuirb6FiGLhc6IxEb2IiFRgqjuUs
xkk9+M+w4rj22sR5T5CAzGuF7vl9woT68V14RNKV/Z5Nifxczr4kJsmt7munzZC1o+t3o0ChBWk8
cFyDByN5Leg0PVLOcJOONKmVnwDuGBVHlCToZ8I4o71vWc1H3bQU24UUjy3mHGwm+AToHgXzs+wZ
3Jee4jxlzoBRaaybjyQLpKQZgEKP4BkE43qqveeunPhbhg/f0/NzPiWLJ/E4txw31ZlIs7695XLe
1LuycVK4HBnMvwPyqDZFWe5yZStSbUHq5LiQT+GyMDFiAoMY1HkXE/vIfYI6ZESabxjOxmYWA20U
qz21s2m/uw7JpND7YxofWAJxvfem78ITW56XRo/xdd8oMqlBdUu+DET2JEONwHvRAUeecgUHE/ly
sxbXoZGlnEo7w0/kFwTqbrBR8L4BQonDTOQW13IfG95zg6Yd2V9Ligi4dJQ1QvMuomeKSQmAKIuO
NkcutC6tYMb2nFLIiiiz31Fp2O/OIs5AI1aDZrQnUT8E1iwP84x2fiMDR73lfZ8/6jmarhC9pJuq
Gcn8jI1U6B2cqfoU0ZxAzb+Yv5p0RLaTzwWZxgRLPabpHA3Uixrtqkupd00agnnOVFig7wULhhqk
wS1vGwqh9zw9JpD6UHszskJ0D5Y455pkomk2+V2LwAXZud9lXwq7br9qNRdHW7rdtefY1HCYDhiS
dAlPpvUMoXA7mCVq5NaYyk8O8ohm19iTQ8qkKzZNm+d0nU142Kj9CBvzOngQIi4AshVdce2hBkDo
NDfhW2DRb3ILEhaJn0Wjm0/+WUytC8O5GZzXksz33ZSX85sTDAXZRxn2BGAg8xvy3WRr23JGadpz
GrVvM11PhvyN2t5tN3mP2h1nAUm2LEZp+IzVwlGpM2MLh5uBZyfpAILbXR5MzOYK07/vEjIW86Qq
j3HNOG6yu+mLHxTDNiRb8w7rVvYpSnryZyd43QyAEfdUAPvcpH53W0QwOqLX4cssXDO5FruMgMe4
1sa1wvPG49/y/5u9M1uOG0mT7qvMC6AMOxC3uWdyX0XqBkYVJew7EAHg6f8TyVJ3SfW3atrmti6m
x6xbZCYzgUCEf+7HQWTlEL6sjR8UDrJJ3jJ3QNIkURtTL9FPjbpkpxseyJbNlOekElEzinghtxCU
NI5xcgyxHjOxQiFY6tnY2mU9PjXEO5u1rPodfPJ5TWnz76D86xdRpIDUhDXtegM6J4Fucy+iobzj
qbQwamd5v/RdBM0mNvlGg9jOLutAQGIYxoZR7cBFTStjMLzNETlKw864JXp6hqct+Gk7uwBoxwab
GCpxQFbb4T3uTBakeiGXOZuk31fmIAXZqxHPTzhOnrnN0wT5fkBFkqsyiIgI2rCfXyPLRcSmFGkd
zHg9h17wPA5HL2KUZ7skbrtC/zZranq6iQeWIFZjPU2sWW0nzlH0urGF8+WCo6FxufXHxGsP7oTn
6uBZOdYBWoJ4a0iLUC+LqgAf0Mbs55JRrSynZjCwspKeaaGXJWHzbW6ku+plwPy5IDpK67arvlJi
2tJomBveJ+FH4ohw2x8KYso0ak1xSrU4BPUvvRzesgbWv+emcbzGy9H2LwDnR+MB71ftHMAPhNcS
69/aL9J8myjVHmhRWyA6Vs3TAvMigPXkqifpdeW9HzffgE6/TLZr3eQa1ci6ymzXFszNXQJN72g1
8Tuau3qIx4Bvjjs+27aShu6VG+MAXCFHUVjbFn1wwizQA/VVRVMy/WQdX+djH6sD/e3mhdvW81Xb
D4i3+DBARpQ5oCmfbyFDYwwF7GSgz1uYFsXV1HXuDWa24qYlCXVfpmELe8jqf3elUWxrGiK/1MKX
FzigFnKzkZ36qz4Er5ujd6/UCPcKZb1guRBUlGdl6J5gUX+JGkM9qCFm7jCOOGTS2PucK58ZQ0c0
hGcloZhVyzDpWrhzCh0Dn6IhlKDFRsb9m53it8DpLbYVk+ULyzeNaOVCU+32Fksegb1qlJRh2DYA
FbBO0y4pKufRzxuSYpWzPDSIf5fmPAJtRZcDphyrV1Bp7bg1+95NT1M6Td46rE1YylR2hfm1P5mq
2aMl9wdOucZlFiz1EywoG/RfToByZRuBmR9GLp5rujOab5Zs+6sRevCevOx8gbm4hN8jkqhf1RbH
i4TFbQ+EA+hmw87CWMcykHexLRXTjiyiNpUise41nwbAWnPhob/bLKOOOUN2bRtZqY1dggNeE6qw
r4YAAW81ixZfUVgEoCNZfb/WtI5GO6FLBuMmdo+u29pbp/BJi45Bet+XVvs0WnP/HBJ93coJEXjJ
JuInoPQYzJMnw7iYBRungV5PLgvUiFkOPIcG3cCFLY/6VZeP6lbCNN0jYAYdia8ovQHENj2ZnTKu
vHRwYmacVIOHhtORWGkqb4eO6al1baei349cu9+iIpk+NaEz/A4OO3inVtBPd2bjjxi6Cove76ym
Im8VhU79DRdcS3g/wRR2CIbmm5dM8W2flQ5POeCfJz1dqFd1jTEngXI+rxDOcY3ydL4x8DNsbdNn
aihi9uzxoscZJml9zAAjOeyLfER6NdxAviT+XBMoj5fshlBsYK4iUuU3lSh02TK5zbvEcPjWiBpY
7qFE957G54mBbeR+nGD/0UL/Rgvl+WfB3fvPWuj1V/U/p69d/3X+sxj6x499d4c7vwnT5rzDcZf6
HU49/xJDoWOQemVvwtVoElHmf/luFbDwA1hkhW0PoQ4pFIXiuz08/I3QACdm/hcT2zm610/gwF+B
BJ2fQYJYFTxSHyHP+xBlB+7xj0cxMv0VbTce5z9pkBSrOmfYzgij+UUSSe+CmWUrH3DcRqeaKON4
lGk13CWNIcs9wh5uRJKBQNypAwKwEI0OKfuOWHHDAS5GnkrvhOxNkKwV5yLBIGWBEnQd51bibCxK
XB4nu/Je/Eq+UYPNElSUj7KNvIchr5e7vhOPQNqg1VYNJay1X7B4cc4nfUdd0NWoXMrvQob/971P
intoBvNFwGzg5GCk9n1VUaSJmXrY1mXIU7DhB5XPGIbugOm6nOh4tAyL/O9iG3S9GALBicD8iocn
pYESxxgP7oyJNEXszZsjgegviiLRxaXd9fxB5UuLQT5IvvD9oyoYPT+tLNkdvbxbwj08FIHbqByP
C3zcNXVB/GDvKfaIdqVps34pSvFJZgvP+6oI8eqWw3Ll6/pCD/DDoQSzdQD4hWXBGHl1K1SKxRl4
aJ8OVBymcLdWhJs6EOMpp7yV6p2FWEs4lhu7iY3XcXS8B7ysJXzu0bEuu7AX5l55VvE85wUQY0lY
76Ur9VEjn0x+W4Hz8CZsCuPbkiixnpw2OuG7S96Nop+uSe4DEtHvr9fviitbO2T5z6MNXpfabebL
a07/FXbDbqz248g6XYfNQlkTHzLksmFbLbrvNRjooIxDmHGchwf21Jc+I7bkEBVQJw5+PxA9TThX
pdRjUmjPoQFWemXU+Wlx66Ps3IEDUSbH3UAH40tD3Y+/s5qZEl4ulQUOUsm1QIvBKRv7fsOrw+/v
ey/duugSD8zBi+fOcIqHpOnml7ZJ+kuCf+IxW2S4Sxy788kEtM4JDlp8EbXQDIEaABUgBnBhNHzZ
ISXrAJUGanLJGch1tnjGlj71vtp7TAJWDEExC1AF5OtGEtBIlSLm6OLLK8B/fFO+oxoMcWVZsy9c
JqzENoQwwl/mQDqiqPldYizIZxC4AOfmOpJvGOdxHWRb9i39fVSK+SpdVL526jzd4PmMrkq/TGl3
ilW4twZh7djMOM8US+f7MsQ/TKwz4YA4DWkZ7nPL7B+G2n3xhgLIOdlDZJk5WxMr1RP3cTGoXM6L
qzKOloHzj+/v0nChdSfAGTSauAcYw7ns/Mewg55d1LfY3Mq73nD8naILnY5al6hvXGEIomBhW/JM
190Kw9YW7nJK3DYvsDsoUCiF5zzhOzGJ/s70FUQdtThqwg3h9uzIKpsjyjoA4LWrBjlt7XqAh29G
2bIeVW/s28Zho4Mj/wZqW35Rkcu4Zf5OawaRev5h0JvjCpwaPsPQEFTRijYdN2oygxd02fSK+H/8
+9xlGczZ+tghPGyWRuSbitGRIllRY0ucM8ev1iY/87a0mF43RtbRSxLXZfvQCnDzEEetZDsmkr4n
I6+Wpwlv5nbJ2uRaOk13WsymfjZ8b97bbWCyCZqZaMP2bWiORaKwSKsUAwjtpOq3zlh5OE9ZKKzV
CBBgI31/vlBRU99RANx/Evz9ztGNlimD81AH/cZfYgL2Eb1KxuyPJBHZMdIQVensqNmO45qur9oi
5990bHDt5NEPMNCspwJXgt2V2QVRYI50siPtgjgC08jxOQB2Qk77xIyrtZrLt3ox222Xzjak1Da4
rufReKQmWdfA2gh4Qk00QgdVMYAuC5fulhJvqGJYIjYEUJY7cGSsSj0bwtfzygKIIvomUIFPlO32
G0gqVFWf7yISD97DBP7vuVNluMHCzrIqNZKeqTlPmA5Gxn6KWZ7ZENkut4Oy7y1PvxA+i2lDaRvv
pMANfqVMxUw7UYaornnaz9d9h+5DB/DyRy9wFxJXOu8B/tku/f12yWFc8+vt0tXXKf29/mm7pH/s
X9ZKR4OSYYYJyjl/KD6EA6a7VBG52SoJHaj7137JYXaMkkyZKrL7T/sltlK2sPyQ4RU3FrOl/2a/
5P04n2LlFrw8vDLGFhjhiMn+uF1q8d0hqlXZZQeqe35z8X1R04l44W7NhIo1vB+qU9l8SEHflcax
tpPG69aMpKtDrWi3g7E3v3cO2Me1YTbeespmuVxMlR98BXoUbFI/8LulPVRDTPEbT5hCze6DQZgd
w70WlMj3vBdB1XFnzzF06m2+LFkibszUGII7pC9J1WLjD/SwPTgVdX1rX8nBfC1guaTY710DTFWX
1EgopzQ01HoKA7CbEmcVak28ePmEXoPZvAkfcLAvutyOwT1rlgV/nrROVmGVf+SQ7VvbMAN5QWq9
RcAe91UjQ5sDv1nSC5laaQ6a1Wx/T4y+2wVtM996dlHBZ51Vxo/6s7F8biozSK/+uQH/V8Zmwvo4
gX99A76ydf/p9tM/9P20Yv3GoMzGteEyMvqAm//hbA7Eb7QYg/Ozgw//Mn7o78cVj8JibgosZyD2
Ql+3HH+3bpj/l97RH8eGMAQ9HaX1OEhx/NHD7x/vPkv6rTTNmP1fyKh7nVexd+MQ47g+N7v/6aP5
W9fGx2vRs2dqB4tr/WVsy6kFbndoVcfAYei9SAa0GbuM55lP4LJtl7+bU/40x9N/m6vnsoF2jXMq
/OlvYzNqY/oyeb3SYuCB8k2algJTbBST6xxBu/nO1iGz9kg/kP346z/2J5y8fnGOgUADQ749Hcr/
8YNtDZOBQN9VuNnotyqLUk+nLRleztZCwRyTqefINv/uT/55DKhflU/LcX1HX2v6svnzsH+gKblT
YVAezyac86BLQl2mBjLtGNWgNP3NLPgvL0iiWj9deEUmj4wMf3zBzDSoBeFUeUjI4F8EYROSGWHy
VIaO8dmJpP/6649VywV/mv1zEQUek1l9jId2IJjV/viCSDPmEkeTPIz11OZ4Q6PeZrOsZekP38YM
qfc6LCqXSWRu3bfSq56rpgkUAZB8qbDj9cE9xav2uOqkN8Ip0UcVaxLTy2yHf3MVMHn/6/vFA869
j88K2eJnP09VijDOymE8eAFG+kejpGfzoo8LGIrwn/DWtLGlTmyJZ8Ap/eBZj9yD871BgcuBpLLv
Q58kX13OjfcWOz0CeuIXXEsgmuuL8zyMrHOZnKRpM8ml4gJOB7VoJTV2HsPmkcgnqcCOgYKa7YXh
njcxEegCxq9jYNYXsBumeyp0CE2ngvnZ0sna+xKyxZ5hsC+T3BIvYmTQOTqHzSrhb9KQ7ppDZkrj
E+2bIrpvO7a8JN+yFp5e0M8GISCbpkDrK1fpRKmPhT93uhpcId27qZrVZWUmzJqB16MK6NE/pyMW
gg7TY7yaZM9sQA3TrcjbLlzDaG5ez8YYEtfO0ZdQbdeTJFUYlo68Rd6tceu0VMmtJzMT28zqvLew
M6f7j+HDGaMIm3G6N1rDevT0PDBdUu/NE55dHWENT6+EsniGkyJhyKDnJPeji2tmw8EXDy8DFfJl
FTNZOquYbY/4W98Am3GZLZLPDZzU4yj40pawFc+qXZgeGj5OgRhnQOsoz9nNFOyEa5hIzCnPBo2P
azXJYniAiZOq8SrNJ7YhgBuBMnq4gOxZMjPplWTUYpAQTk4iiNLymLdGS525b1PPtB0Yfn9KJKPf
sGE93eDVDqZtOeuJMPRh962GYfSaxM0fc1qhR8EMVJj+uGfGHjoMMEeNX+ygZcPr0YMZNAbGvdLX
8Ebu7uZ1mtA71nGNOrOTY6dn0IlF/J+wS4NJW/+tFFcWGITx/50/f8bGEKDHEPwWQKWNCI2kX7eV
MK/P/2aIQPCXODpYN5bkYPC33iWAtjYqFmI3nrkuBC44qgw5NASGRBEDxl6ajMt6NdJVNIWC0kls
zqhU7KVG+tdCM7seWr+nPCgsc1BLhGEYZq4iDL5yV2Ds1/WS/EBFC6B5VNYQyIlzrIEnoO+pwt3P
5pipTRsbc3TfoGqTTas9dPsqGYfo0l7E/OoLevfkbLQSSHm/pLdqNmz1qefjT/Z9Vcl9z5FTMaSj
NswIJbZcaIL46MgHunH/2DhRsp10LURUiXknnGLdIjEDBGop4goz59qDjram/vIQiXmCWFJPj35J
xi5pGKr5tjFfu17u67md9dKToNw0yeyvhnmy6KxLhnuVtH28GtAaP2M+IfqTYDJzaBtNpwsZGPLg
hnXMEdPUozOzpui+G+N3JqLWNWJHcAIq5l83ZkWQflzc+dKqVMkXPqHFkY6ImQo0y/Au0oTJe2+M
cbrh4hYnNxomSAiu7JEngiB6BpU3VOiB7hNjLnCkXftWWQFdtIXpuYcWDLnkH2oqLM4/Lqk5x8yQ
WNoGyLo83fOY41q2oypJDwy8eEoDjNrP/dC8emgxz7qjMyNXFZbaFS2nezSfCL2evcWHB4RuH0h5
uXqbahLFGcnLi7K288fMMLNPGR0NC4gFGBSRyagjDRznGDYCOITAILHhMVo/+qSdCUBXG7BIbryz
yCl7J69YcFcvfWN9LjvDWI4wpMbw6JQQCNTaanoSDMRTyeaAKvlCUZTnb8kangrRRJfKaOLbjkw/
eSDxGCRJ+1wM3dsMSYzVP7WeKW4aN9nI50QTCOu811jpCYi9/Xk0olGt4Z2ZV41QwQOhuJzTjVRH
zxlpIiUhSwFyYgWgFesu3AlkHmB/9jTuMDQ9l0xHN/XUE5KXJT5+UHptsDIAhjDQdaLqugoM90sB
1m7cNTyxuicvEXb0RYQq7VZYsKJ6t1BsDaczhi/B9CU3LssiHfnoSuL6CwrRyxzA5UvdKryhf8+k
1JwsbmBRNAo1Pepf64lZ+6oZvPDSUbg4c0vytbbk07cpBH0WC7eIu2s01ZncRRZeGxPc0q6kCG9j
FJowVWRgsyI86yhvCxcNUsx038dmCLTX0JcS8hjKX6JnzLZgLW19mzX9zD+VNu/GHxJx2Su+GuxQ
gnWwHDPt8wkpKkwbl/8igW8pV5MGdPkFTgZ0RPyERSdhSZxZHdKLqTvHWh1eCmTddRbWvHLGw4Qe
mwBc63nE7XvgCfbnqThEAERXzWFakL3G9XkJDJIRQFZgxPrSV9hBbwdV4eUYGwUCkRkqnSke9JhO
m2Aqh8AysmbHFWHD7HijRm667VMQZrSep9oP02pvLJIxppp05lyz/3hbVuWByCUIzE4iMgweXwHN
BBdt0XUHOeOZHiR7X2acAr5KUc0ntFGCDASCIGpdWXQzw5ztRP2q6G1PbmxP8q7TsuFvVRJu8aZC
wAru3bYpep4WIANJNYNR1lokeAcZBOt4cv0TJg0CSWnrzQ+RUXuvfgKUdzV3FMmoptMTStJr9DGP
VvyoOCNTtWoW/qW7OGHPuhhYD0VtmKdmTIxvQ9fC2hmVmFa8Z22pMwLxbE+0K0AkQUdYt2KwHp0O
+MEqRlbMd13g4tiKp1R/oiSIgd96hDbgioa4IkosVtVDpL/RjCjX2zKWXHFFz1VkWJBsVoO9mJ25
IbdIQScc3Mh8Jk3tei6fE1vLB99JjfFBQp70aSrFwp2E90UeCp9HVSMWBzdsDEoEdiIdjdZTFrJb
jveTGnDRWGw3IHd529TEAraOijLdDIrOO+XPGoQn2IMEdgJw0+2Sa5x5hMqNZN7yf+1mIgN7KrKl
ueLrb+/rkJUll4nxArA7PYGt1liChEfPHJaHGFsjVF3aPYtRAVENW39TmaSmzUBcuHMfrdvSuYtD
lnSHkrSdZcbWplssYurT1B5rCQU7HgrrvnJZYkgh0jGVIXGurJwdyeCX+TcjdQm1yTqi36guMRoB
XoE11yv6W6tvFfVQRjHfiMlVR65rNgZja94IwAs3KNVyI014bv1cHqbRa7fsjaOHyR+p5OAhukH6
BUnqujeuObhXE4SCO75tnsvVVJx48pV7t8yJJRkO4brS38aiuAJ3ATycj+rGnJv4qTH88bWrbee6
lmVWr53YZAM5tXuwxhUulFuntO7Z+VVbKl/Mb2TQvJPzMSgo6VGhrKIKFORarG/LV5K/fCHuyC28
8zxHJZtyNCE7syOQzdrgCYzxk8ZSVpDEZIXgecVqOGTn+L5x9J25ba76vOAiLTWYHgosV+Qidd9h
NJH2up1zhdlEsu3e/PoYpU9J/zaFc4oKOUfhUUJYYArwF7voIuls5YnXHBrvvOkn9GtTAMyV+OvX
+cvphxeyQGRZHsd+IP4/HQ9FlAxjhk3sUFCFkcI9CazHFj5/wQQQILrv6qPLeTn89ev+5eiv/0Am
ur6mB7qcFH88JXIkLwjUTc1hygr/bTBKICP9BNNQBQnrV42J8d6HzcFKcUaU//rV0W1+/nQJsnMq
5gbnTfwcpKB5B/XE8usDzgfcTyCa7cdQr7pZwPhl9QeErsHJTLobLLyr4Xznt/CPZP53krlrO+g8
/1mxu0nSH8Xyjx/4HrQyf/MsDRvAQOBpDAFC3h9qXej+RjCEcAPmcBoLXJ3B+q7WWb+JwLN94VgB
3uszveDf5gKAHaYVuo72jGvR678wF1g/y3X0TVhoH54WBVEVflY/wKRjfKs8+LuT2UQbO1vy+6Ro
opNHxdWakCqzLCdbdng8lx0o6ugUMj16Fb05PZHkoZDBz/pPZJH7TzG3/N+IQT/fdbw7nDacmjFw
4p7X3SR/Vp8Ec8vIUsI9ZtKt37zEnW7JOFaXlTfpnVhazHsqwygTbUCZfVzw/5EC6djOz3cdIiZC
G1MMMwh9V9ef/PnVARTQRj6mLYVh0UvZRlQOqzEVV7lgvLXxGy+4JApX+XxMfnAxuSJ9srIu/Twt
1fIejD3s32aZnVNcxD3VrmOxH4puBI/T1v5dwO55XsNc846RKodLq3GanWs2LoIJ4Gr4uFAhOPuU
N4k9c0oN2Nki8rd4lUASBJtxXGAShexe2pWD2oJD2bdfyZfmcCAybE5w6i4CNudb4InjPUPLalfT
UaahZU6Y72I2ycma9TQD5+NqaHRnoMwEjyMcumLtLi0LS+A31XXn4tk0ILKx0akdeZgNoM+5sTir
bBlGxhWBki2BTx+UTVLRNW9P8wuUFE5RALisS09lEcrPPHzC846/IzUZmOLgTCZJCjf0D4yE5x3k
d59OSzwAhmurfkV6sb0Xo5HdcZhKrU0WtwxIatPf1FVg4vNNoLmr0enSnURyJQvLrYQMSpsKWfbW
R3hyk+HRwuVMo2mgxqMIRUEfrV0N9xMT8WRtOYrgOzAec4eeG4UrGOs5OyvPbywcKPGii8I7ci9x
nNoKwo8YV5zyqI1vaF4+eNK2DfiIPhXbnvcSZHNI9ZVf3QJzxGgbt+TwCTGCEIPfhUxoTtbOzLJu
1w2Mv+fCNvaLHXJQTmy5ywG4iUFCmsH3e0TgL+8XBBu0iHrMTksWUtPhDcEbmkZzWEpz2YqiGQ5z
So/ibrAHwIww3Gafxw9KyVq2lTaqZxbh7XA6idDi+JwBowtVoppVEXjJV1eZ8saqrclbpRWkd7xH
uph8aZ1V66XQGgWMg3TF7MtzVn7Q+dmGe++BozeaAv3MI9ttAOC+erA6PA2UcwQVpQqRE2GVyeAw
WhDXhvy9ypIoDTX3e2+btXqnmYyqCQmQkGlxw0DKvIKv0aVvWAXB9IuKAMZN33fRaRkXh05NJ5Mv
WvUTlzOh7beF7di4johndtwVrTH8XkVjBnZLDG2yBvzoptuBmm1jC5ZrvkLFqsAQm8FgbUdpLOnD
7NTzfMBEwb7eiHRdSV11ZbzpRnStz66gY4LyggqvDKf5qlvHKjcJ4MQJjwIwVSQq02bTmk791tfU
mVjaerkyJrM+zpxh70np6cUw4e8HdlbdZMsYXNsjpEboGIJX6/TfNidYqOj4hPfZYt0CViXd/tOQ
+pkL9kTy7qc4WA5g8ZZDWitQy5HHmUnagtZITzZykyhu5C3OCU2EN6fxi5l1GGVBE3vmtYgUexEy
rfVb1xfC2zRGgQFAL+WCvxzoCkSVLVh31lH4zfIa6+jyXPSOkdbrXDnE7ujzoU8bqpbrWvObN46d
2ZxCmZr8PxzFgiZOwgixm2FWXZR8qWKClLCQ8L6+0RbLXp3id9jrHbS1Frsrm/Fa1sZOgVzIVi65
q30b2sXNXCWoZjSG20ilsENpCIltiMo1N1YK3uOm8wpwDlXs0yIQzlIeJ8I4eMBpYygvS6RnwDm8
A67dsiFmyqBIXrttRwP44njRuKn6Lvhs4IbFB5V2VLcW8VJZlIX6s7kaE4orV0kbqNcaHsN14s+i
3GAdqnGSmnCoyY9scwWVr7eGJ1xn/lEKkXnavaPuRoItxcbAoyv3YRK2VAyGaUkqpxbYcLwsAl5H
H3viSEjiBtC1S3BZ3aOdjxPQxWT0fqdLzYepRcf0DsbeNrNrY1ljZ50uXbTbiyiRCcXSCwyzoQ2L
49SGjbcNp866cKDgHIVtLwElehFGD54ztO04Yt64EAQxLbVlYKOJ9z3IC3qg8MgMQTXvK+VQjsqk
Lus2rOP42GPP3U0RC35fOv2nfzaO/7tRr2/9etSLSvP/hxez19E/+n3g6/2GPk+AOPS9wLbPpop/
byEB+zCUNNmmsHn7c0MbNWwclQhVhqZj82PsLr9vIZ3f+KcWJwrI2h9srP9iC0no96d9EntX1C02
rD6wcNMJ9D7qT4Fg0k9tSbNhdqCZRYtKIk+CDZRO5FxbdmIC0djgoA/NIPGPEW333KSkrcM1IXgS
RbbyNaNlwWe0rb06bg9GUVtKF79XJRsF1Ob3MkXhm3W/WAOT57r2Cvc4uCNnoVlHAtmnOdheLc7E
Kis4DOYF9tASmuQlbvr6tdJDi8ZcOKnJrNcjhsoKL63Edt8+BlwCzX5ds8T4+k4Jm71dkBncokjq
H3EIaK7zLJ1v7RadGJcmL6zwhSFH9AQWz/VesDin+06nFKNcN2w5zRR0FDRUeX0iSVWHJ18A5u+J
yj8WdBoxxEqw9FuVTrs2dMixJZhYs/NRH6A/Mni2HZOEtBzrUVte3gIbH31dG+PBkYnzdA6sVoBE
D71jokn6JfGX2CZZCdqJhqzML/jVFEIS1gnQfkH7QFJ6Z4vKJ1C5NVFTOCavPK/P8mTHPzsfoml3
I4bIs79ZjTFv4COfqQqESNOJoZ9ECQOyke4nStnExF/t5rxmyN7plaEIf7s4C42jMh0aVtLyokoC
hKYcaS6UkbXqVDpdwauWR6cWtEpqvReVRX+eH0GicqIaYMN1zX/z8YUCuEdppAUXWW7U3/BZauQr
7fsXTPhQv1QTMa+achuhjZaSPL1jNMqfUM8Zv6VBwqJ8qycpt/aKkc+F8meku4RyJYSx2TU84EYB
w4h2KKk+bfIyMT/hcnSdXVEuGDMlEQQC/XxvpqzwGBTqHmymRyqNFCPdeEzzsJZmd4EkUb06J5ga
q7QfK5St1/MQofZKLvR8cglcoB3xm0h18p8oCLy3RHfEDSaxwoRUK2myQXI12F3PNyucgWqr82wB
Vwgw+iIIUHaoeubiM2xE00jiYloFqhne6XOEbW3qIGaiWp1mJNEj6coOkWQ+KsbyrEGYrTKhHRqk
FagI5hKFlqMhCDXdpe4hyAigaNwwrV/0E03ghUdEzpLGdsZkMa0DTHG4YiJr7N8n5LcY17DuLJP6
OmEEyohVq8HkNRg2exQ2hFbPLxtaE3wj1uktnGumL1KK7Xm6QvtH9Hy+hM/iK1spwl76ZtewndfI
Zx7DloaPRNnxfDvF3ArUihJ1TTLkWJvZ/vOHQD/UDVp8U4R6sqon0h9S0fmWwK6LYp9qofYsnrUm
Cwc2qPaVXEp3aL2GJgt6aqxHV9XRs6Fn0quG8xTu5hZudtGRVGOvgu2BvXu6LxKPY5FKS/4cE4Z2
2k98oe158kmYmAvMcLjJ+5wOAbDMzHXPM4OPSBwDftLNSS0onirE5dLqVoEhnfkN1EmQPC6MkHH1
GPSJc5u1kqCo0cF4w025iI1ZNMHB9zpz9zHDaCeDiU1idKup1ogEZ+ooX1n6eUy2gpuCxqcO6zcb
BFas0obZdT8TNLw69+GlM0VzDkGX+1ywPHOKpJ6xtAp+z7mtjz17uMkGlgzTZHA2eM3IJ4igf98Q
1aPyPsnb15x47EFYfbyn0Nx+PJtyfMxxEXXknJseerAvLkIsS6Sz8AdPuY7wGkLHuzkNASQ3F/pA
4jpAQXcoewHWEQH7zEwK8UZXJ6Sl4lsq0kgXUNgszVY0c01hcuYCn/2Fr5Xdrvdm0gDM8J6t4GML
KOEx82YFhK0rsROUZs31YkES3ta6vVGRftBpZ6o6Ul0jWXIW7IihNbosWGiRMbBI9sEE1GKqHUf9
O+V0zPcSj6tb8BJAbJgppZ6VAUcYu8No6erq8zXv2uCb1qQoeZc2wVMkhMCHz5EShsS+yDiSNgBe
QiqrHSAd4uzbmWnP+sYAIdzgDdfXo9BMgqbVsTtn4Yv8WNKynnDxhmEBDyMvYuZ6zMKezmJOgKrb
coS1bl2fu6socpEhXfDxUnizO99xpQzdZ1UNk7WeWq9LdueVta4TxjyKfeyzlTpV9azieM4/ecph
nShcvUpZGo3Dwdp7E+AIt9nYlndWMtqMoKr3ijP5sWs4aqzC1tQP5yhmBRZMVK6pH2Ahg6fLHRwS
NyA2lnBEYgA0J/OB5ccp1caKR7YQ1IpUWKF90qMXJTPfZGUHEeNMeplFcbdkxdfMTElGkH414mce
pR1WTNT+k1tpogN7a3YI3JPdJmGJYWiubA+Vo+3897oqn+vY6k4imkZO9jOEKvYhDltyGmBroR9E
va6FpVuvueAZE95ayA0R9y4Fsl2Ldby1rOEaSxEIAOguawnD7CkNWkb7FMl+bgd7axAovex1RW03
BGszyLgHVuNHBdBAG1CfjM1FkImujG5NXRckxPCpAkzdNJQJGQRVbhuS/Rk9Q5GtG4dmxoYGz4m6
9KMjFMaSVRVeJRYqfPBYFexNgxVtY/v2Uq0DPD/xym/dbN3UdnmwIAEnRBybEGUlpyyssqVYBch5
nBzViZBrnq+NQEERJ/GSzLvZB1d+EFyWHH370aPULEjEBRji5SachuDUZ4LHXDq1uk+cTtpSWU+u
JesrA2LZTQq2/xTYEVevxajET0JYkCHknZXZTPhy8mC86CYO/diXTGfVG970Vrh19jQH5ZObBW1x
SeGpe9fmSUUjY69o81w6wQzIkd967CZfkpDMQK9I0y9cZByfg3QTEgrYzUYmDqZEd5unocQy1sAQ
dN0MV5fTZ1dhB+v8is/Lf8+GsNotIwyGuUjNbZyqJw51zS5Pg24fROozzBNdrhN8idtpvk88gOpW
0do7J+e0aQ9ed9fTPMj2p4JRPJXT7xynH8EXUCWs+v4qTJPlrlxmj5zxWCK8Ge4+EjK4JJfibuO2
f2y1trXqfHZG275saxjcEUsUIOG1p2gZjNk3nMays0644YyDJ+r+mIvRvaydxVzzoVVEP1pM+NQj
r6a2DbeGwBycsWKtuELyW7fNNgG7TmPJrRseAhS5u7LaQQ31j0XnzHdx7aydyqkONubffaifEA5h
580UC8xlOV9YTzkEusPUbrKmE5AmPc7mJfUMVWXe52SYLmtazp44IRuXc9kA3jPCgJ9TuIW+DLKA
vh9xPj3h42j3NAfWLxnbdz0hL6mRz0qsE2DOw0OgHOPa/H/snUlz3FaaRf9KRe/hwDwsepMYciCT
MylSGwRFSphnPAAPv74PaKvakqvt9t6LqnJUicVUZuK9b7j3XLtTfW5eB2y+GTEX3ZZ0RQXQ0XFe
ASyzgNxWwBpEeH/q4QwopNY2kCQYJkoGkXs1LlLfQlzmc/gnwWqVXERJOh6n2npv08QM9RHcgNaq
5XZaaUcJkfM1ZqrRBXEzLM9UxCHVdU8lmKl1IAu1CMfOtB/ijhOFk7+vwqzBdYxzzTmw5TP2VVrK
YNCl5EMrtS2AgwSRXWuInFnhYLOj6YLRUu+muSi1MLHKXlKLd9hC7jL482Kn5dXGiF2HiSCFLVOB
7MMugErRwkmdagIB0xhBd5OQxDDaZDJkss8YmRZiflKKQXe59mLdxuJDlkPfjnQgpDugT2/O2cBz
kcFDfWptJgfrlgfhofuK1i0jQqSbMCV3APjpJEjMCakZRBB+JEtk2MbJmcCzTOgEALPkMiGIAqvO
8ElhCHoBxfJsFwQpcHnF95UgwcKbB8Y1gt4F9jpD6uzT8BF4URX4q05K95GEwanlRbgKtoSMXNsG
ygmNW3wdf8RotFuixvIRrhF/BG3Ev6VuzB8ZHNZHIIfzazoHZChF3SW/5nYkYIWNF8ii3Lq6yBmC
uplrJBF+JKu66Nizd1HRQCEI1A/Gx9TjmA8tQQ2KA51qq54HChF7MrmbMnQH8qRumlqpk4qAEAB6
ejdTlnub2O53q6L/oGD+ecFB62zR2Os00OCn/oAIE4QMQ27NckJCPDQXVYOv8dNqwmZ/NiUi1Mis
PKqRBuUYVraZRLr9n7+AjxXK7xe3vAJ8Fyb/wRqKV/HTYnNOba1ZmR8frAVhKRqygWW98LRYv9Kw
NCQUm3G7Jyk5JU+0jdca48IQXyX1qD24qgD2gohv+vtvC/JqJOSU7WAlflYd14aIsXSZyaFmXrvH
L80GYskaatKJ5tjHl0jlI6qV4kiZkr8CnH2sU396T/j1bN9cmxKczdyPA41aOoWop5X3RJa0QrnW
yZYbp3OrnA8klZZCFT27xkPhxMpR2yREtVmaeLRQrTC6tCXGpp1ajEl6GLcOuu3wo3z70IHO9RbB
9Lc/RHTCGvt31mVIFH9+vyYvyTCau+WhjifMsMj8MMWjTm4pmhCldj5+EGjBy9C9VmYh77qRWUWX
0stnzdLfVXX3V8irn3dn2HmogUxjMwMYGtfwj2+hYnXKKqgbcLpi9N19yFdHRlJPAyMeYn4+VErE
cA7vKJ2NYzvRX9Qz+tr9Nk6Hx48ajh6Md/bP3yrjP72wjeMORBOhwh9W6Q6Kz77qu/RAGAwVKlQX
1mMQkObeWaiKjKG+B+HtmkfZbEKgxWiG4sRGYkLBOzF7/9DGwl6lWzY/6mJtpI39SDZMzJXy/UOk
W8bNVsNvsx4kqjzZ7MyYlhRIpcRZMhh8/7UpzaoZafAHhKmW7UJw6ZZTjdt4udnquNesLvhuscsD
GUWIAh3Qn78d+s96Cj4nh8WOzT6ZEaL3s6sg1RRi9RBx7o3U4gzUmxXtqiu2VqdeePUc/KxddJdQ
qFrfBI5LlfKyZCbW+8WzebcSQ6M7sVYSYPLS5B95s/h3MuXhK32Mhwx9y8ib+5wpDRvUhMSNhAmY
nzntlITJBO1rlZunwNKJSSVaSKJzcWkI3j/+sv9IGP5KwoCjgufv/5YwUAoQAczcs81+8B39+nPf
lQzuL4QqEKunG5ZhaQx7/61k8LRfyKRE26AzGv5NwmDwj9/nzeovOJXYW3o6BgsblMHfkSz84cpk
CO4ZnApoH3D+/HzWCZUOcZzS5Ngt9XpWq17ujXwbmIFGYgBIVd6/LWLq3lqNNdvv3pb/cF3b7qYv
+uFqAAdBT49ig4m3qf4BfukgOCzaoTgi9lrPTlKskaIPLBLXCqeKBSrmMHaWBgsJ/nXOCoYQKVLu
dDhYZiMf11gQNtckAwkETWGzaPQ0jgO/iPXlps/MInCkAoqwBU4A5ivnMbuIMyy1YT20WJI12AMe
xmD6AY+5pUQRUVwh4Ji+OrlL9dJl9HV9anBQYfuz7zpFOn4PsWsPlmC5WR1eb2ukcs+UElzEh4zC
rpf6kpfJvpM8BigKXr3Cqd/s1UIxjlLIHPRPagIjPJTMLUV/D+ZFKCd3m2ruJL5+531KjARTueco
+pM60faHlUgWMBNFqlgvqephWOCU9cb0ohkNeLu7uera+aaDLIZnOHHnhPAnJXWjpmCpeDcnqs1g
q6hYqWUknbmRDk1JDZQU09BRM7c/SdaV5zwvfdHWe5oHe5fgOINaL1PkwUDynSTQYGsbLplctgYh
kClPjMVq19XJF5qz5HpyZBNSGZITMziI54AQdu7zSioUlm9tJoih7py9sNeAzmGBGTf1bxaTuCvH
zdXBL9TEOJS2oZHlpzfBHMfTc1/ebkKDPVlN6pmTsdy7HuqZyc39CbDhRV/NUUeZcNOlhc4XpnXU
3ShYuirSi28nWy6PRWsVz4RVw3Ir0VMYFlr9MSusr0pN3+AO47LrPBqL2lO8iBlKdhxdz3jJrQG6
RJo2AU1sfcy8ekRDXx50TSvR9OTF7bTQuTFoTxxyzbu9os32aWjq4+LJB+yqE3FWnjd8sYAP3VXb
EmcxjOxYJHYVqvNYXThqOYSgvCs/XbPysZnseocDJt0jOvPe7KTouPPiPr+ZFLt7TSZEfP7SSrbR
0t3CGqj5T0zL+SlJxsNtP7Ryz4R6ZXBbIqJv9RcbxlXi62bxlqF+erI3+xfXrBkhYWQXW7BatbsF
a5Axf43jwX1dl0ILvbbBisGZML6ycQ7zlfgPLZ0hPLQzNVlqXZcFGW3GtJIfbycxsbKJWTDu0exz
3DjaC9JP90oDicGQdGapysTmWJvS84XZDA+DaJJrXDfNoTAq42JO5XJF6gDsj6S1bnF7MdCb2vyZ
7Oz8hU+03C+LMC5Es5YHUdftFfxPgsST0Y7BSSTOKeuN9YZYqemyYqkbkGCrTaCDXOdO5mNVsig2
OFaMJTu7sjduvVVlRTzzSBzKpY8ZSLtZdqrtxLgWrhgup97IPi0ostDTIPw+t8WUnUcmsg+CNvE+
y+wWmGzCNGXJvBey0POnfrLHi9FqPGQGWANO6uqseqRVKUwIAg+P7brM+3FVkwADlMvga7K+WVPf
7eGGyk9LrhdB4m2MvLY6jlZ8Rm5cBzE95Q4S5RKy1DrqcPulRfQLAYY7fE/iXdQz6cFFXR5Upve7
2mqbQMODs+/Rn0QIkgkUXezuSxtb4kLt5iwqIXv5dm3Ot3ljdVdp4cpD0wvjNmae+yxQXb8hiJxu
eUPi66VpxafVkRoVyMwKfxjHoKmW/DBTmu9R4tsdk4emeGwzykw+dp4WZe4izynad0Oxxz0JLYTE
LMxJw8VetlSUfrxBeFXr/lTRVuY6ihV3sPRvq043iEYpFnyViSMjSfihXYrpnMbVTTuN3pXe6Mmz
7vL8r5bXRQs0CdJSZKaeAearZ28svCulqfRbuUy4TrRBsnkhlXzvlct12QkaDo0H9SREQoi9CfrX
j7GwHbNCS05tg4Ukce3M582oz6KDXugYHDV1WV+AsMhPemdq97asLJ3psxIT3GDLtzSfF8RKbBVQ
zg55fhgI5ftS2E6Iz604cZd4Ydw1+ucckfGxHCx0/iBNHrQ+H+4SZ0TGMkrSDkS3lujUi+5xqIV3
tVjOep5Qsr+2BFVwo2nzXZkB1dvx9DiX9TzLd1gaOYS5pLMONdmrJyWppn0MsvFqAiNz0ku9Jrqk
656QUg1w62QcSHNa9wY5ObfcbC0+KdGQ614732RWMAC0R0xJsILf52LJQzNbvV08ttHcuOJCLoMV
OBrhjErD6yTLDaCjqxW4A1kNTq9t5WqlP0E2KVlCK/mphHXyRKAsHCIHWqNrVVnsW/BjvtWm1kUw
VrtPzIxsOzSxOn0xksTd1/SlZ6HF7sUE0ZeNH7SLFGajJwqdYbDO/YY6bCyvRoDE1+jhhnMB0jIU
7tCcCJMcz/HIljM3C+tqLgnLY94jPrmmhSOjZSnhk/63uLvBmMUtmz73ciXm/ivz861fEYQ+7EiU
SC7KeVQeUoRnL13WcPQUSgOHaVDyeju0W+K51zgOR5XY2g3xdJWpcc2xNDFsdNHvIOGyCC8kJ3L7
TszwpXC5dH6lpYRONI77WqjE3KmZ8WqKgRFvUlv3bpIMO01djMt59ACbJVK/kR1jySSuz9sHeOpK
Q9szlPMnWWeBl3f6WSBHQ00DBIrkn+amwQfy6LjjFGIfKKOua6y9YgMu2HmYqF2by5Ed7gCm1miP
clWHW8dKzDfoIbDVtLFdAzFP3r1mMbWt2axEatrjxQSwYvqV0po3RdxhRNCnxbstk9phrcEly0b6
0o17AkjsylTPLCkwkdoI5EbdDbVM6b4iqYcFqsjZO8Rj5xwcJW/hyw3QNGM5EKZctjeFbOE0prp+
WAyyN1YL59E8E1O0j7Xe+UQtoD8s0G4k+j/D+eZWinipGteK4qJ9trrSCRlU3xo6ti3+fmxqGRq7
w0HnyEt2+ZinIIZ79PxQUiB2ITDctuPd+pbRunZMZeP5pIslsBquN1m4CV9Nc4iqvLBuYmpTcLFc
1gKQeB7NLvKowOhW6o+FQ/gKrEUXDF3/hJOxup7myYRxtKrmnvuujiaTUCLWKjJS0FMeMPRhvGJN
xa3gZC8UaPbgKzkAoE7GB8HGlvlkwSAe26RWHJm4av4Wk3ozNy15IihHc/woakP5Og0yLJRivrP7
jfrI/ORoq7K+HotuEyQaNiQv3XPeKXzT0DQLfV+oHCuQ2SimFypVWKG6Ot9Papk8YoUsH3GqumTE
DCv5gig+r9ti9MDF21QriRUfVacVFarL3FB3RcMNtkN7cMwEybCMuI38lI+e1+2ySQPXibiwOVSd
ngxfjQpRvVfAjZKa2+6Mzr3E+ViAZHJ7rHppdwsfxDibZi+vvK7XApboiT+yJzhh01zDhML/ebXd
i5zJcWJnM5bp7AoIpcbf0jxVhaN9zjB3b8RGrJoxK4SdU9nPGh6Ko1QcMlIJ0Qk6oZDPaKyvfSq/
ZI5y67YY7bx0sgPmEszmu0z1m7Ge96oB1reAf7jQIlxkpVaFZZ488rEYkZCuCVQLB6DBHhZzXnYN
pMo4D2SGaYNJpOE0Ql6CEcTqwe39tip5YyqInCUGccKOkMM2LOpPSQqdsRaAtxKUA242XacSD6DR
12Xhuwt6EHY/fcRoSidUbVn9uBDGRqYdSduq9pjYcLBmufGCuXVhF7C2PkZ2ILSWc73YaYHRqy7O
NV+/V1w8oe5Y8UM1DvahhUx6svRBPad4A4GhzSbsop5rjijsY9Y6boSDc/Vbpmu+NGG4biuGKxDr
3OxFLq8tlb9c7pZhtmLogY/bg1tp0SH/eWv4x7aUiA3D2ERYwDfoD38ceBF3zthKuNmR3FvaOmVx
4lO/upzSlijse1Ot6UippWqubKxHf/7L/6DAohvHdcOwkrGIrXk//XJUpr0t1zY7akvTv615X5PP
VabXbuEVd3/+q7Z58I8NMP2My7+27hfPz0+/Kuuy3F7Sil/V6l0d8ozIcleDI/z657/nj4PpD5AI
WhkNET3osp/U9zCgMJ0XTnIUCHui1O23nFy0mGWdjTfEUDEYm7xUzfjQq1fEHXTU84pGV0G3T3Md
p7y6j5f0z/zoL+ZHHn6r3314wev4+i9Aa9kor16rr//9XwHE1D57G//VfPuXz7S0+pK9/n6O9OvP
f1cz2sA2PQIKkTMa6AW3kdF3fI3zi6aBcnHgRP1kiDFAanqmR+fMl484hd+rGV2ijDykPdBmPvSR
f4u2+cevHf4qMhq2yBEeJWP7m/9ezIhYHPClXNRDsTRETH4rE+V6kTHaim1AXR+qTD3BgQ+9WDxr
mANzY/iLh9n7w1HCS9jcLkyYPDgzH3ESv9NTNpjQWtel22t6eufYfJZeezlMRVhXUVLoLSztTgRe
m9TMvOJzC35z7+hmHc76izlx/uKhRS9wVsExZo0bjdxmrQM9PyUBb3Nnay11x8T6Wm3fCHngDwF4
rFOoeJ/zQQ+3f5QmdN9MPg5rs88qhNlKKC3vYDZo7Lkv7Es0gzXeDxV/AjSQwTACtRC+NOon6Ra7
nu/EYbHdXQXZl+XXRSJmZ5fl6y0IZu6VLejchfxr5S7uFYOpQnFpKuK2TGsRLjXjM8Ubb23vRTNA
UiYg/QZeQcUgiurQN22HlZyHNBSeX1MG01JxqhZ3ixI/kHW+5UqjaBvbz4J9yT4rxU0yOBe5VmOe
Fz4cPb+z53Jvr7yMeaSXQOvyVi2mCi8VJ4lU57faTILEprkmANnalRhwWHvxy6BkFsZ1Au/i10n8
P4fLXxwuaJ23neP/PZy++pBJB69FM/5wqvz2g78dKx5y582oxUKHKAeiXbBQ/nasMLUm7xfrpPq/
WWfffXYfeb+AhkxuT557h0fxOxXL+oWzBjUzP8ZilDXg3xlam86PFk5Sk5ytMGDLq4PhMkm5+fFc
AevUkkXv6JeramEt2mfDFmkeNLq6q+RwVkYTHWTl0NxMLiPGHXXG+oK009Z8PdMOw9QqlzGvPZSd
wjGAO993mnU4N0l9SHtDnMitcAJm4PZFI2rlHgNQuymalYsxc7d82sq+nxDEYBX3RqAATa7stbZr
dtVmo7fJjkVftGqRjl6YzpJ0o33eYWLgdRNRaCUHeP1nGybFCTYovMYuvp3X7nqBIb8tAHeEDWuH
bgDA6oKR8J3SPmlmzEyo8ALM++8CFXEgyA3wK4D3fm/U8swwLAlnprrIgUDQwbSETK+E7P21CInk
ure2IUKd6PvNjfMJ40rO+HEjqZZmyCjsui9gkrNKZO6njwh1nQqdnNX2B6OCTqBVBHzyTpkIVlzv
IAeR3TmQHIJK01YUvnDZ50ZuoaDtdCBD9rqXnup3Q7FiFM8Ae+rA5LHkkRzPgY34WCFopRJY7Yga
OyEVOqcaTBNEE3eeWs3hGDt7rxIHsoAJaGeiAWyd2T5ptGqgxypLwlzzrVQ+MfmD5ElMbEg+5xiM
ZH8GpSRxvLcUGxe9+FINpHouS3VqGe9eYL6UvkEucLM6NGYgZy3ygALqSg54NsP4teyDF3unUTaq
725XRLbGypM0UL+hd7II6yS61BDLEukmYQCgoeVRZ8X+4AC+PQ44ZgLHYRY2LJrFpF1B1LKoJhNm
hhGWC1hAQHvvEDqGnpZ/bpfWvOgUokzruPIpi7tADP28M1DcpIYgs6BDU1OWSljk3UMz2E/usl7m
OldAQrhrpNRorsBupXunrV5XK/+cd6O5z5u4R5Y9M7jwcuXU6d5Xk+FMQHIEuQA5snmiNu2Zr4Tb
J7dekzeRSGCioswpGS3henM1QnQILGJAYB2BTGmfpblqPqkkF4tSfFmluYQLxsswz+A/WjWK3nWt
XfoivgtZnXeBk7TmIV0JrDWpAnyktV1QaP2zMoxVUDgLTsZ6wHDayG6vuXyCDWuiyAZBHcVG/tjr
dnKGRVVFhvslwSV7wsXV+VZrKw8ExFQDCqfUDJwyy+6qqXD9eoCpmxdsZFoikR/UeiF+0KFqX+H/
BcOwnqm9yohE5RlyTWpHK6qcwMJtHNYLnfGoK+pNBlcrVFcCblg4EDpiMTxJRwNjlpPbRw2NlZ8l
7nTATsC0dtIv0M2IQEEx/siAgneRALRAR3vn24k3BxarmZ1qNWzhrVx9lDEJtqOi2Ty5pASMaev4
niA1m0DY+r5QDMnUQagnDa2exf1Mmrc/K0UaUsXMtM2V7YuyLkJDMprgpYpLcq0M/qByWUN/2bMH
u0KZ+CWbcJDmNVKlqXOSnWDnHDgr72eLzP7gsMEgI0D9tsQp8TtzY53aiR1Zbo/3Km0XEy375K4O
e8DeurNBh5FMYzRhyqZkt86lHZgYI3d6572ROnyX4bdAun5TMvODp5tpe5kpXytzlVHZk5U8OpfZ
zJ8fnHoPNmMTz9V15CRK71fsLQK5sRhSx3B3mpm9dk2CS9Rd74dGXw7OBh8qC5CdsytGH5CBDPWs
IXWGkaGvJnZ/lroTiUp/9ToabJe+mAHzYN3Hepr4leOFQjJd5lHbL2b3dRrQjzqrjK+sPjf2aknE
Nr64IspLfQoZRkGFGIs2mL3KPUDJuW5K/bNtD5c55rzjYC1P7jw4iBvskcgawz4KNasfPG/6VDIK
C9rW+WqnM1m1cTb6c1I+6Jq4cMyxv2pd/ZQ1fbWzmqbEdGDvmBrdlCk4o9hISUvqum89/Sxx3swS
rFU0e9MURHxbktyReSwvsUn0e3Pp3Z1lkKFcYoQdjPQzCyHvQZpM88tau1jtXESTLrtodEsEiC6/
sV7XB5TM2c1AsZlrXEJUdwvYZGzRjMDLqBeWtVMr636zaoD16rIL2Q3HpGfsOk2GAlhE6IBjuF7S
qrNfymJ5nmNBHoR03huh4/1IyjQS+jjvl3pRIjwNKP+qybseSyhwiZPuOtPcXvh8bjtYJiMUNb+K
7wgFa8KZ8ImlI3WJA608aqnySXhtzjpseTeI4OYsFOLoTmvPWZP1IRx9+8D5m53wec77hPiRcHYx
nYjeraiHdWOfrYYVkdJiRPjOSWsyW22fOPmnecqs46q4D3IcLgYIdjuK+2+G0jon0mviTQeJx7i1
tchiXhtqZqWe3BavB0bYGsBWE0c9esBgduVq1F+gHtXjo5mNMetC1KCdVx8W9ufMAUnvcZv5Cc5I
5WxpwPaQl7uOb1/lXoNI8hjUOSkyfB4yAEpESh06vWGA5jstZPhHQyBuIvtXyn5wk9AaGk7vYtcR
+ExyUa3H1h3BTY7dvzSEx6z1qTemwfHI7djgIkDzyeFMGSa0/dr3/wBnf23B/6q83kClf1ZeXxfl
a9pUP5bWv/7Q99La/IV+WINHwdBnC8igXP93ab2hoG0kHY7+AW7mf/qu/9h4z5v6i6p86/G/a0GM
X2zNsrD16+YmBaHi/hveQywRP46jAE5TodP7I37T8cH9nNzZc4fWi611J3NUlsAwS+6naYyAGrm3
FjQCssu8RGF2DJ0ZDnNvC+UR90L+zmGmI0RbsCEjmq8qL4v3BDPhBCCEviRf0Mvym5GZ5md4RM6L
tdr1KeXcuRjnXA+8jXuFkymrTjrG2cguPGLJp7y+zNuOFKs6bRuc56Jd95XkMZ7JXEjWVG+jCguL
9zJB1HIPrpoi0Bs7aT9P8yLcG6lbDqLtLKVYAqEfGvZU176XsN98nUYlfRb4LCvmAk2RRO1AAXiJ
ujgdk4jURdX0mSxm6YIgH/3rfMVSC6Rr5Hbl2l4BcOevmy54oSHAy9yMD4xXjR5WFRFcSkWMgmm5
PO56TMJuAPaxiq9cHcHKTC3L+8moXFZi7vzY8lRK+WlyNJ+IW019m+dyYPJdpJmFGBthsIVkuebg
KfxK9Ksid7ZAaL6rXV2pOGW4LAAhuis7yoD9jbn6hU0icOsD29dTpyAwhE47f0cRLwlw9Ec2TBaj
34ZUdQYdU7LXiyXur4jiUI7qTKS6mrvxjvUEspLJhCE1pPUxVZRpn1itTo0CxmNnDCqkOuCDt1o5
W5HttfLVafMinPED+rKQKRkUGDAmWI+XPUkr+2YwqyMeNLEv6okda1c3MHencjvYFx/hShFVVd0E
OCGTa0v3yCBMyyWwzaQIzBFqQm4nzWFYEXYg+6g+xbXCrqeIGTusEJ2uy9x+LJoquTVwBNzM6eTc
0hBMLylREOzXNSbIbbrc8n1osO00Gf78Jb4p9UZ+gt6m6D5UN4ALmC2CWcucK88r4qe0XRi9pLZy
raCbpYLpUYlMTm9cxnZc7pVcyVZKTFqnJyxFrGfi0n7sbK2+HyRiih1CxQTvQ94Zi4+Hxln8BiXy
saa0JbyTAK1QUDMdZ9ad+7kskicIn8aFtzqIo7XWmh/QGtNMui34VlqUvvymzSY4DsNZsZJg7anD
ApnhTjIaRPK0Osd+thjbOER8CtPYmcbiXGrojFiFESqGKKkX0zVGVP1CW5bmYJpI68dc8lmLcuhv
4YbUT4SpkikYO+2XGX6p1vWTD77TPfFJk0baGuQeDq17XrHY3saEfZ5qapKHhFiPZ4GlqtqiEfS3
vOnVC2WtsXh0neGcyGvyIjNvv05eFx9Qy3VhSiotn6CT33uFK54RZpSfyCTPPhnzmFm+1bnFpw7G
fDDDBIAyOfZ7BLt66DnzGGWtTTh1TiHtUvfiPpDXtVdbp3kZPEJjJLbMHT+rXGvkjOxWC2g8MBI1
u6njfDnhtYF40SSFwbcYbVlqueAos1EZAlPpZNjMovXneGaWB2B25zhl6ieKSkM8zKdG9eoAnI/+
ZIIzux6V/jFb+/u8VZz3xWoKcArepCIynQ3H8vV2pTXsc/Oiwsp4qY50/HB+4oDM0aNnDs5Zzj38
tkYM9wzRCLTs1ebNFqq7a+e1uaHUW790yHk7RAzlsvMqwtgSytHHJDUt3+7IhNgEYDIgfjw5M84R
L6OlBHWDowr7tOpjWqGXy5f+RBJr8krNmH0tZ3R2w9Rd6iKeQ8uelyCdhPGso5o9GIqDGWJBa3Cp
L5tqqLBnmAn0RzxxZqpeaRgkox7GA7YHluG3RT4QDtiOGg65zTE2DRmmVny8KpVhNZMWqKcgfpt5
07QWyWzcT2PsfinmCmWvyDZHn7tZ4OI4lXemEmOGwWjyKrB6X5AJ2BPSPG6GdLFZehOthmgJdGZA
YMTi2dl8gxKB/ZWD20aSR2vgfjPwh7DeTY+EIWGQaVmuXCqa3lyh3iR3BgWSP6rLW8edd4d2Sx4T
JR58/k8JcsrjgUij1tvjWFkulXEL00E99WY2vfWtUcz3rO30S82ZhtGXHeggWJVhhzqbh1wpzjNt
8dkziuIyVRvURvn6lqp6h5UVkIS5LI+N2t8v247f1fqUXTgi9oxeNsoAXO1V1Be3ndY3oWLrKQNa
oocOiZJelcWURHQEMb1PrxFCYNHm49eIeN7fclrvu04H5ZeCq3hIHI0TJO3b00yCY9hDjyvPaNHg
Uwz1dG5qNTko80JcqV0h1jExwt3yza0gDnrzTYaM8r1b6GxRT2glZY/pPiV2bJ54hTLQ5xaDv8Vw
iM7Mqm6qWLGiUpfNUatHNDKopwI5qNmlgkBrZ9d1sx/FIgITLeCLzso6KN2G1axTfB4H7UveteTg
cT1eTrBsxc4e5vTGdDv6lqFhV1ylOrPwZfimGczthSbFfa7aVvhhzWwS+Eswc12giEp8TwE9XNmq
M+5nj0mKHLL+eiLQXUPI5vXb+JypltKnynHGOZeZmJzq+UuvmuXnjgSeKCFJ5r0CaBkik+Bzdd3P
qVt+7VFPHA3oKDgQiyLA5elwdTveTlpMi6ZsVI8qgu0AbIIeATLVLtdWyd+83LU4O1NlT1iUQrxP
XN7mY4lEBzVq1I55dwRN3YaiK72DgcAnchYqL4WGfF/o6XSRVQ3K1HJhAjRqihKomLNQATZTaDhD
/TZac+bz2h8ygVhAyNQ+zJMByNM6ryZk5hrkInsJT48azXrr1PZWCCCmNdMZmDXrniOayGdDedYy
soPTlDYsK1YqjFK1w0Jtrpy2v3VUcKpDt18Z19EjFvNGLrpzlZGsqWZNorpnHEYoEKnGWa3vzBRe
81omUWyWZ6NSlDtvQP9W2oKNh8zxkhnVLZFBN3iv0ojYqmy3NgAj7FKSnSa0oMiKcj+M6NnGta0D
M2loG1Oh7evJABKqOMa1MmJ+5Gx3HkZTzw5rHuP7tLSvCAAIpZI5WxhscTuIBRYXWZFyHxjidmbQ
/ZZVEkuXwtcPWc/BXqYaCcLkchkjqpwsARfMa8VxqaDm50x8d0m2uqdqlLdlZn0m2/Lxnz3o/4vo
wtrxT1cVd2nz/vVfx6F8rd9/vwAljmP7we8bUO0XVtpgW1hyQkzxNu7f9w0o2R7Q6ZnsfE/2+L6o
0H/hJ7Bqba4VE/bZ/3ZUJv93pqV+sAX5r/9GN4U778duaqN4ugbbT14Dr8v4WVvfwWjtKw8pjMKj
ustl2lDmcDZg4PXwPurW81xN07lUWuybon0uE2srwNEFNgIdSLWmRdBSNPNUVDWzNfUJsG3CTVZ2
edSYsxugGzeOPSZO30TrEmEJmVFUOlctWVA7fdFu8mXuXz2jOrOhOxvKDEsALuGIjQkLO0i5chLu
jpbsm1BFdsWsDOQZ2ajsLxuGloq7YiEE1pap60XjqTe2NjBq7OfXZkHAbRVMYkzJfnLMvg1IogP2
kzLEJnvlGMt+xpECVKP+5hXo2LTpLl6slDWoiIAPnIVcb8xcXjAZolPJFQzs2atsxyZo0GZZnC3l
pL01jv3cySHiECz9vkqNT0TTHbLexb6ngu9vhnglJA+58Wg8F1P56mBMjNRkvlP74ry9A2NFnoBZ
lN/yLfJ1YDERGSUaUwzyGJm3sRSqrYfEmO+21td3GTkf+9J7I33N22upecC0T0ap3hzXjf+izANv
jKqCo8pO+mbVX4rlwaZomVvzOTWKE9yu177LSQ+zrqBsU7nY5hCa/IVmM/vWjPLGLPmspDFGnddi
8jW3hD8ghQsALuY61KJ6wxulpwjVmBMhRtXVNMwKUmjhiDf4BjMZJsr2XqbV/7B3ZstxI0mU/SKU
AYH9cRK5MpPJVRSlFxhFSdh3IBDA189BqhaJpZam57mrzcqqZSKRCxDh4X7vuS/shsgwlySjnvFL
sFyrZtS8QeF2O3b6bS/G3RDPR8OjPa9J/Vi7lRbAi/tqko60sY3kOsvUUfDl7D2ShTkm8A4ra3qa
w56dp3dy+pGmts46LiQT0HkxcXanFlksR5mn1mpCimf1WOj2Wk0lCeRx22MBTl5KSUGXC/XqVfNR
iigJ0rhNzlnjPidK/+Q15o0/JqAJRgZU5C/PNriHRsnHGV1rgpOTG9Xck9rMLF33GEr0sscUOx8h
hsSbceT7ZOhoErzAnaDmniOlKFBHd/pTGRmvPoeIVaFa2hVRfkWt9ti0w6Ol8q+FjnpWJ1QC16N6
NEMEYIRf11QwFSQSRwPnRSRGcPncjdLhJGg9V02ZbrHCkQhpuexa/BzvkxYAbdzRdJ5xCUzsJtyO
mkFsJIXyxzTU/MBN42lNYSLvTMg661xFIRUjZTupwnLfuJNEvWrLQ1c43kFJTbthfJFvaPMVN6VW
Tygxc3lVEBoQCC03X3uj+zjJ1jkZHoZE7poqYSTXcoJN1z4BjmtMKeNL6FYtO1fNxHOXWk35lJXh
U6E4ua9nq/OTVUFFC4//bJXZR05OhLyrnGGOMwWzmazrfmo3VL5kqrcwfBkVgD+58qqeBE+3Oeda
fFviwNmMmvVUadSUHe3jjRzsF+JD2teyJL2l1NJ4g0dj5bkEf9az72wLNuU1VWJ4y0SpX9GjYJiQ
itfKqMjdaAoGoVIPHCWMremyQfMqlpADbsOGxshaQZUALu0OOyW46abMfXY15zyIZjyEsv2qje3R
crLfuZT+tYr7gpw1gGCXDttbWjACLYvUiYyjstQypn5NDyFFnRO7uZ5Dw/mN8I2d5wdBmAdHzGdD
M0las1CGvRHMABMfSmciOy3iUV+XRoaYm5hlh8L3N1d6q4vhSguRleMyOF1UQm+uNLquMlMiFvei
z14AHGarZTlOjZHhKAoVSnmc4tvvmqE/cXz9OLZfuNZck9hdBzwu0XXuG7lbZJZ+7HUopqfejmlp
y0ciB/JAM639qKG5XN4vTKlj27G6/frS5lur6uXa/pL6hLeXvJ83CjhMk+MMVLTcd0VrrlMOhbcT
lNVluTimVZrtdV+9jp2CHjpKeZXKjufWZ7SGZPR10fpE5XwcIpy1TBb2PoyzIB3ajfDG40jGI4N6
5hm0KVZNlV6XTguyRt6rInrS7RgbprLOg0cagaoqf2cjNv4QcXIILI/l4dfv9Ce3EIY+5BmGY2Cp
E2++WJEnPjkaFkIG0W2tSr/V/Rm4E92D31znZ58o2oslNA39BHw87uXvlFX+aHiIkpZ71Qcg14GQ
mjhGbPScRbh0/HSN0fa6j4ziLpfTrdvrxR1DogQASfS1kazLS6lCDGcGKUsdIw18rD8Oj5rvnM1W
7mKP5d4m4YFc5djBty7Uc2SLaVdEol4yWpLjoLfdfZmpJwUGn+FTYl2hzygYJ/WgrMrka5gwci+z
nG9RedVOaenXsJqfPOj5c9+xedfmHgf6HnhOEkTFfAHNHRk25oEY5lt3At8Kc8PYkpDzsbUZj7sG
NdavP8jlrv9eBLrcmfAC8HTi7UNV8+YLmzmMNBZkq/084vCinFCsbHRaSXUezf2vr0Wh/K9r2Tr7
FEMg10eW9+N31oopAfQxlSBJ5L3VJVcFAcO/ucRPVhawS8JiWmGIf2eAkTyDo0TXyX/0Zb3tEkWa
bzgjpBWvTOWmXY+TNBPW3tfEeQz9eEOG6hXt1feYaD55NOlXAlULY7zU3MuUTTz2WZ3qqbgmuPbr
7IzmhqilbI/MfSbXwwQHpM/dKU+cDZqcd17PHzvMzA74naaAIIlxBQS/J3WiqbeiFfHK9BuxGxS0
HV0kX216heCvs2upsqvMjqYAYCkFqjFS/Rp1UBJxE0i9v69KgZrenL/lp/5HNrb1kyeW7wK7uM46
jPVX/PillKLuVTUV5d7IOShI9MBB0g9U8IBarrHe9SsotCmiFu9c2CRYhF2rr2ajuOlT7uUww4vm
lMN2DOdx1UOgWA+x/jymtbmGEkmDVTrnEFJWMIT2OYZeRoORlajGrL+Gs/yki/F17vRV4iYPOPSp
qhrecKupXRbrTxOF2KoO43qH6B1A+Hgf2c6Cbub+tGoWvs6R48rXrHRdhLm/E/b85GPR/DZy/I8f
0k8eEvaM5R/DpJVwUZp+t9iMUYOaa5TlfoSsQokDXmDk5VhES4V19JtvxDDeTMKWncpjF2ZZgz7p
/euZbCxzgu4xlPuWgOuN4SDM8sL0KmSn8g2+H1JC6SljxFxJwTKVplSAUQ7HhQJwqEIHCLJP1Aga
j41PSvQqWZrI5eR96jLjRLvhJveRr8Q+1b4qK3Nt1t1rkc73Kp+OhbtsxtxmkZm9YFOjSiUQO51x
2AzlOlWVCChXkWSmqFH5Si/Hy9lS5pqJkQj8JduIlmWQ1qPc1uHQr/K5jw8KkuDlEBSWivk1gfNX
5TA+Jj0HSS9Dyjk3HPXseXxs+wgKkOVDSpTQdY1boHTkbFCtGe6whqIwMfJA8lLwJ2QIckPWg9wa
VtttlseoU/a5csdHJ1oOEHam8TwRY5Y3VEukWF8TDOitaSx1m1azn5vU5hHrw+aE1/GVNMb1OPAB
M76+TkzOLL6iFIcH8pzG8h7zKoD4yt4DM73SJCzvAgd4C1eN5nR+xaF4V4TsLEkkuTF5Opyxv4b/
+zHuxvIqM2wa00QxiXYKloMRU5dkNzb0mDGKncmjfhaIw36zHzs/ebypdWwGeYsI39Tf7JOIRNIG
fXSxxxX9it7pvtPZ9yTHrBDJ7nqpvy5H7aonwbz3qfQuz3wZ99tp7MZVk/JjRL+ss75MNz4SQA+T
qouzKAKhJ7xy46th2udGp3FAw+S9ioB2N2UevUIv9a+hTcXrmSCuDS0uABjsTcHsmmehscak/fQk
TcotvTXrgPHIEKioz2h8UllHHAxrdYxN1Esg48eDmw6PPXDMFQrB+xbtI9ql/FoOw71lk55S5Y7a
AIXGcDPOR2KsoJsSaF0YGjiKanp1OtxvLVwll9MBGkjnLNlEOGQOjyYRh0s137t/7a//EwP/Rq1A
SWaxrv1nMfD7F1w9ZdRX5ff9tT9/7M/+mmFgMWBW4jg2ZYrN4fbv/hpb/B+u+bfv4K/m2qICZvOn
42U7F47F33IFy/6DsTfrN2wLF845r+6/aLD9+FiR4OrTvoO0pFPmOoJu3o+75lzNi6trcO4KCVM2
KBM13DHQ7x3mVk338bsP5icnlx9rmsvF2HmWY5IP3kW83aIjW1kwjHvrLtam+sMF9zuhpHxiIV46
PEKnnifn9sWXabv//7g03UV9iapFj/3m0JRomaH6yrDu5gUDW/pMoDdyGqFduoNjPAIghbzT6S0j
NLphoDt+ffkfN97lnSMCEJSm2EX44t5eXphJVPppbt7lTLaSwNMkNBsYnLBFEyRJyUoVnvcbrpD4
cfv986LcKhaZLA7IorcVUU0IQcTY4o7UNqC/0K0OonAgeEEzISGzh1+N8Y6LD8bQdru4H/rPTk1O
YM7IzAwa+Pc7XEyMHTtGUOFmnkl3I7aWGWVoS904ygvfOGHwAIqqxqq/VnkJ6PbXn92PPKBvb8Nh
xLuIdlC/v0VfeVCtBoXI684YNO6VgWOSygewRh7S4Ef6b9VRLbGKv77qj6fsP69KPem43tLbfutf
czQgmcpujbuUlJPHb9Avt4y/6qlq7i75xjZquDPTKyBKF3Dvr6//7wcTjbpneq5D61333j4rAP3L
rMmUwVxliR5dHpiJfIlb2ETG+deXelOnXd4rOiqeLA+3HufQN4tAOLl9qQNOu7MSnwRZIlOy7Td0
eWhCOseka71I3VmeTh3T/ze+K2RJSiFYKr/5un/2xmn4s1qi74Lc/uauFZZW+Y0e6ndD3/CQWIhB
qpNgwiXJBMFh9+v3/rOHBMrd8lzyPwRlb85y+I50QGVSgP6AbltOMUCpS1bshdNcIDg4IAmsjngQ
uMsv3Fj0mCoKQNBonIkQXoI3gAQNRwAkXIZ149RnMG6Nns04jiW0a7RNPGU2vfHxCn/gkG9//Sbe
0OEuXyBqN9fSGbtAvX97+E3zKBy8yTfuwjCFLDi7IIkv943qi/pD29Jmyb2RdW/iA7zkIDKPW5Bm
k9/sORMiDk4yiyjHeZwhgxmkhX6+pAv/+nX+ZBV0TeY4dOV4sfbbbpkG00Qy/jbubI7rqKKXYDCj
JiLMWAjOxDX+7s4Wb28m3Dfc1ey5OlIYkgDedAWKPhKpnk3d3VhDx7XhqL+Evlr+ZcIFv+ggWtMB
tgwrHXazLtO4BGsy+Q8JcTJYrcup/2yiDb29EJ91jYcgMS0WzuWeuHxEHbsGmPKEorCTbnWcCEA4
AZizDsLlDc3TUP3mYPWtzfZPs4ORG++E79lc+IzUdm8jsmZMtC6QtOgODfQUoBqbwUODBbhpGMv0
+1KChAtSV6b9WtiEigaJREO19eOImBO6CqYeTKr2AwE+ZKMXvbsFLaj1+9jpGN2WRjSZKy20w3mt
m6hhcLWNGrmCRdSvdbeqAHZE0xK46Ltxt8bGxJORduOwYQtw0Laki0DDq8s7VFnx0euK9IRgoDrL
NHSbtce8fFjRVWdgDtaQvJ8pf9Wzzljn1AHMbNB21bw+GX+eqHcdLCRxuU569u8rCMb0xRozrW9J
3cLirWKELQvUg+BKF0o0cghXq5+GMifk2Axd9wFHPQyYJsUhSMEtMd0XdtTiW4dh3QYOlIVPFPhA
zcui67P9zAxErJphsNqDABqqHUICuU4iGhCT1TK80h3ff5hGaQxwEGTU3tFfMixaKH1p49QREF9J
OqzrWzcq8jZQvhWHay8d/acoHth2M+4R6Fk8chdme0OBH20oDcC1g9Li1S1RB51vUSaUHpRqSkAk
O3IJoAZ+y49NbrfQ9ReIO23g3FopI83dE0FZ2cDObMSGVwdzOegujB1gAxMeKejPmvI9A5dWVcT0
gRLlHawoic/EnPevwNWdahXBu0E3QwQLw87o3AqLYCjGHFVDo3UEHf+Ml4OBnUQKyFRYfJr6qgJJ
3HQ7BLHhVsxm9bHwO/u5MvElNU4df+ZGUV+iIUz71YxPf60PfD1BHPblDmWlzanGlQE3VkGMA6RP
BV1kIpRmxZjks9XoTgB9NaofNdtLsqMsvS6zrsqSc/+jK0MUZNwADCLddYHPislCP9EjRO8NbREE
7dITBbS9dJQTmFCoRbXJAcOTGX79rMEtMHm5WVouybJT4W01cr12OZrA+yrL+KTLZVKoRx7FECu4
9dJ4I5kHiM/raVXg8HlHXjTf2BQSCVBME7AzSagFCJgKRGgycVciKcW9u7XKht/BiL3+4Lcd36xj
zHypSUqfSNdbD58EgGVsZR1ffSZZshMruhtcD53KPBFxHtojbo5Ep15FRMhqVBDPzpzMf7oAKzvi
mbGiE+2qWaxDLojWTdEy7iIAK0YrVhQmv35qbF4cJ46K+SVhHINDHz6biuqYlZl4bOix85cW7n/f
S9ZnlrOQ3gOgH6hlRs+fRLPiPUngUGcGIvwB9LYq23o2H04LET1fIcvhb7SxkZ6HsmGJwa7lLaxe
/+S7lboXtsOmnmisqJc1khoOmIXNJuqmQBfDyus+N/7yUfqtZTx23cB/Xl5tAXYohX1hkTdCrIYA
ZJJMt82FNZ/BRG1vLtj1KJKwr2a+EWlRGU4CYK40Zn9D2NB0PyyUezNPl8QQ8Hao6QgXvoRyT4LP
3igm3hSPJFfKYtl9TipuBnom3WfZLqaWCHnSQc+k/XIR2jGo6T7XS8xw40fNBzRiVL8q6ab7S6Ew
Zw1kiks8p1DU95fYiLbhxSjhpZ8tM3f5LJZQ7qrR9DOCIA3EfKifwTVk1YnbiO9OLK8WJQEbT7fk
qoS8Ij3VKcIr8ruYPWdEUQzLWH3KhNZuQsyQL/QIUMPJimnpgSxSXrnkZ0jcqEaIl43Wwrq8FDjD
Uqpkc9p//nb4uYR1TtDUiQa2JwtNhJY1JJCTOmjB0Zm8U1zYFplvJsAqth1eYC0UiHtPK8cUu6gR
fmKyycXLyyNkhDZBHVK1SxnEztOv2/HOs8buc+4TDcMJwqO44//6kcEGXFrgTNbVclQhjC3ZGROi
RJYB8+DwTZ/LznQPvJ3qaErNuU8AAU4rDBq8WjlAWAOZapz75fa0y9w461HKzgRiht+cSspVy0un
4boe0QHuCyJOqNKcchFExrMH4Yd/TlhCuIEJlecz6xc6rJKJ+5hmSNYhbxMU8i3RI4/JdECTyWeq
anqO3xYBZiQwmhOyfQJIQf7JmWzz0DBJOtbOcvli7L0AXDTlWG/UH1KjQpgZ8a1S7jd74hz5VhPR
walnI+dzGIkK8UtiXAj3VbdqipyX1mMqkzEeKjBwzcCaIpsnvm07XsnlTgRwY3THS/4H8Q8sGEaL
lYeatom6W58AtfHgVcsXlDbMrbeiIiEDprv/lPSz8gn3m6G8zKCsYD55KF1Rh0bFw6Sn9ou5OB6F
5nEGgJ/E1qQ843FEMYiUWkyGXLHO+3CmEh82VlTzoDfGqG4v75CdiBq5c1iBWsBOu8uBdx41yJKY
KB7R2ovHhKUbXBtH2seh4Q8rRsomnCjUqjNBjQTqLhXjZdtEV8gdVedId0wv5r3Pdk1XTnjgDwZR
rNth4CSzfGptDW9pnY4GuXHt8nJih3eRLYEd9dDzvJYxMX55VvJYzRO2V9ecodR0uYFgrotYjlDS
JQFjc1bHuGvR0Mfc8szml9yZOAlhQ43SbQg+tEmtsenl2feqxQIA0XAJ5NZa3X6x1LKy8Lf9pwvE
Ns8H65ABJqo2UCTG/KqQDj+dD7FoHphLjtwiqI4xgy6bS5Je1j4lcEiTFcEiTykSLUdyYF5zEBfc
E5cP4NtatBzcZSpYF5aFFfUoO87l3g2jJQtG9diRlZtMn1q2obvL/WkhYN6lNAJ2smys7NodPG4R
aNrt3mLKdRVHE4a5bzcEvgHva42lUGI8JDEerhcSlam2XyIQEohDuCsclS25FyI0iFuCRmw0JbE5
9tJtyLol0A89q4E4wS5ZiRDeaIHbAJ/aMaKBupssb0gboRAuQxtES8SHdLuJQqjFViCMs2HxFrjl
jEc7dip0ynnEk+VCxb8XLslgWwJ31C2xzKz2ZmLcYNWZ7zipc1PryJchLows2pcV0Mp6BLtV6PJh
9+ESF+SDY4hWpjvy2CwbEKbpCIphUMNv6CCltjLcYjUG2F4Oy6tNB/qtG7OZuG5UT0TZgIlxVjVH
tSdfTRR+dsT7HibpcXcTv6JBWGsVblVqoflBks+n9v0gy/jG6FIyG0FjG+dWXzybttdzhQh0HYJR
GKftY28PFCFwRf0nfSQ6qMRcwft1ERxbg3AfBk8VNwBzca+HGlFKabcnrFBfuS3PzphF6dfI7KqV
u6g/TLSmWSArkwdYsT2mwIsI0UnGOehpefpUKJPzBLKIzzmp+UIre5wVpqTU3OolwYerqKkYLUK7
gHtUp9em1RlGwK5ZHDjZq31pkOoU5HVdQrU0q6++yqkXnCU0zKLIXIInRe9tlOp6/QpBD/k6acgI
OfDjmJpqAO6xFlgKD1olFm61y1fX5EQEP0Sp4Otpi5p/N77Bh2TaIKrpAKLeM0f89ujh8A5Japxi
Kema2CNKKOqp8FSjBQD/eWaWg3IGKfI4mj6Pqg+hJ6SJz8sLZ5dmk4BntrZIw0UjdNlMwph1G7pa
lX2pqDHZXfyazJllDzc00qJCBlyLGXxZ7IikqlFipAvyvGdNq4AthHgOVIt1mIilZMk1GmufhDRl
+08GySKfxTx5a8fMIItyO8G3cgT7Z0tI5H4oIlar2UnE4wU5f1k34YKyOPpsmFAYSp6JfKk365CY
OSIRQNKHNe2rEefmh0sAXdWz7rUNj1C/5E4loZZdaRXWo2hZmecZt1HA2S7eCxt7gyUdvTvaNUx9
6j+0yXbW+CciQ5cKoyHjXWNnLrLSsw6uO+vugQOb6pcRzUAO8NDuqr4bQGYK4XFWAR6uZ7Px6HkG
LTt7Sfqiz8NH4qYa20YYCk4Sl9QjR07OY0zHej03C4rdVjwP8xLc861ktvXiq0MMJrBF8vgg0BS4
TJ2pF1uuHD/G7aDeocOaTzHT63c1lvx1xxPC6sxpBxpxLiACuE6hI4m3au221ZxKwZzzS29jtiY+
C1Skr0Nt2p9JzZi/5FSVX6tcdZTbYw7KyZmw/iB6ORkUZbuc5sozahKHdK8wzDHponNrNgSlNlc2
zNQzIk5vHaVO8r6o++jBocZXwVAQ1JF1tr6bPBtwm1mH72LNzV4r3Hft2i5JXaJSLv3odi41TqwE
zqFtQAICw7j1pfPh0p3534TndxMeE5nPd42sf8GkHr+U5Zeu+/LlhwHPt5/6c8DjgRtf8g7obdGp
/nu44+t/0OwHsgJVCuM9//7HjOr8weRFp3cjaHbSnqJZ9pch1fqDuoY2AuWN7Zlwqf6bCY/l/kti
RDsfAhvdQZNmsv+2vesC7NXi0S4PmqTLUu841kWp3ITaCPyWxiosFgMk/3jql9SYosMDZXQkyXBG
dPdNYSWMWENMdjhBjXO3pM+oJYfGWRJposjp7GBszU0ROeq5UKrBLwKu/cVf8mzEkmwz+PYYEO1g
oThxQe7W/UGaRLKR6BytIbM0gbHk5JABMxC+p7NVIfWp8E6qbmvH5OzmpUfMTjpVzxb+QPIxu+Iw
qIi4qMShUiN6XO/RPMo0iW4grHv7ckpABsQmjiXZWcT7mMKpnmNjaHaCvOWr7hIEFAnH+RRe4oHU
JSqoAP5yDeGqf5elvXfiWKPfD2MrOLm4d3Iw/GvQjTSwiij6mMcdri0zk/vZHSR2C7ZTmq/tjjg+
9BUJ/EMkoXdVXeEmJFt062gZcKpBGjel619FZQYsU2W3mgc92SV0cYUG2duQy16thowUpZYE+83Y
WHqgz5Z18lPVHYZu1vahNhtXFo33K4QuNc7FhgpQS2fMinp1TWIf8U2NpxHlNCIEM5KalCGDYPgo
LOwdM4tiKxrT5rd2810tRXftJlpIso6gaCM1asoGZ9ON+PxCN+vu5izkFxH3tXWGClNNraZ7a0mh
GkIVsLl/1IukA9tjpvtBgsXheBQ+SS+ptmkaOp+9hOwEZEAivY5sbDQ57J44UPSlN14BWCGJPW9P
Tk+7bRyRrCcdY6Jn26RgLIlaJGj5nyArjl8jerLbeWGRwKckOITnxrqzmOznpymt32FsSd/BfJxe
NIcZEqgGW7/WqkwevWXbqgqdDKjEJ8SqjjwSwJYssHhJBQthRN6YS1JYPhrviN5Ep4OSstl7YJnv
FOfyK6805Y3AyXK0moRU+xp2cxskhla4+0EbkmlLS4c2EElYxJZBah+vHJD36SXUbFatuY2XpDNx
CT1rlvyzaQB9Ws4+oWjIY/QyYD8q1iaObLEm0xHbKeqYlRJzQZMEmaTdZKuYdsp164iXKm/c8MT5
UMVHXGXvnaR172ka7ohVN7RDlwxWKHY5rJXMXUl/LP3X2SJLcROF03wzS9XddoPwildkmeF8skpO
Ml4/vLOpI29bb2Dz3EAKebTCDp1EO5ARlZf+1Vi5gvz1sGPTquny3tdKK9IxIKoj2teWm7XvRM55
BwasntH2XZeOW7lXGK+9TlsXdir0GxZKPvdC1vM2hKvrtJsqCvUPcwyXI9BBSJybyS3c91AeRUPU
rT0Zd6Xyh/BzGjYdnUaAyqxwq9iwNCSSQ/XAnWvjzfZxgWOpsIwsUJL4opXe++knF06ntvdKSUlt
V/morQAxA5OVQ0tlHap4aWlEhf8EV9R+yZiicqfooP5hZ/QcKcuG02LZu9bnyTL7bIe8X9Z75Ixu
uaY/5tNuNMLQ35T2MirArEXRXyidaXI005qG704b6VKjs/ZxxT6jOFiRls6gtKATj2kWIj4MZG8S
lRNMQxOb/ZFkPltfVxUpn5Gr3GhDW8i5UdJRW3uJNNX1XLL/23zGtBHD6TEfPXFsIcC2F6gsRtXC
HxGsm8516VvNgUYEz72yw7WNA7FHk2kSIGCIeFe60ttVRBPcliI/zdi73VVr2NVJxXZ8DKGwEADe
c9jEuOjyUNH4A6tUDgZmZ0dceQTT2VqZLs8qUA0DsuymJcJN20Lm1R/cvE43juigHZkj+USOVpaY
OYbq3pMuGhWnkR+IIxfTSpj+EfiAucob4LWk0UbIG/u5ox4dICcV3Ty9NlPziT2qPaMOItWBlCOG
GgnuXqE3+kM0G+EWYrj3DpJZd2dhfmVz4NyQR253U/Wets21Sb+SpR6+zsKxkS0b687Fp8LSGe4J
f9OfM9dI1h0M2A8SZ2616kNR71O7UUcXFv01kkOP847CTzRO6ccYNsWV3VTyTFdi22sljfhen9Og
NzkjrFJpWpt0CudbRLzpBiTxrsvL+t3sVv1hcuSwM9oSnJgs7GaVGrBu5k6TwZhX8Y1r+UiaWpqE
RzIva7JSTXtdwydboeBTD4wUbMI8EqiH8Jdu6ykClIPPaWOlfrRzeAOAGPDxrHC5xyyNs/Vsmg0w
bWn79Yv0RH9tuLPxRWLI2dr9bG4yIzT2VPTme01xPeFX0bomNXXLgbDetCXE8Ewfm6eB5/CaJJ72
1rYN/4QuHtR0XKanLFaEYpmxPGeVTVwglol9PsuPjWclpwkz4/sQDvs5DOkzDWnnUAkUC7DdAw5W
FSYdTwCufZDw5N/aNK12vnDaF2TRTFScbG0ylGFAS6ohUDfPOTBk8O8ywp6PRppVn0aCvVe1KnTI
Q5V+iPXoPfo1hyBrbNt56bpLzr2JWSyjh6Eb2rMqQ31jMYC4tpNEJ7a+W5I42qhZK82s1xaWJSSF
Rv9OEwNT4YE2EEHUHPJ9TKX0xZXjBw0i+YA4b8y/4OAQxhaLVp+IrW+5Hvq3mI9paCXMfyTUL5cW
sCIbeIY/nbIStG3mY1YiYCN2HziuehFbXlQkUfzYOVOd3P2vvv9/8UhS+f6yvP8/EB2q8uX74v7b
j/wl3tIRY0EWNhlnMsljwv53fY/98Q+PkCqmzAhcsU0iVvgeNsNP4V5Elb5ISP6p740/wMwuOmUc
HPYCU/0vBFxC/KhUsXUOCbwuynqh83pY1n+UcBWN23UKtABn0ZrWhrPyCEYBUuHZTqUfoZ57ooCc
5PYz0BBRQGV533P8MDYZfabuURRWDxsFLYoOybhN23pMA5cuYO09JE4JIhLLXFomzDtr+gjl1jJH
enZl6U/7lCMERq/SFojND+2QFx0MMur4sq+vy3wiEkLidiMtnGnwCRK+uqq0QuqHNHGm68kKgaOa
TX1Vag44u0ruxkq6UaDTsGUFrE9pwUCOhHJ2HNtmRIW1GjJOEg/s5QAc2FO9lvnFaC6Z4kDSogrT
NYPSeZnQ6LUIYTz1nbxO9JgRAPCEcVi1TAqY/tKPzncl1cJOyTb31qSZJgenQCGNUw1sDtoImv2N
ppFl6tRTz46USbiyBL3Tb7WyfQ2obJvOLdpw4HH84tIi1AggXUi1aIflh36cjPvRiUtJG4RJfNyR
qImdbBIKC+U0r7qMPGD2F/nct1gFwxmjJryZplYHVXkKYGNr80atUB/Ecwj27zTapHF0LI0bSh25
ocfeGKvOaEnrrojndC133DAsoVGdZKN9cMLOfYL5r5YRi9/tElxs/ZYets5AmVt9rZnDpN81TrYR
bGDFzuzzkAmUrVBkpz10XMwEWsAeJV2sORbELn1g76kdWewbeNZQ6yUAdjGOI9DMdKETC+gK+BCZ
8LO81nZgMC79itNAB6poRNvM5mncZiH8MR28/0uBXF1s/ZajCceL+sEo2/iYOX3+XOkpsgxdko9K
Zdjvc8J0gFa27k1RTDRaQGxs2riiX0k4Hu453VCG3EQRkHVKUrWJ3da/UXZT7xpwLfT7rOgqJmPZ
XVVmkT04uQl4AUd8/llPterQh6k49IyR1xz0w488DS0VYGr4n8JCErA6db3MdlHfiEcCMofD2BYE
xOQSX6Vfht2DZ8lXnTJnLdGzr8m+nlja8yk5kN5h0uKOlPSDiJbAqXBy6yoDlfJhwVHvZLf4omzK
JMhDGDxXnSg0c92FzaNt5e258fT5U94X4XpooumJiUyxD+eQR1DTgFJCXmMDl7XW3UyVKs/MeFMM
DFVKGrOQS2RIh1AcKFL1zokABo2aXx5KP4ne901eqJXXh/l9ZtUi6OaM3gBA+r7yuA/d0BpWtpXp
QKsaMMo98RHbqrSQt3sk3ITHuvZShrB9fUNqtL/tHD3/gvdsYuDVEdQRMzaUdL9XZdi/IrKy1vTQ
x4BBPvGVue8HlSVe1Di9hzBiB2UW+WrtSzQzgCFMm+8RbH4T14ODA1cLIy6bYZmY2m/KzP91vX7T
9aLl6rCT/Gdd8/nLpxaxwQ/74p8/9OfG6Nt0tyw2RMpRtkCyGv/ZGBfAsY3Q1/FMGx4am99fyuYF
z0aqKzJcAvg8/HV/74soO/+bjdBblIH/qKLQdyEpQ+2KMEo3HZsX9uNGmJuDpk9hLE9mMfsyvp6z
ViwiEI7z6VSepJtYE+FQiQzjL6QiIxYCkjE+2l7rHDoMsg954S1OeF7+dWukzg0DKYcuEBmC6BqQ
rQiEN0SSM/DclnMyPFtdUZxbzyXWWgp/2Pq9l5wp80yyL9oIww80UFLvY46uDILPfVTYoLEQ6OkA
vW6zTC9ve3o09yR2C+zBU5Q9tTwjV5bGOXylWqd8ZsqJUEOPNTRJOMvv89gr7vENkEOWQcn1DLVz
DTe6dRp7vteNvL0nSCQk0ZiXz+hQbVAnEX9c+8RkjiazHsdQcGQtwiYSstEehyRVL65bEJzeVSFk
lxnVYtPU3S0y6vh9U2QDLu8qrddmJFmoY9d4cO0mvreVk26kjgIKX3mpTm00ipPXdO+IxKDhhiHI
bVeWNAHZmPX8WGLFWpboT5lSbbfCidvtdU0mJ9DOnB1LiFAfk3KGFNXwHb7LSd08e6OMt1ofz1dt
QSTDKp7MaJ1LzwXJmnkeMUFacstxOt1reXQzZmm6RbObrefYZvumv7rXx2rkMFsOp1IzknNs4A+n
4zlOD1NPuH2mfEhuTiZuvFZ1+4n0iGu30ceT1ZXTHuyF+cIxurpKfaN/QPCUs70TGLNZvGYAG+L/
y96ZLMeNZFn0i5CGeVh2jIjgGCRFUtrASInCDDhmwL++D5RdVWIwimHKdS8qF2WSEJgcz9+791zd
3eXC7K6kVqmbSnOgRQVZcVCYWN+jRGq/Eo6b/URZoj7oVB3EiI7FDVBV5dqInQ3MofaZayWmJbmR
3m3VuPmzUceYgKiWVjCAVML+UrkdVEtZgwEcf1RD09xoQF0uk7EdMe73MZtHHhyGluTkfTcM3LRL
NtEQ8fksFASwZPO+0C6iA54ZYFq2V7WQP3O5yNWyR0KNehn+xwsGLPei6Pp4i5tLXJs1X9SuUPnI
6LJbgnMaN6OmeOO6V7zkUtCR9LNQuL7K2PoNwktyCyAHy1AaypuU0o0NsBUoQAsMWKJB2Gjeohps
uFtocLuLIrYd1i8YNzE0tgWDwGTFtM56jjWq03pMxkvbS9V1ZDbdFcMTKG2lqPpDrYTya5UJ3aIQ
w1MjEIc9IJWzblxCGWtXhFsYgMVtrDbtHclo+jq1jJbMox4SMc9k4eCgqTq5QPhjreymddIFniZ0
vEgPgh36hoCQOK3eQb9psoVbaQTcEDbPtJ/Eo/yRZUTcTgU5e0VYqeu+y611rAjgWREQv23XC8Ec
O3YpTKbqBlVbeFNHpr6yK6RmWZzRMuLdHp+aIAInPLrddG/bqRHSSIVMLRMt8i07yPedBLK4yBVn
CJa9Uln9piCz8CYJDKarilWk+bWSuuEj++8KACqaIbE0qypgJYmJoZJ5+SNDQuouOjsfrwzpANci
rTFOV8nUK49h3wB7SNibBMtMCYFUxhrFm0yQqW3o4GO1E/RpD3qmak81VvNuCQWhFtUmozhUxyt4
8u7IlhlrWTfqm7oXtNGW9GhtIKuj2jXqfdBM+mR/CR0mXne0RLreLysY5sVeCr1RGDC7ST6y1+71
dLivkzEEDBamQVQsIyejkvqSY1utnLUrLCXdKF3XJj8mRwgt3brcopoPFx+3/68DztQBbBxnR8V/
rwOuSHR+e785/vU3/q8IsHE2zV9bSlWUfHzs+er+Bx2k4o2lOgDVqvFi/6cIcP4yoSbo7r+jDP5T
BFAfMEmjeQI/SIX66vxJUcAhfi8JaEsyK1L5dxioMQObkUe/u+snBkm8/4r0y2A9IZabrtzk5rer
ccLU9PEQfAigx7JR4SdTf7w/RDB0vEK6J33yCRaphNw+sfe2uaT/vub/4Cjzr/jNuVujWgf8w1Gc
4lujfCvHt9b6I+MFXAnn/Ykc9RGcuDSLsucQnYRWdpjiVSVfPz+L+Z/4rUJDia9jM7FsXNq0PWiH
vT8LeySBoCfr0R8A0y34lITLWJSHPK+2VkQm1+dH+3Bnfh0N351KDA+4q6M744zWSJ6oU/tTGcLl
bvhPnNPE48OVrf78UJoO9xejDvY+/chBoza2gKygcWKRGz6M7LORivbaFXPJc8iR93YobhNnRfGk
Y6TASgZM6v011FJLnYgyrP2ipq5JMzTrdg2KJxjluKjCMd+WPe77Pz+/GWYMeIQ2N+Pk9we14kDT
lTKmRkq5igQ2kGlcu+aCmZP594bsv3rUj9pZv86Pspw3Fz+LbX4I2YIiLoVQaj+fIgP5MZIsX6nc
ZJfq6rjIsrqi462BXc9kdNVl43jm+PNTcfyMohBj2bLp3TGcf3+qU2iKSE3DxicjcVzbaFvI9x2+
fH493zsh/76JbILwdfEVBqYyb2V+e51HDYRV6+m137aVtnWGaEBc7RjBdaarkuh5pC19R7UF6L7e
fH7oU88P427yGND7z87P94f2LJOQBvYwPjyeaY3EhWo9mTO5HUXNKj7pkYWfrQ3Wnx+WKev8kLy/
sppGUJYDTcUx2QAcXdmGLVSCfa32GRrV32l2qcM6Vgd97QysOlaQZneGmuOwyLpgDxq524yNwS1I
RqIQxn7YxqKuH/VIGkjMJEGVRCIcdCvvLaCr43Dp1ZAXCexQV0YLgUbrA0iWqt4R5p13ycOUuvAO
Eie5aOzeWbql+Ja7ghw+t1lnpdb7HWNd65dbRPE0e5UqTnSFdG1apFVHEzDG4W7XXcJ8IXMuVFfa
XxkBFxrgrim6UivFvsjC2RWuIqAlYry/YMNHNEs6ttlKknt82Xm5/BLjsV9FAhpn4lTfbT139kGc
oz5Wqp6JlMy3pt5ckjbZfoEDZR4ICNBQ3DkZuR51sjNzqvis08wNfZ1q4YxCu3JV4KSJYRJIoI/9
neHQxDFTt710gPWQ0OIyY+unRrsKAoNPIVOiZVh20SFI+uG71+bTgRjqrlnadMdo/SYcL5ZvQ2EH
zzRgapgUyNm/2INN5MzA4KiuR7qgFsqKnwp6fOb5SdY+enrsRpvRxt/b98xGnPkCW6Z2VU4W+aU5
VrSlPVn2KhdBe5nZgQGSwwzzdWAV4Ov4faTiWq1DNEeiXEPmfWsbBSbv1HY/Ejl+MaX+5hH/8nXU
rXBpdkr83JKzu1OnikuC2wG25WC+SXJjGREPlfSTihUjyQQ3AS9Tyz6afy9H6wHF10n3uWc1jzgr
nSVtc+ciZ/Z9JfIhWBv4Prcd/NTDkOkkxCIAWHm1qDeD7qrbEpYNVGLbDpdeMAVrd0QcvYQ5HO5R
zOu+1IA5JLqEAlglEFRzN2WKmPT3aSm7e9CB/OEamucidWOLINipXKhoffeYQQk4Ix14jRrcvHE9
LidWJy1Y5bXQV4RFOde0cZNkl+h2vhFZxeaPvActILEh0O6QuYeHCZPIfVJgj10QcWDdoAdMtlEY
qlvIEsFrgOXS4ylRgmt98MpgSaS60y1MDRVAEgTmDUH1+moKSZYeZWjuJ1FX2AUc7U7LZb+zPWHf
BoqhbBsRGeRQ5+HlYFqPQV7JQ4vVZMCv06t+F6Hm2FU18yx02GybYcAHr+3Y4aAUA4pRQ+lQMk+R
+9NEWv9TCYN22SjNcFE7dFwjT0V1QMeWbDXmKGulQYoalN58PQIGbCtNjj8y8i/Y5vcg17Bbqb7W
aJOfQwa7RK1nPqhQsdfB5KJKx4ykbZklMq0ezOHZ1YP+G8Ea0UHNK9XvY4aVM1QXXowT98aCXoP7
XUubdl+BP73ujHF4qQ2juCq6kI6yJo2HzGuBZTSNS1Z5pVkXgx5Ot/Q05CYUtXuLWrN4wSA3HOpp
1u0nUXs9NhW4udGZrprKsy5SYRSIoq1+yWzBvheMvwG1TtKvBsXtl5aqc4AKpTLDdz1g+Im6kuQM
NUDUQeaztQKnX276YFB/mrHd5ouIwfE9kPHkhyXtxtd6FqFUyVFUBxpMQduzNgIHC81dJA+rRpBj
TEFprjvVrAhstiX07rKKHqSe0wYKezrOvDQRYdCeEyx1p5B7fm34oGul3EOmry6QdMxgoCCulold
qMnCyhNv57JZ2NB9tplGhN7Oarxy09pjuRZqqGzrKI3pi9uoV5aukcgNG4R2rU51vUMmn3EalTtt
AqwZTIhn24auZh4pMC3XYSwpcPQC91NBEfA6VG3LMtanh6w03W2UqOBIWAW+xbEn18yRHL/Vk/7N
UQu50UPXutBRnDNhimHdu0Qo0/wstdfWKUDDZ2Qt/CSTNnucmnG4wZENM27+43phW/d5hBlwGsNc
x2bgDDcw0MabxiU4u3cJBWXuzp3nPsLI1MK8ZrzLIcmTTSkdGrMHKUyXiviVVn1N07Z5csa2WfUQ
zeiQoc1bx/M0rCAzkQ5jqN+ZxRh8TcyofOzjnHa81xVby5IBcbGkmiUKXZmhwvqmjh2QmrJ7wf/a
7nCSk3IYdokFZCdV5887afJT3V97TGOiRRHRRcLnEcPXGfsr1Makbk1aOfolId46dHwNDKpu0NBT
3T7fJ43GCMop7RbkdCKl3zIurBfqaEvfi1P7Xhsb9ZnpmjzEZsOtI8E8JlbKLahnbPTuUnQclg5r
sB8lM0CtJhmAeY3yIGIbO5sycutdQ2qXpWPUuw5E3w9P40+nhBDc57VtXQQanDcUhs1Kr0KC7ivq
TRRmVr0zhJI+Dl7sbYuisu+9akYWm7W3dFushWHqwV6aP3aNR+DaL6v6YDvKGqUXgwcPAGsU0Og0
6snE9IW1pxA84HiTwYjyRC8hTLVr4riLt4Rv+I4OXvPQpLZ85EGi2RopIdiozrsvkryfcaHeNq5F
sXVrw35u2YuC2Iz14DIbCkrxJi8gOgXKeNu2qTxIRe3f+iJQvuSOCJYgNxNt5UJt+fs+pe0Y/JxU
fuzIpHWj/qIMxJnyEAYpi4yRTntClrq1Yo3x16JrXGLH+hHvYmc9Mc4zn/paMZ/gAU3XfKnsTVRF
ymqKYwXtnhn5WPrKK8y+9R0moGKt4wRbK6kxXv+66q2FNqlsXPdGT1Uk/iRJYFhMLiDIazD5CGAv
OjksSeVTNzD61Qunioo1aIt2l0+tsRZVDn2tVk1eYseb9p0+ZTcYaJFU5RGp97+eZUkm2gHWFVIw
mhMXEvvDNXDfYJ1nDH81s+0rxr1FeqNWSb6zp9F+9oKg37aByvDRJcpohSSS2y8reZUS6XOlVc3c
fsJRsFSnNGIJ1LS7SIlfiZQYr1kUiJYTQXHj1FKSqGF1uGgbAbSLFG8LsSDONdlByHU0/PGZB2qz
S53kxkBkuekMPd2bdPouErwPt5ozEAdYi/GGuTufbicq2q2DkcdYjDJ30pWOAjVeuFoEYGTM+p1X
h5K8ErMRV6RPFdirnaJ8YNhZbDoWHGqgwmkuMHq3N1VIJkvd2QSzgCEg0EATe2Dcw8bQNTyxVVoo
D42qEuDn5j0VswljMoPLToBXw6vZWqQ9ySZGO+T2MPcq0RfbViuyx9l1u86FpKz2Yu1VDc3pyswr
UhqGQX2doHgxbohLTN/A1fdRw4sZa5a+l+MgDyQeO3t7MKe1C0t0h1itxxg/9XCrcs/ux0Xbl6x0
ePPkQbVH3nnFyKDoIq0cH4iBYBDizVOZrlWSZcAfvQUkX6QL0DOB32iJuY1xmZNmG9jbocKewRnd
OBHAOxSS0bUmY52Muji/10dYyaWbFGspohkGX7Y1ro9J/zYBBYP4W1T3Rm9MmDJi5SIM+ttOTIx7
zSoiw095cyuM7ppZPBtdRvI54qxLToNwebVk5bTCpt64bj2sSXzQt0EQM/+lLrkw4Qd3gLfIt6NC
jPZCWjiFoulWF/iY0sbOv0Ni+t5I62bUG6KyxiGf67Zq50YOOfQyfhjKSC5rVwl9VqstF6Ings1E
PR2wvfNS95n0uZoUWAOxAeRg/OIDLf3UgAGsugTKFBYi3swRnC+TEpOqSif8kCnB1ShI28XBtiTV
oECSnZX4tQ3UZZKkjm9h11ukBmN9W0zd2K9HV5b3wrR1zAShij0416OLKLHFbVGk4pnYShDb+pR/
bRTRfRfI9O4drTZHkgZEuuv6Se51dI9bM4s6X4lSa1yVYWXemm4tbxNS5O5FGKfrPu+cCZFvzTBd
2vZ6dIj7C+oo2maeTDZ9ldKNU7N4HybEECy0tnr1aplfaJ5i+DLNLA+bVwlOWmzcbkzTi6Z4pbzX
vo5sx680r2vVZa1b5aGvEgi9kL4H/DpYXSEFeNtEiZpN6yL01HN0vzh0lDnTqOYursbAemX6VSGY
i+R0Y2ptciislrzBeKq/2jX1FbqvSL+ewHLhmImcPd7x4glEigqUtOiMR3X+QtoanF01ciN/LIru
IopdkzD4pn0qWrimY1sN+8wK+4tBmdLvLcKQCNEqN7fs2uC2J2LyR944KNZtzXxpmqTUeUUIT9NS
3bysW3bgtjLLmKe+MNnrNmQ/TsSxfjEKJ1+nAZ7fRdz30XWpTG9p77jPeunMEZXSBfOZyY0FSHyZ
kKi5oMaTfAqjPOoWnTIOK3uqWcmSLPETgUQQXyoxExlf2/3ErmJVRoZcwCRdhQ2DhCbOH5QsRi9H
1lLIKr+gZwslxcN2m2riqTYSgGp2RvdCNR0SoC0q4y0A7PyhTPPyspWZviM1g1JqHeZTEOJDTYXb
Kb7RDApCaAK5lLepzTqxGGprp3W2+9gqVYHFsnO37GIG+I0x80BDaS/5KGa3lIrJy6gZ5ZekSqtn
0YnR2QoFqfAiDrBqbvvSCqxFmlLSmEpbHAgSG4plU8bjtxT9NCbVekj2vd69kVIB9ZLO7iVohOLC
oLL9XgiYA1PgNCv0+tey7EFZNIaSbdsUpcnArbrEn8+YEgxme00jMLwmGAfgt5klzdp1ARrXRHws
mzrR73j/f0DWIf2Gb5q36BxU/kbQyr1XNt1tqtJkMAn8e2QiavDhIi4DxWJwaGCVvNIG+2YmzfDN
nMZ72emNuWEg26+QGmnE4EpWdqHMGY1ddg8VFQF1FFX1naWSxrUkT2hjR526kT2aJYsn3lfc0txG
ke1c6qk9sbjUnbOLwB/4SaKHrwyoG/Qqakm2oBJu3HB0Htjq8D0JvfxbkDvqSoTekzmaw4UqNJ24
K1tfVWPV3pux+cPJ3Pqmp6n1Gsqg3/Tp4MIPMKbkyvPksO3rWSZDpt62mu1vC8XjokDneHL6yHyI
+7LeJB3TKR3I3gJ1Wb8khMPbWIq1ZXSk37IHeWRBTm9GIe19Vdl4s4fWXousCF7K2bmX1YNLm9BI
rmd8eLGwkIws9JrqdmwsLG39UNwVsgmpcBX6zXm7a90pPwSxYt86lYoPBUXztRb1xk8tJOCsTAaE
r10c7oMi6m4Ka4wuoTBa96ZIvAL6D2G23deEOJIgSnGtsdyue4F2VLajCoanQ/86iG5ZQojE1GJk
9y0r7qKb5bXEXKrbOusewg5W7uioNpyOEqTrUH+LvMLxkzDii0UhuGchVfzc8PpLSjnSn0y4HIhd
U+rfsvjJSKyPIRiKV6NKxNcGGT9OgbCK0lfUU4mKRa0LLnBOk3qlxBgZw0Z/6HRlnJYKiWredZzV
oU4kc1WNC6MuhbWpCtrI5PfU3jUQ8uyhyJnq5tbkbSPioVeCFtYDmu43HBzEmEhKlboy6r0qh+8O
OrG9lSE2pKhik1T1+F20NNnlsUdwTKP5CgwGtAiu9ezk9iMumgmmbRn6VIXZinbH90aPuxUS/GAJ
tuRWRwvhd6P94rAFwYxzSaTTgRrKpnNGm0jpXO276WXDhVlaxtquDBopaVHfhIiZe08JfkaA4G4t
VdEPzej9rEaT0Sev3hcdbUK0IgyyinENEKCLjgKNcGGVW/jVHcZ6ooztNuwXbkEH4PNG6McuqM7U
SeUDTYtbt7XZrfVb69doPLt0YvqvyEYg6uf9F0A00g9tdrceJNl/0Lk3GLaAxHVNVzvGaYV1heDZ
nTgc/suHSq+27ADGdYUO5cy4RZs7x+/7u5zZjEOmDGficgxb8jBw/d3UtmU3fG9+NemnoPuBVGFc
KBjqr+grqVvblepLFMw7StD3/6B7j2MOcYppYMn/MD1wjFYOoYr91wnNg9WVtPRC+qSf38NTkyVu
4dzDRk6pH0tuzRFtnJkzg/k1DgFrRD/Sm0aCdxNx5v6dGkeYMzcQ3YXBiHH+Kb89LulIivBEYi1s
iypb6UP5zXbLM1zGc8c4mu7EVqtjxuAZ0fT2Stqk47r53+Lz/zrVOflw8Pxp3BweD5Rh78/DI8QJ
J11b+4IP2FXYqfpeL/GGy36In8lF5JHEqHMT1vRaBeLcHQHQ50Y7H189CJA4w/CGqR77l6MBhImR
2Zjpcn4IEwONZGsvBy2tLjOFCCk0UsXq88fk43XleKi/kbBa+kcAY0Vt5U7CgK8B+Y1UhemATsQ5
s558fBYRZqOjs+jvIKs7ZjrDTUG+nWYIuFrww42AMovm+xIlVHzmUTxxpNnFClGNvFRg60ePidfE
sZwmt/RZ2iBsK82FMTkPok4eP79sJ24T0QK6qnGvWLlmWOrvj7wt8tTwaqf0JZnsdfaikG6QpOi+
q+AMZf1YO8+w0Xh3qKO5LRtV5DYY1fAuenTvCjMkqdQhBGUkRGtd9YX8MlkMpuF7BvWqMmnxqXUV
fLWpWwEB6+06YQS0BYnZ0KU36IKR153uLTcR+9YYlV04RPIK7TZdvYoYhI504zXFVUukC5rwvdNn
4/VQdrSxps4GdEHbYUGOszxzojOy9mhtZpRJcx/+gQVa8XjqRx6EYnhFxzVtovbJywvSB3v3brLt
+CWXnbOHIMQQJQu+1iBCNg4R3gyu7J1tE7JkMZ7R5ng5vfuSB1RHLbHoRZnfiYEAy4DdJQD8at2k
A02H2HAQricGFk7U/IsaSe+ehE+IyGZpggaQw6ptXX3JcRKchIpzmZpoGZIUMdLIer3ysDNJB1WS
yRl6XC19zkeUjfrqBENx5qN14lmDVqCh4OCbxXf/6FlD210xhp24LonSXPakDe+466MfJnVSLsbA
GPzPH+6Pk1/DmLm9iGb1meF3NPmtSrPvB5GXvue2gEzjMl9XYd1e2oZotwEWoMuI/ssDJM5zPPYT
ry9jbaKRdbQ4H8UX8L17JerswmevOz33BAZhzxKQPTQ7efvjk2TKy2rEhof/Hc/QGY5QdE6A34kg
oDXaz2gn2sHNClRMvQN/ELvLhinbBA6Fzt3nBz9xntRVBrhgNMAew+b3y4cDhZ29Z0FGCflJ22oo
HsIxZN6b/Es7/l8/ah+PhKee98lBYUT2gHW0ILIRbMIS+J6P2+dpIrZppbtIBevMMP74MaXcQDCF
MAoZhnqcaCMack2xWmQMF7thJW26L0ZyMwyWTdSg/eNPL6CpAsykvjE1RkkfSsY4E4WZVZwWsEVf
EVNRMkigsdtkRtqcKaU+voAcjNKG0sBiqnX8+aoYEEc2KAxfKuZDZChPlXR/JKPxEA72mRpkfpff
16ccCn2OzanxeTlG6sLAiydizlLfENnaoGHilVa2cLJeLmTR7+lVnKtGTx/RoxT1ZgHcMXlBMYXj
lvMRK63fQ4p5KSHpGHVaQRwjfzjq9DM421NPJIW38avq4IhHT6TVsO9o8e376CX3U9YTTZzexLZ6
5jAfCxucbSoaGXDBVB/Hyio4RuQJ8E/7vaIrD4pTmDsx8kX8/Dn8uFRyFBAZqEl11aZufP8ij4o+
FhDHUr822Nay3VtmSffTKexDUrVM1Vy5NED8fX7QIyDwLM3hqCwcAKcJG7CPXzWk0a2H/iXFdo9H
a8ggES0Lkcqr0WNURz4suU6Tl+kLpQTCsHSkB7iRMIJtO1bhLmOYtBkoi+RkVXdeR8wpNiiKg7ks
wPxvXaCNsb94+mD7YdtYZ379yRvjevPmR0O2fXxjmEtGRKzz6tKiKrAfewmZMDQ7Pr9GJ58ydJUO
MHcd1eDRNyw3Kz4jYZn5mOMzmIK9r6ZgfZz2XNVy4oW1SJtCVWnbNnvY9w+A5WS4n4lg8PVRYFJW
gmg32uq4+fxsTq1ANiWAqxNOhuprvqa/7bBkoupj2CkpCoIGy5LDZ2q0unbdNNlrn5h/XkWzZ0Qm
yicD3jYGmfeHg+dlExzIKzqlwY/52tWxfcjr4Onzszr18ri87Q6SXDYGx4/x2KSFJkteHgJX3dt0
0uizBxYkAzzfdWi53wfs+TtULM2ZT9WpNQ8hqUld7Z3Y9NA/USPD7FMyH/WbtlBeZBJuRPIIPuye
5frM0U498Gx7MN/i+3E/qAUzztGBWY8dMxTpNse7dxj0RFl9fjGPANt/LwpcREfnc2Qgcz5aV70O
4J9F3w0syKA+xgRSbxQUxxBfjD6jQe8MXxLNLZdd2fY31VSk11bmGFvMOsZaTsJmuoSFRqsC2BqD
y1C265Jzu1vt5JV32GHzZhoW9c/7J6sOGtUa8pyvzWjSK2yrF631SkKf3WYXO+5TN9KdcHBdXELp
jx/ToW92gVd+ixjrSlu0ezHk5o4uEpSNiYxyL+I8Pr+QJ941BluUoI6D94X68P1PzBx+QzxSbg+F
/CGk1m5UgaKKQGcPdsvnxzpxObRfQkNwMShlj8sYXZtU1YSW6ZMw+EOl4QCFRH1ppqzwHY8MGDTD
7ZkK48RLp8Fysqlo+GJ90DdjJJ7IeCw5vcR6juJQWepWnNHMhN4FIbP6UtXDnEFd9P6fn6umIeek
I0WBeLxSmphy4tptSp+92nVlDzXy3OyALDlcRGn4CGAs/PO6jQPObQDgQR5L2fs7ybsytI1Zkcur
hiADtZ7RZGG0hwGcpJ/bbKQ/P8MT3xyORw1l8GGjWDx6AwkkMqO45NKOs7k3M2t4iFVZrQxkcf/k
UJ7q4VGkYHSPP6LCMeM2L9iiaV5Z3AJPlIvaae2LuNO0M8vXqWcUXDyPJ779uR/8/ir26GIKSWeA
PMXuoYvKN8uqHrKG+xeH1cHFR//HmyMWMKK/iNKAJKAdv4DaSMMdJAsxebpE6OMMd3VXrwR9gDMH
OrEwoy2GmkCWg4mNY76fv31VhRyQgQRsAQlkfgrHcevK6uHMI2HwbxwV9O+OcfRMeEqSJuacL4aq
VyMUORb7xmqsO73DUR1kAx7HEBykNdRiNZNnv5RD7aAYYGDTuXVK869DEkWOO17kERkM7qr14E6Z
HxttTZ6wGR10LxyXxdQHXwOhFltQNMymUnfCFB8GO0zcqLVVcJGWViPYS5jh3UkvR3FRaE26KfOm
3qp9FXhsoMbwJslUqsMyBhmSxvUNubfRVqubaZdZ6LR6I8qveqXuffj+DyAmmyVXON3k9IrqRYRa
yEehlC/KQYp10EUWisF0uCxNI14OIGI3n1/eU88mX3HIFlgomFMcPZt21VTtZPNsohV8qcb2BQDu
jQndx8jLGR5X/oPXjpqbYo/2Pcr4o+NZ0VRURF8XfluR1Mw6NujpbmiLM8XrR3+BSa8UhT+9TNp0
3tFhzDGNsFJ6hY+S9CBEXCMccr9X6RcmUVdMpZedpX8L6+LMlsk4fVy6tFxRNtfHBZkn8ioXUPj8
nMTn52hUcQnVpnJA7a5mawbn7HEqKw/WpIdUqww8LhOugoW80vsdkP2FlQzKzlA7ZaO1ZrEMUIfx
wIktxg/GWF7yaoExWwxwSpepI8OV12o2vRdHrkBr3+up2SxdaWF6bhMTdJUUxA7we1aAQN8QfpNz
7mZyK8ah2uDo4v8Hm4rzs03WjuLoj5jyz92KU2u6TcyqA82HhUKbL9lvawQuTSsvUuII1fZlwvey
mAZ1m2ptf+bJOrUW/Xac48KoF32elZDQfNfKVHjPdkdEQ7T+/HU5VdrYBmmdFrgqDa7j+5NRK12Q
QFoTCtqV7nKyigWb8acyjRDWNtMZ09nJg9GvZM/i4W473kTYNYsRdIkCEY6dsxOV294URLYjQTDa
c+FVpxYCm7Y/Xwssex+K34xkAztBSuEDhznoDZASsGNPZVa/tTHmrcg+cyW1U8+Fwy6JDSxeKpKz
3l9K2YiM60udlmBfxuqha3tX1sNOpxe/gi8W+XAg2+UoPOMuVoPIn0KUzWEZF1du6KYbj+T1Lw6+
ADTaQYiF9/M7ffLnsSDSRqJ/6x0vjMMYNEoaUeYMlXgzvPAx0vv7zGCY/A+O47jsFNn+zr6Z95eh
6ZUpEohyfHaigm5O+1JMyrAqu/rMh/RU2UpzCvca2bmkIB29h8bgIeNGgOW3CMejBp3bUBzq0ton
rnaTldVDnnlnGhWnHuDfDnlcsCbSzBDqqLmvDOM27Mo3z8xQuNr7uuzP7DmMU88vO9I5gdSZc0mO
9kVEc5pCjk7OMqNP39pI/Bxiz172EN6XtG/DpSKUeAm5r1jH1Sw4VrRZnlWj/PH65smkqfIUVG7j
dzqyZawtmA2itgY65xFoWmTZMg8adzM6g/voWqyaC7sggjZXmnGF75zWZqn/VAcdTXvprkahfkvK
7hpPoli3lHyx2w+LfDLidZdP+r1AecnHHov750/TqavgzU5dWhw8t8cD2CwTTVMgUvalkDvZSiB+
qvlkCeuCnulTGxPw+/kBT93i2Z6BY9Ch2Xp82UWihRNZF7kfV56COKarxUay+4UkEWQEi87C1M+P
eOIU+a7PbmMCk6ncj/Yknj25easbmZ9C1l5H9QQBMaJCm5KyeUqA3fvokF4/P+YvvcZREYr2Ruei
8oqytT16ukJlypjMZrlvQx1ZRkNn35uR1i8LY7IuojLLHgXhRxDfkWz90im7UZs95p1s1y1aoi0I
LSSzZ37Ux3GfiSqBrs+8agMf198vHfDEpQh63uhGBujZjNDcoEozNk0AR98jIHHBk4J8ysrWXlhH
y4mZDPJrU1t9/kOME2vl7AtHjgEbmUHb0Q+BcxfaeRvn+JYTg9HILG6OjUweEFgW1gW3y9m1CZJE
fBbEq2Q0kQGrMkeN66i/HYxB3UxToD5HJoW33kr1mbK42EYDjxS2iXSDssfaost9m1BksmT3a9NO
ojWCQXNVK8WcaQVEANans3LDC71MjfvUKMYbXlucKBMvwlPkdt4+U52vajelZzbmp86fCRgedGee
0B83jmi3JVnTGpx/lo73Ef5cf7TH+Al8bLT5/FqfOhTqS7QGuNH5bBx9NRk6VVU+f5a80ohWonJn
S88oUiLnsvDp82P9um/HT/3c/TXYvfIZPN7+A2zLuiGP2Rz0VgBThYExjg9pattAlP2qcDLtQivV
4LYd9eFa15XwAGLMW5J5I7aiUOvdrx/0//iGs/gGi3f/3ySBD+zy/6nTl6J5ad4DHOa/8y9yufeX
bYJvAoeD7nsmFf6b3+CZf4FM8OjWmQxD3F9oh3/RDe2/LP4Kg2x6CfQuZlnSv+jlABxo1FjkKc5+
eCrUPwI4HFOd5n4aUud5IWNAyC89eqwxOerQyUhLsTLXZXOm9NcASfutDKJxn4WVxeSwRDZXDsP0
g+we59JKzQoyoKYNd4xNEV02QnnJgIpcpUzlr2URGA82fDRk3MJGhN+YznWU9c3dhJzyAT5Ptk0h
4ewgmmvfShKK1hmu4T394XU7NdVrDxXPH8EYxMQR0OZYNJ2Q31VBiEnMcqdjxU/1+7qJefWKrLgI
HCPbdng1jLEtrkpLj5deFuQMw/Nor/XNsPtf9s5kOXIj7bKv0tZ7yDAPi97EPDE4ZDKT5AbGZCYB
x+iY3fH0fUBJ/UupKsmq17UslSgyAoDjG+49t8LnVa5L0hQ2PCnBqWwGSSBCoW5rGRZ7WYTRRXcJ
3N/AV/a9MoboGojcvLG0MG+0o42RsCen2dkBgECrtpMnjF7R1TLyO0v5w01sW59nU9cby48hFTZu
ZKzMRjrvjtYobkv8nqE1Vqgyyra/i7TlkmxJzIjjeoo4L4B3e1on+X0CtbgjIYFWVRAAhaAkf2zc
zMeIChV7L0uVHaJuiR93p3JjBtpa95gYv9ahiG8x8U33fS3mt0hP+qlqB+c+YZZyQCe8cH0zdc9U
m1AI2xa7JoYThNms+VYS/7oZqyTYIVgf93h0+BhMlFZuzmporIDYN2Q8fTciZ0mL0Wsnknj9kqOL
5Wo7CAjCuVlXm86Lb8ocAJgRGkcI12zmmnr+6o5ts2+a0XtH4E7Jl/Xi3PvutIc0DQ2oTMs7C/wv
7CvGTadUd3gTnTkbztLV2ZdEi+g5aFDJgLSUp1j60yc5Ts3nKHbFzcwY4GbqTLWozh3xNe7d7pLR
739CCyP3pQvrYTU1tXnwVIHyh/wo537WgbjBwjrvdBAUxcqQYfAA1wcnKzL8cCM6Z7z4kzDvsBYF
pzrp0ZsvBfXboJS8xr5fHLQanLPfy2JfSl88D2EgnhqZWteK0L37kkb/oAhHuoLgcs725NWHdqjx
tBFZ9zmbHWL1yq44lsZwJER4ile8q8Or3Uib6GTLv2kSNz8KqwCPTCAaoidY1ztgw95tIaeznU4u
tyNGfwMj0ZAm/Ws6hKZeaZVbW4xYwWvjTD8AK5eknEgiD3XpHesmRuIeEpShg8r+4rj5m54cSXWe
uPZzEFaf69GZv3T4tvazWZn3der71UrhFT15RoegnIGueU1HBkzryfCbV4qd7C5IwJytXMeJ3kQc
wrwe+aFkFsVjKDBSjg6RaSTtlGfsKyUkUQcK6IAhmP6z/BQ4Xf/NCSOG2z0bTjLAj4AI/VM9NfgO
Q5+1SVBCvSqy/J7hYfHgxcXB11OPlXCuji46FKy2BMQPHJbPfR2JY8CIZ6cFMQIIctUSeZg9ECSC
b1019drJM4IQcMqtMunlT4FpqMegksY9NSSZSb0MTJzuOcp735J3oKR2U+E3Z3y/EOUjFPN9Vu7j
bjJvCEUt9k1xDwRhfDLiqcan4Vj3mZk4pPKEZrcuJnO8VubYvoHI4S9xzc1kYqaorQnMV7HMRol5
C596iOdEX5pzIVZToOttNevkdu7qfG+ontmT1l6wbj+gyOEyFgQ0vx0Q20OCrYch3KB3f0xmDVK5
QAMBpxXOsv2BXI5ka56BmMobvRCZLdDM2QekOUmAWsLLClacACZZgNCcC0N8RVdkHguzM7cI3JuV
vdCfi4UDHddpdO8tbOjuAxO9xJnei97INwEQaQ+M7au/cKUzNId37EWATcuFOz0uBOrwA0Zth4W/
LR0ioyLeGtd5oVbDOBEXnO8v0dz7B96IM0mQ3YgG3yV5aZyyS4f3eQ1iKLqQVtTe9QshO1tY2UYs
iiuIV7mtF5I2u4RkM9skEHgLZzufSvvgL+xt8irqXaoy+weit+Fm8pCJuM6C6xYLuTuFp/fY2xZe
HV/k0c5ZGN/DQvuuF+63YUEAtxYW+LRQwceFDw5/Cy9H6s0brXu57RQccaYM2AJJX0qh8IPtd3K4
qngwmQdKc5j3JFwNe9Lf+2MezfIRAsdekI0MUBuCeT7CMpfjiJlKfyDOh4V27sGE8xf+uUXuwymy
kvxlaux8MwF3WY0Wr1vBI37uFoo6XQpA9bxpo+ccyeGmrCbzqYjb+MDJlB7jHugAM8K7eciMN+kG
5kkuzPYygd5uLRx3byG6s1Xq7gtiMh4Z2cY7ayG/px8QeCJNjLXWhr9z0qC9tsDiqw5qvPkBkB8+
YPLFwpVXzmRt5oU1D4TsTMaOPfarqhUKSU49eaWxAoVgCk40Yd4vEFje/VmWfB68hbaQDQ2Aj8qJ
+vsmQWWBIZZ8VCUDrNZz104VSR5h8w4rIj+ORYoDSU3GRdjlVodVeTeOVX4gv+vZa9nHcdaC6WOh
PHzLe//ZE+krC5P3oJifQ5IyWd9D35snye9rymNbBXrbNuIzTmh5kmkQfB5lbhPONVVvsK/U1zbm
B8fKN7jVhQZXfJIJn2I4SSb5Y78HjNzM/g2lVpX4qxmDL/A6u+7dLXlx6UUR77IZJjWEd01PAtFT
58fvSAWdEPTuxIVjGmXLnTHSiJG8uh80Vc++TGV9QyyAUT9LDlBqr2jcWCrOd02uk/JEKGu7IU3E
3lDk5WdGAtVpaEXwjOGoeSH8CXIgSQzFOUhZobACm9OYCFbgPtVadRN5VKuk97LvYao649FrYuVt
cenE1ao2RE64JVaKTQX3c9+yrNuNfve1C5Jp1aqk2JggnFd94n5FSjQdfMLN1rrshyv/ptpFRUA5
SeCYaF3ILDi5iIarcY4lvGWMYDQO1CKP1ZzCl2DVe+INYnzCU5xcFM3NmnQbfQVJ3FwxFnqnuQe6
m4rp1c2xPbeRb6w61wDyXym9qoal3HJmXLaR57RnIY55vMsDX2/GOu4PYeEQF9OEYt9hq8B+5t6X
M8nKWWMkx9lN+iOxUjEUTFucejO5+BYzJzOw5AUXew+uI2heBgf5cKg8vRfNKHZZD+HPSEwYyXhC
t1PsShiKac6LLJbwSLnMhwFCNmBTG3kzOVzv8EMoo2VONjD7BPaw3/2w8sOvnTngUH4bMPjl3mPc
uFQcaLFpn4tfxxb/beL+oYmz0SEwy/r3XdzNa6uL1+r7H7u4337otzYu8GDUB4u612QnyIb3f9q4
IPqFLg3zCPrKRaxFq/Z7Fxf9gkyX8QStH/sX9Mj/08UFv4QMjqwAxQzHLUTd/6SL45f/aVEbLTqn
hXTFVp1dz8+jicoErUTs9HwIEsuDqDm61QVRrn4sLYXZPfH+iWW3NIV/HE/wCwO4+4wd+cv/Kgvq
Ue31xuzrg1LsLKhyoTRQMu//cBHufv3v/S8cXndsDvru//zvn1d6/BaslfS/S1vKPv2n0V+P3HJs
vFQdoMmK/WSr5j6vWwZcgSu3pjGRwMFLYQN+2HjopkA9/v2vJyrgLx8TrYnNs0ijwDX+eZc5DDoU
ow76Q134BYRWzAa7IkiB2qB250RPW9KHcZfucbSW1krGTkw3JwXj7g6p7KcaXwlpdnEIlWZKhVwl
FubycJ7ynbZz/l18/DSmTmGQb6QkpQ5MmE57wDu1fmc9nD84WQhxF2P5IXWh2cSB35yQYTVPcGH0
Ph5LSCAysaCh1w0DqhVH6XwwG0VEqGPLaztRVwOtUne9A/Vr8jv5Sr6sMHHsjvqdkK15N1bF+KUY
Kr3vMlVdYgv4FIyFkDK/tivOQBMNk9Dy2UpMfnBSJO92jbK3rFVAoo5B2W/GTpICxFcFNz2xiDxb
x0zQnL2djHxMM+igkAEa+Kxr8hcDRZnk4bFltx7hFIIHgFM6EO19XYzklI+L3Tbrg3DVUXvezET8
sU0ul8B50Z5I0mruu7KPT/gq1N5vrOLY4BXZWk4/fsnMcvzSZLP/iatjb7E12PCEyTgdeD2/6Xri
eQgYH4up0o9g2OrnwZy5Mg1Ds4O/gNKCqYXj0FcR7wFDHJom1e8TpINHs+VHtNl2X32stpdYES8J
fcH6PBQz8+9+qi6qJneyLBmTb0jwpSInktgoV/4w0ySzIth2Mi7WUzXa25pa7kH6Kb5lkn0AWtXt
mxvzP5Mcl9ea/M05ORgKOWzlDs2bItLgMTR6vffFUBzrkIsLrnXaqCEjyrhzwBWSTUBXKcGLsH72
KM1dgzBRwt8eEnxYOz9Mm6uLi2VdRMn4I+f1TcfbLwIIQuHi0apfqNPGL2jW5puoGflPOalm6MAA
0lJ84mgy6H/z5WEHmnvL62/El8dn8UnGWfVRSr+HMbxcjWk1/rByofda2O5t4nIlYhxAKxfO7gb8
vkv8tRz4XvNEvgZF5K0VLtps0ytDVJjk4/jBN+PmDQXxfFNNqX60mYbuK0AS9DcNvFoysAgW8K3P
wsV5my6ufMvgu+0SrmM2LF/1cosWRFD80C2ffsaxnqyamSvh+riBXYv7n8wJ+UyGUUzWW/48Gd1w
SkVb3ibhuzlE5rgSRumnbDlL+5h23gvYqObJxn78JbG5NzHP52Jvw7fYuG7x4sbB+KN3A3mVmcdN
qewRTj8XCjROv+PNLm9pitzbqJ+824GEpM+V6OTzQJDIC/gB7tYA0FFrx/WLgyf4nEHW+qRCHUoQ
OyHsnWqqX5MQlgszfk1ERxvlm48PF6Y8BF3dGQ9Ky6rfKJHNN0htuq+SXeqDrnuLnoG90NoiU+uk
SPRe+5MpDn3NSGutYuKF4N20b2yGwRq7YMmp5dKwebJoii6wnxhW+bbTECsFosf+ioLGyv3nsa6m
/k20g/ss8NbnyYEZQuXilZuNaotbahpuNIh17zTRALkP0HXgrBDW/GiBd1rX/pBWK8tTeL+onXfc
h5656lFWUX/S++7GoboOdUQZxR0Gtz2/683OuK/N4sHwhqtbynIHBcC7nwnsWnmBcigXk0/kKV5L
3OpMyHiIEntOj6WdP3aoT7dDgUh0cPU3EZbD1h2H73lqM7Sqkjc9uOkxnRH1VdYgL3U5TtvCI0qU
LXf/nSjSZpuI7qz6Jt5hGbXgLuXRxtIthLvAS1CiJ+LqzsBfjEiOet0ChPGz8GTk5HqJoqnmlYzi
5oh5Aqupodw1znhvVYocYUlZFO+JnPsQAVVFgFjn6nXkVg+6CsSWyIronMFhu0FnNcEe4IEF3mOd
hcZsPEQhdSzaqDV9rHk0K2M8lAGIGNk74baeDHstF074WC2wOhO3mW2U5nnyRHQYEusTfPCI5i/o
LlYVOcXW5rt/6+Q0+WuP3SL2s5lryPaoHw9AWYKdb00vFSTIy9DZxbqyzQEjXmQhdYnIA/Bin4zK
uHtz6mnYE87MO48XeLiDCTKuUht3HuF0zQMaW5Ix+7zbYb1JFUpKMhWjUL2EHpNYaPrqXBGAsgqL
PH/Gb14Ha1/5eh8RTDatkSUz+vBCLAKj61AhOgj6SBHauYNHij1iEdsk7zCmB2xykNgr4mrqG7fo
5HmaYwhmtmkfEb53GydNeao6sk0wjlRszenCLe8k/VY9zpOTrduFQoWS8DAVG2c06pPV+vOrLEwP
yUQ5f5aZrAErddFBzV50LIdY34ncmTdjPDQnRhTu2rcLfPt+Pq6KKcm3nUu8YtChE6rjRTqetDBt
TBmSez0ilAMHuZo8R28Icc6eSFEDeGTqaefGREIP0WjsGnh0uB3L+8IyeJeD+TwK4SiHSIBxkxhJ
9AVeorUvBHe879TpMRxVvI3oU25q5BukhE/GQ9mr8Go1sz5pcn6Y4nkRxLrGb8sfxNlf8ZAHl0hh
Xl6709QmqwLzD06LNL+RxKkcJZK5hrQgvz0Xc+w8D1mg3VXgTUxaifHtzimJC+E6szLzh2QAX2xc
zCVqY2bmeJybJmJEZLT7wSq856kYhGCbL7ILeaLdW+lkjHatzh2RUVqVlXjPUB1M+L95BwylrrAS
kKWW7+hrx291ZtXrvpiWukA298ATCpjwY1VvIa2Js6EW8yWMmSzg9ivTIybo9hI1Xe1ik0T9sZpq
T4CaCeNunYnau9V2LA4kr8lvtgyNbt1KTcdtjCbza0qkLHN4DyGOBzzZVZfIjj0OZ9kTxxkzUEgm
9qA7M+944WDh1O8sQ0NEoEb8IJGO8QzklAlBbMp4k3hM8IJUlCS4Su92BiT2YNRS8nGFk+4GIjSA
xSDnW5cUeenG9ZX8puSARDFFMQ++ibcz3tbm9Gvx1QhWEWB/uu+SpUq4IWeaz2eViyRAaW1vKUP9
TypvKMuWghFE2ejCrU/t4oj6qroQ8zQfXLObNmU9cRi3GSmLxIBDTUq9jpd7VNbGQ5VEwxdhO8lt
UlJpVJ4vr8n88VdEzZNjLIC6uGmWQ3ku9XsPBZZ80IDyJGoa645jsPruSJ9VppGwsmb3wlGZcBCt
ypY/Z6GH7VPLGL6kwuTaWeTBV2uzbPU+KX19NseMzz+MEwG5vMtriq1nzIIlqVJL+QsC4jnoVQFY
jo/Adh73TKn0O25xsVdzzIw1E9HKEhNsQu3FS4SpdAoQyFFz//dNBGljP7dKS7gvGoEAYzC49KV3
+4MIbyCWvZQYqg6uoNpew27wbgO/t7dJD4tPuxRhacSn6RNTMU3Hr5p1Hpimvn5J4oqbgfHUiZWE
PleTbJ6GwXVvYWqqx4kqd/cPf+zPit9FCrVALBBLY2v5C4eatXfOZMbpDoZwTLJ9K/+TltzcppWl
t8bAleb456JaI3cZqEXs2rwbTnml6tdMUqsGoAxv/v6P+mjz/txsOghKXYRxiOTcv4jxEqArNoFK
3aEsncZhDO8sRJGhucyTMe7bdkg3HIfzVrOhJ1V3oGrJJA1jkC6PBlaZh2xymxNedNjrsVd/l4K8
4dBPQMX0YGxjo62bVdMTLvX3f7n1r/rHX69+gLCet8+fr31rR3mdMCk/JIbdnGI0WEsrtKQuZk0L
V3Np7RxWTiMP5UunW9BPU8WDNvTePzaz/+KPCfDxLOZFliGLAvjPf4w3EL3IcLc9KDA+a5ZgjJ+b
MtK7WitOJ4G9Nkqd4H209XgQoZPsDMt+xWn/Fcoi2wKPcsnwpmQzYK++GVvbfR4liDQxM3g0zdJ5
sTHsKXggshrP0MjCY+xb+cZ0SSQTige65Cg5JBHYXNNiUN+qknq1KKMLBeS8q5Sjz5gQpk3bYMKt
lxPGdgfjYUxa/5PhBfq9DBMTPHrlusbKYUFC0eJT9051cRwGDjBSuKjZaZbpS5Kcf2lm816RlFZy
En/U6qqam/sK8y1nCsCkjQtp9Skq0ca4hF1/cp2ceE4Vy2uOT4JVYkMNajFygI45fklmI2ENRvrm
S+sMuX/qizkYL008JXxJgoW3oVg6bb0kT831IJ24gMRFZgzwORDNRudu+EAs3+oY9C5rCsbYgT8X
CRmygIbiefkHMQV9vDE7FHfrWODaG9kEkECLTLWDA+UookgmavrWTIn/i+OUT5xUUb1VHMLQbBWl
fKAAmRqaIp922gRNQyPShW731WQLt4YW5q1JyYFzWEYS42VL4xYSovxNZ0O+a0Uv9sNIdWXmE0/H
3NNQpJU/fOlF8RK09I+zsuRzOBWO2LRakNC6fHfRAqU6zfMiJPJS4wFCl3O0eHHc5+To7Ikg58YP
vb449l5Yvypt1K+utqgN7cK2Vxwh+c7pw/aOTjS86IYQPSQwENWKqvtalfQySoFQNRUnY7/0dlUa
LVmB/Tit3blgBwzHZdhZc8I0v8voWqrAWVE7Bfel0w5fTGuwt3Zl169e14o9FBV9lhbd84agWN4A
PXukr3bGQKkhAufaBwKoVuxysvVxhaou7OmMYtcFjUQGK8/IMri1wNnxf7K1ad6YevOtLLmrUGa7
lSdccmyQR50aSXoUJRGvHBUtr9C05Oj2NCFRRWk3T/hZw4s1MWYB+xxdEku2J8GW9uInfHEIR/We
RYq3rsNq/MKmifZ+0mIfLhMg5KbyWubMh1j0MCHA+PUe8pTOWxHOkm0QaxEVyG/90NNumx4J7pUL
mHBKkRm7/EcrYymcl79auRFDrBAXULuuEW9etDMVR2t5VNXyrjHzfNpIhiUv7J2Ax7dlBpgN4eUW
NQeTkaV5FYpY4E2q3OberFquDNIRbtvlXSyrpCJvILH1OccaRLpuOzHXcYCNMVjl0xWBPs8JqF41
Ml37uA3JfKCQSKrGPKjBAKqZMPFwOt3cf0x8KofbB6BIsfbhga6aki4YBKg4FC4FVYFY9TLEPir7
ZTxgJAZfA97aYM3Aka9+GeTNAh5yzu5/PaXpexvO+mbmcWM5wnYlRu3PLCxMmF6ZUuUPjcTHsqIA
jhZwtocdMVB3DelHh7TqucTJZBZHBR96tYh7GOLMPIIo4xnBxT6pkQk7obUcjHobZdyCIImtaVux
/1yTKwFMPAeGTMFjInnxx+4rwj0mgqBYm6fZcRmUef3UvBF8YW9BiOpHQreY29htcTSW4QpYEo41
Ovr49DGpAUtlrkJeNy1h6ESNQqNk2NMQQwinl1//Mb/5eGGrnNltVafu0TCNHyaraMrlwODyFSXF
UtPhkvn11hSMLqXLaKiqrfiBQLTqImuWknAGwkvYd81TbTFDYyPLTA0PZnWZ4ALcji6d1joxew53
w+6+Ax6pX1TCC681m+gyBZyz9cRKFdh/076ZEOEBtOWEo39seFnbMKrIeKaX+7lpl2MY+kR3LrqC
iWQkAmrevOXHeaFrQp0p+NJl6k2NtLwFaNBerJBbwp2H7vvQxPVrasXJbcCKbWe1y/0DhhKuJHPI
wufjxMv066O8DSMmpHA784dyGpkiubwmfTw9nz/eDVbPCHgIEzKlOfKZOzFEHQ3PvQ0Sw+NVMUXh
pYkoiRpNvOrU6nEdlRCr/ZpK2KUdXqd+Zn2WPuolMXAhIwbER12Y1YXEACJdbR6ccrkGKSXCc4dz
Te7auaY4nyxOMzcZv+iJMlkS2HYx68L+bJQVhy3n2BOcYfkMByE+Mb/w1x8jwZF13TFEI3JKqnTa
ZIoSpOM0kWvanHyXEIu6a2pFodTT7JQ82BACHaagdcFDoc2xfilsgwH1xMzYETGtQk/h7BDhsbEZ
Lm952XPzfByzKuDbYHKkz23tJl/p6jULbrtc+olOMYVqHXXXMrR5lAFVO7tYRhZjN/JlmhxvKctG
4KIOby1/lPR4DveaYcYPamJeRlhcKY4VC/bTJAuGiMtRCXXD3ra5k9+SyUCMgy+WlT2kdqeJeD8Q
mcl0em6ZTuOs1zf4763PThMMP4IqVvuePx3tVs6DKwg928iilt8A/1JyNN1cHLOKh0xIkd6Ca38Z
R49vbQ4M52iHKY/KmPMd9IVJN4RA6YmqJHNXgyIxcQX3MaJuGTxxncCLW2iSKCfqOqaa1SNbyoEL
rkkcvMltRuof//PjwdRlxivGsIb2zZt4pxLI5h6ruVd3ZAzoXZlmYl9PNQ+0oMJNAo9DBsFocuvK
AJ387In5RvozHRnKEuI+8vfBnWt/m3Y0sB+D4qCDg0lewcO0VAEakQx8MJsoYwYJfOLpGBQZlMDQ
fZ7bJAW/SGHdM1DZDl7AL8vrITz1cf+bWe2/q8p/WlWy6qKL+Perytv2R1JXf1pU/vojvy0qce7+
QlJoZOGcwYBHxf//9KaW7f7i+cj2Q2SYQIOWPNHfU0P9Xz409kvGFhu9jyXmb3pT1/oFwBq7z8Wu
iwDfjP6TTSVJOH/uh2F/MNcDswOMxvHQNv+01Mu7AVPlEIk7iFSIbdZoyhGHtEnu38Lodd1712/Y
qNWcge0ujhFJe6tpFP46j8d6UtcGLyWZfPliPupF3jsPaUhotPrqhaORm5zkLaz8RQmSzJU53fWQ
pb/DKZ5wqjI5h4zUWmlo8jRaNa+ROrXzkATpyE22JQfEaXni3h1Ox3oVdU34zbBzsVYE750CdK/Q
OBKiPuFyPHgwmPbJXM8bJyrM2zwX9eJK8Idh1dhtiWKlkC3PoOMajwjNvoXKT7HIM+NE4BJcgc2K
o4BrelG8e47B6A0vU0aJ6pL06K9QZKUPLf04u51a6bsRlmnEkzmV7dZBtGqgbGFYzJajkBtwr+m5
QRTCIZis+2Tyv4lp7B+70U+zKy8RA9SwDG5Fa7rTSguVinVBVsyaTJGUIjcCx7aipBCa8FEA/xuu
hH6KdV0RPgqpDWVhnHwCV4PRtqt1nGNoSMej8OP0PE9KPeENtry97yrzI81lyxiYJQVTg9LaYe2G
D42ORH7VrcIOmjQZVskAmqnRVRBxDS+E5FrGc3gb5hNxKU7hcktk7AsR5Kq0m0nx7rqWTiDQz/2g
G/+OT2KbazsfS1KNi1RtEOI4VEWtjy8oS9+DtsChAiz70Al32LF98DdIjIbNUKfBfTO7iiE/1v2N
rfv6nqqiPenajVdEllj3hhdRlo2lf4rdgD0LbGv/+yQZcCsemiuO/VmSllqzcl8l0N0tsK6GvLgJ
VNUbE31TIE/4QadQErhTsY7b8kW4cl2yF5N3lHNpfZxJfHcRrRAuCo05FH67GsrOvUwxYBGxStEQ
Ak2XFoPiTTnz7d0PHdhaiK9j8KmUFW1yYKhIfinaMcC8WndMu9MIYzaNYc1OWakFsmwnHfmqjOrZ
Zsok/V42AW+trAjIOSkg9BqXkYzPjm2tqq+dEYrLWPXp2Y+r6ZVJqc8J303QsSUN2BFFQUrnyFIY
xDCLIoyBWWGDWjNdgO+9xdh8PS3KwIO5pHdXiRB30CiseZ02Iz7NmoxPnuw4DOKVI7XoN0DgBvLH
Y8Rvl5nI30W46DrrOuVqbrCVjtaabQZ0h8yoouSOGBTBMJbYmOCGNIDpWnQeqN88GNgA4m3mjnNh
v2cBzWthBOJKunwBLjmOi3S1oJDaTVmE05NNGO++jwAKnZh0Psyqz+b7aDDejDmqeKYMvwbS62Xa
u/a10807LNNlv0sGXT8pZgyw4fVAlgtVRr13Y9lWe/5htqTEslA9cBLpTy4lR33EvNMzIy8K298X
ZmrzPiVl9OjUsn2HzvroDfQojiCe/NOYA/4/TDkg82Mba7UJpWGdna4zYQBm9j2VJ89j7EYZI8IP
3z1Vw4r5RbaflROeMur9HLK9odRFWVN9Rl1bzRt+E4meTLa3pLij4hNcq5ocnTnb2LPr3MMfM8ed
M6SMzKPMPtd+FW2dMDPQN5GFzsQ5RUxAIq3YmE5hc51zN8m+tU2QvWZmbzw6bTE+Lxrsdkud5/Ks
uYqxLjLnbWn5Rn9sEVuvSY8G4O2TdNue+RfIPrewBdLS2L4Elw20FrG+2xkefGPN1EaSxKILd2S/
DQyRZauZrDy/TZxVhd8YFHXr4JLvy4n4g5rRFHuNCqY5ROG4+Gwht/wyTojPuYVJgOhgLqKxNpGE
hlNwTzdhbZI+1pveTpsjtJLARHXLTLYwKJ7WtZrQB8ade6U9H9BPt6g7bqa2Jtmjn/1sHza189T0
6gmZPODxHqCktbFEXIRrVJx9txrGTA03bCet66yt7qHMasLPat5fyT2SnLi1F6K5nklUcmAtk6eM
/jKJT03HqXF1w9z6dbL733rqH+opB9MNFci/r6ceEcf/sZr67Qd+r6bMiLhUk5JpwaQtSqT/qaYs
9xfsBZA3IO4s5RQKs9+rKXux6CzOwD/YdgJy2ZfhKzhD71eZ2H8Qxv7hdv/DTBzTJ8QdE84uvnu8
kT/73uoGSSlSGn0TVbMx5+twkpp+AAHLl7J0nSMx4FDbxySRZ7be3XdL01EpQSaPbqr20DacDxjq
1V02DNG2FJZ6SNGZ35XSQrm0qguFmh+a/mQu040S4Ew8PRiBVlWzZgGJ4u0xjVVUysNQ8pb2k2lk
9k7OmnG7NLjlqW6zFvQkjOc6fHdkoMVwIOCOY+KYBAPPyjEOlJGdoiBsRiwdfMmfjKoO7C0pOra7
TbKpnc98l65DVRCrNXqMkZmRNP3VMs4lL8Gddf/Qlm65HqZCXOOyTPdNYM8OAhs/Bq1uc0Rzfh/4
UPWmmAfj25SW4nOYuW3D7jHN7smnufaqbY50SskurePhNbIQtbYdkdlkK7Vi7ZsZXRpiqSJYR2oO
7OpEyiL8jGRFIcsYckLn35yRXZUgJTLys65pko/GURGOrjd5biT6k8GSdzY3ZpID60Iriq5ub1OG
DfsRdVXfHCwTqjqJzyVwilw9+IUp2htJuVFxFUrcv+X4X0ffj6oXvf6nE4HGgz3Mvz8RvvxowZf2
fzoUfv2Z37Wg1i8u+zyeOsYJBLs5NGy/RzI7v1CQ0UOhV/RJK/b5Tb8fCihIOUJASgRYdf9k6XNt
dKI0Mji5ScOgQ/qPMpl/0mZyIHlLVjJ/Ib/EdX+Gw+IzG2aB8vBA8CaxkOxhVlnSOL9qif8tm/Xn
tWYIoIHPyMm3iGHZKf15mxQPY2M7dRKT6glKBdc+s5GQ2ugF76C6g/nsHIu5QZxez718/sP1+Be6
0OV6yT+cfnDnYSwjREKRSaPLl/3nX85Mq1BOHkaHxI3YGgQt2+pRWfxez2TbZzHjJ1ZD0qxUyNcx
KogfCsAGAT4tFsACpzorc0Yn/Qj62mmM5jTkSBI7so8MimMWniQxoSDDJnMzdEH8UJLBsvn/+BBg
uAGlox7mRvrpGzRbVzplP0eHZuYUgd4870oDQJwIJv3YOGjrYitHdmWUTA1pkuXzFKEV8OpkadxE
pCiHbXXHlC9cmeMs9tEyqiQxjxF0xKgyHJk7l2Lod5raBrnEMhj8+8/A6+wv1yEM/IVzBUb8L0Q8
VCxIZIMpAujEXL5lbryiDNT7oM7e//43/TQ1+LjivIQZYYeLU/Zn9IA3Wh2nOL/pY6H1oQfu/bA5
tT3bC7Ya5frvf99PD9HH74MgGboLsvKvDBLb6qqqNAp+X4IslRMFsxXxlP8ALfoX3x+EYwYiy3aY
6uKnWUjUclwUBFIeWpZD+5BvTRIgdsi78PPff5yPgOyfnhjPtlBt8+BRxfx8KGQJFKrFOHSwZ3Yk
86LHJe1c7LXmwmn2Y2hEUuatNYEqD3rZv6AEzAkmZMqfYjY7l57X3EN8YB3jj2xPpCVYPI4WGYBJ
wTi5Lhj2Cu7NxzFh7rt2ZpPJO2/xmRDGZWujJALH/8vduTWnjWxR+K+48g6l++VhpupwMbbj2JOM
J87kRaWxCRICCSQhEL/+fC0JB+HLyVT7QXVU8zAJpNXddO/evffaa0ESGl5kBIrvt9Y+vHh7kDUN
X2uUpLcBx4IWgIjEdU1csmOshad5Cypc0h38gLo6WM4SrlszL7vktgBZGHicAVioH7tF2huZ0YIb
N5Cgi8USaq9CXeXkgdL0ZhWFyC3lsU4NYKzcq4R/bky3NL7bcD/em2trnKpb7U/VhYl2kG4pVUkt
rhyaQvEYWlDwOhXB7q9gFmsjLsDlBLZ3dV7MvmPOUBLPTfN2ttFMZFETPDDLDfBOPG2sz6zwgjsu
ddZmuBzjAamTTE+cu9QzEaSllHkUq+sgH6xn3kPAwTNcZhEluKt9cbtaqFvU3ve2cb101gtcCsE9
UWigzgwCK9bGShaUCc+SiyhNoq85kRmwiIS6l2Xv1nRX5WNZlhkwuyAfzwioTUwPZaTB3EJDmWSR
NerZe+OzGejKHRzjy3t7FkQ/VmqQILGrIFVF+WBAZm+bCMcxDnbfKCYFfLxEftt0XeLm5Xx3vV+7
1q21AMyUO2HsDvRluL3d5DGFZPOF6SvrbEw4Yz4MvGjai3rOp1686KGoE87GPTu9wgOl15a6HoMF
udwVvfgm8VbeAArjbU4mEZkyaJInymp+LeZzlCzg4tRdhzKhBJ46dan/bQbWloKxgBBVtFxec20v
/+otolzjU2V/Qz2mtxiURUCuj/NlOF9uga8jintJmaDup2g+/TFnnuLLHFd0uLYz/S4yzuNgxYoo
yHls1rruU5WbnAMo7Y301Q7IpYiV/BWXGUpFiG3x0+zmg2yHJs+23JwHgf5Z84BVYNuKy5xigEFJ
yadDCar2iBj1cpQS6/yMTtCnED3dYY8M1KiYLYhieVQaEZLYDFOFWj6N0AOig8Zg7u5miGbOPpHw
+R4gnHwR5LnyxVP35Zhk4n2ZR4R14ni0JUM+7M0t92sOvwQl56l6be8226uYCrNBUiBStFSA4m+o
kRqQCvIGNjJvmCjCNeoy5r46T3Yfe87MnUTZjsxQz/H+7q2Cks7svHOCqsYwiITeHgm+gsVVbO0R
x1B0Hs4cSAHmwCVGG4r5J2kmCgX3CWpmPWpFU0qs/Dk13Z830L46g7iEvXqgaPPV7R6+C1Hyoa4/
llTQXwbxbnGh6iEAh4TtYvXKBKFqd418NBpDWw1NODtYD/Z5gPKBMo8f0sKYfZt76ubRsrPyGyDA
7dXScYrLqHBzEkUrxOGU3mqyziNvCCqsuNyo7C805shlQtNF8EGZ25kKn4Br79fwzVLSvFRmy8Gu
JwS0CyU+1xUtuETfnkwYurnDebmhulvfhBMVqr/rcJeA51eWOQE7/iiEpFcjbmXrK3dF4gix2XLS
s8BRVSlX9MPLH0WebpMbpaTeDorEYrgvyOqmIudKzTLV6jNOjgoECAqXqpiCdDwjTq8qjBkZR1S/
AoXEOsDp+727NW7RuFFu4DVATi7yiM2CO01A6wvgA3FsweYzTx8Cezc7p27RBoCXx9exSYa1p4jy
l2QVEOumjKIC9BPSULj9uaAoPFS+qfKE1Wu8U6zoy2JmAMQSSMkI+apR2MMv7JnAgBYRMA4QWWSS
BcYnycmFrgmBPe575FAXc+AJ85RBrle4X9YiodDDBUoBTdrqRg/AVNsCv0HxOoBnC7bJ0ZzQz9hF
CWMMgDS4dUWpiLnRtXEFEoADjXJqpGDJJhp7AZJ2F9n9DGZ+dL11ehKB9J8UBZTnXs+iXifXQY0P
82hujnWXmntV1BXs4yycrHINdOGcSkDXppoGX4V0vme5A/zI9KqwWK8qJRM/8IGLryEQqbGeAPwi
kAW6Ft9Gm6gEmCfA+syPeQqMsuQFwYhYKu6FZ5M/ROre/A5eHrQtiIH8C6Fk/g/JhS8EvNcj+JXU
b4BBP2YRUG67WCfU7Gjon+Iv6h/NnUJuDqOgphsdusu1cb4K1rvLJVlF6LjmwXmie8E4iTd3qgco
fJvDZWdGW3Nsw3aQejFZgCiYgakDvR5MmH47ekgNZx1ccyFeE1gtzXyQ7+JNOcjJi45SXUu9a9db
missKwwag9jRjOBmR63Wcv9/dmFtYnGCImZcXUQ/b6Zp+WWaITKbHWI94tOq3O0OjKm4rf7bL73d
0NnxFfgh2cS56MEsPM0Y4u62LsBVl6quvNXCwqfHm8fpbx90F34a/CxumCKqRVzrw9kiwZ+pP+65
hM1UAJu6a5A8FPnD6oVHU/TaJLw9vno23/5OawT+IyRJUHbkafiQH1/pQeJy4fqVSThp4uckkBk1
AfVS2WnWk0Ac4HgSbK71uPV1SShv6tDoiaZx15AavWX0VZiHbfJsTz/x8eiJdfQ1JhmJVa49XRu+
WLBSw9f5cWGNRIWHS8bxuB2r70BrTbUvrOjV07XRm3jdsqO3+1D1W9z8qdEVz8nShyodbiuuYapB
LEo8XZsEjQOxXpd1yOvJMD+3gq8aAKwgYSjAgtDPVQ8W5XgpCCyGZaK9AxPnYZa6tRFgzjtFm7xy
FLw1CZRpE/xBCKN+2pNA5TyQfQsZYKh0xdM5a1DTBspZAweQDN6eQune4ZdurQTF7BPWFSdi1zaC
So9/0R14fQ1okNxx0hkkR14avkNYnGpvOIfrfdBY3y4diNCjnGYF/u1O0Jy+KYLvVmPyhNE7XgSO
1oeHgnydI2QCebq3FnREOSSPhsryYxAUkZM8Hj70gn3yWmKHQKHBU1ueLi0CS9WkzaHDj4xoBwmY
apCnJ6Pr9IlbQgB2MJe4D906E1TDFiS8UvbQMBgl8XPClLXRf3Yywn1pQmAJhUj3xu+IbJbc+JU+
aEtxA2ruP6emwMV5dghOkMuon67NgqZjx2RnQesjWK1B/teciiyrY4uAa0DOSAHx2sxSbXu6ZBGQ
q5M9FvAScZOh8AXtWj0ns8CFgTuiTdliM0sd3BFUEcmvBcSiBNtRbfyfRQx0IgrQGImbafV0by3A
USZrF3WlDxyUYT75CO0d4ap9IclM2u/npbpbpwNqVKKMVco66pyBQMDBTDXuIg0e2wUXRwn8AlU0
zenRuR2hCRi75CyA+uCGTABNkHaJ5+SMtNU+/PJEEpq91yGziO6gIxtCMADECTEBl1tB9ZyYRRXo
HczZACP0zgUPQa2JOn6pTYCL5ED9Br7tZRfJMYkeQmtPKUe9PDpnEIV+sawpMKy+zq3RIBVbrwJ8
jpYpIMoIxIjLWf2mLm0CHYyn7CLATwQ/JTBk9fBPLKGNm2wj1aU0a6B7cXSoIoR+kNxWsAkPCAwZ
c1E/7UXA3IiaJtbAYRqqF3ZqLViCb0FqFnSux2iL2k/RxJPAMjyT0P5ThWVZ9VrpnkEwiKpKzoLB
T02kgGPh5VORIAqf6IRRfmaemPYOrQUdsyg7C7red2EZRWu0sQsnh6Oj4CcSTUOys6uHA8hGWQ9J
7Ai4N7k11Av+WSzF5s4ggmkk8w52o1trAYlaAU6VsgukGREOAdbbxM9f8BORdKRAAXqu6qmnvUM7
giInTXYtYBfQXRcq9S+vBRtCXUpbRditnoU6hNOhWaBeQ6svMhIZJ5PkInlFKlLqaTjxF4glgPrW
ROqt/rw+lLo0C1hH6eiaAcpe5JUP+/7kpBT+AicRfmWz+bo0fo4H6VVAAQJ13Abm/+lXbjnN5CWJ
ubEXmhR09/aCSWRU0i7qWH8VRSVCCU87/ngWbKcvzAXo+ubzf2EXf2HBPEF6hkG4eKzAPOE0ewnO
89oXDjCW5583EJbLx98+aJSctb4oylvqd//E+vzeysxVztDRhwfnqHpP88+bAT5/detdh1Ed/vIi
nKY+4L+y+qBsunnjL4EE/Wfh/+Mv/WOMDauTOf/Zk98+tPp59Pv/j4az6KRdgV6RbjcN90ncbhgN
j/do+FVNsNcLlJ5chLemYugvwh8JitmtXtd4DtnpgF8pSf3H5DB+sfjqzLh8y3E8fcjDh03earxC
YMk2Ppou/K2fTo9brlEN0i03qLGz5McZk7NZ/tOedlS732EVAphNw8fW74lVF7lo2f5Ppkk6a3e5
yfXLtnzBjIfhoYdioSBgLhLHsg1fPvpBawE2uUjpdhGbjJMwO/Sw6jLCipyL0k3Hj6F/YkXqpJF0
y8m2vSyotcPRkW3243O9wjrtLd0wDWweovLQxWqSgYW8wya5TgD7P5vmOh8j2+1Pfhi3rIeow3yH
Pr+lKSJ5DHzys8x/CDbZNM9ba7pJS0hPSfgQhDO/zTJUh7zlm+YsyJK8tbKbQLJ821kW8t9q1bJN
ZKyUdzCnn2ga6e/TpkUEXLrjlBuf2JAmwyLb8s30n9Q/8Z5ILgrmJ/mmC799bjWQSvmGt2cX/nKV
obTQ2pi0776DAbyZbs+upmk2bVkq8A4imv8enf803YUPrWOMxt/jRBc9/ztJo0M3hYVtcBrS/U7S
PDgb+mnCSdnenNy01cMbX6yt/yXX9aZ6wciPTvd+nT+Q7f9tELZnvA5FSzcbLfBI2rcarY5sSjf9
KpGb5OnwxzSOMyqK/JNrQhOFk+33lyB5nJ5dZs/0supQp2zzfyabVxZiE1d/nxc8X4ii+XfwB++Y
/WmWTVuWqwn9yXb9brprK03rdTBJtt3XOHAkF+IbRBqyLYfcbE6Wt16HlGTn4t7n3IlnSM0ebJ6w
sgD1jHcwgvfTLD/7+lLnwcG9w+K7DzNYprOw3XfLEvRB0hMDnx0Tc2iomhWhUH74i9eOhpciTU/5
uufxp0OF10v/rB1cE994WEz99Pf/AgAA//8=</cx:binary>
              </cx:geoCache>
            </cx:geography>
          </cx:layoutPr>
        </cx:series>
      </cx:plotAreaRegion>
    </cx:plotArea>
    <cx:legend pos="b" align="ctr" overlay="0">
      <cx:txPr>
        <a:bodyPr spcFirstLastPara="1" vertOverflow="ellipsis" horzOverflow="overflow" wrap="square" lIns="0" tIns="0" rIns="0" bIns="0" anchor="ctr" anchorCtr="1"/>
        <a:lstStyle/>
        <a:p>
          <a:pPr algn="ctr" rtl="0">
            <a:defRPr sz="1400" baseline="0"/>
          </a:pPr>
          <a:endParaRPr lang="en-US" sz="1400" b="0" i="0" u="none" strike="noStrike" baseline="0">
            <a:solidFill>
              <a:sysClr val="windowText" lastClr="000000">
                <a:lumMod val="65000"/>
                <a:lumOff val="35000"/>
              </a:sysClr>
            </a:solidFill>
            <a:latin typeface="Calibri"/>
          </a:endParaRPr>
        </a:p>
      </cx:txPr>
    </cx:legend>
  </cx:chart>
  <cx:fmtOvrs>
    <cx:fmtOvr idx="0">
      <cx:spPr>
        <a:solidFill>
          <a:schemeClr val="accent2"/>
        </a:solidFill>
      </cx:spPr>
    </cx:fmtOvr>
    <cx:fmtOvr idx="1">
      <cx:spPr>
        <a:solidFill>
          <a:schemeClr val="tx2"/>
        </a:solidFill>
      </cx:spPr>
    </cx:fmtOvr>
    <cx:fmtOvr idx="2">
      <cx:spPr>
        <a:solidFill>
          <a:schemeClr val="accent6"/>
        </a:solidFill>
      </cx:spPr>
    </cx:fmtOvr>
    <cx:fmtOvr idx="3">
      <cx:spPr>
        <a:solidFill>
          <a:schemeClr val="accent5"/>
        </a:solidFill>
      </cx:spPr>
    </cx:fmtOvr>
    <cx:fmtOvr idx="4">
      <cx:spPr>
        <a:solidFill>
          <a:schemeClr val="accent4"/>
        </a:solidFill>
      </cx:spPr>
    </cx:fmtOvr>
  </cx:fmtOvrs>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omments/modernComment_107_0.xml><?xml version="1.0" encoding="utf-8"?>
<p188:cmLst xmlns:a="http://schemas.openxmlformats.org/drawingml/2006/main" xmlns:r="http://schemas.openxmlformats.org/officeDocument/2006/relationships" xmlns:p188="http://schemas.microsoft.com/office/powerpoint/2018/8/main">
  <p188:cm id="{81C35B92-41B9-4FC9-B3D0-9EBCFA1277D5}" authorId="{E26B736C-FC25-51DB-4A87-F0E0B9C14A22}" status="resolved" created="2026-09-28T20:08:51.373" complete="100000">
    <pc:sldMkLst xmlns:pc="http://schemas.microsoft.com/office/powerpoint/2013/main/command">
      <pc:docMk/>
      <pc:sldMk cId="0" sldId="263"/>
    </pc:sldMkLst>
    <p188:replyLst>
      <p188:reply id="{513C6E1A-A8A0-48CF-A3CA-FFCDCFF34416}" authorId="{6726072F-1E7D-79D2-E104-C9BB7844CAB0}" created="2026-09-28T20:11:07.891">
        <p188:txBody>
          <a:bodyPr/>
          <a:lstStyle/>
          <a:p>
            <a:r>
              <a:rPr lang="en-US"/>
              <a:t>In this case, I don’t think so</a:t>
            </a:r>
          </a:p>
        </p188:txBody>
      </p188:reply>
      <p188:reply id="{B6985E1D-4E3B-4314-9FDC-F618ACD5B299}" authorId="{E26B736C-FC25-51DB-4A87-F0E0B9C14A22}" created="2026-09-28T20:15:27.392">
        <p188:txBody>
          <a:bodyPr/>
          <a:lstStyle/>
          <a:p>
            <a:r>
              <a:rPr lang="en-US"/>
              <a:t>Can you build something out that would help mitigate some of the risks mentioned in the previous slide?</a:t>
            </a:r>
          </a:p>
        </p188:txBody>
      </p188:reply>
      <p188:reply id="{2D0A3A74-7DF5-42B1-BAE6-5C64A29B44C9}" authorId="{6726072F-1E7D-79D2-E104-C9BB7844CAB0}" created="2026-09-28T21:50:04.326">
        <p188:txBody>
          <a:bodyPr/>
          <a:lstStyle/>
          <a:p>
            <a:r>
              <a:rPr lang="en-US"/>
              <a:t>Are you asking for an implementation strategy? Those risks are mitigated most clearly by that [@Chriqui, Josh] </a:t>
            </a:r>
          </a:p>
        </p188:txBody>
      </p188:reply>
    </p188:replyLst>
    <p188:txBody>
      <a:bodyPr/>
      <a:lstStyle/>
      <a:p>
        <a:r>
          <a:rPr lang="en-US"/>
          <a:t>Can you add a graphic that would fit to supplement the boxes?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breath: the CEO asked us to change the share-price trajectory and prove it can be done. Next slide is the answer. Do not narrate the journey; the appendix holds it.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Lead with the answer: three recommendations, each with a prize, a cost, and a date. We take them in order. Recommendations 1 and 2 bend and re-price the Internet print; Recommendation 3 opens a second revenue line the market has never modeled.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Problem Definition rubric points live here. Separate symptom from fundamentals out loud. If asked whether Winfrey is right that the stock is undervalued: probably, and that is why a strategic answer is required. The market has told us it does not take management's word.</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err="1"/>
              <a:t>Refusability</a:t>
            </a:r>
            <a:r>
              <a:rPr lang="en-US"/>
              <a:t>: action (build the engine and ratify the plays), scope (every Internet subscriber and disconnect), timeframe (Q4 2026 to Q1 2027), refusable (the CEO can say 'we know who it is'; ask to see the measured split). If challenged as 'just analysis': the analysis is two quarters and table stakes; the pre-commitment is the recommendation.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money slide. Two consequences: the plan does not need growth, it needs Q2 2027 to print better than the year before by more than the sell-side modeled; and because the market prices surprise, pre-committed and published responses have value in themselves.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Scope-boundary slide. Anticipate 'isn't this a communications patch?' The buyback redirect is a capital-allocation decision with cash consequences; re-segmentation changes what management is measured on; publishing triggers binds management. None is a press release. Class base-rate point: Winfrey loves 4x, Wall Street does not, because peers paid down debt.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message: the buyback stopped working as a signal. Do not argue buybacks were wrong historically. Argue the regime changed: the market prices the Internet print and the leverage base rate, and only one use of cash touches either.</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Kyle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Kyle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a:t>Comcast uses counties, states, and housing authorities to reach households it would otherwise have to sell one door at a time. On subsidy builds, the public partner pays to extend the network to unserved addresses, Comcast keeps and operates the plant, and the household is the customer who then buys Xfinity. On housing-authority deals, the authority or a state grant pays for connectivity inside public and affordable housing, so the resident gets service through the building rather than a store signup. In Marin County, the grant covers up to $20 a month for interested residents. In Massachusetts, the award funds income-eligible plans and common-area Wi-Fi across thousands of units. The consumer is still the end user. The institution that controls the address, the subsidy, or the building is the door.</a:t>
            </a:r>
          </a:p>
        </p:txBody>
      </p:sp>
      <p:sp>
        <p:nvSpPr>
          <p:cNvPr id="4" name="Slide Number Placeholder 3"/>
          <p:cNvSpPr>
            <a:spLocks noGrp="1"/>
          </p:cNvSpPr>
          <p:nvPr>
            <p:ph type="sldNum" sz="quarter" idx="5"/>
          </p:nvPr>
        </p:nvSpPr>
        <p:spPr/>
        <p:txBody>
          <a:bodyPr/>
          <a:lstStyle/>
          <a:p>
            <a:fld id="{871B2431-D351-4C6E-A3CF-9DFAC0E3E050}" type="slidenum">
              <a:rPr lang="cs-CZ" smtClean="0"/>
              <a:t>57</a:t>
            </a:fld>
            <a:endParaRPr lang="cs-CZ"/>
          </a:p>
        </p:txBody>
      </p:sp>
    </p:spTree>
    <p:extLst>
      <p:ext uri="{BB962C8B-B14F-4D97-AF65-F5344CB8AC3E}">
        <p14:creationId xmlns:p14="http://schemas.microsoft.com/office/powerpoint/2010/main" val="13013403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2892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slide" Target="slide1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6.xml"/></Relationships>
</file>

<file path=ppt/slides/_rels/slide12.xml.rels><?xml version="1.0" encoding="UTF-8" standalone="yes"?>
<Relationships xmlns="http://schemas.openxmlformats.org/package/2006/relationships"><Relationship Id="rId13" Type="http://schemas.openxmlformats.org/officeDocument/2006/relationships/slide" Target="slide22.xml"/><Relationship Id="rId18" Type="http://schemas.openxmlformats.org/officeDocument/2006/relationships/slide" Target="slide27.xml"/><Relationship Id="rId26" Type="http://schemas.openxmlformats.org/officeDocument/2006/relationships/slide" Target="slide35.xml"/><Relationship Id="rId39" Type="http://schemas.openxmlformats.org/officeDocument/2006/relationships/slide" Target="slide48.xml"/><Relationship Id="rId21" Type="http://schemas.openxmlformats.org/officeDocument/2006/relationships/slide" Target="slide30.xml"/><Relationship Id="rId34" Type="http://schemas.openxmlformats.org/officeDocument/2006/relationships/slide" Target="slide43.xml"/><Relationship Id="rId42" Type="http://schemas.openxmlformats.org/officeDocument/2006/relationships/slide" Target="slide51.xml"/><Relationship Id="rId47" Type="http://schemas.openxmlformats.org/officeDocument/2006/relationships/slide" Target="slide56.xml"/><Relationship Id="rId50" Type="http://schemas.openxmlformats.org/officeDocument/2006/relationships/slide" Target="slide59.xml"/><Relationship Id="rId55" Type="http://schemas.openxmlformats.org/officeDocument/2006/relationships/slide" Target="slide12.xml"/><Relationship Id="rId7" Type="http://schemas.openxmlformats.org/officeDocument/2006/relationships/slide" Target="slide16.xml"/><Relationship Id="rId2" Type="http://schemas.openxmlformats.org/officeDocument/2006/relationships/notesSlide" Target="../notesSlides/notesSlide11.xml"/><Relationship Id="rId16" Type="http://schemas.openxmlformats.org/officeDocument/2006/relationships/slide" Target="slide25.xml"/><Relationship Id="rId29" Type="http://schemas.openxmlformats.org/officeDocument/2006/relationships/slide" Target="slide38.xml"/><Relationship Id="rId11" Type="http://schemas.openxmlformats.org/officeDocument/2006/relationships/slide" Target="slide20.xml"/><Relationship Id="rId24" Type="http://schemas.openxmlformats.org/officeDocument/2006/relationships/slide" Target="slide33.xml"/><Relationship Id="rId32" Type="http://schemas.openxmlformats.org/officeDocument/2006/relationships/slide" Target="slide41.xml"/><Relationship Id="rId37" Type="http://schemas.openxmlformats.org/officeDocument/2006/relationships/slide" Target="slide46.xml"/><Relationship Id="rId40" Type="http://schemas.openxmlformats.org/officeDocument/2006/relationships/slide" Target="slide49.xml"/><Relationship Id="rId45" Type="http://schemas.openxmlformats.org/officeDocument/2006/relationships/slide" Target="slide54.xml"/><Relationship Id="rId53" Type="http://schemas.openxmlformats.org/officeDocument/2006/relationships/slide" Target="slide62.xml"/><Relationship Id="rId5" Type="http://schemas.openxmlformats.org/officeDocument/2006/relationships/slide" Target="slide14.xml"/><Relationship Id="rId10" Type="http://schemas.openxmlformats.org/officeDocument/2006/relationships/slide" Target="slide19.xml"/><Relationship Id="rId19" Type="http://schemas.openxmlformats.org/officeDocument/2006/relationships/slide" Target="slide28.xml"/><Relationship Id="rId31" Type="http://schemas.openxmlformats.org/officeDocument/2006/relationships/slide" Target="slide40.xml"/><Relationship Id="rId44" Type="http://schemas.openxmlformats.org/officeDocument/2006/relationships/slide" Target="slide53.xml"/><Relationship Id="rId52" Type="http://schemas.openxmlformats.org/officeDocument/2006/relationships/slide" Target="slide61.xml"/><Relationship Id="rId4" Type="http://schemas.openxmlformats.org/officeDocument/2006/relationships/slide" Target="slide13.xml"/><Relationship Id="rId9" Type="http://schemas.openxmlformats.org/officeDocument/2006/relationships/slide" Target="slide18.xml"/><Relationship Id="rId14" Type="http://schemas.openxmlformats.org/officeDocument/2006/relationships/slide" Target="slide23.xml"/><Relationship Id="rId22" Type="http://schemas.openxmlformats.org/officeDocument/2006/relationships/slide" Target="slide31.xml"/><Relationship Id="rId27" Type="http://schemas.openxmlformats.org/officeDocument/2006/relationships/slide" Target="slide36.xml"/><Relationship Id="rId30" Type="http://schemas.openxmlformats.org/officeDocument/2006/relationships/slide" Target="slide39.xml"/><Relationship Id="rId35" Type="http://schemas.openxmlformats.org/officeDocument/2006/relationships/slide" Target="slide44.xml"/><Relationship Id="rId43" Type="http://schemas.openxmlformats.org/officeDocument/2006/relationships/slide" Target="slide52.xml"/><Relationship Id="rId48" Type="http://schemas.openxmlformats.org/officeDocument/2006/relationships/slide" Target="slide57.xml"/><Relationship Id="rId8" Type="http://schemas.openxmlformats.org/officeDocument/2006/relationships/slide" Target="slide17.xml"/><Relationship Id="rId51" Type="http://schemas.openxmlformats.org/officeDocument/2006/relationships/slide" Target="slide60.xml"/><Relationship Id="rId3" Type="http://schemas.openxmlformats.org/officeDocument/2006/relationships/image" Target="../media/image1.jpeg"/><Relationship Id="rId12" Type="http://schemas.openxmlformats.org/officeDocument/2006/relationships/slide" Target="slide21.xml"/><Relationship Id="rId17" Type="http://schemas.openxmlformats.org/officeDocument/2006/relationships/slide" Target="slide26.xml"/><Relationship Id="rId25" Type="http://schemas.openxmlformats.org/officeDocument/2006/relationships/slide" Target="slide34.xml"/><Relationship Id="rId33" Type="http://schemas.openxmlformats.org/officeDocument/2006/relationships/slide" Target="slide42.xml"/><Relationship Id="rId38" Type="http://schemas.openxmlformats.org/officeDocument/2006/relationships/slide" Target="slide47.xml"/><Relationship Id="rId46" Type="http://schemas.openxmlformats.org/officeDocument/2006/relationships/slide" Target="slide55.xml"/><Relationship Id="rId20" Type="http://schemas.openxmlformats.org/officeDocument/2006/relationships/slide" Target="slide29.xml"/><Relationship Id="rId41" Type="http://schemas.openxmlformats.org/officeDocument/2006/relationships/slide" Target="slide50.xml"/><Relationship Id="rId54"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5.xml"/><Relationship Id="rId15" Type="http://schemas.openxmlformats.org/officeDocument/2006/relationships/slide" Target="slide24.xml"/><Relationship Id="rId23" Type="http://schemas.openxmlformats.org/officeDocument/2006/relationships/slide" Target="slide32.xml"/><Relationship Id="rId28" Type="http://schemas.openxmlformats.org/officeDocument/2006/relationships/slide" Target="slide37.xml"/><Relationship Id="rId36" Type="http://schemas.openxmlformats.org/officeDocument/2006/relationships/slide" Target="slide45.xml"/><Relationship Id="rId49" Type="http://schemas.openxmlformats.org/officeDocument/2006/relationships/slide" Target="slide58.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5.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5.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4.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6.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image" Target="../media/image1.jpeg"/><Relationship Id="rId7" Type="http://schemas.openxmlformats.org/officeDocument/2006/relationships/slide" Target="slide7.xml"/><Relationship Id="rId12" Type="http://schemas.openxmlformats.org/officeDocument/2006/relationships/slide" Target="slide12.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4.xml"/><Relationship Id="rId10" Type="http://schemas.openxmlformats.org/officeDocument/2006/relationships/slide" Target="slide26.xml"/><Relationship Id="rId4" Type="http://schemas.openxmlformats.org/officeDocument/2006/relationships/slide" Target="slide5.xml"/><Relationship Id="rId9" Type="http://schemas.openxmlformats.org/officeDocument/2006/relationships/slide" Target="slide30.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6.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5.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3.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3.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3.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11.xml"/></Relationships>
</file>

<file path=ppt/slides/_rels/slide4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chart" Target="../charts/chart6.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chart" Target="../charts/chart7.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chart" Target="../charts/chart8.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chart" Target="../charts/chart9.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chart" Target="../charts/chart10.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5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5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microsoft.com/office/2014/relationships/chartEx" Target="../charts/chartEx1.xml"/><Relationship Id="rId4" Type="http://schemas.openxmlformats.org/officeDocument/2006/relationships/slide" Target="slide12.xml"/></Relationships>
</file>

<file path=ppt/slides/_rels/slide5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5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5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hyperlink" Target="https://www.fool.com/investing/2026/05/07/where-are-comcast-and-charters-internet-customers/" TargetMode="External"/><Relationship Id="rId7" Type="http://schemas.openxmlformats.org/officeDocument/2006/relationships/hyperlink" Target="https://simplywall.st/stocks/us/media/nasdaq-chtr/charter-communications/news/did-cfo-exit-just-shift-charter-communications-chtr-investme" TargetMode="External"/><Relationship Id="rId2" Type="http://schemas.openxmlformats.org/officeDocument/2006/relationships/hyperlink" Target="https://www.fool.com/investing/2026/04/24/why-charter-communications-stock-plummeted-today/" TargetMode="External"/><Relationship Id="rId1" Type="http://schemas.openxmlformats.org/officeDocument/2006/relationships/slideLayout" Target="../slideLayouts/slideLayout7.xml"/><Relationship Id="rId6" Type="http://schemas.openxmlformats.org/officeDocument/2006/relationships/hyperlink" Target="https://simplywall.st/stocks/us/media/nasdaq-chtr/charter-communications/news/charter-communications-chtr-stock-faces-margin-pressure-as-q" TargetMode="External"/><Relationship Id="rId5" Type="http://schemas.openxmlformats.org/officeDocument/2006/relationships/hyperlink" Target="https://simplywall.st/stocks/us/media/nasdaq-chtr/charter-communications" TargetMode="External"/><Relationship Id="rId10" Type="http://schemas.openxmlformats.org/officeDocument/2006/relationships/slide" Target="slide12.xml"/><Relationship Id="rId4" Type="http://schemas.openxmlformats.org/officeDocument/2006/relationships/hyperlink" Target="https://www.fool.com/investing/2026/07/02/coreweave-is-about-to-join-the-nasdaq-100-heres-wh/" TargetMode="External"/><Relationship Id="rId9" Type="http://schemas.openxmlformats.org/officeDocument/2006/relationships/slide" Target="slide8.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8.xml"/></Relationships>
</file>

<file path=ppt/slides/_rels/slide5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5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slide" Target="slide61.xml"/></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slide" Target="slide62.xml"/></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slide" Target="slide2.xml"/><Relationship Id="rId4" Type="http://schemas.openxmlformats.org/officeDocument/2006/relationships/slide" Target="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1234440" y="1747361"/>
            <a:ext cx="15910560" cy="584359"/>
            <a:chOff x="0" y="-47625"/>
            <a:chExt cx="21214080" cy="779145"/>
          </a:xfrm>
        </p:grpSpPr>
        <p:sp>
          <p:nvSpPr>
            <p:cNvPr id="5" name="Freeform 5"/>
            <p:cNvSpPr/>
            <p:nvPr/>
          </p:nvSpPr>
          <p:spPr>
            <a:xfrm>
              <a:off x="0" y="0"/>
              <a:ext cx="21214080" cy="731520"/>
            </a:xfrm>
            <a:custGeom>
              <a:avLst/>
              <a:gdLst/>
              <a:ahLst/>
              <a:cxnLst/>
              <a:rect l="l" t="t" r="r" b="b"/>
              <a:pathLst>
                <a:path w="21214080" h="731520">
                  <a:moveTo>
                    <a:pt x="0" y="0"/>
                  </a:moveTo>
                  <a:lnTo>
                    <a:pt x="21214080" y="0"/>
                  </a:lnTo>
                  <a:lnTo>
                    <a:pt x="21214080" y="731520"/>
                  </a:lnTo>
                  <a:lnTo>
                    <a:pt x="0" y="731520"/>
                  </a:lnTo>
                  <a:close/>
                </a:path>
              </a:pathLst>
            </a:custGeom>
            <a:blipFill>
              <a:blip r:embed="rId3">
                <a:alphaModFix amt="0"/>
              </a:blip>
              <a:stretch>
                <a:fillRect t="-515066" b="-515066"/>
              </a:stretch>
            </a:blipFill>
          </p:spPr>
          <p:txBody>
            <a:bodyPr/>
            <a:lstStyle/>
            <a:p>
              <a:endParaRPr lang="en-US"/>
            </a:p>
          </p:txBody>
        </p:sp>
        <p:sp>
          <p:nvSpPr>
            <p:cNvPr id="6" name="TextBox 6"/>
            <p:cNvSpPr txBox="1"/>
            <p:nvPr/>
          </p:nvSpPr>
          <p:spPr>
            <a:xfrm>
              <a:off x="0" y="-47625"/>
              <a:ext cx="21214080" cy="779144"/>
            </a:xfrm>
            <a:prstGeom prst="rect">
              <a:avLst/>
            </a:prstGeom>
          </p:spPr>
          <p:txBody>
            <a:bodyPr lIns="0" tIns="0" rIns="0" bIns="0" rtlCol="0" anchor="ctr"/>
            <a:lstStyle/>
            <a:p>
              <a:pPr algn="l">
                <a:lnSpc>
                  <a:spcPts val="2340"/>
                </a:lnSpc>
              </a:pPr>
              <a:r>
                <a:rPr lang="en-US" sz="1950" b="1" spc="449">
                  <a:solidFill>
                    <a:schemeClr val="tx2">
                      <a:lumMod val="50000"/>
                    </a:schemeClr>
                  </a:solidFill>
                  <a:latin typeface="Calibri"/>
                  <a:ea typeface="Calibri"/>
                  <a:cs typeface="Calibri"/>
                  <a:sym typeface="Calibri"/>
                </a:rPr>
                <a:t>A STRATEGY ENGAGEMENT FOR THE OFFICE OF THE CEO  ·  CHARTER COMMUNICATIONS</a:t>
              </a:r>
            </a:p>
          </p:txBody>
        </p:sp>
      </p:grpSp>
      <p:grpSp>
        <p:nvGrpSpPr>
          <p:cNvPr id="7" name="Group 7"/>
          <p:cNvGrpSpPr/>
          <p:nvPr/>
        </p:nvGrpSpPr>
        <p:grpSpPr>
          <a:xfrm>
            <a:off x="1234440" y="2361723"/>
            <a:ext cx="15910560" cy="1997625"/>
            <a:chOff x="0" y="-142876"/>
            <a:chExt cx="21214080" cy="2663501"/>
          </a:xfrm>
        </p:grpSpPr>
        <p:sp>
          <p:nvSpPr>
            <p:cNvPr id="8" name="Freeform 8"/>
            <p:cNvSpPr/>
            <p:nvPr/>
          </p:nvSpPr>
          <p:spPr>
            <a:xfrm>
              <a:off x="0" y="0"/>
              <a:ext cx="21214080" cy="1767334"/>
            </a:xfrm>
            <a:custGeom>
              <a:avLst/>
              <a:gdLst/>
              <a:ahLst/>
              <a:cxnLst/>
              <a:rect l="l" t="t" r="r" b="b"/>
              <a:pathLst>
                <a:path w="21214080" h="1767334">
                  <a:moveTo>
                    <a:pt x="0" y="0"/>
                  </a:moveTo>
                  <a:lnTo>
                    <a:pt x="21214080" y="0"/>
                  </a:lnTo>
                  <a:lnTo>
                    <a:pt x="21214080" y="1767334"/>
                  </a:lnTo>
                  <a:lnTo>
                    <a:pt x="0" y="1767334"/>
                  </a:lnTo>
                  <a:close/>
                </a:path>
              </a:pathLst>
            </a:custGeom>
            <a:blipFill>
              <a:blip r:embed="rId3">
                <a:alphaModFix amt="0"/>
              </a:blip>
              <a:stretch>
                <a:fillRect t="-187322" b="-180452"/>
              </a:stretch>
            </a:blipFill>
          </p:spPr>
          <p:txBody>
            <a:bodyPr/>
            <a:lstStyle/>
            <a:p>
              <a:endParaRPr lang="en-US"/>
            </a:p>
          </p:txBody>
        </p:sp>
        <p:sp>
          <p:nvSpPr>
            <p:cNvPr id="9" name="TextBox 9"/>
            <p:cNvSpPr txBox="1"/>
            <p:nvPr/>
          </p:nvSpPr>
          <p:spPr>
            <a:xfrm>
              <a:off x="0" y="-142876"/>
              <a:ext cx="21214080" cy="2663501"/>
            </a:xfrm>
            <a:prstGeom prst="rect">
              <a:avLst/>
            </a:prstGeom>
          </p:spPr>
          <p:txBody>
            <a:bodyPr lIns="0" tIns="0" rIns="0" bIns="0" rtlCol="0" anchor="ctr"/>
            <a:lstStyle/>
            <a:p>
              <a:pPr algn="l">
                <a:lnSpc>
                  <a:spcPts val="7920"/>
                </a:lnSpc>
              </a:pPr>
              <a:r>
                <a:rPr lang="en-US" sz="12000" b="1">
                  <a:solidFill>
                    <a:srgbClr val="FCFBF7"/>
                  </a:solidFill>
                  <a:latin typeface="Calibri"/>
                  <a:ea typeface="Calibri"/>
                  <a:cs typeface="Calibri"/>
                  <a:sym typeface="Calibri"/>
                </a:rPr>
                <a:t>Changing the Trajectory</a:t>
              </a:r>
            </a:p>
          </p:txBody>
        </p:sp>
      </p:grpSp>
      <p:grpSp>
        <p:nvGrpSpPr>
          <p:cNvPr id="10" name="Group 10"/>
          <p:cNvGrpSpPr/>
          <p:nvPr/>
        </p:nvGrpSpPr>
        <p:grpSpPr>
          <a:xfrm>
            <a:off x="1234440" y="3840480"/>
            <a:ext cx="15910560" cy="1288733"/>
            <a:chOff x="0" y="0"/>
            <a:chExt cx="21214080" cy="1718310"/>
          </a:xfrm>
        </p:grpSpPr>
        <p:sp>
          <p:nvSpPr>
            <p:cNvPr id="11" name="Freeform 11"/>
            <p:cNvSpPr/>
            <p:nvPr/>
          </p:nvSpPr>
          <p:spPr>
            <a:xfrm>
              <a:off x="0" y="0"/>
              <a:ext cx="21214080" cy="1097280"/>
            </a:xfrm>
            <a:custGeom>
              <a:avLst/>
              <a:gdLst/>
              <a:ahLst/>
              <a:cxnLst/>
              <a:rect l="l" t="t" r="r" b="b"/>
              <a:pathLst>
                <a:path w="21214080" h="1097280">
                  <a:moveTo>
                    <a:pt x="0" y="0"/>
                  </a:moveTo>
                  <a:lnTo>
                    <a:pt x="21214080" y="0"/>
                  </a:lnTo>
                  <a:lnTo>
                    <a:pt x="21214080" y="1097280"/>
                  </a:lnTo>
                  <a:lnTo>
                    <a:pt x="0" y="1097280"/>
                  </a:lnTo>
                  <a:close/>
                </a:path>
              </a:pathLst>
            </a:custGeom>
            <a:blipFill>
              <a:blip r:embed="rId3">
                <a:alphaModFix amt="0"/>
              </a:blip>
              <a:stretch>
                <a:fillRect t="-326710" b="-326710"/>
              </a:stretch>
            </a:blipFill>
          </p:spPr>
          <p:txBody>
            <a:bodyPr/>
            <a:lstStyle/>
            <a:p>
              <a:endParaRPr lang="en-US"/>
            </a:p>
          </p:txBody>
        </p:sp>
        <p:sp>
          <p:nvSpPr>
            <p:cNvPr id="12" name="TextBox 12"/>
            <p:cNvSpPr txBox="1"/>
            <p:nvPr/>
          </p:nvSpPr>
          <p:spPr>
            <a:xfrm>
              <a:off x="0" y="554355"/>
              <a:ext cx="21214080" cy="1163955"/>
            </a:xfrm>
            <a:prstGeom prst="rect">
              <a:avLst/>
            </a:prstGeom>
          </p:spPr>
          <p:txBody>
            <a:bodyPr lIns="0" tIns="0" rIns="0" bIns="0" rtlCol="0" anchor="ctr"/>
            <a:lstStyle/>
            <a:p>
              <a:pPr algn="l">
                <a:lnSpc>
                  <a:spcPts val="3960"/>
                </a:lnSpc>
              </a:pPr>
              <a:r>
                <a:rPr lang="en-US" sz="3300">
                  <a:solidFill>
                    <a:srgbClr val="EAF0F8"/>
                  </a:solidFill>
                  <a:latin typeface="Calibri"/>
                  <a:ea typeface="Calibri"/>
                  <a:cs typeface="Calibri"/>
                  <a:sym typeface="Calibri"/>
                </a:rPr>
                <a:t>Three recommendations to change how Wall Street prices Charter’s stock</a:t>
              </a:r>
            </a:p>
          </p:txBody>
        </p:sp>
      </p:grpSp>
      <p:sp>
        <p:nvSpPr>
          <p:cNvPr id="13" name="AutoShape 13"/>
          <p:cNvSpPr/>
          <p:nvPr/>
        </p:nvSpPr>
        <p:spPr>
          <a:xfrm rot="53400">
            <a:off x="1210447" y="5129212"/>
            <a:ext cx="3065516" cy="0"/>
          </a:xfrm>
          <a:prstGeom prst="line">
            <a:avLst/>
          </a:prstGeom>
          <a:ln w="28575" cap="rnd">
            <a:solidFill>
              <a:srgbClr val="0099D8"/>
            </a:solidFill>
            <a:prstDash val="solid"/>
            <a:headEnd type="none" w="sm" len="sm"/>
            <a:tailEnd type="none" w="sm" len="sm"/>
          </a:ln>
        </p:spPr>
        <p:txBody>
          <a:bodyPr/>
          <a:lstStyle/>
          <a:p>
            <a:endParaRPr lang="en-US"/>
          </a:p>
        </p:txBody>
      </p:sp>
      <p:grpSp>
        <p:nvGrpSpPr>
          <p:cNvPr id="14" name="Group 14"/>
          <p:cNvGrpSpPr/>
          <p:nvPr/>
        </p:nvGrpSpPr>
        <p:grpSpPr>
          <a:xfrm>
            <a:off x="10433305" y="9446251"/>
            <a:ext cx="7100316" cy="597932"/>
            <a:chOff x="-103631" y="-91439"/>
            <a:chExt cx="21866351" cy="2004250"/>
          </a:xfrm>
        </p:grpSpPr>
        <p:sp>
          <p:nvSpPr>
            <p:cNvPr id="15" name="Freeform 15"/>
            <p:cNvSpPr/>
            <p:nvPr/>
          </p:nvSpPr>
          <p:spPr>
            <a:xfrm>
              <a:off x="0" y="0"/>
              <a:ext cx="18288000" cy="731520"/>
            </a:xfrm>
            <a:custGeom>
              <a:avLst/>
              <a:gdLst/>
              <a:ahLst/>
              <a:cxnLst/>
              <a:rect l="l" t="t" r="r" b="b"/>
              <a:pathLst>
                <a:path w="18288000" h="731520">
                  <a:moveTo>
                    <a:pt x="0" y="0"/>
                  </a:moveTo>
                  <a:lnTo>
                    <a:pt x="18288000" y="0"/>
                  </a:lnTo>
                  <a:lnTo>
                    <a:pt x="18288000" y="731520"/>
                  </a:lnTo>
                  <a:lnTo>
                    <a:pt x="0" y="731520"/>
                  </a:lnTo>
                  <a:close/>
                </a:path>
              </a:pathLst>
            </a:custGeom>
            <a:blipFill>
              <a:blip r:embed="rId3">
                <a:alphaModFix amt="0"/>
              </a:blip>
              <a:stretch>
                <a:fillRect t="-437125" b="-437125"/>
              </a:stretch>
            </a:blipFill>
          </p:spPr>
          <p:txBody>
            <a:bodyPr/>
            <a:lstStyle/>
            <a:p>
              <a:endParaRPr lang="en-US"/>
            </a:p>
          </p:txBody>
        </p:sp>
        <p:sp>
          <p:nvSpPr>
            <p:cNvPr id="16" name="TextBox 16"/>
            <p:cNvSpPr txBox="1"/>
            <p:nvPr/>
          </p:nvSpPr>
          <p:spPr>
            <a:xfrm>
              <a:off x="-103631" y="-91439"/>
              <a:ext cx="21866351" cy="2004250"/>
            </a:xfrm>
            <a:prstGeom prst="rect">
              <a:avLst/>
            </a:prstGeom>
          </p:spPr>
          <p:txBody>
            <a:bodyPr lIns="0" tIns="0" rIns="0" bIns="0" rtlCol="0" anchor="ctr"/>
            <a:lstStyle/>
            <a:p>
              <a:pPr algn="r">
                <a:lnSpc>
                  <a:spcPts val="2520"/>
                </a:lnSpc>
              </a:pPr>
              <a:r>
                <a:rPr lang="en-US" sz="2100" b="1">
                  <a:solidFill>
                    <a:srgbClr val="FCFBF7"/>
                  </a:solidFill>
                  <a:latin typeface="Calibri"/>
                  <a:ea typeface="Calibri"/>
                  <a:cs typeface="Calibri"/>
                  <a:sym typeface="Calibri"/>
                </a:rPr>
                <a:t>Josh Chriqui · </a:t>
              </a:r>
              <a:r>
                <a:rPr lang="en-US" sz="2100" b="1">
                  <a:solidFill>
                    <a:srgbClr val="FCFBF7"/>
                  </a:solidFill>
                  <a:ea typeface="Calibri"/>
                  <a:cs typeface="Calibri"/>
                  <a:sym typeface="Calibri"/>
                </a:rPr>
                <a:t>Justin Robinson · </a:t>
              </a:r>
              <a:r>
                <a:rPr lang="en-US" sz="2100" b="1">
                  <a:solidFill>
                    <a:srgbClr val="FCFBF7"/>
                  </a:solidFill>
                  <a:latin typeface="Calibri"/>
                  <a:ea typeface="Calibri"/>
                  <a:cs typeface="Calibri"/>
                  <a:sym typeface="Calibri"/>
                </a:rPr>
                <a:t>Kishore Reddy · Kyle Conger</a:t>
              </a:r>
            </a:p>
          </p:txBody>
        </p:sp>
      </p:grpSp>
      <p:grpSp>
        <p:nvGrpSpPr>
          <p:cNvPr id="29" name="Group 29"/>
          <p:cNvGrpSpPr/>
          <p:nvPr/>
        </p:nvGrpSpPr>
        <p:grpSpPr>
          <a:xfrm>
            <a:off x="754380" y="9539477"/>
            <a:ext cx="16047720" cy="411480"/>
            <a:chOff x="0" y="0"/>
            <a:chExt cx="21396960" cy="548640"/>
          </a:xfrm>
        </p:grpSpPr>
        <p:sp>
          <p:nvSpPr>
            <p:cNvPr id="30" name="Freeform 3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solidFill>
                  <a:schemeClr val="bg1"/>
                </a:solidFill>
              </a:endParaRPr>
            </a:p>
          </p:txBody>
        </p:sp>
        <p:sp>
          <p:nvSpPr>
            <p:cNvPr id="31" name="TextBox 3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chemeClr val="bg1"/>
                  </a:solidFill>
                  <a:latin typeface="Calibri"/>
                  <a:ea typeface="Calibri"/>
                  <a:cs typeface="Calibri"/>
                  <a:sym typeface="Calibri"/>
                </a:rPr>
                <a:t>Changing the Trajectory  ·  Charter Communications (CHTR) </a:t>
              </a:r>
            </a:p>
          </p:txBody>
        </p:sp>
      </p:grpSp>
    </p:spTree>
    <p:extLst>
      <p:ext uri="{BB962C8B-B14F-4D97-AF65-F5344CB8AC3E}">
        <p14:creationId xmlns:p14="http://schemas.microsoft.com/office/powerpoint/2010/main" val="186103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THE ANSWER</a:t>
              </a:r>
            </a:p>
          </p:txBody>
        </p:sp>
      </p:grpSp>
      <p:grpSp>
        <p:nvGrpSpPr>
          <p:cNvPr id="5" name="Group 5"/>
          <p:cNvGrpSpPr/>
          <p:nvPr/>
        </p:nvGrpSpPr>
        <p:grpSpPr>
          <a:xfrm>
            <a:off x="10617319" y="426341"/>
            <a:ext cx="6939161" cy="665244"/>
            <a:chOff x="-1571255" y="-16761"/>
            <a:chExt cx="9252215" cy="886992"/>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1571255" y="-16761"/>
              <a:ext cx="9252215" cy="886992"/>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774192"/>
            <a:ext cx="16733520" cy="666750"/>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Three Moves Change the Trajectory</a:t>
            </a:r>
          </a:p>
        </p:txBody>
      </p:sp>
      <p:grpSp>
        <p:nvGrpSpPr>
          <p:cNvPr id="9" name="Group 9"/>
          <p:cNvGrpSpPr/>
          <p:nvPr/>
        </p:nvGrpSpPr>
        <p:grpSpPr>
          <a:xfrm>
            <a:off x="744855" y="1442179"/>
            <a:ext cx="16821150" cy="1742506"/>
            <a:chOff x="0" y="0"/>
            <a:chExt cx="22428200" cy="1579880"/>
          </a:xfrm>
        </p:grpSpPr>
        <p:sp>
          <p:nvSpPr>
            <p:cNvPr id="10" name="Freeform 10"/>
            <p:cNvSpPr/>
            <p:nvPr/>
          </p:nvSpPr>
          <p:spPr>
            <a:xfrm>
              <a:off x="0" y="0"/>
              <a:ext cx="22428200" cy="1579880"/>
            </a:xfrm>
            <a:custGeom>
              <a:avLst/>
              <a:gdLst/>
              <a:ahLst/>
              <a:cxnLst/>
              <a:rect l="l" t="t" r="r" b="b"/>
              <a:pathLst>
                <a:path w="22428200" h="1579880">
                  <a:moveTo>
                    <a:pt x="0" y="148717"/>
                  </a:moveTo>
                  <a:cubicBezTo>
                    <a:pt x="0" y="66548"/>
                    <a:pt x="66548" y="0"/>
                    <a:pt x="148717" y="0"/>
                  </a:cubicBezTo>
                  <a:lnTo>
                    <a:pt x="22279483" y="0"/>
                  </a:lnTo>
                  <a:cubicBezTo>
                    <a:pt x="22361652" y="0"/>
                    <a:pt x="22428200" y="66548"/>
                    <a:pt x="22428200" y="148717"/>
                  </a:cubicBezTo>
                  <a:lnTo>
                    <a:pt x="22428200" y="1431163"/>
                  </a:lnTo>
                  <a:cubicBezTo>
                    <a:pt x="22428200" y="1513332"/>
                    <a:pt x="22361652" y="1579880"/>
                    <a:pt x="22279483" y="1579880"/>
                  </a:cubicBezTo>
                  <a:lnTo>
                    <a:pt x="148717" y="1579880"/>
                  </a:lnTo>
                  <a:cubicBezTo>
                    <a:pt x="66548" y="1579880"/>
                    <a:pt x="0" y="1513332"/>
                    <a:pt x="0" y="1431163"/>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1" name="Group 11"/>
          <p:cNvGrpSpPr/>
          <p:nvPr/>
        </p:nvGrpSpPr>
        <p:grpSpPr>
          <a:xfrm>
            <a:off x="1165860" y="1702595"/>
            <a:ext cx="16047721" cy="1232630"/>
            <a:chOff x="0" y="-326769"/>
            <a:chExt cx="21396961" cy="1643507"/>
          </a:xfrm>
        </p:grpSpPr>
        <p:sp>
          <p:nvSpPr>
            <p:cNvPr id="12" name="Freeform 12"/>
            <p:cNvSpPr/>
            <p:nvPr/>
          </p:nvSpPr>
          <p:spPr>
            <a:xfrm>
              <a:off x="0" y="0"/>
              <a:ext cx="21396961" cy="1316736"/>
            </a:xfrm>
            <a:custGeom>
              <a:avLst/>
              <a:gdLst/>
              <a:ahLst/>
              <a:cxnLst/>
              <a:rect l="l" t="t" r="r" b="b"/>
              <a:pathLst>
                <a:path w="21396961" h="1316736">
                  <a:moveTo>
                    <a:pt x="0" y="0"/>
                  </a:moveTo>
                  <a:lnTo>
                    <a:pt x="21396961" y="0"/>
                  </a:lnTo>
                  <a:lnTo>
                    <a:pt x="21396961" y="1316736"/>
                  </a:lnTo>
                  <a:lnTo>
                    <a:pt x="0" y="1316736"/>
                  </a:lnTo>
                  <a:close/>
                </a:path>
              </a:pathLst>
            </a:custGeom>
            <a:blipFill>
              <a:blip r:embed="rId3">
                <a:alphaModFix amt="0"/>
              </a:blip>
              <a:stretch>
                <a:fillRect t="-266631" b="-266631"/>
              </a:stretch>
            </a:blipFill>
          </p:spPr>
          <p:txBody>
            <a:bodyPr/>
            <a:lstStyle/>
            <a:p>
              <a:endParaRPr lang="en-US"/>
            </a:p>
          </p:txBody>
        </p:sp>
        <p:sp>
          <p:nvSpPr>
            <p:cNvPr id="13" name="TextBox 13"/>
            <p:cNvSpPr txBox="1"/>
            <p:nvPr/>
          </p:nvSpPr>
          <p:spPr>
            <a:xfrm>
              <a:off x="0" y="-326769"/>
              <a:ext cx="21396960" cy="1643507"/>
            </a:xfrm>
            <a:prstGeom prst="rect">
              <a:avLst/>
            </a:prstGeom>
          </p:spPr>
          <p:txBody>
            <a:bodyPr lIns="0" tIns="0" rIns="0" bIns="0" rtlCol="0" anchor="ctr"/>
            <a:lstStyle/>
            <a:p>
              <a:pPr algn="l"/>
              <a:r>
                <a:rPr lang="en-US" sz="3200" b="1">
                  <a:solidFill>
                    <a:schemeClr val="tx2"/>
                  </a:solidFill>
                  <a:latin typeface="Calibri"/>
                  <a:ea typeface="Calibri (MS) Bold"/>
                  <a:cs typeface="Calibri"/>
                  <a:sym typeface="Calibri (MS) Bold"/>
                </a:rPr>
                <a:t>The problem:  </a:t>
              </a:r>
              <a:r>
                <a:rPr lang="en-US" sz="3200">
                  <a:solidFill>
                    <a:srgbClr val="66717D"/>
                  </a:solidFill>
                  <a:latin typeface="Calibri"/>
                  <a:ea typeface="Calibri (MS)"/>
                  <a:cs typeface="Calibri"/>
                  <a:sym typeface="Calibri (MS)"/>
                </a:rPr>
                <a:t>Charter is cash-generative ($5.0B FCF, 41% margin) but the stock is down ~80% in five years and fell 25.5% in one day. The market prices one thing: the year-over-year change in Internet net adds, and it no longer believes management can turn it.</a:t>
              </a:r>
            </a:p>
          </p:txBody>
        </p:sp>
      </p:grpSp>
      <p:grpSp>
        <p:nvGrpSpPr>
          <p:cNvPr id="14" name="Group 14"/>
          <p:cNvGrpSpPr/>
          <p:nvPr/>
        </p:nvGrpSpPr>
        <p:grpSpPr>
          <a:xfrm>
            <a:off x="742474" y="3279934"/>
            <a:ext cx="5441632" cy="5304472"/>
            <a:chOff x="0" y="0"/>
            <a:chExt cx="7255510" cy="7072630"/>
          </a:xfrm>
        </p:grpSpPr>
        <p:sp>
          <p:nvSpPr>
            <p:cNvPr id="15" name="Freeform 15"/>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6" name="Group 16"/>
          <p:cNvGrpSpPr/>
          <p:nvPr/>
        </p:nvGrpSpPr>
        <p:grpSpPr>
          <a:xfrm>
            <a:off x="1097280" y="3525012"/>
            <a:ext cx="685800" cy="685800"/>
            <a:chOff x="0" y="0"/>
            <a:chExt cx="914400" cy="914400"/>
          </a:xfrm>
        </p:grpSpPr>
        <p:sp>
          <p:nvSpPr>
            <p:cNvPr id="17" name="Freeform 1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18" name="Group 18"/>
          <p:cNvGrpSpPr/>
          <p:nvPr/>
        </p:nvGrpSpPr>
        <p:grpSpPr>
          <a:xfrm>
            <a:off x="1097280" y="3525012"/>
            <a:ext cx="685800" cy="685800"/>
            <a:chOff x="0" y="0"/>
            <a:chExt cx="914400" cy="914400"/>
          </a:xfrm>
        </p:grpSpPr>
        <p:sp>
          <p:nvSpPr>
            <p:cNvPr id="19" name="Freeform 19"/>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20" name="TextBox 20"/>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1</a:t>
              </a:r>
            </a:p>
          </p:txBody>
        </p:sp>
      </p:grpSp>
      <p:grpSp>
        <p:nvGrpSpPr>
          <p:cNvPr id="21" name="Group 21"/>
          <p:cNvGrpSpPr/>
          <p:nvPr/>
        </p:nvGrpSpPr>
        <p:grpSpPr>
          <a:xfrm>
            <a:off x="1988820" y="3500847"/>
            <a:ext cx="3977640" cy="920115"/>
            <a:chOff x="0" y="-38100"/>
            <a:chExt cx="5303520" cy="1226820"/>
          </a:xfrm>
        </p:grpSpPr>
        <p:sp>
          <p:nvSpPr>
            <p:cNvPr id="22" name="Freeform 22"/>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3">
                <a:alphaModFix amt="0"/>
              </a:blip>
              <a:stretch>
                <a:fillRect t="-36933" b="-36933"/>
              </a:stretch>
            </a:blipFill>
          </p:spPr>
          <p:txBody>
            <a:bodyPr/>
            <a:lstStyle/>
            <a:p>
              <a:endParaRPr lang="en-US" sz="3200"/>
            </a:p>
          </p:txBody>
        </p:sp>
        <p:sp>
          <p:nvSpPr>
            <p:cNvPr id="23" name="TextBox 23"/>
            <p:cNvSpPr txBox="1"/>
            <p:nvPr/>
          </p:nvSpPr>
          <p:spPr>
            <a:xfrm>
              <a:off x="0" y="-38100"/>
              <a:ext cx="5303520" cy="1226820"/>
            </a:xfrm>
            <a:prstGeom prst="rect">
              <a:avLst/>
            </a:prstGeom>
          </p:spPr>
          <p:txBody>
            <a:bodyPr lIns="0" tIns="0" rIns="0" bIns="0" rtlCol="0" anchor="ctr"/>
            <a:lstStyle/>
            <a:p>
              <a:pPr>
                <a:lnSpc>
                  <a:spcPts val="2430"/>
                </a:lnSpc>
              </a:pPr>
              <a:r>
                <a:rPr lang="en-US" sz="3200" b="1">
                  <a:solidFill>
                    <a:srgbClr val="171A1F"/>
                  </a:solidFill>
                  <a:latin typeface="Calibri"/>
                  <a:ea typeface="Calibri (MS) Bold"/>
                  <a:cs typeface="Calibri"/>
                </a:rPr>
                <a:t>Churn Rate Reversal</a:t>
              </a:r>
              <a:endParaRPr lang="en-US" sz="3200" b="1">
                <a:solidFill>
                  <a:srgbClr val="171A1F"/>
                </a:solidFill>
                <a:latin typeface="Calibri"/>
                <a:ea typeface="Calibri (MS) Bold"/>
                <a:cs typeface="Calibri"/>
                <a:sym typeface="Calibri (MS) Bold"/>
              </a:endParaRPr>
            </a:p>
          </p:txBody>
        </p:sp>
      </p:grpSp>
      <p:sp>
        <p:nvSpPr>
          <p:cNvPr id="24" name="TextBox 24"/>
          <p:cNvSpPr txBox="1"/>
          <p:nvPr/>
        </p:nvSpPr>
        <p:spPr>
          <a:xfrm>
            <a:off x="1249680" y="4609081"/>
            <a:ext cx="4732020" cy="933332"/>
          </a:xfrm>
          <a:prstGeom prst="rect">
            <a:avLst/>
          </a:prstGeom>
        </p:spPr>
        <p:txBody>
          <a:bodyPr lIns="0" tIns="0" rIns="0" bIns="0" rtlCol="0" anchor="t">
            <a:spAutoFit/>
          </a:bodyPr>
          <a:lstStyle/>
          <a:p>
            <a:pPr>
              <a:lnSpc>
                <a:spcPts val="1797"/>
              </a:lnSpc>
            </a:pPr>
            <a:r>
              <a:rPr lang="en-US" sz="2000">
                <a:solidFill>
                  <a:srgbClr val="66717D"/>
                </a:solidFill>
                <a:latin typeface="Calibri"/>
                <a:ea typeface="Calibri (MS)"/>
                <a:cs typeface="Calibri"/>
                <a:sym typeface="Calibri (MS)"/>
              </a:rPr>
              <a:t>Build an address-level churn-attribution engine from public FCC data and Charter’s own records and ratify six if-then plays with budgets and kill conditions. </a:t>
            </a:r>
            <a:endParaRPr lang="en-US" sz="2000">
              <a:solidFill>
                <a:srgbClr val="66717D"/>
              </a:solidFill>
              <a:latin typeface="Calibri"/>
              <a:ea typeface="Calibri (MS)"/>
              <a:cs typeface="Calibri"/>
            </a:endParaRPr>
          </a:p>
        </p:txBody>
      </p:sp>
      <p:grpSp>
        <p:nvGrpSpPr>
          <p:cNvPr id="25" name="Group 25"/>
          <p:cNvGrpSpPr/>
          <p:nvPr/>
        </p:nvGrpSpPr>
        <p:grpSpPr>
          <a:xfrm>
            <a:off x="1097280" y="8023860"/>
            <a:ext cx="4732020" cy="411480"/>
            <a:chOff x="0" y="0"/>
            <a:chExt cx="6309360" cy="548640"/>
          </a:xfrm>
        </p:grpSpPr>
        <p:sp>
          <p:nvSpPr>
            <p:cNvPr id="26" name="Freeform 26"/>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27" name="TextBox 27"/>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4" action="ppaction://hlinksldjump"/>
                </a:rPr>
                <a:t>Recommendation 1  →  p.4</a:t>
              </a:r>
            </a:p>
          </p:txBody>
        </p:sp>
      </p:grpSp>
      <p:grpSp>
        <p:nvGrpSpPr>
          <p:cNvPr id="28" name="Group 28"/>
          <p:cNvGrpSpPr/>
          <p:nvPr/>
        </p:nvGrpSpPr>
        <p:grpSpPr>
          <a:xfrm>
            <a:off x="6434614" y="3279934"/>
            <a:ext cx="5441632" cy="5304472"/>
            <a:chOff x="0" y="0"/>
            <a:chExt cx="7255510" cy="7072630"/>
          </a:xfrm>
        </p:grpSpPr>
        <p:sp>
          <p:nvSpPr>
            <p:cNvPr id="29" name="Freeform 29"/>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30" name="Group 30"/>
          <p:cNvGrpSpPr/>
          <p:nvPr/>
        </p:nvGrpSpPr>
        <p:grpSpPr>
          <a:xfrm>
            <a:off x="6789420" y="3525012"/>
            <a:ext cx="685800" cy="685800"/>
            <a:chOff x="0" y="0"/>
            <a:chExt cx="914400" cy="914400"/>
          </a:xfrm>
        </p:grpSpPr>
        <p:sp>
          <p:nvSpPr>
            <p:cNvPr id="31" name="Freeform 31"/>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32" name="Group 32"/>
          <p:cNvGrpSpPr/>
          <p:nvPr/>
        </p:nvGrpSpPr>
        <p:grpSpPr>
          <a:xfrm>
            <a:off x="6789420" y="3525012"/>
            <a:ext cx="685800" cy="685800"/>
            <a:chOff x="0" y="0"/>
            <a:chExt cx="914400" cy="914400"/>
          </a:xfrm>
        </p:grpSpPr>
        <p:sp>
          <p:nvSpPr>
            <p:cNvPr id="33" name="Freeform 33"/>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34" name="TextBox 34"/>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2</a:t>
              </a:r>
            </a:p>
          </p:txBody>
        </p:sp>
      </p:grpSp>
      <p:grpSp>
        <p:nvGrpSpPr>
          <p:cNvPr id="35" name="Group 35"/>
          <p:cNvGrpSpPr/>
          <p:nvPr/>
        </p:nvGrpSpPr>
        <p:grpSpPr>
          <a:xfrm>
            <a:off x="7680960" y="3500847"/>
            <a:ext cx="3977640" cy="920115"/>
            <a:chOff x="0" y="-38100"/>
            <a:chExt cx="5303520" cy="1226820"/>
          </a:xfrm>
        </p:grpSpPr>
        <p:sp>
          <p:nvSpPr>
            <p:cNvPr id="36" name="Freeform 36"/>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3">
                <a:alphaModFix amt="0"/>
              </a:blip>
              <a:stretch>
                <a:fillRect t="-36933" b="-36933"/>
              </a:stretch>
            </a:blipFill>
          </p:spPr>
          <p:txBody>
            <a:bodyPr/>
            <a:lstStyle/>
            <a:p>
              <a:endParaRPr lang="en-US" sz="3200"/>
            </a:p>
          </p:txBody>
        </p:sp>
        <p:sp>
          <p:nvSpPr>
            <p:cNvPr id="37" name="TextBox 37"/>
            <p:cNvSpPr txBox="1"/>
            <p:nvPr/>
          </p:nvSpPr>
          <p:spPr>
            <a:xfrm>
              <a:off x="0" y="-38100"/>
              <a:ext cx="5303520" cy="1226820"/>
            </a:xfrm>
            <a:prstGeom prst="rect">
              <a:avLst/>
            </a:prstGeom>
          </p:spPr>
          <p:txBody>
            <a:bodyPr lIns="0" tIns="0" rIns="0" bIns="0" rtlCol="0" anchor="ctr"/>
            <a:lstStyle/>
            <a:p>
              <a:pPr algn="l">
                <a:lnSpc>
                  <a:spcPts val="2430"/>
                </a:lnSpc>
              </a:pPr>
              <a:r>
                <a:rPr lang="en-US" sz="3200" b="1">
                  <a:solidFill>
                    <a:srgbClr val="171A1F"/>
                  </a:solidFill>
                  <a:latin typeface="Calibri"/>
                  <a:ea typeface="Calibri (MS) Bold"/>
                  <a:cs typeface="Calibri"/>
                  <a:sym typeface="Calibri (MS) Bold"/>
                </a:rPr>
                <a:t>CAPEX Restructuring</a:t>
              </a:r>
            </a:p>
          </p:txBody>
        </p:sp>
      </p:grpSp>
      <p:sp>
        <p:nvSpPr>
          <p:cNvPr id="38" name="TextBox 38"/>
          <p:cNvSpPr txBox="1"/>
          <p:nvPr/>
        </p:nvSpPr>
        <p:spPr>
          <a:xfrm>
            <a:off x="6823710" y="4609081"/>
            <a:ext cx="4732020" cy="933332"/>
          </a:xfrm>
          <a:prstGeom prst="rect">
            <a:avLst/>
          </a:prstGeom>
        </p:spPr>
        <p:txBody>
          <a:bodyPr lIns="0" tIns="0" rIns="0" bIns="0" rtlCol="0" anchor="t">
            <a:spAutoFit/>
          </a:bodyPr>
          <a:lstStyle/>
          <a:p>
            <a:pPr algn="l">
              <a:lnSpc>
                <a:spcPts val="1797"/>
              </a:lnSpc>
            </a:pPr>
            <a:r>
              <a:rPr lang="en-US" sz="2000">
                <a:solidFill>
                  <a:srgbClr val="66717D"/>
                </a:solidFill>
                <a:latin typeface="Calibri"/>
                <a:ea typeface="Calibri (MS)"/>
                <a:cs typeface="Calibri"/>
                <a:sym typeface="Calibri (MS)"/>
              </a:rPr>
              <a:t>Redirect $4B to $5B a year of repurchases to deleveraging below 4.0x, report the rural build apart from the core, and publish the playbook’s triggers at an investor day.</a:t>
            </a:r>
          </a:p>
        </p:txBody>
      </p:sp>
      <p:grpSp>
        <p:nvGrpSpPr>
          <p:cNvPr id="39" name="Group 39"/>
          <p:cNvGrpSpPr/>
          <p:nvPr/>
        </p:nvGrpSpPr>
        <p:grpSpPr>
          <a:xfrm>
            <a:off x="6789420" y="7995285"/>
            <a:ext cx="4732020" cy="440055"/>
            <a:chOff x="0" y="-38100"/>
            <a:chExt cx="6309360" cy="586740"/>
          </a:xfrm>
        </p:grpSpPr>
        <p:sp>
          <p:nvSpPr>
            <p:cNvPr id="40" name="Freeform 40"/>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41" name="TextBox 41"/>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5" action="ppaction://hlinksldjump"/>
                </a:rPr>
                <a:t>Recommendation 2  →  p.6</a:t>
              </a:r>
            </a:p>
          </p:txBody>
        </p:sp>
      </p:grpSp>
      <p:grpSp>
        <p:nvGrpSpPr>
          <p:cNvPr id="42" name="Group 42"/>
          <p:cNvGrpSpPr/>
          <p:nvPr/>
        </p:nvGrpSpPr>
        <p:grpSpPr>
          <a:xfrm>
            <a:off x="12126754" y="3279934"/>
            <a:ext cx="5441632" cy="5304472"/>
            <a:chOff x="0" y="0"/>
            <a:chExt cx="7255510" cy="7072630"/>
          </a:xfrm>
        </p:grpSpPr>
        <p:sp>
          <p:nvSpPr>
            <p:cNvPr id="43" name="Freeform 43"/>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44" name="Group 44"/>
          <p:cNvGrpSpPr/>
          <p:nvPr/>
        </p:nvGrpSpPr>
        <p:grpSpPr>
          <a:xfrm>
            <a:off x="12481560" y="3525012"/>
            <a:ext cx="685800" cy="685800"/>
            <a:chOff x="0" y="0"/>
            <a:chExt cx="914400" cy="914400"/>
          </a:xfrm>
        </p:grpSpPr>
        <p:sp>
          <p:nvSpPr>
            <p:cNvPr id="45" name="Freeform 4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46" name="Group 46"/>
          <p:cNvGrpSpPr/>
          <p:nvPr/>
        </p:nvGrpSpPr>
        <p:grpSpPr>
          <a:xfrm>
            <a:off x="12481560" y="3525012"/>
            <a:ext cx="685800" cy="685800"/>
            <a:chOff x="0" y="0"/>
            <a:chExt cx="914400" cy="914400"/>
          </a:xfrm>
        </p:grpSpPr>
        <p:sp>
          <p:nvSpPr>
            <p:cNvPr id="47" name="Freeform 4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48" name="TextBox 48"/>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3</a:t>
              </a:r>
            </a:p>
          </p:txBody>
        </p:sp>
      </p:grpSp>
      <p:grpSp>
        <p:nvGrpSpPr>
          <p:cNvPr id="49" name="Group 49"/>
          <p:cNvGrpSpPr/>
          <p:nvPr/>
        </p:nvGrpSpPr>
        <p:grpSpPr>
          <a:xfrm>
            <a:off x="13373100" y="3529422"/>
            <a:ext cx="3977640" cy="891540"/>
            <a:chOff x="0" y="0"/>
            <a:chExt cx="5303520" cy="1188720"/>
          </a:xfrm>
        </p:grpSpPr>
        <p:sp>
          <p:nvSpPr>
            <p:cNvPr id="50" name="Freeform 50"/>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3">
                <a:alphaModFix amt="0"/>
              </a:blip>
              <a:stretch>
                <a:fillRect t="-36933" b="-36933"/>
              </a:stretch>
            </a:blipFill>
          </p:spPr>
          <p:txBody>
            <a:bodyPr/>
            <a:lstStyle/>
            <a:p>
              <a:endParaRPr lang="en-US" sz="3200"/>
            </a:p>
          </p:txBody>
        </p:sp>
        <p:sp>
          <p:nvSpPr>
            <p:cNvPr id="51" name="TextBox 51"/>
            <p:cNvSpPr txBox="1"/>
            <p:nvPr/>
          </p:nvSpPr>
          <p:spPr>
            <a:xfrm>
              <a:off x="0" y="-38100"/>
              <a:ext cx="5303520" cy="1226820"/>
            </a:xfrm>
            <a:prstGeom prst="rect">
              <a:avLst/>
            </a:prstGeom>
          </p:spPr>
          <p:txBody>
            <a:bodyPr lIns="0" tIns="0" rIns="0" bIns="0" rtlCol="0" anchor="ctr"/>
            <a:lstStyle/>
            <a:p>
              <a:pPr algn="l">
                <a:lnSpc>
                  <a:spcPts val="2430"/>
                </a:lnSpc>
              </a:pPr>
              <a:r>
                <a:rPr lang="en-US" sz="3200" b="1">
                  <a:solidFill>
                    <a:srgbClr val="171A1F"/>
                  </a:solidFill>
                  <a:latin typeface="Calibri"/>
                  <a:ea typeface="Calibri (MS) Bold"/>
                  <a:cs typeface="Calibri"/>
                  <a:sym typeface="Calibri (MS) Bold"/>
                </a:rPr>
                <a:t>Change who you’re targeting to reach the consumer</a:t>
              </a:r>
            </a:p>
          </p:txBody>
        </p:sp>
      </p:grpSp>
      <p:sp>
        <p:nvSpPr>
          <p:cNvPr id="52" name="TextBox 52"/>
          <p:cNvSpPr txBox="1"/>
          <p:nvPr/>
        </p:nvSpPr>
        <p:spPr>
          <a:xfrm>
            <a:off x="12516470" y="4609081"/>
            <a:ext cx="4732020" cy="1394997"/>
          </a:xfrm>
          <a:prstGeom prst="rect">
            <a:avLst/>
          </a:prstGeom>
        </p:spPr>
        <p:txBody>
          <a:bodyPr lIns="0" tIns="0" rIns="0" bIns="0" rtlCol="0" anchor="t">
            <a:spAutoFit/>
          </a:bodyPr>
          <a:lstStyle/>
          <a:p>
            <a:pPr algn="l">
              <a:lnSpc>
                <a:spcPts val="1797"/>
              </a:lnSpc>
            </a:pPr>
            <a:r>
              <a:rPr lang="en-US" sz="2000">
                <a:solidFill>
                  <a:srgbClr val="66717D"/>
                </a:solidFill>
                <a:latin typeface="Calibri"/>
                <a:ea typeface="Calibri (MS)"/>
                <a:cs typeface="Calibri"/>
                <a:sym typeface="Calibri (MS)"/>
              </a:rPr>
              <a:t>Partner with insurance brokerage firms to offer Spectrum high-speed home internet to employees as part of employee health and benefits packages. This can transform the commercial base into a second revenue line and a churn anchor.</a:t>
            </a:r>
          </a:p>
        </p:txBody>
      </p:sp>
      <p:grpSp>
        <p:nvGrpSpPr>
          <p:cNvPr id="53" name="Group 53"/>
          <p:cNvGrpSpPr/>
          <p:nvPr/>
        </p:nvGrpSpPr>
        <p:grpSpPr>
          <a:xfrm>
            <a:off x="12481560" y="8023860"/>
            <a:ext cx="4732020" cy="411480"/>
            <a:chOff x="0" y="0"/>
            <a:chExt cx="6309360" cy="548640"/>
          </a:xfrm>
        </p:grpSpPr>
        <p:sp>
          <p:nvSpPr>
            <p:cNvPr id="54" name="Freeform 54"/>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55" name="TextBox 55"/>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6" action="ppaction://hlinksldjump"/>
                </a:rPr>
                <a:t>Recommendation 3  →  p.8</a:t>
              </a:r>
            </a:p>
          </p:txBody>
        </p:sp>
      </p:grpSp>
      <p:grpSp>
        <p:nvGrpSpPr>
          <p:cNvPr id="56" name="Group 56"/>
          <p:cNvGrpSpPr/>
          <p:nvPr/>
        </p:nvGrpSpPr>
        <p:grpSpPr>
          <a:xfrm>
            <a:off x="754380" y="8805672"/>
            <a:ext cx="16733520" cy="356616"/>
            <a:chOff x="0" y="0"/>
            <a:chExt cx="22311360" cy="475488"/>
          </a:xfrm>
        </p:grpSpPr>
        <p:sp>
          <p:nvSpPr>
            <p:cNvPr id="57" name="Freeform 57"/>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58" name="TextBox 58"/>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Prize and cost are ranges (team estimates). Analogs: Apr 25, 2025 (+11.4%) and Jan 30, 2026 (+7.6%), Yahoo close-to-close. Recommendation 3 figures pending Kyle’s EHB metrics (Analysis/ehb-broker-metrics).</a:t>
              </a:r>
            </a:p>
          </p:txBody>
        </p:sp>
      </p:grpSp>
      <p:grpSp>
        <p:nvGrpSpPr>
          <p:cNvPr id="59" name="Group 59"/>
          <p:cNvGrpSpPr/>
          <p:nvPr/>
        </p:nvGrpSpPr>
        <p:grpSpPr>
          <a:xfrm>
            <a:off x="754380" y="9168289"/>
            <a:ext cx="16733521" cy="432911"/>
            <a:chOff x="0" y="-28575"/>
            <a:chExt cx="22311361" cy="577215"/>
          </a:xfrm>
        </p:grpSpPr>
        <p:sp>
          <p:nvSpPr>
            <p:cNvPr id="60" name="Freeform 60"/>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61" name="TextBox 61"/>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7"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62" name="Group 62"/>
          <p:cNvGrpSpPr/>
          <p:nvPr/>
        </p:nvGrpSpPr>
        <p:grpSpPr>
          <a:xfrm>
            <a:off x="17076420" y="9669780"/>
            <a:ext cx="960120" cy="411480"/>
            <a:chOff x="0" y="0"/>
            <a:chExt cx="1280160" cy="548640"/>
          </a:xfrm>
        </p:grpSpPr>
        <p:sp>
          <p:nvSpPr>
            <p:cNvPr id="63" name="Freeform 63"/>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64" name="TextBox 64"/>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a:t>
              </a:r>
            </a:p>
          </p:txBody>
        </p:sp>
      </p:grpSp>
      <p:grpSp>
        <p:nvGrpSpPr>
          <p:cNvPr id="65" name="Group 65"/>
          <p:cNvGrpSpPr/>
          <p:nvPr/>
        </p:nvGrpSpPr>
        <p:grpSpPr>
          <a:xfrm>
            <a:off x="754380" y="9669780"/>
            <a:ext cx="16047720" cy="411480"/>
            <a:chOff x="0" y="0"/>
            <a:chExt cx="21396960" cy="548640"/>
          </a:xfrm>
        </p:grpSpPr>
        <p:sp>
          <p:nvSpPr>
            <p:cNvPr id="66" name="Freeform 66"/>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67" name="TextBox 67"/>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grpSp>
        <p:nvGrpSpPr>
          <p:cNvPr id="68" name="Group 68"/>
          <p:cNvGrpSpPr/>
          <p:nvPr/>
        </p:nvGrpSpPr>
        <p:grpSpPr>
          <a:xfrm>
            <a:off x="1097280" y="6164580"/>
            <a:ext cx="4732020" cy="1581150"/>
            <a:chOff x="0" y="0"/>
            <a:chExt cx="6309360" cy="2108200"/>
          </a:xfrm>
        </p:grpSpPr>
        <p:sp>
          <p:nvSpPr>
            <p:cNvPr id="69" name="Freeform 69"/>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70" name="TextBox 70"/>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71" name="TextBox 71"/>
          <p:cNvSpPr txBox="1"/>
          <p:nvPr/>
        </p:nvSpPr>
        <p:spPr>
          <a:xfrm>
            <a:off x="124968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72" name="TextBox 72"/>
          <p:cNvSpPr txBox="1"/>
          <p:nvPr/>
        </p:nvSpPr>
        <p:spPr>
          <a:xfrm>
            <a:off x="2049780" y="62598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+8% to +11% on the first improving print</a:t>
            </a:r>
          </a:p>
        </p:txBody>
      </p:sp>
      <p:sp>
        <p:nvSpPr>
          <p:cNvPr id="73" name="AutoShape 73"/>
          <p:cNvSpPr/>
          <p:nvPr/>
        </p:nvSpPr>
        <p:spPr>
          <a:xfrm>
            <a:off x="123063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74" name="TextBox 74"/>
          <p:cNvSpPr txBox="1"/>
          <p:nvPr/>
        </p:nvSpPr>
        <p:spPr>
          <a:xfrm>
            <a:off x="124968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75" name="TextBox 75"/>
          <p:cNvSpPr txBox="1"/>
          <p:nvPr/>
        </p:nvSpPr>
        <p:spPr>
          <a:xfrm>
            <a:off x="2049780" y="678688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$3M to $6M</a:t>
            </a:r>
          </a:p>
        </p:txBody>
      </p:sp>
      <p:sp>
        <p:nvSpPr>
          <p:cNvPr id="76" name="AutoShape 76"/>
          <p:cNvSpPr/>
          <p:nvPr/>
        </p:nvSpPr>
        <p:spPr>
          <a:xfrm>
            <a:off x="123063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77" name="TextBox 77"/>
          <p:cNvSpPr txBox="1"/>
          <p:nvPr/>
        </p:nvSpPr>
        <p:spPr>
          <a:xfrm>
            <a:off x="124968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78" name="TextBox 78"/>
          <p:cNvSpPr txBox="1"/>
          <p:nvPr/>
        </p:nvSpPr>
        <p:spPr>
          <a:xfrm>
            <a:off x="2049780" y="73139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Live Q4 2026, acting Q2 2027</a:t>
            </a:r>
          </a:p>
        </p:txBody>
      </p:sp>
      <p:grpSp>
        <p:nvGrpSpPr>
          <p:cNvPr id="79" name="Group 79"/>
          <p:cNvGrpSpPr/>
          <p:nvPr/>
        </p:nvGrpSpPr>
        <p:grpSpPr>
          <a:xfrm>
            <a:off x="6789420" y="6164580"/>
            <a:ext cx="4732020" cy="1581150"/>
            <a:chOff x="0" y="0"/>
            <a:chExt cx="6309360" cy="2108200"/>
          </a:xfrm>
        </p:grpSpPr>
        <p:sp>
          <p:nvSpPr>
            <p:cNvPr id="80" name="Freeform 80"/>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81" name="TextBox 81"/>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82" name="TextBox 82"/>
          <p:cNvSpPr txBox="1"/>
          <p:nvPr/>
        </p:nvSpPr>
        <p:spPr>
          <a:xfrm>
            <a:off x="694182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83" name="TextBox 83"/>
          <p:cNvSpPr txBox="1"/>
          <p:nvPr/>
        </p:nvSpPr>
        <p:spPr>
          <a:xfrm>
            <a:off x="7741920" y="62598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0.3x to 0.5x re-rating, $7B to $11B</a:t>
            </a:r>
          </a:p>
        </p:txBody>
      </p:sp>
      <p:sp>
        <p:nvSpPr>
          <p:cNvPr id="84" name="AutoShape 84"/>
          <p:cNvSpPr/>
          <p:nvPr/>
        </p:nvSpPr>
        <p:spPr>
          <a:xfrm>
            <a:off x="692277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85" name="TextBox 85"/>
          <p:cNvSpPr txBox="1"/>
          <p:nvPr/>
        </p:nvSpPr>
        <p:spPr>
          <a:xfrm>
            <a:off x="694182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86" name="TextBox 86"/>
          <p:cNvSpPr txBox="1"/>
          <p:nvPr/>
        </p:nvSpPr>
        <p:spPr>
          <a:xfrm>
            <a:off x="7741920" y="678688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No new cash</a:t>
            </a:r>
          </a:p>
        </p:txBody>
      </p:sp>
      <p:sp>
        <p:nvSpPr>
          <p:cNvPr id="87" name="AutoShape 87"/>
          <p:cNvSpPr/>
          <p:nvPr/>
        </p:nvSpPr>
        <p:spPr>
          <a:xfrm>
            <a:off x="692277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88" name="TextBox 88"/>
          <p:cNvSpPr txBox="1"/>
          <p:nvPr/>
        </p:nvSpPr>
        <p:spPr>
          <a:xfrm>
            <a:off x="694182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89" name="TextBox 89"/>
          <p:cNvSpPr txBox="1"/>
          <p:nvPr/>
        </p:nvSpPr>
        <p:spPr>
          <a:xfrm>
            <a:off x="7741920" y="73139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Board decision January 2027</a:t>
            </a:r>
          </a:p>
        </p:txBody>
      </p:sp>
      <p:grpSp>
        <p:nvGrpSpPr>
          <p:cNvPr id="90" name="Group 90"/>
          <p:cNvGrpSpPr/>
          <p:nvPr/>
        </p:nvGrpSpPr>
        <p:grpSpPr>
          <a:xfrm>
            <a:off x="12481560" y="6164580"/>
            <a:ext cx="4732020" cy="1581150"/>
            <a:chOff x="0" y="0"/>
            <a:chExt cx="6309360" cy="2108200"/>
          </a:xfrm>
        </p:grpSpPr>
        <p:sp>
          <p:nvSpPr>
            <p:cNvPr id="91" name="Freeform 91"/>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92" name="TextBox 92"/>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93" name="TextBox 93"/>
          <p:cNvSpPr txBox="1"/>
          <p:nvPr/>
        </p:nvSpPr>
        <p:spPr>
          <a:xfrm>
            <a:off x="1263396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94" name="TextBox 94"/>
          <p:cNvSpPr txBox="1"/>
          <p:nvPr/>
        </p:nvSpPr>
        <p:spPr>
          <a:xfrm>
            <a:off x="13434060" y="625983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Determined by pilot results</a:t>
            </a:r>
          </a:p>
        </p:txBody>
      </p:sp>
      <p:sp>
        <p:nvSpPr>
          <p:cNvPr id="95" name="AutoShape 95"/>
          <p:cNvSpPr/>
          <p:nvPr/>
        </p:nvSpPr>
        <p:spPr>
          <a:xfrm>
            <a:off x="1261491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96" name="TextBox 96"/>
          <p:cNvSpPr txBox="1"/>
          <p:nvPr/>
        </p:nvSpPr>
        <p:spPr>
          <a:xfrm>
            <a:off x="1263396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97" name="TextBox 97"/>
          <p:cNvSpPr txBox="1"/>
          <p:nvPr/>
        </p:nvSpPr>
        <p:spPr>
          <a:xfrm>
            <a:off x="13434060" y="678688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No new capital expenditures</a:t>
            </a:r>
          </a:p>
        </p:txBody>
      </p:sp>
      <p:sp>
        <p:nvSpPr>
          <p:cNvPr id="98" name="AutoShape 98"/>
          <p:cNvSpPr/>
          <p:nvPr/>
        </p:nvSpPr>
        <p:spPr>
          <a:xfrm>
            <a:off x="1261491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99" name="TextBox 99"/>
          <p:cNvSpPr txBox="1"/>
          <p:nvPr/>
        </p:nvSpPr>
        <p:spPr>
          <a:xfrm>
            <a:off x="1263396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100" name="TextBox 100"/>
          <p:cNvSpPr txBox="1"/>
          <p:nvPr/>
        </p:nvSpPr>
        <p:spPr>
          <a:xfrm>
            <a:off x="13434060" y="731393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Pilot Q2 2027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45" name="Group 45"/>
          <p:cNvGrpSpPr/>
          <p:nvPr/>
        </p:nvGrpSpPr>
        <p:grpSpPr>
          <a:xfrm>
            <a:off x="9513570" y="2136973"/>
            <a:ext cx="8042910" cy="5641674"/>
            <a:chOff x="0" y="230737"/>
            <a:chExt cx="10723880" cy="5098183"/>
          </a:xfrm>
        </p:grpSpPr>
        <p:sp>
          <p:nvSpPr>
            <p:cNvPr id="46" name="Freeform 46"/>
            <p:cNvSpPr/>
            <p:nvPr/>
          </p:nvSpPr>
          <p:spPr>
            <a:xfrm>
              <a:off x="0" y="230737"/>
              <a:ext cx="10723880" cy="5098183"/>
            </a:xfrm>
            <a:custGeom>
              <a:avLst/>
              <a:gdLst/>
              <a:ahLst/>
              <a:cxnLst/>
              <a:rect l="l" t="t" r="r" b="b"/>
              <a:pathLst>
                <a:path w="10723880" h="5328920">
                  <a:moveTo>
                    <a:pt x="0" y="147066"/>
                  </a:moveTo>
                  <a:cubicBezTo>
                    <a:pt x="0" y="65786"/>
                    <a:pt x="65786" y="0"/>
                    <a:pt x="147066" y="0"/>
                  </a:cubicBezTo>
                  <a:lnTo>
                    <a:pt x="10576814" y="0"/>
                  </a:lnTo>
                  <a:cubicBezTo>
                    <a:pt x="10657967" y="0"/>
                    <a:pt x="10723880" y="65786"/>
                    <a:pt x="10723880" y="147066"/>
                  </a:cubicBezTo>
                  <a:lnTo>
                    <a:pt x="10723880" y="5181854"/>
                  </a:lnTo>
                  <a:cubicBezTo>
                    <a:pt x="10723880" y="5263007"/>
                    <a:pt x="10658094" y="5328920"/>
                    <a:pt x="10576814" y="5328920"/>
                  </a:cubicBezTo>
                  <a:lnTo>
                    <a:pt x="147066" y="5328920"/>
                  </a:lnTo>
                  <a:cubicBezTo>
                    <a:pt x="65786" y="5328920"/>
                    <a:pt x="0" y="5263134"/>
                    <a:pt x="0" y="5181854"/>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3" name="Group 73">
            <a:extLst>
              <a:ext uri="{FF2B5EF4-FFF2-40B4-BE49-F238E27FC236}">
                <a16:creationId xmlns:a16="http://schemas.microsoft.com/office/drawing/2014/main" id="{794DFDA2-930A-1CE3-06EE-FDB7CF5FD921}"/>
              </a:ext>
            </a:extLst>
          </p:cNvPr>
          <p:cNvGrpSpPr/>
          <p:nvPr/>
        </p:nvGrpSpPr>
        <p:grpSpPr>
          <a:xfrm>
            <a:off x="9875520" y="6223154"/>
            <a:ext cx="7406640" cy="1337912"/>
            <a:chOff x="0" y="0"/>
            <a:chExt cx="9875520" cy="1955800"/>
          </a:xfrm>
        </p:grpSpPr>
        <p:sp>
          <p:nvSpPr>
            <p:cNvPr id="84" name="Freeform 74">
              <a:extLst>
                <a:ext uri="{FF2B5EF4-FFF2-40B4-BE49-F238E27FC236}">
                  <a16:creationId xmlns:a16="http://schemas.microsoft.com/office/drawing/2014/main" id="{537DDEE9-1B02-5C63-8E47-C13A84A39A64}"/>
                </a:ext>
              </a:extLst>
            </p:cNvPr>
            <p:cNvSpPr/>
            <p:nvPr/>
          </p:nvSpPr>
          <p:spPr>
            <a:xfrm>
              <a:off x="0" y="0"/>
              <a:ext cx="9875520" cy="1955800"/>
            </a:xfrm>
            <a:custGeom>
              <a:avLst/>
              <a:gdLst/>
              <a:ahLst/>
              <a:cxnLst/>
              <a:rect l="l" t="t" r="r" b="b"/>
              <a:pathLst>
                <a:path w="9875520" h="1955800">
                  <a:moveTo>
                    <a:pt x="63500" y="0"/>
                  </a:moveTo>
                  <a:lnTo>
                    <a:pt x="9812020" y="0"/>
                  </a:lnTo>
                  <a:cubicBezTo>
                    <a:pt x="9847090" y="0"/>
                    <a:pt x="9875520" y="28430"/>
                    <a:pt x="9875520" y="63500"/>
                  </a:cubicBezTo>
                  <a:lnTo>
                    <a:pt x="9875520" y="1892300"/>
                  </a:lnTo>
                  <a:cubicBezTo>
                    <a:pt x="9875520" y="1927370"/>
                    <a:pt x="9847090" y="1955800"/>
                    <a:pt x="9812020" y="1955800"/>
                  </a:cubicBezTo>
                  <a:lnTo>
                    <a:pt x="63500" y="1955800"/>
                  </a:lnTo>
                  <a:cubicBezTo>
                    <a:pt x="28430" y="1955800"/>
                    <a:pt x="0" y="1927370"/>
                    <a:pt x="0" y="1892300"/>
                  </a:cubicBezTo>
                  <a:lnTo>
                    <a:pt x="0" y="63500"/>
                  </a:lnTo>
                  <a:cubicBezTo>
                    <a:pt x="0" y="28430"/>
                    <a:pt x="28430" y="0"/>
                    <a:pt x="63500" y="0"/>
                  </a:cubicBezTo>
                  <a:close/>
                </a:path>
              </a:pathLst>
            </a:custGeom>
            <a:solidFill>
              <a:srgbClr val="FEFEFE"/>
            </a:solidFill>
            <a:ln w="9525" cap="sq">
              <a:solidFill>
                <a:srgbClr val="D8E4EC"/>
              </a:solidFill>
              <a:prstDash val="solid"/>
              <a:miter/>
            </a:ln>
          </p:spPr>
          <p:txBody>
            <a:bodyPr/>
            <a:lstStyle/>
            <a:p>
              <a:endParaRPr lang="en-US"/>
            </a:p>
          </p:txBody>
        </p:sp>
        <p:sp>
          <p:nvSpPr>
            <p:cNvPr id="85" name="TextBox 75">
              <a:extLst>
                <a:ext uri="{FF2B5EF4-FFF2-40B4-BE49-F238E27FC236}">
                  <a16:creationId xmlns:a16="http://schemas.microsoft.com/office/drawing/2014/main" id="{4353AC6B-DDFC-150F-5E94-E837844D2088}"/>
                </a:ext>
              </a:extLst>
            </p:cNvPr>
            <p:cNvSpPr txBox="1"/>
            <p:nvPr/>
          </p:nvSpPr>
          <p:spPr>
            <a:xfrm>
              <a:off x="0" y="-38100"/>
              <a:ext cx="9875520" cy="1993900"/>
            </a:xfrm>
            <a:prstGeom prst="rect">
              <a:avLst/>
            </a:prstGeom>
          </p:spPr>
          <p:txBody>
            <a:bodyPr lIns="50800" tIns="50800" rIns="50800" bIns="50800" rtlCol="0" anchor="ctr"/>
            <a:lstStyle/>
            <a:p>
              <a:pPr algn="l">
                <a:lnSpc>
                  <a:spcPts val="1679"/>
                </a:lnSpc>
              </a:pPr>
              <a:endParaRPr/>
            </a:p>
          </p:txBody>
        </p:sp>
      </p:grpSp>
      <p:grpSp>
        <p:nvGrpSpPr>
          <p:cNvPr id="2" name="Group 2"/>
          <p:cNvGrpSpPr/>
          <p:nvPr/>
        </p:nvGrpSpPr>
        <p:grpSpPr>
          <a:xfrm>
            <a:off x="754380" y="434173"/>
            <a:ext cx="11795760" cy="432911"/>
            <a:chOff x="0" y="-28575"/>
            <a:chExt cx="15727680" cy="577215"/>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1  ·  PROBLEM DEFINITION</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b="1" spc="149" dirty="0">
                  <a:solidFill>
                    <a:srgbClr val="0099D8"/>
                  </a:solidFill>
                  <a:latin typeface="Calibri"/>
                  <a:ea typeface="Calibri (MS) Bold"/>
                  <a:cs typeface="Calibri"/>
                  <a:sym typeface="Calibri (MS) Bold"/>
                </a:rPr>
                <a:t>1  PROBLEM</a:t>
              </a:r>
              <a:r>
                <a:rPr lang="en-US" sz="1350" spc="149" dirty="0">
                  <a:solidFill>
                    <a:srgbClr val="0099D8"/>
                  </a:solidFill>
                  <a:latin typeface="Calibri"/>
                  <a:ea typeface="Calibri (MS)"/>
                  <a:cs typeface="Calibri"/>
                  <a:sym typeface="Calibri (MS)"/>
                </a:rPr>
                <a:t>     ·     2  RECOMMENDATIONS</a:t>
              </a:r>
            </a:p>
          </p:txBody>
        </p:sp>
      </p:grpSp>
      <p:sp>
        <p:nvSpPr>
          <p:cNvPr id="8" name="TextBox 8"/>
          <p:cNvSpPr txBox="1"/>
          <p:nvPr/>
        </p:nvSpPr>
        <p:spPr>
          <a:xfrm>
            <a:off x="777240" y="774192"/>
            <a:ext cx="16733520" cy="666750"/>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The Problem Is Belief, Not Cash</a:t>
            </a:r>
          </a:p>
        </p:txBody>
      </p:sp>
      <p:grpSp>
        <p:nvGrpSpPr>
          <p:cNvPr id="9" name="Group 9"/>
          <p:cNvGrpSpPr/>
          <p:nvPr/>
        </p:nvGrpSpPr>
        <p:grpSpPr>
          <a:xfrm>
            <a:off x="744855" y="1910715"/>
            <a:ext cx="2625090" cy="1802130"/>
            <a:chOff x="0" y="0"/>
            <a:chExt cx="3500120" cy="2402840"/>
          </a:xfrm>
        </p:grpSpPr>
        <p:sp>
          <p:nvSpPr>
            <p:cNvPr id="10" name="Freeform 10"/>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1" name="Group 11"/>
          <p:cNvGrpSpPr/>
          <p:nvPr/>
        </p:nvGrpSpPr>
        <p:grpSpPr>
          <a:xfrm>
            <a:off x="960120" y="2057400"/>
            <a:ext cx="2194560" cy="754380"/>
            <a:chOff x="0" y="0"/>
            <a:chExt cx="2926080" cy="1005840"/>
          </a:xfrm>
        </p:grpSpPr>
        <p:sp>
          <p:nvSpPr>
            <p:cNvPr id="12" name="Freeform 12"/>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13" name="TextBox 13"/>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−80%</a:t>
              </a:r>
            </a:p>
          </p:txBody>
        </p:sp>
      </p:grpSp>
      <p:sp>
        <p:nvSpPr>
          <p:cNvPr id="14" name="TextBox 14"/>
          <p:cNvSpPr txBox="1"/>
          <p:nvPr/>
        </p:nvSpPr>
        <p:spPr>
          <a:xfrm>
            <a:off x="960120" y="2783205"/>
            <a:ext cx="2263140" cy="307777"/>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Share price, ~5 years</a:t>
            </a:r>
          </a:p>
        </p:txBody>
      </p:sp>
      <p:grpSp>
        <p:nvGrpSpPr>
          <p:cNvPr id="15" name="Group 15"/>
          <p:cNvGrpSpPr/>
          <p:nvPr/>
        </p:nvGrpSpPr>
        <p:grpSpPr>
          <a:xfrm>
            <a:off x="3556635" y="1910715"/>
            <a:ext cx="2625090" cy="1802130"/>
            <a:chOff x="0" y="0"/>
            <a:chExt cx="3500120" cy="2402840"/>
          </a:xfrm>
        </p:grpSpPr>
        <p:sp>
          <p:nvSpPr>
            <p:cNvPr id="16" name="Freeform 16"/>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7" name="Group 17"/>
          <p:cNvGrpSpPr/>
          <p:nvPr/>
        </p:nvGrpSpPr>
        <p:grpSpPr>
          <a:xfrm>
            <a:off x="3771900" y="2057400"/>
            <a:ext cx="2194560" cy="754380"/>
            <a:chOff x="0" y="0"/>
            <a:chExt cx="2926080" cy="1005840"/>
          </a:xfrm>
        </p:grpSpPr>
        <p:sp>
          <p:nvSpPr>
            <p:cNvPr id="18" name="Freeform 18"/>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19" name="TextBox 19"/>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−25.5%</a:t>
              </a:r>
            </a:p>
          </p:txBody>
        </p:sp>
      </p:grpSp>
      <p:sp>
        <p:nvSpPr>
          <p:cNvPr id="20" name="TextBox 20"/>
          <p:cNvSpPr txBox="1"/>
          <p:nvPr/>
        </p:nvSpPr>
        <p:spPr>
          <a:xfrm>
            <a:off x="3771900" y="2783205"/>
            <a:ext cx="2263140" cy="615553"/>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April 24, 2026 (Q1 print)</a:t>
            </a:r>
          </a:p>
        </p:txBody>
      </p:sp>
      <p:grpSp>
        <p:nvGrpSpPr>
          <p:cNvPr id="21" name="Group 21"/>
          <p:cNvGrpSpPr/>
          <p:nvPr/>
        </p:nvGrpSpPr>
        <p:grpSpPr>
          <a:xfrm>
            <a:off x="6368415" y="1910715"/>
            <a:ext cx="2625090" cy="1802130"/>
            <a:chOff x="0" y="0"/>
            <a:chExt cx="3500120" cy="2402840"/>
          </a:xfrm>
        </p:grpSpPr>
        <p:sp>
          <p:nvSpPr>
            <p:cNvPr id="22" name="Freeform 22"/>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3" name="Group 23"/>
          <p:cNvGrpSpPr/>
          <p:nvPr/>
        </p:nvGrpSpPr>
        <p:grpSpPr>
          <a:xfrm>
            <a:off x="6583680" y="2057400"/>
            <a:ext cx="2194560" cy="754380"/>
            <a:chOff x="0" y="0"/>
            <a:chExt cx="2926080" cy="1005840"/>
          </a:xfrm>
        </p:grpSpPr>
        <p:sp>
          <p:nvSpPr>
            <p:cNvPr id="24" name="Freeform 24"/>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25" name="TextBox 25"/>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−120k</a:t>
              </a:r>
            </a:p>
          </p:txBody>
        </p:sp>
      </p:grpSp>
      <p:sp>
        <p:nvSpPr>
          <p:cNvPr id="26" name="TextBox 26"/>
          <p:cNvSpPr txBox="1"/>
          <p:nvPr/>
        </p:nvSpPr>
        <p:spPr>
          <a:xfrm>
            <a:off x="6583680" y="2773680"/>
            <a:ext cx="2263140" cy="923330"/>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Q1 2026 Internet net adds, double the year-ago −59k</a:t>
            </a:r>
          </a:p>
        </p:txBody>
      </p:sp>
      <p:grpSp>
        <p:nvGrpSpPr>
          <p:cNvPr id="27" name="Group 27"/>
          <p:cNvGrpSpPr/>
          <p:nvPr/>
        </p:nvGrpSpPr>
        <p:grpSpPr>
          <a:xfrm>
            <a:off x="744855" y="3899535"/>
            <a:ext cx="2625090" cy="1802130"/>
            <a:chOff x="0" y="0"/>
            <a:chExt cx="3500120" cy="2402840"/>
          </a:xfrm>
        </p:grpSpPr>
        <p:sp>
          <p:nvSpPr>
            <p:cNvPr id="28" name="Freeform 28"/>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9" name="Group 29"/>
          <p:cNvGrpSpPr/>
          <p:nvPr/>
        </p:nvGrpSpPr>
        <p:grpSpPr>
          <a:xfrm>
            <a:off x="960120" y="4046220"/>
            <a:ext cx="2194560" cy="754380"/>
            <a:chOff x="0" y="0"/>
            <a:chExt cx="2926080" cy="1005840"/>
          </a:xfrm>
        </p:grpSpPr>
        <p:sp>
          <p:nvSpPr>
            <p:cNvPr id="30" name="Freeform 30"/>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31" name="TextBox 31"/>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$5.0B</a:t>
              </a:r>
            </a:p>
          </p:txBody>
        </p:sp>
      </p:grpSp>
      <p:sp>
        <p:nvSpPr>
          <p:cNvPr id="32" name="TextBox 32"/>
          <p:cNvSpPr txBox="1"/>
          <p:nvPr/>
        </p:nvSpPr>
        <p:spPr>
          <a:xfrm>
            <a:off x="960120" y="4772025"/>
            <a:ext cx="2263140" cy="615553"/>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FY2025 free cash flow (+18%)</a:t>
            </a:r>
          </a:p>
        </p:txBody>
      </p:sp>
      <p:grpSp>
        <p:nvGrpSpPr>
          <p:cNvPr id="33" name="Group 33"/>
          <p:cNvGrpSpPr/>
          <p:nvPr/>
        </p:nvGrpSpPr>
        <p:grpSpPr>
          <a:xfrm>
            <a:off x="3556635" y="3899535"/>
            <a:ext cx="2625090" cy="1802130"/>
            <a:chOff x="0" y="0"/>
            <a:chExt cx="3500120" cy="2402840"/>
          </a:xfrm>
        </p:grpSpPr>
        <p:sp>
          <p:nvSpPr>
            <p:cNvPr id="34" name="Freeform 34"/>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35" name="Group 35"/>
          <p:cNvGrpSpPr/>
          <p:nvPr/>
        </p:nvGrpSpPr>
        <p:grpSpPr>
          <a:xfrm>
            <a:off x="3771900" y="4046220"/>
            <a:ext cx="2194560" cy="754380"/>
            <a:chOff x="0" y="0"/>
            <a:chExt cx="2926080" cy="1005840"/>
          </a:xfrm>
        </p:grpSpPr>
        <p:sp>
          <p:nvSpPr>
            <p:cNvPr id="36" name="Freeform 36"/>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37" name="TextBox 37"/>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41%</a:t>
              </a:r>
            </a:p>
          </p:txBody>
        </p:sp>
      </p:grpSp>
      <p:sp>
        <p:nvSpPr>
          <p:cNvPr id="38" name="TextBox 38"/>
          <p:cNvSpPr txBox="1"/>
          <p:nvPr/>
        </p:nvSpPr>
        <p:spPr>
          <a:xfrm>
            <a:off x="3771900" y="4772025"/>
            <a:ext cx="2263140" cy="615553"/>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Adj. EBITDA margin, stable</a:t>
            </a:r>
          </a:p>
        </p:txBody>
      </p:sp>
      <p:grpSp>
        <p:nvGrpSpPr>
          <p:cNvPr id="39" name="Group 39"/>
          <p:cNvGrpSpPr/>
          <p:nvPr/>
        </p:nvGrpSpPr>
        <p:grpSpPr>
          <a:xfrm>
            <a:off x="6368415" y="3899535"/>
            <a:ext cx="2625090" cy="1802130"/>
            <a:chOff x="0" y="0"/>
            <a:chExt cx="3500120" cy="2402840"/>
          </a:xfrm>
        </p:grpSpPr>
        <p:sp>
          <p:nvSpPr>
            <p:cNvPr id="40" name="Freeform 40"/>
            <p:cNvSpPr/>
            <p:nvPr/>
          </p:nvSpPr>
          <p:spPr>
            <a:xfrm>
              <a:off x="0" y="0"/>
              <a:ext cx="3500120" cy="2402840"/>
            </a:xfrm>
            <a:custGeom>
              <a:avLst/>
              <a:gdLst/>
              <a:ahLst/>
              <a:cxnLst/>
              <a:rect l="l" t="t" r="r" b="b"/>
              <a:pathLst>
                <a:path w="3500120" h="2402840">
                  <a:moveTo>
                    <a:pt x="0" y="147828"/>
                  </a:moveTo>
                  <a:cubicBezTo>
                    <a:pt x="0" y="66167"/>
                    <a:pt x="66167" y="0"/>
                    <a:pt x="147828" y="0"/>
                  </a:cubicBezTo>
                  <a:lnTo>
                    <a:pt x="3352292" y="0"/>
                  </a:lnTo>
                  <a:cubicBezTo>
                    <a:pt x="3433953" y="0"/>
                    <a:pt x="3500120" y="66167"/>
                    <a:pt x="3500120" y="147828"/>
                  </a:cubicBezTo>
                  <a:lnTo>
                    <a:pt x="3500120" y="2255012"/>
                  </a:lnTo>
                  <a:cubicBezTo>
                    <a:pt x="3500120" y="2336673"/>
                    <a:pt x="3433953" y="2402840"/>
                    <a:pt x="335229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41" name="Group 41"/>
          <p:cNvGrpSpPr/>
          <p:nvPr/>
        </p:nvGrpSpPr>
        <p:grpSpPr>
          <a:xfrm>
            <a:off x="6583680" y="4046220"/>
            <a:ext cx="2194560" cy="754380"/>
            <a:chOff x="0" y="0"/>
            <a:chExt cx="2926080" cy="1005840"/>
          </a:xfrm>
        </p:grpSpPr>
        <p:sp>
          <p:nvSpPr>
            <p:cNvPr id="42" name="Freeform 42"/>
            <p:cNvSpPr/>
            <p:nvPr/>
          </p:nvSpPr>
          <p:spPr>
            <a:xfrm>
              <a:off x="0" y="0"/>
              <a:ext cx="2926080" cy="1005840"/>
            </a:xfrm>
            <a:custGeom>
              <a:avLst/>
              <a:gdLst/>
              <a:ahLst/>
              <a:cxnLst/>
              <a:rect l="l" t="t" r="r" b="b"/>
              <a:pathLst>
                <a:path w="2926080" h="1005840">
                  <a:moveTo>
                    <a:pt x="0" y="0"/>
                  </a:moveTo>
                  <a:lnTo>
                    <a:pt x="2926080" y="0"/>
                  </a:lnTo>
                  <a:lnTo>
                    <a:pt x="2926080" y="1005840"/>
                  </a:lnTo>
                  <a:lnTo>
                    <a:pt x="0" y="1005840"/>
                  </a:lnTo>
                  <a:close/>
                </a:path>
              </a:pathLst>
            </a:custGeom>
            <a:blipFill>
              <a:blip r:embed="rId3">
                <a:alphaModFix amt="0"/>
              </a:blip>
              <a:stretch>
                <a:fillRect t="-6683" b="-6683"/>
              </a:stretch>
            </a:blipFill>
          </p:spPr>
          <p:txBody>
            <a:bodyPr/>
            <a:lstStyle/>
            <a:p>
              <a:endParaRPr lang="en-US" sz="4000"/>
            </a:p>
          </p:txBody>
        </p:sp>
        <p:sp>
          <p:nvSpPr>
            <p:cNvPr id="43" name="TextBox 43"/>
            <p:cNvSpPr txBox="1"/>
            <p:nvPr/>
          </p:nvSpPr>
          <p:spPr>
            <a:xfrm>
              <a:off x="0" y="-66675"/>
              <a:ext cx="2926080" cy="1072515"/>
            </a:xfrm>
            <a:prstGeom prst="rect">
              <a:avLst/>
            </a:prstGeom>
          </p:spPr>
          <p:txBody>
            <a:bodyPr lIns="0" tIns="0" rIns="0" bIns="0" rtlCol="0" anchor="ctr"/>
            <a:lstStyle/>
            <a:p>
              <a:pPr algn="l">
                <a:lnSpc>
                  <a:spcPts val="4320"/>
                </a:lnSpc>
              </a:pPr>
              <a:r>
                <a:rPr lang="en-US" sz="4000" b="1">
                  <a:solidFill>
                    <a:srgbClr val="0099D8"/>
                  </a:solidFill>
                  <a:latin typeface="Calibri"/>
                  <a:ea typeface="Calibri (MS) Bold"/>
                  <a:cs typeface="Calibri"/>
                  <a:sym typeface="Calibri (MS) Bold"/>
                </a:rPr>
                <a:t>4.15x</a:t>
              </a:r>
            </a:p>
          </p:txBody>
        </p:sp>
      </p:grpSp>
      <p:sp>
        <p:nvSpPr>
          <p:cNvPr id="44" name="TextBox 44"/>
          <p:cNvSpPr txBox="1"/>
          <p:nvPr/>
        </p:nvSpPr>
        <p:spPr>
          <a:xfrm>
            <a:off x="6583680" y="4772025"/>
            <a:ext cx="2263140" cy="615553"/>
          </a:xfrm>
          <a:prstGeom prst="rect">
            <a:avLst/>
          </a:prstGeom>
        </p:spPr>
        <p:txBody>
          <a:bodyPr lIns="0" tIns="0" rIns="0" bIns="0" rtlCol="0" anchor="t">
            <a:spAutoFit/>
          </a:bodyPr>
          <a:lstStyle/>
          <a:p>
            <a:pPr algn="l"/>
            <a:r>
              <a:rPr lang="en-US" sz="2000">
                <a:solidFill>
                  <a:srgbClr val="66717D"/>
                </a:solidFill>
                <a:latin typeface="Calibri"/>
                <a:ea typeface="Calibri (MS)"/>
                <a:cs typeface="Calibri"/>
                <a:sym typeface="Calibri (MS)"/>
              </a:rPr>
              <a:t>Net debt to TTM EBITDA</a:t>
            </a:r>
          </a:p>
        </p:txBody>
      </p:sp>
      <p:grpSp>
        <p:nvGrpSpPr>
          <p:cNvPr id="50" name="Group 50"/>
          <p:cNvGrpSpPr/>
          <p:nvPr/>
        </p:nvGrpSpPr>
        <p:grpSpPr>
          <a:xfrm>
            <a:off x="744856" y="5888355"/>
            <a:ext cx="8248650" cy="2487930"/>
            <a:chOff x="0" y="0"/>
            <a:chExt cx="22428200" cy="2219960"/>
          </a:xfrm>
        </p:grpSpPr>
        <p:sp>
          <p:nvSpPr>
            <p:cNvPr id="51" name="Freeform 51"/>
            <p:cNvSpPr/>
            <p:nvPr/>
          </p:nvSpPr>
          <p:spPr>
            <a:xfrm>
              <a:off x="0" y="0"/>
              <a:ext cx="22428200" cy="2219960"/>
            </a:xfrm>
            <a:custGeom>
              <a:avLst/>
              <a:gdLst/>
              <a:ahLst/>
              <a:cxnLst/>
              <a:rect l="l" t="t" r="r" b="b"/>
              <a:pathLst>
                <a:path w="22428200" h="2219960">
                  <a:moveTo>
                    <a:pt x="0" y="147955"/>
                  </a:moveTo>
                  <a:cubicBezTo>
                    <a:pt x="0" y="66294"/>
                    <a:pt x="66294" y="0"/>
                    <a:pt x="147955" y="0"/>
                  </a:cubicBezTo>
                  <a:lnTo>
                    <a:pt x="22280245" y="0"/>
                  </a:lnTo>
                  <a:cubicBezTo>
                    <a:pt x="22362033" y="0"/>
                    <a:pt x="22428200" y="66294"/>
                    <a:pt x="22428200" y="147955"/>
                  </a:cubicBezTo>
                  <a:lnTo>
                    <a:pt x="22428200" y="2072005"/>
                  </a:lnTo>
                  <a:cubicBezTo>
                    <a:pt x="22428200" y="2153793"/>
                    <a:pt x="22361906" y="2219960"/>
                    <a:pt x="22280245" y="2219960"/>
                  </a:cubicBezTo>
                  <a:lnTo>
                    <a:pt x="147955" y="2219960"/>
                  </a:lnTo>
                  <a:cubicBezTo>
                    <a:pt x="66294" y="2219960"/>
                    <a:pt x="0" y="2153666"/>
                    <a:pt x="0" y="2072005"/>
                  </a:cubicBezTo>
                  <a:close/>
                </a:path>
              </a:pathLst>
            </a:custGeom>
            <a:solidFill>
              <a:srgbClr val="003057"/>
            </a:solidFill>
            <a:ln w="19050" cap="sq">
              <a:solidFill>
                <a:srgbClr val="D8DEE6"/>
              </a:solidFill>
              <a:prstDash val="solid"/>
              <a:miter/>
            </a:ln>
          </p:spPr>
          <p:txBody>
            <a:bodyPr/>
            <a:lstStyle/>
            <a:p>
              <a:endParaRPr lang="en-US"/>
            </a:p>
          </p:txBody>
        </p:sp>
      </p:grpSp>
      <p:grpSp>
        <p:nvGrpSpPr>
          <p:cNvPr id="52" name="Group 52"/>
          <p:cNvGrpSpPr/>
          <p:nvPr/>
        </p:nvGrpSpPr>
        <p:grpSpPr>
          <a:xfrm>
            <a:off x="960120" y="6029374"/>
            <a:ext cx="7955280" cy="2113072"/>
            <a:chOff x="-543683" y="-38100"/>
            <a:chExt cx="21940643" cy="1866900"/>
          </a:xfrm>
        </p:grpSpPr>
        <p:sp>
          <p:nvSpPr>
            <p:cNvPr id="53" name="Freeform 53"/>
            <p:cNvSpPr/>
            <p:nvPr/>
          </p:nvSpPr>
          <p:spPr>
            <a:xfrm>
              <a:off x="-543683" y="0"/>
              <a:ext cx="21626515" cy="1828800"/>
            </a:xfrm>
            <a:custGeom>
              <a:avLst/>
              <a:gdLst/>
              <a:ahLst/>
              <a:cxnLst/>
              <a:rect l="l" t="t" r="r" b="b"/>
              <a:pathLst>
                <a:path w="21396961" h="1828800">
                  <a:moveTo>
                    <a:pt x="0" y="0"/>
                  </a:moveTo>
                  <a:lnTo>
                    <a:pt x="21396961" y="0"/>
                  </a:lnTo>
                  <a:lnTo>
                    <a:pt x="21396961" y="1828800"/>
                  </a:lnTo>
                  <a:lnTo>
                    <a:pt x="0" y="1828800"/>
                  </a:lnTo>
                  <a:close/>
                </a:path>
              </a:pathLst>
            </a:custGeom>
            <a:blipFill>
              <a:blip r:embed="rId3">
                <a:alphaModFix amt="0"/>
              </a:blip>
              <a:stretch>
                <a:fillRect t="-177974" b="-177974"/>
              </a:stretch>
            </a:blipFill>
          </p:spPr>
          <p:txBody>
            <a:bodyPr anchor="ctr"/>
            <a:lstStyle/>
            <a:p>
              <a:r>
                <a:rPr lang="en-US" sz="2400" b="1">
                  <a:solidFill>
                    <a:schemeClr val="bg1"/>
                  </a:solidFill>
                </a:rPr>
                <a:t>Charter lacks visibility into where its Internet customers are going. Without it, the company cannot direct its response or its capital, and investors price each quarter's losses as unexplained risk, a discount that buybacks have not reversed and that 4.15x leverage leaves little room to absorb.</a:t>
              </a:r>
            </a:p>
          </p:txBody>
        </p:sp>
        <p:sp>
          <p:nvSpPr>
            <p:cNvPr id="54" name="TextBox 54"/>
            <p:cNvSpPr txBox="1"/>
            <p:nvPr/>
          </p:nvSpPr>
          <p:spPr>
            <a:xfrm>
              <a:off x="0" y="-38100"/>
              <a:ext cx="21396960" cy="1866900"/>
            </a:xfrm>
            <a:prstGeom prst="rect">
              <a:avLst/>
            </a:prstGeom>
          </p:spPr>
          <p:txBody>
            <a:bodyPr lIns="0" tIns="0" rIns="0" bIns="0" rtlCol="0" anchor="ctr"/>
            <a:lstStyle/>
            <a:p>
              <a:pPr algn="l">
                <a:lnSpc>
                  <a:spcPts val="2160"/>
                </a:lnSpc>
              </a:pPr>
              <a:endParaRPr lang="en-US" sz="1800">
                <a:solidFill>
                  <a:srgbClr val="DCE9F7"/>
                </a:solidFill>
                <a:latin typeface="Calibri"/>
                <a:ea typeface="Calibri (MS)"/>
                <a:cs typeface="Calibri"/>
              </a:endParaRPr>
            </a:p>
          </p:txBody>
        </p:sp>
      </p:grpSp>
      <p:sp>
        <p:nvSpPr>
          <p:cNvPr id="55" name="TextBox 55"/>
          <p:cNvSpPr txBox="1"/>
          <p:nvPr/>
        </p:nvSpPr>
        <p:spPr>
          <a:xfrm>
            <a:off x="763905" y="8474678"/>
            <a:ext cx="16802100" cy="234038"/>
          </a:xfrm>
          <a:prstGeom prst="rect">
            <a:avLst/>
          </a:prstGeom>
        </p:spPr>
        <p:txBody>
          <a:bodyPr lIns="0" tIns="0" rIns="0" bIns="0" rtlCol="0" anchor="t">
            <a:spAutoFit/>
          </a:bodyPr>
          <a:lstStyle/>
          <a:p>
            <a:pPr algn="l">
              <a:lnSpc>
                <a:spcPts val="1797"/>
              </a:lnSpc>
            </a:pPr>
            <a:r>
              <a:rPr lang="en-US" b="1">
                <a:solidFill>
                  <a:srgbClr val="C8102E"/>
                </a:solidFill>
                <a:latin typeface="Calibri"/>
                <a:ea typeface="Calibri (MS) Bold"/>
                <a:cs typeface="Calibri"/>
                <a:sym typeface="Calibri (MS) Bold"/>
              </a:rPr>
              <a:t>Anchor check: </a:t>
            </a:r>
            <a:r>
              <a:rPr lang="en-US">
                <a:solidFill>
                  <a:srgbClr val="5B6672"/>
                </a:solidFill>
                <a:latin typeface="Calibri"/>
                <a:ea typeface="Calibri (MS)"/>
                <a:cs typeface="Calibri"/>
                <a:sym typeface="Calibri (MS)"/>
              </a:rPr>
              <a:t>subscriber loss was the first fact we were handed. The three killed hypotheses are how we tested the anchor instead of building on it.</a:t>
            </a:r>
          </a:p>
        </p:txBody>
      </p:sp>
      <p:grpSp>
        <p:nvGrpSpPr>
          <p:cNvPr id="56" name="Group 56"/>
          <p:cNvGrpSpPr/>
          <p:nvPr/>
        </p:nvGrpSpPr>
        <p:grpSpPr>
          <a:xfrm>
            <a:off x="754380" y="8805672"/>
            <a:ext cx="16733520" cy="356616"/>
            <a:chOff x="0" y="0"/>
            <a:chExt cx="22311360" cy="475488"/>
          </a:xfrm>
        </p:grpSpPr>
        <p:sp>
          <p:nvSpPr>
            <p:cNvPr id="57" name="Freeform 57"/>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58" name="TextBox 58"/>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Q1 2026 10-Q and Ex99.1; Yahoo Finance closes (analysis, not a filing). Rate and volume bridge in Appendix A5.</a:t>
              </a:r>
            </a:p>
          </p:txBody>
        </p:sp>
      </p:grpSp>
      <p:grpSp>
        <p:nvGrpSpPr>
          <p:cNvPr id="59" name="Group 59"/>
          <p:cNvGrpSpPr/>
          <p:nvPr/>
        </p:nvGrpSpPr>
        <p:grpSpPr>
          <a:xfrm>
            <a:off x="754380" y="9189720"/>
            <a:ext cx="16733520" cy="411480"/>
            <a:chOff x="0" y="0"/>
            <a:chExt cx="22311360" cy="548640"/>
          </a:xfrm>
        </p:grpSpPr>
        <p:sp>
          <p:nvSpPr>
            <p:cNvPr id="60" name="Freeform 60"/>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61" name="TextBox 61"/>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4"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62" name="Group 62"/>
          <p:cNvGrpSpPr/>
          <p:nvPr/>
        </p:nvGrpSpPr>
        <p:grpSpPr>
          <a:xfrm>
            <a:off x="17076420" y="9641205"/>
            <a:ext cx="960120" cy="440055"/>
            <a:chOff x="0" y="-38100"/>
            <a:chExt cx="1280160" cy="586740"/>
          </a:xfrm>
        </p:grpSpPr>
        <p:sp>
          <p:nvSpPr>
            <p:cNvPr id="63" name="Freeform 63"/>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64" name="TextBox 64"/>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a:t>
              </a:r>
            </a:p>
          </p:txBody>
        </p:sp>
      </p:grpSp>
      <p:grpSp>
        <p:nvGrpSpPr>
          <p:cNvPr id="65" name="Group 65"/>
          <p:cNvGrpSpPr/>
          <p:nvPr/>
        </p:nvGrpSpPr>
        <p:grpSpPr>
          <a:xfrm>
            <a:off x="754380" y="9669780"/>
            <a:ext cx="16047720" cy="411480"/>
            <a:chOff x="0" y="0"/>
            <a:chExt cx="21396960" cy="548640"/>
          </a:xfrm>
        </p:grpSpPr>
        <p:sp>
          <p:nvSpPr>
            <p:cNvPr id="66" name="Freeform 66"/>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67" name="TextBox 67"/>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grpSp>
        <p:nvGrpSpPr>
          <p:cNvPr id="68" name="Group 68"/>
          <p:cNvGrpSpPr/>
          <p:nvPr/>
        </p:nvGrpSpPr>
        <p:grpSpPr>
          <a:xfrm>
            <a:off x="9875520" y="2297191"/>
            <a:ext cx="7406640" cy="1266271"/>
            <a:chOff x="0" y="0"/>
            <a:chExt cx="9875520" cy="1092200"/>
          </a:xfrm>
        </p:grpSpPr>
        <p:sp>
          <p:nvSpPr>
            <p:cNvPr id="69" name="Freeform 69"/>
            <p:cNvSpPr/>
            <p:nvPr/>
          </p:nvSpPr>
          <p:spPr>
            <a:xfrm>
              <a:off x="0" y="0"/>
              <a:ext cx="9875520" cy="1092200"/>
            </a:xfrm>
            <a:custGeom>
              <a:avLst/>
              <a:gdLst/>
              <a:ahLst/>
              <a:cxnLst/>
              <a:rect l="l" t="t" r="r" b="b"/>
              <a:pathLst>
                <a:path w="9875520" h="1092200">
                  <a:moveTo>
                    <a:pt x="63500" y="0"/>
                  </a:moveTo>
                  <a:lnTo>
                    <a:pt x="9812020" y="0"/>
                  </a:lnTo>
                  <a:cubicBezTo>
                    <a:pt x="9847090" y="0"/>
                    <a:pt x="9875520" y="28430"/>
                    <a:pt x="9875520" y="63500"/>
                  </a:cubicBezTo>
                  <a:lnTo>
                    <a:pt x="9875520" y="1028700"/>
                  </a:lnTo>
                  <a:cubicBezTo>
                    <a:pt x="9875520" y="1063770"/>
                    <a:pt x="9847090" y="1092200"/>
                    <a:pt x="9812020" y="1092200"/>
                  </a:cubicBezTo>
                  <a:lnTo>
                    <a:pt x="63500" y="1092200"/>
                  </a:lnTo>
                  <a:cubicBezTo>
                    <a:pt x="28430" y="1092200"/>
                    <a:pt x="0" y="1063770"/>
                    <a:pt x="0" y="1028700"/>
                  </a:cubicBezTo>
                  <a:lnTo>
                    <a:pt x="0" y="63500"/>
                  </a:lnTo>
                  <a:cubicBezTo>
                    <a:pt x="0" y="28430"/>
                    <a:pt x="28430" y="0"/>
                    <a:pt x="63500" y="0"/>
                  </a:cubicBezTo>
                  <a:close/>
                </a:path>
              </a:pathLst>
            </a:custGeom>
            <a:solidFill>
              <a:srgbClr val="FEFEFE"/>
            </a:solidFill>
            <a:ln w="9525" cap="sq">
              <a:solidFill>
                <a:srgbClr val="D8E4EC"/>
              </a:solidFill>
              <a:prstDash val="solid"/>
              <a:miter/>
            </a:ln>
          </p:spPr>
          <p:txBody>
            <a:bodyPr/>
            <a:lstStyle/>
            <a:p>
              <a:endParaRPr lang="en-US"/>
            </a:p>
          </p:txBody>
        </p:sp>
        <p:sp>
          <p:nvSpPr>
            <p:cNvPr id="70" name="TextBox 70"/>
            <p:cNvSpPr txBox="1"/>
            <p:nvPr/>
          </p:nvSpPr>
          <p:spPr>
            <a:xfrm>
              <a:off x="0" y="-38100"/>
              <a:ext cx="9875520" cy="1130300"/>
            </a:xfrm>
            <a:prstGeom prst="rect">
              <a:avLst/>
            </a:prstGeom>
          </p:spPr>
          <p:txBody>
            <a:bodyPr lIns="50800" tIns="50800" rIns="50800" bIns="50800" rtlCol="0" anchor="ctr"/>
            <a:lstStyle/>
            <a:p>
              <a:pPr algn="l">
                <a:lnSpc>
                  <a:spcPts val="1679"/>
                </a:lnSpc>
              </a:pPr>
              <a:endParaRPr/>
            </a:p>
          </p:txBody>
        </p:sp>
      </p:grpSp>
      <p:sp>
        <p:nvSpPr>
          <p:cNvPr id="71" name="TextBox 71"/>
          <p:cNvSpPr txBox="1"/>
          <p:nvPr/>
        </p:nvSpPr>
        <p:spPr>
          <a:xfrm>
            <a:off x="10027920" y="2505952"/>
            <a:ext cx="7101840" cy="300723"/>
          </a:xfrm>
          <a:prstGeom prst="rect">
            <a:avLst/>
          </a:prstGeom>
        </p:spPr>
        <p:txBody>
          <a:bodyPr lIns="0" tIns="0" rIns="0" bIns="0" rtlCol="0" anchor="t">
            <a:spAutoFit/>
          </a:bodyPr>
          <a:lstStyle/>
          <a:p>
            <a:pPr algn="l">
              <a:lnSpc>
                <a:spcPts val="1960"/>
              </a:lnSpc>
            </a:pPr>
            <a:r>
              <a:rPr lang="en-US" sz="3200" b="1">
                <a:solidFill>
                  <a:srgbClr val="0099D8"/>
                </a:solidFill>
                <a:latin typeface="Calibri"/>
                <a:ea typeface="Calibri (MS) Bold"/>
                <a:cs typeface="Calibri"/>
                <a:sym typeface="Calibri (MS) Bold"/>
              </a:rPr>
              <a:t>SYMPTOM</a:t>
            </a:r>
          </a:p>
        </p:txBody>
      </p:sp>
      <p:sp>
        <p:nvSpPr>
          <p:cNvPr id="72" name="TextBox 72"/>
          <p:cNvSpPr txBox="1"/>
          <p:nvPr/>
        </p:nvSpPr>
        <p:spPr>
          <a:xfrm>
            <a:off x="10027920" y="2772652"/>
            <a:ext cx="7101840" cy="615553"/>
          </a:xfrm>
          <a:prstGeom prst="rect">
            <a:avLst/>
          </a:prstGeom>
        </p:spPr>
        <p:txBody>
          <a:bodyPr lIns="0" tIns="0" rIns="0" bIns="0" rtlCol="0" anchor="t">
            <a:spAutoFit/>
          </a:bodyPr>
          <a:lstStyle/>
          <a:p>
            <a:pPr algn="l"/>
            <a:r>
              <a:rPr lang="en-US" sz="2000">
                <a:latin typeface="Calibri"/>
                <a:ea typeface="Calibri (MS)"/>
                <a:cs typeface="Calibri"/>
                <a:sym typeface="Calibri (MS)"/>
              </a:rPr>
              <a:t>a falling share price and buybacks that stopped producing price support.</a:t>
            </a:r>
          </a:p>
        </p:txBody>
      </p:sp>
      <p:grpSp>
        <p:nvGrpSpPr>
          <p:cNvPr id="73" name="Group 73"/>
          <p:cNvGrpSpPr/>
          <p:nvPr/>
        </p:nvGrpSpPr>
        <p:grpSpPr>
          <a:xfrm>
            <a:off x="9875520" y="3813037"/>
            <a:ext cx="7406640" cy="2162296"/>
            <a:chOff x="0" y="0"/>
            <a:chExt cx="9875520" cy="1955800"/>
          </a:xfrm>
        </p:grpSpPr>
        <p:sp>
          <p:nvSpPr>
            <p:cNvPr id="74" name="Freeform 74"/>
            <p:cNvSpPr/>
            <p:nvPr/>
          </p:nvSpPr>
          <p:spPr>
            <a:xfrm>
              <a:off x="0" y="0"/>
              <a:ext cx="9875520" cy="1955800"/>
            </a:xfrm>
            <a:custGeom>
              <a:avLst/>
              <a:gdLst/>
              <a:ahLst/>
              <a:cxnLst/>
              <a:rect l="l" t="t" r="r" b="b"/>
              <a:pathLst>
                <a:path w="9875520" h="1955800">
                  <a:moveTo>
                    <a:pt x="63500" y="0"/>
                  </a:moveTo>
                  <a:lnTo>
                    <a:pt x="9812020" y="0"/>
                  </a:lnTo>
                  <a:cubicBezTo>
                    <a:pt x="9847090" y="0"/>
                    <a:pt x="9875520" y="28430"/>
                    <a:pt x="9875520" y="63500"/>
                  </a:cubicBezTo>
                  <a:lnTo>
                    <a:pt x="9875520" y="1892300"/>
                  </a:lnTo>
                  <a:cubicBezTo>
                    <a:pt x="9875520" y="1927370"/>
                    <a:pt x="9847090" y="1955800"/>
                    <a:pt x="9812020" y="1955800"/>
                  </a:cubicBezTo>
                  <a:lnTo>
                    <a:pt x="63500" y="1955800"/>
                  </a:lnTo>
                  <a:cubicBezTo>
                    <a:pt x="28430" y="1955800"/>
                    <a:pt x="0" y="1927370"/>
                    <a:pt x="0" y="1892300"/>
                  </a:cubicBezTo>
                  <a:lnTo>
                    <a:pt x="0" y="63500"/>
                  </a:lnTo>
                  <a:cubicBezTo>
                    <a:pt x="0" y="28430"/>
                    <a:pt x="28430" y="0"/>
                    <a:pt x="63500" y="0"/>
                  </a:cubicBezTo>
                  <a:close/>
                </a:path>
              </a:pathLst>
            </a:custGeom>
            <a:solidFill>
              <a:srgbClr val="FEFEFE"/>
            </a:solidFill>
            <a:ln w="9525" cap="sq">
              <a:solidFill>
                <a:srgbClr val="D8E4EC"/>
              </a:solidFill>
              <a:prstDash val="solid"/>
              <a:miter/>
            </a:ln>
          </p:spPr>
          <p:txBody>
            <a:bodyPr/>
            <a:lstStyle/>
            <a:p>
              <a:endParaRPr lang="en-US"/>
            </a:p>
          </p:txBody>
        </p:sp>
        <p:sp>
          <p:nvSpPr>
            <p:cNvPr id="75" name="TextBox 75"/>
            <p:cNvSpPr txBox="1"/>
            <p:nvPr/>
          </p:nvSpPr>
          <p:spPr>
            <a:xfrm>
              <a:off x="0" y="-38100"/>
              <a:ext cx="9875520" cy="1993900"/>
            </a:xfrm>
            <a:prstGeom prst="rect">
              <a:avLst/>
            </a:prstGeom>
          </p:spPr>
          <p:txBody>
            <a:bodyPr lIns="50800" tIns="50800" rIns="50800" bIns="50800" rtlCol="0" anchor="ctr"/>
            <a:lstStyle/>
            <a:p>
              <a:pPr algn="l">
                <a:lnSpc>
                  <a:spcPts val="1679"/>
                </a:lnSpc>
              </a:pPr>
              <a:endParaRPr/>
            </a:p>
          </p:txBody>
        </p:sp>
      </p:grpSp>
      <p:sp>
        <p:nvSpPr>
          <p:cNvPr id="76" name="TextBox 76"/>
          <p:cNvSpPr txBox="1"/>
          <p:nvPr/>
        </p:nvSpPr>
        <p:spPr>
          <a:xfrm>
            <a:off x="10027920" y="4053235"/>
            <a:ext cx="7101840" cy="300723"/>
          </a:xfrm>
          <a:prstGeom prst="rect">
            <a:avLst/>
          </a:prstGeom>
        </p:spPr>
        <p:txBody>
          <a:bodyPr lIns="0" tIns="0" rIns="0" bIns="0" rtlCol="0" anchor="t">
            <a:spAutoFit/>
          </a:bodyPr>
          <a:lstStyle/>
          <a:p>
            <a:pPr algn="l">
              <a:lnSpc>
                <a:spcPts val="1960"/>
              </a:lnSpc>
            </a:pPr>
            <a:r>
              <a:rPr lang="en-US" sz="3200" b="1">
                <a:solidFill>
                  <a:srgbClr val="0099D8"/>
                </a:solidFill>
                <a:latin typeface="Calibri"/>
                <a:ea typeface="Calibri (MS) Bold"/>
                <a:cs typeface="Calibri"/>
                <a:sym typeface="Calibri (MS) Bold"/>
              </a:rPr>
              <a:t>UNDERLYING ISSUE</a:t>
            </a:r>
          </a:p>
        </p:txBody>
      </p:sp>
      <p:sp>
        <p:nvSpPr>
          <p:cNvPr id="77" name="TextBox 77"/>
          <p:cNvSpPr txBox="1"/>
          <p:nvPr/>
        </p:nvSpPr>
        <p:spPr>
          <a:xfrm>
            <a:off x="10027920" y="4319935"/>
            <a:ext cx="7101840" cy="1538883"/>
          </a:xfrm>
          <a:prstGeom prst="rect">
            <a:avLst/>
          </a:prstGeom>
        </p:spPr>
        <p:txBody>
          <a:bodyPr lIns="0" tIns="0" rIns="0" bIns="0" rtlCol="0" anchor="t">
            <a:spAutoFit/>
          </a:bodyPr>
          <a:lstStyle/>
          <a:p>
            <a:pPr algn="l"/>
            <a:r>
              <a:rPr lang="en-US" sz="2000">
                <a:latin typeface="Calibri"/>
                <a:ea typeface="Calibri (MS)"/>
                <a:cs typeface="Calibri"/>
                <a:sym typeface="Calibri (MS)"/>
              </a:rPr>
              <a:t>Charter is a broadband-connectivity business, and its Internet base has lost customers for nine straight quarters. Since Q1 2026 it loses revenue dollars too: the rate offset fell from +$254M to +$8M a quarter and Internet revenue turned negative. The market has decided the trajectory is set.</a:t>
            </a:r>
          </a:p>
        </p:txBody>
      </p:sp>
      <p:sp>
        <p:nvSpPr>
          <p:cNvPr id="81" name="TextBox 81"/>
          <p:cNvSpPr txBox="1"/>
          <p:nvPr/>
        </p:nvSpPr>
        <p:spPr>
          <a:xfrm>
            <a:off x="10027920" y="6479197"/>
            <a:ext cx="7101840" cy="291105"/>
          </a:xfrm>
          <a:prstGeom prst="rect">
            <a:avLst/>
          </a:prstGeom>
        </p:spPr>
        <p:txBody>
          <a:bodyPr lIns="0" tIns="0" rIns="0" bIns="0" rtlCol="0" anchor="t">
            <a:spAutoFit/>
          </a:bodyPr>
          <a:lstStyle/>
          <a:p>
            <a:pPr algn="l">
              <a:lnSpc>
                <a:spcPts val="1889"/>
              </a:lnSpc>
            </a:pPr>
            <a:r>
              <a:rPr lang="en-US" sz="3200" b="1">
                <a:solidFill>
                  <a:srgbClr val="0099D8"/>
                </a:solidFill>
                <a:latin typeface="Calibri"/>
                <a:ea typeface="Calibri (MS) Bold"/>
                <a:cs typeface="Calibri"/>
                <a:sym typeface="Calibri (MS) Bold"/>
              </a:rPr>
              <a:t>WHAT WE TESTED AND KILLED</a:t>
            </a:r>
          </a:p>
        </p:txBody>
      </p:sp>
      <p:sp>
        <p:nvSpPr>
          <p:cNvPr id="82" name="TextBox 82"/>
          <p:cNvSpPr txBox="1"/>
          <p:nvPr/>
        </p:nvSpPr>
        <p:spPr>
          <a:xfrm>
            <a:off x="10027920" y="6799237"/>
            <a:ext cx="7101840" cy="615553"/>
          </a:xfrm>
          <a:prstGeom prst="rect">
            <a:avLst/>
          </a:prstGeom>
        </p:spPr>
        <p:txBody>
          <a:bodyPr lIns="0" tIns="0" rIns="0" bIns="0" rtlCol="0" anchor="t">
            <a:spAutoFit/>
          </a:bodyPr>
          <a:lstStyle/>
          <a:p>
            <a:pPr algn="l"/>
            <a:r>
              <a:rPr lang="en-US" sz="2000">
                <a:latin typeface="Calibri"/>
                <a:ea typeface="Calibri (MS)"/>
                <a:cs typeface="Calibri"/>
                <a:sym typeface="Calibri (MS)"/>
              </a:rPr>
              <a:t>Operating expenditures (margins held at 41%), FCF as the lens (r = 0.08), mobile netting (rejected on two earnings days). Appendix A10.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1</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774192"/>
            <a:ext cx="16733520" cy="584071"/>
          </a:xfrm>
          <a:prstGeom prst="rect">
            <a:avLst/>
          </a:prstGeom>
        </p:spPr>
        <p:txBody>
          <a:bodyPr lIns="0" tIns="0" rIns="0" bIns="0" rtlCol="0" anchor="t">
            <a:spAutoFit/>
          </a:bodyPr>
          <a:lstStyle/>
          <a:p>
            <a:pPr>
              <a:lnSpc>
                <a:spcPts val="4680"/>
              </a:lnSpc>
            </a:pPr>
            <a:r>
              <a:rPr lang="en-US" sz="3900" b="1">
                <a:solidFill>
                  <a:srgbClr val="003057"/>
                </a:solidFill>
                <a:latin typeface="Calibri"/>
                <a:ea typeface="Calibri (MS) Bold"/>
                <a:cs typeface="Calibri"/>
                <a:sym typeface="Calibri (MS) Bold"/>
              </a:rPr>
              <a:t>Recommendation 1: Identify the Churn Leak, Then Act on Every Answer</a:t>
            </a:r>
          </a:p>
        </p:txBody>
      </p:sp>
      <p:grpSp>
        <p:nvGrpSpPr>
          <p:cNvPr id="9" name="Group 9"/>
          <p:cNvGrpSpPr/>
          <p:nvPr/>
        </p:nvGrpSpPr>
        <p:grpSpPr>
          <a:xfrm>
            <a:off x="742474" y="1908334"/>
            <a:ext cx="16825912" cy="6813232"/>
            <a:chOff x="0" y="0"/>
            <a:chExt cx="22434550" cy="9084310"/>
          </a:xfrm>
        </p:grpSpPr>
        <p:sp>
          <p:nvSpPr>
            <p:cNvPr id="10" name="Freeform 10"/>
            <p:cNvSpPr/>
            <p:nvPr/>
          </p:nvSpPr>
          <p:spPr>
            <a:xfrm>
              <a:off x="0" y="0"/>
              <a:ext cx="22434550" cy="9084310"/>
            </a:xfrm>
            <a:custGeom>
              <a:avLst/>
              <a:gdLst/>
              <a:ahLst/>
              <a:cxnLst/>
              <a:rect l="l" t="t" r="r" b="b"/>
              <a:pathLst>
                <a:path w="22434550" h="9084310">
                  <a:moveTo>
                    <a:pt x="0" y="146812"/>
                  </a:moveTo>
                  <a:cubicBezTo>
                    <a:pt x="0" y="65786"/>
                    <a:pt x="65786" y="0"/>
                    <a:pt x="146812" y="0"/>
                  </a:cubicBezTo>
                  <a:lnTo>
                    <a:pt x="22287737" y="0"/>
                  </a:lnTo>
                  <a:cubicBezTo>
                    <a:pt x="22368763" y="0"/>
                    <a:pt x="22434550" y="65786"/>
                    <a:pt x="22434550" y="146812"/>
                  </a:cubicBezTo>
                  <a:lnTo>
                    <a:pt x="22434550" y="8937498"/>
                  </a:lnTo>
                  <a:cubicBezTo>
                    <a:pt x="22434550" y="9018524"/>
                    <a:pt x="22368763" y="9084310"/>
                    <a:pt x="22287737" y="9084310"/>
                  </a:cubicBezTo>
                  <a:lnTo>
                    <a:pt x="146812" y="9084310"/>
                  </a:lnTo>
                  <a:cubicBezTo>
                    <a:pt x="65786" y="9084310"/>
                    <a:pt x="0" y="9018524"/>
                    <a:pt x="0" y="8937498"/>
                  </a:cubicBezTo>
                  <a:close/>
                </a:path>
              </a:pathLst>
            </a:custGeom>
            <a:solidFill>
              <a:srgbClr val="F2F3F4"/>
            </a:solidFill>
            <a:ln w="23812" cap="sq">
              <a:solidFill>
                <a:srgbClr val="D8DEE6"/>
              </a:solidFill>
              <a:prstDash val="solid"/>
              <a:miter/>
            </a:ln>
          </p:spPr>
          <p:txBody>
            <a:bodyPr/>
            <a:lstStyle/>
            <a:p>
              <a:endParaRPr lang="en-US"/>
            </a:p>
          </p:txBody>
        </p:sp>
      </p:grpSp>
      <p:grpSp>
        <p:nvGrpSpPr>
          <p:cNvPr id="11" name="Group 11"/>
          <p:cNvGrpSpPr/>
          <p:nvPr/>
        </p:nvGrpSpPr>
        <p:grpSpPr>
          <a:xfrm>
            <a:off x="1028700" y="2194560"/>
            <a:ext cx="16253460" cy="1303020"/>
            <a:chOff x="0" y="0"/>
            <a:chExt cx="21671280" cy="1737360"/>
          </a:xfrm>
        </p:grpSpPr>
        <p:sp>
          <p:nvSpPr>
            <p:cNvPr id="12" name="Freeform 12"/>
            <p:cNvSpPr/>
            <p:nvPr/>
          </p:nvSpPr>
          <p:spPr>
            <a:xfrm>
              <a:off x="0" y="0"/>
              <a:ext cx="21671280" cy="1737360"/>
            </a:xfrm>
            <a:custGeom>
              <a:avLst/>
              <a:gdLst/>
              <a:ahLst/>
              <a:cxnLst/>
              <a:rect l="l" t="t" r="r" b="b"/>
              <a:pathLst>
                <a:path w="21671280" h="1737360">
                  <a:moveTo>
                    <a:pt x="0" y="109728"/>
                  </a:moveTo>
                  <a:cubicBezTo>
                    <a:pt x="0" y="49149"/>
                    <a:pt x="49149" y="0"/>
                    <a:pt x="109728" y="0"/>
                  </a:cubicBezTo>
                  <a:lnTo>
                    <a:pt x="21561552" y="0"/>
                  </a:lnTo>
                  <a:cubicBezTo>
                    <a:pt x="21622131" y="0"/>
                    <a:pt x="21671280" y="49149"/>
                    <a:pt x="21671280" y="109728"/>
                  </a:cubicBezTo>
                  <a:lnTo>
                    <a:pt x="21671280" y="1627632"/>
                  </a:lnTo>
                  <a:cubicBezTo>
                    <a:pt x="21671280" y="1688211"/>
                    <a:pt x="21622131" y="1737360"/>
                    <a:pt x="21561552" y="1737360"/>
                  </a:cubicBezTo>
                  <a:lnTo>
                    <a:pt x="109728" y="1737360"/>
                  </a:lnTo>
                  <a:cubicBezTo>
                    <a:pt x="49149" y="1737360"/>
                    <a:pt x="0" y="1688211"/>
                    <a:pt x="0" y="1627632"/>
                  </a:cubicBezTo>
                  <a:close/>
                </a:path>
              </a:pathLst>
            </a:custGeom>
            <a:solidFill>
              <a:srgbClr val="003057"/>
            </a:solidFill>
          </p:spPr>
          <p:txBody>
            <a:bodyPr/>
            <a:lstStyle/>
            <a:p>
              <a:endParaRPr lang="en-US"/>
            </a:p>
          </p:txBody>
        </p:sp>
      </p:grpSp>
      <p:grpSp>
        <p:nvGrpSpPr>
          <p:cNvPr id="13" name="Group 13"/>
          <p:cNvGrpSpPr/>
          <p:nvPr/>
        </p:nvGrpSpPr>
        <p:grpSpPr>
          <a:xfrm>
            <a:off x="1303020" y="2158841"/>
            <a:ext cx="15704821" cy="1338739"/>
            <a:chOff x="0" y="-47625"/>
            <a:chExt cx="20939761" cy="1784985"/>
          </a:xfrm>
        </p:grpSpPr>
        <p:sp>
          <p:nvSpPr>
            <p:cNvPr id="14" name="Freeform 14"/>
            <p:cNvSpPr/>
            <p:nvPr/>
          </p:nvSpPr>
          <p:spPr>
            <a:xfrm>
              <a:off x="0" y="0"/>
              <a:ext cx="20939761" cy="1737360"/>
            </a:xfrm>
            <a:custGeom>
              <a:avLst/>
              <a:gdLst/>
              <a:ahLst/>
              <a:cxnLst/>
              <a:rect l="l" t="t" r="r" b="b"/>
              <a:pathLst>
                <a:path w="20939761" h="1737360">
                  <a:moveTo>
                    <a:pt x="0" y="0"/>
                  </a:moveTo>
                  <a:lnTo>
                    <a:pt x="20939761" y="0"/>
                  </a:lnTo>
                  <a:lnTo>
                    <a:pt x="20939761" y="1737360"/>
                  </a:lnTo>
                  <a:lnTo>
                    <a:pt x="0" y="1737360"/>
                  </a:lnTo>
                  <a:close/>
                </a:path>
              </a:pathLst>
            </a:custGeom>
            <a:blipFill>
              <a:blip r:embed="rId3">
                <a:alphaModFix amt="0"/>
              </a:blip>
              <a:stretch>
                <a:fillRect t="-184845" b="-184845"/>
              </a:stretch>
            </a:blipFill>
          </p:spPr>
          <p:txBody>
            <a:bodyPr/>
            <a:lstStyle/>
            <a:p>
              <a:endParaRPr lang="en-US"/>
            </a:p>
          </p:txBody>
        </p:sp>
        <p:sp>
          <p:nvSpPr>
            <p:cNvPr id="15" name="TextBox 15"/>
            <p:cNvSpPr txBox="1"/>
            <p:nvPr/>
          </p:nvSpPr>
          <p:spPr>
            <a:xfrm>
              <a:off x="0" y="-47625"/>
              <a:ext cx="20939760" cy="1784985"/>
            </a:xfrm>
            <a:prstGeom prst="rect">
              <a:avLst/>
            </a:prstGeom>
          </p:spPr>
          <p:txBody>
            <a:bodyPr lIns="0" tIns="0" rIns="0" bIns="0" rtlCol="0" anchor="ctr"/>
            <a:lstStyle/>
            <a:p>
              <a:pPr algn="l">
                <a:lnSpc>
                  <a:spcPts val="2520"/>
                </a:lnSpc>
              </a:pPr>
              <a:r>
                <a:rPr lang="en-US" sz="2400" b="1">
                  <a:solidFill>
                    <a:srgbClr val="DCE9F7"/>
                  </a:solidFill>
                  <a:latin typeface="Calibri"/>
                  <a:ea typeface="Calibri (MS) Bold"/>
                  <a:cs typeface="Calibri"/>
                  <a:sym typeface="Calibri (MS) Bold"/>
                </a:rPr>
                <a:t>HEADLINE   </a:t>
              </a:r>
              <a:r>
                <a:rPr lang="en-US" sz="2400" b="1">
                  <a:solidFill>
                    <a:srgbClr val="FFFFFF"/>
                  </a:solidFill>
                  <a:latin typeface="Calibri"/>
                  <a:ea typeface="Calibri (MS) Bold"/>
                  <a:cs typeface="Calibri"/>
                  <a:sym typeface="Calibri (MS) Bold"/>
                </a:rPr>
                <a:t>Build an address-level churn-attribution engine by Q4 2026 and ratify six pre-committed if-then plays, with stated thresholds, budgets, and kill conditions, before the first read in Q1 2027.</a:t>
              </a:r>
            </a:p>
          </p:txBody>
        </p:sp>
      </p:grpSp>
      <p:grpSp>
        <p:nvGrpSpPr>
          <p:cNvPr id="16" name="Group 16"/>
          <p:cNvGrpSpPr/>
          <p:nvPr/>
        </p:nvGrpSpPr>
        <p:grpSpPr>
          <a:xfrm>
            <a:off x="1028700" y="3703320"/>
            <a:ext cx="5321808" cy="3634740"/>
            <a:chOff x="0" y="0"/>
            <a:chExt cx="7095744" cy="4846320"/>
          </a:xfrm>
        </p:grpSpPr>
        <p:sp>
          <p:nvSpPr>
            <p:cNvPr id="17" name="Freeform 1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18" name="Group 18"/>
          <p:cNvGrpSpPr/>
          <p:nvPr/>
        </p:nvGrpSpPr>
        <p:grpSpPr>
          <a:xfrm>
            <a:off x="1303020" y="3867912"/>
            <a:ext cx="4800600" cy="356616"/>
            <a:chOff x="0" y="0"/>
            <a:chExt cx="6400800" cy="475488"/>
          </a:xfrm>
        </p:grpSpPr>
        <p:sp>
          <p:nvSpPr>
            <p:cNvPr id="19" name="Freeform 1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0" name="TextBox 2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RATIONALE</a:t>
              </a:r>
            </a:p>
          </p:txBody>
        </p:sp>
      </p:grpSp>
      <p:grpSp>
        <p:nvGrpSpPr>
          <p:cNvPr id="21" name="Group 21"/>
          <p:cNvGrpSpPr/>
          <p:nvPr/>
        </p:nvGrpSpPr>
        <p:grpSpPr>
          <a:xfrm>
            <a:off x="6487668" y="3703320"/>
            <a:ext cx="5321808" cy="3634740"/>
            <a:chOff x="0" y="0"/>
            <a:chExt cx="7095744" cy="4846320"/>
          </a:xfrm>
        </p:grpSpPr>
        <p:sp>
          <p:nvSpPr>
            <p:cNvPr id="22" name="Freeform 22"/>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3" name="Group 23"/>
          <p:cNvGrpSpPr/>
          <p:nvPr/>
        </p:nvGrpSpPr>
        <p:grpSpPr>
          <a:xfrm>
            <a:off x="6761988" y="3867912"/>
            <a:ext cx="4800600" cy="356616"/>
            <a:chOff x="0" y="0"/>
            <a:chExt cx="6400800" cy="475488"/>
          </a:xfrm>
        </p:grpSpPr>
        <p:sp>
          <p:nvSpPr>
            <p:cNvPr id="24" name="Freeform 24"/>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5" name="TextBox 25"/>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RISKS AND TRADEOFFS</a:t>
              </a:r>
            </a:p>
          </p:txBody>
        </p:sp>
      </p:grpSp>
      <p:grpSp>
        <p:nvGrpSpPr>
          <p:cNvPr id="26" name="Group 26"/>
          <p:cNvGrpSpPr/>
          <p:nvPr/>
        </p:nvGrpSpPr>
        <p:grpSpPr>
          <a:xfrm>
            <a:off x="11946636" y="3703320"/>
            <a:ext cx="5321808" cy="3634740"/>
            <a:chOff x="0" y="0"/>
            <a:chExt cx="7095744" cy="4846320"/>
          </a:xfrm>
        </p:grpSpPr>
        <p:sp>
          <p:nvSpPr>
            <p:cNvPr id="27" name="Freeform 2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8" name="Group 28"/>
          <p:cNvGrpSpPr/>
          <p:nvPr/>
        </p:nvGrpSpPr>
        <p:grpSpPr>
          <a:xfrm>
            <a:off x="12220956" y="3867912"/>
            <a:ext cx="4800600" cy="356616"/>
            <a:chOff x="0" y="0"/>
            <a:chExt cx="6400800" cy="475488"/>
          </a:xfrm>
        </p:grpSpPr>
        <p:sp>
          <p:nvSpPr>
            <p:cNvPr id="29" name="Freeform 2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30" name="TextBox 3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NEXT STEPS</a:t>
              </a:r>
            </a:p>
          </p:txBody>
        </p:sp>
      </p:grpSp>
      <p:grpSp>
        <p:nvGrpSpPr>
          <p:cNvPr id="31" name="Group 31"/>
          <p:cNvGrpSpPr/>
          <p:nvPr/>
        </p:nvGrpSpPr>
        <p:grpSpPr>
          <a:xfrm>
            <a:off x="754380" y="8805672"/>
            <a:ext cx="16733520" cy="356616"/>
            <a:chOff x="0" y="0"/>
            <a:chExt cx="22311360" cy="475488"/>
          </a:xfrm>
        </p:grpSpPr>
        <p:sp>
          <p:nvSpPr>
            <p:cNvPr id="32" name="Freeform 32"/>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33" name="TextBox 33"/>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(overlap: AT&amp;T ~27%, Verizon ~16% at 100 Mbps+); FCC Broadband Data Collection (public). Cost is a team estimate pending client IT.</a:t>
              </a:r>
            </a:p>
          </p:txBody>
        </p:sp>
      </p:grpSp>
      <p:grpSp>
        <p:nvGrpSpPr>
          <p:cNvPr id="34" name="Group 34"/>
          <p:cNvGrpSpPr/>
          <p:nvPr/>
        </p:nvGrpSpPr>
        <p:grpSpPr>
          <a:xfrm>
            <a:off x="754380" y="9168289"/>
            <a:ext cx="16733521" cy="432911"/>
            <a:chOff x="0" y="-28575"/>
            <a:chExt cx="22311361" cy="577215"/>
          </a:xfrm>
        </p:grpSpPr>
        <p:sp>
          <p:nvSpPr>
            <p:cNvPr id="35" name="Freeform 35"/>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6" name="TextBox 36"/>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4"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37" name="Group 37"/>
          <p:cNvGrpSpPr/>
          <p:nvPr/>
        </p:nvGrpSpPr>
        <p:grpSpPr>
          <a:xfrm>
            <a:off x="17076420" y="9641205"/>
            <a:ext cx="960120" cy="440055"/>
            <a:chOff x="0" y="-38100"/>
            <a:chExt cx="1280160" cy="586740"/>
          </a:xfrm>
        </p:grpSpPr>
        <p:sp>
          <p:nvSpPr>
            <p:cNvPr id="38" name="Freeform 38"/>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9" name="TextBox 39"/>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4</a:t>
              </a:r>
            </a:p>
          </p:txBody>
        </p:sp>
      </p:grpSp>
      <p:grpSp>
        <p:nvGrpSpPr>
          <p:cNvPr id="40" name="Group 40"/>
          <p:cNvGrpSpPr/>
          <p:nvPr/>
        </p:nvGrpSpPr>
        <p:grpSpPr>
          <a:xfrm>
            <a:off x="754380" y="9669780"/>
            <a:ext cx="16047720" cy="411480"/>
            <a:chOff x="0" y="0"/>
            <a:chExt cx="21396960" cy="548640"/>
          </a:xfrm>
        </p:grpSpPr>
        <p:sp>
          <p:nvSpPr>
            <p:cNvPr id="41" name="Freeform 41"/>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2" name="TextBox 42"/>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grpSp>
        <p:nvGrpSpPr>
          <p:cNvPr id="115" name="Group 115"/>
          <p:cNvGrpSpPr/>
          <p:nvPr/>
        </p:nvGrpSpPr>
        <p:grpSpPr>
          <a:xfrm>
            <a:off x="1303020" y="7543800"/>
            <a:ext cx="7776210" cy="960120"/>
            <a:chOff x="0" y="0"/>
            <a:chExt cx="10368280" cy="1280160"/>
          </a:xfrm>
        </p:grpSpPr>
        <p:sp>
          <p:nvSpPr>
            <p:cNvPr id="116" name="Freeform 116"/>
            <p:cNvSpPr/>
            <p:nvPr/>
          </p:nvSpPr>
          <p:spPr>
            <a:xfrm>
              <a:off x="0" y="0"/>
              <a:ext cx="10368280" cy="1280160"/>
            </a:xfrm>
            <a:custGeom>
              <a:avLst/>
              <a:gdLst/>
              <a:ahLst/>
              <a:cxnLst/>
              <a:rect l="l" t="t" r="r" b="b"/>
              <a:pathLst>
                <a:path w="10368280" h="1280160">
                  <a:moveTo>
                    <a:pt x="76200" y="0"/>
                  </a:moveTo>
                  <a:lnTo>
                    <a:pt x="10292080" y="0"/>
                  </a:lnTo>
                  <a:cubicBezTo>
                    <a:pt x="10334165" y="0"/>
                    <a:pt x="10368280" y="34116"/>
                    <a:pt x="10368280" y="76200"/>
                  </a:cubicBezTo>
                  <a:lnTo>
                    <a:pt x="10368280" y="1203960"/>
                  </a:lnTo>
                  <a:cubicBezTo>
                    <a:pt x="10368280" y="1246044"/>
                    <a:pt x="10334165" y="1280160"/>
                    <a:pt x="10292080" y="1280160"/>
                  </a:cubicBezTo>
                  <a:lnTo>
                    <a:pt x="76200" y="1280160"/>
                  </a:lnTo>
                  <a:cubicBezTo>
                    <a:pt x="34116" y="1280160"/>
                    <a:pt x="0" y="1246044"/>
                    <a:pt x="0" y="1203960"/>
                  </a:cubicBezTo>
                  <a:lnTo>
                    <a:pt x="0" y="76200"/>
                  </a:lnTo>
                  <a:cubicBezTo>
                    <a:pt x="0" y="34116"/>
                    <a:pt x="34116" y="0"/>
                    <a:pt x="76200" y="0"/>
                  </a:cubicBezTo>
                  <a:close/>
                </a:path>
              </a:pathLst>
            </a:custGeom>
            <a:solidFill>
              <a:srgbClr val="EEF4FB"/>
            </a:solidFill>
            <a:ln w="9525" cap="sq">
              <a:solidFill>
                <a:srgbClr val="D8E4EC"/>
              </a:solidFill>
              <a:prstDash val="solid"/>
              <a:miter/>
            </a:ln>
          </p:spPr>
          <p:txBody>
            <a:bodyPr/>
            <a:lstStyle/>
            <a:p>
              <a:endParaRPr lang="en-US"/>
            </a:p>
          </p:txBody>
        </p:sp>
        <p:sp>
          <p:nvSpPr>
            <p:cNvPr id="117" name="TextBox 117"/>
            <p:cNvSpPr txBox="1"/>
            <p:nvPr/>
          </p:nvSpPr>
          <p:spPr>
            <a:xfrm>
              <a:off x="0" y="-38100"/>
              <a:ext cx="10368280" cy="1318260"/>
            </a:xfrm>
            <a:prstGeom prst="rect">
              <a:avLst/>
            </a:prstGeom>
          </p:spPr>
          <p:txBody>
            <a:bodyPr lIns="50800" tIns="50800" rIns="50800" bIns="50800" rtlCol="0" anchor="ctr"/>
            <a:lstStyle/>
            <a:p>
              <a:pPr algn="l">
                <a:lnSpc>
                  <a:spcPts val="1679"/>
                </a:lnSpc>
              </a:pPr>
              <a:endParaRPr/>
            </a:p>
          </p:txBody>
        </p:sp>
      </p:grpSp>
      <p:sp>
        <p:nvSpPr>
          <p:cNvPr id="118" name="TextBox 118"/>
          <p:cNvSpPr txBox="1"/>
          <p:nvPr/>
        </p:nvSpPr>
        <p:spPr>
          <a:xfrm>
            <a:off x="1474470" y="7648575"/>
            <a:ext cx="7433310" cy="292735"/>
          </a:xfrm>
          <a:prstGeom prst="rect">
            <a:avLst/>
          </a:prstGeom>
        </p:spPr>
        <p:txBody>
          <a:bodyPr lIns="0" tIns="0" rIns="0" bIns="0" rtlCol="0" anchor="t">
            <a:spAutoFit/>
          </a:bodyPr>
          <a:lstStyle/>
          <a:p>
            <a:pPr algn="l">
              <a:lnSpc>
                <a:spcPts val="2239"/>
              </a:lnSpc>
            </a:pPr>
            <a:r>
              <a:rPr lang="en-US" sz="1599" b="1">
                <a:solidFill>
                  <a:srgbClr val="0099D8"/>
                </a:solidFill>
                <a:latin typeface="Calibri"/>
                <a:ea typeface="Calibri (MS) Bold"/>
                <a:cs typeface="Calibri"/>
                <a:sym typeface="Calibri (MS) Bold"/>
              </a:rPr>
              <a:t>Prize:</a:t>
            </a:r>
          </a:p>
        </p:txBody>
      </p:sp>
      <p:sp>
        <p:nvSpPr>
          <p:cNvPr id="119" name="TextBox 119"/>
          <p:cNvSpPr txBox="1"/>
          <p:nvPr/>
        </p:nvSpPr>
        <p:spPr>
          <a:xfrm>
            <a:off x="1474470" y="7972425"/>
            <a:ext cx="7433310" cy="235257"/>
          </a:xfrm>
          <a:prstGeom prst="rect">
            <a:avLst/>
          </a:prstGeom>
        </p:spPr>
        <p:txBody>
          <a:bodyPr lIns="0" tIns="0" rIns="0" bIns="0" rtlCol="0" anchor="t">
            <a:spAutoFit/>
          </a:bodyPr>
          <a:lstStyle/>
          <a:p>
            <a:pPr algn="l">
              <a:lnSpc>
                <a:spcPts val="1860"/>
              </a:lnSpc>
            </a:pPr>
            <a:r>
              <a:rPr lang="en-US" sz="1550">
                <a:solidFill>
                  <a:srgbClr val="003057"/>
                </a:solidFill>
                <a:latin typeface="Calibri"/>
                <a:ea typeface="Calibri (MS)"/>
                <a:cs typeface="Calibri"/>
                <a:sym typeface="Calibri (MS)"/>
              </a:rPr>
              <a:t>+8% to +11% on the first improving print</a:t>
            </a:r>
          </a:p>
        </p:txBody>
      </p:sp>
      <p:grpSp>
        <p:nvGrpSpPr>
          <p:cNvPr id="120" name="Group 120"/>
          <p:cNvGrpSpPr/>
          <p:nvPr/>
        </p:nvGrpSpPr>
        <p:grpSpPr>
          <a:xfrm>
            <a:off x="9231630" y="7543800"/>
            <a:ext cx="7776210" cy="960120"/>
            <a:chOff x="0" y="0"/>
            <a:chExt cx="10368280" cy="1280160"/>
          </a:xfrm>
        </p:grpSpPr>
        <p:sp>
          <p:nvSpPr>
            <p:cNvPr id="121" name="Freeform 121"/>
            <p:cNvSpPr/>
            <p:nvPr/>
          </p:nvSpPr>
          <p:spPr>
            <a:xfrm>
              <a:off x="0" y="0"/>
              <a:ext cx="10368280" cy="1280160"/>
            </a:xfrm>
            <a:custGeom>
              <a:avLst/>
              <a:gdLst/>
              <a:ahLst/>
              <a:cxnLst/>
              <a:rect l="l" t="t" r="r" b="b"/>
              <a:pathLst>
                <a:path w="10368280" h="1280160">
                  <a:moveTo>
                    <a:pt x="76200" y="0"/>
                  </a:moveTo>
                  <a:lnTo>
                    <a:pt x="10292080" y="0"/>
                  </a:lnTo>
                  <a:cubicBezTo>
                    <a:pt x="10334165" y="0"/>
                    <a:pt x="10368280" y="34116"/>
                    <a:pt x="10368280" y="76200"/>
                  </a:cubicBezTo>
                  <a:lnTo>
                    <a:pt x="10368280" y="1203960"/>
                  </a:lnTo>
                  <a:cubicBezTo>
                    <a:pt x="10368280" y="1246044"/>
                    <a:pt x="10334165" y="1280160"/>
                    <a:pt x="10292080" y="1280160"/>
                  </a:cubicBezTo>
                  <a:lnTo>
                    <a:pt x="76200" y="1280160"/>
                  </a:lnTo>
                  <a:cubicBezTo>
                    <a:pt x="34116" y="1280160"/>
                    <a:pt x="0" y="1246044"/>
                    <a:pt x="0" y="1203960"/>
                  </a:cubicBezTo>
                  <a:lnTo>
                    <a:pt x="0" y="76200"/>
                  </a:lnTo>
                  <a:cubicBezTo>
                    <a:pt x="0" y="34116"/>
                    <a:pt x="34116" y="0"/>
                    <a:pt x="76200" y="0"/>
                  </a:cubicBezTo>
                  <a:close/>
                </a:path>
              </a:pathLst>
            </a:custGeom>
            <a:solidFill>
              <a:srgbClr val="EEF4FB"/>
            </a:solidFill>
            <a:ln w="9525" cap="sq">
              <a:solidFill>
                <a:srgbClr val="D8E4EC"/>
              </a:solidFill>
              <a:prstDash val="solid"/>
              <a:miter/>
            </a:ln>
          </p:spPr>
          <p:txBody>
            <a:bodyPr/>
            <a:lstStyle/>
            <a:p>
              <a:endParaRPr lang="en-US"/>
            </a:p>
          </p:txBody>
        </p:sp>
        <p:sp>
          <p:nvSpPr>
            <p:cNvPr id="122" name="TextBox 122"/>
            <p:cNvSpPr txBox="1"/>
            <p:nvPr/>
          </p:nvSpPr>
          <p:spPr>
            <a:xfrm>
              <a:off x="0" y="-38100"/>
              <a:ext cx="10368280" cy="1318260"/>
            </a:xfrm>
            <a:prstGeom prst="rect">
              <a:avLst/>
            </a:prstGeom>
          </p:spPr>
          <p:txBody>
            <a:bodyPr lIns="50800" tIns="50800" rIns="50800" bIns="50800" rtlCol="0" anchor="ctr"/>
            <a:lstStyle/>
            <a:p>
              <a:pPr algn="l">
                <a:lnSpc>
                  <a:spcPts val="1679"/>
                </a:lnSpc>
              </a:pPr>
              <a:endParaRPr/>
            </a:p>
          </p:txBody>
        </p:sp>
      </p:grpSp>
      <p:sp>
        <p:nvSpPr>
          <p:cNvPr id="123" name="TextBox 123"/>
          <p:cNvSpPr txBox="1"/>
          <p:nvPr/>
        </p:nvSpPr>
        <p:spPr>
          <a:xfrm>
            <a:off x="9403080" y="7648575"/>
            <a:ext cx="7433310" cy="292735"/>
          </a:xfrm>
          <a:prstGeom prst="rect">
            <a:avLst/>
          </a:prstGeom>
        </p:spPr>
        <p:txBody>
          <a:bodyPr lIns="0" tIns="0" rIns="0" bIns="0" rtlCol="0" anchor="t">
            <a:spAutoFit/>
          </a:bodyPr>
          <a:lstStyle/>
          <a:p>
            <a:pPr algn="l">
              <a:lnSpc>
                <a:spcPts val="2239"/>
              </a:lnSpc>
            </a:pPr>
            <a:r>
              <a:rPr lang="en-US" sz="1599" b="1">
                <a:solidFill>
                  <a:srgbClr val="0099D8"/>
                </a:solidFill>
                <a:latin typeface="Calibri"/>
                <a:ea typeface="Calibri (MS) Bold"/>
                <a:cs typeface="Calibri"/>
                <a:sym typeface="Calibri (MS) Bold"/>
              </a:rPr>
              <a:t>Cost:</a:t>
            </a:r>
          </a:p>
        </p:txBody>
      </p:sp>
      <p:sp>
        <p:nvSpPr>
          <p:cNvPr id="124" name="TextBox 124"/>
          <p:cNvSpPr txBox="1"/>
          <p:nvPr/>
        </p:nvSpPr>
        <p:spPr>
          <a:xfrm>
            <a:off x="9403080" y="7953375"/>
            <a:ext cx="7433310" cy="230832"/>
          </a:xfrm>
          <a:prstGeom prst="rect">
            <a:avLst/>
          </a:prstGeom>
        </p:spPr>
        <p:txBody>
          <a:bodyPr lIns="0" tIns="0" rIns="0" bIns="0" rtlCol="0" anchor="t">
            <a:spAutoFit/>
          </a:bodyPr>
          <a:lstStyle/>
          <a:p>
            <a:pPr algn="l">
              <a:lnSpc>
                <a:spcPts val="1797"/>
              </a:lnSpc>
            </a:pPr>
            <a:r>
              <a:rPr lang="en-US" sz="1550">
                <a:solidFill>
                  <a:srgbClr val="003057"/>
                </a:solidFill>
                <a:latin typeface="Calibri"/>
                <a:ea typeface="Calibri (MS)"/>
                <a:cs typeface="Calibri"/>
                <a:sym typeface="Calibri (MS)"/>
              </a:rPr>
              <a:t>$3M to $6M one-time; plays spend $0 until triggered</a:t>
            </a:r>
          </a:p>
        </p:txBody>
      </p:sp>
      <p:sp>
        <p:nvSpPr>
          <p:cNvPr id="126" name="TextBox 46">
            <a:extLst>
              <a:ext uri="{FF2B5EF4-FFF2-40B4-BE49-F238E27FC236}">
                <a16:creationId xmlns:a16="http://schemas.microsoft.com/office/drawing/2014/main" id="{F59857B4-2A26-E8FE-5B41-E8A296094790}"/>
              </a:ext>
            </a:extLst>
          </p:cNvPr>
          <p:cNvSpPr txBox="1"/>
          <p:nvPr/>
        </p:nvSpPr>
        <p:spPr>
          <a:xfrm>
            <a:off x="1303020" y="4224385"/>
            <a:ext cx="4800600" cy="2708434"/>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No filing can say what share of the 120k loss is fiber, FWA, satellite, housing, or price</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Each candidate defense costs billions and targets a different attacker</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FCC data plus billing and port-out records close the gap with no new instrumentation</a:t>
            </a: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Pre-committed plays turn identification into action the same quarter</a:t>
            </a:r>
          </a:p>
        </p:txBody>
      </p:sp>
      <p:sp>
        <p:nvSpPr>
          <p:cNvPr id="128" name="AutoShape 71">
            <a:extLst>
              <a:ext uri="{FF2B5EF4-FFF2-40B4-BE49-F238E27FC236}">
                <a16:creationId xmlns:a16="http://schemas.microsoft.com/office/drawing/2014/main" id="{96E1FDCB-341A-3E87-9940-A8E8964FE7B0}"/>
              </a:ext>
            </a:extLst>
          </p:cNvPr>
          <p:cNvSpPr/>
          <p:nvPr/>
        </p:nvSpPr>
        <p:spPr>
          <a:xfrm>
            <a:off x="1417320" y="47965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0" name="AutoShape 71">
            <a:extLst>
              <a:ext uri="{FF2B5EF4-FFF2-40B4-BE49-F238E27FC236}">
                <a16:creationId xmlns:a16="http://schemas.microsoft.com/office/drawing/2014/main" id="{0A6F7773-D722-037B-61DB-0ADA7B695E09}"/>
              </a:ext>
            </a:extLst>
          </p:cNvPr>
          <p:cNvSpPr/>
          <p:nvPr/>
        </p:nvSpPr>
        <p:spPr>
          <a:xfrm>
            <a:off x="1417320" y="5549900"/>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2" name="AutoShape 71">
            <a:extLst>
              <a:ext uri="{FF2B5EF4-FFF2-40B4-BE49-F238E27FC236}">
                <a16:creationId xmlns:a16="http://schemas.microsoft.com/office/drawing/2014/main" id="{970E20BC-DB95-964D-6E41-3192BA82DCBD}"/>
              </a:ext>
            </a:extLst>
          </p:cNvPr>
          <p:cNvSpPr/>
          <p:nvPr/>
        </p:nvSpPr>
        <p:spPr>
          <a:xfrm>
            <a:off x="1417320" y="63205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4" name="TextBox 46">
            <a:extLst>
              <a:ext uri="{FF2B5EF4-FFF2-40B4-BE49-F238E27FC236}">
                <a16:creationId xmlns:a16="http://schemas.microsoft.com/office/drawing/2014/main" id="{E1831E6E-06B1-FFE8-4DB2-2BCAD0A91FEB}"/>
              </a:ext>
            </a:extLst>
          </p:cNvPr>
          <p:cNvSpPr txBox="1"/>
          <p:nvPr/>
        </p:nvSpPr>
        <p:spPr>
          <a:xfrm>
            <a:off x="6761988" y="4226433"/>
            <a:ext cx="4800600" cy="2708434"/>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FCC data lags: validate every cohort against port-out data before it triggers a play</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Bad read misfires a play: full scale needs two consecutive quarters</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Kill conditions get renegotiated: board ratifies them before the first read</a:t>
            </a: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Cox resets the base: build on the combined footprint from day one</a:t>
            </a:r>
          </a:p>
        </p:txBody>
      </p:sp>
      <p:sp>
        <p:nvSpPr>
          <p:cNvPr id="136" name="AutoShape 71">
            <a:extLst>
              <a:ext uri="{FF2B5EF4-FFF2-40B4-BE49-F238E27FC236}">
                <a16:creationId xmlns:a16="http://schemas.microsoft.com/office/drawing/2014/main" id="{DCB0CF07-5207-058C-4D3F-A2B9DF45B0FF}"/>
              </a:ext>
            </a:extLst>
          </p:cNvPr>
          <p:cNvSpPr/>
          <p:nvPr/>
        </p:nvSpPr>
        <p:spPr>
          <a:xfrm>
            <a:off x="6835140" y="47965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8" name="AutoShape 71">
            <a:extLst>
              <a:ext uri="{FF2B5EF4-FFF2-40B4-BE49-F238E27FC236}">
                <a16:creationId xmlns:a16="http://schemas.microsoft.com/office/drawing/2014/main" id="{C8A8551F-25B0-604A-E070-7563A93175E5}"/>
              </a:ext>
            </a:extLst>
          </p:cNvPr>
          <p:cNvSpPr/>
          <p:nvPr/>
        </p:nvSpPr>
        <p:spPr>
          <a:xfrm>
            <a:off x="6835140" y="5549900"/>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40" name="AutoShape 71">
            <a:extLst>
              <a:ext uri="{FF2B5EF4-FFF2-40B4-BE49-F238E27FC236}">
                <a16:creationId xmlns:a16="http://schemas.microsoft.com/office/drawing/2014/main" id="{7D0D5972-3F2D-8CA2-1797-E736261E2C0C}"/>
              </a:ext>
            </a:extLst>
          </p:cNvPr>
          <p:cNvSpPr/>
          <p:nvPr/>
        </p:nvSpPr>
        <p:spPr>
          <a:xfrm>
            <a:off x="6835140" y="63205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42" name="TextBox 46">
            <a:extLst>
              <a:ext uri="{FF2B5EF4-FFF2-40B4-BE49-F238E27FC236}">
                <a16:creationId xmlns:a16="http://schemas.microsoft.com/office/drawing/2014/main" id="{47555A20-0906-9559-BF1B-8F601B372A26}"/>
              </a:ext>
            </a:extLst>
          </p:cNvPr>
          <p:cNvSpPr txBox="1"/>
          <p:nvPr/>
        </p:nvSpPr>
        <p:spPr>
          <a:xfrm>
            <a:off x="12220956" y="4234815"/>
            <a:ext cx="4800600" cy="2215991"/>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CEO names an executive sponsor and funds the build: Oct 31, 2026</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Data science stands up the loss matrix: Dec 31, 2026</a:t>
            </a:r>
          </a:p>
          <a:p>
            <a:pPr marL="285750" indent="-285750">
              <a:buClr>
                <a:srgbClr val="0099D8"/>
              </a:buClr>
              <a:buSzPct val="150000"/>
              <a:buFont typeface="Calibri" panose="020F0502020204030204" pitchFamily="34" charset="0"/>
              <a:buChar char="•"/>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Executive team ratifies thresholds and budgets: Jan 2027</a:t>
            </a: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First attribution read; plays trigger: Apr 2027</a:t>
            </a:r>
          </a:p>
        </p:txBody>
      </p:sp>
      <p:sp>
        <p:nvSpPr>
          <p:cNvPr id="144" name="AutoShape 71">
            <a:extLst>
              <a:ext uri="{FF2B5EF4-FFF2-40B4-BE49-F238E27FC236}">
                <a16:creationId xmlns:a16="http://schemas.microsoft.com/office/drawing/2014/main" id="{14637AF7-E566-2C46-9933-261AB57F4F7D}"/>
              </a:ext>
            </a:extLst>
          </p:cNvPr>
          <p:cNvSpPr/>
          <p:nvPr/>
        </p:nvSpPr>
        <p:spPr>
          <a:xfrm>
            <a:off x="12321540" y="47965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46" name="AutoShape 71">
            <a:extLst>
              <a:ext uri="{FF2B5EF4-FFF2-40B4-BE49-F238E27FC236}">
                <a16:creationId xmlns:a16="http://schemas.microsoft.com/office/drawing/2014/main" id="{8FABADA2-0179-F8D4-3FC5-874AC625A278}"/>
              </a:ext>
            </a:extLst>
          </p:cNvPr>
          <p:cNvSpPr/>
          <p:nvPr/>
        </p:nvSpPr>
        <p:spPr>
          <a:xfrm>
            <a:off x="12321540" y="5341874"/>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48" name="AutoShape 71">
            <a:extLst>
              <a:ext uri="{FF2B5EF4-FFF2-40B4-BE49-F238E27FC236}">
                <a16:creationId xmlns:a16="http://schemas.microsoft.com/office/drawing/2014/main" id="{3AB428B0-6DCE-DD63-0904-9154BD2CD18E}"/>
              </a:ext>
            </a:extLst>
          </p:cNvPr>
          <p:cNvSpPr/>
          <p:nvPr/>
        </p:nvSpPr>
        <p:spPr>
          <a:xfrm>
            <a:off x="12321540" y="6061202"/>
            <a:ext cx="4572000" cy="0"/>
          </a:xfrm>
          <a:prstGeom prst="line">
            <a:avLst/>
          </a:prstGeom>
          <a:ln w="9525" cap="flat">
            <a:solidFill>
              <a:srgbClr val="D8E4EC"/>
            </a:solidFill>
            <a:prstDash val="solid"/>
            <a:headEnd type="none" w="sm" len="sm"/>
            <a:tailEnd type="none" w="sm" len="sm"/>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60" name="Picture 59">
            <a:extLst>
              <a:ext uri="{FF2B5EF4-FFF2-40B4-BE49-F238E27FC236}">
                <a16:creationId xmlns:a16="http://schemas.microsoft.com/office/drawing/2014/main" id="{A5AE917B-47E7-BADF-CE6E-6FE080C4FC62}"/>
              </a:ext>
            </a:extLst>
          </p:cNvPr>
          <p:cNvPicPr>
            <a:picLocks noChangeAspect="1"/>
          </p:cNvPicPr>
          <p:nvPr/>
        </p:nvPicPr>
        <p:blipFill>
          <a:blip r:embed="rId3"/>
          <a:stretch>
            <a:fillRect/>
          </a:stretch>
        </p:blipFill>
        <p:spPr>
          <a:xfrm>
            <a:off x="792307" y="2468880"/>
            <a:ext cx="8349690" cy="5871754"/>
          </a:xfrm>
          <a:prstGeom prst="rect">
            <a:avLst/>
          </a:prstGeom>
        </p:spPr>
      </p:pic>
      <p:grpSp>
        <p:nvGrpSpPr>
          <p:cNvPr id="10" name="Group 10"/>
          <p:cNvGrpSpPr/>
          <p:nvPr/>
        </p:nvGrpSpPr>
        <p:grpSpPr>
          <a:xfrm>
            <a:off x="10960894" y="1908333"/>
            <a:ext cx="6607493" cy="3449529"/>
            <a:chOff x="0" y="0"/>
            <a:chExt cx="8809990" cy="4329430"/>
          </a:xfrm>
        </p:grpSpPr>
        <p:sp>
          <p:nvSpPr>
            <p:cNvPr id="11" name="Freeform 11"/>
            <p:cNvSpPr/>
            <p:nvPr/>
          </p:nvSpPr>
          <p:spPr>
            <a:xfrm>
              <a:off x="0" y="0"/>
              <a:ext cx="8809989" cy="4329430"/>
            </a:xfrm>
            <a:custGeom>
              <a:avLst/>
              <a:gdLst/>
              <a:ahLst/>
              <a:cxnLst/>
              <a:rect l="l" t="t" r="r" b="b"/>
              <a:pathLst>
                <a:path w="8809989" h="4329430">
                  <a:moveTo>
                    <a:pt x="0" y="147320"/>
                  </a:moveTo>
                  <a:cubicBezTo>
                    <a:pt x="0" y="66040"/>
                    <a:pt x="66040" y="0"/>
                    <a:pt x="147320" y="0"/>
                  </a:cubicBezTo>
                  <a:lnTo>
                    <a:pt x="8662670" y="0"/>
                  </a:lnTo>
                  <a:cubicBezTo>
                    <a:pt x="8744076" y="0"/>
                    <a:pt x="8809989" y="66040"/>
                    <a:pt x="8809989" y="147320"/>
                  </a:cubicBezTo>
                  <a:lnTo>
                    <a:pt x="8809989" y="4182110"/>
                  </a:lnTo>
                  <a:cubicBezTo>
                    <a:pt x="8809989" y="4263517"/>
                    <a:pt x="8743950" y="4329430"/>
                    <a:pt x="8662670" y="4329430"/>
                  </a:cubicBezTo>
                  <a:lnTo>
                    <a:pt x="147320" y="4329430"/>
                  </a:lnTo>
                  <a:cubicBezTo>
                    <a:pt x="66040" y="4329430"/>
                    <a:pt x="0" y="4263390"/>
                    <a:pt x="0" y="4182110"/>
                  </a:cubicBezTo>
                  <a:close/>
                </a:path>
              </a:pathLst>
            </a:custGeom>
            <a:solidFill>
              <a:srgbClr val="EEF4FB"/>
            </a:solidFill>
            <a:ln w="23812" cap="sq">
              <a:solidFill>
                <a:srgbClr val="0099D8"/>
              </a:solidFill>
              <a:prstDash val="solid"/>
              <a:miter/>
            </a:ln>
          </p:spPr>
          <p:txBody>
            <a:bodyPr/>
            <a:lstStyle/>
            <a:p>
              <a:endParaRPr lang="en-US"/>
            </a:p>
          </p:txBody>
        </p:sp>
      </p:grpSp>
      <p:sp>
        <p:nvSpPr>
          <p:cNvPr id="61" name="TextBox 46">
            <a:extLst>
              <a:ext uri="{FF2B5EF4-FFF2-40B4-BE49-F238E27FC236}">
                <a16:creationId xmlns:a16="http://schemas.microsoft.com/office/drawing/2014/main" id="{402E5111-669F-F0E3-92B5-073CE52AE105}"/>
              </a:ext>
            </a:extLst>
          </p:cNvPr>
          <p:cNvSpPr txBox="1"/>
          <p:nvPr/>
        </p:nvSpPr>
        <p:spPr>
          <a:xfrm>
            <a:off x="11315700" y="3256074"/>
            <a:ext cx="5897880" cy="1969770"/>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Q4 2025: −119k, +7.6%.  Better than the year-ago −177k.</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Q1 2026: −120k, −25.5%.  Double the year-ago −59k. Comcast fell 13% the same day</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Same loss, opposite tape. The market prices the year-over-year change and the surprise. Not FCF (r = 0.08), not mobile (+4.3M lines bought nothing).</a:t>
            </a:r>
          </a:p>
        </p:txBody>
      </p:sp>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4">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1, EVIDENCE</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4">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774192"/>
            <a:ext cx="16733520" cy="666750"/>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The Market Prices the Internet Print, and Nobody Can Explain It</a:t>
            </a:r>
          </a:p>
        </p:txBody>
      </p:sp>
      <p:grpSp>
        <p:nvGrpSpPr>
          <p:cNvPr id="12" name="Group 12"/>
          <p:cNvGrpSpPr/>
          <p:nvPr/>
        </p:nvGrpSpPr>
        <p:grpSpPr>
          <a:xfrm>
            <a:off x="11315700" y="2028342"/>
            <a:ext cx="5897880" cy="1227732"/>
            <a:chOff x="0" y="0"/>
            <a:chExt cx="7863840" cy="438912"/>
          </a:xfrm>
        </p:grpSpPr>
        <p:sp>
          <p:nvSpPr>
            <p:cNvPr id="13" name="Freeform 13"/>
            <p:cNvSpPr/>
            <p:nvPr/>
          </p:nvSpPr>
          <p:spPr>
            <a:xfrm>
              <a:off x="0" y="0"/>
              <a:ext cx="7863840" cy="438912"/>
            </a:xfrm>
            <a:custGeom>
              <a:avLst/>
              <a:gdLst/>
              <a:ahLst/>
              <a:cxnLst/>
              <a:rect l="l" t="t" r="r" b="b"/>
              <a:pathLst>
                <a:path w="7863840" h="438912">
                  <a:moveTo>
                    <a:pt x="0" y="0"/>
                  </a:moveTo>
                  <a:lnTo>
                    <a:pt x="7863840" y="0"/>
                  </a:lnTo>
                  <a:lnTo>
                    <a:pt x="7863840" y="438912"/>
                  </a:lnTo>
                  <a:lnTo>
                    <a:pt x="0" y="438912"/>
                  </a:lnTo>
                  <a:close/>
                </a:path>
              </a:pathLst>
            </a:custGeom>
            <a:blipFill>
              <a:blip r:embed="rId4">
                <a:alphaModFix amt="0"/>
              </a:blip>
              <a:stretch>
                <a:fillRect t="-299106" b="-299106"/>
              </a:stretch>
            </a:blipFill>
          </p:spPr>
          <p:txBody>
            <a:bodyPr/>
            <a:lstStyle/>
            <a:p>
              <a:endParaRPr lang="en-US"/>
            </a:p>
          </p:txBody>
        </p:sp>
        <p:sp>
          <p:nvSpPr>
            <p:cNvPr id="14" name="TextBox 14"/>
            <p:cNvSpPr txBox="1"/>
            <p:nvPr/>
          </p:nvSpPr>
          <p:spPr>
            <a:xfrm>
              <a:off x="0" y="-38100"/>
              <a:ext cx="7863840" cy="477012"/>
            </a:xfrm>
            <a:prstGeom prst="rect">
              <a:avLst/>
            </a:prstGeom>
          </p:spPr>
          <p:txBody>
            <a:bodyPr lIns="0" tIns="0" rIns="0" bIns="0" rtlCol="0" anchor="ctr"/>
            <a:lstStyle/>
            <a:p>
              <a:pPr algn="l"/>
              <a:r>
                <a:rPr lang="en-US" sz="4000" b="1" spc="225">
                  <a:solidFill>
                    <a:srgbClr val="0099D8"/>
                  </a:solidFill>
                  <a:latin typeface="Calibri"/>
                  <a:ea typeface="Calibri (MS) Bold"/>
                  <a:cs typeface="Calibri"/>
                  <a:sym typeface="Calibri (MS) Bold"/>
                </a:rPr>
                <a:t>WHAT MOVES THE STOCK</a:t>
              </a:r>
            </a:p>
          </p:txBody>
        </p:sp>
      </p:grpSp>
      <p:grpSp>
        <p:nvGrpSpPr>
          <p:cNvPr id="15" name="Group 15"/>
          <p:cNvGrpSpPr/>
          <p:nvPr/>
        </p:nvGrpSpPr>
        <p:grpSpPr>
          <a:xfrm>
            <a:off x="10960894" y="5825253"/>
            <a:ext cx="6607492" cy="2593270"/>
            <a:chOff x="0" y="0"/>
            <a:chExt cx="8809989" cy="4329430"/>
          </a:xfrm>
        </p:grpSpPr>
        <p:sp>
          <p:nvSpPr>
            <p:cNvPr id="16" name="Freeform 16"/>
            <p:cNvSpPr/>
            <p:nvPr/>
          </p:nvSpPr>
          <p:spPr>
            <a:xfrm>
              <a:off x="0" y="0"/>
              <a:ext cx="8809989" cy="4329430"/>
            </a:xfrm>
            <a:custGeom>
              <a:avLst/>
              <a:gdLst/>
              <a:ahLst/>
              <a:cxnLst/>
              <a:rect l="l" t="t" r="r" b="b"/>
              <a:pathLst>
                <a:path w="8809989" h="4329430">
                  <a:moveTo>
                    <a:pt x="0" y="147320"/>
                  </a:moveTo>
                  <a:cubicBezTo>
                    <a:pt x="0" y="66040"/>
                    <a:pt x="66040" y="0"/>
                    <a:pt x="147320" y="0"/>
                  </a:cubicBezTo>
                  <a:lnTo>
                    <a:pt x="8662670" y="0"/>
                  </a:lnTo>
                  <a:cubicBezTo>
                    <a:pt x="8744076" y="0"/>
                    <a:pt x="8809989" y="66040"/>
                    <a:pt x="8809989" y="147320"/>
                  </a:cubicBezTo>
                  <a:lnTo>
                    <a:pt x="8809989" y="4182110"/>
                  </a:lnTo>
                  <a:cubicBezTo>
                    <a:pt x="8809989" y="4263517"/>
                    <a:pt x="8743950" y="4329430"/>
                    <a:pt x="8662670" y="4329430"/>
                  </a:cubicBezTo>
                  <a:lnTo>
                    <a:pt x="147320" y="4329430"/>
                  </a:lnTo>
                  <a:cubicBezTo>
                    <a:pt x="66040" y="4329430"/>
                    <a:pt x="0" y="4263390"/>
                    <a:pt x="0" y="4182110"/>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7" name="Group 17"/>
          <p:cNvGrpSpPr/>
          <p:nvPr/>
        </p:nvGrpSpPr>
        <p:grpSpPr>
          <a:xfrm>
            <a:off x="11315700" y="6039294"/>
            <a:ext cx="5897880" cy="667887"/>
            <a:chOff x="0" y="0"/>
            <a:chExt cx="7863840" cy="1028953"/>
          </a:xfrm>
        </p:grpSpPr>
        <p:sp>
          <p:nvSpPr>
            <p:cNvPr id="18" name="Freeform 18"/>
            <p:cNvSpPr/>
            <p:nvPr/>
          </p:nvSpPr>
          <p:spPr>
            <a:xfrm>
              <a:off x="0" y="0"/>
              <a:ext cx="7863840" cy="438912"/>
            </a:xfrm>
            <a:custGeom>
              <a:avLst/>
              <a:gdLst/>
              <a:ahLst/>
              <a:cxnLst/>
              <a:rect l="l" t="t" r="r" b="b"/>
              <a:pathLst>
                <a:path w="7863840" h="438912">
                  <a:moveTo>
                    <a:pt x="0" y="0"/>
                  </a:moveTo>
                  <a:lnTo>
                    <a:pt x="7863840" y="0"/>
                  </a:lnTo>
                  <a:lnTo>
                    <a:pt x="7863840" y="438912"/>
                  </a:lnTo>
                  <a:lnTo>
                    <a:pt x="0" y="438912"/>
                  </a:lnTo>
                  <a:close/>
                </a:path>
              </a:pathLst>
            </a:custGeom>
            <a:blipFill>
              <a:blip r:embed="rId4">
                <a:alphaModFix amt="0"/>
              </a:blip>
              <a:stretch>
                <a:fillRect t="-299106" b="-299106"/>
              </a:stretch>
            </a:blipFill>
          </p:spPr>
          <p:txBody>
            <a:bodyPr/>
            <a:lstStyle/>
            <a:p>
              <a:endParaRPr lang="en-US"/>
            </a:p>
          </p:txBody>
        </p:sp>
        <p:sp>
          <p:nvSpPr>
            <p:cNvPr id="19" name="TextBox 19"/>
            <p:cNvSpPr txBox="1"/>
            <p:nvPr/>
          </p:nvSpPr>
          <p:spPr>
            <a:xfrm>
              <a:off x="0" y="59058"/>
              <a:ext cx="7863840" cy="969895"/>
            </a:xfrm>
            <a:prstGeom prst="rect">
              <a:avLst/>
            </a:prstGeom>
          </p:spPr>
          <p:txBody>
            <a:bodyPr lIns="0" tIns="0" rIns="0" bIns="0" rtlCol="0" anchor="ctr"/>
            <a:lstStyle/>
            <a:p>
              <a:pPr algn="l">
                <a:lnSpc>
                  <a:spcPts val="1709"/>
                </a:lnSpc>
              </a:pPr>
              <a:r>
                <a:rPr lang="en-US" sz="4000" b="1" spc="225">
                  <a:solidFill>
                    <a:srgbClr val="0099D8"/>
                  </a:solidFill>
                  <a:latin typeface="Calibri"/>
                  <a:ea typeface="Calibri (MS) Bold"/>
                  <a:cs typeface="Calibri"/>
                  <a:sym typeface="Calibri (MS) Bold"/>
                </a:rPr>
                <a:t>WHAT NOBODY KNOWS</a:t>
              </a:r>
            </a:p>
          </p:txBody>
        </p:sp>
      </p:grpSp>
      <p:grpSp>
        <p:nvGrpSpPr>
          <p:cNvPr id="20" name="Group 20"/>
          <p:cNvGrpSpPr/>
          <p:nvPr/>
        </p:nvGrpSpPr>
        <p:grpSpPr>
          <a:xfrm>
            <a:off x="754380" y="8805672"/>
            <a:ext cx="16733520" cy="356616"/>
            <a:chOff x="0" y="0"/>
            <a:chExt cx="22311360" cy="475488"/>
          </a:xfrm>
        </p:grpSpPr>
        <p:sp>
          <p:nvSpPr>
            <p:cNvPr id="21" name="Freeform 21"/>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4">
                <a:alphaModFix amt="0"/>
              </a:blip>
              <a:stretch>
                <a:fillRect t="-864297" b="-864297"/>
              </a:stretch>
            </a:blipFill>
          </p:spPr>
          <p:txBody>
            <a:bodyPr/>
            <a:lstStyle/>
            <a:p>
              <a:endParaRPr lang="en-US"/>
            </a:p>
          </p:txBody>
        </p:sp>
        <p:sp>
          <p:nvSpPr>
            <p:cNvPr id="22" name="TextBox 22"/>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Yahoo Finance closes on earnings dates; FY2025 10-K (overlap); Ex99.1 (customers). *Later public fact. Analysis, not a filing. Full table in Appendix A7.</a:t>
              </a:r>
            </a:p>
          </p:txBody>
        </p:sp>
      </p:grpSp>
      <p:grpSp>
        <p:nvGrpSpPr>
          <p:cNvPr id="23" name="Group 23"/>
          <p:cNvGrpSpPr/>
          <p:nvPr/>
        </p:nvGrpSpPr>
        <p:grpSpPr>
          <a:xfrm>
            <a:off x="754380" y="9168289"/>
            <a:ext cx="16733521" cy="432911"/>
            <a:chOff x="0" y="-28575"/>
            <a:chExt cx="22311361" cy="577215"/>
          </a:xfrm>
        </p:grpSpPr>
        <p:sp>
          <p:nvSpPr>
            <p:cNvPr id="24" name="Freeform 24"/>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4">
                <a:alphaModFix amt="0"/>
              </a:blip>
              <a:stretch>
                <a:fillRect t="-742391" b="-742391"/>
              </a:stretch>
            </a:blipFill>
          </p:spPr>
          <p:txBody>
            <a:bodyPr/>
            <a:lstStyle/>
            <a:p>
              <a:endParaRPr lang="en-US"/>
            </a:p>
          </p:txBody>
        </p:sp>
        <p:sp>
          <p:nvSpPr>
            <p:cNvPr id="25" name="TextBox 25"/>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5"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26" name="Group 26"/>
          <p:cNvGrpSpPr/>
          <p:nvPr/>
        </p:nvGrpSpPr>
        <p:grpSpPr>
          <a:xfrm>
            <a:off x="17076420" y="9641205"/>
            <a:ext cx="960120" cy="440055"/>
            <a:chOff x="0" y="-38100"/>
            <a:chExt cx="1280160" cy="586740"/>
          </a:xfrm>
        </p:grpSpPr>
        <p:sp>
          <p:nvSpPr>
            <p:cNvPr id="27" name="Freeform 27"/>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4">
                <a:alphaModFix amt="0"/>
              </a:blip>
              <a:stretch>
                <a:fillRect l="-4987" r="-4987"/>
              </a:stretch>
            </a:blipFill>
          </p:spPr>
          <p:txBody>
            <a:bodyPr/>
            <a:lstStyle/>
            <a:p>
              <a:endParaRPr lang="en-US"/>
            </a:p>
          </p:txBody>
        </p:sp>
        <p:sp>
          <p:nvSpPr>
            <p:cNvPr id="28" name="TextBox 28"/>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5</a:t>
              </a:r>
            </a:p>
          </p:txBody>
        </p:sp>
      </p:grpSp>
      <p:grpSp>
        <p:nvGrpSpPr>
          <p:cNvPr id="29" name="Group 29"/>
          <p:cNvGrpSpPr/>
          <p:nvPr/>
        </p:nvGrpSpPr>
        <p:grpSpPr>
          <a:xfrm>
            <a:off x="754380" y="9669780"/>
            <a:ext cx="16047720" cy="411480"/>
            <a:chOff x="0" y="0"/>
            <a:chExt cx="21396960" cy="548640"/>
          </a:xfrm>
        </p:grpSpPr>
        <p:sp>
          <p:nvSpPr>
            <p:cNvPr id="30" name="Freeform 3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4">
                <a:alphaModFix amt="0"/>
              </a:blip>
              <a:stretch>
                <a:fillRect t="-709916" b="-709916"/>
              </a:stretch>
            </a:blipFill>
          </p:spPr>
          <p:txBody>
            <a:bodyPr/>
            <a:lstStyle/>
            <a:p>
              <a:endParaRPr lang="en-US"/>
            </a:p>
          </p:txBody>
        </p:sp>
        <p:sp>
          <p:nvSpPr>
            <p:cNvPr id="31" name="TextBox 3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sp>
        <p:nvSpPr>
          <p:cNvPr id="41" name="AutoShape 41"/>
          <p:cNvSpPr/>
          <p:nvPr/>
        </p:nvSpPr>
        <p:spPr>
          <a:xfrm>
            <a:off x="11315700" y="3614615"/>
            <a:ext cx="5688330" cy="0"/>
          </a:xfrm>
          <a:prstGeom prst="line">
            <a:avLst/>
          </a:prstGeom>
          <a:ln w="9525" cap="flat">
            <a:solidFill>
              <a:srgbClr val="D8E4EC"/>
            </a:solidFill>
            <a:prstDash val="solid"/>
            <a:headEnd type="none" w="sm" len="sm"/>
            <a:tailEnd type="none" w="sm" len="sm"/>
          </a:ln>
        </p:spPr>
        <p:txBody>
          <a:bodyPr/>
          <a:lstStyle/>
          <a:p>
            <a:endParaRPr lang="en-US"/>
          </a:p>
        </p:txBody>
      </p:sp>
      <p:sp>
        <p:nvSpPr>
          <p:cNvPr id="9" name="TextBox 8">
            <a:extLst>
              <a:ext uri="{FF2B5EF4-FFF2-40B4-BE49-F238E27FC236}">
                <a16:creationId xmlns:a16="http://schemas.microsoft.com/office/drawing/2014/main" id="{A62A01C8-AF26-1443-8DB5-EDC84529853B}"/>
              </a:ext>
            </a:extLst>
          </p:cNvPr>
          <p:cNvSpPr txBox="1"/>
          <p:nvPr/>
        </p:nvSpPr>
        <p:spPr>
          <a:xfrm>
            <a:off x="749300" y="1905000"/>
            <a:ext cx="9652000" cy="523220"/>
          </a:xfrm>
          <a:prstGeom prst="rect">
            <a:avLst/>
          </a:prstGeom>
          <a:noFill/>
        </p:spPr>
        <p:txBody>
          <a:bodyPr vertOverflow="overflow" vert="horz" wrap="square" rtlCol="0" anchor="t">
            <a:spAutoFit/>
          </a:bodyPr>
          <a:lstStyle/>
          <a:p>
            <a:pPr algn="ctr"/>
            <a:r>
              <a:rPr lang="en-US" sz="2800" b="1">
                <a:solidFill>
                  <a:schemeClr val="tx2"/>
                </a:solidFill>
                <a:latin typeface="Calibri"/>
                <a:cs typeface="Calibri"/>
              </a:rPr>
              <a:t>Earnings-day share price return, by quarter reported</a:t>
            </a:r>
          </a:p>
        </p:txBody>
      </p:sp>
      <p:sp>
        <p:nvSpPr>
          <p:cNvPr id="63" name="AutoShape 41">
            <a:extLst>
              <a:ext uri="{FF2B5EF4-FFF2-40B4-BE49-F238E27FC236}">
                <a16:creationId xmlns:a16="http://schemas.microsoft.com/office/drawing/2014/main" id="{A3145387-057D-7C25-FBE8-414766B4E56A}"/>
              </a:ext>
            </a:extLst>
          </p:cNvPr>
          <p:cNvSpPr/>
          <p:nvPr/>
        </p:nvSpPr>
        <p:spPr>
          <a:xfrm>
            <a:off x="11315700" y="4361375"/>
            <a:ext cx="5688330" cy="0"/>
          </a:xfrm>
          <a:prstGeom prst="line">
            <a:avLst/>
          </a:prstGeom>
          <a:ln w="9525" cap="flat">
            <a:solidFill>
              <a:srgbClr val="D8E4EC"/>
            </a:solidFill>
            <a:prstDash val="solid"/>
            <a:headEnd type="none" w="sm" len="sm"/>
            <a:tailEnd type="none" w="sm" len="sm"/>
          </a:ln>
        </p:spPr>
        <p:txBody>
          <a:bodyPr/>
          <a:lstStyle/>
          <a:p>
            <a:endParaRPr lang="en-US"/>
          </a:p>
        </p:txBody>
      </p:sp>
      <p:sp>
        <p:nvSpPr>
          <p:cNvPr id="65" name="TextBox 46">
            <a:extLst>
              <a:ext uri="{FF2B5EF4-FFF2-40B4-BE49-F238E27FC236}">
                <a16:creationId xmlns:a16="http://schemas.microsoft.com/office/drawing/2014/main" id="{1FAD9598-A5E2-4670-C08D-7177625821C7}"/>
              </a:ext>
            </a:extLst>
          </p:cNvPr>
          <p:cNvSpPr txBox="1"/>
          <p:nvPr/>
        </p:nvSpPr>
        <p:spPr>
          <a:xfrm>
            <a:off x="11315700" y="6545456"/>
            <a:ext cx="5897880" cy="1723549"/>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Which attacker is winning. Fiber overlaps ~27% and ~16% of footprint; FWA wins on price; satellite wins where wireline is absent; housing is frozen. No filing splits the 120k across them, and Charter does not disclose churn.</a:t>
            </a:r>
          </a:p>
          <a:p>
            <a:pPr marL="285750" indent="-285750">
              <a:buClr>
                <a:srgbClr val="0099D8"/>
              </a:buClr>
              <a:buSzPct val="150000"/>
              <a:buFont typeface="Calibri" panose="020F0502020204030204" pitchFamily="34" charset="0"/>
              <a:buChar char="•"/>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So, choosing a defense before measuring bets the eight-quarter window on a coin flip.</a:t>
            </a:r>
          </a:p>
        </p:txBody>
      </p:sp>
      <p:sp>
        <p:nvSpPr>
          <p:cNvPr id="67" name="AutoShape 41">
            <a:extLst>
              <a:ext uri="{FF2B5EF4-FFF2-40B4-BE49-F238E27FC236}">
                <a16:creationId xmlns:a16="http://schemas.microsoft.com/office/drawing/2014/main" id="{D8CA97E4-949E-EA21-CB3F-2AE245DEF000}"/>
              </a:ext>
            </a:extLst>
          </p:cNvPr>
          <p:cNvSpPr/>
          <p:nvPr/>
        </p:nvSpPr>
        <p:spPr>
          <a:xfrm>
            <a:off x="11315700" y="7640091"/>
            <a:ext cx="5688330" cy="0"/>
          </a:xfrm>
          <a:prstGeom prst="line">
            <a:avLst/>
          </a:prstGeom>
          <a:ln w="9525" cap="flat">
            <a:solidFill>
              <a:srgbClr val="D8E4EC"/>
            </a:solidFill>
            <a:prstDash val="solid"/>
            <a:headEnd type="none" w="sm" len="sm"/>
            <a:tailEnd type="none" w="sm" len="sm"/>
          </a:ln>
        </p:spPr>
        <p:txBody>
          <a:bodyPr/>
          <a:lstStyle/>
          <a:p>
            <a:endParaRPr lang="en-US"/>
          </a:p>
        </p:txBody>
      </p:sp>
    </p:spTree>
    <p:extLst>
      <p:ext uri="{BB962C8B-B14F-4D97-AF65-F5344CB8AC3E}">
        <p14:creationId xmlns:p14="http://schemas.microsoft.com/office/powerpoint/2010/main" val="2525243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2</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774192"/>
            <a:ext cx="16733520" cy="584071"/>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Recommendation 2: Cut Capex, Cut Rural Build, Deliver</a:t>
            </a:r>
          </a:p>
        </p:txBody>
      </p:sp>
      <p:grpSp>
        <p:nvGrpSpPr>
          <p:cNvPr id="9" name="Group 9"/>
          <p:cNvGrpSpPr/>
          <p:nvPr/>
        </p:nvGrpSpPr>
        <p:grpSpPr>
          <a:xfrm>
            <a:off x="742474" y="1908334"/>
            <a:ext cx="16825912" cy="6813232"/>
            <a:chOff x="0" y="0"/>
            <a:chExt cx="22434550" cy="9084310"/>
          </a:xfrm>
        </p:grpSpPr>
        <p:sp>
          <p:nvSpPr>
            <p:cNvPr id="10" name="Freeform 10"/>
            <p:cNvSpPr/>
            <p:nvPr/>
          </p:nvSpPr>
          <p:spPr>
            <a:xfrm>
              <a:off x="0" y="0"/>
              <a:ext cx="22434550" cy="9084310"/>
            </a:xfrm>
            <a:custGeom>
              <a:avLst/>
              <a:gdLst/>
              <a:ahLst/>
              <a:cxnLst/>
              <a:rect l="l" t="t" r="r" b="b"/>
              <a:pathLst>
                <a:path w="22434550" h="9084310">
                  <a:moveTo>
                    <a:pt x="0" y="146812"/>
                  </a:moveTo>
                  <a:cubicBezTo>
                    <a:pt x="0" y="65786"/>
                    <a:pt x="65786" y="0"/>
                    <a:pt x="146812" y="0"/>
                  </a:cubicBezTo>
                  <a:lnTo>
                    <a:pt x="22287737" y="0"/>
                  </a:lnTo>
                  <a:cubicBezTo>
                    <a:pt x="22368763" y="0"/>
                    <a:pt x="22434550" y="65786"/>
                    <a:pt x="22434550" y="146812"/>
                  </a:cubicBezTo>
                  <a:lnTo>
                    <a:pt x="22434550" y="8937498"/>
                  </a:lnTo>
                  <a:cubicBezTo>
                    <a:pt x="22434550" y="9018524"/>
                    <a:pt x="22368763" y="9084310"/>
                    <a:pt x="22287737" y="9084310"/>
                  </a:cubicBezTo>
                  <a:lnTo>
                    <a:pt x="146812" y="9084310"/>
                  </a:lnTo>
                  <a:cubicBezTo>
                    <a:pt x="65786" y="9084310"/>
                    <a:pt x="0" y="9018524"/>
                    <a:pt x="0" y="8937498"/>
                  </a:cubicBezTo>
                  <a:close/>
                </a:path>
              </a:pathLst>
            </a:custGeom>
            <a:solidFill>
              <a:srgbClr val="F2F3F4"/>
            </a:solidFill>
            <a:ln w="23812" cap="sq">
              <a:solidFill>
                <a:srgbClr val="D8DEE6"/>
              </a:solidFill>
              <a:prstDash val="solid"/>
              <a:miter/>
            </a:ln>
          </p:spPr>
          <p:txBody>
            <a:bodyPr/>
            <a:lstStyle/>
            <a:p>
              <a:endParaRPr lang="en-US"/>
            </a:p>
          </p:txBody>
        </p:sp>
      </p:grpSp>
      <p:grpSp>
        <p:nvGrpSpPr>
          <p:cNvPr id="11" name="Group 11"/>
          <p:cNvGrpSpPr/>
          <p:nvPr/>
        </p:nvGrpSpPr>
        <p:grpSpPr>
          <a:xfrm>
            <a:off x="1028700" y="2194560"/>
            <a:ext cx="16253460" cy="1303020"/>
            <a:chOff x="0" y="0"/>
            <a:chExt cx="21671280" cy="1737360"/>
          </a:xfrm>
        </p:grpSpPr>
        <p:sp>
          <p:nvSpPr>
            <p:cNvPr id="12" name="Freeform 12"/>
            <p:cNvSpPr/>
            <p:nvPr/>
          </p:nvSpPr>
          <p:spPr>
            <a:xfrm>
              <a:off x="0" y="0"/>
              <a:ext cx="21671280" cy="1737360"/>
            </a:xfrm>
            <a:custGeom>
              <a:avLst/>
              <a:gdLst/>
              <a:ahLst/>
              <a:cxnLst/>
              <a:rect l="l" t="t" r="r" b="b"/>
              <a:pathLst>
                <a:path w="21671280" h="1737360">
                  <a:moveTo>
                    <a:pt x="0" y="109728"/>
                  </a:moveTo>
                  <a:cubicBezTo>
                    <a:pt x="0" y="49149"/>
                    <a:pt x="49149" y="0"/>
                    <a:pt x="109728" y="0"/>
                  </a:cubicBezTo>
                  <a:lnTo>
                    <a:pt x="21561552" y="0"/>
                  </a:lnTo>
                  <a:cubicBezTo>
                    <a:pt x="21622131" y="0"/>
                    <a:pt x="21671280" y="49149"/>
                    <a:pt x="21671280" y="109728"/>
                  </a:cubicBezTo>
                  <a:lnTo>
                    <a:pt x="21671280" y="1627632"/>
                  </a:lnTo>
                  <a:cubicBezTo>
                    <a:pt x="21671280" y="1688211"/>
                    <a:pt x="21622131" y="1737360"/>
                    <a:pt x="21561552" y="1737360"/>
                  </a:cubicBezTo>
                  <a:lnTo>
                    <a:pt x="109728" y="1737360"/>
                  </a:lnTo>
                  <a:cubicBezTo>
                    <a:pt x="49149" y="1737360"/>
                    <a:pt x="0" y="1688211"/>
                    <a:pt x="0" y="1627632"/>
                  </a:cubicBezTo>
                  <a:close/>
                </a:path>
              </a:pathLst>
            </a:custGeom>
            <a:solidFill>
              <a:srgbClr val="003057"/>
            </a:solidFill>
          </p:spPr>
          <p:txBody>
            <a:bodyPr/>
            <a:lstStyle/>
            <a:p>
              <a:endParaRPr lang="en-US"/>
            </a:p>
          </p:txBody>
        </p:sp>
      </p:grpSp>
      <p:grpSp>
        <p:nvGrpSpPr>
          <p:cNvPr id="13" name="Group 13"/>
          <p:cNvGrpSpPr/>
          <p:nvPr/>
        </p:nvGrpSpPr>
        <p:grpSpPr>
          <a:xfrm>
            <a:off x="1303020" y="2194560"/>
            <a:ext cx="15704820" cy="1303020"/>
            <a:chOff x="0" y="0"/>
            <a:chExt cx="20939760" cy="1737360"/>
          </a:xfrm>
        </p:grpSpPr>
        <p:sp>
          <p:nvSpPr>
            <p:cNvPr id="14" name="Freeform 14"/>
            <p:cNvSpPr/>
            <p:nvPr/>
          </p:nvSpPr>
          <p:spPr>
            <a:xfrm>
              <a:off x="0" y="0"/>
              <a:ext cx="20939761" cy="1737360"/>
            </a:xfrm>
            <a:custGeom>
              <a:avLst/>
              <a:gdLst/>
              <a:ahLst/>
              <a:cxnLst/>
              <a:rect l="l" t="t" r="r" b="b"/>
              <a:pathLst>
                <a:path w="20939761" h="1737360">
                  <a:moveTo>
                    <a:pt x="0" y="0"/>
                  </a:moveTo>
                  <a:lnTo>
                    <a:pt x="20939761" y="0"/>
                  </a:lnTo>
                  <a:lnTo>
                    <a:pt x="20939761" y="1737360"/>
                  </a:lnTo>
                  <a:lnTo>
                    <a:pt x="0" y="1737360"/>
                  </a:lnTo>
                  <a:close/>
                </a:path>
              </a:pathLst>
            </a:custGeom>
            <a:blipFill>
              <a:blip r:embed="rId3">
                <a:alphaModFix amt="0"/>
              </a:blip>
              <a:stretch>
                <a:fillRect t="-184845" b="-184845"/>
              </a:stretch>
            </a:blipFill>
          </p:spPr>
          <p:txBody>
            <a:bodyPr/>
            <a:lstStyle/>
            <a:p>
              <a:endParaRPr lang="en-US"/>
            </a:p>
          </p:txBody>
        </p:sp>
        <p:sp>
          <p:nvSpPr>
            <p:cNvPr id="15" name="TextBox 15"/>
            <p:cNvSpPr txBox="1"/>
            <p:nvPr/>
          </p:nvSpPr>
          <p:spPr>
            <a:xfrm>
              <a:off x="0" y="-47625"/>
              <a:ext cx="20939760" cy="1784985"/>
            </a:xfrm>
            <a:prstGeom prst="rect">
              <a:avLst/>
            </a:prstGeom>
          </p:spPr>
          <p:txBody>
            <a:bodyPr lIns="0" tIns="0" rIns="0" bIns="0" rtlCol="0" anchor="ctr"/>
            <a:lstStyle/>
            <a:p>
              <a:pPr algn="l">
                <a:lnSpc>
                  <a:spcPts val="2520"/>
                </a:lnSpc>
              </a:pPr>
              <a:r>
                <a:rPr lang="en-US" sz="2100" b="1">
                  <a:solidFill>
                    <a:srgbClr val="DCE9F7"/>
                  </a:solidFill>
                  <a:latin typeface="Calibri"/>
                  <a:ea typeface="Calibri (MS) Bold"/>
                  <a:cs typeface="Calibri"/>
                  <a:sym typeface="Calibri (MS) Bold"/>
                </a:rPr>
                <a:t>HEADLINE   </a:t>
              </a:r>
              <a:r>
                <a:rPr lang="en-US" sz="2100" b="1">
                  <a:solidFill>
                    <a:srgbClr val="FFFFFF"/>
                  </a:solidFill>
                  <a:latin typeface="Calibri"/>
                  <a:ea typeface="Calibri (MS) Bold"/>
                  <a:cs typeface="Calibri"/>
                  <a:sym typeface="Calibri (MS) Bold"/>
                </a:rPr>
                <a:t>Freeze untargeted upgrade/rebuild capex, cap rural buildout at the subsidy floor, and redirect the savings plus $4-5B/year of paused buybacks to below 4.0x leverage from Q1 2027 until Internet net adds improve for two straight quarters, reporting rural apart from the core and publishing triggers at a Q4 2027 investor day.</a:t>
              </a:r>
            </a:p>
          </p:txBody>
        </p:sp>
      </p:grpSp>
      <p:grpSp>
        <p:nvGrpSpPr>
          <p:cNvPr id="16" name="Group 16"/>
          <p:cNvGrpSpPr/>
          <p:nvPr/>
        </p:nvGrpSpPr>
        <p:grpSpPr>
          <a:xfrm>
            <a:off x="1028700" y="3703320"/>
            <a:ext cx="5321808" cy="3634740"/>
            <a:chOff x="0" y="0"/>
            <a:chExt cx="7095744" cy="4846320"/>
          </a:xfrm>
        </p:grpSpPr>
        <p:sp>
          <p:nvSpPr>
            <p:cNvPr id="17" name="Freeform 1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18" name="Group 18"/>
          <p:cNvGrpSpPr/>
          <p:nvPr/>
        </p:nvGrpSpPr>
        <p:grpSpPr>
          <a:xfrm>
            <a:off x="1303020" y="3867912"/>
            <a:ext cx="4800600" cy="356616"/>
            <a:chOff x="0" y="0"/>
            <a:chExt cx="6400800" cy="475488"/>
          </a:xfrm>
        </p:grpSpPr>
        <p:sp>
          <p:nvSpPr>
            <p:cNvPr id="19" name="Freeform 1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0" name="TextBox 2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RATIONALE</a:t>
              </a:r>
            </a:p>
          </p:txBody>
        </p:sp>
      </p:grpSp>
      <p:grpSp>
        <p:nvGrpSpPr>
          <p:cNvPr id="21" name="Group 21"/>
          <p:cNvGrpSpPr/>
          <p:nvPr/>
        </p:nvGrpSpPr>
        <p:grpSpPr>
          <a:xfrm>
            <a:off x="6460236" y="3730498"/>
            <a:ext cx="5321808" cy="3634740"/>
            <a:chOff x="0" y="0"/>
            <a:chExt cx="7095744" cy="4846320"/>
          </a:xfrm>
        </p:grpSpPr>
        <p:sp>
          <p:nvSpPr>
            <p:cNvPr id="22" name="Freeform 22"/>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3" name="Group 23"/>
          <p:cNvGrpSpPr/>
          <p:nvPr/>
        </p:nvGrpSpPr>
        <p:grpSpPr>
          <a:xfrm>
            <a:off x="6761988" y="3839337"/>
            <a:ext cx="4800600" cy="385191"/>
            <a:chOff x="0" y="-38100"/>
            <a:chExt cx="6400800" cy="513588"/>
          </a:xfrm>
        </p:grpSpPr>
        <p:sp>
          <p:nvSpPr>
            <p:cNvPr id="24" name="Freeform 24"/>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5" name="TextBox 25"/>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RISKS AND TRADEOFFS</a:t>
              </a:r>
            </a:p>
          </p:txBody>
        </p:sp>
      </p:grpSp>
      <p:grpSp>
        <p:nvGrpSpPr>
          <p:cNvPr id="26" name="Group 26"/>
          <p:cNvGrpSpPr/>
          <p:nvPr/>
        </p:nvGrpSpPr>
        <p:grpSpPr>
          <a:xfrm>
            <a:off x="11946636" y="3703320"/>
            <a:ext cx="5321808" cy="3634740"/>
            <a:chOff x="0" y="0"/>
            <a:chExt cx="7095744" cy="4846320"/>
          </a:xfrm>
        </p:grpSpPr>
        <p:sp>
          <p:nvSpPr>
            <p:cNvPr id="27" name="Freeform 2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8" name="Group 28"/>
          <p:cNvGrpSpPr/>
          <p:nvPr/>
        </p:nvGrpSpPr>
        <p:grpSpPr>
          <a:xfrm>
            <a:off x="12220956" y="3867912"/>
            <a:ext cx="4800600" cy="356616"/>
            <a:chOff x="0" y="0"/>
            <a:chExt cx="6400800" cy="475488"/>
          </a:xfrm>
        </p:grpSpPr>
        <p:sp>
          <p:nvSpPr>
            <p:cNvPr id="29" name="Freeform 2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30" name="TextBox 3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NEXT STEPS</a:t>
              </a:r>
            </a:p>
          </p:txBody>
        </p:sp>
      </p:grpSp>
      <p:grpSp>
        <p:nvGrpSpPr>
          <p:cNvPr id="31" name="Group 31"/>
          <p:cNvGrpSpPr/>
          <p:nvPr/>
        </p:nvGrpSpPr>
        <p:grpSpPr>
          <a:xfrm>
            <a:off x="754380" y="8784241"/>
            <a:ext cx="16733521" cy="378047"/>
            <a:chOff x="0" y="-28575"/>
            <a:chExt cx="22311361" cy="504063"/>
          </a:xfrm>
        </p:grpSpPr>
        <p:sp>
          <p:nvSpPr>
            <p:cNvPr id="32" name="Freeform 32"/>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33" name="TextBox 33"/>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(repurchases, interest $5.0B, EPS); Q1 2026 10-Q (4.15x; $1.0B repurchased); Q1 2026 trending schedule (capex, rural take rate). Interest saving assumes a 5% to 6% blended coupon [team assumption].</a:t>
              </a:r>
            </a:p>
          </p:txBody>
        </p:sp>
      </p:grpSp>
      <p:grpSp>
        <p:nvGrpSpPr>
          <p:cNvPr id="34" name="Group 34"/>
          <p:cNvGrpSpPr/>
          <p:nvPr/>
        </p:nvGrpSpPr>
        <p:grpSpPr>
          <a:xfrm>
            <a:off x="754380" y="9168289"/>
            <a:ext cx="16733521" cy="432911"/>
            <a:chOff x="0" y="-28575"/>
            <a:chExt cx="22311361" cy="577215"/>
          </a:xfrm>
        </p:grpSpPr>
        <p:sp>
          <p:nvSpPr>
            <p:cNvPr id="35" name="Freeform 35"/>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6" name="TextBox 36"/>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4"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37" name="Group 37"/>
          <p:cNvGrpSpPr/>
          <p:nvPr/>
        </p:nvGrpSpPr>
        <p:grpSpPr>
          <a:xfrm>
            <a:off x="17076420" y="9641205"/>
            <a:ext cx="960120" cy="440055"/>
            <a:chOff x="0" y="-38100"/>
            <a:chExt cx="1280160" cy="586740"/>
          </a:xfrm>
        </p:grpSpPr>
        <p:sp>
          <p:nvSpPr>
            <p:cNvPr id="38" name="Freeform 38"/>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9" name="TextBox 39"/>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6</a:t>
              </a:r>
            </a:p>
          </p:txBody>
        </p:sp>
      </p:grpSp>
      <p:grpSp>
        <p:nvGrpSpPr>
          <p:cNvPr id="40" name="Group 40"/>
          <p:cNvGrpSpPr/>
          <p:nvPr/>
        </p:nvGrpSpPr>
        <p:grpSpPr>
          <a:xfrm>
            <a:off x="754380" y="9648349"/>
            <a:ext cx="16047721" cy="432911"/>
            <a:chOff x="0" y="-28575"/>
            <a:chExt cx="21396961" cy="577215"/>
          </a:xfrm>
        </p:grpSpPr>
        <p:sp>
          <p:nvSpPr>
            <p:cNvPr id="41" name="Freeform 41"/>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2" name="TextBox 42"/>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grpSp>
        <p:nvGrpSpPr>
          <p:cNvPr id="111" name="Group 111"/>
          <p:cNvGrpSpPr/>
          <p:nvPr/>
        </p:nvGrpSpPr>
        <p:grpSpPr>
          <a:xfrm>
            <a:off x="1303020" y="7543800"/>
            <a:ext cx="7776210" cy="960120"/>
            <a:chOff x="0" y="0"/>
            <a:chExt cx="10368280" cy="1280160"/>
          </a:xfrm>
        </p:grpSpPr>
        <p:sp>
          <p:nvSpPr>
            <p:cNvPr id="112" name="Freeform 112"/>
            <p:cNvSpPr/>
            <p:nvPr/>
          </p:nvSpPr>
          <p:spPr>
            <a:xfrm>
              <a:off x="0" y="0"/>
              <a:ext cx="10368280" cy="1280160"/>
            </a:xfrm>
            <a:custGeom>
              <a:avLst/>
              <a:gdLst/>
              <a:ahLst/>
              <a:cxnLst/>
              <a:rect l="l" t="t" r="r" b="b"/>
              <a:pathLst>
                <a:path w="10368280" h="1280160">
                  <a:moveTo>
                    <a:pt x="76200" y="0"/>
                  </a:moveTo>
                  <a:lnTo>
                    <a:pt x="10292080" y="0"/>
                  </a:lnTo>
                  <a:cubicBezTo>
                    <a:pt x="10334165" y="0"/>
                    <a:pt x="10368280" y="34116"/>
                    <a:pt x="10368280" y="76200"/>
                  </a:cubicBezTo>
                  <a:lnTo>
                    <a:pt x="10368280" y="1203960"/>
                  </a:lnTo>
                  <a:cubicBezTo>
                    <a:pt x="10368280" y="1246044"/>
                    <a:pt x="10334165" y="1280160"/>
                    <a:pt x="10292080" y="1280160"/>
                  </a:cubicBezTo>
                  <a:lnTo>
                    <a:pt x="76200" y="1280160"/>
                  </a:lnTo>
                  <a:cubicBezTo>
                    <a:pt x="34116" y="1280160"/>
                    <a:pt x="0" y="1246044"/>
                    <a:pt x="0" y="1203960"/>
                  </a:cubicBezTo>
                  <a:lnTo>
                    <a:pt x="0" y="76200"/>
                  </a:lnTo>
                  <a:cubicBezTo>
                    <a:pt x="0" y="34116"/>
                    <a:pt x="34116" y="0"/>
                    <a:pt x="76200" y="0"/>
                  </a:cubicBezTo>
                  <a:close/>
                </a:path>
              </a:pathLst>
            </a:custGeom>
            <a:solidFill>
              <a:srgbClr val="EEF4FB"/>
            </a:solidFill>
            <a:ln w="9525" cap="sq">
              <a:solidFill>
                <a:srgbClr val="D8E4EC"/>
              </a:solidFill>
              <a:prstDash val="solid"/>
              <a:miter/>
            </a:ln>
          </p:spPr>
          <p:txBody>
            <a:bodyPr/>
            <a:lstStyle/>
            <a:p>
              <a:endParaRPr lang="en-US"/>
            </a:p>
          </p:txBody>
        </p:sp>
        <p:sp>
          <p:nvSpPr>
            <p:cNvPr id="113" name="TextBox 113"/>
            <p:cNvSpPr txBox="1"/>
            <p:nvPr/>
          </p:nvSpPr>
          <p:spPr>
            <a:xfrm>
              <a:off x="0" y="-38100"/>
              <a:ext cx="10368280" cy="1318260"/>
            </a:xfrm>
            <a:prstGeom prst="rect">
              <a:avLst/>
            </a:prstGeom>
          </p:spPr>
          <p:txBody>
            <a:bodyPr lIns="50800" tIns="50800" rIns="50800" bIns="50800" rtlCol="0" anchor="ctr"/>
            <a:lstStyle/>
            <a:p>
              <a:pPr algn="l">
                <a:lnSpc>
                  <a:spcPts val="1679"/>
                </a:lnSpc>
              </a:pPr>
              <a:endParaRPr/>
            </a:p>
          </p:txBody>
        </p:sp>
      </p:grpSp>
      <p:sp>
        <p:nvSpPr>
          <p:cNvPr id="114" name="TextBox 114"/>
          <p:cNvSpPr txBox="1"/>
          <p:nvPr/>
        </p:nvSpPr>
        <p:spPr>
          <a:xfrm>
            <a:off x="1474470" y="7648575"/>
            <a:ext cx="7433310" cy="292735"/>
          </a:xfrm>
          <a:prstGeom prst="rect">
            <a:avLst/>
          </a:prstGeom>
        </p:spPr>
        <p:txBody>
          <a:bodyPr lIns="0" tIns="0" rIns="0" bIns="0" rtlCol="0" anchor="t">
            <a:spAutoFit/>
          </a:bodyPr>
          <a:lstStyle/>
          <a:p>
            <a:pPr algn="l">
              <a:lnSpc>
                <a:spcPts val="2239"/>
              </a:lnSpc>
            </a:pPr>
            <a:r>
              <a:rPr lang="en-US" sz="1599" b="1">
                <a:solidFill>
                  <a:srgbClr val="0099D8"/>
                </a:solidFill>
                <a:latin typeface="Calibri"/>
                <a:ea typeface="Calibri (MS) Bold"/>
                <a:cs typeface="Calibri"/>
                <a:sym typeface="Calibri (MS) Bold"/>
              </a:rPr>
              <a:t>Prize:</a:t>
            </a:r>
          </a:p>
        </p:txBody>
      </p:sp>
      <p:sp>
        <p:nvSpPr>
          <p:cNvPr id="115" name="TextBox 115"/>
          <p:cNvSpPr txBox="1"/>
          <p:nvPr/>
        </p:nvSpPr>
        <p:spPr>
          <a:xfrm>
            <a:off x="1474470" y="7953375"/>
            <a:ext cx="7433310" cy="461665"/>
          </a:xfrm>
          <a:prstGeom prst="rect">
            <a:avLst/>
          </a:prstGeom>
        </p:spPr>
        <p:txBody>
          <a:bodyPr lIns="0" tIns="0" rIns="0" bIns="0" rtlCol="0" anchor="t">
            <a:spAutoFit/>
          </a:bodyPr>
          <a:lstStyle/>
          <a:p>
            <a:pPr algn="l">
              <a:lnSpc>
                <a:spcPts val="1797"/>
              </a:lnSpc>
            </a:pPr>
            <a:r>
              <a:rPr lang="en-US" sz="1550">
                <a:solidFill>
                  <a:srgbClr val="003057"/>
                </a:solidFill>
                <a:latin typeface="Calibri"/>
                <a:ea typeface="Calibri (MS)"/>
                <a:cs typeface="Calibri"/>
                <a:sym typeface="Calibri (MS)"/>
              </a:rPr>
              <a:t>~$1.9B avoided rural capex, plus freed upgrade/rebuild and buyback cash, applied to deleveraging toward 4.0x</a:t>
            </a:r>
          </a:p>
        </p:txBody>
      </p:sp>
      <p:grpSp>
        <p:nvGrpSpPr>
          <p:cNvPr id="116" name="Group 116"/>
          <p:cNvGrpSpPr/>
          <p:nvPr/>
        </p:nvGrpSpPr>
        <p:grpSpPr>
          <a:xfrm>
            <a:off x="9231630" y="7543800"/>
            <a:ext cx="7776210" cy="960120"/>
            <a:chOff x="0" y="0"/>
            <a:chExt cx="10368280" cy="1280160"/>
          </a:xfrm>
        </p:grpSpPr>
        <p:sp>
          <p:nvSpPr>
            <p:cNvPr id="117" name="Freeform 117"/>
            <p:cNvSpPr/>
            <p:nvPr/>
          </p:nvSpPr>
          <p:spPr>
            <a:xfrm>
              <a:off x="0" y="0"/>
              <a:ext cx="10368280" cy="1280160"/>
            </a:xfrm>
            <a:custGeom>
              <a:avLst/>
              <a:gdLst/>
              <a:ahLst/>
              <a:cxnLst/>
              <a:rect l="l" t="t" r="r" b="b"/>
              <a:pathLst>
                <a:path w="10368280" h="1280160">
                  <a:moveTo>
                    <a:pt x="76200" y="0"/>
                  </a:moveTo>
                  <a:lnTo>
                    <a:pt x="10292080" y="0"/>
                  </a:lnTo>
                  <a:cubicBezTo>
                    <a:pt x="10334165" y="0"/>
                    <a:pt x="10368280" y="34116"/>
                    <a:pt x="10368280" y="76200"/>
                  </a:cubicBezTo>
                  <a:lnTo>
                    <a:pt x="10368280" y="1203960"/>
                  </a:lnTo>
                  <a:cubicBezTo>
                    <a:pt x="10368280" y="1246044"/>
                    <a:pt x="10334165" y="1280160"/>
                    <a:pt x="10292080" y="1280160"/>
                  </a:cubicBezTo>
                  <a:lnTo>
                    <a:pt x="76200" y="1280160"/>
                  </a:lnTo>
                  <a:cubicBezTo>
                    <a:pt x="34116" y="1280160"/>
                    <a:pt x="0" y="1246044"/>
                    <a:pt x="0" y="1203960"/>
                  </a:cubicBezTo>
                  <a:lnTo>
                    <a:pt x="0" y="76200"/>
                  </a:lnTo>
                  <a:cubicBezTo>
                    <a:pt x="0" y="34116"/>
                    <a:pt x="34116" y="0"/>
                    <a:pt x="76200" y="0"/>
                  </a:cubicBezTo>
                  <a:close/>
                </a:path>
              </a:pathLst>
            </a:custGeom>
            <a:solidFill>
              <a:srgbClr val="EEF4FB"/>
            </a:solidFill>
            <a:ln w="9525" cap="sq">
              <a:solidFill>
                <a:srgbClr val="D8E4EC"/>
              </a:solidFill>
              <a:prstDash val="solid"/>
              <a:miter/>
            </a:ln>
          </p:spPr>
          <p:txBody>
            <a:bodyPr/>
            <a:lstStyle/>
            <a:p>
              <a:endParaRPr lang="en-US"/>
            </a:p>
          </p:txBody>
        </p:sp>
        <p:sp>
          <p:nvSpPr>
            <p:cNvPr id="118" name="TextBox 118"/>
            <p:cNvSpPr txBox="1"/>
            <p:nvPr/>
          </p:nvSpPr>
          <p:spPr>
            <a:xfrm>
              <a:off x="0" y="-38100"/>
              <a:ext cx="10368280" cy="1318260"/>
            </a:xfrm>
            <a:prstGeom prst="rect">
              <a:avLst/>
            </a:prstGeom>
          </p:spPr>
          <p:txBody>
            <a:bodyPr lIns="50800" tIns="50800" rIns="50800" bIns="50800" rtlCol="0" anchor="ctr"/>
            <a:lstStyle/>
            <a:p>
              <a:pPr algn="l">
                <a:lnSpc>
                  <a:spcPts val="1679"/>
                </a:lnSpc>
              </a:pPr>
              <a:endParaRPr/>
            </a:p>
          </p:txBody>
        </p:sp>
      </p:grpSp>
      <p:sp>
        <p:nvSpPr>
          <p:cNvPr id="119" name="TextBox 119"/>
          <p:cNvSpPr txBox="1"/>
          <p:nvPr/>
        </p:nvSpPr>
        <p:spPr>
          <a:xfrm>
            <a:off x="9403080" y="7648575"/>
            <a:ext cx="7433310" cy="292735"/>
          </a:xfrm>
          <a:prstGeom prst="rect">
            <a:avLst/>
          </a:prstGeom>
        </p:spPr>
        <p:txBody>
          <a:bodyPr lIns="0" tIns="0" rIns="0" bIns="0" rtlCol="0" anchor="t">
            <a:spAutoFit/>
          </a:bodyPr>
          <a:lstStyle/>
          <a:p>
            <a:pPr algn="l">
              <a:lnSpc>
                <a:spcPts val="2239"/>
              </a:lnSpc>
            </a:pPr>
            <a:r>
              <a:rPr lang="en-US" sz="1599" b="1">
                <a:solidFill>
                  <a:srgbClr val="0099D8"/>
                </a:solidFill>
                <a:latin typeface="Calibri"/>
                <a:ea typeface="Calibri (MS) Bold"/>
                <a:cs typeface="Calibri"/>
                <a:sym typeface="Calibri (MS) Bold"/>
              </a:rPr>
              <a:t>Cost:</a:t>
            </a:r>
          </a:p>
        </p:txBody>
      </p:sp>
      <p:sp>
        <p:nvSpPr>
          <p:cNvPr id="120" name="TextBox 120"/>
          <p:cNvSpPr txBox="1"/>
          <p:nvPr/>
        </p:nvSpPr>
        <p:spPr>
          <a:xfrm>
            <a:off x="9403080" y="7953375"/>
            <a:ext cx="7433310" cy="461665"/>
          </a:xfrm>
          <a:prstGeom prst="rect">
            <a:avLst/>
          </a:prstGeom>
        </p:spPr>
        <p:txBody>
          <a:bodyPr lIns="0" tIns="0" rIns="0" bIns="0" rtlCol="0" anchor="t">
            <a:spAutoFit/>
          </a:bodyPr>
          <a:lstStyle/>
          <a:p>
            <a:pPr algn="l">
              <a:lnSpc>
                <a:spcPts val="1797"/>
              </a:lnSpc>
            </a:pPr>
            <a:r>
              <a:rPr lang="en-US" sz="1550">
                <a:solidFill>
                  <a:srgbClr val="003057"/>
                </a:solidFill>
                <a:latin typeface="Calibri"/>
                <a:ea typeface="Calibri (MS)"/>
                <a:cs typeface="Calibri"/>
                <a:sym typeface="Calibri (MS)"/>
              </a:rPr>
              <a:t>No new cash; the capex freeze and rural cut self-fund it, plus $250M to $300M of interest saved per $5B retired</a:t>
            </a:r>
          </a:p>
        </p:txBody>
      </p:sp>
      <p:sp>
        <p:nvSpPr>
          <p:cNvPr id="121" name="TextBox 46">
            <a:extLst>
              <a:ext uri="{FF2B5EF4-FFF2-40B4-BE49-F238E27FC236}">
                <a16:creationId xmlns:a16="http://schemas.microsoft.com/office/drawing/2014/main" id="{B7F028C5-B5FF-D343-0D29-6178B5CA2FEA}"/>
              </a:ext>
            </a:extLst>
          </p:cNvPr>
          <p:cNvSpPr txBox="1"/>
          <p:nvPr/>
        </p:nvSpPr>
        <p:spPr>
          <a:xfrm>
            <a:off x="1303020" y="4236212"/>
            <a:ext cx="4800600" cy="2462213"/>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Capex is up 71% ($675M vs. $395M) as Internet fell 120,000, double 2025.</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Rural take sits at 38% vs. a 54% average, on plant already lit and paid for.</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$6.4B repurchased in five quarters bought no price support; the signal is spent.</a:t>
            </a: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4.15x is the ceiling; Cox adds ~$12.5B more debt.</a:t>
            </a:r>
          </a:p>
        </p:txBody>
      </p:sp>
      <p:sp>
        <p:nvSpPr>
          <p:cNvPr id="123" name="AutoShape 72">
            <a:extLst>
              <a:ext uri="{FF2B5EF4-FFF2-40B4-BE49-F238E27FC236}">
                <a16:creationId xmlns:a16="http://schemas.microsoft.com/office/drawing/2014/main" id="{BB901506-3A09-F9CE-5577-9021EDF2E7FB}"/>
              </a:ext>
            </a:extLst>
          </p:cNvPr>
          <p:cNvSpPr/>
          <p:nvPr/>
        </p:nvSpPr>
        <p:spPr>
          <a:xfrm>
            <a:off x="1352550" y="4787392"/>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25" name="AutoShape 72">
            <a:extLst>
              <a:ext uri="{FF2B5EF4-FFF2-40B4-BE49-F238E27FC236}">
                <a16:creationId xmlns:a16="http://schemas.microsoft.com/office/drawing/2014/main" id="{9EBEA278-52DF-8811-A545-1744F517D175}"/>
              </a:ext>
            </a:extLst>
          </p:cNvPr>
          <p:cNvSpPr/>
          <p:nvPr/>
        </p:nvSpPr>
        <p:spPr>
          <a:xfrm>
            <a:off x="1352550" y="5546979"/>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27" name="AutoShape 72">
            <a:extLst>
              <a:ext uri="{FF2B5EF4-FFF2-40B4-BE49-F238E27FC236}">
                <a16:creationId xmlns:a16="http://schemas.microsoft.com/office/drawing/2014/main" id="{E2988DE9-3417-BDBC-2E78-63A7B3C68407}"/>
              </a:ext>
            </a:extLst>
          </p:cNvPr>
          <p:cNvSpPr/>
          <p:nvPr/>
        </p:nvSpPr>
        <p:spPr>
          <a:xfrm>
            <a:off x="1352550" y="6302248"/>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29" name="TextBox 46">
            <a:extLst>
              <a:ext uri="{FF2B5EF4-FFF2-40B4-BE49-F238E27FC236}">
                <a16:creationId xmlns:a16="http://schemas.microsoft.com/office/drawing/2014/main" id="{0C106C2C-C372-AAF0-C51F-619152563E8F}"/>
              </a:ext>
            </a:extLst>
          </p:cNvPr>
          <p:cNvSpPr txBox="1"/>
          <p:nvPr/>
        </p:nvSpPr>
        <p:spPr>
          <a:xfrm>
            <a:off x="6761988" y="4226052"/>
            <a:ext cx="4800600" cy="1969770"/>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Read as capitulation: announce with the leverage target and the reinstatement trigger</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Cohort disclosure gives bears a better model: the worst case is already priced</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Capex freeze slows overlap-zip node work; scope it to only where speed is named</a:t>
            </a:r>
          </a:p>
        </p:txBody>
      </p:sp>
      <p:sp>
        <p:nvSpPr>
          <p:cNvPr id="131" name="AutoShape 72">
            <a:extLst>
              <a:ext uri="{FF2B5EF4-FFF2-40B4-BE49-F238E27FC236}">
                <a16:creationId xmlns:a16="http://schemas.microsoft.com/office/drawing/2014/main" id="{D61916C9-93D4-6690-56CD-479DEFAEDA45}"/>
              </a:ext>
            </a:extLst>
          </p:cNvPr>
          <p:cNvSpPr/>
          <p:nvPr/>
        </p:nvSpPr>
        <p:spPr>
          <a:xfrm>
            <a:off x="6793230" y="4774692"/>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3" name="AutoShape 72">
            <a:extLst>
              <a:ext uri="{FF2B5EF4-FFF2-40B4-BE49-F238E27FC236}">
                <a16:creationId xmlns:a16="http://schemas.microsoft.com/office/drawing/2014/main" id="{48E73E72-D522-163A-BDEB-D10F58195085}"/>
              </a:ext>
            </a:extLst>
          </p:cNvPr>
          <p:cNvSpPr/>
          <p:nvPr/>
        </p:nvSpPr>
        <p:spPr>
          <a:xfrm>
            <a:off x="6793230" y="5534279"/>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5" name="TextBox 46">
            <a:extLst>
              <a:ext uri="{FF2B5EF4-FFF2-40B4-BE49-F238E27FC236}">
                <a16:creationId xmlns:a16="http://schemas.microsoft.com/office/drawing/2014/main" id="{0F13A359-9A34-2829-2B69-AA9CD1508997}"/>
              </a:ext>
            </a:extLst>
          </p:cNvPr>
          <p:cNvSpPr txBox="1"/>
          <p:nvPr/>
        </p:nvSpPr>
        <p:spPr>
          <a:xfrm>
            <a:off x="12220956" y="4218003"/>
            <a:ext cx="4800600" cy="2462213"/>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Capex team scores $ per net add and freezes untargeted upgrade spend: Nov 2026</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CEO and CFO take the plan to the board: Jan 2027</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IR re-segments rural reporting and guides post-2027 capex: Apr 2027</a:t>
            </a:r>
          </a:p>
          <a:p>
            <a:pPr marL="285750" indent="-285750">
              <a:buClr>
                <a:srgbClr val="0099D8"/>
              </a:buClr>
              <a:buSzPct val="150000"/>
              <a:buFont typeface="Calibri" panose="020F0502020204030204" pitchFamily="34" charset="0"/>
              <a:buChar char="•"/>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Investor day publishes thresholds, plays, kill conditions: Q4 2027</a:t>
            </a:r>
          </a:p>
        </p:txBody>
      </p:sp>
      <p:sp>
        <p:nvSpPr>
          <p:cNvPr id="137" name="AutoShape 72">
            <a:extLst>
              <a:ext uri="{FF2B5EF4-FFF2-40B4-BE49-F238E27FC236}">
                <a16:creationId xmlns:a16="http://schemas.microsoft.com/office/drawing/2014/main" id="{A0F66528-7A9B-56EE-1942-6020E46E9070}"/>
              </a:ext>
            </a:extLst>
          </p:cNvPr>
          <p:cNvSpPr/>
          <p:nvPr/>
        </p:nvSpPr>
        <p:spPr>
          <a:xfrm>
            <a:off x="12220956" y="4787392"/>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39" name="AutoShape 72">
            <a:extLst>
              <a:ext uri="{FF2B5EF4-FFF2-40B4-BE49-F238E27FC236}">
                <a16:creationId xmlns:a16="http://schemas.microsoft.com/office/drawing/2014/main" id="{B9511C46-C739-4B7A-0777-18B309E14821}"/>
              </a:ext>
            </a:extLst>
          </p:cNvPr>
          <p:cNvSpPr/>
          <p:nvPr/>
        </p:nvSpPr>
        <p:spPr>
          <a:xfrm>
            <a:off x="12220956" y="5314950"/>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141" name="AutoShape 72">
            <a:extLst>
              <a:ext uri="{FF2B5EF4-FFF2-40B4-BE49-F238E27FC236}">
                <a16:creationId xmlns:a16="http://schemas.microsoft.com/office/drawing/2014/main" id="{9847E84E-0032-98CD-88A3-77936730F401}"/>
              </a:ext>
            </a:extLst>
          </p:cNvPr>
          <p:cNvSpPr/>
          <p:nvPr/>
        </p:nvSpPr>
        <p:spPr>
          <a:xfrm>
            <a:off x="12220956" y="6064117"/>
            <a:ext cx="4572000" cy="0"/>
          </a:xfrm>
          <a:prstGeom prst="line">
            <a:avLst/>
          </a:prstGeom>
          <a:ln w="9525" cap="flat">
            <a:solidFill>
              <a:srgbClr val="D8E4EC"/>
            </a:solidFill>
            <a:prstDash val="solid"/>
            <a:headEnd type="none" w="sm" len="sm"/>
            <a:tailEnd type="none" w="sm" len="sm"/>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5"/>
          <p:cNvGrpSpPr/>
          <p:nvPr/>
        </p:nvGrpSpPr>
        <p:grpSpPr>
          <a:xfrm>
            <a:off x="10963275" y="5339715"/>
            <a:ext cx="6602730" cy="3242310"/>
            <a:chOff x="0" y="0"/>
            <a:chExt cx="8803640" cy="4323080"/>
          </a:xfrm>
        </p:grpSpPr>
        <p:sp>
          <p:nvSpPr>
            <p:cNvPr id="16" name="Freeform 16"/>
            <p:cNvSpPr/>
            <p:nvPr/>
          </p:nvSpPr>
          <p:spPr>
            <a:xfrm>
              <a:off x="0" y="0"/>
              <a:ext cx="8803640" cy="4323080"/>
            </a:xfrm>
            <a:custGeom>
              <a:avLst/>
              <a:gdLst/>
              <a:ahLst/>
              <a:cxnLst/>
              <a:rect l="l" t="t" r="r" b="b"/>
              <a:pathLst>
                <a:path w="8803640" h="4323080">
                  <a:moveTo>
                    <a:pt x="0" y="147193"/>
                  </a:moveTo>
                  <a:cubicBezTo>
                    <a:pt x="0" y="65913"/>
                    <a:pt x="65913" y="0"/>
                    <a:pt x="147193" y="0"/>
                  </a:cubicBezTo>
                  <a:lnTo>
                    <a:pt x="8656447" y="0"/>
                  </a:lnTo>
                  <a:cubicBezTo>
                    <a:pt x="8737727" y="0"/>
                    <a:pt x="8803640" y="65913"/>
                    <a:pt x="8803640" y="147193"/>
                  </a:cubicBezTo>
                  <a:lnTo>
                    <a:pt x="8803640" y="4175887"/>
                  </a:lnTo>
                  <a:cubicBezTo>
                    <a:pt x="8803640" y="4257167"/>
                    <a:pt x="8737727" y="4323080"/>
                    <a:pt x="8656447" y="4323080"/>
                  </a:cubicBezTo>
                  <a:lnTo>
                    <a:pt x="147193" y="4323080"/>
                  </a:lnTo>
                  <a:cubicBezTo>
                    <a:pt x="65913" y="4323080"/>
                    <a:pt x="0" y="4257167"/>
                    <a:pt x="0" y="4175887"/>
                  </a:cubicBezTo>
                  <a:close/>
                </a:path>
              </a:pathLst>
            </a:custGeom>
            <a:solidFill>
              <a:srgbClr val="FEFEFE"/>
            </a:solidFill>
            <a:ln w="19050" cap="sq">
              <a:solidFill>
                <a:srgbClr val="D8DEE6"/>
              </a:solidFill>
              <a:prstDash val="solid"/>
              <a:miter/>
            </a:ln>
          </p:spPr>
          <p:txBody>
            <a:bodyPr/>
            <a:lstStyle/>
            <a:p>
              <a:endParaRPr lang="en-US"/>
            </a:p>
          </p:txBody>
        </p:sp>
      </p:grpSp>
      <p:sp>
        <p:nvSpPr>
          <p:cNvPr id="67" name="TextBox 46">
            <a:extLst>
              <a:ext uri="{FF2B5EF4-FFF2-40B4-BE49-F238E27FC236}">
                <a16:creationId xmlns:a16="http://schemas.microsoft.com/office/drawing/2014/main" id="{4601FAE2-7086-E276-3442-59503F5F0FE5}"/>
              </a:ext>
            </a:extLst>
          </p:cNvPr>
          <p:cNvSpPr txBox="1"/>
          <p:nvPr/>
        </p:nvSpPr>
        <p:spPr>
          <a:xfrm>
            <a:off x="11324851" y="6578743"/>
            <a:ext cx="5897880" cy="1723549"/>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dirty="0">
                <a:solidFill>
                  <a:srgbClr val="171A1F"/>
                </a:solidFill>
                <a:latin typeface="Calibri"/>
                <a:ea typeface="Calibri (MS)"/>
                <a:cs typeface="Calibri"/>
                <a:sym typeface="Calibri (MS)"/>
              </a:rPr>
              <a:t>Q1 2026 upgrade/rebuild capex: $675M vs. $395M a year earlier, up 71%, the same quarter Internet fell 120,000.</a:t>
            </a:r>
          </a:p>
          <a:p>
            <a:pPr>
              <a:buClr>
                <a:srgbClr val="0099D8"/>
              </a:buClr>
              <a:buSzPct val="150000"/>
            </a:pPr>
            <a:endParaRPr lang="en-US" sz="1600" dirty="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dirty="0">
                <a:solidFill>
                  <a:srgbClr val="171A1F"/>
                </a:solidFill>
                <a:ea typeface="Calibri (MS)"/>
                <a:cs typeface="Calibri"/>
                <a:sym typeface="Calibri (MS)"/>
              </a:rPr>
              <a:t>Capex intensity is 21.3% of revenue against Comcast's 10.8% in Cable &amp; Communications, a live constraint on new debt paydown.</a:t>
            </a:r>
          </a:p>
          <a:p>
            <a:pPr>
              <a:buClr>
                <a:srgbClr val="0099D8"/>
              </a:buClr>
              <a:buSzPct val="150000"/>
            </a:pPr>
            <a:endParaRPr lang="en-US" sz="1600" dirty="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dirty="0">
                <a:solidFill>
                  <a:srgbClr val="171A1F"/>
                </a:solidFill>
                <a:ea typeface="Calibri (MS)"/>
                <a:cs typeface="Calibri"/>
                <a:sym typeface="Calibri (MS)"/>
              </a:rPr>
              <a:t>Interest cut, not a re-rating, is the point of paying debt down.</a:t>
            </a:r>
          </a:p>
        </p:txBody>
      </p:sp>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2, EVIDENCE</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832676"/>
            <a:ext cx="16733520" cy="584071"/>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More Capex, More Buybacks, Still No Price Support</a:t>
            </a:r>
          </a:p>
        </p:txBody>
      </p:sp>
      <p:grpSp>
        <p:nvGrpSpPr>
          <p:cNvPr id="10" name="Group 10"/>
          <p:cNvGrpSpPr/>
          <p:nvPr/>
        </p:nvGrpSpPr>
        <p:grpSpPr>
          <a:xfrm>
            <a:off x="10963275" y="1910715"/>
            <a:ext cx="6602730" cy="3242310"/>
            <a:chOff x="0" y="0"/>
            <a:chExt cx="8803640" cy="4323080"/>
          </a:xfrm>
        </p:grpSpPr>
        <p:sp>
          <p:nvSpPr>
            <p:cNvPr id="11" name="Freeform 11"/>
            <p:cNvSpPr/>
            <p:nvPr/>
          </p:nvSpPr>
          <p:spPr>
            <a:xfrm>
              <a:off x="0" y="0"/>
              <a:ext cx="8803640" cy="4323080"/>
            </a:xfrm>
            <a:custGeom>
              <a:avLst/>
              <a:gdLst/>
              <a:ahLst/>
              <a:cxnLst/>
              <a:rect l="l" t="t" r="r" b="b"/>
              <a:pathLst>
                <a:path w="8803640" h="4323080">
                  <a:moveTo>
                    <a:pt x="0" y="147193"/>
                  </a:moveTo>
                  <a:cubicBezTo>
                    <a:pt x="0" y="65913"/>
                    <a:pt x="65913" y="0"/>
                    <a:pt x="147193" y="0"/>
                  </a:cubicBezTo>
                  <a:lnTo>
                    <a:pt x="8656447" y="0"/>
                  </a:lnTo>
                  <a:cubicBezTo>
                    <a:pt x="8737727" y="0"/>
                    <a:pt x="8803640" y="65913"/>
                    <a:pt x="8803640" y="147193"/>
                  </a:cubicBezTo>
                  <a:lnTo>
                    <a:pt x="8803640" y="4175887"/>
                  </a:lnTo>
                  <a:cubicBezTo>
                    <a:pt x="8803640" y="4257167"/>
                    <a:pt x="8737727" y="4323080"/>
                    <a:pt x="8656447" y="4323080"/>
                  </a:cubicBezTo>
                  <a:lnTo>
                    <a:pt x="147193" y="4323080"/>
                  </a:lnTo>
                  <a:cubicBezTo>
                    <a:pt x="65913" y="4323080"/>
                    <a:pt x="0" y="4257167"/>
                    <a:pt x="0" y="4175887"/>
                  </a:cubicBezTo>
                  <a:close/>
                </a:path>
              </a:pathLst>
            </a:custGeom>
            <a:solidFill>
              <a:srgbClr val="EEF4FB"/>
            </a:solidFill>
            <a:ln w="19050" cap="sq">
              <a:solidFill>
                <a:srgbClr val="D8DEE6"/>
              </a:solidFill>
              <a:prstDash val="solid"/>
              <a:miter/>
            </a:ln>
          </p:spPr>
          <p:txBody>
            <a:bodyPr/>
            <a:lstStyle/>
            <a:p>
              <a:endParaRPr lang="en-US"/>
            </a:p>
          </p:txBody>
        </p:sp>
      </p:grpSp>
      <p:grpSp>
        <p:nvGrpSpPr>
          <p:cNvPr id="12" name="Group 12"/>
          <p:cNvGrpSpPr/>
          <p:nvPr/>
        </p:nvGrpSpPr>
        <p:grpSpPr>
          <a:xfrm>
            <a:off x="11315700" y="1895814"/>
            <a:ext cx="5189220" cy="1115961"/>
            <a:chOff x="0" y="-38100"/>
            <a:chExt cx="7863840" cy="497198"/>
          </a:xfrm>
        </p:grpSpPr>
        <p:sp>
          <p:nvSpPr>
            <p:cNvPr id="13" name="Freeform 13"/>
            <p:cNvSpPr/>
            <p:nvPr/>
          </p:nvSpPr>
          <p:spPr>
            <a:xfrm>
              <a:off x="0" y="0"/>
              <a:ext cx="7863840" cy="438912"/>
            </a:xfrm>
            <a:custGeom>
              <a:avLst/>
              <a:gdLst/>
              <a:ahLst/>
              <a:cxnLst/>
              <a:rect l="l" t="t" r="r" b="b"/>
              <a:pathLst>
                <a:path w="7863840" h="438912">
                  <a:moveTo>
                    <a:pt x="0" y="0"/>
                  </a:moveTo>
                  <a:lnTo>
                    <a:pt x="7863840" y="0"/>
                  </a:lnTo>
                  <a:lnTo>
                    <a:pt x="7863840" y="438912"/>
                  </a:lnTo>
                  <a:lnTo>
                    <a:pt x="0" y="438912"/>
                  </a:lnTo>
                  <a:close/>
                </a:path>
              </a:pathLst>
            </a:custGeom>
            <a:blipFill>
              <a:blip r:embed="rId3">
                <a:alphaModFix amt="0"/>
              </a:blip>
              <a:stretch>
                <a:fillRect t="-299106" b="-299106"/>
              </a:stretch>
            </a:blipFill>
          </p:spPr>
          <p:txBody>
            <a:bodyPr/>
            <a:lstStyle/>
            <a:p>
              <a:endParaRPr lang="en-US" sz="4000"/>
            </a:p>
          </p:txBody>
        </p:sp>
        <p:sp>
          <p:nvSpPr>
            <p:cNvPr id="14" name="TextBox 14"/>
            <p:cNvSpPr txBox="1"/>
            <p:nvPr/>
          </p:nvSpPr>
          <p:spPr>
            <a:xfrm>
              <a:off x="0" y="-38100"/>
              <a:ext cx="7863840" cy="497198"/>
            </a:xfrm>
            <a:prstGeom prst="rect">
              <a:avLst/>
            </a:prstGeom>
          </p:spPr>
          <p:txBody>
            <a:bodyPr lIns="0" tIns="0" rIns="0" bIns="0" rtlCol="0" anchor="ctr"/>
            <a:lstStyle/>
            <a:p>
              <a:pPr algn="l"/>
              <a:r>
                <a:rPr lang="en-US" sz="4000" b="1" spc="225">
                  <a:solidFill>
                    <a:srgbClr val="0099D8"/>
                  </a:solidFill>
                  <a:latin typeface="Calibri"/>
                  <a:ea typeface="Calibri (MS) Bold"/>
                  <a:cs typeface="Calibri"/>
                  <a:sym typeface="Calibri (MS) Bold"/>
                </a:rPr>
                <a:t>BUYBACKS DURING THE FALL</a:t>
              </a:r>
            </a:p>
          </p:txBody>
        </p:sp>
      </p:grpSp>
      <p:grpSp>
        <p:nvGrpSpPr>
          <p:cNvPr id="17" name="Group 17"/>
          <p:cNvGrpSpPr/>
          <p:nvPr/>
        </p:nvGrpSpPr>
        <p:grpSpPr>
          <a:xfrm>
            <a:off x="11315700" y="5527548"/>
            <a:ext cx="5897880" cy="555212"/>
            <a:chOff x="0" y="0"/>
            <a:chExt cx="7863840" cy="740283"/>
          </a:xfrm>
        </p:grpSpPr>
        <p:sp>
          <p:nvSpPr>
            <p:cNvPr id="18" name="Freeform 18"/>
            <p:cNvSpPr/>
            <p:nvPr/>
          </p:nvSpPr>
          <p:spPr>
            <a:xfrm>
              <a:off x="0" y="0"/>
              <a:ext cx="7863840" cy="438912"/>
            </a:xfrm>
            <a:custGeom>
              <a:avLst/>
              <a:gdLst/>
              <a:ahLst/>
              <a:cxnLst/>
              <a:rect l="l" t="t" r="r" b="b"/>
              <a:pathLst>
                <a:path w="7863840" h="438912">
                  <a:moveTo>
                    <a:pt x="0" y="0"/>
                  </a:moveTo>
                  <a:lnTo>
                    <a:pt x="7863840" y="0"/>
                  </a:lnTo>
                  <a:lnTo>
                    <a:pt x="7863840" y="438912"/>
                  </a:lnTo>
                  <a:lnTo>
                    <a:pt x="0" y="438912"/>
                  </a:lnTo>
                  <a:close/>
                </a:path>
              </a:pathLst>
            </a:custGeom>
            <a:blipFill>
              <a:blip r:embed="rId3">
                <a:alphaModFix amt="0"/>
              </a:blip>
              <a:stretch>
                <a:fillRect t="-299106" b="-299106"/>
              </a:stretch>
            </a:blipFill>
          </p:spPr>
          <p:txBody>
            <a:bodyPr/>
            <a:lstStyle/>
            <a:p>
              <a:endParaRPr lang="en-US" sz="4000"/>
            </a:p>
          </p:txBody>
        </p:sp>
        <p:sp>
          <p:nvSpPr>
            <p:cNvPr id="19" name="TextBox 19"/>
            <p:cNvSpPr txBox="1"/>
            <p:nvPr/>
          </p:nvSpPr>
          <p:spPr>
            <a:xfrm>
              <a:off x="0" y="263271"/>
              <a:ext cx="7863840" cy="477012"/>
            </a:xfrm>
            <a:prstGeom prst="rect">
              <a:avLst/>
            </a:prstGeom>
          </p:spPr>
          <p:txBody>
            <a:bodyPr lIns="0" tIns="0" rIns="0" bIns="0" rtlCol="0" anchor="ctr"/>
            <a:lstStyle/>
            <a:p>
              <a:pPr algn="l"/>
              <a:r>
                <a:rPr lang="en-US" sz="4000" b="1" spc="225" dirty="0">
                  <a:solidFill>
                    <a:schemeClr val="tx2"/>
                  </a:solidFill>
                  <a:latin typeface="Calibri"/>
                  <a:ea typeface="Calibri (MS) Bold"/>
                  <a:cs typeface="Calibri"/>
                  <a:sym typeface="Calibri (MS) Bold"/>
                </a:rPr>
                <a:t>CAPEX OUTRUNNING RESULTS</a:t>
              </a:r>
            </a:p>
          </p:txBody>
        </p:sp>
      </p:grpSp>
      <p:grpSp>
        <p:nvGrpSpPr>
          <p:cNvPr id="20" name="Group 20"/>
          <p:cNvGrpSpPr/>
          <p:nvPr/>
        </p:nvGrpSpPr>
        <p:grpSpPr>
          <a:xfrm>
            <a:off x="754380" y="8784241"/>
            <a:ext cx="16733521" cy="378047"/>
            <a:chOff x="0" y="-28575"/>
            <a:chExt cx="22311361" cy="504063"/>
          </a:xfrm>
        </p:grpSpPr>
        <p:sp>
          <p:nvSpPr>
            <p:cNvPr id="21" name="Freeform 21"/>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22" name="TextBox 22"/>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CHTR trending schedule through Q1 2026 (capex, Internet net adds); FY2025 10-K and Q1 2026 10-Q (repurchases, EPS, leverage, interest); Yahoo Finance daily close (price facts cited at right).</a:t>
              </a:r>
            </a:p>
          </p:txBody>
        </p:sp>
      </p:grpSp>
      <p:grpSp>
        <p:nvGrpSpPr>
          <p:cNvPr id="23" name="Group 23"/>
          <p:cNvGrpSpPr/>
          <p:nvPr/>
        </p:nvGrpSpPr>
        <p:grpSpPr>
          <a:xfrm>
            <a:off x="754380" y="9168289"/>
            <a:ext cx="16733521" cy="432911"/>
            <a:chOff x="0" y="-28575"/>
            <a:chExt cx="22311361" cy="577215"/>
          </a:xfrm>
        </p:grpSpPr>
        <p:sp>
          <p:nvSpPr>
            <p:cNvPr id="24" name="Freeform 24"/>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25" name="TextBox 25"/>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4"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26" name="Group 26"/>
          <p:cNvGrpSpPr/>
          <p:nvPr/>
        </p:nvGrpSpPr>
        <p:grpSpPr>
          <a:xfrm>
            <a:off x="17076420" y="9641205"/>
            <a:ext cx="960120" cy="440055"/>
            <a:chOff x="0" y="-38100"/>
            <a:chExt cx="1280160" cy="586740"/>
          </a:xfrm>
        </p:grpSpPr>
        <p:sp>
          <p:nvSpPr>
            <p:cNvPr id="27" name="Freeform 27"/>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8" name="TextBox 28"/>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7</a:t>
              </a:r>
            </a:p>
          </p:txBody>
        </p:sp>
      </p:grpSp>
      <p:grpSp>
        <p:nvGrpSpPr>
          <p:cNvPr id="29" name="Group 29"/>
          <p:cNvGrpSpPr/>
          <p:nvPr/>
        </p:nvGrpSpPr>
        <p:grpSpPr>
          <a:xfrm>
            <a:off x="754380" y="9648349"/>
            <a:ext cx="16047721" cy="432911"/>
            <a:chOff x="0" y="-28575"/>
            <a:chExt cx="21396961" cy="577215"/>
          </a:xfrm>
        </p:grpSpPr>
        <p:sp>
          <p:nvSpPr>
            <p:cNvPr id="30" name="Freeform 3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31" name="TextBox 3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sp>
        <p:nvSpPr>
          <p:cNvPr id="55" name="AutoShape 55"/>
          <p:cNvSpPr/>
          <p:nvPr/>
        </p:nvSpPr>
        <p:spPr>
          <a:xfrm>
            <a:off x="11534401" y="7946246"/>
            <a:ext cx="5688330" cy="0"/>
          </a:xfrm>
          <a:prstGeom prst="line">
            <a:avLst/>
          </a:prstGeom>
          <a:ln w="9525" cap="flat">
            <a:solidFill>
              <a:srgbClr val="D8E4EC"/>
            </a:solidFill>
            <a:prstDash val="solid"/>
            <a:headEnd type="none" w="sm" len="sm"/>
            <a:tailEnd type="none" w="sm" len="sm"/>
          </a:ln>
        </p:spPr>
        <p:txBody>
          <a:bodyPr/>
          <a:lstStyle/>
          <a:p>
            <a:endParaRPr lang="en-US"/>
          </a:p>
        </p:txBody>
      </p:sp>
      <p:graphicFrame>
        <p:nvGraphicFramePr>
          <p:cNvPr id="60" name="Chart"/>
          <p:cNvGraphicFramePr/>
          <p:nvPr>
            <p:extLst>
              <p:ext uri="{D42A27DB-BD31-4B8C-83A1-F6EECF244321}">
                <p14:modId xmlns:p14="http://schemas.microsoft.com/office/powerpoint/2010/main" val="2817540823"/>
              </p:ext>
            </p:extLst>
          </p:nvPr>
        </p:nvGraphicFramePr>
        <p:xfrm>
          <a:off x="749300" y="2222500"/>
          <a:ext cx="9779000" cy="641350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7CF69AC9-F058-ED4A-BFE5-5979A68BC7CC}"/>
              </a:ext>
            </a:extLst>
          </p:cNvPr>
          <p:cNvSpPr txBox="1"/>
          <p:nvPr/>
        </p:nvSpPr>
        <p:spPr>
          <a:xfrm>
            <a:off x="749300" y="1905000"/>
            <a:ext cx="9779000" cy="1077218"/>
          </a:xfrm>
          <a:prstGeom prst="rect">
            <a:avLst/>
          </a:prstGeom>
          <a:noFill/>
        </p:spPr>
        <p:txBody>
          <a:bodyPr vertOverflow="overflow" vert="horz" wrap="square" rtlCol="0" anchor="t">
            <a:spAutoFit/>
          </a:bodyPr>
          <a:lstStyle/>
          <a:p>
            <a:pPr algn="ctr"/>
            <a:r>
              <a:rPr lang="en-US" sz="3200" b="1">
                <a:solidFill>
                  <a:schemeClr val="tx2"/>
                </a:solidFill>
                <a:latin typeface="Calibri"/>
                <a:cs typeface="Calibri"/>
              </a:rPr>
              <a:t>Upgrade/rebuild capex climbed 71% over the year, to $675M in Q1 2026</a:t>
            </a:r>
          </a:p>
        </p:txBody>
      </p:sp>
      <p:sp>
        <p:nvSpPr>
          <p:cNvPr id="65" name="TextBox 46">
            <a:extLst>
              <a:ext uri="{FF2B5EF4-FFF2-40B4-BE49-F238E27FC236}">
                <a16:creationId xmlns:a16="http://schemas.microsoft.com/office/drawing/2014/main" id="{85E06B47-A306-4751-9C30-37113FF5E28A}"/>
              </a:ext>
            </a:extLst>
          </p:cNvPr>
          <p:cNvSpPr txBox="1"/>
          <p:nvPr/>
        </p:nvSpPr>
        <p:spPr>
          <a:xfrm>
            <a:off x="11315700" y="3067500"/>
            <a:ext cx="5897880" cy="1969770"/>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FY2025: 17.1M shares, ~$5.4B.  Diluted EPS +4% on net income down 2%. The mechanism worked; the price did not respond.</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Q1 2026: 4.3M shares, ~$1.0B.  Price fell 64% across seven earnings dates, $345 to $123.</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Since 2016: ~184M shares, ~$79.7B, roughly three times today’s market cap.</a:t>
            </a:r>
          </a:p>
        </p:txBody>
      </p:sp>
      <p:sp>
        <p:nvSpPr>
          <p:cNvPr id="69" name="AutoShape 55">
            <a:extLst>
              <a:ext uri="{FF2B5EF4-FFF2-40B4-BE49-F238E27FC236}">
                <a16:creationId xmlns:a16="http://schemas.microsoft.com/office/drawing/2014/main" id="{787F0F47-7CEC-7C52-C911-4F6ACEA3AE71}"/>
              </a:ext>
            </a:extLst>
          </p:cNvPr>
          <p:cNvSpPr/>
          <p:nvPr/>
        </p:nvSpPr>
        <p:spPr>
          <a:xfrm>
            <a:off x="11534401" y="7177232"/>
            <a:ext cx="5688330" cy="0"/>
          </a:xfrm>
          <a:prstGeom prst="line">
            <a:avLst/>
          </a:prstGeom>
          <a:ln w="9525" cap="flat">
            <a:solidFill>
              <a:srgbClr val="D8E4EC"/>
            </a:solidFill>
            <a:prstDash val="solid"/>
            <a:headEnd type="none" w="sm" len="sm"/>
            <a:tailEnd type="none" w="sm" len="sm"/>
          </a:ln>
        </p:spPr>
        <p:txBody>
          <a:bodyPr/>
          <a:lstStyle/>
          <a:p>
            <a:endParaRPr lang="en-US"/>
          </a:p>
        </p:txBody>
      </p:sp>
      <p:sp>
        <p:nvSpPr>
          <p:cNvPr id="71" name="AutoShape 55">
            <a:extLst>
              <a:ext uri="{FF2B5EF4-FFF2-40B4-BE49-F238E27FC236}">
                <a16:creationId xmlns:a16="http://schemas.microsoft.com/office/drawing/2014/main" id="{72665219-8FB8-EA48-9ADD-7969FE83F508}"/>
              </a:ext>
            </a:extLst>
          </p:cNvPr>
          <p:cNvSpPr/>
          <p:nvPr/>
        </p:nvSpPr>
        <p:spPr>
          <a:xfrm>
            <a:off x="11388090" y="3723639"/>
            <a:ext cx="5688330" cy="0"/>
          </a:xfrm>
          <a:prstGeom prst="line">
            <a:avLst/>
          </a:prstGeom>
          <a:ln w="9525" cap="flat">
            <a:solidFill>
              <a:srgbClr val="D8E4EC"/>
            </a:solidFill>
            <a:prstDash val="solid"/>
            <a:headEnd type="none" w="sm" len="sm"/>
            <a:tailEnd type="none" w="sm" len="sm"/>
          </a:ln>
        </p:spPr>
        <p:txBody>
          <a:bodyPr/>
          <a:lstStyle/>
          <a:p>
            <a:endParaRPr lang="en-US"/>
          </a:p>
        </p:txBody>
      </p:sp>
      <p:sp>
        <p:nvSpPr>
          <p:cNvPr id="73" name="AutoShape 55">
            <a:extLst>
              <a:ext uri="{FF2B5EF4-FFF2-40B4-BE49-F238E27FC236}">
                <a16:creationId xmlns:a16="http://schemas.microsoft.com/office/drawing/2014/main" id="{6E7CB471-173E-4E02-3B19-EF14A527C675}"/>
              </a:ext>
            </a:extLst>
          </p:cNvPr>
          <p:cNvSpPr/>
          <p:nvPr/>
        </p:nvSpPr>
        <p:spPr>
          <a:xfrm>
            <a:off x="11388090" y="4506975"/>
            <a:ext cx="5688330" cy="0"/>
          </a:xfrm>
          <a:prstGeom prst="line">
            <a:avLst/>
          </a:prstGeom>
          <a:ln w="9525" cap="flat">
            <a:solidFill>
              <a:srgbClr val="D8E4EC"/>
            </a:solidFill>
            <a:prstDash val="solid"/>
            <a:headEnd type="none" w="sm" len="sm"/>
            <a:tailEnd type="none" w="sm" len="sm"/>
          </a:ln>
        </p:spPr>
        <p:txBody>
          <a:bodyPr/>
          <a:lstStyle/>
          <a:p>
            <a:endParaRPr lang="en-US"/>
          </a:p>
        </p:txBody>
      </p:sp>
    </p:spTree>
    <p:extLst>
      <p:ext uri="{BB962C8B-B14F-4D97-AF65-F5344CB8AC3E}">
        <p14:creationId xmlns:p14="http://schemas.microsoft.com/office/powerpoint/2010/main" val="2459398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3</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3">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sp>
        <p:nvSpPr>
          <p:cNvPr id="8" name="TextBox 8"/>
          <p:cNvSpPr txBox="1"/>
          <p:nvPr/>
        </p:nvSpPr>
        <p:spPr>
          <a:xfrm>
            <a:off x="754380" y="902431"/>
            <a:ext cx="16733520" cy="1186800"/>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Recommendation 3: Charter can regain market share by reframing high-speed home internet as a corporate value driver and including it in benefits packages.</a:t>
            </a:r>
          </a:p>
        </p:txBody>
      </p:sp>
      <p:grpSp>
        <p:nvGrpSpPr>
          <p:cNvPr id="9" name="Group 9"/>
          <p:cNvGrpSpPr/>
          <p:nvPr/>
        </p:nvGrpSpPr>
        <p:grpSpPr>
          <a:xfrm>
            <a:off x="742474" y="2296272"/>
            <a:ext cx="16825912" cy="6654641"/>
            <a:chOff x="0" y="0"/>
            <a:chExt cx="22434550" cy="9084310"/>
          </a:xfrm>
        </p:grpSpPr>
        <p:sp>
          <p:nvSpPr>
            <p:cNvPr id="10" name="Freeform 10"/>
            <p:cNvSpPr/>
            <p:nvPr/>
          </p:nvSpPr>
          <p:spPr>
            <a:xfrm>
              <a:off x="0" y="0"/>
              <a:ext cx="22434550" cy="9084310"/>
            </a:xfrm>
            <a:custGeom>
              <a:avLst/>
              <a:gdLst/>
              <a:ahLst/>
              <a:cxnLst/>
              <a:rect l="l" t="t" r="r" b="b"/>
              <a:pathLst>
                <a:path w="22434550" h="9084310">
                  <a:moveTo>
                    <a:pt x="0" y="146812"/>
                  </a:moveTo>
                  <a:cubicBezTo>
                    <a:pt x="0" y="65786"/>
                    <a:pt x="65786" y="0"/>
                    <a:pt x="146812" y="0"/>
                  </a:cubicBezTo>
                  <a:lnTo>
                    <a:pt x="22287737" y="0"/>
                  </a:lnTo>
                  <a:cubicBezTo>
                    <a:pt x="22368763" y="0"/>
                    <a:pt x="22434550" y="65786"/>
                    <a:pt x="22434550" y="146812"/>
                  </a:cubicBezTo>
                  <a:lnTo>
                    <a:pt x="22434550" y="8937498"/>
                  </a:lnTo>
                  <a:cubicBezTo>
                    <a:pt x="22434550" y="9018524"/>
                    <a:pt x="22368763" y="9084310"/>
                    <a:pt x="22287737" y="9084310"/>
                  </a:cubicBezTo>
                  <a:lnTo>
                    <a:pt x="146812" y="9084310"/>
                  </a:lnTo>
                  <a:cubicBezTo>
                    <a:pt x="65786" y="9084310"/>
                    <a:pt x="0" y="9018524"/>
                    <a:pt x="0" y="8937498"/>
                  </a:cubicBezTo>
                  <a:close/>
                </a:path>
              </a:pathLst>
            </a:custGeom>
            <a:solidFill>
              <a:srgbClr val="F2F3F4"/>
            </a:solidFill>
            <a:ln w="23812" cap="sq">
              <a:solidFill>
                <a:srgbClr val="D8DEE6"/>
              </a:solidFill>
              <a:prstDash val="solid"/>
              <a:miter/>
            </a:ln>
          </p:spPr>
          <p:txBody>
            <a:bodyPr/>
            <a:lstStyle/>
            <a:p>
              <a:endParaRPr lang="en-US"/>
            </a:p>
          </p:txBody>
        </p:sp>
      </p:grpSp>
      <p:grpSp>
        <p:nvGrpSpPr>
          <p:cNvPr id="11" name="Group 11"/>
          <p:cNvGrpSpPr/>
          <p:nvPr/>
        </p:nvGrpSpPr>
        <p:grpSpPr>
          <a:xfrm>
            <a:off x="1028700" y="2423908"/>
            <a:ext cx="16253460" cy="1303020"/>
            <a:chOff x="0" y="0"/>
            <a:chExt cx="21671280" cy="1737360"/>
          </a:xfrm>
        </p:grpSpPr>
        <p:sp>
          <p:nvSpPr>
            <p:cNvPr id="12" name="Freeform 12"/>
            <p:cNvSpPr/>
            <p:nvPr/>
          </p:nvSpPr>
          <p:spPr>
            <a:xfrm>
              <a:off x="0" y="0"/>
              <a:ext cx="21671280" cy="1737360"/>
            </a:xfrm>
            <a:custGeom>
              <a:avLst/>
              <a:gdLst/>
              <a:ahLst/>
              <a:cxnLst/>
              <a:rect l="l" t="t" r="r" b="b"/>
              <a:pathLst>
                <a:path w="21671280" h="1737360">
                  <a:moveTo>
                    <a:pt x="0" y="109728"/>
                  </a:moveTo>
                  <a:cubicBezTo>
                    <a:pt x="0" y="49149"/>
                    <a:pt x="49149" y="0"/>
                    <a:pt x="109728" y="0"/>
                  </a:cubicBezTo>
                  <a:lnTo>
                    <a:pt x="21561552" y="0"/>
                  </a:lnTo>
                  <a:cubicBezTo>
                    <a:pt x="21622131" y="0"/>
                    <a:pt x="21671280" y="49149"/>
                    <a:pt x="21671280" y="109728"/>
                  </a:cubicBezTo>
                  <a:lnTo>
                    <a:pt x="21671280" y="1627632"/>
                  </a:lnTo>
                  <a:cubicBezTo>
                    <a:pt x="21671280" y="1688211"/>
                    <a:pt x="21622131" y="1737360"/>
                    <a:pt x="21561552" y="1737360"/>
                  </a:cubicBezTo>
                  <a:lnTo>
                    <a:pt x="109728" y="1737360"/>
                  </a:lnTo>
                  <a:cubicBezTo>
                    <a:pt x="49149" y="1737360"/>
                    <a:pt x="0" y="1688211"/>
                    <a:pt x="0" y="1627632"/>
                  </a:cubicBezTo>
                  <a:close/>
                </a:path>
              </a:pathLst>
            </a:custGeom>
            <a:solidFill>
              <a:srgbClr val="003057"/>
            </a:solidFill>
          </p:spPr>
          <p:txBody>
            <a:bodyPr/>
            <a:lstStyle/>
            <a:p>
              <a:endParaRPr lang="en-US"/>
            </a:p>
          </p:txBody>
        </p:sp>
      </p:grpSp>
      <p:grpSp>
        <p:nvGrpSpPr>
          <p:cNvPr id="13" name="Group 13"/>
          <p:cNvGrpSpPr/>
          <p:nvPr/>
        </p:nvGrpSpPr>
        <p:grpSpPr>
          <a:xfrm>
            <a:off x="1303020" y="2388189"/>
            <a:ext cx="15704821" cy="1338739"/>
            <a:chOff x="0" y="-47625"/>
            <a:chExt cx="20939761" cy="1784985"/>
          </a:xfrm>
        </p:grpSpPr>
        <p:sp>
          <p:nvSpPr>
            <p:cNvPr id="14" name="Freeform 14"/>
            <p:cNvSpPr/>
            <p:nvPr/>
          </p:nvSpPr>
          <p:spPr>
            <a:xfrm>
              <a:off x="0" y="0"/>
              <a:ext cx="20939761" cy="1737360"/>
            </a:xfrm>
            <a:custGeom>
              <a:avLst/>
              <a:gdLst/>
              <a:ahLst/>
              <a:cxnLst/>
              <a:rect l="l" t="t" r="r" b="b"/>
              <a:pathLst>
                <a:path w="20939761" h="1737360">
                  <a:moveTo>
                    <a:pt x="0" y="0"/>
                  </a:moveTo>
                  <a:lnTo>
                    <a:pt x="20939761" y="0"/>
                  </a:lnTo>
                  <a:lnTo>
                    <a:pt x="20939761" y="1737360"/>
                  </a:lnTo>
                  <a:lnTo>
                    <a:pt x="0" y="1737360"/>
                  </a:lnTo>
                  <a:close/>
                </a:path>
              </a:pathLst>
            </a:custGeom>
            <a:blipFill>
              <a:blip r:embed="rId3">
                <a:alphaModFix amt="0"/>
              </a:blip>
              <a:stretch>
                <a:fillRect t="-184845" b="-184845"/>
              </a:stretch>
            </a:blipFill>
          </p:spPr>
          <p:txBody>
            <a:bodyPr/>
            <a:lstStyle/>
            <a:p>
              <a:endParaRPr lang="en-US"/>
            </a:p>
          </p:txBody>
        </p:sp>
        <p:sp>
          <p:nvSpPr>
            <p:cNvPr id="15" name="TextBox 15"/>
            <p:cNvSpPr txBox="1"/>
            <p:nvPr/>
          </p:nvSpPr>
          <p:spPr>
            <a:xfrm>
              <a:off x="0" y="-47625"/>
              <a:ext cx="20939760" cy="1784985"/>
            </a:xfrm>
            <a:prstGeom prst="rect">
              <a:avLst/>
            </a:prstGeom>
          </p:spPr>
          <p:txBody>
            <a:bodyPr lIns="0" tIns="0" rIns="0" bIns="0" rtlCol="0" anchor="ctr"/>
            <a:lstStyle/>
            <a:p>
              <a:pPr algn="l">
                <a:lnSpc>
                  <a:spcPts val="2520"/>
                </a:lnSpc>
              </a:pPr>
              <a:r>
                <a:rPr lang="en-US" sz="2400" b="1">
                  <a:solidFill>
                    <a:srgbClr val="DCE9F7"/>
                  </a:solidFill>
                  <a:latin typeface="Calibri"/>
                  <a:ea typeface="Calibri (MS) Bold"/>
                  <a:cs typeface="Calibri"/>
                  <a:sym typeface="Calibri (MS) Bold"/>
                </a:rPr>
                <a:t>HEADLINE   </a:t>
              </a:r>
              <a:r>
                <a:rPr lang="en-US" sz="2400" b="1">
                  <a:solidFill>
                    <a:srgbClr val="FFFFFF"/>
                  </a:solidFill>
                  <a:latin typeface="Calibri"/>
                  <a:ea typeface="Calibri (MS) Bold"/>
                  <a:cs typeface="Calibri"/>
                  <a:sym typeface="Calibri (MS) Bold"/>
                </a:rPr>
                <a:t>Partner with insurance brokerage firms offering Employee Health &amp; Benefits (EH&amp;B) to include Spectrum home internet in corporate benefits package offerings. Launch a pilot in Q2 2027 with select brokerage firms to prepare for Q4 2027 mass rollout.</a:t>
              </a:r>
            </a:p>
          </p:txBody>
        </p:sp>
      </p:grpSp>
      <p:grpSp>
        <p:nvGrpSpPr>
          <p:cNvPr id="16" name="Group 16"/>
          <p:cNvGrpSpPr/>
          <p:nvPr/>
        </p:nvGrpSpPr>
        <p:grpSpPr>
          <a:xfrm>
            <a:off x="1028700" y="3932668"/>
            <a:ext cx="5321808" cy="4800600"/>
            <a:chOff x="0" y="0"/>
            <a:chExt cx="7095744" cy="4846320"/>
          </a:xfrm>
        </p:grpSpPr>
        <p:sp>
          <p:nvSpPr>
            <p:cNvPr id="17" name="Freeform 1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18" name="Group 18"/>
          <p:cNvGrpSpPr/>
          <p:nvPr/>
        </p:nvGrpSpPr>
        <p:grpSpPr>
          <a:xfrm>
            <a:off x="1303020" y="4068685"/>
            <a:ext cx="4800600" cy="385191"/>
            <a:chOff x="0" y="-38100"/>
            <a:chExt cx="6400800" cy="513588"/>
          </a:xfrm>
        </p:grpSpPr>
        <p:sp>
          <p:nvSpPr>
            <p:cNvPr id="19" name="Freeform 1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0" name="TextBox 2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RATIONALE</a:t>
              </a:r>
            </a:p>
          </p:txBody>
        </p:sp>
      </p:grpSp>
      <p:grpSp>
        <p:nvGrpSpPr>
          <p:cNvPr id="21" name="Group 21"/>
          <p:cNvGrpSpPr/>
          <p:nvPr/>
        </p:nvGrpSpPr>
        <p:grpSpPr>
          <a:xfrm>
            <a:off x="6487668" y="3932667"/>
            <a:ext cx="5321808" cy="4800599"/>
            <a:chOff x="0" y="0"/>
            <a:chExt cx="7095744" cy="4846320"/>
          </a:xfrm>
        </p:grpSpPr>
        <p:sp>
          <p:nvSpPr>
            <p:cNvPr id="22" name="Freeform 22"/>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3" name="Group 23"/>
          <p:cNvGrpSpPr/>
          <p:nvPr/>
        </p:nvGrpSpPr>
        <p:grpSpPr>
          <a:xfrm>
            <a:off x="6761988" y="4068685"/>
            <a:ext cx="4800600" cy="385191"/>
            <a:chOff x="0" y="-38100"/>
            <a:chExt cx="6400800" cy="513588"/>
          </a:xfrm>
        </p:grpSpPr>
        <p:sp>
          <p:nvSpPr>
            <p:cNvPr id="24" name="Freeform 24"/>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25" name="TextBox 25"/>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RISKS AND TRADEOFFS</a:t>
              </a:r>
            </a:p>
          </p:txBody>
        </p:sp>
      </p:grpSp>
      <p:grpSp>
        <p:nvGrpSpPr>
          <p:cNvPr id="26" name="Group 26"/>
          <p:cNvGrpSpPr/>
          <p:nvPr/>
        </p:nvGrpSpPr>
        <p:grpSpPr>
          <a:xfrm>
            <a:off x="11946636" y="3932668"/>
            <a:ext cx="5321808" cy="3515667"/>
            <a:chOff x="0" y="0"/>
            <a:chExt cx="7095744" cy="4846320"/>
          </a:xfrm>
        </p:grpSpPr>
        <p:sp>
          <p:nvSpPr>
            <p:cNvPr id="27" name="Freeform 27"/>
            <p:cNvSpPr/>
            <p:nvPr/>
          </p:nvSpPr>
          <p:spPr>
            <a:xfrm>
              <a:off x="0" y="0"/>
              <a:ext cx="7095744" cy="4846320"/>
            </a:xfrm>
            <a:custGeom>
              <a:avLst/>
              <a:gdLst/>
              <a:ahLst/>
              <a:cxnLst/>
              <a:rect l="l" t="t" r="r" b="b"/>
              <a:pathLst>
                <a:path w="7095744" h="4846320">
                  <a:moveTo>
                    <a:pt x="0" y="109728"/>
                  </a:moveTo>
                  <a:cubicBezTo>
                    <a:pt x="0" y="49149"/>
                    <a:pt x="49149" y="0"/>
                    <a:pt x="109728" y="0"/>
                  </a:cubicBezTo>
                  <a:lnTo>
                    <a:pt x="6986016" y="0"/>
                  </a:lnTo>
                  <a:cubicBezTo>
                    <a:pt x="7046595" y="0"/>
                    <a:pt x="7095744" y="49149"/>
                    <a:pt x="7095744" y="109728"/>
                  </a:cubicBezTo>
                  <a:lnTo>
                    <a:pt x="7095744" y="4736592"/>
                  </a:lnTo>
                  <a:cubicBezTo>
                    <a:pt x="7095744" y="4797171"/>
                    <a:pt x="7046595" y="4846320"/>
                    <a:pt x="6986016" y="4846320"/>
                  </a:cubicBezTo>
                  <a:lnTo>
                    <a:pt x="109728" y="4846320"/>
                  </a:lnTo>
                  <a:cubicBezTo>
                    <a:pt x="49149" y="4846320"/>
                    <a:pt x="0" y="4797171"/>
                    <a:pt x="0" y="4736592"/>
                  </a:cubicBezTo>
                  <a:close/>
                </a:path>
              </a:pathLst>
            </a:custGeom>
            <a:solidFill>
              <a:srgbClr val="FEFEFE"/>
            </a:solidFill>
          </p:spPr>
          <p:txBody>
            <a:bodyPr/>
            <a:lstStyle/>
            <a:p>
              <a:endParaRPr lang="en-US"/>
            </a:p>
          </p:txBody>
        </p:sp>
      </p:grpSp>
      <p:grpSp>
        <p:nvGrpSpPr>
          <p:cNvPr id="28" name="Group 28"/>
          <p:cNvGrpSpPr/>
          <p:nvPr/>
        </p:nvGrpSpPr>
        <p:grpSpPr>
          <a:xfrm>
            <a:off x="12220956" y="4068685"/>
            <a:ext cx="4800600" cy="385191"/>
            <a:chOff x="0" y="-38100"/>
            <a:chExt cx="6400800" cy="513588"/>
          </a:xfrm>
        </p:grpSpPr>
        <p:sp>
          <p:nvSpPr>
            <p:cNvPr id="29" name="Freeform 2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sz="2800" b="1">
                <a:solidFill>
                  <a:schemeClr val="tx2"/>
                </a:solidFill>
              </a:endParaRPr>
            </a:p>
          </p:txBody>
        </p:sp>
        <p:sp>
          <p:nvSpPr>
            <p:cNvPr id="30" name="TextBox 30"/>
            <p:cNvSpPr txBox="1"/>
            <p:nvPr/>
          </p:nvSpPr>
          <p:spPr>
            <a:xfrm>
              <a:off x="0" y="-38100"/>
              <a:ext cx="6400800" cy="513588"/>
            </a:xfrm>
            <a:prstGeom prst="rect">
              <a:avLst/>
            </a:prstGeom>
          </p:spPr>
          <p:txBody>
            <a:bodyPr lIns="0" tIns="0" rIns="0" bIns="0" rtlCol="0" anchor="ctr"/>
            <a:lstStyle/>
            <a:p>
              <a:pPr algn="l">
                <a:lnSpc>
                  <a:spcPts val="1709"/>
                </a:lnSpc>
              </a:pPr>
              <a:r>
                <a:rPr lang="en-US" sz="2800" b="1" spc="225">
                  <a:solidFill>
                    <a:schemeClr val="tx2"/>
                  </a:solidFill>
                  <a:latin typeface="Calibri"/>
                  <a:ea typeface="Calibri (MS) Bold"/>
                  <a:cs typeface="Calibri"/>
                  <a:sym typeface="Calibri (MS) Bold"/>
                </a:rPr>
                <a:t>NEXT STEPS</a:t>
              </a:r>
            </a:p>
          </p:txBody>
        </p:sp>
      </p:grpSp>
      <p:grpSp>
        <p:nvGrpSpPr>
          <p:cNvPr id="34" name="Group 34"/>
          <p:cNvGrpSpPr/>
          <p:nvPr/>
        </p:nvGrpSpPr>
        <p:grpSpPr>
          <a:xfrm>
            <a:off x="754380" y="9168289"/>
            <a:ext cx="16733521" cy="432911"/>
            <a:chOff x="0" y="-28575"/>
            <a:chExt cx="22311361" cy="577215"/>
          </a:xfrm>
        </p:grpSpPr>
        <p:sp>
          <p:nvSpPr>
            <p:cNvPr id="35" name="Freeform 35"/>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6" name="TextBox 36"/>
            <p:cNvSpPr txBox="1"/>
            <p:nvPr/>
          </p:nvSpPr>
          <p:spPr>
            <a:xfrm>
              <a:off x="0" y="-28575"/>
              <a:ext cx="22311360" cy="577215"/>
            </a:xfrm>
            <a:prstGeom prst="rect">
              <a:avLst/>
            </a:prstGeom>
          </p:spPr>
          <p:txBody>
            <a:bodyPr lIns="0" tIns="0" rIns="0" bIns="0" rtlCol="0" anchor="ctr"/>
            <a:lstStyle/>
            <a:p>
              <a:pPr algn="l">
                <a:lnSpc>
                  <a:spcPts val="1620"/>
                </a:lnSpc>
              </a:pPr>
              <a:r>
                <a:rPr lang="en-US" sz="1350" b="1">
                  <a:solidFill>
                    <a:srgbClr val="0099D8"/>
                  </a:solidFill>
                  <a:latin typeface="Calibri"/>
                  <a:ea typeface="Calibri (MS) Bold"/>
                  <a:cs typeface="Calibri"/>
                  <a:sym typeface="Calibri (MS) Bold"/>
                  <a:hlinkClick r:id="rId4" action="ppaction://hlinksldjump"/>
                </a:rPr>
                <a:t>Appendix</a:t>
              </a:r>
              <a:r>
                <a:rPr lang="en-US" sz="1350" b="1">
                  <a:solidFill>
                    <a:srgbClr val="0099D8"/>
                  </a:solidFill>
                  <a:latin typeface="Calibri"/>
                  <a:ea typeface="Calibri (MS) Bold"/>
                  <a:cs typeface="Calibri"/>
                  <a:sym typeface="Calibri (MS) Bold"/>
                </a:rPr>
                <a:t>  ›</a:t>
              </a:r>
              <a:endParaRPr lang="en-US" sz="1350" u="sng">
                <a:solidFill>
                  <a:srgbClr val="0099D8"/>
                </a:solidFill>
                <a:latin typeface="Calibri"/>
                <a:ea typeface="Calibri (MS)"/>
                <a:cs typeface="Calibri"/>
                <a:sym typeface="Calibri (MS)"/>
                <a:hlinkClick r:id="" action="ppaction://noaction"/>
              </a:endParaRPr>
            </a:p>
          </p:txBody>
        </p:sp>
      </p:grpSp>
      <p:grpSp>
        <p:nvGrpSpPr>
          <p:cNvPr id="37" name="Group 37"/>
          <p:cNvGrpSpPr/>
          <p:nvPr/>
        </p:nvGrpSpPr>
        <p:grpSpPr>
          <a:xfrm>
            <a:off x="17076420" y="9669780"/>
            <a:ext cx="960120" cy="411480"/>
            <a:chOff x="0" y="0"/>
            <a:chExt cx="1280160" cy="548640"/>
          </a:xfrm>
        </p:grpSpPr>
        <p:sp>
          <p:nvSpPr>
            <p:cNvPr id="38" name="Freeform 38"/>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9" name="TextBox 39"/>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8</a:t>
              </a:r>
            </a:p>
          </p:txBody>
        </p:sp>
      </p:grpSp>
      <p:grpSp>
        <p:nvGrpSpPr>
          <p:cNvPr id="40" name="Group 40"/>
          <p:cNvGrpSpPr/>
          <p:nvPr/>
        </p:nvGrpSpPr>
        <p:grpSpPr>
          <a:xfrm>
            <a:off x="754380" y="9669780"/>
            <a:ext cx="16047720" cy="411480"/>
            <a:chOff x="0" y="0"/>
            <a:chExt cx="21396960" cy="548640"/>
          </a:xfrm>
        </p:grpSpPr>
        <p:sp>
          <p:nvSpPr>
            <p:cNvPr id="41" name="Freeform 41"/>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2" name="TextBox 42"/>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were used</a:t>
              </a:r>
            </a:p>
          </p:txBody>
        </p:sp>
      </p:grpSp>
      <p:sp>
        <p:nvSpPr>
          <p:cNvPr id="46" name="TextBox 46"/>
          <p:cNvSpPr txBox="1"/>
          <p:nvPr/>
        </p:nvSpPr>
        <p:spPr>
          <a:xfrm>
            <a:off x="1303020" y="4443207"/>
            <a:ext cx="4800600" cy="4185761"/>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Informal </a:t>
            </a:r>
            <a:r>
              <a:rPr lang="en-US" sz="1600">
                <a:solidFill>
                  <a:srgbClr val="171A1F"/>
                </a:solidFill>
                <a:ea typeface="Calibri (MS)"/>
                <a:cs typeface="Calibri"/>
                <a:sym typeface="Calibri (MS)"/>
              </a:rPr>
              <a:t>interviews with authorized Comcast and Charter retailers nationwide suggest that business and residential customers view Spectrum as offering the best internet value.</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Comcast targets public partnerships and housing authorities to fund network expansion and building-wide connectivity, reaching households through institutions rather than individual sales.</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Targeting corporations allows for us to maintain our margins by reframing who pays while competing with institutional-led sales.</a:t>
            </a:r>
            <a:endParaRPr lang="en-US" sz="1600">
              <a:solidFill>
                <a:srgbClr val="171A1F"/>
              </a:solidFill>
              <a:latin typeface="Calibri"/>
              <a:ea typeface="Calibri (MS)"/>
              <a:cs typeface="Calibri"/>
              <a:sym typeface="Calibri (MS)"/>
            </a:endParaRP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Of the 43,129 EH&amp;B organizations, 10 filing names hold 44% of all Form 5500 compensation, allowing for a large pilot base from only a few companies</a:t>
            </a:r>
          </a:p>
        </p:txBody>
      </p:sp>
      <p:grpSp>
        <p:nvGrpSpPr>
          <p:cNvPr id="115" name="Group 115"/>
          <p:cNvGrpSpPr/>
          <p:nvPr/>
        </p:nvGrpSpPr>
        <p:grpSpPr>
          <a:xfrm>
            <a:off x="11946636" y="7439518"/>
            <a:ext cx="5321808" cy="1293750"/>
            <a:chOff x="0" y="-38100"/>
            <a:chExt cx="10368280" cy="1318260"/>
          </a:xfrm>
        </p:grpSpPr>
        <p:sp>
          <p:nvSpPr>
            <p:cNvPr id="116" name="Freeform 116"/>
            <p:cNvSpPr/>
            <p:nvPr/>
          </p:nvSpPr>
          <p:spPr>
            <a:xfrm>
              <a:off x="0" y="0"/>
              <a:ext cx="10368280" cy="1280160"/>
            </a:xfrm>
            <a:custGeom>
              <a:avLst/>
              <a:gdLst/>
              <a:ahLst/>
              <a:cxnLst/>
              <a:rect l="l" t="t" r="r" b="b"/>
              <a:pathLst>
                <a:path w="10368280" h="1280160">
                  <a:moveTo>
                    <a:pt x="76200" y="0"/>
                  </a:moveTo>
                  <a:lnTo>
                    <a:pt x="10292080" y="0"/>
                  </a:lnTo>
                  <a:cubicBezTo>
                    <a:pt x="10334165" y="0"/>
                    <a:pt x="10368280" y="34116"/>
                    <a:pt x="10368280" y="76200"/>
                  </a:cubicBezTo>
                  <a:lnTo>
                    <a:pt x="10368280" y="1203960"/>
                  </a:lnTo>
                  <a:cubicBezTo>
                    <a:pt x="10368280" y="1246044"/>
                    <a:pt x="10334165" y="1280160"/>
                    <a:pt x="10292080" y="1280160"/>
                  </a:cubicBezTo>
                  <a:lnTo>
                    <a:pt x="76200" y="1280160"/>
                  </a:lnTo>
                  <a:cubicBezTo>
                    <a:pt x="34116" y="1280160"/>
                    <a:pt x="0" y="1246044"/>
                    <a:pt x="0" y="1203960"/>
                  </a:cubicBezTo>
                  <a:lnTo>
                    <a:pt x="0" y="76200"/>
                  </a:lnTo>
                  <a:cubicBezTo>
                    <a:pt x="0" y="34116"/>
                    <a:pt x="34116" y="0"/>
                    <a:pt x="76200" y="0"/>
                  </a:cubicBezTo>
                  <a:close/>
                </a:path>
              </a:pathLst>
            </a:custGeom>
            <a:solidFill>
              <a:srgbClr val="EEF4FB"/>
            </a:solidFill>
            <a:ln w="9525" cap="sq">
              <a:solidFill>
                <a:srgbClr val="D8E4EC"/>
              </a:solidFill>
              <a:prstDash val="solid"/>
              <a:miter/>
            </a:ln>
          </p:spPr>
          <p:txBody>
            <a:bodyPr/>
            <a:lstStyle/>
            <a:p>
              <a:endParaRPr lang="en-US"/>
            </a:p>
          </p:txBody>
        </p:sp>
        <p:sp>
          <p:nvSpPr>
            <p:cNvPr id="117" name="TextBox 117"/>
            <p:cNvSpPr txBox="1"/>
            <p:nvPr/>
          </p:nvSpPr>
          <p:spPr>
            <a:xfrm>
              <a:off x="0" y="-38100"/>
              <a:ext cx="10368280" cy="1318260"/>
            </a:xfrm>
            <a:prstGeom prst="rect">
              <a:avLst/>
            </a:prstGeom>
          </p:spPr>
          <p:txBody>
            <a:bodyPr lIns="50800" tIns="50800" rIns="50800" bIns="50800" rtlCol="0" anchor="ctr"/>
            <a:lstStyle/>
            <a:p>
              <a:pPr algn="l">
                <a:lnSpc>
                  <a:spcPts val="1679"/>
                </a:lnSpc>
              </a:pPr>
              <a:endParaRPr/>
            </a:p>
          </p:txBody>
        </p:sp>
      </p:grpSp>
      <p:sp>
        <p:nvSpPr>
          <p:cNvPr id="118" name="TextBox 118"/>
          <p:cNvSpPr txBox="1"/>
          <p:nvPr/>
        </p:nvSpPr>
        <p:spPr>
          <a:xfrm>
            <a:off x="12071579" y="7539237"/>
            <a:ext cx="5087137" cy="265714"/>
          </a:xfrm>
          <a:prstGeom prst="rect">
            <a:avLst/>
          </a:prstGeom>
        </p:spPr>
        <p:txBody>
          <a:bodyPr wrap="square" lIns="0" tIns="0" rIns="0" bIns="0" rtlCol="0" anchor="t">
            <a:spAutoFit/>
          </a:bodyPr>
          <a:lstStyle/>
          <a:p>
            <a:pPr algn="l">
              <a:lnSpc>
                <a:spcPts val="2239"/>
              </a:lnSpc>
            </a:pPr>
            <a:r>
              <a:rPr lang="en-US" sz="1599" b="1">
                <a:solidFill>
                  <a:srgbClr val="0099D8"/>
                </a:solidFill>
                <a:latin typeface="Calibri"/>
                <a:ea typeface="Calibri (MS) Bold"/>
                <a:cs typeface="Calibri"/>
                <a:sym typeface="Calibri (MS) Bold"/>
              </a:rPr>
              <a:t>Prize:</a:t>
            </a:r>
          </a:p>
        </p:txBody>
      </p:sp>
      <p:sp>
        <p:nvSpPr>
          <p:cNvPr id="119" name="TextBox 119"/>
          <p:cNvSpPr txBox="1"/>
          <p:nvPr/>
        </p:nvSpPr>
        <p:spPr>
          <a:xfrm>
            <a:off x="12071579" y="7863087"/>
            <a:ext cx="5087137" cy="722570"/>
          </a:xfrm>
          <a:prstGeom prst="rect">
            <a:avLst/>
          </a:prstGeom>
        </p:spPr>
        <p:txBody>
          <a:bodyPr wrap="square" lIns="0" tIns="0" rIns="0" bIns="0" rtlCol="0" anchor="t">
            <a:spAutoFit/>
          </a:bodyPr>
          <a:lstStyle/>
          <a:p>
            <a:pPr algn="l">
              <a:lnSpc>
                <a:spcPts val="1860"/>
              </a:lnSpc>
            </a:pPr>
            <a:r>
              <a:rPr lang="en-US" sz="1550">
                <a:solidFill>
                  <a:srgbClr val="003057"/>
                </a:solidFill>
                <a:latin typeface="Calibri"/>
                <a:ea typeface="Calibri (MS)"/>
                <a:cs typeface="Calibri"/>
                <a:sym typeface="Calibri (MS)"/>
              </a:rPr>
              <a:t>Reduced consumer-side price sensitivity, increased quality of life for home internet users, increased productivity for companies, and a churn-control lever for Charter</a:t>
            </a:r>
          </a:p>
        </p:txBody>
      </p:sp>
      <p:sp>
        <p:nvSpPr>
          <p:cNvPr id="33" name="AutoShape 71">
            <a:extLst>
              <a:ext uri="{FF2B5EF4-FFF2-40B4-BE49-F238E27FC236}">
                <a16:creationId xmlns:a16="http://schemas.microsoft.com/office/drawing/2014/main" id="{B4791F44-057E-5948-EFAC-8242C27C35E1}"/>
              </a:ext>
            </a:extLst>
          </p:cNvPr>
          <p:cNvSpPr/>
          <p:nvPr/>
        </p:nvSpPr>
        <p:spPr>
          <a:xfrm>
            <a:off x="1376172" y="549273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44" name="AutoShape 71">
            <a:extLst>
              <a:ext uri="{FF2B5EF4-FFF2-40B4-BE49-F238E27FC236}">
                <a16:creationId xmlns:a16="http://schemas.microsoft.com/office/drawing/2014/main" id="{F8E5D5F1-4F9A-A933-78C6-AAF93493D773}"/>
              </a:ext>
            </a:extLst>
          </p:cNvPr>
          <p:cNvSpPr/>
          <p:nvPr/>
        </p:nvSpPr>
        <p:spPr>
          <a:xfrm>
            <a:off x="1376172" y="6724128"/>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47" name="AutoShape 71">
            <a:extLst>
              <a:ext uri="{FF2B5EF4-FFF2-40B4-BE49-F238E27FC236}">
                <a16:creationId xmlns:a16="http://schemas.microsoft.com/office/drawing/2014/main" id="{3F368549-AFDF-DEBD-C23D-0CF55DCEBF96}"/>
              </a:ext>
            </a:extLst>
          </p:cNvPr>
          <p:cNvSpPr/>
          <p:nvPr/>
        </p:nvSpPr>
        <p:spPr>
          <a:xfrm>
            <a:off x="1376172" y="7744573"/>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49" name="TextBox 46">
            <a:extLst>
              <a:ext uri="{FF2B5EF4-FFF2-40B4-BE49-F238E27FC236}">
                <a16:creationId xmlns:a16="http://schemas.microsoft.com/office/drawing/2014/main" id="{1D780376-B79A-B295-F2D6-8EF8ADF5E1F6}"/>
              </a:ext>
            </a:extLst>
          </p:cNvPr>
          <p:cNvSpPr txBox="1"/>
          <p:nvPr/>
        </p:nvSpPr>
        <p:spPr>
          <a:xfrm>
            <a:off x="6761988" y="4443207"/>
            <a:ext cx="4800600" cy="3693319"/>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latin typeface="Calibri"/>
                <a:ea typeface="Calibri (MS)"/>
                <a:cs typeface="Calibri"/>
                <a:sym typeface="Calibri (MS)"/>
              </a:rPr>
              <a:t>While only 32.5% of US employees work from home, 50% of employees with Bachelor’s degrees reported working from home in 2024. This decreases the total pool of potential clients but allows for us to target specific sectors more clearly.</a:t>
            </a:r>
          </a:p>
          <a:p>
            <a:pPr>
              <a:buClr>
                <a:srgbClr val="0099D8"/>
              </a:buClr>
              <a:buSzPct val="150000"/>
            </a:pPr>
            <a:endParaRPr lang="en-US" sz="1600">
              <a:solidFill>
                <a:srgbClr val="171A1F"/>
              </a:solidFill>
              <a:latin typeface="Calibri"/>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Data related to EH&amp;B is only publicly available as a percentage of Form 5500 compensation, rather than head count. This can lead to misrepresentations of the total market share of larger brokerage firms.</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Because of how the Affordable Care Act standardized corporate insurance policies to renew in January, there is a limited window for corporations to see high-speed internet as a value-add benefit for their teams.</a:t>
            </a:r>
          </a:p>
        </p:txBody>
      </p:sp>
      <p:sp>
        <p:nvSpPr>
          <p:cNvPr id="51" name="AutoShape 71">
            <a:extLst>
              <a:ext uri="{FF2B5EF4-FFF2-40B4-BE49-F238E27FC236}">
                <a16:creationId xmlns:a16="http://schemas.microsoft.com/office/drawing/2014/main" id="{ABAA30DF-C24C-85BC-5890-7787A8AC1C30}"/>
              </a:ext>
            </a:extLst>
          </p:cNvPr>
          <p:cNvSpPr/>
          <p:nvPr/>
        </p:nvSpPr>
        <p:spPr>
          <a:xfrm>
            <a:off x="6876288" y="5777216"/>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53" name="AutoShape 71">
            <a:extLst>
              <a:ext uri="{FF2B5EF4-FFF2-40B4-BE49-F238E27FC236}">
                <a16:creationId xmlns:a16="http://schemas.microsoft.com/office/drawing/2014/main" id="{0699D3EE-F59E-0300-B5E4-E5D9F246415A}"/>
              </a:ext>
            </a:extLst>
          </p:cNvPr>
          <p:cNvSpPr/>
          <p:nvPr/>
        </p:nvSpPr>
        <p:spPr>
          <a:xfrm>
            <a:off x="6876288" y="7017752"/>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55" name="TextBox 46">
            <a:extLst>
              <a:ext uri="{FF2B5EF4-FFF2-40B4-BE49-F238E27FC236}">
                <a16:creationId xmlns:a16="http://schemas.microsoft.com/office/drawing/2014/main" id="{8A749932-E7D2-286B-7F83-B3C2022B8A98}"/>
              </a:ext>
            </a:extLst>
          </p:cNvPr>
          <p:cNvSpPr txBox="1"/>
          <p:nvPr/>
        </p:nvSpPr>
        <p:spPr>
          <a:xfrm>
            <a:off x="12220956" y="4443207"/>
            <a:ext cx="4800600" cy="2954655"/>
          </a:xfrm>
          <a:prstGeom prst="rect">
            <a:avLst/>
          </a:prstGeom>
        </p:spPr>
        <p:txBody>
          <a:bodyPr wrap="square" lIns="0" tIns="0" rIns="0" bIns="0" rtlCol="0" anchor="t">
            <a:spAutoFit/>
          </a:bodyPr>
          <a:lstStyle/>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Chief Commercial Officer selects brokerage partners and states for a Q2 EH&amp;B pilot.</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Brokerage and corporation feedback is acquired and used to tune the specific offerings for a Q3 brokerage firm expansion.</a:t>
            </a:r>
          </a:p>
          <a:p>
            <a:pPr>
              <a:buClr>
                <a:srgbClr val="0099D8"/>
              </a:buClr>
              <a:buSzPct val="150000"/>
            </a:pPr>
            <a:endParaRPr lang="en-US" sz="1600">
              <a:solidFill>
                <a:srgbClr val="171A1F"/>
              </a:solidFill>
              <a:ea typeface="Calibri (MS)"/>
              <a:cs typeface="Calibri"/>
              <a:sym typeface="Calibri (MS)"/>
            </a:endParaRPr>
          </a:p>
          <a:p>
            <a:pPr marL="285750" indent="-285750">
              <a:buClr>
                <a:srgbClr val="0099D8"/>
              </a:buClr>
              <a:buSzPct val="150000"/>
              <a:buFont typeface="Calibri" panose="020F0502020204030204" pitchFamily="34" charset="0"/>
              <a:buChar char="•"/>
            </a:pPr>
            <a:r>
              <a:rPr lang="en-US" sz="1600">
                <a:solidFill>
                  <a:srgbClr val="171A1F"/>
                </a:solidFill>
                <a:ea typeface="Calibri (MS)"/>
                <a:cs typeface="Calibri"/>
                <a:sym typeface="Calibri (MS)"/>
              </a:rPr>
              <a:t>During Q3 and Q4, increase our corporate advertisement priorities for potential clients to understand the value of high-speed internet to consumers. Continue gathering feedback from the brokerage firms on adoption rates and demands.</a:t>
            </a:r>
          </a:p>
        </p:txBody>
      </p:sp>
      <p:sp>
        <p:nvSpPr>
          <p:cNvPr id="57" name="AutoShape 71">
            <a:extLst>
              <a:ext uri="{FF2B5EF4-FFF2-40B4-BE49-F238E27FC236}">
                <a16:creationId xmlns:a16="http://schemas.microsoft.com/office/drawing/2014/main" id="{96013265-202F-5EB9-A344-1E04BFDF481E}"/>
              </a:ext>
            </a:extLst>
          </p:cNvPr>
          <p:cNvSpPr/>
          <p:nvPr/>
        </p:nvSpPr>
        <p:spPr>
          <a:xfrm>
            <a:off x="12335256" y="5051792"/>
            <a:ext cx="4572000" cy="0"/>
          </a:xfrm>
          <a:prstGeom prst="line">
            <a:avLst/>
          </a:prstGeom>
          <a:ln w="9525" cap="flat">
            <a:solidFill>
              <a:srgbClr val="D8E4EC"/>
            </a:solidFill>
            <a:prstDash val="solid"/>
            <a:headEnd type="none" w="sm" len="sm"/>
            <a:tailEnd type="none" w="sm" len="sm"/>
          </a:ln>
        </p:spPr>
        <p:txBody>
          <a:bodyPr/>
          <a:lstStyle/>
          <a:p>
            <a:endParaRPr lang="en-US"/>
          </a:p>
        </p:txBody>
      </p:sp>
      <p:sp>
        <p:nvSpPr>
          <p:cNvPr id="59" name="AutoShape 71">
            <a:extLst>
              <a:ext uri="{FF2B5EF4-FFF2-40B4-BE49-F238E27FC236}">
                <a16:creationId xmlns:a16="http://schemas.microsoft.com/office/drawing/2014/main" id="{CB8E52A0-CEA9-C7B9-0A1A-A51ED886D456}"/>
              </a:ext>
            </a:extLst>
          </p:cNvPr>
          <p:cNvSpPr/>
          <p:nvPr/>
        </p:nvSpPr>
        <p:spPr>
          <a:xfrm>
            <a:off x="12335256" y="6045440"/>
            <a:ext cx="4572000" cy="0"/>
          </a:xfrm>
          <a:prstGeom prst="line">
            <a:avLst/>
          </a:prstGeom>
          <a:ln w="9525" cap="flat">
            <a:solidFill>
              <a:srgbClr val="D8E4EC"/>
            </a:solidFill>
            <a:prstDash val="solid"/>
            <a:headEnd type="none" w="sm" len="sm"/>
            <a:tailEnd type="none" w="sm" len="sm"/>
          </a:ln>
        </p:spPr>
        <p:txBody>
          <a:bodyPr/>
          <a:lstStyle/>
          <a:p>
            <a:endParaRPr lang="en-US"/>
          </a:p>
        </p:txBody>
      </p:sp>
    </p:spTree>
    <p:extLst>
      <p:ext uri="{BB962C8B-B14F-4D97-AF65-F5344CB8AC3E}">
        <p14:creationId xmlns:p14="http://schemas.microsoft.com/office/powerpoint/2010/main" val="3343576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4">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2  ·  RECOMMENDATION 3, CONTINUED</a:t>
              </a:r>
            </a:p>
          </p:txBody>
        </p:sp>
      </p:grpSp>
      <p:grpSp>
        <p:nvGrpSpPr>
          <p:cNvPr id="5" name="Group 5"/>
          <p:cNvGrpSpPr/>
          <p:nvPr/>
        </p:nvGrpSpPr>
        <p:grpSpPr>
          <a:xfrm>
            <a:off x="11795760" y="438912"/>
            <a:ext cx="5760720" cy="466604"/>
            <a:chOff x="0" y="0"/>
            <a:chExt cx="7680960" cy="622139"/>
          </a:xfrm>
        </p:grpSpPr>
        <p:sp>
          <p:nvSpPr>
            <p:cNvPr id="6" name="Freeform 6"/>
            <p:cNvSpPr/>
            <p:nvPr/>
          </p:nvSpPr>
          <p:spPr>
            <a:xfrm>
              <a:off x="0" y="0"/>
              <a:ext cx="7680960" cy="622139"/>
            </a:xfrm>
            <a:custGeom>
              <a:avLst/>
              <a:gdLst/>
              <a:ahLst/>
              <a:cxnLst/>
              <a:rect l="l" t="t" r="r" b="b"/>
              <a:pathLst>
                <a:path w="7680960" h="622139">
                  <a:moveTo>
                    <a:pt x="0" y="0"/>
                  </a:moveTo>
                  <a:lnTo>
                    <a:pt x="7680960" y="0"/>
                  </a:lnTo>
                  <a:lnTo>
                    <a:pt x="7680960" y="622139"/>
                  </a:lnTo>
                  <a:lnTo>
                    <a:pt x="0" y="622139"/>
                  </a:lnTo>
                  <a:close/>
                </a:path>
              </a:pathLst>
            </a:custGeom>
            <a:blipFill>
              <a:blip r:embed="rId4">
                <a:alphaModFix amt="0"/>
              </a:blip>
              <a:stretch>
                <a:fillRect t="-196470" b="-184656"/>
              </a:stretch>
            </a:blipFill>
          </p:spPr>
          <p:txBody>
            <a:bodyPr/>
            <a:lstStyle/>
            <a:p>
              <a:endParaRPr lang="en-US"/>
            </a:p>
          </p:txBody>
        </p:sp>
        <p:sp>
          <p:nvSpPr>
            <p:cNvPr id="7" name="TextBox 7"/>
            <p:cNvSpPr txBox="1"/>
            <p:nvPr/>
          </p:nvSpPr>
          <p:spPr>
            <a:xfrm>
              <a:off x="0" y="-28575"/>
              <a:ext cx="7680960" cy="650714"/>
            </a:xfrm>
            <a:prstGeom prst="rect">
              <a:avLst/>
            </a:prstGeom>
          </p:spPr>
          <p:txBody>
            <a:bodyPr wrap="none" lIns="0" tIns="0" rIns="0" bIns="0" rtlCol="0" anchor="ctr"/>
            <a:lstStyle/>
            <a:p>
              <a:pPr algn="r">
                <a:lnSpc>
                  <a:spcPts val="1620"/>
                </a:lnSpc>
              </a:pPr>
              <a:r>
                <a:rPr lang="en-US" sz="1350" spc="149" dirty="0">
                  <a:solidFill>
                    <a:srgbClr val="0099D8"/>
                  </a:solidFill>
                  <a:latin typeface="Calibri"/>
                  <a:ea typeface="Calibri (MS)"/>
                  <a:cs typeface="Calibri"/>
                  <a:sym typeface="Calibri (MS)"/>
                </a:rPr>
                <a:t>1  PROBLEM     ·     </a:t>
              </a:r>
              <a:r>
                <a:rPr lang="en-US" sz="1350" b="1" spc="149" dirty="0">
                  <a:solidFill>
                    <a:srgbClr val="0099D8"/>
                  </a:solidFill>
                  <a:latin typeface="Calibri"/>
                  <a:ea typeface="Calibri (MS) Bold"/>
                  <a:cs typeface="Calibri"/>
                  <a:sym typeface="Calibri (MS) Bold"/>
                </a:rPr>
                <a:t>2  RECOMMENDATIONS</a:t>
              </a:r>
              <a:endParaRPr lang="en-US" sz="1350" spc="149" dirty="0">
                <a:solidFill>
                  <a:srgbClr val="0099D8"/>
                </a:solidFill>
                <a:latin typeface="Calibri"/>
                <a:ea typeface="Calibri (MS)"/>
                <a:cs typeface="Calibri"/>
                <a:sym typeface="Calibri (MS)"/>
              </a:endParaRPr>
            </a:p>
          </p:txBody>
        </p:sp>
      </p:grpSp>
      <p:grpSp>
        <p:nvGrpSpPr>
          <p:cNvPr id="66" name="Group 66"/>
          <p:cNvGrpSpPr/>
          <p:nvPr/>
        </p:nvGrpSpPr>
        <p:grpSpPr>
          <a:xfrm>
            <a:off x="754380" y="9168289"/>
            <a:ext cx="16733521" cy="432911"/>
            <a:chOff x="0" y="-28575"/>
            <a:chExt cx="22311361" cy="577215"/>
          </a:xfrm>
        </p:grpSpPr>
        <p:sp>
          <p:nvSpPr>
            <p:cNvPr id="67" name="Freeform 67"/>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4">
                <a:alphaModFix amt="0"/>
              </a:blip>
              <a:stretch>
                <a:fillRect t="-742391" b="-742391"/>
              </a:stretch>
            </a:blipFill>
          </p:spPr>
          <p:txBody>
            <a:bodyPr/>
            <a:lstStyle/>
            <a:p>
              <a:endParaRPr lang="en-US"/>
            </a:p>
          </p:txBody>
        </p:sp>
        <p:sp>
          <p:nvSpPr>
            <p:cNvPr id="68" name="TextBox 68"/>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5"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69" name="Group 69"/>
          <p:cNvGrpSpPr/>
          <p:nvPr/>
        </p:nvGrpSpPr>
        <p:grpSpPr>
          <a:xfrm>
            <a:off x="17076420" y="9669780"/>
            <a:ext cx="960120" cy="411480"/>
            <a:chOff x="0" y="0"/>
            <a:chExt cx="1280160" cy="548640"/>
          </a:xfrm>
        </p:grpSpPr>
        <p:sp>
          <p:nvSpPr>
            <p:cNvPr id="70" name="Freeform 70"/>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4">
                <a:alphaModFix amt="0"/>
              </a:blip>
              <a:stretch>
                <a:fillRect l="-4987" r="-4987"/>
              </a:stretch>
            </a:blipFill>
          </p:spPr>
          <p:txBody>
            <a:bodyPr/>
            <a:lstStyle/>
            <a:p>
              <a:endParaRPr lang="en-US"/>
            </a:p>
          </p:txBody>
        </p:sp>
        <p:sp>
          <p:nvSpPr>
            <p:cNvPr id="71" name="TextBox 71"/>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9</a:t>
              </a:r>
            </a:p>
          </p:txBody>
        </p:sp>
      </p:grpSp>
      <p:grpSp>
        <p:nvGrpSpPr>
          <p:cNvPr id="72" name="Group 72"/>
          <p:cNvGrpSpPr/>
          <p:nvPr/>
        </p:nvGrpSpPr>
        <p:grpSpPr>
          <a:xfrm>
            <a:off x="754380" y="9669780"/>
            <a:ext cx="16047720" cy="411480"/>
            <a:chOff x="0" y="0"/>
            <a:chExt cx="21396960" cy="548640"/>
          </a:xfrm>
        </p:grpSpPr>
        <p:sp>
          <p:nvSpPr>
            <p:cNvPr id="73" name="Freeform 73"/>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4">
                <a:alphaModFix amt="0"/>
              </a:blip>
              <a:stretch>
                <a:fillRect t="-709916" b="-709916"/>
              </a:stretch>
            </a:blipFill>
          </p:spPr>
          <p:txBody>
            <a:bodyPr/>
            <a:lstStyle/>
            <a:p>
              <a:endParaRPr lang="en-US"/>
            </a:p>
          </p:txBody>
        </p:sp>
        <p:sp>
          <p:nvSpPr>
            <p:cNvPr id="74" name="TextBox 74"/>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were used</a:t>
              </a:r>
            </a:p>
          </p:txBody>
        </p:sp>
      </p:grpSp>
      <p:grpSp>
        <p:nvGrpSpPr>
          <p:cNvPr id="15" name="Group 14">
            <a:extLst>
              <a:ext uri="{FF2B5EF4-FFF2-40B4-BE49-F238E27FC236}">
                <a16:creationId xmlns:a16="http://schemas.microsoft.com/office/drawing/2014/main" id="{6C6BBD68-761F-BE42-5E87-F21C121F0389}"/>
              </a:ext>
            </a:extLst>
          </p:cNvPr>
          <p:cNvGrpSpPr/>
          <p:nvPr/>
        </p:nvGrpSpPr>
        <p:grpSpPr>
          <a:xfrm>
            <a:off x="754380" y="1803271"/>
            <a:ext cx="11266169" cy="4072413"/>
            <a:chOff x="742475" y="1905953"/>
            <a:chExt cx="11266169" cy="4072413"/>
          </a:xfrm>
        </p:grpSpPr>
        <p:grpSp>
          <p:nvGrpSpPr>
            <p:cNvPr id="9" name="Group 9"/>
            <p:cNvGrpSpPr/>
            <p:nvPr/>
          </p:nvGrpSpPr>
          <p:grpSpPr>
            <a:xfrm>
              <a:off x="744856" y="1910715"/>
              <a:ext cx="3563780" cy="1939290"/>
              <a:chOff x="0" y="0"/>
              <a:chExt cx="5383784" cy="2585720"/>
            </a:xfrm>
          </p:grpSpPr>
          <p:sp>
            <p:nvSpPr>
              <p:cNvPr id="10" name="Freeform 10"/>
              <p:cNvSpPr/>
              <p:nvPr/>
            </p:nvSpPr>
            <p:spPr>
              <a:xfrm>
                <a:off x="0" y="0"/>
                <a:ext cx="5383784" cy="2585720"/>
              </a:xfrm>
              <a:custGeom>
                <a:avLst/>
                <a:gdLst/>
                <a:ahLst/>
                <a:cxnLst/>
                <a:rect l="l" t="t" r="r" b="b"/>
                <a:pathLst>
                  <a:path w="5383784" h="2585720">
                    <a:moveTo>
                      <a:pt x="0" y="147701"/>
                    </a:moveTo>
                    <a:cubicBezTo>
                      <a:pt x="0" y="66167"/>
                      <a:pt x="66167" y="0"/>
                      <a:pt x="147701" y="0"/>
                    </a:cubicBezTo>
                    <a:lnTo>
                      <a:pt x="5236083" y="0"/>
                    </a:lnTo>
                    <a:cubicBezTo>
                      <a:pt x="5317744" y="0"/>
                      <a:pt x="5383784" y="66167"/>
                      <a:pt x="5383784" y="147701"/>
                    </a:cubicBezTo>
                    <a:lnTo>
                      <a:pt x="5383784" y="2438019"/>
                    </a:lnTo>
                    <a:cubicBezTo>
                      <a:pt x="5383784" y="2519680"/>
                      <a:pt x="5317617" y="2585720"/>
                      <a:pt x="5236083" y="2585720"/>
                    </a:cubicBezTo>
                    <a:lnTo>
                      <a:pt x="147701" y="2585720"/>
                    </a:lnTo>
                    <a:cubicBezTo>
                      <a:pt x="66167" y="2585720"/>
                      <a:pt x="0" y="2519553"/>
                      <a:pt x="0" y="2438019"/>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1" name="Group 11"/>
            <p:cNvGrpSpPr/>
            <p:nvPr/>
          </p:nvGrpSpPr>
          <p:grpSpPr>
            <a:xfrm>
              <a:off x="1028701" y="2007394"/>
              <a:ext cx="3086100" cy="770409"/>
              <a:chOff x="0" y="-66675"/>
              <a:chExt cx="4754880" cy="1027212"/>
            </a:xfrm>
          </p:grpSpPr>
          <p:sp>
            <p:nvSpPr>
              <p:cNvPr id="12" name="Freeform 12"/>
              <p:cNvSpPr/>
              <p:nvPr/>
            </p:nvSpPr>
            <p:spPr>
              <a:xfrm>
                <a:off x="0" y="0"/>
                <a:ext cx="4754880" cy="960537"/>
              </a:xfrm>
              <a:custGeom>
                <a:avLst/>
                <a:gdLst/>
                <a:ahLst/>
                <a:cxnLst/>
                <a:rect l="l" t="t" r="r" b="b"/>
                <a:pathLst>
                  <a:path w="4754880" h="960537">
                    <a:moveTo>
                      <a:pt x="0" y="0"/>
                    </a:moveTo>
                    <a:lnTo>
                      <a:pt x="4754880" y="0"/>
                    </a:lnTo>
                    <a:lnTo>
                      <a:pt x="4754880" y="960537"/>
                    </a:lnTo>
                    <a:lnTo>
                      <a:pt x="0" y="960537"/>
                    </a:lnTo>
                    <a:close/>
                  </a:path>
                </a:pathLst>
              </a:custGeom>
              <a:blipFill>
                <a:blip r:embed="rId4">
                  <a:alphaModFix amt="0"/>
                </a:blip>
                <a:stretch>
                  <a:fillRect t="-48857" b="-44053"/>
                </a:stretch>
              </a:blipFill>
            </p:spPr>
            <p:txBody>
              <a:bodyPr/>
              <a:lstStyle/>
              <a:p>
                <a:endParaRPr lang="en-US" sz="4000"/>
              </a:p>
            </p:txBody>
          </p:sp>
          <p:sp>
            <p:nvSpPr>
              <p:cNvPr id="13" name="TextBox 13"/>
              <p:cNvSpPr txBox="1"/>
              <p:nvPr/>
            </p:nvSpPr>
            <p:spPr>
              <a:xfrm>
                <a:off x="0" y="-66675"/>
                <a:ext cx="4754880" cy="1027212"/>
              </a:xfrm>
              <a:prstGeom prst="rect">
                <a:avLst/>
              </a:prstGeom>
            </p:spPr>
            <p:txBody>
              <a:bodyPr lIns="0" tIns="0" rIns="0" bIns="0" rtlCol="0" anchor="ctr"/>
              <a:lstStyle/>
              <a:p>
                <a:pPr algn="l">
                  <a:lnSpc>
                    <a:spcPts val="4320"/>
                  </a:lnSpc>
                </a:pPr>
                <a:r>
                  <a:rPr lang="en-US" sz="4000" b="1">
                    <a:solidFill>
                      <a:srgbClr val="003057"/>
                    </a:solidFill>
                    <a:latin typeface="Calibri"/>
                    <a:ea typeface="Calibri (MS) Bold"/>
                    <a:cs typeface="Calibri"/>
                    <a:sym typeface="Calibri (MS) Bold"/>
                  </a:rPr>
                  <a:t>54.1%</a:t>
                </a:r>
              </a:p>
            </p:txBody>
          </p:sp>
        </p:grpSp>
        <p:sp>
          <p:nvSpPr>
            <p:cNvPr id="14" name="TextBox 14"/>
            <p:cNvSpPr txBox="1"/>
            <p:nvPr/>
          </p:nvSpPr>
          <p:spPr>
            <a:xfrm>
              <a:off x="1028700" y="2742056"/>
              <a:ext cx="3086100" cy="615553"/>
            </a:xfrm>
            <a:prstGeom prst="rect">
              <a:avLst/>
            </a:prstGeom>
          </p:spPr>
          <p:txBody>
            <a:bodyPr wrap="square" lIns="0" tIns="0" rIns="0" bIns="0" rtlCol="0" anchor="t">
              <a:spAutoFit/>
            </a:bodyPr>
            <a:lstStyle/>
            <a:p>
              <a:pPr algn="l"/>
              <a:r>
                <a:rPr lang="en-US" sz="2000">
                  <a:solidFill>
                    <a:srgbClr val="66717D"/>
                  </a:solidFill>
                  <a:latin typeface="Calibri"/>
                  <a:ea typeface="Calibri (MS)"/>
                  <a:cs typeface="Calibri"/>
                  <a:sym typeface="Calibri (MS)"/>
                </a:rPr>
                <a:t>of U.S. payroll workers are employed by large businesses</a:t>
              </a:r>
            </a:p>
          </p:txBody>
        </p:sp>
        <p:grpSp>
          <p:nvGrpSpPr>
            <p:cNvPr id="33" name="Group 33"/>
            <p:cNvGrpSpPr/>
            <p:nvPr/>
          </p:nvGrpSpPr>
          <p:grpSpPr>
            <a:xfrm>
              <a:off x="742475" y="4034314"/>
              <a:ext cx="3566160" cy="1944052"/>
              <a:chOff x="0" y="0"/>
              <a:chExt cx="5390134" cy="2592070"/>
            </a:xfrm>
          </p:grpSpPr>
          <p:sp>
            <p:nvSpPr>
              <p:cNvPr id="34" name="Freeform 34"/>
              <p:cNvSpPr/>
              <p:nvPr/>
            </p:nvSpPr>
            <p:spPr>
              <a:xfrm>
                <a:off x="0" y="0"/>
                <a:ext cx="5390134" cy="2592070"/>
              </a:xfrm>
              <a:custGeom>
                <a:avLst/>
                <a:gdLst/>
                <a:ahLst/>
                <a:cxnLst/>
                <a:rect l="l" t="t" r="r" b="b"/>
                <a:pathLst>
                  <a:path w="5390134" h="2592070">
                    <a:moveTo>
                      <a:pt x="0" y="148082"/>
                    </a:moveTo>
                    <a:cubicBezTo>
                      <a:pt x="0" y="66294"/>
                      <a:pt x="66294" y="0"/>
                      <a:pt x="148082" y="0"/>
                    </a:cubicBezTo>
                    <a:lnTo>
                      <a:pt x="5242052" y="0"/>
                    </a:lnTo>
                    <a:cubicBezTo>
                      <a:pt x="5323840" y="0"/>
                      <a:pt x="5390134" y="66294"/>
                      <a:pt x="5390134" y="148082"/>
                    </a:cubicBezTo>
                    <a:lnTo>
                      <a:pt x="5390134" y="2443988"/>
                    </a:lnTo>
                    <a:cubicBezTo>
                      <a:pt x="5390134" y="2525776"/>
                      <a:pt x="5323840" y="2592070"/>
                      <a:pt x="5242052" y="2592070"/>
                    </a:cubicBezTo>
                    <a:lnTo>
                      <a:pt x="148082" y="2592070"/>
                    </a:lnTo>
                    <a:cubicBezTo>
                      <a:pt x="66294" y="2592070"/>
                      <a:pt x="0" y="2525776"/>
                      <a:pt x="0" y="2443988"/>
                    </a:cubicBezTo>
                    <a:close/>
                  </a:path>
                </a:pathLst>
              </a:custGeom>
              <a:solidFill>
                <a:srgbClr val="EEF4FB"/>
              </a:solidFill>
              <a:ln w="23812" cap="sq">
                <a:solidFill>
                  <a:srgbClr val="0099D8"/>
                </a:solidFill>
                <a:prstDash val="solid"/>
                <a:miter/>
              </a:ln>
            </p:spPr>
            <p:txBody>
              <a:bodyPr/>
              <a:lstStyle/>
              <a:p>
                <a:endParaRPr lang="en-US"/>
              </a:p>
            </p:txBody>
          </p:sp>
        </p:grpSp>
        <p:grpSp>
          <p:nvGrpSpPr>
            <p:cNvPr id="35" name="Group 35"/>
            <p:cNvGrpSpPr/>
            <p:nvPr/>
          </p:nvGrpSpPr>
          <p:grpSpPr>
            <a:xfrm>
              <a:off x="1028700" y="4140517"/>
              <a:ext cx="3086100" cy="728663"/>
              <a:chOff x="0" y="-57150"/>
              <a:chExt cx="4754880" cy="971550"/>
            </a:xfrm>
          </p:grpSpPr>
          <p:sp>
            <p:nvSpPr>
              <p:cNvPr id="36" name="Freeform 36"/>
              <p:cNvSpPr/>
              <p:nvPr/>
            </p:nvSpPr>
            <p:spPr>
              <a:xfrm>
                <a:off x="0" y="0"/>
                <a:ext cx="4754880" cy="914400"/>
              </a:xfrm>
              <a:custGeom>
                <a:avLst/>
                <a:gdLst/>
                <a:ahLst/>
                <a:cxnLst/>
                <a:rect l="l" t="t" r="r" b="b"/>
                <a:pathLst>
                  <a:path w="4754880" h="914400">
                    <a:moveTo>
                      <a:pt x="0" y="0"/>
                    </a:moveTo>
                    <a:lnTo>
                      <a:pt x="4754880" y="0"/>
                    </a:lnTo>
                    <a:lnTo>
                      <a:pt x="4754880" y="914400"/>
                    </a:lnTo>
                    <a:lnTo>
                      <a:pt x="0" y="914400"/>
                    </a:lnTo>
                    <a:close/>
                  </a:path>
                </a:pathLst>
              </a:custGeom>
              <a:blipFill>
                <a:blip r:embed="rId4">
                  <a:alphaModFix amt="0"/>
                </a:blip>
                <a:stretch>
                  <a:fillRect t="-51322" b="-51322"/>
                </a:stretch>
              </a:blipFill>
            </p:spPr>
            <p:txBody>
              <a:bodyPr/>
              <a:lstStyle/>
              <a:p>
                <a:endParaRPr lang="en-US" sz="4000"/>
              </a:p>
            </p:txBody>
          </p:sp>
          <p:sp>
            <p:nvSpPr>
              <p:cNvPr id="37" name="TextBox 37"/>
              <p:cNvSpPr txBox="1"/>
              <p:nvPr/>
            </p:nvSpPr>
            <p:spPr>
              <a:xfrm>
                <a:off x="0" y="-57150"/>
                <a:ext cx="4754880" cy="971550"/>
              </a:xfrm>
              <a:prstGeom prst="rect">
                <a:avLst/>
              </a:prstGeom>
            </p:spPr>
            <p:txBody>
              <a:bodyPr lIns="0" tIns="0" rIns="0" bIns="0" rtlCol="0" anchor="ctr"/>
              <a:lstStyle/>
              <a:p>
                <a:pPr algn="l">
                  <a:lnSpc>
                    <a:spcPts val="3240"/>
                  </a:lnSpc>
                </a:pPr>
                <a:r>
                  <a:rPr lang="en-US" sz="4000" b="1">
                    <a:solidFill>
                      <a:srgbClr val="0099D8"/>
                    </a:solidFill>
                    <a:latin typeface="Calibri"/>
                    <a:ea typeface="Calibri (MS) Bold"/>
                    <a:cs typeface="Calibri"/>
                    <a:sym typeface="Calibri (MS) Bold"/>
                  </a:rPr>
                  <a:t>Overcomes</a:t>
                </a:r>
              </a:p>
            </p:txBody>
          </p:sp>
        </p:grpSp>
        <p:sp>
          <p:nvSpPr>
            <p:cNvPr id="38" name="TextBox 38"/>
            <p:cNvSpPr txBox="1"/>
            <p:nvPr/>
          </p:nvSpPr>
          <p:spPr>
            <a:xfrm>
              <a:off x="1028700" y="4715400"/>
              <a:ext cx="3162300" cy="1107996"/>
            </a:xfrm>
            <a:prstGeom prst="rect">
              <a:avLst/>
            </a:prstGeom>
          </p:spPr>
          <p:txBody>
            <a:bodyPr wrap="square" lIns="0" tIns="0" rIns="0" bIns="0" rtlCol="0" anchor="t">
              <a:spAutoFit/>
            </a:bodyPr>
            <a:lstStyle/>
            <a:p>
              <a:pPr algn="l"/>
              <a:r>
                <a:rPr lang="en-US" sz="2400">
                  <a:solidFill>
                    <a:srgbClr val="66717D"/>
                  </a:solidFill>
                  <a:latin typeface="Calibri"/>
                  <a:ea typeface="Calibri (MS)"/>
                  <a:cs typeface="Calibri"/>
                  <a:sym typeface="Calibri (MS)"/>
                </a:rPr>
                <a:t>consumer price sensitivity by changing who pays</a:t>
              </a:r>
            </a:p>
          </p:txBody>
        </p:sp>
        <p:grpSp>
          <p:nvGrpSpPr>
            <p:cNvPr id="128" name="Group 9">
              <a:extLst>
                <a:ext uri="{FF2B5EF4-FFF2-40B4-BE49-F238E27FC236}">
                  <a16:creationId xmlns:a16="http://schemas.microsoft.com/office/drawing/2014/main" id="{59A2C3D4-905B-71B6-8802-628B74242522}"/>
                </a:ext>
              </a:extLst>
            </p:cNvPr>
            <p:cNvGrpSpPr/>
            <p:nvPr/>
          </p:nvGrpSpPr>
          <p:grpSpPr>
            <a:xfrm>
              <a:off x="4594860" y="1908334"/>
              <a:ext cx="3563780" cy="1939290"/>
              <a:chOff x="0" y="0"/>
              <a:chExt cx="5383784" cy="2585720"/>
            </a:xfrm>
          </p:grpSpPr>
          <p:sp>
            <p:nvSpPr>
              <p:cNvPr id="129" name="Freeform 10">
                <a:extLst>
                  <a:ext uri="{FF2B5EF4-FFF2-40B4-BE49-F238E27FC236}">
                    <a16:creationId xmlns:a16="http://schemas.microsoft.com/office/drawing/2014/main" id="{38B52D4A-085E-8322-160F-39DAA9E0DA09}"/>
                  </a:ext>
                </a:extLst>
              </p:cNvPr>
              <p:cNvSpPr/>
              <p:nvPr/>
            </p:nvSpPr>
            <p:spPr>
              <a:xfrm>
                <a:off x="0" y="0"/>
                <a:ext cx="5383784" cy="2585720"/>
              </a:xfrm>
              <a:custGeom>
                <a:avLst/>
                <a:gdLst/>
                <a:ahLst/>
                <a:cxnLst/>
                <a:rect l="l" t="t" r="r" b="b"/>
                <a:pathLst>
                  <a:path w="5383784" h="2585720">
                    <a:moveTo>
                      <a:pt x="0" y="147701"/>
                    </a:moveTo>
                    <a:cubicBezTo>
                      <a:pt x="0" y="66167"/>
                      <a:pt x="66167" y="0"/>
                      <a:pt x="147701" y="0"/>
                    </a:cubicBezTo>
                    <a:lnTo>
                      <a:pt x="5236083" y="0"/>
                    </a:lnTo>
                    <a:cubicBezTo>
                      <a:pt x="5317744" y="0"/>
                      <a:pt x="5383784" y="66167"/>
                      <a:pt x="5383784" y="147701"/>
                    </a:cubicBezTo>
                    <a:lnTo>
                      <a:pt x="5383784" y="2438019"/>
                    </a:lnTo>
                    <a:cubicBezTo>
                      <a:pt x="5383784" y="2519680"/>
                      <a:pt x="5317617" y="2585720"/>
                      <a:pt x="5236083" y="2585720"/>
                    </a:cubicBezTo>
                    <a:lnTo>
                      <a:pt x="147701" y="2585720"/>
                    </a:lnTo>
                    <a:cubicBezTo>
                      <a:pt x="66167" y="2585720"/>
                      <a:pt x="0" y="2519553"/>
                      <a:pt x="0" y="2438019"/>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30" name="Group 11">
              <a:extLst>
                <a:ext uri="{FF2B5EF4-FFF2-40B4-BE49-F238E27FC236}">
                  <a16:creationId xmlns:a16="http://schemas.microsoft.com/office/drawing/2014/main" id="{7D8A8FAB-9C98-66C7-74F5-50EF627694BB}"/>
                </a:ext>
              </a:extLst>
            </p:cNvPr>
            <p:cNvGrpSpPr/>
            <p:nvPr/>
          </p:nvGrpSpPr>
          <p:grpSpPr>
            <a:xfrm>
              <a:off x="4878705" y="2005013"/>
              <a:ext cx="3086100" cy="770409"/>
              <a:chOff x="0" y="-66675"/>
              <a:chExt cx="4754880" cy="1027212"/>
            </a:xfrm>
          </p:grpSpPr>
          <p:sp>
            <p:nvSpPr>
              <p:cNvPr id="131" name="Freeform 12">
                <a:extLst>
                  <a:ext uri="{FF2B5EF4-FFF2-40B4-BE49-F238E27FC236}">
                    <a16:creationId xmlns:a16="http://schemas.microsoft.com/office/drawing/2014/main" id="{6F6FEC50-AC9D-E00A-BFB5-CCD756EC4AEF}"/>
                  </a:ext>
                </a:extLst>
              </p:cNvPr>
              <p:cNvSpPr/>
              <p:nvPr/>
            </p:nvSpPr>
            <p:spPr>
              <a:xfrm>
                <a:off x="0" y="0"/>
                <a:ext cx="4754880" cy="960537"/>
              </a:xfrm>
              <a:custGeom>
                <a:avLst/>
                <a:gdLst/>
                <a:ahLst/>
                <a:cxnLst/>
                <a:rect l="l" t="t" r="r" b="b"/>
                <a:pathLst>
                  <a:path w="4754880" h="960537">
                    <a:moveTo>
                      <a:pt x="0" y="0"/>
                    </a:moveTo>
                    <a:lnTo>
                      <a:pt x="4754880" y="0"/>
                    </a:lnTo>
                    <a:lnTo>
                      <a:pt x="4754880" y="960537"/>
                    </a:lnTo>
                    <a:lnTo>
                      <a:pt x="0" y="960537"/>
                    </a:lnTo>
                    <a:close/>
                  </a:path>
                </a:pathLst>
              </a:custGeom>
              <a:blipFill>
                <a:blip r:embed="rId4">
                  <a:alphaModFix amt="0"/>
                </a:blip>
                <a:stretch>
                  <a:fillRect t="-48857" b="-44053"/>
                </a:stretch>
              </a:blipFill>
            </p:spPr>
            <p:txBody>
              <a:bodyPr/>
              <a:lstStyle/>
              <a:p>
                <a:endParaRPr lang="en-US" sz="4000"/>
              </a:p>
            </p:txBody>
          </p:sp>
          <p:sp>
            <p:nvSpPr>
              <p:cNvPr id="132" name="TextBox 13">
                <a:extLst>
                  <a:ext uri="{FF2B5EF4-FFF2-40B4-BE49-F238E27FC236}">
                    <a16:creationId xmlns:a16="http://schemas.microsoft.com/office/drawing/2014/main" id="{19C3BC50-EC32-CB3D-8D53-9A573EAD51D9}"/>
                  </a:ext>
                </a:extLst>
              </p:cNvPr>
              <p:cNvSpPr txBox="1"/>
              <p:nvPr/>
            </p:nvSpPr>
            <p:spPr>
              <a:xfrm>
                <a:off x="0" y="-66675"/>
                <a:ext cx="4754880" cy="1027212"/>
              </a:xfrm>
              <a:prstGeom prst="rect">
                <a:avLst/>
              </a:prstGeom>
            </p:spPr>
            <p:txBody>
              <a:bodyPr lIns="0" tIns="0" rIns="0" bIns="0" rtlCol="0" anchor="ctr"/>
              <a:lstStyle/>
              <a:p>
                <a:pPr algn="l">
                  <a:lnSpc>
                    <a:spcPts val="4320"/>
                  </a:lnSpc>
                </a:pPr>
                <a:r>
                  <a:rPr lang="en-US" sz="4000" b="1">
                    <a:solidFill>
                      <a:srgbClr val="003057"/>
                    </a:solidFill>
                    <a:latin typeface="Calibri"/>
                    <a:ea typeface="Calibri (MS) Bold"/>
                    <a:cs typeface="Calibri"/>
                    <a:sym typeface="Calibri (MS) Bold"/>
                  </a:rPr>
                  <a:t>-166,000</a:t>
                </a:r>
              </a:p>
            </p:txBody>
          </p:sp>
        </p:grpSp>
        <p:sp>
          <p:nvSpPr>
            <p:cNvPr id="133" name="TextBox 14">
              <a:extLst>
                <a:ext uri="{FF2B5EF4-FFF2-40B4-BE49-F238E27FC236}">
                  <a16:creationId xmlns:a16="http://schemas.microsoft.com/office/drawing/2014/main" id="{F96ED782-23FC-E883-172B-9EE96393CECC}"/>
                </a:ext>
              </a:extLst>
            </p:cNvPr>
            <p:cNvSpPr txBox="1"/>
            <p:nvPr/>
          </p:nvSpPr>
          <p:spPr>
            <a:xfrm>
              <a:off x="4878704" y="2739675"/>
              <a:ext cx="3086100" cy="615553"/>
            </a:xfrm>
            <a:prstGeom prst="rect">
              <a:avLst/>
            </a:prstGeom>
          </p:spPr>
          <p:txBody>
            <a:bodyPr wrap="square" lIns="0" tIns="0" rIns="0" bIns="0" rtlCol="0" anchor="t">
              <a:spAutoFit/>
            </a:bodyPr>
            <a:lstStyle/>
            <a:p>
              <a:pPr algn="l"/>
              <a:r>
                <a:rPr lang="en-US" sz="2000">
                  <a:solidFill>
                    <a:srgbClr val="66717D"/>
                  </a:solidFill>
                  <a:latin typeface="Calibri"/>
                  <a:ea typeface="Calibri (MS)"/>
                  <a:cs typeface="Calibri"/>
                  <a:sym typeface="Calibri (MS)"/>
                </a:rPr>
                <a:t>residential internet net user adds in Q2 2026</a:t>
              </a:r>
            </a:p>
          </p:txBody>
        </p:sp>
        <p:grpSp>
          <p:nvGrpSpPr>
            <p:cNvPr id="134" name="Group 33">
              <a:extLst>
                <a:ext uri="{FF2B5EF4-FFF2-40B4-BE49-F238E27FC236}">
                  <a16:creationId xmlns:a16="http://schemas.microsoft.com/office/drawing/2014/main" id="{AFC1465A-39D7-3E04-F4F1-17EA0B911778}"/>
                </a:ext>
              </a:extLst>
            </p:cNvPr>
            <p:cNvGrpSpPr/>
            <p:nvPr/>
          </p:nvGrpSpPr>
          <p:grpSpPr>
            <a:xfrm>
              <a:off x="4592479" y="4031933"/>
              <a:ext cx="3566160" cy="1944052"/>
              <a:chOff x="0" y="0"/>
              <a:chExt cx="5390134" cy="2592070"/>
            </a:xfrm>
          </p:grpSpPr>
          <p:sp>
            <p:nvSpPr>
              <p:cNvPr id="135" name="Freeform 34">
                <a:extLst>
                  <a:ext uri="{FF2B5EF4-FFF2-40B4-BE49-F238E27FC236}">
                    <a16:creationId xmlns:a16="http://schemas.microsoft.com/office/drawing/2014/main" id="{98027B52-C161-DE24-3BB8-B9A1E4527573}"/>
                  </a:ext>
                </a:extLst>
              </p:cNvPr>
              <p:cNvSpPr/>
              <p:nvPr/>
            </p:nvSpPr>
            <p:spPr>
              <a:xfrm>
                <a:off x="0" y="0"/>
                <a:ext cx="5390134" cy="2592070"/>
              </a:xfrm>
              <a:custGeom>
                <a:avLst/>
                <a:gdLst/>
                <a:ahLst/>
                <a:cxnLst/>
                <a:rect l="l" t="t" r="r" b="b"/>
                <a:pathLst>
                  <a:path w="5390134" h="2592070">
                    <a:moveTo>
                      <a:pt x="0" y="148082"/>
                    </a:moveTo>
                    <a:cubicBezTo>
                      <a:pt x="0" y="66294"/>
                      <a:pt x="66294" y="0"/>
                      <a:pt x="148082" y="0"/>
                    </a:cubicBezTo>
                    <a:lnTo>
                      <a:pt x="5242052" y="0"/>
                    </a:lnTo>
                    <a:cubicBezTo>
                      <a:pt x="5323840" y="0"/>
                      <a:pt x="5390134" y="66294"/>
                      <a:pt x="5390134" y="148082"/>
                    </a:cubicBezTo>
                    <a:lnTo>
                      <a:pt x="5390134" y="2443988"/>
                    </a:lnTo>
                    <a:cubicBezTo>
                      <a:pt x="5390134" y="2525776"/>
                      <a:pt x="5323840" y="2592070"/>
                      <a:pt x="5242052" y="2592070"/>
                    </a:cubicBezTo>
                    <a:lnTo>
                      <a:pt x="148082" y="2592070"/>
                    </a:lnTo>
                    <a:cubicBezTo>
                      <a:pt x="66294" y="2592070"/>
                      <a:pt x="0" y="2525776"/>
                      <a:pt x="0" y="2443988"/>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36" name="Group 35">
              <a:extLst>
                <a:ext uri="{FF2B5EF4-FFF2-40B4-BE49-F238E27FC236}">
                  <a16:creationId xmlns:a16="http://schemas.microsoft.com/office/drawing/2014/main" id="{EF5063C1-7802-733F-DFF5-5A57A4DDFD29}"/>
                </a:ext>
              </a:extLst>
            </p:cNvPr>
            <p:cNvGrpSpPr/>
            <p:nvPr/>
          </p:nvGrpSpPr>
          <p:grpSpPr>
            <a:xfrm>
              <a:off x="4878704" y="4138136"/>
              <a:ext cx="3086100" cy="728663"/>
              <a:chOff x="0" y="-57150"/>
              <a:chExt cx="4754880" cy="971550"/>
            </a:xfrm>
          </p:grpSpPr>
          <p:sp>
            <p:nvSpPr>
              <p:cNvPr id="137" name="Freeform 36">
                <a:extLst>
                  <a:ext uri="{FF2B5EF4-FFF2-40B4-BE49-F238E27FC236}">
                    <a16:creationId xmlns:a16="http://schemas.microsoft.com/office/drawing/2014/main" id="{01135320-7905-F7F9-8C9E-7E735A47BCA8}"/>
                  </a:ext>
                </a:extLst>
              </p:cNvPr>
              <p:cNvSpPr/>
              <p:nvPr/>
            </p:nvSpPr>
            <p:spPr>
              <a:xfrm>
                <a:off x="0" y="0"/>
                <a:ext cx="4754880" cy="914400"/>
              </a:xfrm>
              <a:custGeom>
                <a:avLst/>
                <a:gdLst/>
                <a:ahLst/>
                <a:cxnLst/>
                <a:rect l="l" t="t" r="r" b="b"/>
                <a:pathLst>
                  <a:path w="4754880" h="914400">
                    <a:moveTo>
                      <a:pt x="0" y="0"/>
                    </a:moveTo>
                    <a:lnTo>
                      <a:pt x="4754880" y="0"/>
                    </a:lnTo>
                    <a:lnTo>
                      <a:pt x="4754880" y="914400"/>
                    </a:lnTo>
                    <a:lnTo>
                      <a:pt x="0" y="914400"/>
                    </a:lnTo>
                    <a:close/>
                  </a:path>
                </a:pathLst>
              </a:custGeom>
              <a:blipFill>
                <a:blip r:embed="rId4">
                  <a:alphaModFix amt="0"/>
                </a:blip>
                <a:stretch>
                  <a:fillRect t="-51322" b="-51322"/>
                </a:stretch>
              </a:blipFill>
            </p:spPr>
            <p:txBody>
              <a:bodyPr/>
              <a:lstStyle/>
              <a:p>
                <a:endParaRPr lang="en-US" sz="4000"/>
              </a:p>
            </p:txBody>
          </p:sp>
          <p:sp>
            <p:nvSpPr>
              <p:cNvPr id="138" name="TextBox 37">
                <a:extLst>
                  <a:ext uri="{FF2B5EF4-FFF2-40B4-BE49-F238E27FC236}">
                    <a16:creationId xmlns:a16="http://schemas.microsoft.com/office/drawing/2014/main" id="{B1092238-8E00-0614-9806-C46574378B44}"/>
                  </a:ext>
                </a:extLst>
              </p:cNvPr>
              <p:cNvSpPr txBox="1"/>
              <p:nvPr/>
            </p:nvSpPr>
            <p:spPr>
              <a:xfrm>
                <a:off x="0" y="-57150"/>
                <a:ext cx="4754880" cy="971550"/>
              </a:xfrm>
              <a:prstGeom prst="rect">
                <a:avLst/>
              </a:prstGeom>
            </p:spPr>
            <p:txBody>
              <a:bodyPr lIns="0" tIns="0" rIns="0" bIns="0" rtlCol="0" anchor="ctr"/>
              <a:lstStyle/>
              <a:p>
                <a:pPr algn="l">
                  <a:lnSpc>
                    <a:spcPts val="3240"/>
                  </a:lnSpc>
                </a:pPr>
                <a:r>
                  <a:rPr lang="en-US" sz="4000" b="1">
                    <a:solidFill>
                      <a:srgbClr val="0099D8"/>
                    </a:solidFill>
                    <a:latin typeface="Calibri"/>
                    <a:ea typeface="Calibri (MS) Bold"/>
                    <a:cs typeface="Calibri"/>
                    <a:sym typeface="Calibri (MS) Bold"/>
                  </a:rPr>
                  <a:t>Slows churn</a:t>
                </a:r>
              </a:p>
            </p:txBody>
          </p:sp>
        </p:grpSp>
        <p:sp>
          <p:nvSpPr>
            <p:cNvPr id="139" name="TextBox 38">
              <a:extLst>
                <a:ext uri="{FF2B5EF4-FFF2-40B4-BE49-F238E27FC236}">
                  <a16:creationId xmlns:a16="http://schemas.microsoft.com/office/drawing/2014/main" id="{AA4C2EC5-D579-8D48-DE0C-77131C32F342}"/>
                </a:ext>
              </a:extLst>
            </p:cNvPr>
            <p:cNvSpPr txBox="1"/>
            <p:nvPr/>
          </p:nvSpPr>
          <p:spPr>
            <a:xfrm>
              <a:off x="4878704" y="4713019"/>
              <a:ext cx="3162300" cy="738664"/>
            </a:xfrm>
            <a:prstGeom prst="rect">
              <a:avLst/>
            </a:prstGeom>
          </p:spPr>
          <p:txBody>
            <a:bodyPr wrap="square" lIns="0" tIns="0" rIns="0" bIns="0" rtlCol="0" anchor="t">
              <a:spAutoFit/>
            </a:bodyPr>
            <a:lstStyle/>
            <a:p>
              <a:pPr algn="l"/>
              <a:r>
                <a:rPr lang="en-US" sz="2400">
                  <a:solidFill>
                    <a:srgbClr val="66717D"/>
                  </a:solidFill>
                  <a:latin typeface="Calibri"/>
                  <a:ea typeface="Calibri (MS)"/>
                  <a:cs typeface="Calibri"/>
                  <a:sym typeface="Calibri (MS)"/>
                </a:rPr>
                <a:t>by changing the source of user losses</a:t>
              </a:r>
            </a:p>
          </p:txBody>
        </p:sp>
        <p:grpSp>
          <p:nvGrpSpPr>
            <p:cNvPr id="140" name="Group 9">
              <a:extLst>
                <a:ext uri="{FF2B5EF4-FFF2-40B4-BE49-F238E27FC236}">
                  <a16:creationId xmlns:a16="http://schemas.microsoft.com/office/drawing/2014/main" id="{98205604-9A6A-8562-8DE5-F7268C792C82}"/>
                </a:ext>
              </a:extLst>
            </p:cNvPr>
            <p:cNvGrpSpPr/>
            <p:nvPr/>
          </p:nvGrpSpPr>
          <p:grpSpPr>
            <a:xfrm>
              <a:off x="8444864" y="1905953"/>
              <a:ext cx="3563780" cy="1939290"/>
              <a:chOff x="0" y="0"/>
              <a:chExt cx="5383784" cy="2585720"/>
            </a:xfrm>
          </p:grpSpPr>
          <p:sp>
            <p:nvSpPr>
              <p:cNvPr id="141" name="Freeform 10">
                <a:extLst>
                  <a:ext uri="{FF2B5EF4-FFF2-40B4-BE49-F238E27FC236}">
                    <a16:creationId xmlns:a16="http://schemas.microsoft.com/office/drawing/2014/main" id="{B6B7675F-2CE9-E5B1-5A4B-37F28B55E5CA}"/>
                  </a:ext>
                </a:extLst>
              </p:cNvPr>
              <p:cNvSpPr/>
              <p:nvPr/>
            </p:nvSpPr>
            <p:spPr>
              <a:xfrm>
                <a:off x="0" y="0"/>
                <a:ext cx="5383784" cy="2585720"/>
              </a:xfrm>
              <a:custGeom>
                <a:avLst/>
                <a:gdLst/>
                <a:ahLst/>
                <a:cxnLst/>
                <a:rect l="l" t="t" r="r" b="b"/>
                <a:pathLst>
                  <a:path w="5383784" h="2585720">
                    <a:moveTo>
                      <a:pt x="0" y="147701"/>
                    </a:moveTo>
                    <a:cubicBezTo>
                      <a:pt x="0" y="66167"/>
                      <a:pt x="66167" y="0"/>
                      <a:pt x="147701" y="0"/>
                    </a:cubicBezTo>
                    <a:lnTo>
                      <a:pt x="5236083" y="0"/>
                    </a:lnTo>
                    <a:cubicBezTo>
                      <a:pt x="5317744" y="0"/>
                      <a:pt x="5383784" y="66167"/>
                      <a:pt x="5383784" y="147701"/>
                    </a:cubicBezTo>
                    <a:lnTo>
                      <a:pt x="5383784" y="2438019"/>
                    </a:lnTo>
                    <a:cubicBezTo>
                      <a:pt x="5383784" y="2519680"/>
                      <a:pt x="5317617" y="2585720"/>
                      <a:pt x="5236083" y="2585720"/>
                    </a:cubicBezTo>
                    <a:lnTo>
                      <a:pt x="147701" y="2585720"/>
                    </a:lnTo>
                    <a:cubicBezTo>
                      <a:pt x="66167" y="2585720"/>
                      <a:pt x="0" y="2519553"/>
                      <a:pt x="0" y="2438019"/>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42" name="Group 11">
              <a:extLst>
                <a:ext uri="{FF2B5EF4-FFF2-40B4-BE49-F238E27FC236}">
                  <a16:creationId xmlns:a16="http://schemas.microsoft.com/office/drawing/2014/main" id="{92482667-016A-EB67-2354-F3498628644F}"/>
                </a:ext>
              </a:extLst>
            </p:cNvPr>
            <p:cNvGrpSpPr/>
            <p:nvPr/>
          </p:nvGrpSpPr>
          <p:grpSpPr>
            <a:xfrm>
              <a:off x="8728709" y="2002632"/>
              <a:ext cx="3086100" cy="770409"/>
              <a:chOff x="0" y="-66675"/>
              <a:chExt cx="4754880" cy="1027212"/>
            </a:xfrm>
          </p:grpSpPr>
          <p:sp>
            <p:nvSpPr>
              <p:cNvPr id="143" name="Freeform 12">
                <a:extLst>
                  <a:ext uri="{FF2B5EF4-FFF2-40B4-BE49-F238E27FC236}">
                    <a16:creationId xmlns:a16="http://schemas.microsoft.com/office/drawing/2014/main" id="{62AC7B30-2548-A58F-0933-F9E9416D04EB}"/>
                  </a:ext>
                </a:extLst>
              </p:cNvPr>
              <p:cNvSpPr/>
              <p:nvPr/>
            </p:nvSpPr>
            <p:spPr>
              <a:xfrm>
                <a:off x="0" y="0"/>
                <a:ext cx="4754880" cy="960537"/>
              </a:xfrm>
              <a:custGeom>
                <a:avLst/>
                <a:gdLst/>
                <a:ahLst/>
                <a:cxnLst/>
                <a:rect l="l" t="t" r="r" b="b"/>
                <a:pathLst>
                  <a:path w="4754880" h="960537">
                    <a:moveTo>
                      <a:pt x="0" y="0"/>
                    </a:moveTo>
                    <a:lnTo>
                      <a:pt x="4754880" y="0"/>
                    </a:lnTo>
                    <a:lnTo>
                      <a:pt x="4754880" y="960537"/>
                    </a:lnTo>
                    <a:lnTo>
                      <a:pt x="0" y="960537"/>
                    </a:lnTo>
                    <a:close/>
                  </a:path>
                </a:pathLst>
              </a:custGeom>
              <a:blipFill>
                <a:blip r:embed="rId4">
                  <a:alphaModFix amt="0"/>
                </a:blip>
                <a:stretch>
                  <a:fillRect t="-48857" b="-44053"/>
                </a:stretch>
              </a:blipFill>
            </p:spPr>
            <p:txBody>
              <a:bodyPr/>
              <a:lstStyle/>
              <a:p>
                <a:endParaRPr lang="en-US" sz="4000"/>
              </a:p>
            </p:txBody>
          </p:sp>
          <p:sp>
            <p:nvSpPr>
              <p:cNvPr id="144" name="TextBox 13">
                <a:extLst>
                  <a:ext uri="{FF2B5EF4-FFF2-40B4-BE49-F238E27FC236}">
                    <a16:creationId xmlns:a16="http://schemas.microsoft.com/office/drawing/2014/main" id="{A279DDCA-C2BE-E704-0810-3363EF24E58B}"/>
                  </a:ext>
                </a:extLst>
              </p:cNvPr>
              <p:cNvSpPr txBox="1"/>
              <p:nvPr/>
            </p:nvSpPr>
            <p:spPr>
              <a:xfrm>
                <a:off x="0" y="-66675"/>
                <a:ext cx="4754880" cy="1027212"/>
              </a:xfrm>
              <a:prstGeom prst="rect">
                <a:avLst/>
              </a:prstGeom>
            </p:spPr>
            <p:txBody>
              <a:bodyPr lIns="0" tIns="0" rIns="0" bIns="0" rtlCol="0" anchor="ctr"/>
              <a:lstStyle/>
              <a:p>
                <a:pPr algn="l">
                  <a:lnSpc>
                    <a:spcPts val="4320"/>
                  </a:lnSpc>
                </a:pPr>
                <a:r>
                  <a:rPr lang="en-US" sz="4000" b="1">
                    <a:solidFill>
                      <a:srgbClr val="003057"/>
                    </a:solidFill>
                    <a:latin typeface="Calibri"/>
                    <a:ea typeface="Calibri (MS) Bold"/>
                    <a:cs typeface="Calibri"/>
                    <a:sym typeface="Calibri (MS) Bold"/>
                  </a:rPr>
                  <a:t>-$78M</a:t>
                </a:r>
              </a:p>
            </p:txBody>
          </p:sp>
        </p:grpSp>
        <p:sp>
          <p:nvSpPr>
            <p:cNvPr id="145" name="TextBox 14">
              <a:extLst>
                <a:ext uri="{FF2B5EF4-FFF2-40B4-BE49-F238E27FC236}">
                  <a16:creationId xmlns:a16="http://schemas.microsoft.com/office/drawing/2014/main" id="{05453FE2-D474-70F8-B857-82C163C2BACD}"/>
                </a:ext>
              </a:extLst>
            </p:cNvPr>
            <p:cNvSpPr txBox="1"/>
            <p:nvPr/>
          </p:nvSpPr>
          <p:spPr>
            <a:xfrm>
              <a:off x="8728708" y="2737294"/>
              <a:ext cx="3086100" cy="923330"/>
            </a:xfrm>
            <a:prstGeom prst="rect">
              <a:avLst/>
            </a:prstGeom>
          </p:spPr>
          <p:txBody>
            <a:bodyPr wrap="square" lIns="0" tIns="0" rIns="0" bIns="0" rtlCol="0" anchor="t">
              <a:spAutoFit/>
            </a:bodyPr>
            <a:lstStyle/>
            <a:p>
              <a:pPr algn="l"/>
              <a:r>
                <a:rPr lang="en-US" sz="2000">
                  <a:solidFill>
                    <a:srgbClr val="66717D"/>
                  </a:solidFill>
                  <a:latin typeface="Calibri"/>
                  <a:ea typeface="Calibri (MS)"/>
                  <a:cs typeface="Calibri"/>
                  <a:sym typeface="Calibri (MS)"/>
                </a:rPr>
                <a:t>Q1 2026 versus Q1 2025: volume took $87 million, rate and mix put $9 million back</a:t>
              </a:r>
            </a:p>
          </p:txBody>
        </p:sp>
        <p:grpSp>
          <p:nvGrpSpPr>
            <p:cNvPr id="146" name="Group 33">
              <a:extLst>
                <a:ext uri="{FF2B5EF4-FFF2-40B4-BE49-F238E27FC236}">
                  <a16:creationId xmlns:a16="http://schemas.microsoft.com/office/drawing/2014/main" id="{D93D353B-961D-AC1E-49AF-02DB9F9C9CED}"/>
                </a:ext>
              </a:extLst>
            </p:cNvPr>
            <p:cNvGrpSpPr/>
            <p:nvPr/>
          </p:nvGrpSpPr>
          <p:grpSpPr>
            <a:xfrm>
              <a:off x="8442483" y="4029552"/>
              <a:ext cx="3566160" cy="1944052"/>
              <a:chOff x="0" y="0"/>
              <a:chExt cx="5390134" cy="2592070"/>
            </a:xfrm>
          </p:grpSpPr>
          <p:sp>
            <p:nvSpPr>
              <p:cNvPr id="147" name="Freeform 34">
                <a:extLst>
                  <a:ext uri="{FF2B5EF4-FFF2-40B4-BE49-F238E27FC236}">
                    <a16:creationId xmlns:a16="http://schemas.microsoft.com/office/drawing/2014/main" id="{8DCFA1B2-5AA3-0A26-C4D9-1031266B9F14}"/>
                  </a:ext>
                </a:extLst>
              </p:cNvPr>
              <p:cNvSpPr/>
              <p:nvPr/>
            </p:nvSpPr>
            <p:spPr>
              <a:xfrm>
                <a:off x="0" y="0"/>
                <a:ext cx="5390134" cy="2592070"/>
              </a:xfrm>
              <a:custGeom>
                <a:avLst/>
                <a:gdLst/>
                <a:ahLst/>
                <a:cxnLst/>
                <a:rect l="l" t="t" r="r" b="b"/>
                <a:pathLst>
                  <a:path w="5390134" h="2592070">
                    <a:moveTo>
                      <a:pt x="0" y="148082"/>
                    </a:moveTo>
                    <a:cubicBezTo>
                      <a:pt x="0" y="66294"/>
                      <a:pt x="66294" y="0"/>
                      <a:pt x="148082" y="0"/>
                    </a:cubicBezTo>
                    <a:lnTo>
                      <a:pt x="5242052" y="0"/>
                    </a:lnTo>
                    <a:cubicBezTo>
                      <a:pt x="5323840" y="0"/>
                      <a:pt x="5390134" y="66294"/>
                      <a:pt x="5390134" y="148082"/>
                    </a:cubicBezTo>
                    <a:lnTo>
                      <a:pt x="5390134" y="2443988"/>
                    </a:lnTo>
                    <a:cubicBezTo>
                      <a:pt x="5390134" y="2525776"/>
                      <a:pt x="5323840" y="2592070"/>
                      <a:pt x="5242052" y="2592070"/>
                    </a:cubicBezTo>
                    <a:lnTo>
                      <a:pt x="148082" y="2592070"/>
                    </a:lnTo>
                    <a:cubicBezTo>
                      <a:pt x="66294" y="2592070"/>
                      <a:pt x="0" y="2525776"/>
                      <a:pt x="0" y="2443988"/>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48" name="Group 35">
              <a:extLst>
                <a:ext uri="{FF2B5EF4-FFF2-40B4-BE49-F238E27FC236}">
                  <a16:creationId xmlns:a16="http://schemas.microsoft.com/office/drawing/2014/main" id="{64D1A34C-ABBC-4C68-2330-12AE932E439C}"/>
                </a:ext>
              </a:extLst>
            </p:cNvPr>
            <p:cNvGrpSpPr/>
            <p:nvPr/>
          </p:nvGrpSpPr>
          <p:grpSpPr>
            <a:xfrm>
              <a:off x="8728708" y="4135755"/>
              <a:ext cx="3086100" cy="728663"/>
              <a:chOff x="0" y="-57150"/>
              <a:chExt cx="4754880" cy="971550"/>
            </a:xfrm>
          </p:grpSpPr>
          <p:sp>
            <p:nvSpPr>
              <p:cNvPr id="149" name="Freeform 36">
                <a:extLst>
                  <a:ext uri="{FF2B5EF4-FFF2-40B4-BE49-F238E27FC236}">
                    <a16:creationId xmlns:a16="http://schemas.microsoft.com/office/drawing/2014/main" id="{C2EC5B8C-4C99-444B-FB15-6E7DCCCF77E5}"/>
                  </a:ext>
                </a:extLst>
              </p:cNvPr>
              <p:cNvSpPr/>
              <p:nvPr/>
            </p:nvSpPr>
            <p:spPr>
              <a:xfrm>
                <a:off x="0" y="0"/>
                <a:ext cx="4754880" cy="914400"/>
              </a:xfrm>
              <a:custGeom>
                <a:avLst/>
                <a:gdLst/>
                <a:ahLst/>
                <a:cxnLst/>
                <a:rect l="l" t="t" r="r" b="b"/>
                <a:pathLst>
                  <a:path w="4754880" h="914400">
                    <a:moveTo>
                      <a:pt x="0" y="0"/>
                    </a:moveTo>
                    <a:lnTo>
                      <a:pt x="4754880" y="0"/>
                    </a:lnTo>
                    <a:lnTo>
                      <a:pt x="4754880" y="914400"/>
                    </a:lnTo>
                    <a:lnTo>
                      <a:pt x="0" y="914400"/>
                    </a:lnTo>
                    <a:close/>
                  </a:path>
                </a:pathLst>
              </a:custGeom>
              <a:blipFill>
                <a:blip r:embed="rId4">
                  <a:alphaModFix amt="0"/>
                </a:blip>
                <a:stretch>
                  <a:fillRect t="-51322" b="-51322"/>
                </a:stretch>
              </a:blipFill>
            </p:spPr>
            <p:txBody>
              <a:bodyPr/>
              <a:lstStyle/>
              <a:p>
                <a:endParaRPr lang="en-US" sz="4000"/>
              </a:p>
            </p:txBody>
          </p:sp>
          <p:sp>
            <p:nvSpPr>
              <p:cNvPr id="150" name="TextBox 37">
                <a:extLst>
                  <a:ext uri="{FF2B5EF4-FFF2-40B4-BE49-F238E27FC236}">
                    <a16:creationId xmlns:a16="http://schemas.microsoft.com/office/drawing/2014/main" id="{37C34095-8287-D686-BA08-A444AC650CDD}"/>
                  </a:ext>
                </a:extLst>
              </p:cNvPr>
              <p:cNvSpPr txBox="1"/>
              <p:nvPr/>
            </p:nvSpPr>
            <p:spPr>
              <a:xfrm>
                <a:off x="0" y="-57150"/>
                <a:ext cx="4754880" cy="971550"/>
              </a:xfrm>
              <a:prstGeom prst="rect">
                <a:avLst/>
              </a:prstGeom>
            </p:spPr>
            <p:txBody>
              <a:bodyPr lIns="0" tIns="0" rIns="0" bIns="0" rtlCol="0" anchor="ctr"/>
              <a:lstStyle/>
              <a:p>
                <a:pPr algn="l">
                  <a:lnSpc>
                    <a:spcPts val="3240"/>
                  </a:lnSpc>
                </a:pPr>
                <a:r>
                  <a:rPr lang="en-US" sz="4000" b="1">
                    <a:solidFill>
                      <a:srgbClr val="0099D8"/>
                    </a:solidFill>
                    <a:latin typeface="Calibri"/>
                    <a:ea typeface="Calibri (MS) Bold"/>
                    <a:cs typeface="Calibri"/>
                    <a:sym typeface="Calibri (MS) Bold"/>
                  </a:rPr>
                  <a:t>Reframes</a:t>
                </a:r>
              </a:p>
            </p:txBody>
          </p:sp>
        </p:grpSp>
        <p:sp>
          <p:nvSpPr>
            <p:cNvPr id="151" name="TextBox 38">
              <a:extLst>
                <a:ext uri="{FF2B5EF4-FFF2-40B4-BE49-F238E27FC236}">
                  <a16:creationId xmlns:a16="http://schemas.microsoft.com/office/drawing/2014/main" id="{AC17170E-6929-5464-CD8C-51C503D4D2EF}"/>
                </a:ext>
              </a:extLst>
            </p:cNvPr>
            <p:cNvSpPr txBox="1"/>
            <p:nvPr/>
          </p:nvSpPr>
          <p:spPr>
            <a:xfrm>
              <a:off x="8728708" y="4710638"/>
              <a:ext cx="3162300" cy="1107996"/>
            </a:xfrm>
            <a:prstGeom prst="rect">
              <a:avLst/>
            </a:prstGeom>
          </p:spPr>
          <p:txBody>
            <a:bodyPr wrap="square" lIns="0" tIns="0" rIns="0" bIns="0" rtlCol="0" anchor="t">
              <a:spAutoFit/>
            </a:bodyPr>
            <a:lstStyle/>
            <a:p>
              <a:pPr algn="l"/>
              <a:r>
                <a:rPr lang="en-US" sz="2400">
                  <a:solidFill>
                    <a:srgbClr val="66717D"/>
                  </a:solidFill>
                  <a:latin typeface="Calibri"/>
                  <a:ea typeface="Calibri (MS)"/>
                  <a:cs typeface="Calibri"/>
                  <a:sym typeface="Calibri (MS)"/>
                </a:rPr>
                <a:t>the conversation of home internet to be about value and quality</a:t>
              </a:r>
            </a:p>
          </p:txBody>
        </p:sp>
      </p:grpSp>
      <p:sp>
        <p:nvSpPr>
          <p:cNvPr id="80" name="TextBox 8">
            <a:extLst>
              <a:ext uri="{FF2B5EF4-FFF2-40B4-BE49-F238E27FC236}">
                <a16:creationId xmlns:a16="http://schemas.microsoft.com/office/drawing/2014/main" id="{3080F38C-9E7F-8A04-D120-6134B6CDF059}"/>
              </a:ext>
            </a:extLst>
          </p:cNvPr>
          <p:cNvSpPr txBox="1"/>
          <p:nvPr/>
        </p:nvSpPr>
        <p:spPr>
          <a:xfrm>
            <a:off x="754380" y="902431"/>
            <a:ext cx="16733520" cy="584071"/>
          </a:xfrm>
          <a:prstGeom prst="rect">
            <a:avLst/>
          </a:prstGeom>
        </p:spPr>
        <p:txBody>
          <a:bodyPr lIns="0" tIns="0" rIns="0" bIns="0" rtlCol="0" anchor="t">
            <a:spAutoFit/>
          </a:bodyPr>
          <a:lstStyle/>
          <a:p>
            <a:pPr>
              <a:lnSpc>
                <a:spcPts val="4680"/>
              </a:lnSpc>
            </a:pPr>
            <a:r>
              <a:rPr lang="en-US" sz="3900" b="1">
                <a:solidFill>
                  <a:srgbClr val="003057"/>
                </a:solidFill>
                <a:ea typeface="Calibri (MS) Bold"/>
                <a:cs typeface="Calibri"/>
                <a:sym typeface="Calibri (MS) Bold"/>
              </a:rPr>
              <a:t>Charter and EH&amp;B: What this is, does, and means</a:t>
            </a:r>
          </a:p>
        </p:txBody>
      </p:sp>
      <p:grpSp>
        <p:nvGrpSpPr>
          <p:cNvPr id="81" name="Group 20">
            <a:extLst>
              <a:ext uri="{FF2B5EF4-FFF2-40B4-BE49-F238E27FC236}">
                <a16:creationId xmlns:a16="http://schemas.microsoft.com/office/drawing/2014/main" id="{2150173D-94E5-2A16-7F4B-DC0B74F9E9DD}"/>
              </a:ext>
            </a:extLst>
          </p:cNvPr>
          <p:cNvGrpSpPr/>
          <p:nvPr/>
        </p:nvGrpSpPr>
        <p:grpSpPr>
          <a:xfrm>
            <a:off x="754380" y="8475180"/>
            <a:ext cx="16948404" cy="714540"/>
            <a:chOff x="0" y="-28575"/>
            <a:chExt cx="22311361" cy="504063"/>
          </a:xfrm>
        </p:grpSpPr>
        <p:sp>
          <p:nvSpPr>
            <p:cNvPr id="82" name="Freeform 21">
              <a:extLst>
                <a:ext uri="{FF2B5EF4-FFF2-40B4-BE49-F238E27FC236}">
                  <a16:creationId xmlns:a16="http://schemas.microsoft.com/office/drawing/2014/main" id="{C4099B89-4042-C8FE-A848-92C526E80BED}"/>
                </a:ext>
              </a:extLst>
            </p:cNvPr>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4">
                <a:alphaModFix amt="0"/>
              </a:blip>
              <a:stretch>
                <a:fillRect t="-864297" b="-864297"/>
              </a:stretch>
            </a:blipFill>
          </p:spPr>
          <p:txBody>
            <a:bodyPr/>
            <a:lstStyle/>
            <a:p>
              <a:endParaRPr lang="en-US"/>
            </a:p>
          </p:txBody>
        </p:sp>
        <p:sp>
          <p:nvSpPr>
            <p:cNvPr id="83" name="TextBox 22">
              <a:extLst>
                <a:ext uri="{FF2B5EF4-FFF2-40B4-BE49-F238E27FC236}">
                  <a16:creationId xmlns:a16="http://schemas.microsoft.com/office/drawing/2014/main" id="{7B632B03-B902-F7B7-8ED4-0C485531D803}"/>
                </a:ext>
              </a:extLst>
            </p:cNvPr>
            <p:cNvSpPr txBox="1"/>
            <p:nvPr/>
          </p:nvSpPr>
          <p:spPr>
            <a:xfrm>
              <a:off x="0" y="-28575"/>
              <a:ext cx="22311360" cy="504063"/>
            </a:xfrm>
            <a:prstGeom prst="rect">
              <a:avLst/>
            </a:prstGeom>
          </p:spPr>
          <p:txBody>
            <a:bodyPr lIns="0" tIns="0" rIns="0" bIns="0" rtlCol="0" anchor="ctr"/>
            <a:lstStyle/>
            <a:p>
              <a:pPr algn="l">
                <a:lnSpc>
                  <a:spcPct val="100000"/>
                </a:lnSpc>
              </a:pPr>
              <a:r>
                <a:rPr lang="en-US" sz="1275" i="1">
                  <a:solidFill>
                    <a:srgbClr val="66717D"/>
                  </a:solidFill>
                  <a:latin typeface="Calibri"/>
                  <a:ea typeface="Calibri (MS) Italics"/>
                  <a:cs typeface="Calibri"/>
                  <a:sym typeface="Calibri (MS) Italics"/>
                </a:rPr>
                <a:t>Source: 54.1% is Census SUSB 2022, firms with 500 or more employees. −166,000 is residential Internet net adds, Ex99.1, Q2 2026. −$78 million is the Q1 2026 versus Q1 2025 residential Internet bridge in the Form 10-Q: volume −$87M, rate and mix +$9M.</a:t>
              </a:r>
            </a:p>
            <a:p>
              <a:pPr algn="l">
                <a:lnSpc>
                  <a:spcPct val="100000"/>
                </a:lnSpc>
              </a:pPr>
              <a:endParaRPr lang="en-US" sz="1275" i="1">
                <a:solidFill>
                  <a:srgbClr val="66717D"/>
                </a:solidFill>
                <a:latin typeface="Calibri"/>
                <a:ea typeface="Calibri (MS) Italics"/>
                <a:cs typeface="Calibri"/>
                <a:sym typeface="Calibri (MS) Italics"/>
              </a:endParaRPr>
            </a:p>
            <a:p>
              <a:pPr algn="l">
                <a:lnSpc>
                  <a:spcPct val="100000"/>
                </a:lnSpc>
              </a:pPr>
              <a:r>
                <a:rPr lang="en-US" sz="1275" i="1">
                  <a:solidFill>
                    <a:srgbClr val="66717D"/>
                  </a:solidFill>
                  <a:latin typeface="Calibri"/>
                  <a:ea typeface="Calibri (MS) Italics"/>
                  <a:cs typeface="Calibri"/>
                  <a:sym typeface="Calibri (MS) Italics"/>
                </a:rPr>
                <a:t>Source: </a:t>
              </a:r>
              <a:r>
                <a:rPr lang="en-US" sz="1275" i="1" err="1">
                  <a:solidFill>
                    <a:srgbClr val="66717D"/>
                  </a:solidFill>
                  <a:latin typeface="Calibri"/>
                  <a:ea typeface="Calibri (MS) Italics"/>
                  <a:cs typeface="Calibri"/>
                  <a:sym typeface="Calibri (MS) Italics"/>
                </a:rPr>
                <a:t>PlanOptica</a:t>
              </a:r>
              <a:r>
                <a:rPr lang="en-US" sz="1275" i="1">
                  <a:solidFill>
                    <a:srgbClr val="66717D"/>
                  </a:solidFill>
                  <a:latin typeface="Calibri"/>
                  <a:ea typeface="Calibri (MS) Italics"/>
                  <a:cs typeface="Calibri"/>
                  <a:sym typeface="Calibri (MS) Italics"/>
                </a:rPr>
                <a:t> health-and-welfare broker table — Form 5500 compensation filed by plan sponsors with DOL/EBSA</a:t>
              </a:r>
            </a:p>
            <a:p>
              <a:pPr algn="l">
                <a:lnSpc>
                  <a:spcPct val="100000"/>
                </a:lnSpc>
              </a:pPr>
              <a:endParaRPr lang="en-US" sz="1275" i="1">
                <a:solidFill>
                  <a:srgbClr val="66717D"/>
                </a:solidFill>
                <a:latin typeface="Calibri"/>
                <a:ea typeface="Calibri (MS) Italics"/>
                <a:cs typeface="Calibri"/>
                <a:sym typeface="Calibri (MS) Italics"/>
              </a:endParaRPr>
            </a:p>
          </p:txBody>
        </p:sp>
      </p:grpSp>
      <p:grpSp>
        <p:nvGrpSpPr>
          <p:cNvPr id="86" name="Group 57">
            <a:extLst>
              <a:ext uri="{FF2B5EF4-FFF2-40B4-BE49-F238E27FC236}">
                <a16:creationId xmlns:a16="http://schemas.microsoft.com/office/drawing/2014/main" id="{01CED273-E996-A048-8819-BF3F0F9DCBBE}"/>
              </a:ext>
            </a:extLst>
          </p:cNvPr>
          <p:cNvGrpSpPr/>
          <p:nvPr/>
        </p:nvGrpSpPr>
        <p:grpSpPr>
          <a:xfrm>
            <a:off x="744855" y="6243541"/>
            <a:ext cx="11275693" cy="1959714"/>
            <a:chOff x="0" y="0"/>
            <a:chExt cx="22428200" cy="2951480"/>
          </a:xfrm>
        </p:grpSpPr>
        <p:sp>
          <p:nvSpPr>
            <p:cNvPr id="87" name="Freeform 58">
              <a:extLst>
                <a:ext uri="{FF2B5EF4-FFF2-40B4-BE49-F238E27FC236}">
                  <a16:creationId xmlns:a16="http://schemas.microsoft.com/office/drawing/2014/main" id="{58D6EDCB-7CF4-4763-4174-1C67471B6CC5}"/>
                </a:ext>
              </a:extLst>
            </p:cNvPr>
            <p:cNvSpPr/>
            <p:nvPr/>
          </p:nvSpPr>
          <p:spPr>
            <a:xfrm>
              <a:off x="0" y="0"/>
              <a:ext cx="22428200" cy="2951480"/>
            </a:xfrm>
            <a:custGeom>
              <a:avLst/>
              <a:gdLst/>
              <a:ahLst/>
              <a:cxnLst/>
              <a:rect l="l" t="t" r="r" b="b"/>
              <a:pathLst>
                <a:path w="22428200" h="2951480">
                  <a:moveTo>
                    <a:pt x="0" y="147574"/>
                  </a:moveTo>
                  <a:cubicBezTo>
                    <a:pt x="0" y="66040"/>
                    <a:pt x="66040" y="0"/>
                    <a:pt x="147574" y="0"/>
                  </a:cubicBezTo>
                  <a:lnTo>
                    <a:pt x="22280626" y="0"/>
                  </a:lnTo>
                  <a:cubicBezTo>
                    <a:pt x="22362161" y="0"/>
                    <a:pt x="22428200" y="66040"/>
                    <a:pt x="22428200" y="147574"/>
                  </a:cubicBezTo>
                  <a:lnTo>
                    <a:pt x="22428200" y="2803906"/>
                  </a:lnTo>
                  <a:cubicBezTo>
                    <a:pt x="22428200" y="2885440"/>
                    <a:pt x="22362161" y="2951480"/>
                    <a:pt x="22280626" y="2951480"/>
                  </a:cubicBezTo>
                  <a:lnTo>
                    <a:pt x="147574" y="2951480"/>
                  </a:lnTo>
                  <a:cubicBezTo>
                    <a:pt x="66040" y="2951480"/>
                    <a:pt x="0" y="2885440"/>
                    <a:pt x="0" y="2803906"/>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8" name="Group 59">
            <a:extLst>
              <a:ext uri="{FF2B5EF4-FFF2-40B4-BE49-F238E27FC236}">
                <a16:creationId xmlns:a16="http://schemas.microsoft.com/office/drawing/2014/main" id="{A2AD3492-F11D-8E14-62FD-EACFDB676F2F}"/>
              </a:ext>
            </a:extLst>
          </p:cNvPr>
          <p:cNvGrpSpPr/>
          <p:nvPr/>
        </p:nvGrpSpPr>
        <p:grpSpPr>
          <a:xfrm>
            <a:off x="1005841" y="6373111"/>
            <a:ext cx="2741388" cy="661766"/>
            <a:chOff x="-274824" y="-113149"/>
            <a:chExt cx="21671785" cy="477012"/>
          </a:xfrm>
        </p:grpSpPr>
        <p:sp>
          <p:nvSpPr>
            <p:cNvPr id="89" name="Freeform 60">
              <a:extLst>
                <a:ext uri="{FF2B5EF4-FFF2-40B4-BE49-F238E27FC236}">
                  <a16:creationId xmlns:a16="http://schemas.microsoft.com/office/drawing/2014/main" id="{3B72F807-D168-1D59-B836-3D07F2DC327C}"/>
                </a:ext>
              </a:extLst>
            </p:cNvPr>
            <p:cNvSpPr/>
            <p:nvPr/>
          </p:nvSpPr>
          <p:spPr>
            <a:xfrm>
              <a:off x="0" y="1"/>
              <a:ext cx="21396961" cy="317250"/>
            </a:xfrm>
            <a:custGeom>
              <a:avLst/>
              <a:gdLst/>
              <a:ahLst/>
              <a:cxnLst/>
              <a:rect l="l" t="t" r="r" b="b"/>
              <a:pathLst>
                <a:path w="21396961" h="438912">
                  <a:moveTo>
                    <a:pt x="0" y="0"/>
                  </a:moveTo>
                  <a:lnTo>
                    <a:pt x="21396961" y="0"/>
                  </a:lnTo>
                  <a:lnTo>
                    <a:pt x="21396961" y="438912"/>
                  </a:lnTo>
                  <a:lnTo>
                    <a:pt x="0" y="438912"/>
                  </a:lnTo>
                  <a:close/>
                </a:path>
              </a:pathLst>
            </a:custGeom>
            <a:blipFill>
              <a:blip r:embed="rId4">
                <a:alphaModFix amt="0"/>
              </a:blip>
              <a:stretch>
                <a:fillRect t="-899895" b="-899895"/>
              </a:stretch>
            </a:blipFill>
          </p:spPr>
          <p:txBody>
            <a:bodyPr/>
            <a:lstStyle/>
            <a:p>
              <a:endParaRPr lang="en-US" sz="3200"/>
            </a:p>
          </p:txBody>
        </p:sp>
        <p:sp>
          <p:nvSpPr>
            <p:cNvPr id="90" name="TextBox 61">
              <a:extLst>
                <a:ext uri="{FF2B5EF4-FFF2-40B4-BE49-F238E27FC236}">
                  <a16:creationId xmlns:a16="http://schemas.microsoft.com/office/drawing/2014/main" id="{44589B3C-26FB-AF67-B105-6C72E6EB96D7}"/>
                </a:ext>
              </a:extLst>
            </p:cNvPr>
            <p:cNvSpPr txBox="1"/>
            <p:nvPr/>
          </p:nvSpPr>
          <p:spPr>
            <a:xfrm>
              <a:off x="-274824" y="-113149"/>
              <a:ext cx="21396961" cy="477012"/>
            </a:xfrm>
            <a:prstGeom prst="rect">
              <a:avLst/>
            </a:prstGeom>
          </p:spPr>
          <p:txBody>
            <a:bodyPr lIns="0" tIns="0" rIns="0" bIns="0" rtlCol="0" anchor="ctr"/>
            <a:lstStyle/>
            <a:p>
              <a:pPr algn="l">
                <a:lnSpc>
                  <a:spcPts val="1709"/>
                </a:lnSpc>
              </a:pPr>
              <a:r>
                <a:rPr lang="en-US" sz="3600" b="1" spc="225">
                  <a:solidFill>
                    <a:srgbClr val="0099D8"/>
                  </a:solidFill>
                  <a:latin typeface="Calibri"/>
                  <a:ea typeface="Calibri (MS) Bold"/>
                  <a:cs typeface="Calibri"/>
                  <a:sym typeface="Calibri (MS) Bold"/>
                </a:rPr>
                <a:t>THE LOGIC</a:t>
              </a:r>
            </a:p>
          </p:txBody>
        </p:sp>
      </p:grpSp>
      <p:sp>
        <p:nvSpPr>
          <p:cNvPr id="91" name="TextBox 62">
            <a:extLst>
              <a:ext uri="{FF2B5EF4-FFF2-40B4-BE49-F238E27FC236}">
                <a16:creationId xmlns:a16="http://schemas.microsoft.com/office/drawing/2014/main" id="{8B843509-7408-86F8-0927-49B20AD3B615}"/>
              </a:ext>
            </a:extLst>
          </p:cNvPr>
          <p:cNvSpPr txBox="1"/>
          <p:nvPr/>
        </p:nvSpPr>
        <p:spPr>
          <a:xfrm>
            <a:off x="1005841" y="6877403"/>
            <a:ext cx="10820872" cy="1107996"/>
          </a:xfrm>
          <a:prstGeom prst="rect">
            <a:avLst/>
          </a:prstGeom>
        </p:spPr>
        <p:txBody>
          <a:bodyPr wrap="square" lIns="0" tIns="0" rIns="0" bIns="0" rtlCol="0" anchor="t">
            <a:spAutoFit/>
          </a:bodyPr>
          <a:lstStyle/>
          <a:p>
            <a:pPr algn="l"/>
            <a:r>
              <a:rPr lang="en-US" sz="2400">
                <a:solidFill>
                  <a:srgbClr val="5B6672"/>
                </a:solidFill>
                <a:latin typeface="Calibri"/>
                <a:ea typeface="Calibri (MS)"/>
                <a:cs typeface="Calibri"/>
                <a:sym typeface="Calibri (MS)"/>
              </a:rPr>
              <a:t>Charter can add residential internet accounts on its existing network through employers who are less price-sensitive. Success means a net-new billed residential internet account on Charter’s existing network that survives the employee’s departure.</a:t>
            </a:r>
          </a:p>
        </p:txBody>
      </p:sp>
      <p:grpSp>
        <p:nvGrpSpPr>
          <p:cNvPr id="92" name="Group 91">
            <a:extLst>
              <a:ext uri="{FF2B5EF4-FFF2-40B4-BE49-F238E27FC236}">
                <a16:creationId xmlns:a16="http://schemas.microsoft.com/office/drawing/2014/main" id="{948A87A5-A4D3-4A2B-14B2-A15FBBEEAA9F}"/>
              </a:ext>
            </a:extLst>
          </p:cNvPr>
          <p:cNvGrpSpPr/>
          <p:nvPr/>
        </p:nvGrpSpPr>
        <p:grpSpPr>
          <a:xfrm>
            <a:off x="13393882" y="1953125"/>
            <a:ext cx="3888277" cy="5631711"/>
            <a:chOff x="9806940" y="2268705"/>
            <a:chExt cx="3888277" cy="5631711"/>
          </a:xfrm>
        </p:grpSpPr>
        <p:sp>
          <p:nvSpPr>
            <p:cNvPr id="93" name="Rounded Rectangle 26">
              <a:extLst>
                <a:ext uri="{FF2B5EF4-FFF2-40B4-BE49-F238E27FC236}">
                  <a16:creationId xmlns:a16="http://schemas.microsoft.com/office/drawing/2014/main" id="{6B929B4C-BBEA-0BA3-CE61-2644E81B603F}"/>
                </a:ext>
              </a:extLst>
            </p:cNvPr>
            <p:cNvSpPr/>
            <p:nvPr/>
          </p:nvSpPr>
          <p:spPr>
            <a:xfrm>
              <a:off x="9806940" y="2334536"/>
              <a:ext cx="3888277" cy="5565880"/>
            </a:xfrm>
            <a:prstGeom prst="roundRect">
              <a:avLst>
                <a:gd name="adj" fmla="val 8000"/>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3">
              <a:extLst>
                <a:ext uri="{FF2B5EF4-FFF2-40B4-BE49-F238E27FC236}">
                  <a16:creationId xmlns:a16="http://schemas.microsoft.com/office/drawing/2014/main" id="{C1F08F43-4071-10DF-DB13-34B61CE6CCC4}"/>
                </a:ext>
              </a:extLst>
            </p:cNvPr>
            <p:cNvSpPr txBox="1"/>
            <p:nvPr/>
          </p:nvSpPr>
          <p:spPr>
            <a:xfrm>
              <a:off x="10005363" y="2268705"/>
              <a:ext cx="3481640" cy="848385"/>
            </a:xfrm>
            <a:prstGeom prst="rect">
              <a:avLst/>
            </a:prstGeom>
            <a:noFill/>
          </p:spPr>
          <p:txBody>
            <a:bodyPr wrap="square" lIns="0" tIns="0" rIns="0" bIns="0" anchor="b"/>
            <a:lstStyle/>
            <a:p>
              <a:r>
                <a:rPr lang="en-US" sz="4000" b="1">
                  <a:solidFill>
                    <a:srgbClr val="0072CE"/>
                  </a:solidFill>
                  <a:latin typeface="Calibri"/>
                </a:rPr>
                <a:t>INSIDE THE </a:t>
              </a:r>
              <a:r>
                <a:rPr sz="4000" b="1">
                  <a:solidFill>
                    <a:srgbClr val="0072CE"/>
                  </a:solidFill>
                  <a:latin typeface="Calibri"/>
                </a:rPr>
                <a:t>44%</a:t>
              </a:r>
            </a:p>
          </p:txBody>
        </p:sp>
        <p:sp>
          <p:nvSpPr>
            <p:cNvPr id="95" name="TextBox 94">
              <a:extLst>
                <a:ext uri="{FF2B5EF4-FFF2-40B4-BE49-F238E27FC236}">
                  <a16:creationId xmlns:a16="http://schemas.microsoft.com/office/drawing/2014/main" id="{D52C5F63-B718-104B-35CB-0A80F8AD08DC}"/>
                </a:ext>
              </a:extLst>
            </p:cNvPr>
            <p:cNvSpPr txBox="1"/>
            <p:nvPr/>
          </p:nvSpPr>
          <p:spPr>
            <a:xfrm>
              <a:off x="10015025" y="3069355"/>
              <a:ext cx="3670401" cy="384048"/>
            </a:xfrm>
            <a:prstGeom prst="rect">
              <a:avLst/>
            </a:prstGeom>
            <a:noFill/>
          </p:spPr>
          <p:txBody>
            <a:bodyPr wrap="square" lIns="0" tIns="0" rIns="0" bIns="0" anchor="t"/>
            <a:lstStyle/>
            <a:p>
              <a:r>
                <a:rPr lang="en-US">
                  <a:solidFill>
                    <a:srgbClr val="5B6672"/>
                  </a:solidFill>
                  <a:latin typeface="Calibri"/>
                </a:rPr>
                <a:t>Filing-name share of the EH&amp;B market by dollar percentage</a:t>
              </a:r>
              <a:endParaRPr>
                <a:solidFill>
                  <a:srgbClr val="5B6672"/>
                </a:solidFill>
                <a:latin typeface="Calibri"/>
              </a:endParaRPr>
            </a:p>
          </p:txBody>
        </p:sp>
        <p:sp>
          <p:nvSpPr>
            <p:cNvPr id="96" name="TextBox 95">
              <a:extLst>
                <a:ext uri="{FF2B5EF4-FFF2-40B4-BE49-F238E27FC236}">
                  <a16:creationId xmlns:a16="http://schemas.microsoft.com/office/drawing/2014/main" id="{3747A5E0-B262-44D0-4539-1E280A33A6A3}"/>
                </a:ext>
              </a:extLst>
            </p:cNvPr>
            <p:cNvSpPr txBox="1"/>
            <p:nvPr/>
          </p:nvSpPr>
          <p:spPr>
            <a:xfrm>
              <a:off x="10081260" y="3632333"/>
              <a:ext cx="3506881" cy="356281"/>
            </a:xfrm>
            <a:prstGeom prst="rect">
              <a:avLst/>
            </a:prstGeom>
            <a:noFill/>
          </p:spPr>
          <p:txBody>
            <a:bodyPr wrap="square" lIns="0" tIns="0" rIns="0" bIns="0" anchor="ctr"/>
            <a:lstStyle/>
            <a:p>
              <a:r>
                <a:rPr sz="1950">
                  <a:solidFill>
                    <a:srgbClr val="0B1F3A"/>
                  </a:solidFill>
                  <a:latin typeface="Calibri"/>
                </a:rPr>
                <a:t>Marsh McLennan Agency</a:t>
              </a:r>
            </a:p>
          </p:txBody>
        </p:sp>
        <p:sp>
          <p:nvSpPr>
            <p:cNvPr id="97" name="TextBox 96">
              <a:extLst>
                <a:ext uri="{FF2B5EF4-FFF2-40B4-BE49-F238E27FC236}">
                  <a16:creationId xmlns:a16="http://schemas.microsoft.com/office/drawing/2014/main" id="{A1853F50-3BD0-9917-59C4-43A3537C4204}"/>
                </a:ext>
              </a:extLst>
            </p:cNvPr>
            <p:cNvSpPr txBox="1"/>
            <p:nvPr/>
          </p:nvSpPr>
          <p:spPr>
            <a:xfrm>
              <a:off x="12423554" y="3648457"/>
              <a:ext cx="987552" cy="340157"/>
            </a:xfrm>
            <a:prstGeom prst="rect">
              <a:avLst/>
            </a:prstGeom>
            <a:noFill/>
          </p:spPr>
          <p:txBody>
            <a:bodyPr wrap="square" lIns="0" tIns="0" rIns="0" bIns="0" anchor="ctr"/>
            <a:lstStyle/>
            <a:p>
              <a:pPr algn="r"/>
              <a:r>
                <a:rPr sz="1950" b="1">
                  <a:solidFill>
                    <a:srgbClr val="0B1F3A"/>
                  </a:solidFill>
                  <a:latin typeface="Calibri"/>
                </a:rPr>
                <a:t>7.1%</a:t>
              </a:r>
            </a:p>
          </p:txBody>
        </p:sp>
        <p:sp>
          <p:nvSpPr>
            <p:cNvPr id="98" name="TextBox 97">
              <a:extLst>
                <a:ext uri="{FF2B5EF4-FFF2-40B4-BE49-F238E27FC236}">
                  <a16:creationId xmlns:a16="http://schemas.microsoft.com/office/drawing/2014/main" id="{A75219FB-58C3-B6B3-BE95-55AEE433F484}"/>
                </a:ext>
              </a:extLst>
            </p:cNvPr>
            <p:cNvSpPr txBox="1"/>
            <p:nvPr/>
          </p:nvSpPr>
          <p:spPr>
            <a:xfrm>
              <a:off x="10061407" y="3947217"/>
              <a:ext cx="3506881" cy="394682"/>
            </a:xfrm>
            <a:prstGeom prst="rect">
              <a:avLst/>
            </a:prstGeom>
            <a:noFill/>
          </p:spPr>
          <p:txBody>
            <a:bodyPr wrap="square" lIns="0" tIns="0" rIns="0" bIns="0" anchor="ctr"/>
            <a:lstStyle/>
            <a:p>
              <a:r>
                <a:rPr sz="1950">
                  <a:solidFill>
                    <a:srgbClr val="0B1F3A"/>
                  </a:solidFill>
                  <a:latin typeface="Calibri"/>
                </a:rPr>
                <a:t>Gallagher Benefit</a:t>
              </a:r>
            </a:p>
          </p:txBody>
        </p:sp>
        <p:sp>
          <p:nvSpPr>
            <p:cNvPr id="99" name="TextBox 98">
              <a:extLst>
                <a:ext uri="{FF2B5EF4-FFF2-40B4-BE49-F238E27FC236}">
                  <a16:creationId xmlns:a16="http://schemas.microsoft.com/office/drawing/2014/main" id="{0B8CC663-3B7C-E82B-9413-CD5A092670D4}"/>
                </a:ext>
              </a:extLst>
            </p:cNvPr>
            <p:cNvSpPr txBox="1"/>
            <p:nvPr/>
          </p:nvSpPr>
          <p:spPr>
            <a:xfrm>
              <a:off x="12423554" y="3988613"/>
              <a:ext cx="987552" cy="340157"/>
            </a:xfrm>
            <a:prstGeom prst="rect">
              <a:avLst/>
            </a:prstGeom>
            <a:noFill/>
          </p:spPr>
          <p:txBody>
            <a:bodyPr wrap="square" lIns="0" tIns="0" rIns="0" bIns="0" anchor="ctr"/>
            <a:lstStyle/>
            <a:p>
              <a:pPr algn="r"/>
              <a:r>
                <a:rPr sz="1950" b="1">
                  <a:solidFill>
                    <a:srgbClr val="0B1F3A"/>
                  </a:solidFill>
                  <a:latin typeface="Calibri"/>
                </a:rPr>
                <a:t>5.9%</a:t>
              </a:r>
            </a:p>
          </p:txBody>
        </p:sp>
        <p:sp>
          <p:nvSpPr>
            <p:cNvPr id="100" name="TextBox 99">
              <a:extLst>
                <a:ext uri="{FF2B5EF4-FFF2-40B4-BE49-F238E27FC236}">
                  <a16:creationId xmlns:a16="http://schemas.microsoft.com/office/drawing/2014/main" id="{47610860-456E-2D6E-4C8C-534F5472548A}"/>
                </a:ext>
              </a:extLst>
            </p:cNvPr>
            <p:cNvSpPr txBox="1"/>
            <p:nvPr/>
          </p:nvSpPr>
          <p:spPr>
            <a:xfrm>
              <a:off x="10081260" y="4334770"/>
              <a:ext cx="3493547" cy="334158"/>
            </a:xfrm>
            <a:prstGeom prst="rect">
              <a:avLst/>
            </a:prstGeom>
            <a:noFill/>
          </p:spPr>
          <p:txBody>
            <a:bodyPr wrap="square" lIns="0" tIns="0" rIns="0" bIns="0" anchor="ctr"/>
            <a:lstStyle/>
            <a:p>
              <a:r>
                <a:rPr sz="1950">
                  <a:solidFill>
                    <a:srgbClr val="0B1F3A"/>
                  </a:solidFill>
                  <a:latin typeface="Calibri"/>
                </a:rPr>
                <a:t>Lockton</a:t>
              </a:r>
            </a:p>
          </p:txBody>
        </p:sp>
        <p:sp>
          <p:nvSpPr>
            <p:cNvPr id="101" name="TextBox 100">
              <a:extLst>
                <a:ext uri="{FF2B5EF4-FFF2-40B4-BE49-F238E27FC236}">
                  <a16:creationId xmlns:a16="http://schemas.microsoft.com/office/drawing/2014/main" id="{80D4123A-3F36-8885-5D8E-F017861D8F8E}"/>
                </a:ext>
              </a:extLst>
            </p:cNvPr>
            <p:cNvSpPr txBox="1"/>
            <p:nvPr/>
          </p:nvSpPr>
          <p:spPr>
            <a:xfrm>
              <a:off x="12423554" y="4328770"/>
              <a:ext cx="987552" cy="340157"/>
            </a:xfrm>
            <a:prstGeom prst="rect">
              <a:avLst/>
            </a:prstGeom>
            <a:noFill/>
          </p:spPr>
          <p:txBody>
            <a:bodyPr wrap="square" lIns="0" tIns="0" rIns="0" bIns="0" anchor="ctr"/>
            <a:lstStyle/>
            <a:p>
              <a:pPr algn="r"/>
              <a:r>
                <a:rPr sz="1950" b="1">
                  <a:solidFill>
                    <a:srgbClr val="0B1F3A"/>
                  </a:solidFill>
                  <a:latin typeface="Calibri"/>
                </a:rPr>
                <a:t>5.8%</a:t>
              </a:r>
            </a:p>
          </p:txBody>
        </p:sp>
        <p:sp>
          <p:nvSpPr>
            <p:cNvPr id="102" name="TextBox 101">
              <a:extLst>
                <a:ext uri="{FF2B5EF4-FFF2-40B4-BE49-F238E27FC236}">
                  <a16:creationId xmlns:a16="http://schemas.microsoft.com/office/drawing/2014/main" id="{312BE120-989F-EBB9-E469-7DB35296EE7B}"/>
                </a:ext>
              </a:extLst>
            </p:cNvPr>
            <p:cNvSpPr txBox="1"/>
            <p:nvPr/>
          </p:nvSpPr>
          <p:spPr>
            <a:xfrm>
              <a:off x="10081260" y="4638586"/>
              <a:ext cx="3575683" cy="370498"/>
            </a:xfrm>
            <a:prstGeom prst="rect">
              <a:avLst/>
            </a:prstGeom>
            <a:noFill/>
          </p:spPr>
          <p:txBody>
            <a:bodyPr wrap="square" lIns="0" tIns="0" rIns="0" bIns="0" anchor="ctr"/>
            <a:lstStyle/>
            <a:p>
              <a:r>
                <a:rPr sz="1950">
                  <a:solidFill>
                    <a:srgbClr val="0B1F3A"/>
                  </a:solidFill>
                  <a:latin typeface="Calibri"/>
                </a:rPr>
                <a:t>Mercer Health</a:t>
              </a:r>
            </a:p>
          </p:txBody>
        </p:sp>
        <p:sp>
          <p:nvSpPr>
            <p:cNvPr id="103" name="TextBox 102">
              <a:extLst>
                <a:ext uri="{FF2B5EF4-FFF2-40B4-BE49-F238E27FC236}">
                  <a16:creationId xmlns:a16="http://schemas.microsoft.com/office/drawing/2014/main" id="{76435003-AEC2-DD00-5F9C-9F04BEF11ECA}"/>
                </a:ext>
              </a:extLst>
            </p:cNvPr>
            <p:cNvSpPr txBox="1"/>
            <p:nvPr/>
          </p:nvSpPr>
          <p:spPr>
            <a:xfrm>
              <a:off x="12423554" y="4668926"/>
              <a:ext cx="987552" cy="340157"/>
            </a:xfrm>
            <a:prstGeom prst="rect">
              <a:avLst/>
            </a:prstGeom>
            <a:noFill/>
          </p:spPr>
          <p:txBody>
            <a:bodyPr wrap="square" lIns="0" tIns="0" rIns="0" bIns="0" anchor="ctr"/>
            <a:lstStyle/>
            <a:p>
              <a:pPr algn="r"/>
              <a:r>
                <a:rPr sz="1950" b="1">
                  <a:solidFill>
                    <a:srgbClr val="0B1F3A"/>
                  </a:solidFill>
                  <a:latin typeface="Calibri"/>
                </a:rPr>
                <a:t>5.0%</a:t>
              </a:r>
            </a:p>
          </p:txBody>
        </p:sp>
        <p:sp>
          <p:nvSpPr>
            <p:cNvPr id="104" name="TextBox 103">
              <a:extLst>
                <a:ext uri="{FF2B5EF4-FFF2-40B4-BE49-F238E27FC236}">
                  <a16:creationId xmlns:a16="http://schemas.microsoft.com/office/drawing/2014/main" id="{6B7B6625-B456-09D5-9F3F-DEAB9EA6ADD4}"/>
                </a:ext>
              </a:extLst>
            </p:cNvPr>
            <p:cNvSpPr txBox="1"/>
            <p:nvPr/>
          </p:nvSpPr>
          <p:spPr>
            <a:xfrm>
              <a:off x="10081260" y="5015084"/>
              <a:ext cx="3506881" cy="333132"/>
            </a:xfrm>
            <a:prstGeom prst="rect">
              <a:avLst/>
            </a:prstGeom>
            <a:noFill/>
          </p:spPr>
          <p:txBody>
            <a:bodyPr wrap="square" lIns="0" tIns="0" rIns="0" bIns="0" anchor="ctr"/>
            <a:lstStyle/>
            <a:p>
              <a:r>
                <a:rPr sz="1950">
                  <a:solidFill>
                    <a:srgbClr val="0B1F3A"/>
                  </a:solidFill>
                  <a:latin typeface="Calibri"/>
                </a:rPr>
                <a:t>USI</a:t>
              </a:r>
            </a:p>
          </p:txBody>
        </p:sp>
        <p:sp>
          <p:nvSpPr>
            <p:cNvPr id="105" name="TextBox 104">
              <a:extLst>
                <a:ext uri="{FF2B5EF4-FFF2-40B4-BE49-F238E27FC236}">
                  <a16:creationId xmlns:a16="http://schemas.microsoft.com/office/drawing/2014/main" id="{66D2E6B5-B0FD-5B5B-0FFA-6495405B8F6E}"/>
                </a:ext>
              </a:extLst>
            </p:cNvPr>
            <p:cNvSpPr txBox="1"/>
            <p:nvPr/>
          </p:nvSpPr>
          <p:spPr>
            <a:xfrm>
              <a:off x="12423554" y="5009083"/>
              <a:ext cx="987552" cy="340157"/>
            </a:xfrm>
            <a:prstGeom prst="rect">
              <a:avLst/>
            </a:prstGeom>
            <a:noFill/>
          </p:spPr>
          <p:txBody>
            <a:bodyPr wrap="square" lIns="0" tIns="0" rIns="0" bIns="0" anchor="ctr"/>
            <a:lstStyle/>
            <a:p>
              <a:pPr algn="r"/>
              <a:r>
                <a:rPr sz="1950" b="1">
                  <a:solidFill>
                    <a:srgbClr val="0B1F3A"/>
                  </a:solidFill>
                  <a:latin typeface="Calibri"/>
                </a:rPr>
                <a:t>4.3%</a:t>
              </a:r>
            </a:p>
          </p:txBody>
        </p:sp>
        <p:sp>
          <p:nvSpPr>
            <p:cNvPr id="106" name="TextBox 105">
              <a:extLst>
                <a:ext uri="{FF2B5EF4-FFF2-40B4-BE49-F238E27FC236}">
                  <a16:creationId xmlns:a16="http://schemas.microsoft.com/office/drawing/2014/main" id="{A2A9FF8C-896D-C514-AE02-368E095EDB58}"/>
                </a:ext>
              </a:extLst>
            </p:cNvPr>
            <p:cNvSpPr txBox="1"/>
            <p:nvPr/>
          </p:nvSpPr>
          <p:spPr>
            <a:xfrm>
              <a:off x="10081260" y="5311177"/>
              <a:ext cx="3493547" cy="378219"/>
            </a:xfrm>
            <a:prstGeom prst="rect">
              <a:avLst/>
            </a:prstGeom>
            <a:noFill/>
          </p:spPr>
          <p:txBody>
            <a:bodyPr wrap="square" lIns="0" tIns="0" rIns="0" bIns="0" anchor="ctr"/>
            <a:lstStyle/>
            <a:p>
              <a:r>
                <a:rPr sz="1950">
                  <a:solidFill>
                    <a:srgbClr val="0B1F3A"/>
                  </a:solidFill>
                  <a:latin typeface="Calibri"/>
                </a:rPr>
                <a:t>WTW US</a:t>
              </a:r>
            </a:p>
          </p:txBody>
        </p:sp>
        <p:sp>
          <p:nvSpPr>
            <p:cNvPr id="107" name="TextBox 106">
              <a:extLst>
                <a:ext uri="{FF2B5EF4-FFF2-40B4-BE49-F238E27FC236}">
                  <a16:creationId xmlns:a16="http://schemas.microsoft.com/office/drawing/2014/main" id="{25B4261D-5831-454D-D2BB-0E0D8E007298}"/>
                </a:ext>
              </a:extLst>
            </p:cNvPr>
            <p:cNvSpPr txBox="1"/>
            <p:nvPr/>
          </p:nvSpPr>
          <p:spPr>
            <a:xfrm>
              <a:off x="12423554" y="5349239"/>
              <a:ext cx="987552" cy="340157"/>
            </a:xfrm>
            <a:prstGeom prst="rect">
              <a:avLst/>
            </a:prstGeom>
            <a:noFill/>
          </p:spPr>
          <p:txBody>
            <a:bodyPr wrap="square" lIns="0" tIns="0" rIns="0" bIns="0" anchor="ctr"/>
            <a:lstStyle/>
            <a:p>
              <a:pPr algn="r"/>
              <a:r>
                <a:rPr sz="1950" b="1">
                  <a:solidFill>
                    <a:srgbClr val="0B1F3A"/>
                  </a:solidFill>
                  <a:latin typeface="Calibri"/>
                </a:rPr>
                <a:t>4.3%</a:t>
              </a:r>
            </a:p>
          </p:txBody>
        </p:sp>
        <p:sp>
          <p:nvSpPr>
            <p:cNvPr id="108" name="TextBox 107">
              <a:extLst>
                <a:ext uri="{FF2B5EF4-FFF2-40B4-BE49-F238E27FC236}">
                  <a16:creationId xmlns:a16="http://schemas.microsoft.com/office/drawing/2014/main" id="{6829EBAE-0EBD-7CE3-BC5C-F36B994F3B5F}"/>
                </a:ext>
              </a:extLst>
            </p:cNvPr>
            <p:cNvSpPr txBox="1"/>
            <p:nvPr/>
          </p:nvSpPr>
          <p:spPr>
            <a:xfrm>
              <a:off x="10081261" y="5661964"/>
              <a:ext cx="3493546" cy="367590"/>
            </a:xfrm>
            <a:prstGeom prst="rect">
              <a:avLst/>
            </a:prstGeom>
            <a:noFill/>
          </p:spPr>
          <p:txBody>
            <a:bodyPr wrap="square" lIns="0" tIns="0" rIns="0" bIns="0" anchor="ctr"/>
            <a:lstStyle/>
            <a:p>
              <a:r>
                <a:rPr sz="1950">
                  <a:solidFill>
                    <a:srgbClr val="0B1F3A"/>
                  </a:solidFill>
                  <a:latin typeface="Calibri"/>
                </a:rPr>
                <a:t>Hub Midwest</a:t>
              </a:r>
            </a:p>
          </p:txBody>
        </p:sp>
        <p:sp>
          <p:nvSpPr>
            <p:cNvPr id="109" name="TextBox 108">
              <a:extLst>
                <a:ext uri="{FF2B5EF4-FFF2-40B4-BE49-F238E27FC236}">
                  <a16:creationId xmlns:a16="http://schemas.microsoft.com/office/drawing/2014/main" id="{A11005DD-4E86-7433-DBD5-75DF6DFAEB44}"/>
                </a:ext>
              </a:extLst>
            </p:cNvPr>
            <p:cNvSpPr txBox="1"/>
            <p:nvPr/>
          </p:nvSpPr>
          <p:spPr>
            <a:xfrm>
              <a:off x="12423554" y="5689396"/>
              <a:ext cx="987552" cy="340157"/>
            </a:xfrm>
            <a:prstGeom prst="rect">
              <a:avLst/>
            </a:prstGeom>
            <a:noFill/>
          </p:spPr>
          <p:txBody>
            <a:bodyPr wrap="square" lIns="0" tIns="0" rIns="0" bIns="0" anchor="ctr"/>
            <a:lstStyle/>
            <a:p>
              <a:pPr algn="r"/>
              <a:r>
                <a:rPr sz="1950" b="1">
                  <a:solidFill>
                    <a:srgbClr val="0B1F3A"/>
                  </a:solidFill>
                  <a:latin typeface="Calibri"/>
                </a:rPr>
                <a:t>4.1%</a:t>
              </a:r>
            </a:p>
          </p:txBody>
        </p:sp>
        <p:sp>
          <p:nvSpPr>
            <p:cNvPr id="110" name="TextBox 109">
              <a:extLst>
                <a:ext uri="{FF2B5EF4-FFF2-40B4-BE49-F238E27FC236}">
                  <a16:creationId xmlns:a16="http://schemas.microsoft.com/office/drawing/2014/main" id="{EDE8977F-94D2-8439-658A-69ED103BD70C}"/>
                </a:ext>
              </a:extLst>
            </p:cNvPr>
            <p:cNvSpPr txBox="1"/>
            <p:nvPr/>
          </p:nvSpPr>
          <p:spPr>
            <a:xfrm>
              <a:off x="10081260" y="6029552"/>
              <a:ext cx="3438301" cy="340157"/>
            </a:xfrm>
            <a:prstGeom prst="rect">
              <a:avLst/>
            </a:prstGeom>
            <a:noFill/>
          </p:spPr>
          <p:txBody>
            <a:bodyPr wrap="square" lIns="0" tIns="0" rIns="0" bIns="0" anchor="ctr"/>
            <a:lstStyle/>
            <a:p>
              <a:r>
                <a:rPr sz="1950">
                  <a:solidFill>
                    <a:srgbClr val="0B1F3A"/>
                  </a:solidFill>
                  <a:latin typeface="Calibri"/>
                </a:rPr>
                <a:t>Aon Consulting</a:t>
              </a:r>
            </a:p>
          </p:txBody>
        </p:sp>
        <p:sp>
          <p:nvSpPr>
            <p:cNvPr id="111" name="TextBox 110">
              <a:extLst>
                <a:ext uri="{FF2B5EF4-FFF2-40B4-BE49-F238E27FC236}">
                  <a16:creationId xmlns:a16="http://schemas.microsoft.com/office/drawing/2014/main" id="{FB91609C-1795-6B35-B624-C75EF3211ED3}"/>
                </a:ext>
              </a:extLst>
            </p:cNvPr>
            <p:cNvSpPr txBox="1"/>
            <p:nvPr/>
          </p:nvSpPr>
          <p:spPr>
            <a:xfrm>
              <a:off x="12423554" y="6029552"/>
              <a:ext cx="987552" cy="340157"/>
            </a:xfrm>
            <a:prstGeom prst="rect">
              <a:avLst/>
            </a:prstGeom>
            <a:noFill/>
          </p:spPr>
          <p:txBody>
            <a:bodyPr wrap="square" lIns="0" tIns="0" rIns="0" bIns="0" anchor="ctr"/>
            <a:lstStyle/>
            <a:p>
              <a:pPr algn="r"/>
              <a:r>
                <a:rPr sz="1950" b="1">
                  <a:solidFill>
                    <a:srgbClr val="0B1F3A"/>
                  </a:solidFill>
                  <a:latin typeface="Calibri"/>
                </a:rPr>
                <a:t>2.8%</a:t>
              </a:r>
            </a:p>
          </p:txBody>
        </p:sp>
        <p:sp>
          <p:nvSpPr>
            <p:cNvPr id="112" name="TextBox 111">
              <a:extLst>
                <a:ext uri="{FF2B5EF4-FFF2-40B4-BE49-F238E27FC236}">
                  <a16:creationId xmlns:a16="http://schemas.microsoft.com/office/drawing/2014/main" id="{C30E56AE-804A-546A-B54F-1B7E1A30CD53}"/>
                </a:ext>
              </a:extLst>
            </p:cNvPr>
            <p:cNvSpPr txBox="1"/>
            <p:nvPr/>
          </p:nvSpPr>
          <p:spPr>
            <a:xfrm>
              <a:off x="10081260" y="6380341"/>
              <a:ext cx="3438301" cy="329525"/>
            </a:xfrm>
            <a:prstGeom prst="rect">
              <a:avLst/>
            </a:prstGeom>
            <a:noFill/>
          </p:spPr>
          <p:txBody>
            <a:bodyPr wrap="square" lIns="0" tIns="0" rIns="0" bIns="0" anchor="ctr"/>
            <a:lstStyle/>
            <a:p>
              <a:r>
                <a:rPr sz="1950">
                  <a:solidFill>
                    <a:srgbClr val="0B1F3A"/>
                  </a:solidFill>
                  <a:latin typeface="Calibri"/>
                </a:rPr>
                <a:t>Alliant</a:t>
              </a:r>
            </a:p>
          </p:txBody>
        </p:sp>
        <p:sp>
          <p:nvSpPr>
            <p:cNvPr id="113" name="TextBox 112">
              <a:extLst>
                <a:ext uri="{FF2B5EF4-FFF2-40B4-BE49-F238E27FC236}">
                  <a16:creationId xmlns:a16="http://schemas.microsoft.com/office/drawing/2014/main" id="{0639A6C7-9BD5-7C58-8368-9497DC1D8208}"/>
                </a:ext>
              </a:extLst>
            </p:cNvPr>
            <p:cNvSpPr txBox="1"/>
            <p:nvPr/>
          </p:nvSpPr>
          <p:spPr>
            <a:xfrm>
              <a:off x="12423554" y="6369709"/>
              <a:ext cx="987552" cy="340157"/>
            </a:xfrm>
            <a:prstGeom prst="rect">
              <a:avLst/>
            </a:prstGeom>
            <a:noFill/>
          </p:spPr>
          <p:txBody>
            <a:bodyPr wrap="square" lIns="0" tIns="0" rIns="0" bIns="0" anchor="ctr"/>
            <a:lstStyle/>
            <a:p>
              <a:pPr algn="r"/>
              <a:r>
                <a:rPr sz="1950" b="1">
                  <a:solidFill>
                    <a:srgbClr val="0B1F3A"/>
                  </a:solidFill>
                  <a:latin typeface="Calibri"/>
                </a:rPr>
                <a:t>2.5%</a:t>
              </a:r>
            </a:p>
          </p:txBody>
        </p:sp>
        <p:sp>
          <p:nvSpPr>
            <p:cNvPr id="114" name="TextBox 113">
              <a:extLst>
                <a:ext uri="{FF2B5EF4-FFF2-40B4-BE49-F238E27FC236}">
                  <a16:creationId xmlns:a16="http://schemas.microsoft.com/office/drawing/2014/main" id="{D9002863-5D01-8424-1B9A-55841A107230}"/>
                </a:ext>
              </a:extLst>
            </p:cNvPr>
            <p:cNvSpPr txBox="1"/>
            <p:nvPr/>
          </p:nvSpPr>
          <p:spPr>
            <a:xfrm>
              <a:off x="10081260" y="6699234"/>
              <a:ext cx="3506881" cy="350788"/>
            </a:xfrm>
            <a:prstGeom prst="rect">
              <a:avLst/>
            </a:prstGeom>
            <a:noFill/>
          </p:spPr>
          <p:txBody>
            <a:bodyPr wrap="square" lIns="0" tIns="0" rIns="0" bIns="0" anchor="ctr"/>
            <a:lstStyle/>
            <a:p>
              <a:r>
                <a:rPr sz="1950">
                  <a:solidFill>
                    <a:srgbClr val="0B1F3A"/>
                  </a:solidFill>
                  <a:latin typeface="Calibri"/>
                </a:rPr>
                <a:t>Brown &amp; Brown</a:t>
              </a:r>
            </a:p>
          </p:txBody>
        </p:sp>
        <p:sp>
          <p:nvSpPr>
            <p:cNvPr id="115" name="TextBox 114">
              <a:extLst>
                <a:ext uri="{FF2B5EF4-FFF2-40B4-BE49-F238E27FC236}">
                  <a16:creationId xmlns:a16="http://schemas.microsoft.com/office/drawing/2014/main" id="{91902443-943C-C9E9-CB2E-7CC923472256}"/>
                </a:ext>
              </a:extLst>
            </p:cNvPr>
            <p:cNvSpPr txBox="1"/>
            <p:nvPr/>
          </p:nvSpPr>
          <p:spPr>
            <a:xfrm>
              <a:off x="12423554" y="6709865"/>
              <a:ext cx="987552" cy="340157"/>
            </a:xfrm>
            <a:prstGeom prst="rect">
              <a:avLst/>
            </a:prstGeom>
            <a:noFill/>
          </p:spPr>
          <p:txBody>
            <a:bodyPr wrap="square" lIns="0" tIns="0" rIns="0" bIns="0" anchor="ctr"/>
            <a:lstStyle/>
            <a:p>
              <a:pPr algn="r"/>
              <a:r>
                <a:rPr sz="1950" b="1">
                  <a:solidFill>
                    <a:srgbClr val="0B1F3A"/>
                  </a:solidFill>
                  <a:latin typeface="Calibri"/>
                </a:rPr>
                <a:t>2.2%</a:t>
              </a:r>
            </a:p>
          </p:txBody>
        </p:sp>
        <p:sp>
          <p:nvSpPr>
            <p:cNvPr id="116" name="Rectangle 115">
              <a:extLst>
                <a:ext uri="{FF2B5EF4-FFF2-40B4-BE49-F238E27FC236}">
                  <a16:creationId xmlns:a16="http://schemas.microsoft.com/office/drawing/2014/main" id="{86B27B7B-0DED-0883-D2B9-6250FF170875}"/>
                </a:ext>
              </a:extLst>
            </p:cNvPr>
            <p:cNvSpPr/>
            <p:nvPr/>
          </p:nvSpPr>
          <p:spPr>
            <a:xfrm>
              <a:off x="10081260" y="7132317"/>
              <a:ext cx="3329846" cy="45719"/>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TextBox 116">
              <a:extLst>
                <a:ext uri="{FF2B5EF4-FFF2-40B4-BE49-F238E27FC236}">
                  <a16:creationId xmlns:a16="http://schemas.microsoft.com/office/drawing/2014/main" id="{705CF78E-F505-5471-7556-B47DDE6134E9}"/>
                </a:ext>
              </a:extLst>
            </p:cNvPr>
            <p:cNvSpPr txBox="1"/>
            <p:nvPr/>
          </p:nvSpPr>
          <p:spPr>
            <a:xfrm>
              <a:off x="10081260" y="7214613"/>
              <a:ext cx="3506881" cy="384048"/>
            </a:xfrm>
            <a:prstGeom prst="rect">
              <a:avLst/>
            </a:prstGeom>
            <a:noFill/>
          </p:spPr>
          <p:txBody>
            <a:bodyPr wrap="square" lIns="0" tIns="0" rIns="0" bIns="0" anchor="ctr"/>
            <a:lstStyle/>
            <a:p>
              <a:r>
                <a:rPr sz="1950" b="1">
                  <a:solidFill>
                    <a:srgbClr val="0B1F3A"/>
                  </a:solidFill>
                  <a:latin typeface="Calibri"/>
                </a:rPr>
                <a:t>Ten filing names</a:t>
              </a:r>
            </a:p>
          </p:txBody>
        </p:sp>
        <p:sp>
          <p:nvSpPr>
            <p:cNvPr id="118" name="TextBox 117">
              <a:extLst>
                <a:ext uri="{FF2B5EF4-FFF2-40B4-BE49-F238E27FC236}">
                  <a16:creationId xmlns:a16="http://schemas.microsoft.com/office/drawing/2014/main" id="{66159DD2-8A4B-3513-A27F-CD994F02D7BE}"/>
                </a:ext>
              </a:extLst>
            </p:cNvPr>
            <p:cNvSpPr txBox="1"/>
            <p:nvPr/>
          </p:nvSpPr>
          <p:spPr>
            <a:xfrm>
              <a:off x="12423554" y="7214613"/>
              <a:ext cx="987552" cy="384048"/>
            </a:xfrm>
            <a:prstGeom prst="rect">
              <a:avLst/>
            </a:prstGeom>
            <a:noFill/>
          </p:spPr>
          <p:txBody>
            <a:bodyPr wrap="square" lIns="0" tIns="0" rIns="0" bIns="0" anchor="ctr"/>
            <a:lstStyle/>
            <a:p>
              <a:pPr algn="r"/>
              <a:r>
                <a:rPr sz="1950" b="1">
                  <a:solidFill>
                    <a:srgbClr val="0072CE"/>
                  </a:solidFill>
                  <a:latin typeface="Calibri"/>
                </a:rPr>
                <a:t>44.0%</a:t>
              </a:r>
            </a:p>
          </p:txBody>
        </p:sp>
      </p:gr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617220"/>
            <a:ext cx="10972800" cy="411480"/>
          </a:xfrm>
          <a:prstGeom prst="rect">
            <a:avLst/>
          </a:prstGeom>
          <a:noFill/>
          <a:ln/>
        </p:spPr>
        <p:txBody>
          <a:bodyPr wrap="square" lIns="0" tIns="0" rIns="0" bIns="0" rtlCol="0" anchor="ctr"/>
          <a:lstStyle/>
          <a:p>
            <a:r>
              <a:rPr lang="en-US" b="1" kern="0" spc="600">
                <a:solidFill>
                  <a:srgbClr val="2E75B6"/>
                </a:solidFill>
                <a:latin typeface="Calibri" pitchFamily="34" charset="0"/>
                <a:ea typeface="Calibri" pitchFamily="34" charset="-122"/>
                <a:cs typeface="Calibri" pitchFamily="34" charset="-120"/>
              </a:rPr>
              <a:t>DECISION MATRIX</a:t>
            </a:r>
            <a:endParaRPr lang="en-US"/>
          </a:p>
        </p:txBody>
      </p:sp>
      <p:sp>
        <p:nvSpPr>
          <p:cNvPr id="3" name="Text 1"/>
          <p:cNvSpPr txBox="1"/>
          <p:nvPr/>
        </p:nvSpPr>
        <p:spPr>
          <a:xfrm>
            <a:off x="822960" y="1069848"/>
            <a:ext cx="16459200" cy="891540"/>
          </a:xfrm>
          <a:prstGeom prst="rect">
            <a:avLst/>
          </a:prstGeom>
          <a:noFill/>
          <a:ln/>
        </p:spPr>
        <p:txBody>
          <a:bodyPr wrap="square" lIns="0" tIns="0" rIns="0" bIns="0" rtlCol="0" anchor="ctr"/>
          <a:lstStyle/>
          <a:p>
            <a:r>
              <a:rPr lang="en-US" sz="4800" b="1">
                <a:solidFill>
                  <a:srgbClr val="1F3A5F"/>
                </a:solidFill>
                <a:latin typeface="Calibri" pitchFamily="34" charset="0"/>
                <a:ea typeface="Calibri" pitchFamily="34" charset="-122"/>
                <a:cs typeface="Calibri" pitchFamily="34" charset="-120"/>
              </a:rPr>
              <a:t>Churn &amp; EH&amp;B Relationship Matrix</a:t>
            </a:r>
            <a:endParaRPr lang="en-US" sz="4800"/>
          </a:p>
        </p:txBody>
      </p:sp>
      <p:sp>
        <p:nvSpPr>
          <p:cNvPr id="4" name="Text 2"/>
          <p:cNvSpPr txBox="1"/>
          <p:nvPr/>
        </p:nvSpPr>
        <p:spPr>
          <a:xfrm>
            <a:off x="822960" y="1961388"/>
            <a:ext cx="16459200" cy="480060"/>
          </a:xfrm>
          <a:prstGeom prst="rect">
            <a:avLst/>
          </a:prstGeom>
          <a:noFill/>
          <a:ln/>
        </p:spPr>
        <p:txBody>
          <a:bodyPr wrap="square" lIns="0" tIns="0" rIns="0" bIns="0" rtlCol="0" anchor="ctr"/>
          <a:lstStyle/>
          <a:p>
            <a:r>
              <a:rPr lang="en-US" sz="2100">
                <a:solidFill>
                  <a:srgbClr val="595959"/>
                </a:solidFill>
                <a:latin typeface="Calibri" pitchFamily="34" charset="0"/>
                <a:ea typeface="Calibri" pitchFamily="34" charset="-122"/>
                <a:cs typeface="Calibri" pitchFamily="34" charset="-120"/>
              </a:rPr>
              <a:t>Which response Charter deploys depends on what the churn engine finds</a:t>
            </a:r>
            <a:endParaRPr lang="en-US" sz="2100"/>
          </a:p>
        </p:txBody>
      </p:sp>
      <p:graphicFrame>
        <p:nvGraphicFramePr>
          <p:cNvPr id="5" name="Table 0"/>
          <p:cNvGraphicFramePr>
            <a:graphicFrameLocks noGrp="1"/>
          </p:cNvGraphicFramePr>
          <p:nvPr/>
        </p:nvGraphicFramePr>
        <p:xfrm>
          <a:off x="822960" y="2811780"/>
          <a:ext cx="16637508" cy="5212080"/>
        </p:xfrm>
        <a:graphic>
          <a:graphicData uri="http://schemas.openxmlformats.org/drawingml/2006/table">
            <a:tbl>
              <a:tblPr/>
              <a:tblGrid>
                <a:gridCol w="82296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537460">
                  <a:extLst>
                    <a:ext uri="{9D8B030D-6E8A-4147-A177-3AD203B41FA5}">
                      <a16:colId xmlns:a16="http://schemas.microsoft.com/office/drawing/2014/main" val="20003"/>
                    </a:ext>
                  </a:extLst>
                </a:gridCol>
                <a:gridCol w="2537460">
                  <a:extLst>
                    <a:ext uri="{9D8B030D-6E8A-4147-A177-3AD203B41FA5}">
                      <a16:colId xmlns:a16="http://schemas.microsoft.com/office/drawing/2014/main" val="20004"/>
                    </a:ext>
                  </a:extLst>
                </a:gridCol>
                <a:gridCol w="2647188">
                  <a:extLst>
                    <a:ext uri="{9D8B030D-6E8A-4147-A177-3AD203B41FA5}">
                      <a16:colId xmlns:a16="http://schemas.microsoft.com/office/drawing/2014/main" val="20005"/>
                    </a:ext>
                  </a:extLst>
                </a:gridCol>
              </a:tblGrid>
              <a:tr h="685800">
                <a:tc>
                  <a:txBody>
                    <a:bodyPr/>
                    <a:lstStyle/>
                    <a:p>
                      <a:pPr marL="0" indent="0" algn="ctr">
                        <a:buNone/>
                      </a:pPr>
                      <a:r>
                        <a:rPr lang="en-US" sz="2000" b="1">
                          <a:solidFill>
                            <a:srgbClr val="FFFFFF"/>
                          </a:solidFill>
                          <a:latin typeface="Calibri" pitchFamily="34" charset="0"/>
                          <a:ea typeface="Calibri" pitchFamily="34" charset="-122"/>
                          <a:cs typeface="Calibri" pitchFamily="34" charset="-120"/>
                        </a:rPr>
                        <a:t>#</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marL="0" indent="0" algn="l">
                        <a:buNone/>
                      </a:pPr>
                      <a:r>
                        <a:rPr lang="en-US" sz="2000" b="1">
                          <a:solidFill>
                            <a:srgbClr val="FFFFFF"/>
                          </a:solidFill>
                          <a:latin typeface="Calibri" pitchFamily="34" charset="0"/>
                          <a:ea typeface="Calibri" pitchFamily="34" charset="-122"/>
                          <a:cs typeface="Calibri" pitchFamily="34" charset="-120"/>
                        </a:rPr>
                        <a:t>Churn engine finding</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marL="0" indent="0" algn="ctr">
                        <a:buNone/>
                      </a:pPr>
                      <a:r>
                        <a:rPr lang="en-US" sz="2000" b="1">
                          <a:solidFill>
                            <a:srgbClr val="FFFFFF"/>
                          </a:solidFill>
                          <a:latin typeface="Calibri" pitchFamily="34" charset="0"/>
                          <a:ea typeface="Calibri" pitchFamily="34" charset="-122"/>
                          <a:cs typeface="Calibri" pitchFamily="34" charset="-120"/>
                        </a:rPr>
                        <a:t>EH&amp;B</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marL="0" indent="0" algn="ctr">
                        <a:buNone/>
                      </a:pPr>
                      <a:r>
                        <a:rPr lang="en-US" sz="2000" b="1">
                          <a:solidFill>
                            <a:srgbClr val="FFFFFF"/>
                          </a:solidFill>
                          <a:latin typeface="Calibri" pitchFamily="34" charset="0"/>
                          <a:ea typeface="Calibri" pitchFamily="34" charset="-122"/>
                          <a:cs typeface="Calibri" pitchFamily="34" charset="-120"/>
                        </a:rPr>
                        <a:t>Partner Spend</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marL="0" indent="0" algn="ctr">
                        <a:buNone/>
                      </a:pPr>
                      <a:r>
                        <a:rPr lang="en-US" sz="2000" b="1">
                          <a:solidFill>
                            <a:srgbClr val="FFFFFF"/>
                          </a:solidFill>
                          <a:latin typeface="Calibri" pitchFamily="34" charset="0"/>
                          <a:ea typeface="Calibri" pitchFamily="34" charset="-122"/>
                          <a:cs typeface="Calibri" pitchFamily="34" charset="-120"/>
                        </a:rPr>
                        <a:t>Reallocate Rural</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marL="0" indent="0" algn="ctr">
                        <a:buNone/>
                      </a:pPr>
                      <a:r>
                        <a:rPr lang="en-US" sz="2000" b="1">
                          <a:solidFill>
                            <a:srgbClr val="FFFFFF"/>
                          </a:solidFill>
                          <a:latin typeface="Calibri" pitchFamily="34" charset="0"/>
                          <a:ea typeface="Calibri" pitchFamily="34" charset="-122"/>
                          <a:cs typeface="Calibri" pitchFamily="34" charset="-120"/>
                        </a:rPr>
                        <a:t>Better Use of Existing</a:t>
                      </a:r>
                      <a:endParaRPr lang="en-US" sz="20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1</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FWA-driven losses</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Win</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2700" b="1">
                          <a:solidFill>
                            <a:srgbClr val="2E7D4F"/>
                          </a:solidFill>
                          <a:latin typeface="Segoe UI Symbol" pitchFamily="34" charset="0"/>
                          <a:ea typeface="Segoe UI Symbol" pitchFamily="34" charset="-122"/>
                          <a:cs typeface="Segoe UI Symbol" pitchFamily="34" charset="-120"/>
                        </a:rPr>
                        <a:t>✓</a:t>
                      </a:r>
                      <a:endParaRPr lang="en-US" sz="27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2</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Fiber-driven losses</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2700" b="1">
                          <a:solidFill>
                            <a:srgbClr val="2E7D4F"/>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Cushion</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extLst>
                  <a:ext uri="{0D108BD9-81ED-4DB2-BD59-A6C34878D82A}">
                    <a16:rowId xmlns:a16="http://schemas.microsoft.com/office/drawing/2014/main" val="10002"/>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3</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LEO satellite losses</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2400" b="1">
                          <a:solidFill>
                            <a:srgbClr val="C0392B"/>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Doesn't move the numbers</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4</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Housing-driven losses</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Win</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2700" b="1">
                          <a:solidFill>
                            <a:srgbClr val="2E7D4F"/>
                          </a:solidFill>
                          <a:latin typeface="Segoe UI Symbol" pitchFamily="34" charset="0"/>
                          <a:ea typeface="Segoe UI Symbol" pitchFamily="34" charset="-122"/>
                          <a:cs typeface="Segoe UI Symbol" pitchFamily="34" charset="-120"/>
                        </a:rPr>
                        <a:t>✓</a:t>
                      </a:r>
                      <a:endParaRPr lang="en-US" sz="27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extLst>
                  <a:ext uri="{0D108BD9-81ED-4DB2-BD59-A6C34878D82A}">
                    <a16:rowId xmlns:a16="http://schemas.microsoft.com/office/drawing/2014/main" val="10004"/>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5</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Economic / non-pay losses</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2700" b="1">
                          <a:solidFill>
                            <a:srgbClr val="2E7D4F"/>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Cushion</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54380">
                <a:tc>
                  <a:txBody>
                    <a:bodyPr/>
                    <a:lstStyle/>
                    <a:p>
                      <a:pPr marL="0" indent="0" algn="ctr">
                        <a:buNone/>
                      </a:pPr>
                      <a:r>
                        <a:rPr lang="en-US" sz="2100" b="1">
                          <a:solidFill>
                            <a:srgbClr val="1F3A5F"/>
                          </a:solidFill>
                          <a:latin typeface="Calibri" pitchFamily="34" charset="0"/>
                          <a:ea typeface="Calibri" pitchFamily="34" charset="-122"/>
                          <a:cs typeface="Calibri" pitchFamily="34" charset="-120"/>
                        </a:rPr>
                        <a:t>6</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l">
                        <a:buNone/>
                      </a:pPr>
                      <a:r>
                        <a:rPr lang="en-US" sz="2100" b="1">
                          <a:solidFill>
                            <a:srgbClr val="262626"/>
                          </a:solidFill>
                          <a:latin typeface="Calibri" pitchFamily="34" charset="0"/>
                          <a:ea typeface="Calibri" pitchFamily="34" charset="-122"/>
                          <a:cs typeface="Calibri" pitchFamily="34" charset="-120"/>
                        </a:rPr>
                        <a:t>No dominant source</a:t>
                      </a:r>
                      <a:endParaRPr lang="en-US" sz="21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2400" b="1">
                          <a:solidFill>
                            <a:srgbClr val="C0392B"/>
                          </a:solidFill>
                          <a:latin typeface="Segoe UI Symbol" pitchFamily="34" charset="0"/>
                          <a:ea typeface="Segoe UI Symbol" pitchFamily="34" charset="-122"/>
                          <a:cs typeface="Segoe UI Symbol" pitchFamily="34" charset="-120"/>
                        </a:rPr>
                        <a:t>✕  </a:t>
                      </a:r>
                      <a:r>
                        <a:rPr lang="en-US" sz="1800" i="1">
                          <a:solidFill>
                            <a:srgbClr val="404040"/>
                          </a:solidFill>
                          <a:latin typeface="Calibri" pitchFamily="34" charset="0"/>
                          <a:ea typeface="Calibri" pitchFamily="34" charset="-122"/>
                          <a:cs typeface="Calibri" pitchFamily="34" charset="-120"/>
                        </a:rPr>
                        <a:t>Hail Mary</a:t>
                      </a:r>
                      <a:endParaRPr lang="en-US" sz="1800">
                        <a:latin typeface="Calibri" charset="0"/>
                        <a:ea typeface="Calibri" charset="0"/>
                        <a:cs typeface="Calibri"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endParaRPr lang="en-US" sz="18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2700" b="1">
                          <a:solidFill>
                            <a:srgbClr val="2E7D4F"/>
                          </a:solidFill>
                          <a:latin typeface="Segoe UI Symbol" pitchFamily="34" charset="0"/>
                          <a:ea typeface="Segoe UI Symbol" pitchFamily="34" charset="-122"/>
                          <a:cs typeface="Segoe UI Symbol" pitchFamily="34" charset="-120"/>
                        </a:rPr>
                        <a:t>✓</a:t>
                      </a:r>
                      <a:endParaRPr lang="en-US" sz="27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tc>
                  <a:txBody>
                    <a:bodyPr/>
                    <a:lstStyle/>
                    <a:p>
                      <a:pPr marL="0" indent="0" algn="ctr">
                        <a:buNone/>
                      </a:pPr>
                      <a:r>
                        <a:rPr lang="en-US" sz="3000" b="1">
                          <a:solidFill>
                            <a:srgbClr val="1F3A5F"/>
                          </a:solidFill>
                          <a:latin typeface="Segoe UI Symbol" pitchFamily="34" charset="0"/>
                          <a:ea typeface="Segoe UI Symbol" pitchFamily="34" charset="-122"/>
                          <a:cs typeface="Segoe UI Symbol" pitchFamily="34" charset="-120"/>
                        </a:rPr>
                        <a:t>★</a:t>
                      </a:r>
                      <a:endParaRPr lang="en-US" sz="3000">
                        <a:latin typeface="Segoe UI Symbol" charset="0"/>
                        <a:ea typeface="Segoe UI Symbol" charset="0"/>
                        <a:cs typeface="Segoe UI Symbol" charset="0"/>
                      </a:endParaRPr>
                    </a:p>
                  </a:txBody>
                  <a:tcPr marL="109728" marR="109728" marT="0" marB="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3F6FA"/>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822960" y="8298180"/>
            <a:ext cx="16596360" cy="411480"/>
          </a:xfrm>
          <a:prstGeom prst="rect">
            <a:avLst/>
          </a:prstGeom>
          <a:noFill/>
          <a:ln/>
        </p:spPr>
        <p:txBody>
          <a:bodyPr wrap="square" lIns="0" tIns="0" rIns="0" bIns="0" rtlCol="0" anchor="ctr"/>
          <a:lstStyle/>
          <a:p>
            <a:r>
              <a:rPr lang="en-US" b="1">
                <a:solidFill>
                  <a:srgbClr val="1F3A5F"/>
                </a:solidFill>
                <a:latin typeface="Segoe UI Symbol" pitchFamily="34" charset="0"/>
                <a:ea typeface="Segoe UI Symbol" pitchFamily="34" charset="-122"/>
                <a:cs typeface="Segoe UI Symbol" pitchFamily="34" charset="-120"/>
              </a:rPr>
              <a:t>★</a:t>
            </a:r>
            <a:r>
              <a:rPr lang="en-US">
                <a:solidFill>
                  <a:srgbClr val="404040"/>
                </a:solidFill>
                <a:latin typeface="Calibri" pitchFamily="34" charset="0"/>
                <a:ea typeface="Calibri" pitchFamily="34" charset="-122"/>
                <a:cs typeface="Calibri" pitchFamily="34" charset="-120"/>
              </a:rPr>
              <a:t> Lead response     </a:t>
            </a:r>
            <a:r>
              <a:rPr lang="en-US" b="1">
                <a:solidFill>
                  <a:srgbClr val="2E7D4F"/>
                </a:solidFill>
                <a:latin typeface="Segoe UI Symbol" pitchFamily="34" charset="0"/>
                <a:ea typeface="Segoe UI Symbol" pitchFamily="34" charset="-122"/>
                <a:cs typeface="Segoe UI Symbol" pitchFamily="34" charset="-120"/>
              </a:rPr>
              <a:t>✓</a:t>
            </a:r>
            <a:r>
              <a:rPr lang="en-US">
                <a:solidFill>
                  <a:srgbClr val="404040"/>
                </a:solidFill>
                <a:latin typeface="Calibri" pitchFamily="34" charset="0"/>
                <a:ea typeface="Calibri" pitchFamily="34" charset="-122"/>
                <a:cs typeface="Calibri" pitchFamily="34" charset="-120"/>
              </a:rPr>
              <a:t> Supporting response     </a:t>
            </a:r>
            <a:r>
              <a:rPr lang="en-US" b="1">
                <a:solidFill>
                  <a:srgbClr val="C0392B"/>
                </a:solidFill>
                <a:latin typeface="Segoe UI Symbol" pitchFamily="34" charset="0"/>
                <a:ea typeface="Segoe UI Symbol" pitchFamily="34" charset="-122"/>
                <a:cs typeface="Segoe UI Symbol" pitchFamily="34" charset="-120"/>
              </a:rPr>
              <a:t>✕</a:t>
            </a:r>
            <a:r>
              <a:rPr lang="en-US">
                <a:solidFill>
                  <a:srgbClr val="404040"/>
                </a:solidFill>
                <a:latin typeface="Calibri" pitchFamily="34" charset="0"/>
                <a:ea typeface="Calibri" pitchFamily="34" charset="-122"/>
                <a:cs typeface="Calibri" pitchFamily="34" charset="-120"/>
              </a:rPr>
              <a:t> Not effective for this finding     </a:t>
            </a:r>
            <a:r>
              <a:rPr lang="en-US">
                <a:solidFill>
                  <a:srgbClr val="7F7F7F"/>
                </a:solidFill>
                <a:latin typeface="Calibri" pitchFamily="34" charset="0"/>
                <a:ea typeface="Calibri" pitchFamily="34" charset="-122"/>
                <a:cs typeface="Calibri" pitchFamily="34" charset="-120"/>
              </a:rPr>
              <a:t>Blank = not deployed</a:t>
            </a:r>
            <a:endParaRPr lang="en-US"/>
          </a:p>
        </p:txBody>
      </p:sp>
      <p:sp>
        <p:nvSpPr>
          <p:cNvPr id="7" name="Text 4"/>
          <p:cNvSpPr txBox="1"/>
          <p:nvPr/>
        </p:nvSpPr>
        <p:spPr>
          <a:xfrm>
            <a:off x="822960" y="8846820"/>
            <a:ext cx="16596360" cy="480060"/>
          </a:xfrm>
          <a:prstGeom prst="rect">
            <a:avLst/>
          </a:prstGeom>
          <a:noFill/>
          <a:ln/>
        </p:spPr>
        <p:txBody>
          <a:bodyPr wrap="square" lIns="0" tIns="0" rIns="0" bIns="0" rtlCol="0" anchor="ctr"/>
          <a:lstStyle/>
          <a:p>
            <a:r>
              <a:rPr lang="en-US" sz="1950" b="1">
                <a:solidFill>
                  <a:srgbClr val="1F3A5F"/>
                </a:solidFill>
                <a:latin typeface="Calibri" pitchFamily="34" charset="0"/>
                <a:ea typeface="Calibri" pitchFamily="34" charset="-122"/>
                <a:cs typeface="Calibri" pitchFamily="34" charset="-120"/>
              </a:rPr>
              <a:t>Trigger rule: </a:t>
            </a:r>
            <a:r>
              <a:rPr lang="en-US" sz="1950">
                <a:solidFill>
                  <a:srgbClr val="262626"/>
                </a:solidFill>
                <a:latin typeface="Calibri" pitchFamily="34" charset="0"/>
                <a:ea typeface="Calibri" pitchFamily="34" charset="-122"/>
                <a:cs typeface="Calibri" pitchFamily="34" charset="-120"/>
              </a:rPr>
              <a:t>if more than 40% of net Internet losses trace to a single source, Charter deploys that row’s responses nationally.</a:t>
            </a:r>
            <a:endParaRPr lang="en-US" sz="1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754380" y="438912"/>
            <a:ext cx="11795760" cy="41148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8" name="TextBox 8"/>
          <p:cNvSpPr txBox="1"/>
          <p:nvPr/>
        </p:nvSpPr>
        <p:spPr>
          <a:xfrm>
            <a:off x="754380" y="774192"/>
            <a:ext cx="16733520" cy="666750"/>
          </a:xfrm>
          <a:prstGeom prst="rect">
            <a:avLst/>
          </a:prstGeom>
        </p:spPr>
        <p:txBody>
          <a:bodyPr lIns="0" tIns="0" rIns="0" bIns="0" rtlCol="0" anchor="t">
            <a:spAutoFit/>
          </a:bodyPr>
          <a:lstStyle/>
          <a:p>
            <a:pPr algn="l">
              <a:lnSpc>
                <a:spcPts val="4680"/>
              </a:lnSpc>
            </a:pPr>
            <a:r>
              <a:rPr lang="en-US" sz="3900" b="1">
                <a:solidFill>
                  <a:srgbClr val="003057"/>
                </a:solidFill>
                <a:latin typeface="Calibri"/>
                <a:ea typeface="Calibri (MS) Bold"/>
                <a:cs typeface="Calibri"/>
                <a:sym typeface="Calibri (MS) Bold"/>
              </a:rPr>
              <a:t>Wrap-Up</a:t>
            </a:r>
          </a:p>
        </p:txBody>
      </p:sp>
      <p:grpSp>
        <p:nvGrpSpPr>
          <p:cNvPr id="9" name="Group 9"/>
          <p:cNvGrpSpPr/>
          <p:nvPr/>
        </p:nvGrpSpPr>
        <p:grpSpPr>
          <a:xfrm>
            <a:off x="744855" y="1442179"/>
            <a:ext cx="16821150" cy="1742506"/>
            <a:chOff x="0" y="0"/>
            <a:chExt cx="22428200" cy="1579880"/>
          </a:xfrm>
        </p:grpSpPr>
        <p:sp>
          <p:nvSpPr>
            <p:cNvPr id="10" name="Freeform 10"/>
            <p:cNvSpPr/>
            <p:nvPr/>
          </p:nvSpPr>
          <p:spPr>
            <a:xfrm>
              <a:off x="0" y="0"/>
              <a:ext cx="22428200" cy="1579880"/>
            </a:xfrm>
            <a:custGeom>
              <a:avLst/>
              <a:gdLst/>
              <a:ahLst/>
              <a:cxnLst/>
              <a:rect l="l" t="t" r="r" b="b"/>
              <a:pathLst>
                <a:path w="22428200" h="1579880">
                  <a:moveTo>
                    <a:pt x="0" y="148717"/>
                  </a:moveTo>
                  <a:cubicBezTo>
                    <a:pt x="0" y="66548"/>
                    <a:pt x="66548" y="0"/>
                    <a:pt x="148717" y="0"/>
                  </a:cubicBezTo>
                  <a:lnTo>
                    <a:pt x="22279483" y="0"/>
                  </a:lnTo>
                  <a:cubicBezTo>
                    <a:pt x="22361652" y="0"/>
                    <a:pt x="22428200" y="66548"/>
                    <a:pt x="22428200" y="148717"/>
                  </a:cubicBezTo>
                  <a:lnTo>
                    <a:pt x="22428200" y="1431163"/>
                  </a:lnTo>
                  <a:cubicBezTo>
                    <a:pt x="22428200" y="1513332"/>
                    <a:pt x="22361652" y="1579880"/>
                    <a:pt x="22279483" y="1579880"/>
                  </a:cubicBezTo>
                  <a:lnTo>
                    <a:pt x="148717" y="1579880"/>
                  </a:lnTo>
                  <a:cubicBezTo>
                    <a:pt x="66548" y="1579880"/>
                    <a:pt x="0" y="1513332"/>
                    <a:pt x="0" y="1431163"/>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1" name="Group 11"/>
          <p:cNvGrpSpPr/>
          <p:nvPr/>
        </p:nvGrpSpPr>
        <p:grpSpPr>
          <a:xfrm>
            <a:off x="1165860" y="1702595"/>
            <a:ext cx="16047721" cy="1232630"/>
            <a:chOff x="0" y="-326769"/>
            <a:chExt cx="21396961" cy="1643507"/>
          </a:xfrm>
        </p:grpSpPr>
        <p:sp>
          <p:nvSpPr>
            <p:cNvPr id="12" name="Freeform 12"/>
            <p:cNvSpPr/>
            <p:nvPr/>
          </p:nvSpPr>
          <p:spPr>
            <a:xfrm>
              <a:off x="0" y="0"/>
              <a:ext cx="21396961" cy="1316736"/>
            </a:xfrm>
            <a:custGeom>
              <a:avLst/>
              <a:gdLst/>
              <a:ahLst/>
              <a:cxnLst/>
              <a:rect l="l" t="t" r="r" b="b"/>
              <a:pathLst>
                <a:path w="21396961" h="1316736">
                  <a:moveTo>
                    <a:pt x="0" y="0"/>
                  </a:moveTo>
                  <a:lnTo>
                    <a:pt x="21396961" y="0"/>
                  </a:lnTo>
                  <a:lnTo>
                    <a:pt x="21396961" y="1316736"/>
                  </a:lnTo>
                  <a:lnTo>
                    <a:pt x="0" y="1316736"/>
                  </a:lnTo>
                  <a:close/>
                </a:path>
              </a:pathLst>
            </a:custGeom>
            <a:blipFill>
              <a:blip r:embed="rId2">
                <a:alphaModFix amt="0"/>
              </a:blip>
              <a:stretch>
                <a:fillRect t="-266631" b="-266631"/>
              </a:stretch>
            </a:blipFill>
          </p:spPr>
          <p:txBody>
            <a:bodyPr/>
            <a:lstStyle/>
            <a:p>
              <a:endParaRPr lang="en-US"/>
            </a:p>
          </p:txBody>
        </p:sp>
        <p:sp>
          <p:nvSpPr>
            <p:cNvPr id="13" name="TextBox 13"/>
            <p:cNvSpPr txBox="1"/>
            <p:nvPr/>
          </p:nvSpPr>
          <p:spPr>
            <a:xfrm>
              <a:off x="0" y="-326769"/>
              <a:ext cx="21396960" cy="1643507"/>
            </a:xfrm>
            <a:prstGeom prst="rect">
              <a:avLst/>
            </a:prstGeom>
          </p:spPr>
          <p:txBody>
            <a:bodyPr lIns="0" tIns="0" rIns="0" bIns="0" rtlCol="0" anchor="ctr"/>
            <a:lstStyle/>
            <a:p>
              <a:pPr algn="l"/>
              <a:r>
                <a:rPr lang="en-US" sz="3200" b="1">
                  <a:solidFill>
                    <a:schemeClr val="tx2"/>
                  </a:solidFill>
                  <a:latin typeface="Calibri"/>
                  <a:ea typeface="Calibri (MS) Bold"/>
                  <a:cs typeface="Calibri"/>
                  <a:sym typeface="Calibri (MS) Bold"/>
                </a:rPr>
                <a:t>The synthesis:  </a:t>
              </a:r>
              <a:r>
                <a:rPr lang="en-US" sz="3200">
                  <a:solidFill>
                    <a:srgbClr val="66717D"/>
                  </a:solidFill>
                  <a:latin typeface="Calibri"/>
                  <a:ea typeface="Calibri (MS)"/>
                  <a:cs typeface="Calibri"/>
                  <a:sym typeface="Calibri (MS)"/>
                </a:rPr>
                <a:t>The churn engine and capex freeze both bend the Internet print and leverage rate the market prices, while EH&amp;B opens a revenue line Wall Street has not modeled. The capital shift reaches the board in January 2027.</a:t>
              </a:r>
            </a:p>
          </p:txBody>
        </p:sp>
      </p:grpSp>
      <p:grpSp>
        <p:nvGrpSpPr>
          <p:cNvPr id="14" name="Group 14"/>
          <p:cNvGrpSpPr/>
          <p:nvPr/>
        </p:nvGrpSpPr>
        <p:grpSpPr>
          <a:xfrm>
            <a:off x="742474" y="3279934"/>
            <a:ext cx="5441632" cy="5304472"/>
            <a:chOff x="0" y="0"/>
            <a:chExt cx="7255510" cy="7072630"/>
          </a:xfrm>
        </p:grpSpPr>
        <p:sp>
          <p:nvSpPr>
            <p:cNvPr id="15" name="Freeform 15"/>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6" name="Group 16"/>
          <p:cNvGrpSpPr/>
          <p:nvPr/>
        </p:nvGrpSpPr>
        <p:grpSpPr>
          <a:xfrm>
            <a:off x="1097280" y="3525012"/>
            <a:ext cx="685800" cy="685800"/>
            <a:chOff x="0" y="0"/>
            <a:chExt cx="914400" cy="914400"/>
          </a:xfrm>
        </p:grpSpPr>
        <p:sp>
          <p:nvSpPr>
            <p:cNvPr id="17" name="Freeform 1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18" name="Group 18"/>
          <p:cNvGrpSpPr/>
          <p:nvPr/>
        </p:nvGrpSpPr>
        <p:grpSpPr>
          <a:xfrm>
            <a:off x="1097280" y="3525012"/>
            <a:ext cx="685800" cy="685800"/>
            <a:chOff x="0" y="0"/>
            <a:chExt cx="914400" cy="914400"/>
          </a:xfrm>
        </p:grpSpPr>
        <p:sp>
          <p:nvSpPr>
            <p:cNvPr id="19" name="Freeform 19"/>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03" r="-78303"/>
              </a:stretch>
            </a:blipFill>
          </p:spPr>
          <p:txBody>
            <a:bodyPr/>
            <a:lstStyle/>
            <a:p>
              <a:endParaRPr lang="en-US"/>
            </a:p>
          </p:txBody>
        </p:sp>
        <p:sp>
          <p:nvSpPr>
            <p:cNvPr id="20" name="TextBox 20"/>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1</a:t>
              </a:r>
            </a:p>
          </p:txBody>
        </p:sp>
      </p:grpSp>
      <p:grpSp>
        <p:nvGrpSpPr>
          <p:cNvPr id="21" name="Group 21"/>
          <p:cNvGrpSpPr/>
          <p:nvPr/>
        </p:nvGrpSpPr>
        <p:grpSpPr>
          <a:xfrm>
            <a:off x="1988820" y="3500847"/>
            <a:ext cx="3977640" cy="920115"/>
            <a:chOff x="0" y="-38100"/>
            <a:chExt cx="5303520" cy="1226820"/>
          </a:xfrm>
        </p:grpSpPr>
        <p:sp>
          <p:nvSpPr>
            <p:cNvPr id="22" name="Freeform 22"/>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2">
                <a:alphaModFix amt="0"/>
              </a:blip>
              <a:stretch>
                <a:fillRect t="-36933" b="-36933"/>
              </a:stretch>
            </a:blipFill>
          </p:spPr>
          <p:txBody>
            <a:bodyPr/>
            <a:lstStyle/>
            <a:p>
              <a:endParaRPr lang="en-US" sz="3200"/>
            </a:p>
          </p:txBody>
        </p:sp>
        <p:sp>
          <p:nvSpPr>
            <p:cNvPr id="23" name="TextBox 23"/>
            <p:cNvSpPr txBox="1"/>
            <p:nvPr/>
          </p:nvSpPr>
          <p:spPr>
            <a:xfrm>
              <a:off x="0" y="-38100"/>
              <a:ext cx="5303520" cy="1226820"/>
            </a:xfrm>
            <a:prstGeom prst="rect">
              <a:avLst/>
            </a:prstGeom>
          </p:spPr>
          <p:txBody>
            <a:bodyPr lIns="0" tIns="0" rIns="0" bIns="0" rtlCol="0" anchor="ctr"/>
            <a:lstStyle/>
            <a:p>
              <a:pPr>
                <a:lnSpc>
                  <a:spcPts val="2430"/>
                </a:lnSpc>
              </a:pPr>
              <a:r>
                <a:rPr lang="en-US" sz="3200" b="1">
                  <a:solidFill>
                    <a:srgbClr val="171A1F"/>
                  </a:solidFill>
                  <a:latin typeface="Calibri"/>
                  <a:ea typeface="Calibri (MS) Bold"/>
                  <a:cs typeface="Calibri"/>
                </a:rPr>
                <a:t>Churn Rate Reversal</a:t>
              </a:r>
              <a:endParaRPr lang="en-US" sz="3200" b="1">
                <a:solidFill>
                  <a:srgbClr val="171A1F"/>
                </a:solidFill>
                <a:latin typeface="Calibri"/>
                <a:ea typeface="Calibri (MS) Bold"/>
                <a:cs typeface="Calibri"/>
                <a:sym typeface="Calibri (MS) Bold"/>
              </a:endParaRPr>
            </a:p>
          </p:txBody>
        </p:sp>
      </p:grpSp>
      <p:sp>
        <p:nvSpPr>
          <p:cNvPr id="24" name="TextBox 24"/>
          <p:cNvSpPr txBox="1"/>
          <p:nvPr/>
        </p:nvSpPr>
        <p:spPr>
          <a:xfrm>
            <a:off x="1249680" y="4609081"/>
            <a:ext cx="4732020" cy="933332"/>
          </a:xfrm>
          <a:prstGeom prst="rect">
            <a:avLst/>
          </a:prstGeom>
        </p:spPr>
        <p:txBody>
          <a:bodyPr lIns="0" tIns="0" rIns="0" bIns="0" rtlCol="0" anchor="t">
            <a:spAutoFit/>
          </a:bodyPr>
          <a:lstStyle/>
          <a:p>
            <a:pPr>
              <a:lnSpc>
                <a:spcPts val="1797"/>
              </a:lnSpc>
            </a:pPr>
            <a:r>
              <a:rPr lang="en-US" sz="2000">
                <a:solidFill>
                  <a:srgbClr val="66717D"/>
                </a:solidFill>
                <a:latin typeface="Calibri"/>
                <a:ea typeface="Calibri (MS)"/>
                <a:cs typeface="Calibri"/>
                <a:sym typeface="Calibri (MS)"/>
              </a:rPr>
              <a:t>Build an address-level churn-attribution engine from public FCC data and Charter’s own records and ratify six if-then plays with budgets and kill conditions. </a:t>
            </a:r>
            <a:endParaRPr lang="en-US" sz="2000">
              <a:solidFill>
                <a:srgbClr val="66717D"/>
              </a:solidFill>
              <a:latin typeface="Calibri"/>
              <a:ea typeface="Calibri (MS)"/>
              <a:cs typeface="Calibri"/>
            </a:endParaRPr>
          </a:p>
        </p:txBody>
      </p:sp>
      <p:grpSp>
        <p:nvGrpSpPr>
          <p:cNvPr id="25" name="Group 25"/>
          <p:cNvGrpSpPr/>
          <p:nvPr/>
        </p:nvGrpSpPr>
        <p:grpSpPr>
          <a:xfrm>
            <a:off x="1097280" y="8023860"/>
            <a:ext cx="4732020" cy="411480"/>
            <a:chOff x="0" y="0"/>
            <a:chExt cx="6309360" cy="548640"/>
          </a:xfrm>
        </p:grpSpPr>
        <p:sp>
          <p:nvSpPr>
            <p:cNvPr id="26" name="Freeform 26"/>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2">
                <a:alphaModFix amt="0"/>
              </a:blip>
              <a:stretch>
                <a:fillRect t="-174077" b="-174077"/>
              </a:stretch>
            </a:blipFill>
          </p:spPr>
          <p:txBody>
            <a:bodyPr/>
            <a:lstStyle/>
            <a:p>
              <a:endParaRPr lang="en-US"/>
            </a:p>
          </p:txBody>
        </p:sp>
        <p:sp>
          <p:nvSpPr>
            <p:cNvPr id="27" name="TextBox 27"/>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3" action="ppaction://hlinksldjump"/>
                </a:rPr>
                <a:t>Recommendation 1  →  p.4</a:t>
              </a:r>
            </a:p>
          </p:txBody>
        </p:sp>
      </p:grpSp>
      <p:grpSp>
        <p:nvGrpSpPr>
          <p:cNvPr id="28" name="Group 28"/>
          <p:cNvGrpSpPr/>
          <p:nvPr/>
        </p:nvGrpSpPr>
        <p:grpSpPr>
          <a:xfrm>
            <a:off x="6434614" y="3279934"/>
            <a:ext cx="5441632" cy="5304472"/>
            <a:chOff x="0" y="0"/>
            <a:chExt cx="7255510" cy="7072630"/>
          </a:xfrm>
        </p:grpSpPr>
        <p:sp>
          <p:nvSpPr>
            <p:cNvPr id="29" name="Freeform 29"/>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30" name="Group 30"/>
          <p:cNvGrpSpPr/>
          <p:nvPr/>
        </p:nvGrpSpPr>
        <p:grpSpPr>
          <a:xfrm>
            <a:off x="6789420" y="3525012"/>
            <a:ext cx="685800" cy="685800"/>
            <a:chOff x="0" y="0"/>
            <a:chExt cx="914400" cy="914400"/>
          </a:xfrm>
        </p:grpSpPr>
        <p:sp>
          <p:nvSpPr>
            <p:cNvPr id="31" name="Freeform 31"/>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32" name="Group 32"/>
          <p:cNvGrpSpPr/>
          <p:nvPr/>
        </p:nvGrpSpPr>
        <p:grpSpPr>
          <a:xfrm>
            <a:off x="6789420" y="3525012"/>
            <a:ext cx="685800" cy="685800"/>
            <a:chOff x="0" y="0"/>
            <a:chExt cx="914400" cy="914400"/>
          </a:xfrm>
        </p:grpSpPr>
        <p:sp>
          <p:nvSpPr>
            <p:cNvPr id="33" name="Freeform 33"/>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03" r="-78303"/>
              </a:stretch>
            </a:blipFill>
          </p:spPr>
          <p:txBody>
            <a:bodyPr/>
            <a:lstStyle/>
            <a:p>
              <a:endParaRPr lang="en-US"/>
            </a:p>
          </p:txBody>
        </p:sp>
        <p:sp>
          <p:nvSpPr>
            <p:cNvPr id="34" name="TextBox 34"/>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2</a:t>
              </a:r>
            </a:p>
          </p:txBody>
        </p:sp>
      </p:grpSp>
      <p:grpSp>
        <p:nvGrpSpPr>
          <p:cNvPr id="35" name="Group 35"/>
          <p:cNvGrpSpPr/>
          <p:nvPr/>
        </p:nvGrpSpPr>
        <p:grpSpPr>
          <a:xfrm>
            <a:off x="7680960" y="3500847"/>
            <a:ext cx="3977640" cy="920115"/>
            <a:chOff x="0" y="-38100"/>
            <a:chExt cx="5303520" cy="1226820"/>
          </a:xfrm>
        </p:grpSpPr>
        <p:sp>
          <p:nvSpPr>
            <p:cNvPr id="36" name="Freeform 36"/>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2">
                <a:alphaModFix amt="0"/>
              </a:blip>
              <a:stretch>
                <a:fillRect t="-36933" b="-36933"/>
              </a:stretch>
            </a:blipFill>
          </p:spPr>
          <p:txBody>
            <a:bodyPr/>
            <a:lstStyle/>
            <a:p>
              <a:endParaRPr lang="en-US" sz="3200"/>
            </a:p>
          </p:txBody>
        </p:sp>
        <p:sp>
          <p:nvSpPr>
            <p:cNvPr id="37" name="TextBox 37"/>
            <p:cNvSpPr txBox="1"/>
            <p:nvPr/>
          </p:nvSpPr>
          <p:spPr>
            <a:xfrm>
              <a:off x="0" y="-38100"/>
              <a:ext cx="5303520" cy="1226820"/>
            </a:xfrm>
            <a:prstGeom prst="rect">
              <a:avLst/>
            </a:prstGeom>
          </p:spPr>
          <p:txBody>
            <a:bodyPr lIns="0" tIns="0" rIns="0" bIns="0" rtlCol="0" anchor="ctr"/>
            <a:lstStyle/>
            <a:p>
              <a:pPr algn="l">
                <a:lnSpc>
                  <a:spcPts val="2430"/>
                </a:lnSpc>
              </a:pPr>
              <a:r>
                <a:rPr lang="en-US" sz="3200" b="1">
                  <a:solidFill>
                    <a:srgbClr val="171A1F"/>
                  </a:solidFill>
                  <a:latin typeface="Calibri"/>
                  <a:ea typeface="Calibri (MS) Bold"/>
                  <a:cs typeface="Calibri"/>
                  <a:sym typeface="Calibri (MS) Bold"/>
                </a:rPr>
                <a:t>CAPEX Restructuring</a:t>
              </a:r>
            </a:p>
          </p:txBody>
        </p:sp>
      </p:grpSp>
      <p:sp>
        <p:nvSpPr>
          <p:cNvPr id="38" name="TextBox 38"/>
          <p:cNvSpPr txBox="1"/>
          <p:nvPr/>
        </p:nvSpPr>
        <p:spPr>
          <a:xfrm>
            <a:off x="6823710" y="4609081"/>
            <a:ext cx="4732020" cy="933332"/>
          </a:xfrm>
          <a:prstGeom prst="rect">
            <a:avLst/>
          </a:prstGeom>
        </p:spPr>
        <p:txBody>
          <a:bodyPr lIns="0" tIns="0" rIns="0" bIns="0" rtlCol="0" anchor="t">
            <a:spAutoFit/>
          </a:bodyPr>
          <a:lstStyle/>
          <a:p>
            <a:pPr algn="l">
              <a:lnSpc>
                <a:spcPts val="1797"/>
              </a:lnSpc>
            </a:pPr>
            <a:r>
              <a:rPr lang="en-US" sz="2000">
                <a:solidFill>
                  <a:srgbClr val="66717D"/>
                </a:solidFill>
                <a:latin typeface="Calibri"/>
                <a:ea typeface="Calibri (MS)"/>
                <a:cs typeface="Calibri"/>
                <a:sym typeface="Calibri (MS)"/>
              </a:rPr>
              <a:t>Redirect $4B to $5B a year of repurchases to deleveraging below 4.0x, report the rural build apart from the core, and publish the playbook’s triggers at an investor day.</a:t>
            </a:r>
          </a:p>
        </p:txBody>
      </p:sp>
      <p:grpSp>
        <p:nvGrpSpPr>
          <p:cNvPr id="39" name="Group 39"/>
          <p:cNvGrpSpPr/>
          <p:nvPr/>
        </p:nvGrpSpPr>
        <p:grpSpPr>
          <a:xfrm>
            <a:off x="6789420" y="7995285"/>
            <a:ext cx="4732020" cy="440055"/>
            <a:chOff x="0" y="-38100"/>
            <a:chExt cx="6309360" cy="586740"/>
          </a:xfrm>
        </p:grpSpPr>
        <p:sp>
          <p:nvSpPr>
            <p:cNvPr id="40" name="Freeform 40"/>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2">
                <a:alphaModFix amt="0"/>
              </a:blip>
              <a:stretch>
                <a:fillRect t="-174077" b="-174077"/>
              </a:stretch>
            </a:blipFill>
          </p:spPr>
          <p:txBody>
            <a:bodyPr/>
            <a:lstStyle/>
            <a:p>
              <a:endParaRPr lang="en-US"/>
            </a:p>
          </p:txBody>
        </p:sp>
        <p:sp>
          <p:nvSpPr>
            <p:cNvPr id="41" name="TextBox 41"/>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4" action="ppaction://hlinksldjump"/>
                </a:rPr>
                <a:t>Recommendation 2  →  p.6</a:t>
              </a:r>
            </a:p>
          </p:txBody>
        </p:sp>
      </p:grpSp>
      <p:grpSp>
        <p:nvGrpSpPr>
          <p:cNvPr id="42" name="Group 42"/>
          <p:cNvGrpSpPr/>
          <p:nvPr/>
        </p:nvGrpSpPr>
        <p:grpSpPr>
          <a:xfrm>
            <a:off x="12126754" y="3279934"/>
            <a:ext cx="5441632" cy="5304472"/>
            <a:chOff x="0" y="0"/>
            <a:chExt cx="7255510" cy="7072630"/>
          </a:xfrm>
        </p:grpSpPr>
        <p:sp>
          <p:nvSpPr>
            <p:cNvPr id="43" name="Freeform 43"/>
            <p:cNvSpPr/>
            <p:nvPr/>
          </p:nvSpPr>
          <p:spPr>
            <a:xfrm>
              <a:off x="0" y="0"/>
              <a:ext cx="7255510" cy="7072630"/>
            </a:xfrm>
            <a:custGeom>
              <a:avLst/>
              <a:gdLst/>
              <a:ahLst/>
              <a:cxnLst/>
              <a:rect l="l" t="t" r="r" b="b"/>
              <a:pathLst>
                <a:path w="7255510" h="7072630">
                  <a:moveTo>
                    <a:pt x="0" y="146939"/>
                  </a:moveTo>
                  <a:cubicBezTo>
                    <a:pt x="0" y="65786"/>
                    <a:pt x="65786" y="0"/>
                    <a:pt x="146939" y="0"/>
                  </a:cubicBezTo>
                  <a:lnTo>
                    <a:pt x="7108571" y="0"/>
                  </a:lnTo>
                  <a:cubicBezTo>
                    <a:pt x="7189724" y="0"/>
                    <a:pt x="7255510" y="65786"/>
                    <a:pt x="7255510" y="146939"/>
                  </a:cubicBezTo>
                  <a:lnTo>
                    <a:pt x="7255510" y="6925691"/>
                  </a:lnTo>
                  <a:cubicBezTo>
                    <a:pt x="7255510" y="7006844"/>
                    <a:pt x="7189724" y="7072630"/>
                    <a:pt x="7108571" y="7072630"/>
                  </a:cubicBezTo>
                  <a:lnTo>
                    <a:pt x="146939" y="7072630"/>
                  </a:lnTo>
                  <a:cubicBezTo>
                    <a:pt x="65786" y="7072630"/>
                    <a:pt x="0" y="7006844"/>
                    <a:pt x="0" y="69256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44" name="Group 44"/>
          <p:cNvGrpSpPr/>
          <p:nvPr/>
        </p:nvGrpSpPr>
        <p:grpSpPr>
          <a:xfrm>
            <a:off x="12481560" y="3525012"/>
            <a:ext cx="685800" cy="685800"/>
            <a:chOff x="0" y="0"/>
            <a:chExt cx="914400" cy="914400"/>
          </a:xfrm>
        </p:grpSpPr>
        <p:sp>
          <p:nvSpPr>
            <p:cNvPr id="45" name="Freeform 4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46" name="Group 46"/>
          <p:cNvGrpSpPr/>
          <p:nvPr/>
        </p:nvGrpSpPr>
        <p:grpSpPr>
          <a:xfrm>
            <a:off x="12481560" y="3525012"/>
            <a:ext cx="685800" cy="685800"/>
            <a:chOff x="0" y="0"/>
            <a:chExt cx="914400" cy="914400"/>
          </a:xfrm>
        </p:grpSpPr>
        <p:sp>
          <p:nvSpPr>
            <p:cNvPr id="47" name="Freeform 4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03" r="-78303"/>
              </a:stretch>
            </a:blipFill>
          </p:spPr>
          <p:txBody>
            <a:bodyPr/>
            <a:lstStyle/>
            <a:p>
              <a:endParaRPr lang="en-US"/>
            </a:p>
          </p:txBody>
        </p:sp>
        <p:sp>
          <p:nvSpPr>
            <p:cNvPr id="48" name="TextBox 48"/>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3</a:t>
              </a:r>
            </a:p>
          </p:txBody>
        </p:sp>
      </p:grpSp>
      <p:grpSp>
        <p:nvGrpSpPr>
          <p:cNvPr id="49" name="Group 49"/>
          <p:cNvGrpSpPr/>
          <p:nvPr/>
        </p:nvGrpSpPr>
        <p:grpSpPr>
          <a:xfrm>
            <a:off x="13373100" y="3529422"/>
            <a:ext cx="3977640" cy="891540"/>
            <a:chOff x="0" y="0"/>
            <a:chExt cx="5303520" cy="1188720"/>
          </a:xfrm>
        </p:grpSpPr>
        <p:sp>
          <p:nvSpPr>
            <p:cNvPr id="50" name="Freeform 50"/>
            <p:cNvSpPr/>
            <p:nvPr/>
          </p:nvSpPr>
          <p:spPr>
            <a:xfrm>
              <a:off x="0" y="0"/>
              <a:ext cx="5303520" cy="1188720"/>
            </a:xfrm>
            <a:custGeom>
              <a:avLst/>
              <a:gdLst/>
              <a:ahLst/>
              <a:cxnLst/>
              <a:rect l="l" t="t" r="r" b="b"/>
              <a:pathLst>
                <a:path w="5303520" h="1188720">
                  <a:moveTo>
                    <a:pt x="0" y="0"/>
                  </a:moveTo>
                  <a:lnTo>
                    <a:pt x="5303520" y="0"/>
                  </a:lnTo>
                  <a:lnTo>
                    <a:pt x="5303520" y="1188720"/>
                  </a:lnTo>
                  <a:lnTo>
                    <a:pt x="0" y="1188720"/>
                  </a:lnTo>
                  <a:close/>
                </a:path>
              </a:pathLst>
            </a:custGeom>
            <a:blipFill>
              <a:blip r:embed="rId2">
                <a:alphaModFix amt="0"/>
              </a:blip>
              <a:stretch>
                <a:fillRect t="-36933" b="-36933"/>
              </a:stretch>
            </a:blipFill>
          </p:spPr>
          <p:txBody>
            <a:bodyPr/>
            <a:lstStyle/>
            <a:p>
              <a:endParaRPr lang="en-US" sz="3200"/>
            </a:p>
          </p:txBody>
        </p:sp>
        <p:sp>
          <p:nvSpPr>
            <p:cNvPr id="51" name="TextBox 51"/>
            <p:cNvSpPr txBox="1"/>
            <p:nvPr/>
          </p:nvSpPr>
          <p:spPr>
            <a:xfrm>
              <a:off x="0" y="-38100"/>
              <a:ext cx="5303520" cy="1226820"/>
            </a:xfrm>
            <a:prstGeom prst="rect">
              <a:avLst/>
            </a:prstGeom>
          </p:spPr>
          <p:txBody>
            <a:bodyPr lIns="0" tIns="0" rIns="0" bIns="0" rtlCol="0" anchor="ctr"/>
            <a:lstStyle/>
            <a:p>
              <a:pPr algn="l">
                <a:lnSpc>
                  <a:spcPts val="2430"/>
                </a:lnSpc>
              </a:pPr>
              <a:r>
                <a:rPr lang="en-US" sz="3200" b="1">
                  <a:solidFill>
                    <a:srgbClr val="171A1F"/>
                  </a:solidFill>
                  <a:latin typeface="Calibri"/>
                  <a:ea typeface="Calibri (MS) Bold"/>
                  <a:cs typeface="Calibri"/>
                  <a:sym typeface="Calibri (MS) Bold"/>
                </a:rPr>
                <a:t>Change who you’re targeting to reach the consumer</a:t>
              </a:r>
            </a:p>
          </p:txBody>
        </p:sp>
      </p:grpSp>
      <p:sp>
        <p:nvSpPr>
          <p:cNvPr id="52" name="TextBox 52"/>
          <p:cNvSpPr txBox="1"/>
          <p:nvPr/>
        </p:nvSpPr>
        <p:spPr>
          <a:xfrm>
            <a:off x="12516470" y="4609081"/>
            <a:ext cx="4732020" cy="1394997"/>
          </a:xfrm>
          <a:prstGeom prst="rect">
            <a:avLst/>
          </a:prstGeom>
        </p:spPr>
        <p:txBody>
          <a:bodyPr lIns="0" tIns="0" rIns="0" bIns="0" rtlCol="0" anchor="t">
            <a:spAutoFit/>
          </a:bodyPr>
          <a:lstStyle/>
          <a:p>
            <a:pPr algn="l">
              <a:lnSpc>
                <a:spcPts val="1797"/>
              </a:lnSpc>
            </a:pPr>
            <a:r>
              <a:rPr lang="en-US" sz="2000">
                <a:solidFill>
                  <a:srgbClr val="66717D"/>
                </a:solidFill>
                <a:latin typeface="Calibri"/>
                <a:ea typeface="Calibri (MS)"/>
                <a:cs typeface="Calibri"/>
                <a:sym typeface="Calibri (MS)"/>
              </a:rPr>
              <a:t>Partner with insurance brokerage firms to offer Spectrum high-speed home internet to employees as part of employee health and benefits packages. This can transform the commercial base into a second revenue line and a churn anchor.</a:t>
            </a:r>
          </a:p>
        </p:txBody>
      </p:sp>
      <p:grpSp>
        <p:nvGrpSpPr>
          <p:cNvPr id="53" name="Group 53"/>
          <p:cNvGrpSpPr/>
          <p:nvPr/>
        </p:nvGrpSpPr>
        <p:grpSpPr>
          <a:xfrm>
            <a:off x="12481560" y="8023860"/>
            <a:ext cx="4732020" cy="411480"/>
            <a:chOff x="0" y="0"/>
            <a:chExt cx="6309360" cy="548640"/>
          </a:xfrm>
        </p:grpSpPr>
        <p:sp>
          <p:nvSpPr>
            <p:cNvPr id="54" name="Freeform 54"/>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2">
                <a:alphaModFix amt="0"/>
              </a:blip>
              <a:stretch>
                <a:fillRect t="-174077" b="-174077"/>
              </a:stretch>
            </a:blipFill>
          </p:spPr>
          <p:txBody>
            <a:bodyPr/>
            <a:lstStyle/>
            <a:p>
              <a:endParaRPr lang="en-US"/>
            </a:p>
          </p:txBody>
        </p:sp>
        <p:sp>
          <p:nvSpPr>
            <p:cNvPr id="55" name="TextBox 55"/>
            <p:cNvSpPr txBox="1"/>
            <p:nvPr/>
          </p:nvSpPr>
          <p:spPr>
            <a:xfrm>
              <a:off x="0" y="-38100"/>
              <a:ext cx="6309360" cy="586740"/>
            </a:xfrm>
            <a:prstGeom prst="rect">
              <a:avLst/>
            </a:prstGeom>
          </p:spPr>
          <p:txBody>
            <a:bodyPr lIns="0" tIns="0" rIns="0" bIns="0" rtlCol="0" anchor="ctr"/>
            <a:lstStyle/>
            <a:p>
              <a:pPr algn="l">
                <a:lnSpc>
                  <a:spcPts val="1800"/>
                </a:lnSpc>
              </a:pPr>
              <a:r>
                <a:rPr lang="en-US" sz="1500" u="sng">
                  <a:solidFill>
                    <a:srgbClr val="0099D8"/>
                  </a:solidFill>
                  <a:latin typeface="Calibri"/>
                  <a:ea typeface="Calibri (MS)"/>
                  <a:cs typeface="Calibri"/>
                  <a:sym typeface="Calibri (MS)"/>
                  <a:hlinkClick r:id="rId5" action="ppaction://hlinksldjump"/>
                </a:rPr>
                <a:t>Recommendation 3  →  p.8</a:t>
              </a:r>
            </a:p>
          </p:txBody>
        </p:sp>
      </p:grpSp>
      <p:grpSp>
        <p:nvGrpSpPr>
          <p:cNvPr id="56" name="Group 56"/>
          <p:cNvGrpSpPr/>
          <p:nvPr/>
        </p:nvGrpSpPr>
        <p:grpSpPr>
          <a:xfrm>
            <a:off x="754380" y="8805672"/>
            <a:ext cx="16733520" cy="356616"/>
            <a:chOff x="0" y="0"/>
            <a:chExt cx="22311360" cy="475488"/>
          </a:xfrm>
        </p:grpSpPr>
        <p:sp>
          <p:nvSpPr>
            <p:cNvPr id="57" name="Freeform 57"/>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2">
                <a:alphaModFix amt="0"/>
              </a:blip>
              <a:stretch>
                <a:fillRect t="-864297" b="-864297"/>
              </a:stretch>
            </a:blipFill>
          </p:spPr>
          <p:txBody>
            <a:bodyPr/>
            <a:lstStyle/>
            <a:p>
              <a:endParaRPr lang="en-US"/>
            </a:p>
          </p:txBody>
        </p:sp>
        <p:sp>
          <p:nvSpPr>
            <p:cNvPr id="58" name="TextBox 58"/>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Prize and cost figures as detailed on pages 4, 6, and 8; ranges are team estimates. Analogs: Apr 25, 2025 (+11.4%) and Jan 30, 2026 (+7.6%), Yahoo close-to-close.</a:t>
              </a:r>
            </a:p>
          </p:txBody>
        </p:sp>
      </p:grpSp>
      <p:grpSp>
        <p:nvGrpSpPr>
          <p:cNvPr id="59" name="Group 59"/>
          <p:cNvGrpSpPr/>
          <p:nvPr/>
        </p:nvGrpSpPr>
        <p:grpSpPr>
          <a:xfrm>
            <a:off x="754380" y="9168289"/>
            <a:ext cx="16733521" cy="432911"/>
            <a:chOff x="0" y="-28575"/>
            <a:chExt cx="22311361" cy="577215"/>
          </a:xfrm>
        </p:grpSpPr>
        <p:sp>
          <p:nvSpPr>
            <p:cNvPr id="60" name="Freeform 60"/>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61" name="TextBox 61"/>
            <p:cNvSpPr txBox="1"/>
            <p:nvPr/>
          </p:nvSpPr>
          <p:spPr>
            <a:xfrm>
              <a:off x="0" y="-28575"/>
              <a:ext cx="22311360" cy="577215"/>
            </a:xfrm>
            <a:prstGeom prst="rect">
              <a:avLst/>
            </a:prstGeom>
          </p:spPr>
          <p:txBody>
            <a:bodyPr lIns="0" tIns="0" rIns="0" bIns="0" rtlCol="0" anchor="ctr"/>
            <a:lstStyle/>
            <a:p>
              <a:pPr>
                <a:lnSpc>
                  <a:spcPts val="1620"/>
                </a:lnSpc>
              </a:pPr>
              <a:r>
                <a:rPr lang="en-US" sz="1350" b="1">
                  <a:solidFill>
                    <a:srgbClr val="0099D8"/>
                  </a:solidFill>
                  <a:ea typeface="Calibri (MS) Bold"/>
                  <a:cs typeface="Calibri"/>
                  <a:sym typeface="Calibri (MS) Bold"/>
                  <a:hlinkClick r:id="rId6" action="ppaction://hlinksldjump"/>
                </a:rPr>
                <a:t>Appendix</a:t>
              </a:r>
              <a:r>
                <a:rPr lang="en-US" sz="1350" b="1">
                  <a:solidFill>
                    <a:srgbClr val="0099D8"/>
                  </a:solidFill>
                  <a:ea typeface="Calibri (MS) Bold"/>
                  <a:cs typeface="Calibri"/>
                  <a:sym typeface="Calibri (MS) Bold"/>
                </a:rPr>
                <a:t>  ›</a:t>
              </a:r>
              <a:endParaRPr lang="en-US" sz="1350" u="sng">
                <a:solidFill>
                  <a:srgbClr val="0099D8"/>
                </a:solidFill>
                <a:ea typeface="Calibri (MS)"/>
                <a:cs typeface="Calibri"/>
                <a:sym typeface="Calibri (MS)"/>
                <a:hlinkClick r:id="" action="ppaction://noaction"/>
              </a:endParaRPr>
            </a:p>
          </p:txBody>
        </p:sp>
      </p:grpSp>
      <p:grpSp>
        <p:nvGrpSpPr>
          <p:cNvPr id="62" name="Group 62"/>
          <p:cNvGrpSpPr/>
          <p:nvPr/>
        </p:nvGrpSpPr>
        <p:grpSpPr>
          <a:xfrm>
            <a:off x="17076420" y="9669780"/>
            <a:ext cx="960120" cy="411480"/>
            <a:chOff x="0" y="0"/>
            <a:chExt cx="1280160" cy="548640"/>
          </a:xfrm>
        </p:grpSpPr>
        <p:sp>
          <p:nvSpPr>
            <p:cNvPr id="63" name="Freeform 63"/>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2">
                <a:alphaModFix amt="0"/>
              </a:blip>
              <a:stretch>
                <a:fillRect l="-4987" r="-4987"/>
              </a:stretch>
            </a:blipFill>
          </p:spPr>
          <p:txBody>
            <a:bodyPr/>
            <a:lstStyle/>
            <a:p>
              <a:endParaRPr lang="en-US"/>
            </a:p>
          </p:txBody>
        </p:sp>
        <p:sp>
          <p:nvSpPr>
            <p:cNvPr id="64" name="TextBox 64"/>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11</a:t>
              </a:r>
            </a:p>
          </p:txBody>
        </p:sp>
      </p:grpSp>
      <p:grpSp>
        <p:nvGrpSpPr>
          <p:cNvPr id="65" name="Group 65"/>
          <p:cNvGrpSpPr/>
          <p:nvPr/>
        </p:nvGrpSpPr>
        <p:grpSpPr>
          <a:xfrm>
            <a:off x="754380" y="9669780"/>
            <a:ext cx="16047720" cy="411480"/>
            <a:chOff x="0" y="0"/>
            <a:chExt cx="21396960" cy="548640"/>
          </a:xfrm>
        </p:grpSpPr>
        <p:sp>
          <p:nvSpPr>
            <p:cNvPr id="66" name="Freeform 66"/>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67" name="TextBox 67"/>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Changing the Trajectory  ·  Charter Communications (CHTR)  ·  Facts anchored to Q1 2026; Q2 2026 labeled as later public fact where used</a:t>
              </a:r>
            </a:p>
          </p:txBody>
        </p:sp>
      </p:grpSp>
      <p:grpSp>
        <p:nvGrpSpPr>
          <p:cNvPr id="68" name="Group 68"/>
          <p:cNvGrpSpPr/>
          <p:nvPr/>
        </p:nvGrpSpPr>
        <p:grpSpPr>
          <a:xfrm>
            <a:off x="1097280" y="6164580"/>
            <a:ext cx="4732020" cy="1581150"/>
            <a:chOff x="0" y="0"/>
            <a:chExt cx="6309360" cy="2108200"/>
          </a:xfrm>
        </p:grpSpPr>
        <p:sp>
          <p:nvSpPr>
            <p:cNvPr id="69" name="Freeform 69"/>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70" name="TextBox 70"/>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71" name="TextBox 71"/>
          <p:cNvSpPr txBox="1"/>
          <p:nvPr/>
        </p:nvSpPr>
        <p:spPr>
          <a:xfrm>
            <a:off x="124968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72" name="TextBox 72"/>
          <p:cNvSpPr txBox="1"/>
          <p:nvPr/>
        </p:nvSpPr>
        <p:spPr>
          <a:xfrm>
            <a:off x="2049780" y="62598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+8% to +11% on the first improving print</a:t>
            </a:r>
          </a:p>
        </p:txBody>
      </p:sp>
      <p:sp>
        <p:nvSpPr>
          <p:cNvPr id="73" name="AutoShape 73"/>
          <p:cNvSpPr/>
          <p:nvPr/>
        </p:nvSpPr>
        <p:spPr>
          <a:xfrm>
            <a:off x="123063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74" name="TextBox 74"/>
          <p:cNvSpPr txBox="1"/>
          <p:nvPr/>
        </p:nvSpPr>
        <p:spPr>
          <a:xfrm>
            <a:off x="124968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75" name="TextBox 75"/>
          <p:cNvSpPr txBox="1"/>
          <p:nvPr/>
        </p:nvSpPr>
        <p:spPr>
          <a:xfrm>
            <a:off x="2049780" y="678688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$3M to $6M</a:t>
            </a:r>
          </a:p>
        </p:txBody>
      </p:sp>
      <p:sp>
        <p:nvSpPr>
          <p:cNvPr id="76" name="AutoShape 76"/>
          <p:cNvSpPr/>
          <p:nvPr/>
        </p:nvSpPr>
        <p:spPr>
          <a:xfrm>
            <a:off x="123063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77" name="TextBox 77"/>
          <p:cNvSpPr txBox="1"/>
          <p:nvPr/>
        </p:nvSpPr>
        <p:spPr>
          <a:xfrm>
            <a:off x="124968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78" name="TextBox 78"/>
          <p:cNvSpPr txBox="1"/>
          <p:nvPr/>
        </p:nvSpPr>
        <p:spPr>
          <a:xfrm>
            <a:off x="2049780" y="73139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Live Q4 2026, acting Q2 2027</a:t>
            </a:r>
          </a:p>
        </p:txBody>
      </p:sp>
      <p:grpSp>
        <p:nvGrpSpPr>
          <p:cNvPr id="79" name="Group 79"/>
          <p:cNvGrpSpPr/>
          <p:nvPr/>
        </p:nvGrpSpPr>
        <p:grpSpPr>
          <a:xfrm>
            <a:off x="6789420" y="6164580"/>
            <a:ext cx="4732020" cy="1581150"/>
            <a:chOff x="0" y="0"/>
            <a:chExt cx="6309360" cy="2108200"/>
          </a:xfrm>
        </p:grpSpPr>
        <p:sp>
          <p:nvSpPr>
            <p:cNvPr id="80" name="Freeform 80"/>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81" name="TextBox 81"/>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82" name="TextBox 82"/>
          <p:cNvSpPr txBox="1"/>
          <p:nvPr/>
        </p:nvSpPr>
        <p:spPr>
          <a:xfrm>
            <a:off x="694182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83" name="TextBox 83"/>
          <p:cNvSpPr txBox="1"/>
          <p:nvPr/>
        </p:nvSpPr>
        <p:spPr>
          <a:xfrm>
            <a:off x="7741920" y="62598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0.3x to 0.5x re-rating, $7B to $11B</a:t>
            </a:r>
          </a:p>
        </p:txBody>
      </p:sp>
      <p:sp>
        <p:nvSpPr>
          <p:cNvPr id="84" name="AutoShape 84"/>
          <p:cNvSpPr/>
          <p:nvPr/>
        </p:nvSpPr>
        <p:spPr>
          <a:xfrm>
            <a:off x="692277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85" name="TextBox 85"/>
          <p:cNvSpPr txBox="1"/>
          <p:nvPr/>
        </p:nvSpPr>
        <p:spPr>
          <a:xfrm>
            <a:off x="694182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86" name="TextBox 86"/>
          <p:cNvSpPr txBox="1"/>
          <p:nvPr/>
        </p:nvSpPr>
        <p:spPr>
          <a:xfrm>
            <a:off x="7741920" y="678688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No new cash</a:t>
            </a:r>
          </a:p>
        </p:txBody>
      </p:sp>
      <p:sp>
        <p:nvSpPr>
          <p:cNvPr id="87" name="AutoShape 87"/>
          <p:cNvSpPr/>
          <p:nvPr/>
        </p:nvSpPr>
        <p:spPr>
          <a:xfrm>
            <a:off x="692277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88" name="TextBox 88"/>
          <p:cNvSpPr txBox="1"/>
          <p:nvPr/>
        </p:nvSpPr>
        <p:spPr>
          <a:xfrm>
            <a:off x="694182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89" name="TextBox 89"/>
          <p:cNvSpPr txBox="1"/>
          <p:nvPr/>
        </p:nvSpPr>
        <p:spPr>
          <a:xfrm>
            <a:off x="7741920" y="7313930"/>
            <a:ext cx="3627120" cy="293370"/>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Board decision January 2027</a:t>
            </a:r>
          </a:p>
        </p:txBody>
      </p:sp>
      <p:grpSp>
        <p:nvGrpSpPr>
          <p:cNvPr id="90" name="Group 90"/>
          <p:cNvGrpSpPr/>
          <p:nvPr/>
        </p:nvGrpSpPr>
        <p:grpSpPr>
          <a:xfrm>
            <a:off x="12481560" y="6164580"/>
            <a:ext cx="4732020" cy="1581150"/>
            <a:chOff x="0" y="0"/>
            <a:chExt cx="6309360" cy="2108200"/>
          </a:xfrm>
        </p:grpSpPr>
        <p:sp>
          <p:nvSpPr>
            <p:cNvPr id="91" name="Freeform 91"/>
            <p:cNvSpPr/>
            <p:nvPr/>
          </p:nvSpPr>
          <p:spPr>
            <a:xfrm>
              <a:off x="0" y="0"/>
              <a:ext cx="6309360" cy="2108200"/>
            </a:xfrm>
            <a:custGeom>
              <a:avLst/>
              <a:gdLst/>
              <a:ahLst/>
              <a:cxnLst/>
              <a:rect l="l" t="t" r="r" b="b"/>
              <a:pathLst>
                <a:path w="6309360" h="2108200">
                  <a:moveTo>
                    <a:pt x="88900" y="0"/>
                  </a:moveTo>
                  <a:lnTo>
                    <a:pt x="6220460" y="0"/>
                  </a:lnTo>
                  <a:cubicBezTo>
                    <a:pt x="6269558" y="0"/>
                    <a:pt x="6309360" y="39802"/>
                    <a:pt x="6309360" y="88900"/>
                  </a:cubicBezTo>
                  <a:lnTo>
                    <a:pt x="6309360" y="2019300"/>
                  </a:lnTo>
                  <a:cubicBezTo>
                    <a:pt x="6309360" y="2068398"/>
                    <a:pt x="6269558" y="2108200"/>
                    <a:pt x="6220460" y="2108200"/>
                  </a:cubicBezTo>
                  <a:lnTo>
                    <a:pt x="88900" y="2108200"/>
                  </a:lnTo>
                  <a:cubicBezTo>
                    <a:pt x="39802" y="2108200"/>
                    <a:pt x="0" y="2068398"/>
                    <a:pt x="0" y="2019300"/>
                  </a:cubicBezTo>
                  <a:lnTo>
                    <a:pt x="0" y="88900"/>
                  </a:lnTo>
                  <a:cubicBezTo>
                    <a:pt x="0" y="39802"/>
                    <a:pt x="39802" y="0"/>
                    <a:pt x="88900" y="0"/>
                  </a:cubicBezTo>
                  <a:close/>
                </a:path>
              </a:pathLst>
            </a:custGeom>
            <a:solidFill>
              <a:srgbClr val="FEFEFE"/>
            </a:solidFill>
            <a:ln w="9525" cap="sq">
              <a:solidFill>
                <a:srgbClr val="D8E4EC"/>
              </a:solidFill>
              <a:prstDash val="solid"/>
              <a:miter/>
            </a:ln>
          </p:spPr>
          <p:txBody>
            <a:bodyPr/>
            <a:lstStyle/>
            <a:p>
              <a:endParaRPr lang="en-US"/>
            </a:p>
          </p:txBody>
        </p:sp>
        <p:sp>
          <p:nvSpPr>
            <p:cNvPr id="92" name="TextBox 92"/>
            <p:cNvSpPr txBox="1"/>
            <p:nvPr/>
          </p:nvSpPr>
          <p:spPr>
            <a:xfrm>
              <a:off x="0" y="-38100"/>
              <a:ext cx="6309360" cy="2146300"/>
            </a:xfrm>
            <a:prstGeom prst="rect">
              <a:avLst/>
            </a:prstGeom>
          </p:spPr>
          <p:txBody>
            <a:bodyPr lIns="50800" tIns="50800" rIns="50800" bIns="50800" rtlCol="0" anchor="ctr"/>
            <a:lstStyle/>
            <a:p>
              <a:pPr algn="l">
                <a:lnSpc>
                  <a:spcPts val="1679"/>
                </a:lnSpc>
              </a:pPr>
              <a:endParaRPr/>
            </a:p>
          </p:txBody>
        </p:sp>
      </p:grpSp>
      <p:sp>
        <p:nvSpPr>
          <p:cNvPr id="93" name="TextBox 93"/>
          <p:cNvSpPr txBox="1"/>
          <p:nvPr/>
        </p:nvSpPr>
        <p:spPr>
          <a:xfrm>
            <a:off x="12633960" y="62598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Prize</a:t>
            </a:r>
          </a:p>
        </p:txBody>
      </p:sp>
      <p:sp>
        <p:nvSpPr>
          <p:cNvPr id="94" name="TextBox 94"/>
          <p:cNvSpPr txBox="1"/>
          <p:nvPr/>
        </p:nvSpPr>
        <p:spPr>
          <a:xfrm>
            <a:off x="13434060" y="625983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Determined by pilot results</a:t>
            </a:r>
          </a:p>
        </p:txBody>
      </p:sp>
      <p:sp>
        <p:nvSpPr>
          <p:cNvPr id="95" name="AutoShape 95"/>
          <p:cNvSpPr/>
          <p:nvPr/>
        </p:nvSpPr>
        <p:spPr>
          <a:xfrm>
            <a:off x="12614910" y="669163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96" name="TextBox 96"/>
          <p:cNvSpPr txBox="1"/>
          <p:nvPr/>
        </p:nvSpPr>
        <p:spPr>
          <a:xfrm>
            <a:off x="12633960" y="678688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Cost</a:t>
            </a:r>
          </a:p>
        </p:txBody>
      </p:sp>
      <p:sp>
        <p:nvSpPr>
          <p:cNvPr id="97" name="TextBox 97"/>
          <p:cNvSpPr txBox="1"/>
          <p:nvPr/>
        </p:nvSpPr>
        <p:spPr>
          <a:xfrm>
            <a:off x="13434060" y="678688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No new capital expenditures</a:t>
            </a:r>
          </a:p>
        </p:txBody>
      </p:sp>
      <p:sp>
        <p:nvSpPr>
          <p:cNvPr id="98" name="AutoShape 98"/>
          <p:cNvSpPr/>
          <p:nvPr/>
        </p:nvSpPr>
        <p:spPr>
          <a:xfrm>
            <a:off x="12614910" y="7218680"/>
            <a:ext cx="4465320" cy="0"/>
          </a:xfrm>
          <a:prstGeom prst="line">
            <a:avLst/>
          </a:prstGeom>
          <a:ln w="9525" cap="flat">
            <a:solidFill>
              <a:srgbClr val="D8E4EC"/>
            </a:solidFill>
            <a:prstDash val="solid"/>
            <a:headEnd type="none" w="sm" len="sm"/>
            <a:tailEnd type="none" w="sm" len="sm"/>
          </a:ln>
        </p:spPr>
        <p:txBody>
          <a:bodyPr/>
          <a:lstStyle/>
          <a:p>
            <a:endParaRPr lang="en-US"/>
          </a:p>
        </p:txBody>
      </p:sp>
      <p:sp>
        <p:nvSpPr>
          <p:cNvPr id="99" name="TextBox 99"/>
          <p:cNvSpPr txBox="1"/>
          <p:nvPr/>
        </p:nvSpPr>
        <p:spPr>
          <a:xfrm>
            <a:off x="12633960" y="7313930"/>
            <a:ext cx="819150" cy="293370"/>
          </a:xfrm>
          <a:prstGeom prst="rect">
            <a:avLst/>
          </a:prstGeom>
        </p:spPr>
        <p:txBody>
          <a:bodyPr lIns="0" tIns="0" rIns="0" bIns="0" rtlCol="0" anchor="t">
            <a:spAutoFit/>
          </a:bodyPr>
          <a:lstStyle/>
          <a:p>
            <a:pPr algn="l">
              <a:lnSpc>
                <a:spcPts val="2204"/>
              </a:lnSpc>
            </a:pPr>
            <a:r>
              <a:rPr lang="en-US" sz="1575" b="1">
                <a:solidFill>
                  <a:srgbClr val="003057"/>
                </a:solidFill>
                <a:latin typeface="Calibri"/>
                <a:ea typeface="Calibri (MS) Bold"/>
                <a:cs typeface="Calibri"/>
                <a:sym typeface="Calibri (MS) Bold"/>
              </a:rPr>
              <a:t>When</a:t>
            </a:r>
          </a:p>
        </p:txBody>
      </p:sp>
      <p:sp>
        <p:nvSpPr>
          <p:cNvPr id="100" name="TextBox 100"/>
          <p:cNvSpPr txBox="1"/>
          <p:nvPr/>
        </p:nvSpPr>
        <p:spPr>
          <a:xfrm>
            <a:off x="13434060" y="7313930"/>
            <a:ext cx="3627120" cy="264944"/>
          </a:xfrm>
          <a:prstGeom prst="rect">
            <a:avLst/>
          </a:prstGeom>
        </p:spPr>
        <p:txBody>
          <a:bodyPr lIns="0" tIns="0" rIns="0" bIns="0" rtlCol="0" anchor="t">
            <a:spAutoFit/>
          </a:bodyPr>
          <a:lstStyle/>
          <a:p>
            <a:pPr algn="l">
              <a:lnSpc>
                <a:spcPts val="2204"/>
              </a:lnSpc>
            </a:pPr>
            <a:r>
              <a:rPr lang="en-US" sz="1575" b="1">
                <a:solidFill>
                  <a:srgbClr val="0099D8"/>
                </a:solidFill>
                <a:latin typeface="Calibri"/>
                <a:ea typeface="Calibri (MS) Bold"/>
                <a:cs typeface="Calibri"/>
                <a:sym typeface="Calibri (MS) Bold"/>
              </a:rPr>
              <a:t>Pilot Q2 2027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Appendix Index</a:t>
            </a:r>
          </a:p>
        </p:txBody>
      </p:sp>
      <p:sp>
        <p:nvSpPr>
          <p:cNvPr id="6" name="TextBox 6"/>
          <p:cNvSpPr txBox="1"/>
          <p:nvPr/>
        </p:nvSpPr>
        <p:spPr>
          <a:xfrm>
            <a:off x="754380" y="1461897"/>
            <a:ext cx="8092440" cy="7386638"/>
          </a:xfrm>
          <a:prstGeom prst="rect">
            <a:avLst/>
          </a:prstGeom>
        </p:spPr>
        <p:txBody>
          <a:bodyPr lIns="0" tIns="0" rIns="0" bIns="0" rtlCol="0" anchor="t">
            <a:spAutoFit/>
          </a:bodyPr>
          <a:lstStyle/>
          <a:p>
            <a:pPr algn="l"/>
            <a:r>
              <a:rPr lang="en-US" sz="2000" b="1">
                <a:solidFill>
                  <a:srgbClr val="0099D8"/>
                </a:solidFill>
                <a:latin typeface="Calibri"/>
                <a:ea typeface="Calibri (MS) Bold"/>
                <a:cs typeface="Calibri"/>
                <a:sym typeface="Calibri (MS) Bold"/>
              </a:rPr>
              <a:t>A02   </a:t>
            </a:r>
            <a:r>
              <a:rPr lang="en-US" sz="2000" u="sng">
                <a:solidFill>
                  <a:srgbClr val="0099D8"/>
                </a:solidFill>
                <a:latin typeface="Calibri"/>
                <a:ea typeface="Calibri (MS)"/>
                <a:cs typeface="Calibri"/>
                <a:sym typeface="Calibri (MS)"/>
                <a:hlinkClick r:id="rId4" action="ppaction://hlinksldjump"/>
              </a:rPr>
              <a:t>Internet net adds by quarter</a:t>
            </a:r>
          </a:p>
          <a:p>
            <a:pPr algn="l"/>
            <a:r>
              <a:rPr lang="en-US" sz="2000" b="1">
                <a:solidFill>
                  <a:srgbClr val="0099D8"/>
                </a:solidFill>
                <a:latin typeface="Calibri"/>
                <a:ea typeface="Calibri (MS) Bold"/>
                <a:cs typeface="Calibri"/>
                <a:sym typeface="Calibri (MS) Bold"/>
              </a:rPr>
              <a:t>A03   </a:t>
            </a:r>
            <a:r>
              <a:rPr lang="en-US" sz="2000" u="sng">
                <a:solidFill>
                  <a:srgbClr val="0099D8"/>
                </a:solidFill>
                <a:latin typeface="Calibri"/>
                <a:ea typeface="Calibri (MS)"/>
                <a:cs typeface="Calibri"/>
                <a:sym typeface="Calibri (MS)"/>
                <a:hlinkClick r:id="rId5" action="ppaction://hlinksldjump"/>
              </a:rPr>
              <a:t>Internet vs. mobile  </a:t>
            </a:r>
          </a:p>
          <a:p>
            <a:pPr algn="l"/>
            <a:r>
              <a:rPr lang="en-US" sz="2000" b="1">
                <a:solidFill>
                  <a:srgbClr val="0099D8"/>
                </a:solidFill>
                <a:latin typeface="Calibri"/>
                <a:ea typeface="Calibri (MS) Bold"/>
                <a:cs typeface="Calibri"/>
                <a:sym typeface="Calibri (MS) Bold"/>
              </a:rPr>
              <a:t>A04   </a:t>
            </a:r>
            <a:r>
              <a:rPr lang="en-US" sz="2000" u="sng">
                <a:solidFill>
                  <a:srgbClr val="0099D8"/>
                </a:solidFill>
                <a:latin typeface="Calibri"/>
                <a:ea typeface="Calibri (MS)"/>
                <a:cs typeface="Calibri"/>
                <a:sym typeface="Calibri (MS)"/>
                <a:hlinkClick r:id="rId6" action="ppaction://hlinksldjump"/>
              </a:rPr>
              <a:t>Revenue mix FY23–FY25  </a:t>
            </a:r>
          </a:p>
          <a:p>
            <a:pPr algn="l"/>
            <a:r>
              <a:rPr lang="en-US" sz="2000" b="1">
                <a:solidFill>
                  <a:srgbClr val="0099D8"/>
                </a:solidFill>
                <a:latin typeface="Calibri"/>
                <a:ea typeface="Calibri (MS) Bold"/>
                <a:cs typeface="Calibri"/>
                <a:sym typeface="Calibri (MS) Bold"/>
              </a:rPr>
              <a:t>A05   </a:t>
            </a:r>
            <a:r>
              <a:rPr lang="en-US" sz="2000" u="sng">
                <a:solidFill>
                  <a:srgbClr val="0099D8"/>
                </a:solidFill>
                <a:latin typeface="Calibri"/>
                <a:ea typeface="Calibri (MS)"/>
                <a:cs typeface="Calibri"/>
                <a:sym typeface="Calibri (MS)"/>
                <a:hlinkClick r:id="rId7" action="ppaction://hlinksldjump"/>
              </a:rPr>
              <a:t>Internet revenue: rate vs. volume  </a:t>
            </a:r>
          </a:p>
          <a:p>
            <a:pPr algn="l"/>
            <a:r>
              <a:rPr lang="en-US" sz="2000" b="1">
                <a:solidFill>
                  <a:srgbClr val="0099D8"/>
                </a:solidFill>
                <a:latin typeface="Calibri"/>
                <a:ea typeface="Calibri (MS) Bold"/>
                <a:cs typeface="Calibri"/>
                <a:sym typeface="Calibri (MS) Bold"/>
              </a:rPr>
              <a:t>A06   </a:t>
            </a:r>
            <a:r>
              <a:rPr lang="en-US" sz="2000" u="sng">
                <a:solidFill>
                  <a:srgbClr val="0099D8"/>
                </a:solidFill>
                <a:latin typeface="Calibri"/>
                <a:ea typeface="Calibri (MS)"/>
                <a:cs typeface="Calibri"/>
                <a:sym typeface="Calibri (MS)"/>
                <a:hlinkClick r:id="rId8" action="ppaction://hlinksldjump"/>
              </a:rPr>
              <a:t>FCF vs. capex  </a:t>
            </a:r>
          </a:p>
          <a:p>
            <a:pPr algn="l"/>
            <a:r>
              <a:rPr lang="en-US" sz="2000" b="1">
                <a:solidFill>
                  <a:srgbClr val="0099D8"/>
                </a:solidFill>
                <a:latin typeface="Calibri"/>
                <a:ea typeface="Calibri (MS) Bold"/>
                <a:cs typeface="Calibri"/>
                <a:sym typeface="Calibri (MS) Bold"/>
              </a:rPr>
              <a:t>A07   </a:t>
            </a:r>
            <a:r>
              <a:rPr lang="en-US" sz="2000" u="sng">
                <a:solidFill>
                  <a:srgbClr val="0099D8"/>
                </a:solidFill>
                <a:latin typeface="Calibri"/>
                <a:ea typeface="Calibri (MS)"/>
                <a:cs typeface="Calibri"/>
                <a:sym typeface="Calibri (MS)"/>
                <a:hlinkClick r:id="rId9" action="ppaction://hlinksldjump"/>
              </a:rPr>
              <a:t>Earnings-day event table  </a:t>
            </a:r>
          </a:p>
          <a:p>
            <a:pPr algn="l"/>
            <a:r>
              <a:rPr lang="en-US" sz="2000" b="1">
                <a:solidFill>
                  <a:srgbClr val="0099D8"/>
                </a:solidFill>
                <a:latin typeface="Calibri"/>
                <a:ea typeface="Calibri (MS) Bold"/>
                <a:cs typeface="Calibri"/>
                <a:sym typeface="Calibri (MS) Bold"/>
              </a:rPr>
              <a:t>A08   </a:t>
            </a:r>
            <a:r>
              <a:rPr lang="en-US" sz="2000" u="sng">
                <a:solidFill>
                  <a:srgbClr val="0099D8"/>
                </a:solidFill>
                <a:latin typeface="Calibri"/>
                <a:ea typeface="Calibri (MS)"/>
                <a:cs typeface="Calibri"/>
                <a:sym typeface="Calibri (MS)"/>
                <a:hlinkClick r:id="rId10" action="ppaction://hlinksldjump"/>
              </a:rPr>
              <a:t>CHTR vs. CMCSA  </a:t>
            </a:r>
          </a:p>
          <a:p>
            <a:pPr algn="l"/>
            <a:r>
              <a:rPr lang="en-US" sz="2000" b="1">
                <a:solidFill>
                  <a:srgbClr val="0099D8"/>
                </a:solidFill>
                <a:latin typeface="Calibri"/>
                <a:ea typeface="Calibri (MS) Bold"/>
                <a:cs typeface="Calibri"/>
                <a:sym typeface="Calibri (MS) Bold"/>
              </a:rPr>
              <a:t>A09   </a:t>
            </a:r>
            <a:r>
              <a:rPr lang="en-US" sz="2000" u="sng">
                <a:solidFill>
                  <a:srgbClr val="0099D8"/>
                </a:solidFill>
                <a:latin typeface="Calibri"/>
                <a:ea typeface="Calibri (MS)"/>
                <a:cs typeface="Calibri"/>
                <a:sym typeface="Calibri (MS)"/>
                <a:hlinkClick r:id="rId11" action="ppaction://hlinksldjump"/>
              </a:rPr>
              <a:t>Price path vs. buybacks  </a:t>
            </a:r>
          </a:p>
          <a:p>
            <a:pPr algn="l"/>
            <a:r>
              <a:rPr lang="en-US" sz="2000" b="1">
                <a:solidFill>
                  <a:srgbClr val="0099D8"/>
                </a:solidFill>
                <a:latin typeface="Calibri"/>
                <a:ea typeface="Calibri (MS) Bold"/>
                <a:cs typeface="Calibri"/>
                <a:sym typeface="Calibri (MS) Bold"/>
              </a:rPr>
              <a:t>A10   </a:t>
            </a:r>
            <a:r>
              <a:rPr lang="en-US" sz="2000" u="sng">
                <a:solidFill>
                  <a:srgbClr val="0099D8"/>
                </a:solidFill>
                <a:latin typeface="Calibri"/>
                <a:ea typeface="Calibri (MS)"/>
                <a:cs typeface="Calibri"/>
                <a:sym typeface="Calibri (MS)"/>
                <a:hlinkClick r:id="rId12" action="ppaction://hlinksldjump"/>
              </a:rPr>
              <a:t>Killed hypotheses  </a:t>
            </a:r>
          </a:p>
          <a:p>
            <a:pPr algn="l"/>
            <a:r>
              <a:rPr lang="en-US" sz="2000" b="1">
                <a:solidFill>
                  <a:srgbClr val="0099D8"/>
                </a:solidFill>
                <a:latin typeface="Calibri"/>
                <a:ea typeface="Calibri (MS) Bold"/>
                <a:cs typeface="Calibri"/>
                <a:sym typeface="Calibri (MS) Bold"/>
              </a:rPr>
              <a:t>A11   </a:t>
            </a:r>
            <a:r>
              <a:rPr lang="en-US" sz="2000" u="sng">
                <a:solidFill>
                  <a:srgbClr val="0099D8"/>
                </a:solidFill>
                <a:latin typeface="Calibri"/>
                <a:ea typeface="Calibri (MS)"/>
                <a:cs typeface="Calibri"/>
                <a:sym typeface="Calibri (MS)"/>
                <a:hlinkClick r:id="rId13" action="ppaction://hlinksldjump"/>
              </a:rPr>
              <a:t>Issue tree  </a:t>
            </a:r>
          </a:p>
          <a:p>
            <a:pPr algn="l"/>
            <a:r>
              <a:rPr lang="en-US" sz="2000" b="1">
                <a:solidFill>
                  <a:srgbClr val="0099D8"/>
                </a:solidFill>
                <a:latin typeface="Calibri"/>
                <a:ea typeface="Calibri (MS) Bold"/>
                <a:cs typeface="Calibri"/>
                <a:sym typeface="Calibri (MS) Bold"/>
              </a:rPr>
              <a:t>A12   </a:t>
            </a:r>
            <a:r>
              <a:rPr lang="en-US" sz="2000" u="sng">
                <a:solidFill>
                  <a:srgbClr val="0099D8"/>
                </a:solidFill>
                <a:latin typeface="Calibri"/>
                <a:ea typeface="Calibri (MS)"/>
                <a:cs typeface="Calibri"/>
                <a:sym typeface="Calibri (MS)"/>
                <a:hlinkClick r:id="rId14" action="ppaction://hlinksldjump"/>
              </a:rPr>
              <a:t>Sensor build  </a:t>
            </a:r>
          </a:p>
          <a:p>
            <a:pPr algn="l"/>
            <a:r>
              <a:rPr lang="en-US" sz="2000" b="1">
                <a:solidFill>
                  <a:srgbClr val="0099D8"/>
                </a:solidFill>
                <a:latin typeface="Calibri"/>
                <a:ea typeface="Calibri (MS) Bold"/>
                <a:cs typeface="Calibri"/>
                <a:sym typeface="Calibri (MS) Bold"/>
              </a:rPr>
              <a:t>A13   </a:t>
            </a:r>
            <a:r>
              <a:rPr lang="en-US" sz="2000" u="sng">
                <a:solidFill>
                  <a:srgbClr val="0099D8"/>
                </a:solidFill>
                <a:latin typeface="Calibri"/>
                <a:ea typeface="Calibri (MS)"/>
                <a:cs typeface="Calibri"/>
                <a:sym typeface="Calibri (MS)"/>
                <a:hlinkClick r:id="rId15" action="ppaction://hlinksldjump"/>
              </a:rPr>
              <a:t>Decision thresholds  </a:t>
            </a:r>
          </a:p>
          <a:p>
            <a:pPr algn="l"/>
            <a:r>
              <a:rPr lang="en-US" sz="2000" b="1">
                <a:solidFill>
                  <a:srgbClr val="0099D8"/>
                </a:solidFill>
                <a:latin typeface="Calibri"/>
                <a:ea typeface="Calibri (MS) Bold"/>
                <a:cs typeface="Calibri"/>
                <a:sym typeface="Calibri (MS) Bold"/>
              </a:rPr>
              <a:t>A14   </a:t>
            </a:r>
            <a:r>
              <a:rPr lang="en-US" sz="2000" u="sng">
                <a:solidFill>
                  <a:srgbClr val="0099D8"/>
                </a:solidFill>
                <a:latin typeface="Calibri"/>
                <a:ea typeface="Calibri (MS)"/>
                <a:cs typeface="Calibri"/>
                <a:sym typeface="Calibri (MS)"/>
                <a:hlinkClick r:id="rId16" action="ppaction://hlinksldjump"/>
              </a:rPr>
              <a:t>Scenarios 1–3  </a:t>
            </a:r>
          </a:p>
          <a:p>
            <a:pPr algn="l"/>
            <a:r>
              <a:rPr lang="en-US" sz="2000" b="1">
                <a:solidFill>
                  <a:srgbClr val="0099D8"/>
                </a:solidFill>
                <a:latin typeface="Calibri"/>
                <a:ea typeface="Calibri (MS) Bold"/>
                <a:cs typeface="Calibri"/>
                <a:sym typeface="Calibri (MS) Bold"/>
              </a:rPr>
              <a:t>A15   </a:t>
            </a:r>
            <a:r>
              <a:rPr lang="en-US" sz="2000" u="sng">
                <a:solidFill>
                  <a:srgbClr val="0099D8"/>
                </a:solidFill>
                <a:latin typeface="Calibri"/>
                <a:ea typeface="Calibri (MS)"/>
                <a:cs typeface="Calibri"/>
                <a:sym typeface="Calibri (MS)"/>
                <a:hlinkClick r:id="rId17" action="ppaction://hlinksldjump"/>
              </a:rPr>
              <a:t>Scenarios 4–6  </a:t>
            </a:r>
          </a:p>
          <a:p>
            <a:r>
              <a:rPr lang="en-US" sz="2000" b="1">
                <a:solidFill>
                  <a:srgbClr val="0099D8"/>
                </a:solidFill>
                <a:ea typeface="Calibri (MS) Bold"/>
                <a:cs typeface="Calibri"/>
                <a:sym typeface="Calibri (MS) Bold"/>
              </a:rPr>
              <a:t>A16   </a:t>
            </a:r>
            <a:r>
              <a:rPr lang="en-US" sz="2000" u="sng">
                <a:solidFill>
                  <a:srgbClr val="0099D8"/>
                </a:solidFill>
                <a:ea typeface="Calibri (MS)"/>
                <a:cs typeface="Calibri"/>
                <a:sym typeface="Calibri (MS)"/>
                <a:hlinkClick r:id="rId18" action="ppaction://hlinksldjump"/>
              </a:rPr>
              <a:t>Playbook on a page  </a:t>
            </a:r>
          </a:p>
          <a:p>
            <a:r>
              <a:rPr lang="en-US" sz="2000" b="1">
                <a:solidFill>
                  <a:srgbClr val="0099D8"/>
                </a:solidFill>
                <a:ea typeface="Calibri (MS) Bold"/>
                <a:cs typeface="Calibri"/>
                <a:sym typeface="Calibri (MS) Bold"/>
              </a:rPr>
              <a:t>A17   </a:t>
            </a:r>
            <a:r>
              <a:rPr lang="en-US" sz="2000" u="sng">
                <a:solidFill>
                  <a:srgbClr val="0099D8"/>
                </a:solidFill>
                <a:ea typeface="Calibri (MS)"/>
                <a:cs typeface="Calibri"/>
                <a:sym typeface="Calibri (MS)"/>
                <a:hlinkClick r:id="rId19" action="ppaction://hlinksldjump"/>
              </a:rPr>
              <a:t>Capital &amp; disclosure detail  </a:t>
            </a:r>
          </a:p>
          <a:p>
            <a:r>
              <a:rPr lang="en-US" sz="2000" b="1">
                <a:solidFill>
                  <a:srgbClr val="0099D8"/>
                </a:solidFill>
                <a:ea typeface="Calibri (MS) Bold"/>
                <a:cs typeface="Calibri"/>
                <a:sym typeface="Calibri (MS) Bold"/>
              </a:rPr>
              <a:t>A18   </a:t>
            </a:r>
            <a:r>
              <a:rPr lang="en-US" sz="2000" u="sng">
                <a:solidFill>
                  <a:srgbClr val="0099D8"/>
                </a:solidFill>
                <a:ea typeface="Calibri (MS)"/>
                <a:cs typeface="Calibri"/>
                <a:sym typeface="Calibri (MS)"/>
                <a:hlinkClick r:id="rId20" action="ppaction://hlinksldjump"/>
              </a:rPr>
              <a:t>EHB detail &amp; assumptions  </a:t>
            </a:r>
          </a:p>
          <a:p>
            <a:r>
              <a:rPr lang="en-US" sz="2000" b="1">
                <a:solidFill>
                  <a:srgbClr val="0099D8"/>
                </a:solidFill>
                <a:ea typeface="Calibri (MS) Bold"/>
                <a:cs typeface="Calibri"/>
                <a:sym typeface="Calibri (MS) Bold"/>
              </a:rPr>
              <a:t>A19   </a:t>
            </a:r>
            <a:r>
              <a:rPr lang="en-US" sz="2000" u="sng">
                <a:solidFill>
                  <a:srgbClr val="0099D8"/>
                </a:solidFill>
                <a:ea typeface="Calibri (MS)"/>
                <a:cs typeface="Calibri"/>
                <a:sym typeface="Calibri (MS)"/>
                <a:hlinkClick r:id="rId21" action="ppaction://hlinksldjump"/>
              </a:rPr>
              <a:t>Sizing the prize  </a:t>
            </a:r>
          </a:p>
          <a:p>
            <a:r>
              <a:rPr lang="en-US" sz="2000" b="1">
                <a:solidFill>
                  <a:srgbClr val="0099D8"/>
                </a:solidFill>
                <a:ea typeface="Calibri (MS) Bold"/>
                <a:cs typeface="Calibri"/>
                <a:sym typeface="Calibri (MS) Bold"/>
              </a:rPr>
              <a:t>A20   </a:t>
            </a:r>
            <a:r>
              <a:rPr lang="en-US" sz="2000" u="sng">
                <a:solidFill>
                  <a:srgbClr val="0099D8"/>
                </a:solidFill>
                <a:ea typeface="Calibri (MS)"/>
                <a:cs typeface="Calibri"/>
                <a:sym typeface="Calibri (MS)"/>
                <a:hlinkClick r:id="rId22" action="ppaction://hlinksldjump"/>
              </a:rPr>
              <a:t>Governance timeline </a:t>
            </a:r>
          </a:p>
          <a:p>
            <a:r>
              <a:rPr lang="en-US" sz="2000" b="1">
                <a:solidFill>
                  <a:srgbClr val="0099D8"/>
                </a:solidFill>
                <a:ea typeface="Calibri (MS) Bold"/>
                <a:cs typeface="Calibri"/>
                <a:sym typeface="Calibri (MS) Bold"/>
              </a:rPr>
              <a:t>A21   </a:t>
            </a:r>
            <a:r>
              <a:rPr lang="en-US" sz="2000" u="sng">
                <a:solidFill>
                  <a:srgbClr val="0099D8"/>
                </a:solidFill>
                <a:ea typeface="Calibri (MS)"/>
                <a:cs typeface="Calibri"/>
                <a:sym typeface="Calibri (MS)"/>
                <a:hlinkClick r:id="rId23" action="ppaction://hlinksldjump"/>
              </a:rPr>
              <a:t>Trade-offs owned </a:t>
            </a:r>
          </a:p>
          <a:p>
            <a:r>
              <a:rPr lang="en-US" sz="2000" b="1">
                <a:solidFill>
                  <a:srgbClr val="0099D8"/>
                </a:solidFill>
                <a:ea typeface="Calibri (MS) Bold"/>
                <a:cs typeface="Calibri"/>
                <a:sym typeface="Calibri (MS) Bold"/>
              </a:rPr>
              <a:t>A22   </a:t>
            </a:r>
            <a:r>
              <a:rPr lang="en-US" sz="2000" u="sng">
                <a:solidFill>
                  <a:srgbClr val="0099D8"/>
                </a:solidFill>
                <a:ea typeface="Calibri (MS)"/>
                <a:cs typeface="Calibri"/>
                <a:sym typeface="Calibri (MS)"/>
                <a:hlinkClick r:id="rId24" action="ppaction://hlinksldjump"/>
              </a:rPr>
              <a:t>Alternatives considered </a:t>
            </a:r>
          </a:p>
          <a:p>
            <a:r>
              <a:rPr lang="en-US" sz="2000" b="1">
                <a:solidFill>
                  <a:srgbClr val="0099D8"/>
                </a:solidFill>
                <a:ea typeface="Calibri (MS) Bold"/>
                <a:cs typeface="Calibri"/>
                <a:sym typeface="Calibri (MS) Bold"/>
              </a:rPr>
              <a:t>A23   </a:t>
            </a:r>
            <a:r>
              <a:rPr lang="en-US" sz="2000" u="sng">
                <a:solidFill>
                  <a:srgbClr val="0099D8"/>
                </a:solidFill>
                <a:ea typeface="Calibri (MS)"/>
                <a:cs typeface="Calibri"/>
                <a:sym typeface="Calibri (MS)"/>
                <a:hlinkClick r:id="rId25" action="ppaction://hlinksldjump"/>
              </a:rPr>
              <a:t>Anticipated pushback  </a:t>
            </a:r>
          </a:p>
          <a:p>
            <a:r>
              <a:rPr lang="en-US" sz="2000" b="1">
                <a:solidFill>
                  <a:srgbClr val="0099D8"/>
                </a:solidFill>
                <a:ea typeface="Calibri (MS) Bold"/>
                <a:cs typeface="Calibri"/>
                <a:sym typeface="Calibri (MS) Bold"/>
              </a:rPr>
              <a:t>A24   </a:t>
            </a:r>
            <a:r>
              <a:rPr lang="en-US" sz="2000" u="sng">
                <a:solidFill>
                  <a:srgbClr val="0099D8"/>
                </a:solidFill>
                <a:ea typeface="Calibri (MS)"/>
                <a:cs typeface="Calibri"/>
                <a:sym typeface="Calibri (MS)"/>
                <a:hlinkClick r:id="rId26" action="ppaction://hlinksldjump"/>
              </a:rPr>
              <a:t>Cox &amp; Liberty  </a:t>
            </a:r>
            <a:endParaRPr lang="en-US" sz="2000" u="sng">
              <a:solidFill>
                <a:srgbClr val="0099D8"/>
              </a:solidFill>
              <a:ea typeface="Calibri (MS)"/>
              <a:cs typeface="Calibri"/>
              <a:sym typeface="Calibri (MS)"/>
            </a:endParaRPr>
          </a:p>
          <a:p>
            <a:r>
              <a:rPr lang="en-US" sz="2000" b="1">
                <a:solidFill>
                  <a:srgbClr val="0099D8"/>
                </a:solidFill>
                <a:ea typeface="Calibri (MS) Bold"/>
                <a:cs typeface="Calibri"/>
                <a:sym typeface="Calibri (MS) Bold"/>
              </a:rPr>
              <a:t>A25   </a:t>
            </a:r>
            <a:r>
              <a:rPr lang="en-US" sz="2000" u="sng">
                <a:solidFill>
                  <a:srgbClr val="0099D8"/>
                </a:solidFill>
                <a:ea typeface="Calibri (MS)"/>
                <a:cs typeface="Calibri"/>
                <a:sym typeface="Calibri (MS)"/>
                <a:hlinkClick r:id="rId27" action="ppaction://hlinksldjump"/>
              </a:rPr>
              <a:t>Competition &amp; network  </a:t>
            </a:r>
            <a:endParaRPr lang="en-US" sz="2000" u="sng">
              <a:solidFill>
                <a:srgbClr val="0099D8"/>
              </a:solidFill>
              <a:ea typeface="Calibri (MS)"/>
              <a:cs typeface="Calibri"/>
              <a:sym typeface="Calibri (MS)"/>
              <a:hlinkClick r:id="rId25" action="ppaction://hlinksldjump"/>
            </a:endParaRPr>
          </a:p>
        </p:txBody>
      </p:sp>
      <p:sp>
        <p:nvSpPr>
          <p:cNvPr id="7" name="TextBox 7"/>
          <p:cNvSpPr txBox="1"/>
          <p:nvPr/>
        </p:nvSpPr>
        <p:spPr>
          <a:xfrm>
            <a:off x="9258300" y="1461897"/>
            <a:ext cx="8092440" cy="7078861"/>
          </a:xfrm>
          <a:prstGeom prst="rect">
            <a:avLst/>
          </a:prstGeom>
        </p:spPr>
        <p:txBody>
          <a:bodyPr lIns="0" tIns="0" rIns="0" bIns="0" rtlCol="0" anchor="t">
            <a:spAutoFit/>
          </a:bodyPr>
          <a:lstStyle/>
          <a:p>
            <a:r>
              <a:rPr lang="en-US" sz="2000" b="1">
                <a:solidFill>
                  <a:srgbClr val="0099D8"/>
                </a:solidFill>
                <a:ea typeface="Calibri (MS) Bold"/>
                <a:cs typeface="Calibri"/>
                <a:sym typeface="Calibri (MS) Bold"/>
              </a:rPr>
              <a:t>A26   </a:t>
            </a:r>
            <a:r>
              <a:rPr lang="en-US" sz="2000" u="sng">
                <a:solidFill>
                  <a:srgbClr val="0099D8"/>
                </a:solidFill>
                <a:ea typeface="Calibri (MS)"/>
                <a:cs typeface="Calibri"/>
                <a:sym typeface="Calibri (MS)"/>
                <a:hlinkClick r:id="rId28" action="ppaction://hlinksldjump"/>
              </a:rPr>
              <a:t>Must-know numbers  </a:t>
            </a:r>
            <a:endParaRPr lang="en-US" sz="2000" b="1">
              <a:solidFill>
                <a:srgbClr val="0099D8"/>
              </a:solidFill>
              <a:latin typeface="Calibri"/>
              <a:ea typeface="Calibri (MS) Bold"/>
              <a:cs typeface="Calibri"/>
              <a:sym typeface="Calibri (MS) Bold"/>
            </a:endParaRPr>
          </a:p>
          <a:p>
            <a:pPr algn="l"/>
            <a:r>
              <a:rPr lang="en-US" sz="2000" b="1">
                <a:solidFill>
                  <a:srgbClr val="0099D8"/>
                </a:solidFill>
                <a:latin typeface="Calibri"/>
                <a:ea typeface="Calibri (MS) Bold"/>
                <a:cs typeface="Calibri"/>
                <a:sym typeface="Calibri (MS) Bold"/>
              </a:rPr>
              <a:t>A27   </a:t>
            </a:r>
            <a:r>
              <a:rPr lang="en-US" sz="2000" u="sng">
                <a:solidFill>
                  <a:srgbClr val="0099D8"/>
                </a:solidFill>
                <a:latin typeface="Calibri"/>
                <a:ea typeface="Calibri (MS)"/>
                <a:cs typeface="Calibri"/>
                <a:sym typeface="Calibri (MS)"/>
                <a:hlinkClick r:id="rId29" action="ppaction://hlinksldjump"/>
              </a:rPr>
              <a:t>Q1 2026 quarter </a:t>
            </a:r>
          </a:p>
          <a:p>
            <a:pPr algn="l"/>
            <a:r>
              <a:rPr lang="en-US" sz="2000" b="1">
                <a:solidFill>
                  <a:srgbClr val="0099D8"/>
                </a:solidFill>
                <a:latin typeface="Calibri"/>
                <a:ea typeface="Calibri (MS) Bold"/>
                <a:cs typeface="Calibri"/>
                <a:sym typeface="Calibri (MS) Bold"/>
              </a:rPr>
              <a:t>A28   </a:t>
            </a:r>
            <a:r>
              <a:rPr lang="en-US" sz="2000" u="sng">
                <a:solidFill>
                  <a:srgbClr val="0099D8"/>
                </a:solidFill>
                <a:latin typeface="Calibri"/>
                <a:ea typeface="Calibri (MS)"/>
                <a:cs typeface="Calibri"/>
                <a:sym typeface="Calibri (MS)"/>
                <a:hlinkClick r:id="rId30" action="ppaction://hlinksldjump"/>
              </a:rPr>
              <a:t>Sources &amp; provenance  </a:t>
            </a:r>
          </a:p>
          <a:p>
            <a:r>
              <a:rPr lang="en-US" sz="2000" b="1">
                <a:solidFill>
                  <a:srgbClr val="0099D8"/>
                </a:solidFill>
                <a:latin typeface="Calibri"/>
                <a:ea typeface="Calibri (MS) Bold"/>
                <a:cs typeface="Calibri"/>
                <a:sym typeface="Calibri (MS) Bold"/>
              </a:rPr>
              <a:t>A29   </a:t>
            </a:r>
            <a:r>
              <a:rPr lang="en-US" sz="2000" u="sng">
                <a:solidFill>
                  <a:srgbClr val="0099D8"/>
                </a:solidFill>
                <a:latin typeface="Calibri"/>
                <a:ea typeface="Calibri (MS)"/>
                <a:cs typeface="Calibri"/>
                <a:sym typeface="Calibri (MS)"/>
                <a:hlinkClick r:id="rId31" action="ppaction://hlinksldjump"/>
              </a:rPr>
              <a:t>AI-use documentation </a:t>
            </a:r>
            <a:br>
              <a:rPr lang="en-US" sz="2000" u="sng">
                <a:solidFill>
                  <a:srgbClr val="0099D8"/>
                </a:solidFill>
                <a:latin typeface="Calibri"/>
                <a:ea typeface="Calibri (MS)"/>
                <a:cs typeface="Calibri"/>
                <a:sym typeface="Calibri (MS)"/>
                <a:hlinkClick r:id="rId31" action="ppaction://hlinksldjump"/>
              </a:rPr>
            </a:br>
            <a:r>
              <a:rPr lang="en-US" sz="2000" b="1">
                <a:solidFill>
                  <a:srgbClr val="0099D8"/>
                </a:solidFill>
                <a:ea typeface="Calibri (MS) Bold"/>
                <a:cs typeface="Calibri"/>
                <a:sym typeface="Calibri (MS) Bold"/>
              </a:rPr>
              <a:t>A30  </a:t>
            </a:r>
            <a:r>
              <a:rPr lang="en-US" sz="2000" u="sng">
                <a:solidFill>
                  <a:srgbClr val="0099D8"/>
                </a:solidFill>
                <a:ea typeface="Calibri (MS) Bold"/>
                <a:cs typeface="Calibri"/>
                <a:sym typeface="Calibri (MS) Bold"/>
                <a:hlinkClick r:id="rId32" action="ppaction://hlinksldjump"/>
              </a:rPr>
              <a:t>Comcast vs Charter - Availability</a:t>
            </a:r>
            <a:endParaRPr lang="en-US" sz="2000" b="1">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A31  </a:t>
            </a:r>
            <a:r>
              <a:rPr lang="en-US" sz="2000" u="sng">
                <a:solidFill>
                  <a:srgbClr val="0099D8"/>
                </a:solidFill>
                <a:ea typeface="Calibri (MS) Bold"/>
                <a:cs typeface="Calibri"/>
                <a:sym typeface="Calibri (MS) Bold"/>
                <a:hlinkClick r:id="rId33" action="ppaction://hlinksldjump"/>
              </a:rPr>
              <a:t>Comcast vs Charter – State Lead</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A32  </a:t>
            </a:r>
            <a:r>
              <a:rPr lang="en-US" sz="2000" u="sng">
                <a:solidFill>
                  <a:srgbClr val="0099D8"/>
                </a:solidFill>
                <a:ea typeface="Calibri (MS) Bold"/>
                <a:cs typeface="Calibri"/>
                <a:sym typeface="Calibri (MS) Bold"/>
                <a:hlinkClick r:id="rId34" action="ppaction://hlinksldjump"/>
              </a:rPr>
              <a:t>Comcast vs Charter – Lead Margins by State</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A33  </a:t>
            </a:r>
            <a:r>
              <a:rPr lang="en-US" sz="2000" u="sng">
                <a:solidFill>
                  <a:srgbClr val="0099D8"/>
                </a:solidFill>
                <a:ea typeface="Calibri (MS) Bold"/>
                <a:cs typeface="Calibri"/>
                <a:sym typeface="Calibri (MS) Bold"/>
                <a:hlinkClick r:id="rId35" action="ppaction://hlinksldjump"/>
              </a:rPr>
              <a:t>Large vs Small Firms – Overview</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A34  </a:t>
            </a:r>
            <a:r>
              <a:rPr lang="en-US" sz="2000" u="sng">
                <a:solidFill>
                  <a:srgbClr val="0099D8"/>
                </a:solidFill>
                <a:ea typeface="Calibri (MS) Bold"/>
                <a:cs typeface="Calibri"/>
                <a:sym typeface="Calibri (MS) Bold"/>
                <a:hlinkClick r:id="rId36" action="ppaction://hlinksldjump"/>
              </a:rPr>
              <a:t>Large vs Small Firms – State Breakdown</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A35  </a:t>
            </a:r>
            <a:r>
              <a:rPr lang="en-US" sz="2000" u="sng">
                <a:solidFill>
                  <a:srgbClr val="0099D8"/>
                </a:solidFill>
                <a:ea typeface="Calibri (MS) Bold"/>
                <a:cs typeface="Calibri"/>
                <a:sym typeface="Calibri (MS) Bold"/>
                <a:hlinkClick r:id="rId37" action="ppaction://hlinksldjump"/>
              </a:rPr>
              <a:t>Large vs Small Firms – Metro Density</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A36  </a:t>
            </a:r>
            <a:r>
              <a:rPr lang="en-US" sz="2000" u="sng">
                <a:solidFill>
                  <a:srgbClr val="0099D8"/>
                </a:solidFill>
                <a:ea typeface="Calibri (MS) Bold"/>
                <a:cs typeface="Calibri"/>
                <a:sym typeface="Calibri (MS) Bold"/>
                <a:hlinkClick r:id="rId38" action="ppaction://hlinksldjump"/>
              </a:rPr>
              <a:t>Work from Home – Firm Breakdown</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A37  </a:t>
            </a:r>
            <a:r>
              <a:rPr lang="en-US" sz="2000" u="sng">
                <a:solidFill>
                  <a:srgbClr val="0099D8"/>
                </a:solidFill>
                <a:ea typeface="Calibri (MS) Bold"/>
                <a:cs typeface="Calibri"/>
                <a:sym typeface="Calibri (MS) Bold"/>
                <a:hlinkClick r:id="rId39" action="ppaction://hlinksldjump"/>
              </a:rPr>
              <a:t>Work from Home – State Breakdown</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A38  </a:t>
            </a:r>
            <a:r>
              <a:rPr lang="en-US" sz="2000" u="sng">
                <a:solidFill>
                  <a:srgbClr val="0099D8"/>
                </a:solidFill>
                <a:ea typeface="Calibri (MS) Bold"/>
                <a:cs typeface="Calibri"/>
                <a:sym typeface="Calibri (MS) Bold"/>
                <a:hlinkClick r:id="rId40" action="ppaction://hlinksldjump"/>
              </a:rPr>
              <a:t>Work from Home – Weighted by Role</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A39  </a:t>
            </a:r>
            <a:r>
              <a:rPr lang="en-US" sz="2000" u="sng">
                <a:solidFill>
                  <a:srgbClr val="0099D8"/>
                </a:solidFill>
                <a:ea typeface="Calibri (MS) Bold"/>
                <a:cs typeface="Calibri"/>
                <a:sym typeface="Calibri (MS) Bold"/>
                <a:hlinkClick r:id="rId41" action="ppaction://hlinksldjump"/>
              </a:rPr>
              <a:t>Product Mix</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A40  </a:t>
            </a:r>
            <a:r>
              <a:rPr lang="en-US" sz="2000" u="sng">
                <a:solidFill>
                  <a:srgbClr val="0099D8"/>
                </a:solidFill>
                <a:ea typeface="Calibri (MS) Bold"/>
                <a:cs typeface="Calibri"/>
                <a:sym typeface="Calibri (MS) Bold"/>
                <a:hlinkClick r:id="rId42" action="ppaction://hlinksldjump"/>
              </a:rPr>
              <a:t>Product Trends</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A41  </a:t>
            </a:r>
            <a:r>
              <a:rPr lang="en-US" sz="2000" u="sng">
                <a:solidFill>
                  <a:srgbClr val="0099D8"/>
                </a:solidFill>
                <a:ea typeface="Calibri (MS) Bold"/>
                <a:cs typeface="Calibri"/>
                <a:sym typeface="Calibri (MS) Bold"/>
                <a:hlinkClick r:id="rId43" action="ppaction://hlinksldjump"/>
              </a:rPr>
              <a:t>Unit Economics</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A42  </a:t>
            </a:r>
            <a:r>
              <a:rPr lang="en-US" sz="2000" u="sng">
                <a:solidFill>
                  <a:srgbClr val="0099D8"/>
                </a:solidFill>
                <a:ea typeface="Calibri (MS) Bold"/>
                <a:cs typeface="Calibri"/>
                <a:sym typeface="Calibri (MS) Bold"/>
                <a:hlinkClick r:id="rId44" action="ppaction://hlinksldjump"/>
              </a:rPr>
              <a:t>Brokerage Agency Breakdown</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A43  </a:t>
            </a:r>
            <a:r>
              <a:rPr lang="en-US" sz="2000" u="sng">
                <a:solidFill>
                  <a:srgbClr val="0099D8"/>
                </a:solidFill>
                <a:ea typeface="Calibri (MS) Bold"/>
                <a:cs typeface="Calibri"/>
                <a:sym typeface="Calibri (MS) Bold"/>
                <a:hlinkClick r:id="rId45" action="ppaction://hlinksldjump"/>
              </a:rPr>
              <a:t>EH&amp;B Value Proposition Over Time</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A44  </a:t>
            </a:r>
            <a:r>
              <a:rPr lang="en-US" sz="2000" u="sng">
                <a:solidFill>
                  <a:srgbClr val="0099D8"/>
                </a:solidFill>
                <a:ea typeface="Calibri (MS) Bold"/>
                <a:cs typeface="Calibri"/>
                <a:sym typeface="Calibri (MS) Bold"/>
                <a:hlinkClick r:id="rId46" action="ppaction://hlinksldjump"/>
              </a:rPr>
              <a:t>Authorized Third-Party Reseller Interview Notes</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A45  </a:t>
            </a:r>
            <a:r>
              <a:rPr lang="en-US" sz="2000" u="sng">
                <a:solidFill>
                  <a:srgbClr val="0099D8"/>
                </a:solidFill>
                <a:ea typeface="Calibri (MS) Bold"/>
                <a:cs typeface="Calibri"/>
                <a:sym typeface="Calibri (MS) Bold"/>
                <a:hlinkClick r:id="rId47" action="ppaction://hlinksldjump"/>
              </a:rPr>
              <a:t>Sell-Side Coverage of Charter</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A46  </a:t>
            </a:r>
            <a:r>
              <a:rPr lang="en-US" sz="2000" u="sng">
                <a:solidFill>
                  <a:srgbClr val="0099D8"/>
                </a:solidFill>
                <a:ea typeface="Calibri (MS) Bold"/>
                <a:cs typeface="Calibri"/>
                <a:sym typeface="Calibri (MS) Bold"/>
                <a:hlinkClick r:id="rId48" action="ppaction://hlinksldjump"/>
              </a:rPr>
              <a:t>Comcast Public Partnerships</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A47  </a:t>
            </a:r>
            <a:r>
              <a:rPr lang="en-US" sz="2000" u="sng">
                <a:solidFill>
                  <a:srgbClr val="0099D8"/>
                </a:solidFill>
                <a:ea typeface="Calibri (MS) Bold"/>
                <a:cs typeface="Calibri"/>
                <a:sym typeface="Calibri (MS) Bold"/>
                <a:hlinkClick r:id="rId49" action="ppaction://hlinksldjump"/>
              </a:rPr>
              <a:t>Comcast Housing Authorities</a:t>
            </a:r>
            <a:endParaRPr lang="en-US" sz="2000" u="sng">
              <a:solidFill>
                <a:srgbClr val="0099D8"/>
              </a:solidFill>
              <a:ea typeface="Calibri (MS) Bold"/>
              <a:cs typeface="Calibri"/>
              <a:sym typeface="Calibri (MS) Bold"/>
            </a:endParaRPr>
          </a:p>
          <a:p>
            <a:r>
              <a:rPr lang="en-US" sz="2000" b="1">
                <a:solidFill>
                  <a:srgbClr val="0099D8"/>
                </a:solidFill>
                <a:ea typeface="Calibri (MS) Bold"/>
                <a:cs typeface="Calibri"/>
                <a:sym typeface="Calibri (MS) Bold"/>
              </a:rPr>
              <a:t>A48  </a:t>
            </a:r>
            <a:r>
              <a:rPr lang="en-US" sz="2000" u="sng">
                <a:solidFill>
                  <a:srgbClr val="0099D8"/>
                </a:solidFill>
                <a:ea typeface="Calibri (MS) Bold"/>
                <a:cs typeface="Calibri"/>
                <a:sym typeface="Calibri (MS) Bold"/>
                <a:hlinkClick r:id="rId50" action="ppaction://hlinksldjump"/>
              </a:rPr>
              <a:t>Residential Internet Dollar Analysis</a:t>
            </a:r>
            <a:endParaRPr lang="en-US" sz="2000" u="sng">
              <a:solidFill>
                <a:srgbClr val="0099D8"/>
              </a:solidFill>
              <a:ea typeface="Calibri (MS) Bold"/>
              <a:cs typeface="Calibri"/>
              <a:sym typeface="Calibri (MS) Bold"/>
            </a:endParaRPr>
          </a:p>
        </p:txBody>
      </p:sp>
      <p:grpSp>
        <p:nvGrpSpPr>
          <p:cNvPr id="8" name="Group 8"/>
          <p:cNvGrpSpPr/>
          <p:nvPr/>
        </p:nvGrpSpPr>
        <p:grpSpPr>
          <a:xfrm>
            <a:off x="754380" y="8819960"/>
            <a:ext cx="16733521" cy="440055"/>
            <a:chOff x="0" y="-38100"/>
            <a:chExt cx="22311361" cy="586740"/>
          </a:xfrm>
        </p:grpSpPr>
        <p:sp>
          <p:nvSpPr>
            <p:cNvPr id="9" name="Freeform 9"/>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0" name="TextBox 10"/>
            <p:cNvSpPr txBox="1"/>
            <p:nvPr/>
          </p:nvSpPr>
          <p:spPr>
            <a:xfrm>
              <a:off x="0" y="-38100"/>
              <a:ext cx="22311360" cy="58674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Pre-mortem working papers (not part of the client presentation):  </a:t>
              </a:r>
              <a:r>
                <a:rPr lang="en-US" sz="1500" u="sng">
                  <a:solidFill>
                    <a:srgbClr val="0099D8"/>
                  </a:solidFill>
                  <a:latin typeface="Calibri"/>
                  <a:ea typeface="Calibri (MS)"/>
                  <a:cs typeface="Calibri"/>
                  <a:sym typeface="Calibri (MS)"/>
                  <a:hlinkClick r:id="rId51" action="ppaction://hlinksldjump"/>
                </a:rPr>
                <a:t>PM1 Method</a:t>
              </a:r>
              <a:r>
                <a:rPr lang="en-US" sz="1500">
                  <a:solidFill>
                    <a:srgbClr val="0099D8"/>
                  </a:solidFill>
                  <a:latin typeface="Calibri"/>
                  <a:ea typeface="Calibri (MS)"/>
                  <a:cs typeface="Calibri"/>
                  <a:sym typeface="Calibri (MS)"/>
                </a:rPr>
                <a:t>   ·   </a:t>
              </a:r>
              <a:r>
                <a:rPr lang="en-US" sz="1500" u="sng">
                  <a:solidFill>
                    <a:srgbClr val="0099D8"/>
                  </a:solidFill>
                  <a:latin typeface="Calibri"/>
                  <a:ea typeface="Calibri (MS)"/>
                  <a:cs typeface="Calibri"/>
                  <a:sym typeface="Calibri (MS)"/>
                  <a:hlinkClick r:id="rId52" action="ppaction://hlinksldjump"/>
                </a:rPr>
                <a:t>PM2 Findings</a:t>
              </a:r>
              <a:r>
                <a:rPr lang="en-US" sz="1500">
                  <a:solidFill>
                    <a:srgbClr val="0099D8"/>
                  </a:solidFill>
                  <a:latin typeface="Calibri"/>
                  <a:ea typeface="Calibri (MS)"/>
                  <a:cs typeface="Calibri"/>
                  <a:sym typeface="Calibri (MS)"/>
                </a:rPr>
                <a:t>   ·   </a:t>
              </a:r>
              <a:r>
                <a:rPr lang="en-US" sz="1500" u="sng">
                  <a:solidFill>
                    <a:srgbClr val="0099D8"/>
                  </a:solidFill>
                  <a:latin typeface="Calibri"/>
                  <a:ea typeface="Calibri (MS)"/>
                  <a:cs typeface="Calibri"/>
                  <a:sym typeface="Calibri (MS)"/>
                  <a:hlinkClick r:id="rId53" action="ppaction://hlinksldjump"/>
                </a:rPr>
                <a:t>PM3 Changes made</a:t>
              </a:r>
            </a:p>
          </p:txBody>
        </p:sp>
      </p:grpSp>
      <p:grpSp>
        <p:nvGrpSpPr>
          <p:cNvPr id="11" name="Group 11"/>
          <p:cNvGrpSpPr/>
          <p:nvPr/>
        </p:nvGrpSpPr>
        <p:grpSpPr>
          <a:xfrm>
            <a:off x="754380" y="9189720"/>
            <a:ext cx="16733520" cy="411480"/>
            <a:chOff x="0" y="0"/>
            <a:chExt cx="22311360" cy="548640"/>
          </a:xfrm>
        </p:grpSpPr>
        <p:sp>
          <p:nvSpPr>
            <p:cNvPr id="12" name="Freeform 12"/>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3" name="TextBox 13"/>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4" action="ppaction://hlinksldjump"/>
                </a:rPr>
                <a:t>←  Back to main deck  (p.2)</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5" action="ppaction://hlinksldjump"/>
                </a:rPr>
                <a:t>Appendix index  (p.12)</a:t>
              </a:r>
            </a:p>
          </p:txBody>
        </p:sp>
      </p:grpSp>
      <p:grpSp>
        <p:nvGrpSpPr>
          <p:cNvPr id="14" name="Group 14"/>
          <p:cNvGrpSpPr/>
          <p:nvPr/>
        </p:nvGrpSpPr>
        <p:grpSpPr>
          <a:xfrm>
            <a:off x="17076420" y="9669780"/>
            <a:ext cx="960120" cy="411480"/>
            <a:chOff x="0" y="0"/>
            <a:chExt cx="1280160" cy="548640"/>
          </a:xfrm>
        </p:grpSpPr>
        <p:sp>
          <p:nvSpPr>
            <p:cNvPr id="15" name="Freeform 15"/>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6" name="TextBox 16"/>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12</a:t>
              </a:r>
            </a:p>
          </p:txBody>
        </p:sp>
      </p:grpSp>
      <p:grpSp>
        <p:nvGrpSpPr>
          <p:cNvPr id="17" name="Group 17"/>
          <p:cNvGrpSpPr/>
          <p:nvPr/>
        </p:nvGrpSpPr>
        <p:grpSpPr>
          <a:xfrm>
            <a:off x="754380" y="9669780"/>
            <a:ext cx="16047720" cy="411480"/>
            <a:chOff x="0" y="0"/>
            <a:chExt cx="21396960" cy="548640"/>
          </a:xfrm>
        </p:grpSpPr>
        <p:sp>
          <p:nvSpPr>
            <p:cNvPr id="18" name="Freeform 18"/>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9" name="TextBox 19"/>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  ·  PROBLEM DEFINITION</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Internet Losses Have Run Nine Straight Quarters</a:t>
            </a:r>
          </a:p>
        </p:txBody>
      </p:sp>
      <p:grpSp>
        <p:nvGrpSpPr>
          <p:cNvPr id="7" name="Group 7"/>
          <p:cNvGrpSpPr/>
          <p:nvPr/>
        </p:nvGrpSpPr>
        <p:grpSpPr>
          <a:xfrm>
            <a:off x="12403455" y="2596515"/>
            <a:ext cx="5162550" cy="6054090"/>
            <a:chOff x="0" y="0"/>
            <a:chExt cx="6883400" cy="8072120"/>
          </a:xfrm>
        </p:grpSpPr>
        <p:sp>
          <p:nvSpPr>
            <p:cNvPr id="8" name="Freeform 8"/>
            <p:cNvSpPr/>
            <p:nvPr/>
          </p:nvSpPr>
          <p:spPr>
            <a:xfrm>
              <a:off x="0" y="0"/>
              <a:ext cx="6883400" cy="8072120"/>
            </a:xfrm>
            <a:custGeom>
              <a:avLst/>
              <a:gdLst/>
              <a:ahLst/>
              <a:cxnLst/>
              <a:rect l="l" t="t" r="r" b="b"/>
              <a:pathLst>
                <a:path w="6883400" h="8072120">
                  <a:moveTo>
                    <a:pt x="0" y="146812"/>
                  </a:moveTo>
                  <a:cubicBezTo>
                    <a:pt x="0" y="65786"/>
                    <a:pt x="65786" y="0"/>
                    <a:pt x="146812" y="0"/>
                  </a:cubicBezTo>
                  <a:lnTo>
                    <a:pt x="6736588" y="0"/>
                  </a:lnTo>
                  <a:cubicBezTo>
                    <a:pt x="6817614" y="0"/>
                    <a:pt x="6883400" y="65786"/>
                    <a:pt x="6883400" y="146812"/>
                  </a:cubicBezTo>
                  <a:lnTo>
                    <a:pt x="6883400" y="7925308"/>
                  </a:lnTo>
                  <a:cubicBezTo>
                    <a:pt x="6883400" y="8006334"/>
                    <a:pt x="6817614" y="8072120"/>
                    <a:pt x="6736588" y="8072120"/>
                  </a:cubicBezTo>
                  <a:lnTo>
                    <a:pt x="146812" y="8072120"/>
                  </a:lnTo>
                  <a:cubicBezTo>
                    <a:pt x="65786" y="8072120"/>
                    <a:pt x="0" y="8006334"/>
                    <a:pt x="0" y="792530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9" name="Group 9"/>
          <p:cNvGrpSpPr/>
          <p:nvPr/>
        </p:nvGrpSpPr>
        <p:grpSpPr>
          <a:xfrm>
            <a:off x="12755880" y="2811780"/>
            <a:ext cx="4526280" cy="356616"/>
            <a:chOff x="0" y="0"/>
            <a:chExt cx="6035040" cy="475488"/>
          </a:xfrm>
        </p:grpSpPr>
        <p:sp>
          <p:nvSpPr>
            <p:cNvPr id="10" name="Freeform 10"/>
            <p:cNvSpPr/>
            <p:nvPr/>
          </p:nvSpPr>
          <p:spPr>
            <a:xfrm>
              <a:off x="0" y="0"/>
              <a:ext cx="6035040" cy="475488"/>
            </a:xfrm>
            <a:custGeom>
              <a:avLst/>
              <a:gdLst/>
              <a:ahLst/>
              <a:cxnLst/>
              <a:rect l="l" t="t" r="r" b="b"/>
              <a:pathLst>
                <a:path w="6035040" h="475488">
                  <a:moveTo>
                    <a:pt x="0" y="0"/>
                  </a:moveTo>
                  <a:lnTo>
                    <a:pt x="6035040" y="0"/>
                  </a:lnTo>
                  <a:lnTo>
                    <a:pt x="6035040" y="475488"/>
                  </a:lnTo>
                  <a:lnTo>
                    <a:pt x="0" y="475488"/>
                  </a:lnTo>
                  <a:close/>
                </a:path>
              </a:pathLst>
            </a:custGeom>
            <a:blipFill>
              <a:blip r:embed="rId3">
                <a:alphaModFix amt="0"/>
              </a:blip>
              <a:stretch>
                <a:fillRect t="-197310" b="-197310"/>
              </a:stretch>
            </a:blipFill>
          </p:spPr>
          <p:txBody>
            <a:bodyPr/>
            <a:lstStyle/>
            <a:p>
              <a:endParaRPr lang="en-US"/>
            </a:p>
          </p:txBody>
        </p:sp>
        <p:sp>
          <p:nvSpPr>
            <p:cNvPr id="11" name="TextBox 11"/>
            <p:cNvSpPr txBox="1"/>
            <p:nvPr/>
          </p:nvSpPr>
          <p:spPr>
            <a:xfrm>
              <a:off x="0" y="-38100"/>
              <a:ext cx="603504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READ</a:t>
              </a:r>
            </a:p>
          </p:txBody>
        </p:sp>
      </p:grpSp>
      <p:sp>
        <p:nvSpPr>
          <p:cNvPr id="12" name="TextBox 12"/>
          <p:cNvSpPr txBox="1"/>
          <p:nvPr/>
        </p:nvSpPr>
        <p:spPr>
          <a:xfrm>
            <a:off x="12755880" y="3253740"/>
            <a:ext cx="4526280" cy="1345184"/>
          </a:xfrm>
          <a:prstGeom prst="rect">
            <a:avLst/>
          </a:prstGeom>
        </p:spPr>
        <p:txBody>
          <a:bodyPr lIns="0" tIns="0" rIns="0" bIns="0" rtlCol="0" anchor="t">
            <a:spAutoFit/>
          </a:bodyPr>
          <a:lstStyle/>
          <a:p>
            <a:pPr algn="l">
              <a:lnSpc>
                <a:spcPts val="1797"/>
              </a:lnSpc>
            </a:pPr>
            <a:r>
              <a:rPr lang="en-US" sz="1449" b="1">
                <a:solidFill>
                  <a:srgbClr val="0B1F3A"/>
                </a:solidFill>
                <a:latin typeface="Calibri"/>
                <a:ea typeface="Calibri (MS) Bold"/>
                <a:cs typeface="Calibri"/>
                <a:sym typeface="Calibri (MS) Bold"/>
              </a:rPr>
              <a:t>FY2025: −403k (−1.3%). 1H 2026: −292k.</a:t>
            </a:r>
          </a:p>
          <a:p>
            <a:pPr algn="l">
              <a:lnSpc>
                <a:spcPts val="1797"/>
              </a:lnSpc>
            </a:pPr>
            <a:r>
              <a:rPr lang="en-US" sz="1449">
                <a:solidFill>
                  <a:srgbClr val="5B6672"/>
                </a:solidFill>
                <a:latin typeface="Calibri"/>
                <a:ea typeface="Calibri (MS)"/>
                <a:cs typeface="Calibri"/>
                <a:sym typeface="Calibri (MS)"/>
              </a:rPr>
              <a:t>Management attributes losses to FWA, fiber overbuilders, and a frozen housing market. Those are interpretations; no filing measures the split.</a:t>
            </a:r>
          </a:p>
          <a:p>
            <a:pPr algn="l">
              <a:lnSpc>
                <a:spcPts val="1797"/>
              </a:lnSpc>
            </a:pPr>
            <a:r>
              <a:rPr lang="en-US" sz="1449">
                <a:solidFill>
                  <a:srgbClr val="5B6672"/>
                </a:solidFill>
                <a:latin typeface="Calibri"/>
                <a:ea typeface="Calibri (MS)"/>
                <a:cs typeface="Calibri"/>
                <a:sym typeface="Calibri (MS)"/>
              </a:rPr>
              <a:t>Video losses are moderating (−60k in Q1 2026) and voice is in secular decline (−174k); neither moves the multiple.</a:t>
            </a:r>
          </a:p>
        </p:txBody>
      </p:sp>
      <p:grpSp>
        <p:nvGrpSpPr>
          <p:cNvPr id="13" name="Group 13"/>
          <p:cNvGrpSpPr/>
          <p:nvPr/>
        </p:nvGrpSpPr>
        <p:grpSpPr>
          <a:xfrm>
            <a:off x="754380" y="8805672"/>
            <a:ext cx="16733520" cy="356616"/>
            <a:chOff x="0" y="0"/>
            <a:chExt cx="22311360" cy="475488"/>
          </a:xfrm>
        </p:grpSpPr>
        <p:sp>
          <p:nvSpPr>
            <p:cNvPr id="14" name="Freeform 14"/>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5" name="TextBox 15"/>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CHTR trending schedules and Ex99.1 releases, 2024Q1–2026Q2 (restated basis). *Q2 2026 is a later public fact.</a:t>
              </a:r>
            </a:p>
          </p:txBody>
        </p:sp>
      </p:grpSp>
      <p:grpSp>
        <p:nvGrpSpPr>
          <p:cNvPr id="16" name="Group 16"/>
          <p:cNvGrpSpPr/>
          <p:nvPr/>
        </p:nvGrpSpPr>
        <p:grpSpPr>
          <a:xfrm>
            <a:off x="754380" y="9189720"/>
            <a:ext cx="16733520" cy="411480"/>
            <a:chOff x="0" y="0"/>
            <a:chExt cx="22311360" cy="548640"/>
          </a:xfrm>
        </p:grpSpPr>
        <p:sp>
          <p:nvSpPr>
            <p:cNvPr id="17" name="Freeform 17"/>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8" name="TextBox 18"/>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 action="ppaction://noaction"/>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 action="ppaction://noaction"/>
                </a:rPr>
                <a:t>Appendix index  (p.12)</a:t>
              </a:r>
            </a:p>
          </p:txBody>
        </p:sp>
      </p:grpSp>
      <p:grpSp>
        <p:nvGrpSpPr>
          <p:cNvPr id="19" name="Group 19"/>
          <p:cNvGrpSpPr/>
          <p:nvPr/>
        </p:nvGrpSpPr>
        <p:grpSpPr>
          <a:xfrm>
            <a:off x="17076420" y="9669780"/>
            <a:ext cx="960120" cy="411480"/>
            <a:chOff x="0" y="0"/>
            <a:chExt cx="1280160" cy="548640"/>
          </a:xfrm>
        </p:grpSpPr>
        <p:sp>
          <p:nvSpPr>
            <p:cNvPr id="20" name="Freeform 20"/>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1" name="TextBox 21"/>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13</a:t>
              </a:r>
            </a:p>
          </p:txBody>
        </p:sp>
      </p:grpSp>
      <p:grpSp>
        <p:nvGrpSpPr>
          <p:cNvPr id="22" name="Group 22"/>
          <p:cNvGrpSpPr/>
          <p:nvPr/>
        </p:nvGrpSpPr>
        <p:grpSpPr>
          <a:xfrm>
            <a:off x="754380" y="9669780"/>
            <a:ext cx="16047720" cy="411480"/>
            <a:chOff x="0" y="0"/>
            <a:chExt cx="21396960" cy="548640"/>
          </a:xfrm>
        </p:grpSpPr>
        <p:sp>
          <p:nvSpPr>
            <p:cNvPr id="23" name="Freeform 23"/>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24" name="TextBox 24"/>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aphicFrame>
        <p:nvGraphicFramePr>
          <p:cNvPr id="25" name="Chart"/>
          <p:cNvGraphicFramePr/>
          <p:nvPr/>
        </p:nvGraphicFramePr>
        <p:xfrm>
          <a:off x="749300" y="2857500"/>
          <a:ext cx="11176000" cy="5588000"/>
        </p:xfrm>
        <a:graphic>
          <a:graphicData uri="http://schemas.openxmlformats.org/drawingml/2006/chart">
            <c:chart xmlns:c="http://schemas.openxmlformats.org/drawingml/2006/chart" xmlns:r="http://schemas.openxmlformats.org/officeDocument/2006/relationships" r:id="rId4"/>
          </a:graphicData>
        </a:graphic>
      </p:graphicFrame>
      <p:grpSp>
        <p:nvGrpSpPr>
          <p:cNvPr id="26" name="AxisGroups f25 0"/>
          <p:cNvGrpSpPr/>
          <p:nvPr/>
        </p:nvGrpSpPr>
        <p:grpSpPr>
          <a:xfrm>
            <a:off x="1282068" y="8104940"/>
            <a:ext cx="9037568" cy="190000"/>
            <a:chOff x="1282068" y="8104940"/>
            <a:chExt cx="9037568" cy="190000"/>
          </a:xfrm>
        </p:grpSpPr>
        <p:sp>
          <p:nvSpPr>
            <p:cNvPr id="27" name="AxisGroups f25 0 0"/>
            <p:cNvSpPr txBox="1"/>
            <p:nvPr/>
          </p:nvSpPr>
          <p:spPr>
            <a:xfrm>
              <a:off x="1282068" y="8104940"/>
              <a:ext cx="454400" cy="190000"/>
            </a:xfrm>
            <a:prstGeom prst="rect">
              <a:avLst/>
            </a:prstGeom>
            <a:noFill/>
          </p:spPr>
          <p:txBody>
            <a:bodyPr wrap="none" lIns="0" tIns="0" rIns="0" bIns="0" anchor="ctr">
              <a:noAutofit/>
            </a:bodyPr>
            <a:lstStyle/>
            <a:p>
              <a:pPr algn="ctr"/>
              <a:r>
                <a:rPr lang="en-US" sz="1100" b="0">
                  <a:solidFill>
                    <a:srgbClr val="595959"/>
                  </a:solidFill>
                  <a:latin typeface="Calibri"/>
                  <a:cs typeface="Calibri"/>
                </a:rPr>
                <a:t>2024</a:t>
              </a:r>
            </a:p>
          </p:txBody>
        </p:sp>
        <p:sp>
          <p:nvSpPr>
            <p:cNvPr id="28" name="AxisGroups f25 0 1"/>
            <p:cNvSpPr txBox="1"/>
            <p:nvPr/>
          </p:nvSpPr>
          <p:spPr>
            <a:xfrm>
              <a:off x="5573652" y="8104940"/>
              <a:ext cx="454400" cy="190000"/>
            </a:xfrm>
            <a:prstGeom prst="rect">
              <a:avLst/>
            </a:prstGeom>
            <a:noFill/>
          </p:spPr>
          <p:txBody>
            <a:bodyPr wrap="none" lIns="0" tIns="0" rIns="0" bIns="0" anchor="ctr">
              <a:noAutofit/>
            </a:bodyPr>
            <a:lstStyle/>
            <a:p>
              <a:pPr algn="ctr"/>
              <a:r>
                <a:rPr lang="en-US" sz="1100" b="0">
                  <a:solidFill>
                    <a:srgbClr val="595959"/>
                  </a:solidFill>
                  <a:latin typeface="Calibri"/>
                  <a:cs typeface="Calibri"/>
                </a:rPr>
                <a:t>2025</a:t>
              </a:r>
            </a:p>
          </p:txBody>
        </p:sp>
        <p:sp>
          <p:nvSpPr>
            <p:cNvPr id="29" name="AxisGroups f25 0 2"/>
            <p:cNvSpPr txBox="1"/>
            <p:nvPr/>
          </p:nvSpPr>
          <p:spPr>
            <a:xfrm>
              <a:off x="9865236" y="8104940"/>
              <a:ext cx="454400" cy="190000"/>
            </a:xfrm>
            <a:prstGeom prst="rect">
              <a:avLst/>
            </a:prstGeom>
            <a:noFill/>
          </p:spPr>
          <p:txBody>
            <a:bodyPr wrap="none" lIns="0" tIns="0" rIns="0" bIns="0" anchor="ctr">
              <a:noAutofit/>
            </a:bodyPr>
            <a:lstStyle/>
            <a:p>
              <a:pPr algn="ctr"/>
              <a:r>
                <a:rPr lang="en-US" sz="1100" b="0">
                  <a:solidFill>
                    <a:srgbClr val="595959"/>
                  </a:solidFill>
                  <a:latin typeface="Calibri"/>
                  <a:cs typeface="Calibri"/>
                </a:rPr>
                <a:t>2026</a:t>
              </a:r>
            </a:p>
          </p:txBody>
        </p:sp>
      </p:grpSp>
      <p:sp>
        <p:nvSpPr>
          <p:cNvPr id="6" name="TextBox 5">
            <a:extLst>
              <a:ext uri="{FF2B5EF4-FFF2-40B4-BE49-F238E27FC236}">
                <a16:creationId xmlns:a16="http://schemas.microsoft.com/office/drawing/2014/main" id="{2564AC20-58FC-6042-84AD-B5082B85FA5A}"/>
              </a:ext>
            </a:extLst>
          </p:cNvPr>
          <p:cNvSpPr txBox="1"/>
          <p:nvPr/>
        </p:nvSpPr>
        <p:spPr>
          <a:xfrm>
            <a:off x="749300" y="2540000"/>
            <a:ext cx="11176000" cy="304800"/>
          </a:xfrm>
          <a:prstGeom prst="rect">
            <a:avLst/>
          </a:prstGeom>
          <a:noFill/>
        </p:spPr>
        <p:txBody>
          <a:bodyPr vertOverflow="overflow" vert="horz" wrap="square" rtlCol="0" anchor="t">
            <a:spAutoFit/>
          </a:bodyPr>
          <a:lstStyle/>
          <a:p>
            <a:pPr algn="l"/>
            <a:r>
              <a:rPr lang="en-US" sz="1600">
                <a:solidFill>
                  <a:srgbClr val="171A1F"/>
                </a:solidFill>
                <a:latin typeface="Calibri"/>
                <a:cs typeface="Calibri"/>
              </a:rPr>
              <a:t>Internet net adds by quarter, thousands (restated basis)</a:t>
            </a:r>
          </a:p>
        </p:txBody>
      </p:sp>
    </p:spTree>
    <p:extLst>
      <p:ext uri="{BB962C8B-B14F-4D97-AF65-F5344CB8AC3E}">
        <p14:creationId xmlns:p14="http://schemas.microsoft.com/office/powerpoint/2010/main" val="4103017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  ·  PROBLEM DEFINITION</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The Market Will Not Net Mobile Against Internet</a:t>
            </a:r>
          </a:p>
        </p:txBody>
      </p:sp>
      <p:pic>
        <p:nvPicPr>
          <p:cNvPr id="6" name="Picture 6"/>
          <p:cNvPicPr>
            <a:picLocks noChangeAspect="1"/>
          </p:cNvPicPr>
          <p:nvPr/>
        </p:nvPicPr>
        <p:blipFill>
          <a:blip r:embed="rId4"/>
          <a:stretch>
            <a:fillRect/>
          </a:stretch>
        </p:blipFill>
        <p:spPr>
          <a:xfrm>
            <a:off x="-370332" y="1481328"/>
            <a:ext cx="13496544" cy="8284464"/>
          </a:xfrm>
          <a:prstGeom prst="rect">
            <a:avLst/>
          </a:prstGeom>
        </p:spPr>
      </p:pic>
      <p:grpSp>
        <p:nvGrpSpPr>
          <p:cNvPr id="7" name="Group 7"/>
          <p:cNvGrpSpPr/>
          <p:nvPr/>
        </p:nvGrpSpPr>
        <p:grpSpPr>
          <a:xfrm>
            <a:off x="12403455" y="2596515"/>
            <a:ext cx="5162550" cy="2899410"/>
            <a:chOff x="0" y="0"/>
            <a:chExt cx="6883400" cy="3865880"/>
          </a:xfrm>
        </p:grpSpPr>
        <p:sp>
          <p:nvSpPr>
            <p:cNvPr id="8" name="Freeform 8"/>
            <p:cNvSpPr/>
            <p:nvPr/>
          </p:nvSpPr>
          <p:spPr>
            <a:xfrm>
              <a:off x="0" y="0"/>
              <a:ext cx="6883400" cy="3865880"/>
            </a:xfrm>
            <a:custGeom>
              <a:avLst/>
              <a:gdLst/>
              <a:ahLst/>
              <a:cxnLst/>
              <a:rect l="l" t="t" r="r" b="b"/>
              <a:pathLst>
                <a:path w="6883400" h="3865880">
                  <a:moveTo>
                    <a:pt x="0" y="147320"/>
                  </a:moveTo>
                  <a:cubicBezTo>
                    <a:pt x="0" y="65913"/>
                    <a:pt x="65913" y="0"/>
                    <a:pt x="147320" y="0"/>
                  </a:cubicBezTo>
                  <a:lnTo>
                    <a:pt x="6736080" y="0"/>
                  </a:lnTo>
                  <a:cubicBezTo>
                    <a:pt x="6817487" y="0"/>
                    <a:pt x="6883400" y="65913"/>
                    <a:pt x="6883400" y="147320"/>
                  </a:cubicBezTo>
                  <a:lnTo>
                    <a:pt x="6883400" y="3718560"/>
                  </a:lnTo>
                  <a:cubicBezTo>
                    <a:pt x="6883400" y="3799967"/>
                    <a:pt x="6817487" y="3865880"/>
                    <a:pt x="6736080" y="3865880"/>
                  </a:cubicBezTo>
                  <a:lnTo>
                    <a:pt x="147320" y="3865880"/>
                  </a:lnTo>
                  <a:cubicBezTo>
                    <a:pt x="65913" y="3865880"/>
                    <a:pt x="0" y="3799967"/>
                    <a:pt x="0" y="3718560"/>
                  </a:cubicBezTo>
                  <a:close/>
                </a:path>
              </a:pathLst>
            </a:custGeom>
            <a:solidFill>
              <a:srgbClr val="FEFEFE"/>
            </a:solidFill>
            <a:ln w="19050" cap="sq">
              <a:solidFill>
                <a:srgbClr val="D8DEE6"/>
              </a:solidFill>
              <a:prstDash val="solid"/>
              <a:miter/>
            </a:ln>
          </p:spPr>
          <p:txBody>
            <a:bodyPr/>
            <a:lstStyle/>
            <a:p>
              <a:endParaRPr lang="en-US"/>
            </a:p>
          </p:txBody>
        </p:sp>
      </p:grpSp>
      <p:grpSp>
        <p:nvGrpSpPr>
          <p:cNvPr id="9" name="Group 9"/>
          <p:cNvGrpSpPr/>
          <p:nvPr/>
        </p:nvGrpSpPr>
        <p:grpSpPr>
          <a:xfrm>
            <a:off x="12755880" y="2784348"/>
            <a:ext cx="4526280" cy="329184"/>
            <a:chOff x="0" y="0"/>
            <a:chExt cx="6035040" cy="438912"/>
          </a:xfrm>
        </p:grpSpPr>
        <p:sp>
          <p:nvSpPr>
            <p:cNvPr id="10" name="Freeform 10"/>
            <p:cNvSpPr/>
            <p:nvPr/>
          </p:nvSpPr>
          <p:spPr>
            <a:xfrm>
              <a:off x="0" y="0"/>
              <a:ext cx="6035040" cy="438912"/>
            </a:xfrm>
            <a:custGeom>
              <a:avLst/>
              <a:gdLst/>
              <a:ahLst/>
              <a:cxnLst/>
              <a:rect l="l" t="t" r="r" b="b"/>
              <a:pathLst>
                <a:path w="6035040" h="438912">
                  <a:moveTo>
                    <a:pt x="0" y="0"/>
                  </a:moveTo>
                  <a:lnTo>
                    <a:pt x="6035040" y="0"/>
                  </a:lnTo>
                  <a:lnTo>
                    <a:pt x="6035040" y="438912"/>
                  </a:lnTo>
                  <a:lnTo>
                    <a:pt x="0" y="438912"/>
                  </a:lnTo>
                  <a:close/>
                </a:path>
              </a:pathLst>
            </a:custGeom>
            <a:blipFill>
              <a:blip r:embed="rId3">
                <a:alphaModFix amt="0"/>
              </a:blip>
              <a:stretch>
                <a:fillRect t="-217919" b="-217919"/>
              </a:stretch>
            </a:blipFill>
          </p:spPr>
          <p:txBody>
            <a:bodyPr/>
            <a:lstStyle/>
            <a:p>
              <a:endParaRPr lang="en-US"/>
            </a:p>
          </p:txBody>
        </p:sp>
        <p:sp>
          <p:nvSpPr>
            <p:cNvPr id="11" name="TextBox 11"/>
            <p:cNvSpPr txBox="1"/>
            <p:nvPr/>
          </p:nvSpPr>
          <p:spPr>
            <a:xfrm>
              <a:off x="0" y="-38100"/>
              <a:ext cx="6035040" cy="477012"/>
            </a:xfrm>
            <a:prstGeom prst="rect">
              <a:avLst/>
            </a:prstGeom>
          </p:spPr>
          <p:txBody>
            <a:bodyPr lIns="0" tIns="0" rIns="0" bIns="0" rtlCol="0" anchor="ctr"/>
            <a:lstStyle/>
            <a:p>
              <a:pPr algn="l">
                <a:lnSpc>
                  <a:spcPts val="1709"/>
                </a:lnSpc>
              </a:pPr>
              <a:r>
                <a:rPr lang="en-US" sz="1425" b="1" spc="225">
                  <a:solidFill>
                    <a:srgbClr val="0099D8"/>
                  </a:solidFill>
                  <a:latin typeface="Calibri"/>
                  <a:ea typeface="Calibri (MS) Bold"/>
                  <a:cs typeface="Calibri"/>
                  <a:sym typeface="Calibri (MS) Bold"/>
                </a:rPr>
                <a:t>APRIL 25, 2025</a:t>
              </a:r>
            </a:p>
          </p:txBody>
        </p:sp>
      </p:grpSp>
      <p:sp>
        <p:nvSpPr>
          <p:cNvPr id="12" name="TextBox 12"/>
          <p:cNvSpPr txBox="1"/>
          <p:nvPr/>
        </p:nvSpPr>
        <p:spPr>
          <a:xfrm>
            <a:off x="12755880" y="3116580"/>
            <a:ext cx="4526280" cy="687959"/>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+11.4%  </a:t>
            </a:r>
            <a:r>
              <a:rPr lang="en-US" sz="1449">
                <a:solidFill>
                  <a:srgbClr val="5B6672"/>
                </a:solidFill>
                <a:latin typeface="Calibri"/>
                <a:ea typeface="Calibri (MS)"/>
                <a:cs typeface="Calibri"/>
                <a:sym typeface="Calibri (MS)"/>
              </a:rPr>
              <a:t>Internet −59k; mobile and video beat. The Internet miss was forgiven because the print improved on the year before.</a:t>
            </a:r>
          </a:p>
        </p:txBody>
      </p:sp>
      <p:grpSp>
        <p:nvGrpSpPr>
          <p:cNvPr id="13" name="Group 13"/>
          <p:cNvGrpSpPr/>
          <p:nvPr/>
        </p:nvGrpSpPr>
        <p:grpSpPr>
          <a:xfrm>
            <a:off x="12401074" y="5748814"/>
            <a:ext cx="5167312" cy="2904172"/>
            <a:chOff x="0" y="0"/>
            <a:chExt cx="6889750" cy="3872230"/>
          </a:xfrm>
        </p:grpSpPr>
        <p:sp>
          <p:nvSpPr>
            <p:cNvPr id="14" name="Freeform 14"/>
            <p:cNvSpPr/>
            <p:nvPr/>
          </p:nvSpPr>
          <p:spPr>
            <a:xfrm>
              <a:off x="0" y="0"/>
              <a:ext cx="6889750" cy="3872230"/>
            </a:xfrm>
            <a:custGeom>
              <a:avLst/>
              <a:gdLst/>
              <a:ahLst/>
              <a:cxnLst/>
              <a:rect l="l" t="t" r="r" b="b"/>
              <a:pathLst>
                <a:path w="6889750" h="3872230">
                  <a:moveTo>
                    <a:pt x="0" y="147574"/>
                  </a:moveTo>
                  <a:cubicBezTo>
                    <a:pt x="0" y="66040"/>
                    <a:pt x="66040" y="0"/>
                    <a:pt x="147574" y="0"/>
                  </a:cubicBezTo>
                  <a:lnTo>
                    <a:pt x="6742176" y="0"/>
                  </a:lnTo>
                  <a:cubicBezTo>
                    <a:pt x="6823710" y="0"/>
                    <a:pt x="6889750" y="66040"/>
                    <a:pt x="6889750" y="147574"/>
                  </a:cubicBezTo>
                  <a:lnTo>
                    <a:pt x="6889750" y="3724656"/>
                  </a:lnTo>
                  <a:cubicBezTo>
                    <a:pt x="6889750" y="3806190"/>
                    <a:pt x="6823710" y="3872230"/>
                    <a:pt x="6742176" y="3872230"/>
                  </a:cubicBezTo>
                  <a:lnTo>
                    <a:pt x="147574" y="3872230"/>
                  </a:lnTo>
                  <a:cubicBezTo>
                    <a:pt x="66040" y="3872230"/>
                    <a:pt x="0" y="3806190"/>
                    <a:pt x="0" y="3724656"/>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5" name="Group 15"/>
          <p:cNvGrpSpPr/>
          <p:nvPr/>
        </p:nvGrpSpPr>
        <p:grpSpPr>
          <a:xfrm>
            <a:off x="12755880" y="5939028"/>
            <a:ext cx="4526280" cy="329184"/>
            <a:chOff x="0" y="0"/>
            <a:chExt cx="6035040" cy="438912"/>
          </a:xfrm>
        </p:grpSpPr>
        <p:sp>
          <p:nvSpPr>
            <p:cNvPr id="16" name="Freeform 16"/>
            <p:cNvSpPr/>
            <p:nvPr/>
          </p:nvSpPr>
          <p:spPr>
            <a:xfrm>
              <a:off x="0" y="0"/>
              <a:ext cx="6035040" cy="438912"/>
            </a:xfrm>
            <a:custGeom>
              <a:avLst/>
              <a:gdLst/>
              <a:ahLst/>
              <a:cxnLst/>
              <a:rect l="l" t="t" r="r" b="b"/>
              <a:pathLst>
                <a:path w="6035040" h="438912">
                  <a:moveTo>
                    <a:pt x="0" y="0"/>
                  </a:moveTo>
                  <a:lnTo>
                    <a:pt x="6035040" y="0"/>
                  </a:lnTo>
                  <a:lnTo>
                    <a:pt x="6035040" y="438912"/>
                  </a:lnTo>
                  <a:lnTo>
                    <a:pt x="0" y="438912"/>
                  </a:lnTo>
                  <a:close/>
                </a:path>
              </a:pathLst>
            </a:custGeom>
            <a:blipFill>
              <a:blip r:embed="rId3">
                <a:alphaModFix amt="0"/>
              </a:blip>
              <a:stretch>
                <a:fillRect t="-217919" b="-217919"/>
              </a:stretch>
            </a:blipFill>
          </p:spPr>
          <p:txBody>
            <a:bodyPr/>
            <a:lstStyle/>
            <a:p>
              <a:endParaRPr lang="en-US"/>
            </a:p>
          </p:txBody>
        </p:sp>
        <p:sp>
          <p:nvSpPr>
            <p:cNvPr id="17" name="TextBox 17"/>
            <p:cNvSpPr txBox="1"/>
            <p:nvPr/>
          </p:nvSpPr>
          <p:spPr>
            <a:xfrm>
              <a:off x="0" y="-38100"/>
              <a:ext cx="6035040" cy="477012"/>
            </a:xfrm>
            <a:prstGeom prst="rect">
              <a:avLst/>
            </a:prstGeom>
          </p:spPr>
          <p:txBody>
            <a:bodyPr lIns="0" tIns="0" rIns="0" bIns="0" rtlCol="0" anchor="ctr"/>
            <a:lstStyle/>
            <a:p>
              <a:pPr algn="l">
                <a:lnSpc>
                  <a:spcPts val="1709"/>
                </a:lnSpc>
              </a:pPr>
              <a:r>
                <a:rPr lang="en-US" sz="1425" b="1" spc="225">
                  <a:solidFill>
                    <a:srgbClr val="0099D8"/>
                  </a:solidFill>
                  <a:latin typeface="Calibri"/>
                  <a:ea typeface="Calibri (MS) Bold"/>
                  <a:cs typeface="Calibri"/>
                  <a:sym typeface="Calibri (MS) Bold"/>
                </a:rPr>
                <a:t>APRIL 24, 2026</a:t>
              </a:r>
            </a:p>
          </p:txBody>
        </p:sp>
      </p:grpSp>
      <p:sp>
        <p:nvSpPr>
          <p:cNvPr id="18" name="TextBox 18"/>
          <p:cNvSpPr txBox="1"/>
          <p:nvPr/>
        </p:nvSpPr>
        <p:spPr>
          <a:xfrm>
            <a:off x="12755880" y="6271260"/>
            <a:ext cx="4526280" cy="687959"/>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−25.5%  </a:t>
            </a:r>
            <a:r>
              <a:rPr lang="en-US" sz="1449">
                <a:solidFill>
                  <a:srgbClr val="5B6672"/>
                </a:solidFill>
                <a:latin typeface="Calibri"/>
                <a:ea typeface="Calibri (MS)"/>
                <a:cs typeface="Calibri"/>
                <a:sym typeface="Calibri (MS)"/>
              </a:rPr>
              <a:t>Internet −120k; mobile +368k lines. Same mobile story, opposite tape. Mobile is real but lower-margin (resold Verizon capacity); it is not what the multiple is built on.</a:t>
            </a:r>
          </a:p>
        </p:txBody>
      </p:sp>
      <p:grpSp>
        <p:nvGrpSpPr>
          <p:cNvPr id="19" name="Group 19"/>
          <p:cNvGrpSpPr/>
          <p:nvPr/>
        </p:nvGrpSpPr>
        <p:grpSpPr>
          <a:xfrm>
            <a:off x="754380" y="8805672"/>
            <a:ext cx="16733520" cy="356616"/>
            <a:chOff x="0" y="0"/>
            <a:chExt cx="22311360" cy="475488"/>
          </a:xfrm>
        </p:grpSpPr>
        <p:sp>
          <p:nvSpPr>
            <p:cNvPr id="20" name="Freeform 20"/>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21" name="TextBox 21"/>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Trending / Ex99.1 (restated basis); Yahoo Finance close-to-close on earnings dates (analysis, not a filing).</a:t>
              </a:r>
            </a:p>
          </p:txBody>
        </p:sp>
      </p:grpSp>
      <p:grpSp>
        <p:nvGrpSpPr>
          <p:cNvPr id="22" name="Group 22"/>
          <p:cNvGrpSpPr/>
          <p:nvPr/>
        </p:nvGrpSpPr>
        <p:grpSpPr>
          <a:xfrm>
            <a:off x="754380" y="9189720"/>
            <a:ext cx="16733520" cy="411480"/>
            <a:chOff x="0" y="0"/>
            <a:chExt cx="22311360" cy="548640"/>
          </a:xfrm>
        </p:grpSpPr>
        <p:sp>
          <p:nvSpPr>
            <p:cNvPr id="23" name="Freeform 2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24" name="TextBox 2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 action="ppaction://hlinksldjump"/>
                </a:rPr>
                <a:t>←  Back to main deck  (p.4)</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6" action="ppaction://hlinksldjump"/>
                </a:rPr>
                <a:t>Appendix index  (p.12)</a:t>
              </a:r>
            </a:p>
          </p:txBody>
        </p:sp>
      </p:grpSp>
      <p:grpSp>
        <p:nvGrpSpPr>
          <p:cNvPr id="25" name="Group 25"/>
          <p:cNvGrpSpPr/>
          <p:nvPr/>
        </p:nvGrpSpPr>
        <p:grpSpPr>
          <a:xfrm>
            <a:off x="17076420" y="9669780"/>
            <a:ext cx="960120" cy="411480"/>
            <a:chOff x="0" y="0"/>
            <a:chExt cx="1280160" cy="548640"/>
          </a:xfrm>
        </p:grpSpPr>
        <p:sp>
          <p:nvSpPr>
            <p:cNvPr id="26" name="Freeform 2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7" name="TextBox 2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14</a:t>
              </a:r>
            </a:p>
          </p:txBody>
        </p:sp>
      </p:grpSp>
      <p:grpSp>
        <p:nvGrpSpPr>
          <p:cNvPr id="28" name="Group 28"/>
          <p:cNvGrpSpPr/>
          <p:nvPr/>
        </p:nvGrpSpPr>
        <p:grpSpPr>
          <a:xfrm>
            <a:off x="754380" y="9669780"/>
            <a:ext cx="16047720" cy="411480"/>
            <a:chOff x="0" y="0"/>
            <a:chExt cx="21396960" cy="548640"/>
          </a:xfrm>
        </p:grpSpPr>
        <p:sp>
          <p:nvSpPr>
            <p:cNvPr id="29" name="Freeform 2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30" name="TextBox 3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
        <p:nvSpPr>
          <p:cNvPr id="31" name="Axis label cover">
            <a:extLst>
              <a:ext uri="{FF2B5EF4-FFF2-40B4-BE49-F238E27FC236}">
                <a16:creationId xmlns:a16="http://schemas.microsoft.com/office/drawing/2014/main" id="{C442173E-5A5B-294F-88A8-D0A28467E1DE}"/>
              </a:ext>
            </a:extLst>
          </p:cNvPr>
          <p:cNvSpPr/>
          <p:nvPr/>
        </p:nvSpPr>
        <p:spPr>
          <a:xfrm>
            <a:off x="1666240" y="8128000"/>
            <a:ext cx="10322560" cy="3048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2075546E-E983-6D4F-B992-B5107AF6154F}"/>
              </a:ext>
            </a:extLst>
          </p:cNvPr>
          <p:cNvSpPr txBox="1"/>
          <p:nvPr/>
        </p:nvSpPr>
        <p:spPr>
          <a:xfrm>
            <a:off x="179324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33" name="TextBox 32">
            <a:extLst>
              <a:ext uri="{FF2B5EF4-FFF2-40B4-BE49-F238E27FC236}">
                <a16:creationId xmlns:a16="http://schemas.microsoft.com/office/drawing/2014/main" id="{BEB24604-F736-6649-838F-7F56C29FA843}"/>
              </a:ext>
            </a:extLst>
          </p:cNvPr>
          <p:cNvSpPr txBox="1"/>
          <p:nvPr/>
        </p:nvSpPr>
        <p:spPr>
          <a:xfrm>
            <a:off x="1793240"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2024</a:t>
            </a:r>
          </a:p>
        </p:txBody>
      </p:sp>
      <p:sp>
        <p:nvSpPr>
          <p:cNvPr id="34" name="TextBox 33">
            <a:extLst>
              <a:ext uri="{FF2B5EF4-FFF2-40B4-BE49-F238E27FC236}">
                <a16:creationId xmlns:a16="http://schemas.microsoft.com/office/drawing/2014/main" id="{FE798BB8-9B47-594D-96CB-C6ED91D99B2D}"/>
              </a:ext>
            </a:extLst>
          </p:cNvPr>
          <p:cNvSpPr txBox="1"/>
          <p:nvPr/>
        </p:nvSpPr>
        <p:spPr>
          <a:xfrm>
            <a:off x="2827302"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35" name="TextBox 34">
            <a:extLst>
              <a:ext uri="{FF2B5EF4-FFF2-40B4-BE49-F238E27FC236}">
                <a16:creationId xmlns:a16="http://schemas.microsoft.com/office/drawing/2014/main" id="{4714B8EF-F235-8F43-B384-D9EFA76E48D7}"/>
              </a:ext>
            </a:extLst>
          </p:cNvPr>
          <p:cNvSpPr txBox="1"/>
          <p:nvPr/>
        </p:nvSpPr>
        <p:spPr>
          <a:xfrm>
            <a:off x="3861364"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36" name="TextBox 35">
            <a:extLst>
              <a:ext uri="{FF2B5EF4-FFF2-40B4-BE49-F238E27FC236}">
                <a16:creationId xmlns:a16="http://schemas.microsoft.com/office/drawing/2014/main" id="{826FBAC6-86E3-3C4B-B026-55CDDDAD1EFA}"/>
              </a:ext>
            </a:extLst>
          </p:cNvPr>
          <p:cNvSpPr txBox="1"/>
          <p:nvPr/>
        </p:nvSpPr>
        <p:spPr>
          <a:xfrm>
            <a:off x="4895426"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37" name="TextBox 36">
            <a:extLst>
              <a:ext uri="{FF2B5EF4-FFF2-40B4-BE49-F238E27FC236}">
                <a16:creationId xmlns:a16="http://schemas.microsoft.com/office/drawing/2014/main" id="{74AC6322-9F6A-1240-B6CA-81CF877F3A01}"/>
              </a:ext>
            </a:extLst>
          </p:cNvPr>
          <p:cNvSpPr txBox="1"/>
          <p:nvPr/>
        </p:nvSpPr>
        <p:spPr>
          <a:xfrm>
            <a:off x="5929488"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38" name="TextBox 37">
            <a:extLst>
              <a:ext uri="{FF2B5EF4-FFF2-40B4-BE49-F238E27FC236}">
                <a16:creationId xmlns:a16="http://schemas.microsoft.com/office/drawing/2014/main" id="{3A552A56-791A-5B46-8B8D-382BE97D20C1}"/>
              </a:ext>
            </a:extLst>
          </p:cNvPr>
          <p:cNvSpPr txBox="1"/>
          <p:nvPr/>
        </p:nvSpPr>
        <p:spPr>
          <a:xfrm>
            <a:off x="5929488"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2025</a:t>
            </a:r>
          </a:p>
        </p:txBody>
      </p:sp>
      <p:sp>
        <p:nvSpPr>
          <p:cNvPr id="39" name="TextBox 38">
            <a:extLst>
              <a:ext uri="{FF2B5EF4-FFF2-40B4-BE49-F238E27FC236}">
                <a16:creationId xmlns:a16="http://schemas.microsoft.com/office/drawing/2014/main" id="{3D5CF54B-B25D-2C4E-81E0-CDA3D2B3D436}"/>
              </a:ext>
            </a:extLst>
          </p:cNvPr>
          <p:cNvSpPr txBox="1"/>
          <p:nvPr/>
        </p:nvSpPr>
        <p:spPr>
          <a:xfrm>
            <a:off x="6963551"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40" name="TextBox 39">
            <a:extLst>
              <a:ext uri="{FF2B5EF4-FFF2-40B4-BE49-F238E27FC236}">
                <a16:creationId xmlns:a16="http://schemas.microsoft.com/office/drawing/2014/main" id="{3A1CF7C5-F8C0-2C4B-8E76-CB375708A4D8}"/>
              </a:ext>
            </a:extLst>
          </p:cNvPr>
          <p:cNvSpPr txBox="1"/>
          <p:nvPr/>
        </p:nvSpPr>
        <p:spPr>
          <a:xfrm>
            <a:off x="7997613"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41" name="TextBox 40">
            <a:extLst>
              <a:ext uri="{FF2B5EF4-FFF2-40B4-BE49-F238E27FC236}">
                <a16:creationId xmlns:a16="http://schemas.microsoft.com/office/drawing/2014/main" id="{83DDE78B-0761-D047-A21E-2B1C7CECE04F}"/>
              </a:ext>
            </a:extLst>
          </p:cNvPr>
          <p:cNvSpPr txBox="1"/>
          <p:nvPr/>
        </p:nvSpPr>
        <p:spPr>
          <a:xfrm>
            <a:off x="9031675"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42" name="TextBox 41">
            <a:extLst>
              <a:ext uri="{FF2B5EF4-FFF2-40B4-BE49-F238E27FC236}">
                <a16:creationId xmlns:a16="http://schemas.microsoft.com/office/drawing/2014/main" id="{F15DF035-C2A6-7F4A-8A53-E6AB8EA409C5}"/>
              </a:ext>
            </a:extLst>
          </p:cNvPr>
          <p:cNvSpPr txBox="1"/>
          <p:nvPr/>
        </p:nvSpPr>
        <p:spPr>
          <a:xfrm>
            <a:off x="10065737"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43" name="TextBox 42">
            <a:extLst>
              <a:ext uri="{FF2B5EF4-FFF2-40B4-BE49-F238E27FC236}">
                <a16:creationId xmlns:a16="http://schemas.microsoft.com/office/drawing/2014/main" id="{0C2CF236-0E0C-8C4E-AF13-D011CCD2411B}"/>
              </a:ext>
            </a:extLst>
          </p:cNvPr>
          <p:cNvSpPr txBox="1"/>
          <p:nvPr/>
        </p:nvSpPr>
        <p:spPr>
          <a:xfrm>
            <a:off x="10065737"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2026</a:t>
            </a:r>
          </a:p>
        </p:txBody>
      </p:sp>
      <p:sp>
        <p:nvSpPr>
          <p:cNvPr id="44" name="TextBox 43">
            <a:extLst>
              <a:ext uri="{FF2B5EF4-FFF2-40B4-BE49-F238E27FC236}">
                <a16:creationId xmlns:a16="http://schemas.microsoft.com/office/drawing/2014/main" id="{721E8147-4D81-3447-B7BD-317985F7065C}"/>
              </a:ext>
            </a:extLst>
          </p:cNvPr>
          <p:cNvSpPr txBox="1"/>
          <p:nvPr/>
        </p:nvSpPr>
        <p:spPr>
          <a:xfrm>
            <a:off x="1109980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  ·  PROBLEM DEFINITION</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Revenue Is Flat While the Mix Shifts Underneath</a:t>
            </a:r>
          </a:p>
        </p:txBody>
      </p:sp>
      <p:pic>
        <p:nvPicPr>
          <p:cNvPr id="6" name="Picture 6"/>
          <p:cNvPicPr>
            <a:picLocks noChangeAspect="1"/>
          </p:cNvPicPr>
          <p:nvPr/>
        </p:nvPicPr>
        <p:blipFill>
          <a:blip r:embed="rId4"/>
          <a:stretch>
            <a:fillRect/>
          </a:stretch>
        </p:blipFill>
        <p:spPr>
          <a:xfrm>
            <a:off x="-288036" y="1563624"/>
            <a:ext cx="12508992" cy="8119872"/>
          </a:xfrm>
          <a:prstGeom prst="rect">
            <a:avLst/>
          </a:prstGeom>
        </p:spPr>
      </p:pic>
      <p:grpSp>
        <p:nvGrpSpPr>
          <p:cNvPr id="7" name="Group 7"/>
          <p:cNvGrpSpPr/>
          <p:nvPr/>
        </p:nvGrpSpPr>
        <p:grpSpPr>
          <a:xfrm>
            <a:off x="11511915" y="2596515"/>
            <a:ext cx="6054090" cy="6054090"/>
            <a:chOff x="0" y="0"/>
            <a:chExt cx="8072120" cy="8072120"/>
          </a:xfrm>
        </p:grpSpPr>
        <p:sp>
          <p:nvSpPr>
            <p:cNvPr id="8" name="Freeform 8"/>
            <p:cNvSpPr/>
            <p:nvPr/>
          </p:nvSpPr>
          <p:spPr>
            <a:xfrm>
              <a:off x="0" y="0"/>
              <a:ext cx="8072120" cy="8072120"/>
            </a:xfrm>
            <a:custGeom>
              <a:avLst/>
              <a:gdLst/>
              <a:ahLst/>
              <a:cxnLst/>
              <a:rect l="l" t="t" r="r" b="b"/>
              <a:pathLst>
                <a:path w="8072120" h="8072120">
                  <a:moveTo>
                    <a:pt x="0" y="146812"/>
                  </a:moveTo>
                  <a:cubicBezTo>
                    <a:pt x="0" y="65659"/>
                    <a:pt x="65659" y="0"/>
                    <a:pt x="146812" y="0"/>
                  </a:cubicBezTo>
                  <a:lnTo>
                    <a:pt x="7925308" y="0"/>
                  </a:lnTo>
                  <a:cubicBezTo>
                    <a:pt x="8006334" y="0"/>
                    <a:pt x="8072120" y="65659"/>
                    <a:pt x="8072120" y="146812"/>
                  </a:cubicBezTo>
                  <a:lnTo>
                    <a:pt x="8072120" y="7925308"/>
                  </a:lnTo>
                  <a:cubicBezTo>
                    <a:pt x="8072120" y="8006334"/>
                    <a:pt x="8006461" y="8072120"/>
                    <a:pt x="7925308" y="8072120"/>
                  </a:cubicBezTo>
                  <a:lnTo>
                    <a:pt x="146812" y="8072120"/>
                  </a:lnTo>
                  <a:cubicBezTo>
                    <a:pt x="65659" y="8072120"/>
                    <a:pt x="0" y="8006461"/>
                    <a:pt x="0" y="792530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9" name="Group 9"/>
          <p:cNvGrpSpPr/>
          <p:nvPr/>
        </p:nvGrpSpPr>
        <p:grpSpPr>
          <a:xfrm>
            <a:off x="11864340" y="2811780"/>
            <a:ext cx="5349240" cy="356616"/>
            <a:chOff x="0" y="0"/>
            <a:chExt cx="7132320" cy="475488"/>
          </a:xfrm>
        </p:grpSpPr>
        <p:sp>
          <p:nvSpPr>
            <p:cNvPr id="10" name="Freeform 10"/>
            <p:cNvSpPr/>
            <p:nvPr/>
          </p:nvSpPr>
          <p:spPr>
            <a:xfrm>
              <a:off x="0" y="0"/>
              <a:ext cx="7132320" cy="475488"/>
            </a:xfrm>
            <a:custGeom>
              <a:avLst/>
              <a:gdLst/>
              <a:ahLst/>
              <a:cxnLst/>
              <a:rect l="l" t="t" r="r" b="b"/>
              <a:pathLst>
                <a:path w="7132320" h="475488">
                  <a:moveTo>
                    <a:pt x="0" y="0"/>
                  </a:moveTo>
                  <a:lnTo>
                    <a:pt x="7132320" y="0"/>
                  </a:lnTo>
                  <a:lnTo>
                    <a:pt x="7132320" y="475488"/>
                  </a:lnTo>
                  <a:lnTo>
                    <a:pt x="0" y="475488"/>
                  </a:lnTo>
                  <a:close/>
                </a:path>
              </a:pathLst>
            </a:custGeom>
            <a:blipFill>
              <a:blip r:embed="rId3">
                <a:alphaModFix amt="0"/>
              </a:blip>
              <a:stretch>
                <a:fillRect t="-242275" b="-242275"/>
              </a:stretch>
            </a:blipFill>
          </p:spPr>
          <p:txBody>
            <a:bodyPr/>
            <a:lstStyle/>
            <a:p>
              <a:endParaRPr lang="en-US"/>
            </a:p>
          </p:txBody>
        </p:sp>
        <p:sp>
          <p:nvSpPr>
            <p:cNvPr id="11" name="TextBox 11"/>
            <p:cNvSpPr txBox="1"/>
            <p:nvPr/>
          </p:nvSpPr>
          <p:spPr>
            <a:xfrm>
              <a:off x="0" y="-38100"/>
              <a:ext cx="713232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READ</a:t>
              </a:r>
            </a:p>
          </p:txBody>
        </p:sp>
      </p:grpSp>
      <p:sp>
        <p:nvSpPr>
          <p:cNvPr id="12" name="TextBox 12"/>
          <p:cNvSpPr txBox="1"/>
          <p:nvPr/>
        </p:nvSpPr>
        <p:spPr>
          <a:xfrm>
            <a:off x="11864340" y="3253740"/>
            <a:ext cx="5349240" cy="1783334"/>
          </a:xfrm>
          <a:prstGeom prst="rect">
            <a:avLst/>
          </a:prstGeom>
        </p:spPr>
        <p:txBody>
          <a:bodyPr lIns="0" tIns="0" rIns="0" bIns="0" rtlCol="0" anchor="t">
            <a:spAutoFit/>
          </a:bodyPr>
          <a:lstStyle/>
          <a:p>
            <a:pPr algn="l">
              <a:lnSpc>
                <a:spcPts val="1797"/>
              </a:lnSpc>
            </a:pPr>
            <a:r>
              <a:rPr lang="en-US" sz="1449" b="1">
                <a:solidFill>
                  <a:srgbClr val="0B1F3A"/>
                </a:solidFill>
                <a:latin typeface="Calibri"/>
                <a:ea typeface="Calibri (MS) Bold"/>
                <a:cs typeface="Calibri"/>
                <a:sym typeface="Calibri (MS) Bold"/>
              </a:rPr>
              <a:t>Flat top line, moving parts.</a:t>
            </a:r>
          </a:p>
          <a:p>
            <a:pPr algn="l">
              <a:lnSpc>
                <a:spcPts val="1797"/>
              </a:lnSpc>
            </a:pPr>
            <a:r>
              <a:rPr lang="en-US" sz="1449">
                <a:solidFill>
                  <a:srgbClr val="5B6672"/>
                </a:solidFill>
                <a:latin typeface="Calibri"/>
                <a:ea typeface="Calibri (MS)"/>
                <a:cs typeface="Calibri"/>
                <a:sym typeface="Calibri (MS)"/>
              </a:rPr>
              <a:t>Video −9.4% in 2025 (programmer-app bundling manages the decline, it does not reverse it). Voice −6%. Advertising −18% in an odd (non-political) year.</a:t>
            </a:r>
          </a:p>
          <a:p>
            <a:pPr algn="l">
              <a:lnSpc>
                <a:spcPts val="1797"/>
              </a:lnSpc>
            </a:pPr>
            <a:r>
              <a:rPr lang="en-US" sz="1449">
                <a:solidFill>
                  <a:srgbClr val="5B6672"/>
                </a:solidFill>
                <a:latin typeface="Calibri"/>
                <a:ea typeface="Calibri (MS)"/>
                <a:cs typeface="Calibri"/>
                <a:sym typeface="Calibri (MS)"/>
              </a:rPr>
              <a:t>Internet +1.7% and mobile +22% in 2025 kept the total within 0.6%, until Q1 2026, when Internet revenue itself fell.</a:t>
            </a:r>
          </a:p>
          <a:p>
            <a:pPr algn="l">
              <a:lnSpc>
                <a:spcPts val="1797"/>
              </a:lnSpc>
            </a:pPr>
            <a:r>
              <a:rPr lang="en-US" sz="1449" b="1">
                <a:solidFill>
                  <a:srgbClr val="C8102E"/>
                </a:solidFill>
                <a:latin typeface="Calibri"/>
                <a:ea typeface="Calibri (MS) Bold"/>
                <a:cs typeface="Calibri"/>
                <a:sym typeface="Calibri (MS) Bold"/>
              </a:rPr>
              <a:t>So what: </a:t>
            </a:r>
            <a:r>
              <a:rPr lang="en-US" sz="1449">
                <a:solidFill>
                  <a:srgbClr val="5B6672"/>
                </a:solidFill>
                <a:latin typeface="Calibri"/>
                <a:ea typeface="Calibri (MS)"/>
                <a:cs typeface="Calibri"/>
                <a:sym typeface="Calibri (MS)"/>
              </a:rPr>
              <a:t>the company is not shrinking in total; the profit engine inside it is. That is why the multiple prices one line.</a:t>
            </a:r>
          </a:p>
        </p:txBody>
      </p:sp>
      <p:grpSp>
        <p:nvGrpSpPr>
          <p:cNvPr id="13" name="Group 13"/>
          <p:cNvGrpSpPr/>
          <p:nvPr/>
        </p:nvGrpSpPr>
        <p:grpSpPr>
          <a:xfrm>
            <a:off x="754380" y="8805672"/>
            <a:ext cx="16733520" cy="356616"/>
            <a:chOff x="0" y="0"/>
            <a:chExt cx="22311360" cy="475488"/>
          </a:xfrm>
        </p:grpSpPr>
        <p:sp>
          <p:nvSpPr>
            <p:cNvPr id="14" name="Freeform 14"/>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5" name="TextBox 15"/>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and FY2024 10-K revenue by line ($M). Commercial = small business + mid-market &amp; large. Annual periods used so partial-year 2026 does not distort the stack.</a:t>
              </a:r>
            </a:p>
          </p:txBody>
        </p:sp>
      </p:grpSp>
      <p:grpSp>
        <p:nvGrpSpPr>
          <p:cNvPr id="16" name="Group 16"/>
          <p:cNvGrpSpPr/>
          <p:nvPr/>
        </p:nvGrpSpPr>
        <p:grpSpPr>
          <a:xfrm>
            <a:off x="754380" y="9189720"/>
            <a:ext cx="16733520" cy="411480"/>
            <a:chOff x="0" y="0"/>
            <a:chExt cx="22311360" cy="548640"/>
          </a:xfrm>
        </p:grpSpPr>
        <p:sp>
          <p:nvSpPr>
            <p:cNvPr id="17" name="Freeform 17"/>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8" name="TextBox 18"/>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6" action="ppaction://hlinksldjump"/>
                </a:rPr>
                <a:t>Appendix index  (p.12)</a:t>
              </a:r>
            </a:p>
          </p:txBody>
        </p:sp>
      </p:grpSp>
      <p:grpSp>
        <p:nvGrpSpPr>
          <p:cNvPr id="19" name="Group 19"/>
          <p:cNvGrpSpPr/>
          <p:nvPr/>
        </p:nvGrpSpPr>
        <p:grpSpPr>
          <a:xfrm>
            <a:off x="17076420" y="9669780"/>
            <a:ext cx="960120" cy="411480"/>
            <a:chOff x="0" y="0"/>
            <a:chExt cx="1280160" cy="548640"/>
          </a:xfrm>
        </p:grpSpPr>
        <p:sp>
          <p:nvSpPr>
            <p:cNvPr id="20" name="Freeform 20"/>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1" name="TextBox 21"/>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15</a:t>
              </a:r>
            </a:p>
          </p:txBody>
        </p:sp>
      </p:grpSp>
      <p:grpSp>
        <p:nvGrpSpPr>
          <p:cNvPr id="22" name="Group 22"/>
          <p:cNvGrpSpPr/>
          <p:nvPr/>
        </p:nvGrpSpPr>
        <p:grpSpPr>
          <a:xfrm>
            <a:off x="754380" y="9669780"/>
            <a:ext cx="16047720" cy="411480"/>
            <a:chOff x="0" y="0"/>
            <a:chExt cx="21396960" cy="548640"/>
          </a:xfrm>
        </p:grpSpPr>
        <p:sp>
          <p:nvSpPr>
            <p:cNvPr id="23" name="Freeform 23"/>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24" name="TextBox 24"/>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
        <p:nvSpPr>
          <p:cNvPr id="25" name="Axis label cover">
            <a:extLst>
              <a:ext uri="{FF2B5EF4-FFF2-40B4-BE49-F238E27FC236}">
                <a16:creationId xmlns:a16="http://schemas.microsoft.com/office/drawing/2014/main" id="{DF0586DE-4E51-9242-BF54-B5906F0D68CA}"/>
              </a:ext>
            </a:extLst>
          </p:cNvPr>
          <p:cNvSpPr/>
          <p:nvPr/>
        </p:nvSpPr>
        <p:spPr>
          <a:xfrm>
            <a:off x="2275840" y="8191500"/>
            <a:ext cx="8188960" cy="2413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EB2921FC-989A-274A-A97D-E444A60175F8}"/>
              </a:ext>
            </a:extLst>
          </p:cNvPr>
          <p:cNvSpPr txBox="1"/>
          <p:nvPr/>
        </p:nvSpPr>
        <p:spPr>
          <a:xfrm>
            <a:off x="240284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FY2023</a:t>
            </a:r>
          </a:p>
        </p:txBody>
      </p:sp>
      <p:sp>
        <p:nvSpPr>
          <p:cNvPr id="27" name="TextBox 26">
            <a:extLst>
              <a:ext uri="{FF2B5EF4-FFF2-40B4-BE49-F238E27FC236}">
                <a16:creationId xmlns:a16="http://schemas.microsoft.com/office/drawing/2014/main" id="{C1BE3D04-EAB4-7C43-AA4D-85D2B1977E8A}"/>
              </a:ext>
            </a:extLst>
          </p:cNvPr>
          <p:cNvSpPr txBox="1"/>
          <p:nvPr/>
        </p:nvSpPr>
        <p:spPr>
          <a:xfrm>
            <a:off x="598932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FY2024</a:t>
            </a:r>
          </a:p>
        </p:txBody>
      </p:sp>
      <p:sp>
        <p:nvSpPr>
          <p:cNvPr id="28" name="TextBox 27">
            <a:extLst>
              <a:ext uri="{FF2B5EF4-FFF2-40B4-BE49-F238E27FC236}">
                <a16:creationId xmlns:a16="http://schemas.microsoft.com/office/drawing/2014/main" id="{6AC11603-7B33-3A40-B4D3-E788D2E11753}"/>
              </a:ext>
            </a:extLst>
          </p:cNvPr>
          <p:cNvSpPr txBox="1"/>
          <p:nvPr/>
        </p:nvSpPr>
        <p:spPr>
          <a:xfrm>
            <a:off x="957580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FY2025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A5  ·  PROBLEM DEFINITION</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Rate Stopped Covering Volume in Q1 2026</a:t>
            </a:r>
          </a:p>
        </p:txBody>
      </p:sp>
      <p:pic>
        <p:nvPicPr>
          <p:cNvPr id="6" name="Picture 6"/>
          <p:cNvPicPr>
            <a:picLocks noChangeAspect="1"/>
          </p:cNvPicPr>
          <p:nvPr/>
        </p:nvPicPr>
        <p:blipFill>
          <a:blip r:embed="rId4"/>
          <a:stretch>
            <a:fillRect/>
          </a:stretch>
        </p:blipFill>
        <p:spPr>
          <a:xfrm>
            <a:off x="-82296" y="1769364"/>
            <a:ext cx="10040112" cy="7708392"/>
          </a:xfrm>
          <a:prstGeom prst="rect">
            <a:avLst/>
          </a:prstGeom>
        </p:spPr>
      </p:pic>
      <p:grpSp>
        <p:nvGrpSpPr>
          <p:cNvPr id="7" name="Group 7"/>
          <p:cNvGrpSpPr/>
          <p:nvPr/>
        </p:nvGrpSpPr>
        <p:grpSpPr>
          <a:xfrm>
            <a:off x="9395460" y="2606040"/>
            <a:ext cx="8161020" cy="466344"/>
            <a:chOff x="0" y="0"/>
            <a:chExt cx="10881360" cy="621792"/>
          </a:xfrm>
        </p:grpSpPr>
        <p:sp>
          <p:nvSpPr>
            <p:cNvPr id="8" name="Freeform 8"/>
            <p:cNvSpPr/>
            <p:nvPr/>
          </p:nvSpPr>
          <p:spPr>
            <a:xfrm>
              <a:off x="0" y="0"/>
              <a:ext cx="10881360" cy="621792"/>
            </a:xfrm>
            <a:custGeom>
              <a:avLst/>
              <a:gdLst/>
              <a:ahLst/>
              <a:cxnLst/>
              <a:rect l="l" t="t" r="r" b="b"/>
              <a:pathLst>
                <a:path w="10881360" h="621792">
                  <a:moveTo>
                    <a:pt x="0" y="0"/>
                  </a:moveTo>
                  <a:lnTo>
                    <a:pt x="10881360" y="0"/>
                  </a:lnTo>
                  <a:lnTo>
                    <a:pt x="10881360" y="621792"/>
                  </a:lnTo>
                  <a:lnTo>
                    <a:pt x="0" y="621792"/>
                  </a:lnTo>
                  <a:close/>
                </a:path>
              </a:pathLst>
            </a:custGeom>
            <a:solidFill>
              <a:srgbClr val="003057"/>
            </a:solidFill>
          </p:spPr>
          <p:txBody>
            <a:bodyPr/>
            <a:lstStyle/>
            <a:p>
              <a:endParaRPr lang="en-US"/>
            </a:p>
          </p:txBody>
        </p:sp>
      </p:grpSp>
      <p:grpSp>
        <p:nvGrpSpPr>
          <p:cNvPr id="9" name="Group 9"/>
          <p:cNvGrpSpPr/>
          <p:nvPr/>
        </p:nvGrpSpPr>
        <p:grpSpPr>
          <a:xfrm>
            <a:off x="9477756" y="2606040"/>
            <a:ext cx="1001268" cy="466344"/>
            <a:chOff x="0" y="0"/>
            <a:chExt cx="1335024" cy="621792"/>
          </a:xfrm>
        </p:grpSpPr>
        <p:sp>
          <p:nvSpPr>
            <p:cNvPr id="10" name="Freeform 10"/>
            <p:cNvSpPr/>
            <p:nvPr/>
          </p:nvSpPr>
          <p:spPr>
            <a:xfrm>
              <a:off x="0" y="0"/>
              <a:ext cx="1335024" cy="621792"/>
            </a:xfrm>
            <a:custGeom>
              <a:avLst/>
              <a:gdLst/>
              <a:ahLst/>
              <a:cxnLst/>
              <a:rect l="l" t="t" r="r" b="b"/>
              <a:pathLst>
                <a:path w="1335024" h="621792">
                  <a:moveTo>
                    <a:pt x="0" y="0"/>
                  </a:moveTo>
                  <a:lnTo>
                    <a:pt x="1335024" y="0"/>
                  </a:lnTo>
                  <a:lnTo>
                    <a:pt x="1335024" y="621792"/>
                  </a:lnTo>
                  <a:lnTo>
                    <a:pt x="0" y="621792"/>
                  </a:lnTo>
                  <a:close/>
                </a:path>
              </a:pathLst>
            </a:custGeom>
            <a:blipFill>
              <a:blip r:embed="rId3">
                <a:alphaModFix amt="0"/>
              </a:blip>
              <a:stretch>
                <a:fillRect l="-9757" r="-9757"/>
              </a:stretch>
            </a:blipFill>
          </p:spPr>
          <p:txBody>
            <a:bodyPr/>
            <a:lstStyle/>
            <a:p>
              <a:endParaRPr lang="en-US"/>
            </a:p>
          </p:txBody>
        </p:sp>
        <p:sp>
          <p:nvSpPr>
            <p:cNvPr id="11" name="TextBox 11"/>
            <p:cNvSpPr txBox="1"/>
            <p:nvPr/>
          </p:nvSpPr>
          <p:spPr>
            <a:xfrm>
              <a:off x="0" y="-28575"/>
              <a:ext cx="1335024" cy="650367"/>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Qtr</a:t>
              </a:r>
            </a:p>
          </p:txBody>
        </p:sp>
      </p:grpSp>
      <p:grpSp>
        <p:nvGrpSpPr>
          <p:cNvPr id="12" name="Group 12"/>
          <p:cNvGrpSpPr/>
          <p:nvPr/>
        </p:nvGrpSpPr>
        <p:grpSpPr>
          <a:xfrm>
            <a:off x="10643616" y="2606040"/>
            <a:ext cx="1481328" cy="466344"/>
            <a:chOff x="0" y="0"/>
            <a:chExt cx="1975104" cy="621792"/>
          </a:xfrm>
        </p:grpSpPr>
        <p:sp>
          <p:nvSpPr>
            <p:cNvPr id="13" name="Freeform 13"/>
            <p:cNvSpPr/>
            <p:nvPr/>
          </p:nvSpPr>
          <p:spPr>
            <a:xfrm>
              <a:off x="0" y="0"/>
              <a:ext cx="1975104" cy="621792"/>
            </a:xfrm>
            <a:custGeom>
              <a:avLst/>
              <a:gdLst/>
              <a:ahLst/>
              <a:cxnLst/>
              <a:rect l="l" t="t" r="r" b="b"/>
              <a:pathLst>
                <a:path w="1975104" h="621792">
                  <a:moveTo>
                    <a:pt x="0" y="0"/>
                  </a:moveTo>
                  <a:lnTo>
                    <a:pt x="1975104" y="0"/>
                  </a:lnTo>
                  <a:lnTo>
                    <a:pt x="1975104" y="621792"/>
                  </a:lnTo>
                  <a:lnTo>
                    <a:pt x="0" y="621792"/>
                  </a:lnTo>
                  <a:close/>
                </a:path>
              </a:pathLst>
            </a:custGeom>
            <a:blipFill>
              <a:blip r:embed="rId3">
                <a:alphaModFix amt="0"/>
              </a:blip>
              <a:stretch>
                <a:fillRect t="-11893" b="-11893"/>
              </a:stretch>
            </a:blipFill>
          </p:spPr>
          <p:txBody>
            <a:bodyPr/>
            <a:lstStyle/>
            <a:p>
              <a:endParaRPr lang="en-US"/>
            </a:p>
          </p:txBody>
        </p:sp>
        <p:sp>
          <p:nvSpPr>
            <p:cNvPr id="14" name="TextBox 14"/>
            <p:cNvSpPr txBox="1"/>
            <p:nvPr/>
          </p:nvSpPr>
          <p:spPr>
            <a:xfrm>
              <a:off x="0" y="-28575"/>
              <a:ext cx="1975104" cy="650367"/>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Volume $M</a:t>
              </a:r>
            </a:p>
          </p:txBody>
        </p:sp>
      </p:grpSp>
      <p:grpSp>
        <p:nvGrpSpPr>
          <p:cNvPr id="15" name="Group 15"/>
          <p:cNvGrpSpPr/>
          <p:nvPr/>
        </p:nvGrpSpPr>
        <p:grpSpPr>
          <a:xfrm>
            <a:off x="12289536" y="2606040"/>
            <a:ext cx="1481328" cy="466344"/>
            <a:chOff x="0" y="0"/>
            <a:chExt cx="1975104" cy="621792"/>
          </a:xfrm>
        </p:grpSpPr>
        <p:sp>
          <p:nvSpPr>
            <p:cNvPr id="16" name="Freeform 16"/>
            <p:cNvSpPr/>
            <p:nvPr/>
          </p:nvSpPr>
          <p:spPr>
            <a:xfrm>
              <a:off x="0" y="0"/>
              <a:ext cx="1975104" cy="621792"/>
            </a:xfrm>
            <a:custGeom>
              <a:avLst/>
              <a:gdLst/>
              <a:ahLst/>
              <a:cxnLst/>
              <a:rect l="l" t="t" r="r" b="b"/>
              <a:pathLst>
                <a:path w="1975104" h="621792">
                  <a:moveTo>
                    <a:pt x="0" y="0"/>
                  </a:moveTo>
                  <a:lnTo>
                    <a:pt x="1975104" y="0"/>
                  </a:lnTo>
                  <a:lnTo>
                    <a:pt x="1975104" y="621792"/>
                  </a:lnTo>
                  <a:lnTo>
                    <a:pt x="0" y="621792"/>
                  </a:lnTo>
                  <a:close/>
                </a:path>
              </a:pathLst>
            </a:custGeom>
            <a:blipFill>
              <a:blip r:embed="rId3">
                <a:alphaModFix amt="0"/>
              </a:blip>
              <a:stretch>
                <a:fillRect t="-11893" b="-11893"/>
              </a:stretch>
            </a:blipFill>
          </p:spPr>
          <p:txBody>
            <a:bodyPr/>
            <a:lstStyle/>
            <a:p>
              <a:endParaRPr lang="en-US"/>
            </a:p>
          </p:txBody>
        </p:sp>
        <p:sp>
          <p:nvSpPr>
            <p:cNvPr id="17" name="TextBox 17"/>
            <p:cNvSpPr txBox="1"/>
            <p:nvPr/>
          </p:nvSpPr>
          <p:spPr>
            <a:xfrm>
              <a:off x="0" y="-28575"/>
              <a:ext cx="1975104" cy="650367"/>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Rate/mix $M</a:t>
              </a:r>
            </a:p>
          </p:txBody>
        </p:sp>
      </p:grpSp>
      <p:grpSp>
        <p:nvGrpSpPr>
          <p:cNvPr id="18" name="Group 18"/>
          <p:cNvGrpSpPr/>
          <p:nvPr/>
        </p:nvGrpSpPr>
        <p:grpSpPr>
          <a:xfrm>
            <a:off x="13935456" y="2606040"/>
            <a:ext cx="1687068" cy="466344"/>
            <a:chOff x="0" y="0"/>
            <a:chExt cx="2249424" cy="621792"/>
          </a:xfrm>
        </p:grpSpPr>
        <p:sp>
          <p:nvSpPr>
            <p:cNvPr id="19" name="Freeform 19"/>
            <p:cNvSpPr/>
            <p:nvPr/>
          </p:nvSpPr>
          <p:spPr>
            <a:xfrm>
              <a:off x="0" y="0"/>
              <a:ext cx="2249424" cy="621792"/>
            </a:xfrm>
            <a:custGeom>
              <a:avLst/>
              <a:gdLst/>
              <a:ahLst/>
              <a:cxnLst/>
              <a:rect l="l" t="t" r="r" b="b"/>
              <a:pathLst>
                <a:path w="2249424" h="621792">
                  <a:moveTo>
                    <a:pt x="0" y="0"/>
                  </a:moveTo>
                  <a:lnTo>
                    <a:pt x="2249424" y="0"/>
                  </a:lnTo>
                  <a:lnTo>
                    <a:pt x="2249424" y="621792"/>
                  </a:lnTo>
                  <a:lnTo>
                    <a:pt x="0" y="621792"/>
                  </a:lnTo>
                  <a:close/>
                </a:path>
              </a:pathLst>
            </a:custGeom>
            <a:blipFill>
              <a:blip r:embed="rId3">
                <a:alphaModFix amt="0"/>
              </a:blip>
              <a:stretch>
                <a:fillRect t="-20489" b="-20489"/>
              </a:stretch>
            </a:blipFill>
          </p:spPr>
          <p:txBody>
            <a:bodyPr/>
            <a:lstStyle/>
            <a:p>
              <a:endParaRPr lang="en-US"/>
            </a:p>
          </p:txBody>
        </p:sp>
        <p:sp>
          <p:nvSpPr>
            <p:cNvPr id="20" name="TextBox 20"/>
            <p:cNvSpPr txBox="1"/>
            <p:nvPr/>
          </p:nvSpPr>
          <p:spPr>
            <a:xfrm>
              <a:off x="0" y="-28575"/>
              <a:ext cx="2249424" cy="650367"/>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YoY Δ $M</a:t>
              </a:r>
            </a:p>
          </p:txBody>
        </p:sp>
      </p:grpSp>
      <p:grpSp>
        <p:nvGrpSpPr>
          <p:cNvPr id="21" name="Group 21"/>
          <p:cNvGrpSpPr/>
          <p:nvPr/>
        </p:nvGrpSpPr>
        <p:grpSpPr>
          <a:xfrm>
            <a:off x="15787116" y="2606040"/>
            <a:ext cx="1687068" cy="466344"/>
            <a:chOff x="0" y="0"/>
            <a:chExt cx="2249424" cy="621792"/>
          </a:xfrm>
        </p:grpSpPr>
        <p:sp>
          <p:nvSpPr>
            <p:cNvPr id="22" name="Freeform 22"/>
            <p:cNvSpPr/>
            <p:nvPr/>
          </p:nvSpPr>
          <p:spPr>
            <a:xfrm>
              <a:off x="0" y="0"/>
              <a:ext cx="2249424" cy="621792"/>
            </a:xfrm>
            <a:custGeom>
              <a:avLst/>
              <a:gdLst/>
              <a:ahLst/>
              <a:cxnLst/>
              <a:rect l="l" t="t" r="r" b="b"/>
              <a:pathLst>
                <a:path w="2249424" h="621792">
                  <a:moveTo>
                    <a:pt x="0" y="0"/>
                  </a:moveTo>
                  <a:lnTo>
                    <a:pt x="2249424" y="0"/>
                  </a:lnTo>
                  <a:lnTo>
                    <a:pt x="2249424" y="621792"/>
                  </a:lnTo>
                  <a:lnTo>
                    <a:pt x="0" y="621792"/>
                  </a:lnTo>
                  <a:close/>
                </a:path>
              </a:pathLst>
            </a:custGeom>
            <a:blipFill>
              <a:blip r:embed="rId3">
                <a:alphaModFix amt="0"/>
              </a:blip>
              <a:stretch>
                <a:fillRect t="-20489" b="-20489"/>
              </a:stretch>
            </a:blipFill>
          </p:spPr>
          <p:txBody>
            <a:bodyPr/>
            <a:lstStyle/>
            <a:p>
              <a:endParaRPr lang="en-US"/>
            </a:p>
          </p:txBody>
        </p:sp>
        <p:sp>
          <p:nvSpPr>
            <p:cNvPr id="23" name="TextBox 23"/>
            <p:cNvSpPr txBox="1"/>
            <p:nvPr/>
          </p:nvSpPr>
          <p:spPr>
            <a:xfrm>
              <a:off x="0" y="-28575"/>
              <a:ext cx="2249424" cy="650367"/>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Net adds k</a:t>
              </a:r>
            </a:p>
          </p:txBody>
        </p:sp>
      </p:grpSp>
      <p:grpSp>
        <p:nvGrpSpPr>
          <p:cNvPr id="24" name="Group 24"/>
          <p:cNvGrpSpPr/>
          <p:nvPr/>
        </p:nvGrpSpPr>
        <p:grpSpPr>
          <a:xfrm>
            <a:off x="9395460" y="3072384"/>
            <a:ext cx="8161020" cy="493776"/>
            <a:chOff x="0" y="0"/>
            <a:chExt cx="10881360" cy="658368"/>
          </a:xfrm>
        </p:grpSpPr>
        <p:sp>
          <p:nvSpPr>
            <p:cNvPr id="25" name="Freeform 25"/>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26" name="Group 26"/>
          <p:cNvGrpSpPr/>
          <p:nvPr/>
        </p:nvGrpSpPr>
        <p:grpSpPr>
          <a:xfrm>
            <a:off x="9477756" y="3072384"/>
            <a:ext cx="1001268" cy="493776"/>
            <a:chOff x="0" y="0"/>
            <a:chExt cx="1335024" cy="658368"/>
          </a:xfrm>
        </p:grpSpPr>
        <p:sp>
          <p:nvSpPr>
            <p:cNvPr id="27" name="Freeform 27"/>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28" name="TextBox 28"/>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Q1'24</a:t>
              </a:r>
            </a:p>
          </p:txBody>
        </p:sp>
      </p:grpSp>
      <p:grpSp>
        <p:nvGrpSpPr>
          <p:cNvPr id="29" name="Group 29"/>
          <p:cNvGrpSpPr/>
          <p:nvPr/>
        </p:nvGrpSpPr>
        <p:grpSpPr>
          <a:xfrm>
            <a:off x="10643616" y="3072384"/>
            <a:ext cx="1481328" cy="493776"/>
            <a:chOff x="0" y="0"/>
            <a:chExt cx="1975104" cy="658368"/>
          </a:xfrm>
        </p:grpSpPr>
        <p:sp>
          <p:nvSpPr>
            <p:cNvPr id="30" name="Freeform 30"/>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31" name="TextBox 31"/>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15</a:t>
              </a:r>
            </a:p>
          </p:txBody>
        </p:sp>
      </p:grpSp>
      <p:grpSp>
        <p:nvGrpSpPr>
          <p:cNvPr id="32" name="Group 32"/>
          <p:cNvGrpSpPr/>
          <p:nvPr/>
        </p:nvGrpSpPr>
        <p:grpSpPr>
          <a:xfrm>
            <a:off x="12289536" y="3072384"/>
            <a:ext cx="1481328" cy="493776"/>
            <a:chOff x="0" y="0"/>
            <a:chExt cx="1975104" cy="658368"/>
          </a:xfrm>
        </p:grpSpPr>
        <p:sp>
          <p:nvSpPr>
            <p:cNvPr id="33" name="Freeform 33"/>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34" name="TextBox 34"/>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+93</a:t>
              </a:r>
            </a:p>
          </p:txBody>
        </p:sp>
      </p:grpSp>
      <p:grpSp>
        <p:nvGrpSpPr>
          <p:cNvPr id="35" name="Group 35"/>
          <p:cNvGrpSpPr/>
          <p:nvPr/>
        </p:nvGrpSpPr>
        <p:grpSpPr>
          <a:xfrm>
            <a:off x="13935456" y="3072384"/>
            <a:ext cx="1687068" cy="493776"/>
            <a:chOff x="0" y="0"/>
            <a:chExt cx="2249424" cy="658368"/>
          </a:xfrm>
        </p:grpSpPr>
        <p:sp>
          <p:nvSpPr>
            <p:cNvPr id="36" name="Freeform 36"/>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37" name="TextBox 37"/>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+108</a:t>
              </a:r>
            </a:p>
          </p:txBody>
        </p:sp>
      </p:grpSp>
      <p:grpSp>
        <p:nvGrpSpPr>
          <p:cNvPr id="38" name="Group 38"/>
          <p:cNvGrpSpPr/>
          <p:nvPr/>
        </p:nvGrpSpPr>
        <p:grpSpPr>
          <a:xfrm>
            <a:off x="15787116" y="3072384"/>
            <a:ext cx="1687068" cy="493776"/>
            <a:chOff x="0" y="0"/>
            <a:chExt cx="2249424" cy="658368"/>
          </a:xfrm>
        </p:grpSpPr>
        <p:sp>
          <p:nvSpPr>
            <p:cNvPr id="39" name="Freeform 39"/>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40" name="TextBox 40"/>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−72</a:t>
              </a:r>
            </a:p>
          </p:txBody>
        </p:sp>
      </p:grpSp>
      <p:grpSp>
        <p:nvGrpSpPr>
          <p:cNvPr id="41" name="Group 41"/>
          <p:cNvGrpSpPr/>
          <p:nvPr/>
        </p:nvGrpSpPr>
        <p:grpSpPr>
          <a:xfrm>
            <a:off x="9477756" y="3566160"/>
            <a:ext cx="1001268" cy="493776"/>
            <a:chOff x="0" y="0"/>
            <a:chExt cx="1335024" cy="658368"/>
          </a:xfrm>
        </p:grpSpPr>
        <p:sp>
          <p:nvSpPr>
            <p:cNvPr id="42" name="Freeform 42"/>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43" name="TextBox 43"/>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Q2'24</a:t>
              </a:r>
            </a:p>
          </p:txBody>
        </p:sp>
      </p:grpSp>
      <p:grpSp>
        <p:nvGrpSpPr>
          <p:cNvPr id="44" name="Group 44"/>
          <p:cNvGrpSpPr/>
          <p:nvPr/>
        </p:nvGrpSpPr>
        <p:grpSpPr>
          <a:xfrm>
            <a:off x="10643616" y="3566160"/>
            <a:ext cx="1481328" cy="493776"/>
            <a:chOff x="0" y="0"/>
            <a:chExt cx="1975104" cy="658368"/>
          </a:xfrm>
        </p:grpSpPr>
        <p:sp>
          <p:nvSpPr>
            <p:cNvPr id="45" name="Freeform 45"/>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46" name="TextBox 46"/>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−20</a:t>
              </a:r>
            </a:p>
          </p:txBody>
        </p:sp>
      </p:grpSp>
      <p:grpSp>
        <p:nvGrpSpPr>
          <p:cNvPr id="47" name="Group 47"/>
          <p:cNvGrpSpPr/>
          <p:nvPr/>
        </p:nvGrpSpPr>
        <p:grpSpPr>
          <a:xfrm>
            <a:off x="12289536" y="3566160"/>
            <a:ext cx="1481328" cy="493776"/>
            <a:chOff x="0" y="0"/>
            <a:chExt cx="1975104" cy="658368"/>
          </a:xfrm>
        </p:grpSpPr>
        <p:sp>
          <p:nvSpPr>
            <p:cNvPr id="48" name="Freeform 48"/>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49" name="TextBox 49"/>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+93</a:t>
              </a:r>
            </a:p>
          </p:txBody>
        </p:sp>
      </p:grpSp>
      <p:grpSp>
        <p:nvGrpSpPr>
          <p:cNvPr id="50" name="Group 50"/>
          <p:cNvGrpSpPr/>
          <p:nvPr/>
        </p:nvGrpSpPr>
        <p:grpSpPr>
          <a:xfrm>
            <a:off x="13935456" y="3566160"/>
            <a:ext cx="1687068" cy="493776"/>
            <a:chOff x="0" y="0"/>
            <a:chExt cx="2249424" cy="658368"/>
          </a:xfrm>
        </p:grpSpPr>
        <p:sp>
          <p:nvSpPr>
            <p:cNvPr id="51" name="Freeform 51"/>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52" name="TextBox 52"/>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+73</a:t>
              </a:r>
            </a:p>
          </p:txBody>
        </p:sp>
      </p:grpSp>
      <p:grpSp>
        <p:nvGrpSpPr>
          <p:cNvPr id="53" name="Group 53"/>
          <p:cNvGrpSpPr/>
          <p:nvPr/>
        </p:nvGrpSpPr>
        <p:grpSpPr>
          <a:xfrm>
            <a:off x="15787116" y="3566160"/>
            <a:ext cx="1687068" cy="493776"/>
            <a:chOff x="0" y="0"/>
            <a:chExt cx="2249424" cy="658368"/>
          </a:xfrm>
        </p:grpSpPr>
        <p:sp>
          <p:nvSpPr>
            <p:cNvPr id="54" name="Freeform 54"/>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55" name="TextBox 55"/>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−148</a:t>
              </a:r>
            </a:p>
          </p:txBody>
        </p:sp>
      </p:grpSp>
      <p:grpSp>
        <p:nvGrpSpPr>
          <p:cNvPr id="56" name="Group 56"/>
          <p:cNvGrpSpPr/>
          <p:nvPr/>
        </p:nvGrpSpPr>
        <p:grpSpPr>
          <a:xfrm>
            <a:off x="9395460" y="4059936"/>
            <a:ext cx="8161020" cy="493776"/>
            <a:chOff x="0" y="0"/>
            <a:chExt cx="10881360" cy="658368"/>
          </a:xfrm>
        </p:grpSpPr>
        <p:sp>
          <p:nvSpPr>
            <p:cNvPr id="57" name="Freeform 57"/>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58" name="Group 58"/>
          <p:cNvGrpSpPr/>
          <p:nvPr/>
        </p:nvGrpSpPr>
        <p:grpSpPr>
          <a:xfrm>
            <a:off x="9477756" y="4059936"/>
            <a:ext cx="1001268" cy="493776"/>
            <a:chOff x="0" y="0"/>
            <a:chExt cx="1335024" cy="658368"/>
          </a:xfrm>
        </p:grpSpPr>
        <p:sp>
          <p:nvSpPr>
            <p:cNvPr id="59" name="Freeform 59"/>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60" name="TextBox 60"/>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Q3'24</a:t>
              </a:r>
            </a:p>
          </p:txBody>
        </p:sp>
      </p:grpSp>
      <p:grpSp>
        <p:nvGrpSpPr>
          <p:cNvPr id="61" name="Group 61"/>
          <p:cNvGrpSpPr/>
          <p:nvPr/>
        </p:nvGrpSpPr>
        <p:grpSpPr>
          <a:xfrm>
            <a:off x="10643616" y="4059936"/>
            <a:ext cx="1481328" cy="493776"/>
            <a:chOff x="0" y="0"/>
            <a:chExt cx="1975104" cy="658368"/>
          </a:xfrm>
        </p:grpSpPr>
        <p:sp>
          <p:nvSpPr>
            <p:cNvPr id="62" name="Freeform 62"/>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63" name="TextBox 63"/>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−57</a:t>
              </a:r>
            </a:p>
          </p:txBody>
        </p:sp>
      </p:grpSp>
      <p:grpSp>
        <p:nvGrpSpPr>
          <p:cNvPr id="64" name="Group 64"/>
          <p:cNvGrpSpPr/>
          <p:nvPr/>
        </p:nvGrpSpPr>
        <p:grpSpPr>
          <a:xfrm>
            <a:off x="12289536" y="4059936"/>
            <a:ext cx="1481328" cy="493776"/>
            <a:chOff x="0" y="0"/>
            <a:chExt cx="1975104" cy="658368"/>
          </a:xfrm>
        </p:grpSpPr>
        <p:sp>
          <p:nvSpPr>
            <p:cNvPr id="65" name="Freeform 65"/>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66" name="TextBox 66"/>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+153</a:t>
              </a:r>
            </a:p>
          </p:txBody>
        </p:sp>
      </p:grpSp>
      <p:grpSp>
        <p:nvGrpSpPr>
          <p:cNvPr id="67" name="Group 67"/>
          <p:cNvGrpSpPr/>
          <p:nvPr/>
        </p:nvGrpSpPr>
        <p:grpSpPr>
          <a:xfrm>
            <a:off x="13935456" y="4059936"/>
            <a:ext cx="1687068" cy="493776"/>
            <a:chOff x="0" y="0"/>
            <a:chExt cx="2249424" cy="658368"/>
          </a:xfrm>
        </p:grpSpPr>
        <p:sp>
          <p:nvSpPr>
            <p:cNvPr id="68" name="Freeform 68"/>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69" name="TextBox 69"/>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+96</a:t>
              </a:r>
            </a:p>
          </p:txBody>
        </p:sp>
      </p:grpSp>
      <p:grpSp>
        <p:nvGrpSpPr>
          <p:cNvPr id="70" name="Group 70"/>
          <p:cNvGrpSpPr/>
          <p:nvPr/>
        </p:nvGrpSpPr>
        <p:grpSpPr>
          <a:xfrm>
            <a:off x="15787116" y="4059936"/>
            <a:ext cx="1687068" cy="493776"/>
            <a:chOff x="0" y="0"/>
            <a:chExt cx="2249424" cy="658368"/>
          </a:xfrm>
        </p:grpSpPr>
        <p:sp>
          <p:nvSpPr>
            <p:cNvPr id="71" name="Freeform 71"/>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72" name="TextBox 72"/>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−110</a:t>
              </a:r>
            </a:p>
          </p:txBody>
        </p:sp>
      </p:grpSp>
      <p:grpSp>
        <p:nvGrpSpPr>
          <p:cNvPr id="73" name="Group 73"/>
          <p:cNvGrpSpPr/>
          <p:nvPr/>
        </p:nvGrpSpPr>
        <p:grpSpPr>
          <a:xfrm>
            <a:off x="9477756" y="4553712"/>
            <a:ext cx="1001268" cy="493776"/>
            <a:chOff x="0" y="0"/>
            <a:chExt cx="1335024" cy="658368"/>
          </a:xfrm>
        </p:grpSpPr>
        <p:sp>
          <p:nvSpPr>
            <p:cNvPr id="74" name="Freeform 74"/>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75" name="TextBox 75"/>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Q4'24</a:t>
              </a:r>
            </a:p>
          </p:txBody>
        </p:sp>
      </p:grpSp>
      <p:grpSp>
        <p:nvGrpSpPr>
          <p:cNvPr id="76" name="Group 76"/>
          <p:cNvGrpSpPr/>
          <p:nvPr/>
        </p:nvGrpSpPr>
        <p:grpSpPr>
          <a:xfrm>
            <a:off x="10643616" y="4553712"/>
            <a:ext cx="1481328" cy="493776"/>
            <a:chOff x="0" y="0"/>
            <a:chExt cx="1975104" cy="658368"/>
          </a:xfrm>
        </p:grpSpPr>
        <p:sp>
          <p:nvSpPr>
            <p:cNvPr id="77" name="Freeform 77"/>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78" name="TextBox 78"/>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−85</a:t>
              </a:r>
            </a:p>
          </p:txBody>
        </p:sp>
      </p:grpSp>
      <p:grpSp>
        <p:nvGrpSpPr>
          <p:cNvPr id="79" name="Group 79"/>
          <p:cNvGrpSpPr/>
          <p:nvPr/>
        </p:nvGrpSpPr>
        <p:grpSpPr>
          <a:xfrm>
            <a:off x="12289536" y="4553712"/>
            <a:ext cx="1481328" cy="493776"/>
            <a:chOff x="0" y="0"/>
            <a:chExt cx="1975104" cy="658368"/>
          </a:xfrm>
        </p:grpSpPr>
        <p:sp>
          <p:nvSpPr>
            <p:cNvPr id="80" name="Freeform 80"/>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81" name="TextBox 81"/>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+136</a:t>
              </a:r>
            </a:p>
          </p:txBody>
        </p:sp>
      </p:grpSp>
      <p:grpSp>
        <p:nvGrpSpPr>
          <p:cNvPr id="82" name="Group 82"/>
          <p:cNvGrpSpPr/>
          <p:nvPr/>
        </p:nvGrpSpPr>
        <p:grpSpPr>
          <a:xfrm>
            <a:off x="13935456" y="4553712"/>
            <a:ext cx="1687068" cy="493776"/>
            <a:chOff x="0" y="0"/>
            <a:chExt cx="2249424" cy="658368"/>
          </a:xfrm>
        </p:grpSpPr>
        <p:sp>
          <p:nvSpPr>
            <p:cNvPr id="83" name="Freeform 83"/>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84" name="TextBox 84"/>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+51</a:t>
              </a:r>
            </a:p>
          </p:txBody>
        </p:sp>
      </p:grpSp>
      <p:grpSp>
        <p:nvGrpSpPr>
          <p:cNvPr id="85" name="Group 85"/>
          <p:cNvGrpSpPr/>
          <p:nvPr/>
        </p:nvGrpSpPr>
        <p:grpSpPr>
          <a:xfrm>
            <a:off x="15787116" y="4553712"/>
            <a:ext cx="1687068" cy="493776"/>
            <a:chOff x="0" y="0"/>
            <a:chExt cx="2249424" cy="658368"/>
          </a:xfrm>
        </p:grpSpPr>
        <p:sp>
          <p:nvSpPr>
            <p:cNvPr id="86" name="Freeform 86"/>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87" name="TextBox 87"/>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−177</a:t>
              </a:r>
            </a:p>
          </p:txBody>
        </p:sp>
      </p:grpSp>
      <p:grpSp>
        <p:nvGrpSpPr>
          <p:cNvPr id="88" name="Group 88"/>
          <p:cNvGrpSpPr/>
          <p:nvPr/>
        </p:nvGrpSpPr>
        <p:grpSpPr>
          <a:xfrm>
            <a:off x="9395460" y="5047488"/>
            <a:ext cx="8161020" cy="493776"/>
            <a:chOff x="0" y="0"/>
            <a:chExt cx="10881360" cy="658368"/>
          </a:xfrm>
        </p:grpSpPr>
        <p:sp>
          <p:nvSpPr>
            <p:cNvPr id="89" name="Freeform 89"/>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90" name="Group 90"/>
          <p:cNvGrpSpPr/>
          <p:nvPr/>
        </p:nvGrpSpPr>
        <p:grpSpPr>
          <a:xfrm>
            <a:off x="9477756" y="5047488"/>
            <a:ext cx="1001268" cy="493776"/>
            <a:chOff x="0" y="0"/>
            <a:chExt cx="1335024" cy="658368"/>
          </a:xfrm>
        </p:grpSpPr>
        <p:sp>
          <p:nvSpPr>
            <p:cNvPr id="91" name="Freeform 91"/>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92" name="TextBox 92"/>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Q1'25</a:t>
              </a:r>
            </a:p>
          </p:txBody>
        </p:sp>
      </p:grpSp>
      <p:grpSp>
        <p:nvGrpSpPr>
          <p:cNvPr id="93" name="Group 93"/>
          <p:cNvGrpSpPr/>
          <p:nvPr/>
        </p:nvGrpSpPr>
        <p:grpSpPr>
          <a:xfrm>
            <a:off x="10643616" y="5047488"/>
            <a:ext cx="1481328" cy="493776"/>
            <a:chOff x="0" y="0"/>
            <a:chExt cx="1975104" cy="658368"/>
          </a:xfrm>
        </p:grpSpPr>
        <p:sp>
          <p:nvSpPr>
            <p:cNvPr id="94" name="Freeform 94"/>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95" name="TextBox 95"/>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−95</a:t>
              </a:r>
            </a:p>
          </p:txBody>
        </p:sp>
      </p:grpSp>
      <p:grpSp>
        <p:nvGrpSpPr>
          <p:cNvPr id="96" name="Group 96"/>
          <p:cNvGrpSpPr/>
          <p:nvPr/>
        </p:nvGrpSpPr>
        <p:grpSpPr>
          <a:xfrm>
            <a:off x="12289536" y="5047488"/>
            <a:ext cx="1481328" cy="493776"/>
            <a:chOff x="0" y="0"/>
            <a:chExt cx="1975104" cy="658368"/>
          </a:xfrm>
        </p:grpSpPr>
        <p:sp>
          <p:nvSpPr>
            <p:cNvPr id="97" name="Freeform 97"/>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98" name="TextBox 98"/>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+199</a:t>
              </a:r>
            </a:p>
          </p:txBody>
        </p:sp>
      </p:grpSp>
      <p:grpSp>
        <p:nvGrpSpPr>
          <p:cNvPr id="99" name="Group 99"/>
          <p:cNvGrpSpPr/>
          <p:nvPr/>
        </p:nvGrpSpPr>
        <p:grpSpPr>
          <a:xfrm>
            <a:off x="13935456" y="5047488"/>
            <a:ext cx="1687068" cy="493776"/>
            <a:chOff x="0" y="0"/>
            <a:chExt cx="2249424" cy="658368"/>
          </a:xfrm>
        </p:grpSpPr>
        <p:sp>
          <p:nvSpPr>
            <p:cNvPr id="100" name="Freeform 100"/>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01" name="TextBox 101"/>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+104</a:t>
              </a:r>
            </a:p>
          </p:txBody>
        </p:sp>
      </p:grpSp>
      <p:grpSp>
        <p:nvGrpSpPr>
          <p:cNvPr id="102" name="Group 102"/>
          <p:cNvGrpSpPr/>
          <p:nvPr/>
        </p:nvGrpSpPr>
        <p:grpSpPr>
          <a:xfrm>
            <a:off x="15787116" y="5047488"/>
            <a:ext cx="1687068" cy="493776"/>
            <a:chOff x="0" y="0"/>
            <a:chExt cx="2249424" cy="658368"/>
          </a:xfrm>
        </p:grpSpPr>
        <p:sp>
          <p:nvSpPr>
            <p:cNvPr id="103" name="Freeform 103"/>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04" name="TextBox 104"/>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−59</a:t>
              </a:r>
            </a:p>
          </p:txBody>
        </p:sp>
      </p:grpSp>
      <p:grpSp>
        <p:nvGrpSpPr>
          <p:cNvPr id="105" name="Group 105"/>
          <p:cNvGrpSpPr/>
          <p:nvPr/>
        </p:nvGrpSpPr>
        <p:grpSpPr>
          <a:xfrm>
            <a:off x="9477756" y="5541264"/>
            <a:ext cx="1001268" cy="493776"/>
            <a:chOff x="0" y="0"/>
            <a:chExt cx="1335024" cy="658368"/>
          </a:xfrm>
        </p:grpSpPr>
        <p:sp>
          <p:nvSpPr>
            <p:cNvPr id="106" name="Freeform 106"/>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107" name="TextBox 107"/>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Q2'25</a:t>
              </a:r>
            </a:p>
          </p:txBody>
        </p:sp>
      </p:grpSp>
      <p:grpSp>
        <p:nvGrpSpPr>
          <p:cNvPr id="108" name="Group 108"/>
          <p:cNvGrpSpPr/>
          <p:nvPr/>
        </p:nvGrpSpPr>
        <p:grpSpPr>
          <a:xfrm>
            <a:off x="10643616" y="5541264"/>
            <a:ext cx="1481328" cy="493776"/>
            <a:chOff x="0" y="0"/>
            <a:chExt cx="1975104" cy="658368"/>
          </a:xfrm>
        </p:grpSpPr>
        <p:sp>
          <p:nvSpPr>
            <p:cNvPr id="109" name="Freeform 109"/>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10" name="TextBox 110"/>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−91</a:t>
              </a:r>
            </a:p>
          </p:txBody>
        </p:sp>
      </p:grpSp>
      <p:grpSp>
        <p:nvGrpSpPr>
          <p:cNvPr id="111" name="Group 111"/>
          <p:cNvGrpSpPr/>
          <p:nvPr/>
        </p:nvGrpSpPr>
        <p:grpSpPr>
          <a:xfrm>
            <a:off x="12289536" y="5541264"/>
            <a:ext cx="1481328" cy="493776"/>
            <a:chOff x="0" y="0"/>
            <a:chExt cx="1975104" cy="658368"/>
          </a:xfrm>
        </p:grpSpPr>
        <p:sp>
          <p:nvSpPr>
            <p:cNvPr id="112" name="Freeform 112"/>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13" name="TextBox 113"/>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+254</a:t>
              </a:r>
            </a:p>
          </p:txBody>
        </p:sp>
      </p:grpSp>
      <p:grpSp>
        <p:nvGrpSpPr>
          <p:cNvPr id="114" name="Group 114"/>
          <p:cNvGrpSpPr/>
          <p:nvPr/>
        </p:nvGrpSpPr>
        <p:grpSpPr>
          <a:xfrm>
            <a:off x="13935456" y="5541264"/>
            <a:ext cx="1687068" cy="493776"/>
            <a:chOff x="0" y="0"/>
            <a:chExt cx="2249424" cy="658368"/>
          </a:xfrm>
        </p:grpSpPr>
        <p:sp>
          <p:nvSpPr>
            <p:cNvPr id="115" name="Freeform 115"/>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16" name="TextBox 116"/>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+163</a:t>
              </a:r>
            </a:p>
          </p:txBody>
        </p:sp>
      </p:grpSp>
      <p:grpSp>
        <p:nvGrpSpPr>
          <p:cNvPr id="117" name="Group 117"/>
          <p:cNvGrpSpPr/>
          <p:nvPr/>
        </p:nvGrpSpPr>
        <p:grpSpPr>
          <a:xfrm>
            <a:off x="15787116" y="5541264"/>
            <a:ext cx="1687068" cy="493776"/>
            <a:chOff x="0" y="0"/>
            <a:chExt cx="2249424" cy="658368"/>
          </a:xfrm>
        </p:grpSpPr>
        <p:sp>
          <p:nvSpPr>
            <p:cNvPr id="118" name="Freeform 118"/>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19" name="TextBox 119"/>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−116</a:t>
              </a:r>
            </a:p>
          </p:txBody>
        </p:sp>
      </p:grpSp>
      <p:grpSp>
        <p:nvGrpSpPr>
          <p:cNvPr id="120" name="Group 120"/>
          <p:cNvGrpSpPr/>
          <p:nvPr/>
        </p:nvGrpSpPr>
        <p:grpSpPr>
          <a:xfrm>
            <a:off x="9395460" y="6035040"/>
            <a:ext cx="8161020" cy="493776"/>
            <a:chOff x="0" y="0"/>
            <a:chExt cx="10881360" cy="658368"/>
          </a:xfrm>
        </p:grpSpPr>
        <p:sp>
          <p:nvSpPr>
            <p:cNvPr id="121" name="Freeform 121"/>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122" name="Group 122"/>
          <p:cNvGrpSpPr/>
          <p:nvPr/>
        </p:nvGrpSpPr>
        <p:grpSpPr>
          <a:xfrm>
            <a:off x="9477756" y="6035040"/>
            <a:ext cx="1001268" cy="493776"/>
            <a:chOff x="0" y="0"/>
            <a:chExt cx="1335024" cy="658368"/>
          </a:xfrm>
        </p:grpSpPr>
        <p:sp>
          <p:nvSpPr>
            <p:cNvPr id="123" name="Freeform 123"/>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124" name="TextBox 124"/>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Q3'25</a:t>
              </a:r>
            </a:p>
          </p:txBody>
        </p:sp>
      </p:grpSp>
      <p:grpSp>
        <p:nvGrpSpPr>
          <p:cNvPr id="125" name="Group 125"/>
          <p:cNvGrpSpPr/>
          <p:nvPr/>
        </p:nvGrpSpPr>
        <p:grpSpPr>
          <a:xfrm>
            <a:off x="10643616" y="6035040"/>
            <a:ext cx="1481328" cy="493776"/>
            <a:chOff x="0" y="0"/>
            <a:chExt cx="1975104" cy="658368"/>
          </a:xfrm>
        </p:grpSpPr>
        <p:sp>
          <p:nvSpPr>
            <p:cNvPr id="126" name="Freeform 126"/>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27" name="TextBox 127"/>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−89</a:t>
              </a:r>
            </a:p>
          </p:txBody>
        </p:sp>
      </p:grpSp>
      <p:grpSp>
        <p:nvGrpSpPr>
          <p:cNvPr id="128" name="Group 128"/>
          <p:cNvGrpSpPr/>
          <p:nvPr/>
        </p:nvGrpSpPr>
        <p:grpSpPr>
          <a:xfrm>
            <a:off x="12289536" y="6035040"/>
            <a:ext cx="1481328" cy="493776"/>
            <a:chOff x="0" y="0"/>
            <a:chExt cx="1975104" cy="658368"/>
          </a:xfrm>
        </p:grpSpPr>
        <p:sp>
          <p:nvSpPr>
            <p:cNvPr id="129" name="Freeform 129"/>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30" name="TextBox 130"/>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+188</a:t>
              </a:r>
            </a:p>
          </p:txBody>
        </p:sp>
      </p:grpSp>
      <p:grpSp>
        <p:nvGrpSpPr>
          <p:cNvPr id="131" name="Group 131"/>
          <p:cNvGrpSpPr/>
          <p:nvPr/>
        </p:nvGrpSpPr>
        <p:grpSpPr>
          <a:xfrm>
            <a:off x="13935456" y="6035040"/>
            <a:ext cx="1687068" cy="493776"/>
            <a:chOff x="0" y="0"/>
            <a:chExt cx="2249424" cy="658368"/>
          </a:xfrm>
        </p:grpSpPr>
        <p:sp>
          <p:nvSpPr>
            <p:cNvPr id="132" name="Freeform 132"/>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33" name="TextBox 133"/>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+99</a:t>
              </a:r>
            </a:p>
          </p:txBody>
        </p:sp>
      </p:grpSp>
      <p:grpSp>
        <p:nvGrpSpPr>
          <p:cNvPr id="134" name="Group 134"/>
          <p:cNvGrpSpPr/>
          <p:nvPr/>
        </p:nvGrpSpPr>
        <p:grpSpPr>
          <a:xfrm>
            <a:off x="15787116" y="6035040"/>
            <a:ext cx="1687068" cy="493776"/>
            <a:chOff x="0" y="0"/>
            <a:chExt cx="2249424" cy="658368"/>
          </a:xfrm>
        </p:grpSpPr>
        <p:sp>
          <p:nvSpPr>
            <p:cNvPr id="135" name="Freeform 135"/>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36" name="TextBox 136"/>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−109</a:t>
              </a:r>
            </a:p>
          </p:txBody>
        </p:sp>
      </p:grpSp>
      <p:grpSp>
        <p:nvGrpSpPr>
          <p:cNvPr id="137" name="Group 137"/>
          <p:cNvGrpSpPr/>
          <p:nvPr/>
        </p:nvGrpSpPr>
        <p:grpSpPr>
          <a:xfrm>
            <a:off x="9477756" y="6528816"/>
            <a:ext cx="1001268" cy="493776"/>
            <a:chOff x="0" y="0"/>
            <a:chExt cx="1335024" cy="658368"/>
          </a:xfrm>
        </p:grpSpPr>
        <p:sp>
          <p:nvSpPr>
            <p:cNvPr id="138" name="Freeform 138"/>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139" name="TextBox 139"/>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Q4'25</a:t>
              </a:r>
            </a:p>
          </p:txBody>
        </p:sp>
      </p:grpSp>
      <p:grpSp>
        <p:nvGrpSpPr>
          <p:cNvPr id="140" name="Group 140"/>
          <p:cNvGrpSpPr/>
          <p:nvPr/>
        </p:nvGrpSpPr>
        <p:grpSpPr>
          <a:xfrm>
            <a:off x="10643616" y="6528816"/>
            <a:ext cx="1481328" cy="493776"/>
            <a:chOff x="0" y="0"/>
            <a:chExt cx="1975104" cy="658368"/>
          </a:xfrm>
        </p:grpSpPr>
        <p:sp>
          <p:nvSpPr>
            <p:cNvPr id="141" name="Freeform 141"/>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42" name="TextBox 142"/>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−84</a:t>
              </a:r>
            </a:p>
          </p:txBody>
        </p:sp>
      </p:grpSp>
      <p:grpSp>
        <p:nvGrpSpPr>
          <p:cNvPr id="143" name="Group 143"/>
          <p:cNvGrpSpPr/>
          <p:nvPr/>
        </p:nvGrpSpPr>
        <p:grpSpPr>
          <a:xfrm>
            <a:off x="12289536" y="6528816"/>
            <a:ext cx="1481328" cy="493776"/>
            <a:chOff x="0" y="0"/>
            <a:chExt cx="1975104" cy="658368"/>
          </a:xfrm>
        </p:grpSpPr>
        <p:sp>
          <p:nvSpPr>
            <p:cNvPr id="144" name="Freeform 144"/>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45" name="TextBox 145"/>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+123</a:t>
              </a:r>
            </a:p>
          </p:txBody>
        </p:sp>
      </p:grpSp>
      <p:grpSp>
        <p:nvGrpSpPr>
          <p:cNvPr id="146" name="Group 146"/>
          <p:cNvGrpSpPr/>
          <p:nvPr/>
        </p:nvGrpSpPr>
        <p:grpSpPr>
          <a:xfrm>
            <a:off x="13935456" y="6528816"/>
            <a:ext cx="1687068" cy="493776"/>
            <a:chOff x="0" y="0"/>
            <a:chExt cx="2249424" cy="658368"/>
          </a:xfrm>
        </p:grpSpPr>
        <p:sp>
          <p:nvSpPr>
            <p:cNvPr id="147" name="Freeform 147"/>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48" name="TextBox 148"/>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+39</a:t>
              </a:r>
            </a:p>
          </p:txBody>
        </p:sp>
      </p:grpSp>
      <p:grpSp>
        <p:nvGrpSpPr>
          <p:cNvPr id="149" name="Group 149"/>
          <p:cNvGrpSpPr/>
          <p:nvPr/>
        </p:nvGrpSpPr>
        <p:grpSpPr>
          <a:xfrm>
            <a:off x="15787116" y="6528816"/>
            <a:ext cx="1687068" cy="493776"/>
            <a:chOff x="0" y="0"/>
            <a:chExt cx="2249424" cy="658368"/>
          </a:xfrm>
        </p:grpSpPr>
        <p:sp>
          <p:nvSpPr>
            <p:cNvPr id="150" name="Freeform 150"/>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51" name="TextBox 151"/>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−119</a:t>
              </a:r>
            </a:p>
          </p:txBody>
        </p:sp>
      </p:grpSp>
      <p:grpSp>
        <p:nvGrpSpPr>
          <p:cNvPr id="152" name="Group 152"/>
          <p:cNvGrpSpPr/>
          <p:nvPr/>
        </p:nvGrpSpPr>
        <p:grpSpPr>
          <a:xfrm>
            <a:off x="9395460" y="7022592"/>
            <a:ext cx="8161020" cy="493776"/>
            <a:chOff x="0" y="0"/>
            <a:chExt cx="10881360" cy="658368"/>
          </a:xfrm>
        </p:grpSpPr>
        <p:sp>
          <p:nvSpPr>
            <p:cNvPr id="153" name="Freeform 153"/>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154" name="Group 154"/>
          <p:cNvGrpSpPr/>
          <p:nvPr/>
        </p:nvGrpSpPr>
        <p:grpSpPr>
          <a:xfrm>
            <a:off x="9477756" y="7022592"/>
            <a:ext cx="1001268" cy="493776"/>
            <a:chOff x="0" y="0"/>
            <a:chExt cx="1335024" cy="658368"/>
          </a:xfrm>
        </p:grpSpPr>
        <p:sp>
          <p:nvSpPr>
            <p:cNvPr id="155" name="Freeform 155"/>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156" name="TextBox 156"/>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Q1'26</a:t>
              </a:r>
            </a:p>
          </p:txBody>
        </p:sp>
      </p:grpSp>
      <p:grpSp>
        <p:nvGrpSpPr>
          <p:cNvPr id="157" name="Group 157"/>
          <p:cNvGrpSpPr/>
          <p:nvPr/>
        </p:nvGrpSpPr>
        <p:grpSpPr>
          <a:xfrm>
            <a:off x="10643616" y="7022592"/>
            <a:ext cx="1481328" cy="493776"/>
            <a:chOff x="0" y="0"/>
            <a:chExt cx="1975104" cy="658368"/>
          </a:xfrm>
        </p:grpSpPr>
        <p:sp>
          <p:nvSpPr>
            <p:cNvPr id="158" name="Freeform 158"/>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59" name="TextBox 159"/>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−86</a:t>
              </a:r>
            </a:p>
          </p:txBody>
        </p:sp>
      </p:grpSp>
      <p:grpSp>
        <p:nvGrpSpPr>
          <p:cNvPr id="160" name="Group 160"/>
          <p:cNvGrpSpPr/>
          <p:nvPr/>
        </p:nvGrpSpPr>
        <p:grpSpPr>
          <a:xfrm>
            <a:off x="12289536" y="7022592"/>
            <a:ext cx="1481328" cy="493776"/>
            <a:chOff x="0" y="0"/>
            <a:chExt cx="1975104" cy="658368"/>
          </a:xfrm>
        </p:grpSpPr>
        <p:sp>
          <p:nvSpPr>
            <p:cNvPr id="161" name="Freeform 161"/>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62" name="TextBox 162"/>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+8</a:t>
              </a:r>
            </a:p>
          </p:txBody>
        </p:sp>
      </p:grpSp>
      <p:grpSp>
        <p:nvGrpSpPr>
          <p:cNvPr id="163" name="Group 163"/>
          <p:cNvGrpSpPr/>
          <p:nvPr/>
        </p:nvGrpSpPr>
        <p:grpSpPr>
          <a:xfrm>
            <a:off x="13935456" y="7022592"/>
            <a:ext cx="1687068" cy="493776"/>
            <a:chOff x="0" y="0"/>
            <a:chExt cx="2249424" cy="658368"/>
          </a:xfrm>
        </p:grpSpPr>
        <p:sp>
          <p:nvSpPr>
            <p:cNvPr id="164" name="Freeform 164"/>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65" name="TextBox 165"/>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−78</a:t>
              </a:r>
            </a:p>
          </p:txBody>
        </p:sp>
      </p:grpSp>
      <p:grpSp>
        <p:nvGrpSpPr>
          <p:cNvPr id="166" name="Group 166"/>
          <p:cNvGrpSpPr/>
          <p:nvPr/>
        </p:nvGrpSpPr>
        <p:grpSpPr>
          <a:xfrm>
            <a:off x="15787116" y="7022592"/>
            <a:ext cx="1687068" cy="493776"/>
            <a:chOff x="0" y="0"/>
            <a:chExt cx="2249424" cy="658368"/>
          </a:xfrm>
        </p:grpSpPr>
        <p:sp>
          <p:nvSpPr>
            <p:cNvPr id="167" name="Freeform 167"/>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68" name="TextBox 168"/>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−120</a:t>
              </a:r>
            </a:p>
          </p:txBody>
        </p:sp>
      </p:grpSp>
      <p:grpSp>
        <p:nvGrpSpPr>
          <p:cNvPr id="169" name="Group 169"/>
          <p:cNvGrpSpPr/>
          <p:nvPr/>
        </p:nvGrpSpPr>
        <p:grpSpPr>
          <a:xfrm>
            <a:off x="9477756" y="7516368"/>
            <a:ext cx="1001268" cy="493776"/>
            <a:chOff x="0" y="0"/>
            <a:chExt cx="1335024" cy="658368"/>
          </a:xfrm>
        </p:grpSpPr>
        <p:sp>
          <p:nvSpPr>
            <p:cNvPr id="170" name="Freeform 170"/>
            <p:cNvSpPr/>
            <p:nvPr/>
          </p:nvSpPr>
          <p:spPr>
            <a:xfrm>
              <a:off x="0" y="0"/>
              <a:ext cx="1335024" cy="658368"/>
            </a:xfrm>
            <a:custGeom>
              <a:avLst/>
              <a:gdLst/>
              <a:ahLst/>
              <a:cxnLst/>
              <a:rect l="l" t="t" r="r" b="b"/>
              <a:pathLst>
                <a:path w="1335024" h="658368">
                  <a:moveTo>
                    <a:pt x="0" y="0"/>
                  </a:moveTo>
                  <a:lnTo>
                    <a:pt x="1335024" y="0"/>
                  </a:lnTo>
                  <a:lnTo>
                    <a:pt x="1335024" y="658368"/>
                  </a:lnTo>
                  <a:lnTo>
                    <a:pt x="0" y="658368"/>
                  </a:lnTo>
                  <a:close/>
                </a:path>
              </a:pathLst>
            </a:custGeom>
            <a:blipFill>
              <a:blip r:embed="rId3">
                <a:alphaModFix amt="0"/>
              </a:blip>
              <a:stretch>
                <a:fillRect l="-13272" r="-13272"/>
              </a:stretch>
            </a:blipFill>
          </p:spPr>
          <p:txBody>
            <a:bodyPr/>
            <a:lstStyle/>
            <a:p>
              <a:endParaRPr lang="en-US"/>
            </a:p>
          </p:txBody>
        </p:sp>
        <p:sp>
          <p:nvSpPr>
            <p:cNvPr id="171" name="TextBox 171"/>
            <p:cNvSpPr txBox="1"/>
            <p:nvPr/>
          </p:nvSpPr>
          <p:spPr>
            <a:xfrm>
              <a:off x="0" y="-38100"/>
              <a:ext cx="1335024" cy="696468"/>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Q2'26*</a:t>
              </a:r>
            </a:p>
          </p:txBody>
        </p:sp>
      </p:grpSp>
      <p:grpSp>
        <p:nvGrpSpPr>
          <p:cNvPr id="172" name="Group 172"/>
          <p:cNvGrpSpPr/>
          <p:nvPr/>
        </p:nvGrpSpPr>
        <p:grpSpPr>
          <a:xfrm>
            <a:off x="10643616" y="7516368"/>
            <a:ext cx="1481328" cy="493776"/>
            <a:chOff x="0" y="0"/>
            <a:chExt cx="1975104" cy="658368"/>
          </a:xfrm>
        </p:grpSpPr>
        <p:sp>
          <p:nvSpPr>
            <p:cNvPr id="173" name="Freeform 173"/>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74" name="TextBox 174"/>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−98</a:t>
              </a:r>
            </a:p>
          </p:txBody>
        </p:sp>
      </p:grpSp>
      <p:grpSp>
        <p:nvGrpSpPr>
          <p:cNvPr id="175" name="Group 175"/>
          <p:cNvGrpSpPr/>
          <p:nvPr/>
        </p:nvGrpSpPr>
        <p:grpSpPr>
          <a:xfrm>
            <a:off x="12289536" y="7516368"/>
            <a:ext cx="1481328" cy="493776"/>
            <a:chOff x="0" y="0"/>
            <a:chExt cx="1975104" cy="658368"/>
          </a:xfrm>
        </p:grpSpPr>
        <p:sp>
          <p:nvSpPr>
            <p:cNvPr id="176" name="Freeform 176"/>
            <p:cNvSpPr/>
            <p:nvPr/>
          </p:nvSpPr>
          <p:spPr>
            <a:xfrm>
              <a:off x="0" y="0"/>
              <a:ext cx="1975104" cy="658368"/>
            </a:xfrm>
            <a:custGeom>
              <a:avLst/>
              <a:gdLst/>
              <a:ahLst/>
              <a:cxnLst/>
              <a:rect l="l" t="t" r="r" b="b"/>
              <a:pathLst>
                <a:path w="1975104" h="658368">
                  <a:moveTo>
                    <a:pt x="0" y="0"/>
                  </a:moveTo>
                  <a:lnTo>
                    <a:pt x="1975104" y="0"/>
                  </a:lnTo>
                  <a:lnTo>
                    <a:pt x="1975104" y="658368"/>
                  </a:lnTo>
                  <a:lnTo>
                    <a:pt x="0" y="658368"/>
                  </a:lnTo>
                  <a:close/>
                </a:path>
              </a:pathLst>
            </a:custGeom>
            <a:blipFill>
              <a:blip r:embed="rId3">
                <a:alphaModFix amt="0"/>
              </a:blip>
              <a:stretch>
                <a:fillRect t="-8455" b="-8455"/>
              </a:stretch>
            </a:blipFill>
          </p:spPr>
          <p:txBody>
            <a:bodyPr/>
            <a:lstStyle/>
            <a:p>
              <a:endParaRPr lang="en-US"/>
            </a:p>
          </p:txBody>
        </p:sp>
        <p:sp>
          <p:nvSpPr>
            <p:cNvPr id="177" name="TextBox 177"/>
            <p:cNvSpPr txBox="1"/>
            <p:nvPr/>
          </p:nvSpPr>
          <p:spPr>
            <a:xfrm>
              <a:off x="0" y="-38100"/>
              <a:ext cx="197510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−95</a:t>
              </a:r>
            </a:p>
          </p:txBody>
        </p:sp>
      </p:grpSp>
      <p:grpSp>
        <p:nvGrpSpPr>
          <p:cNvPr id="178" name="Group 178"/>
          <p:cNvGrpSpPr/>
          <p:nvPr/>
        </p:nvGrpSpPr>
        <p:grpSpPr>
          <a:xfrm>
            <a:off x="13935456" y="7516368"/>
            <a:ext cx="1687068" cy="493776"/>
            <a:chOff x="0" y="0"/>
            <a:chExt cx="2249424" cy="658368"/>
          </a:xfrm>
        </p:grpSpPr>
        <p:sp>
          <p:nvSpPr>
            <p:cNvPr id="179" name="Freeform 179"/>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80" name="TextBox 180"/>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−193</a:t>
              </a:r>
            </a:p>
          </p:txBody>
        </p:sp>
      </p:grpSp>
      <p:grpSp>
        <p:nvGrpSpPr>
          <p:cNvPr id="181" name="Group 181"/>
          <p:cNvGrpSpPr/>
          <p:nvPr/>
        </p:nvGrpSpPr>
        <p:grpSpPr>
          <a:xfrm>
            <a:off x="15787116" y="7516368"/>
            <a:ext cx="1687068" cy="493776"/>
            <a:chOff x="0" y="0"/>
            <a:chExt cx="2249424" cy="658368"/>
          </a:xfrm>
        </p:grpSpPr>
        <p:sp>
          <p:nvSpPr>
            <p:cNvPr id="182" name="Freeform 182"/>
            <p:cNvSpPr/>
            <p:nvPr/>
          </p:nvSpPr>
          <p:spPr>
            <a:xfrm>
              <a:off x="0" y="0"/>
              <a:ext cx="2249424" cy="658368"/>
            </a:xfrm>
            <a:custGeom>
              <a:avLst/>
              <a:gdLst/>
              <a:ahLst/>
              <a:cxnLst/>
              <a:rect l="l" t="t" r="r" b="b"/>
              <a:pathLst>
                <a:path w="2249424" h="658368">
                  <a:moveTo>
                    <a:pt x="0" y="0"/>
                  </a:moveTo>
                  <a:lnTo>
                    <a:pt x="2249424" y="0"/>
                  </a:lnTo>
                  <a:lnTo>
                    <a:pt x="2249424" y="658368"/>
                  </a:lnTo>
                  <a:lnTo>
                    <a:pt x="0" y="658368"/>
                  </a:lnTo>
                  <a:close/>
                </a:path>
              </a:pathLst>
            </a:custGeom>
            <a:blipFill>
              <a:blip r:embed="rId3">
                <a:alphaModFix amt="0"/>
              </a:blip>
              <a:stretch>
                <a:fillRect t="-16573" b="-16573"/>
              </a:stretch>
            </a:blipFill>
          </p:spPr>
          <p:txBody>
            <a:bodyPr/>
            <a:lstStyle/>
            <a:p>
              <a:endParaRPr lang="en-US"/>
            </a:p>
          </p:txBody>
        </p:sp>
        <p:sp>
          <p:nvSpPr>
            <p:cNvPr id="183" name="TextBox 183"/>
            <p:cNvSpPr txBox="1"/>
            <p:nvPr/>
          </p:nvSpPr>
          <p:spPr>
            <a:xfrm>
              <a:off x="0" y="-38100"/>
              <a:ext cx="2249424" cy="696468"/>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−172</a:t>
              </a:r>
            </a:p>
          </p:txBody>
        </p:sp>
      </p:grpSp>
      <p:grpSp>
        <p:nvGrpSpPr>
          <p:cNvPr id="184" name="Group 184"/>
          <p:cNvGrpSpPr/>
          <p:nvPr/>
        </p:nvGrpSpPr>
        <p:grpSpPr>
          <a:xfrm>
            <a:off x="9395460" y="8092440"/>
            <a:ext cx="8161020" cy="685800"/>
            <a:chOff x="0" y="0"/>
            <a:chExt cx="10881360" cy="914400"/>
          </a:xfrm>
        </p:grpSpPr>
        <p:sp>
          <p:nvSpPr>
            <p:cNvPr id="185" name="Freeform 185"/>
            <p:cNvSpPr/>
            <p:nvPr/>
          </p:nvSpPr>
          <p:spPr>
            <a:xfrm>
              <a:off x="0" y="0"/>
              <a:ext cx="10881360" cy="914400"/>
            </a:xfrm>
            <a:custGeom>
              <a:avLst/>
              <a:gdLst/>
              <a:ahLst/>
              <a:cxnLst/>
              <a:rect l="l" t="t" r="r" b="b"/>
              <a:pathLst>
                <a:path w="10881360" h="914400">
                  <a:moveTo>
                    <a:pt x="0" y="0"/>
                  </a:moveTo>
                  <a:lnTo>
                    <a:pt x="10881360" y="0"/>
                  </a:lnTo>
                  <a:lnTo>
                    <a:pt x="10881360" y="914400"/>
                  </a:lnTo>
                  <a:lnTo>
                    <a:pt x="0" y="914400"/>
                  </a:lnTo>
                  <a:close/>
                </a:path>
              </a:pathLst>
            </a:custGeom>
            <a:blipFill>
              <a:blip r:embed="rId3">
                <a:alphaModFix amt="0"/>
              </a:blip>
              <a:stretch>
                <a:fillRect t="-181871" b="-181871"/>
              </a:stretch>
            </a:blipFill>
          </p:spPr>
          <p:txBody>
            <a:bodyPr/>
            <a:lstStyle/>
            <a:p>
              <a:endParaRPr lang="en-US"/>
            </a:p>
          </p:txBody>
        </p:sp>
        <p:sp>
          <p:nvSpPr>
            <p:cNvPr id="186" name="TextBox 186"/>
            <p:cNvSpPr txBox="1"/>
            <p:nvPr/>
          </p:nvSpPr>
          <p:spPr>
            <a:xfrm>
              <a:off x="0" y="-28575"/>
              <a:ext cx="10881360" cy="942975"/>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Volume = Δ average Internet customers × prior-year revenue per customer; rate/mix is the remainder. Programmer-app costs netted in video revenue ($218M Q1 2026; $251M Q2 2026) are excluded from this bridge. FY2025 10-K publishes the audited analog: +$785M mix / −$380M residential volume.</a:t>
              </a:r>
            </a:p>
          </p:txBody>
        </p:sp>
      </p:grpSp>
      <p:grpSp>
        <p:nvGrpSpPr>
          <p:cNvPr id="187" name="Group 187"/>
          <p:cNvGrpSpPr/>
          <p:nvPr/>
        </p:nvGrpSpPr>
        <p:grpSpPr>
          <a:xfrm>
            <a:off x="754380" y="8805672"/>
            <a:ext cx="16733520" cy="356616"/>
            <a:chOff x="0" y="0"/>
            <a:chExt cx="22311360" cy="475488"/>
          </a:xfrm>
        </p:grpSpPr>
        <p:sp>
          <p:nvSpPr>
            <p:cNvPr id="188" name="Freeform 188"/>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89" name="TextBox 189"/>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Trending Internet revenue and customers 2024–2025; Q1–Q2 2026 from Ex99.1. Analysis, not a filing.</a:t>
              </a:r>
            </a:p>
          </p:txBody>
        </p:sp>
      </p:grpSp>
      <p:grpSp>
        <p:nvGrpSpPr>
          <p:cNvPr id="190" name="Group 190"/>
          <p:cNvGrpSpPr/>
          <p:nvPr/>
        </p:nvGrpSpPr>
        <p:grpSpPr>
          <a:xfrm>
            <a:off x="754380" y="9189720"/>
            <a:ext cx="16733520" cy="411480"/>
            <a:chOff x="0" y="0"/>
            <a:chExt cx="22311360" cy="548640"/>
          </a:xfrm>
        </p:grpSpPr>
        <p:sp>
          <p:nvSpPr>
            <p:cNvPr id="191" name="Freeform 191"/>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92" name="TextBox 192"/>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6" action="ppaction://hlinksldjump"/>
                </a:rPr>
                <a:t>Appendix index  (p.12)</a:t>
              </a:r>
            </a:p>
          </p:txBody>
        </p:sp>
      </p:grpSp>
      <p:grpSp>
        <p:nvGrpSpPr>
          <p:cNvPr id="193" name="Group 193"/>
          <p:cNvGrpSpPr/>
          <p:nvPr/>
        </p:nvGrpSpPr>
        <p:grpSpPr>
          <a:xfrm>
            <a:off x="17076420" y="9669780"/>
            <a:ext cx="960120" cy="411480"/>
            <a:chOff x="0" y="0"/>
            <a:chExt cx="1280160" cy="548640"/>
          </a:xfrm>
        </p:grpSpPr>
        <p:sp>
          <p:nvSpPr>
            <p:cNvPr id="194" name="Freeform 194"/>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95" name="TextBox 195"/>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16</a:t>
              </a:r>
            </a:p>
          </p:txBody>
        </p:sp>
      </p:grpSp>
      <p:grpSp>
        <p:nvGrpSpPr>
          <p:cNvPr id="196" name="Group 196"/>
          <p:cNvGrpSpPr/>
          <p:nvPr/>
        </p:nvGrpSpPr>
        <p:grpSpPr>
          <a:xfrm>
            <a:off x="754380" y="9669780"/>
            <a:ext cx="16047720" cy="411480"/>
            <a:chOff x="0" y="0"/>
            <a:chExt cx="21396960" cy="548640"/>
          </a:xfrm>
        </p:grpSpPr>
        <p:sp>
          <p:nvSpPr>
            <p:cNvPr id="197" name="Freeform 197"/>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98" name="TextBox 198"/>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
        <p:nvSpPr>
          <p:cNvPr id="199" name="Axis label cover">
            <a:extLst>
              <a:ext uri="{FF2B5EF4-FFF2-40B4-BE49-F238E27FC236}">
                <a16:creationId xmlns:a16="http://schemas.microsoft.com/office/drawing/2014/main" id="{1CAA3CEA-765C-7B4A-A024-474A3CB2AA67}"/>
              </a:ext>
            </a:extLst>
          </p:cNvPr>
          <p:cNvSpPr/>
          <p:nvPr/>
        </p:nvSpPr>
        <p:spPr>
          <a:xfrm>
            <a:off x="1483360" y="8128000"/>
            <a:ext cx="7538720" cy="3048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0" name="TextBox 199">
            <a:extLst>
              <a:ext uri="{FF2B5EF4-FFF2-40B4-BE49-F238E27FC236}">
                <a16:creationId xmlns:a16="http://schemas.microsoft.com/office/drawing/2014/main" id="{68F69667-4C53-494C-AA84-714C1A9AF6FA}"/>
              </a:ext>
            </a:extLst>
          </p:cNvPr>
          <p:cNvSpPr txBox="1"/>
          <p:nvPr/>
        </p:nvSpPr>
        <p:spPr>
          <a:xfrm>
            <a:off x="140716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201" name="TextBox 200">
            <a:extLst>
              <a:ext uri="{FF2B5EF4-FFF2-40B4-BE49-F238E27FC236}">
                <a16:creationId xmlns:a16="http://schemas.microsoft.com/office/drawing/2014/main" id="{4C633501-951B-624A-AA92-414C63CEED44}"/>
              </a:ext>
            </a:extLst>
          </p:cNvPr>
          <p:cNvSpPr txBox="1"/>
          <p:nvPr/>
        </p:nvSpPr>
        <p:spPr>
          <a:xfrm>
            <a:off x="1407160"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2024</a:t>
            </a:r>
          </a:p>
        </p:txBody>
      </p:sp>
      <p:sp>
        <p:nvSpPr>
          <p:cNvPr id="202" name="TextBox 201">
            <a:extLst>
              <a:ext uri="{FF2B5EF4-FFF2-40B4-BE49-F238E27FC236}">
                <a16:creationId xmlns:a16="http://schemas.microsoft.com/office/drawing/2014/main" id="{9A536478-ABC8-AE4A-8998-67505D222749}"/>
              </a:ext>
            </a:extLst>
          </p:cNvPr>
          <p:cNvSpPr txBox="1"/>
          <p:nvPr/>
        </p:nvSpPr>
        <p:spPr>
          <a:xfrm>
            <a:off x="2177062"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203" name="TextBox 202">
            <a:extLst>
              <a:ext uri="{FF2B5EF4-FFF2-40B4-BE49-F238E27FC236}">
                <a16:creationId xmlns:a16="http://schemas.microsoft.com/office/drawing/2014/main" id="{AADBCC53-ABC7-8C42-8242-33A85A4AEB1E}"/>
              </a:ext>
            </a:extLst>
          </p:cNvPr>
          <p:cNvSpPr txBox="1"/>
          <p:nvPr/>
        </p:nvSpPr>
        <p:spPr>
          <a:xfrm>
            <a:off x="2946964"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204" name="TextBox 203">
            <a:extLst>
              <a:ext uri="{FF2B5EF4-FFF2-40B4-BE49-F238E27FC236}">
                <a16:creationId xmlns:a16="http://schemas.microsoft.com/office/drawing/2014/main" id="{B2AA4393-ECD2-8846-A3BD-BF02433A482B}"/>
              </a:ext>
            </a:extLst>
          </p:cNvPr>
          <p:cNvSpPr txBox="1"/>
          <p:nvPr/>
        </p:nvSpPr>
        <p:spPr>
          <a:xfrm>
            <a:off x="3716866"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205" name="TextBox 204">
            <a:extLst>
              <a:ext uri="{FF2B5EF4-FFF2-40B4-BE49-F238E27FC236}">
                <a16:creationId xmlns:a16="http://schemas.microsoft.com/office/drawing/2014/main" id="{B077BF51-0AAB-1743-8A86-A88A36ABC900}"/>
              </a:ext>
            </a:extLst>
          </p:cNvPr>
          <p:cNvSpPr txBox="1"/>
          <p:nvPr/>
        </p:nvSpPr>
        <p:spPr>
          <a:xfrm>
            <a:off x="4486768"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206" name="TextBox 205">
            <a:extLst>
              <a:ext uri="{FF2B5EF4-FFF2-40B4-BE49-F238E27FC236}">
                <a16:creationId xmlns:a16="http://schemas.microsoft.com/office/drawing/2014/main" id="{A72CB296-0C47-2945-A91A-D6A623E46F3B}"/>
              </a:ext>
            </a:extLst>
          </p:cNvPr>
          <p:cNvSpPr txBox="1"/>
          <p:nvPr/>
        </p:nvSpPr>
        <p:spPr>
          <a:xfrm>
            <a:off x="4486768"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2025</a:t>
            </a:r>
          </a:p>
        </p:txBody>
      </p:sp>
      <p:sp>
        <p:nvSpPr>
          <p:cNvPr id="207" name="TextBox 206">
            <a:extLst>
              <a:ext uri="{FF2B5EF4-FFF2-40B4-BE49-F238E27FC236}">
                <a16:creationId xmlns:a16="http://schemas.microsoft.com/office/drawing/2014/main" id="{5A04546E-C4CD-8544-A18F-BAA018D4198D}"/>
              </a:ext>
            </a:extLst>
          </p:cNvPr>
          <p:cNvSpPr txBox="1"/>
          <p:nvPr/>
        </p:nvSpPr>
        <p:spPr>
          <a:xfrm>
            <a:off x="5256671"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208" name="TextBox 207">
            <a:extLst>
              <a:ext uri="{FF2B5EF4-FFF2-40B4-BE49-F238E27FC236}">
                <a16:creationId xmlns:a16="http://schemas.microsoft.com/office/drawing/2014/main" id="{0217E38E-74D4-9F4B-8105-8E71A8ED1162}"/>
              </a:ext>
            </a:extLst>
          </p:cNvPr>
          <p:cNvSpPr txBox="1"/>
          <p:nvPr/>
        </p:nvSpPr>
        <p:spPr>
          <a:xfrm>
            <a:off x="6026573"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209" name="TextBox 208">
            <a:extLst>
              <a:ext uri="{FF2B5EF4-FFF2-40B4-BE49-F238E27FC236}">
                <a16:creationId xmlns:a16="http://schemas.microsoft.com/office/drawing/2014/main" id="{BD4F8C0C-7704-3E46-BD8C-4DC19743D149}"/>
              </a:ext>
            </a:extLst>
          </p:cNvPr>
          <p:cNvSpPr txBox="1"/>
          <p:nvPr/>
        </p:nvSpPr>
        <p:spPr>
          <a:xfrm>
            <a:off x="6796475"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210" name="TextBox 209">
            <a:extLst>
              <a:ext uri="{FF2B5EF4-FFF2-40B4-BE49-F238E27FC236}">
                <a16:creationId xmlns:a16="http://schemas.microsoft.com/office/drawing/2014/main" id="{C8B991D4-4B30-A047-93B7-D4F4F1C12FBE}"/>
              </a:ext>
            </a:extLst>
          </p:cNvPr>
          <p:cNvSpPr txBox="1"/>
          <p:nvPr/>
        </p:nvSpPr>
        <p:spPr>
          <a:xfrm>
            <a:off x="7566377"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211" name="TextBox 210">
            <a:extLst>
              <a:ext uri="{FF2B5EF4-FFF2-40B4-BE49-F238E27FC236}">
                <a16:creationId xmlns:a16="http://schemas.microsoft.com/office/drawing/2014/main" id="{36F48DAE-9049-984C-9A19-13754172BECB}"/>
              </a:ext>
            </a:extLst>
          </p:cNvPr>
          <p:cNvSpPr txBox="1"/>
          <p:nvPr/>
        </p:nvSpPr>
        <p:spPr>
          <a:xfrm>
            <a:off x="7566377"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2026</a:t>
            </a:r>
          </a:p>
        </p:txBody>
      </p:sp>
      <p:sp>
        <p:nvSpPr>
          <p:cNvPr id="212" name="TextBox 211">
            <a:extLst>
              <a:ext uri="{FF2B5EF4-FFF2-40B4-BE49-F238E27FC236}">
                <a16:creationId xmlns:a16="http://schemas.microsoft.com/office/drawing/2014/main" id="{94F962C8-E682-0347-B355-8585E23AE2DC}"/>
              </a:ext>
            </a:extLst>
          </p:cNvPr>
          <p:cNvSpPr txBox="1"/>
          <p:nvPr/>
        </p:nvSpPr>
        <p:spPr>
          <a:xfrm>
            <a:off x="833628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A6  ·  KILLED HYPOTHESIS H2</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FCF Follows Capex, Not the Internet Print</a:t>
            </a:r>
          </a:p>
        </p:txBody>
      </p:sp>
      <p:pic>
        <p:nvPicPr>
          <p:cNvPr id="6" name="Picture 6"/>
          <p:cNvPicPr>
            <a:picLocks noChangeAspect="1"/>
          </p:cNvPicPr>
          <p:nvPr/>
        </p:nvPicPr>
        <p:blipFill>
          <a:blip r:embed="rId4"/>
          <a:stretch>
            <a:fillRect/>
          </a:stretch>
        </p:blipFill>
        <p:spPr>
          <a:xfrm>
            <a:off x="-370332" y="1481328"/>
            <a:ext cx="13496544" cy="8284464"/>
          </a:xfrm>
          <a:prstGeom prst="rect">
            <a:avLst/>
          </a:prstGeom>
        </p:spPr>
      </p:pic>
      <p:grpSp>
        <p:nvGrpSpPr>
          <p:cNvPr id="7" name="Group 7"/>
          <p:cNvGrpSpPr/>
          <p:nvPr/>
        </p:nvGrpSpPr>
        <p:grpSpPr>
          <a:xfrm>
            <a:off x="12403455" y="2596515"/>
            <a:ext cx="5162550" cy="6054090"/>
            <a:chOff x="0" y="0"/>
            <a:chExt cx="6883400" cy="8072120"/>
          </a:xfrm>
        </p:grpSpPr>
        <p:sp>
          <p:nvSpPr>
            <p:cNvPr id="8" name="Freeform 8"/>
            <p:cNvSpPr/>
            <p:nvPr/>
          </p:nvSpPr>
          <p:spPr>
            <a:xfrm>
              <a:off x="0" y="0"/>
              <a:ext cx="6883400" cy="8072120"/>
            </a:xfrm>
            <a:custGeom>
              <a:avLst/>
              <a:gdLst/>
              <a:ahLst/>
              <a:cxnLst/>
              <a:rect l="l" t="t" r="r" b="b"/>
              <a:pathLst>
                <a:path w="6883400" h="8072120">
                  <a:moveTo>
                    <a:pt x="0" y="146812"/>
                  </a:moveTo>
                  <a:cubicBezTo>
                    <a:pt x="0" y="65786"/>
                    <a:pt x="65786" y="0"/>
                    <a:pt x="146812" y="0"/>
                  </a:cubicBezTo>
                  <a:lnTo>
                    <a:pt x="6736588" y="0"/>
                  </a:lnTo>
                  <a:cubicBezTo>
                    <a:pt x="6817614" y="0"/>
                    <a:pt x="6883400" y="65786"/>
                    <a:pt x="6883400" y="146812"/>
                  </a:cubicBezTo>
                  <a:lnTo>
                    <a:pt x="6883400" y="7925308"/>
                  </a:lnTo>
                  <a:cubicBezTo>
                    <a:pt x="6883400" y="8006334"/>
                    <a:pt x="6817614" y="8072120"/>
                    <a:pt x="6736588" y="8072120"/>
                  </a:cubicBezTo>
                  <a:lnTo>
                    <a:pt x="146812" y="8072120"/>
                  </a:lnTo>
                  <a:cubicBezTo>
                    <a:pt x="65786" y="8072120"/>
                    <a:pt x="0" y="8006334"/>
                    <a:pt x="0" y="792530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9" name="Group 9"/>
          <p:cNvGrpSpPr/>
          <p:nvPr/>
        </p:nvGrpSpPr>
        <p:grpSpPr>
          <a:xfrm>
            <a:off x="12755880" y="2811780"/>
            <a:ext cx="4526280" cy="356616"/>
            <a:chOff x="0" y="0"/>
            <a:chExt cx="6035040" cy="475488"/>
          </a:xfrm>
        </p:grpSpPr>
        <p:sp>
          <p:nvSpPr>
            <p:cNvPr id="10" name="Freeform 10"/>
            <p:cNvSpPr/>
            <p:nvPr/>
          </p:nvSpPr>
          <p:spPr>
            <a:xfrm>
              <a:off x="0" y="0"/>
              <a:ext cx="6035040" cy="475488"/>
            </a:xfrm>
            <a:custGeom>
              <a:avLst/>
              <a:gdLst/>
              <a:ahLst/>
              <a:cxnLst/>
              <a:rect l="l" t="t" r="r" b="b"/>
              <a:pathLst>
                <a:path w="6035040" h="475488">
                  <a:moveTo>
                    <a:pt x="0" y="0"/>
                  </a:moveTo>
                  <a:lnTo>
                    <a:pt x="6035040" y="0"/>
                  </a:lnTo>
                  <a:lnTo>
                    <a:pt x="6035040" y="475488"/>
                  </a:lnTo>
                  <a:lnTo>
                    <a:pt x="0" y="475488"/>
                  </a:lnTo>
                  <a:close/>
                </a:path>
              </a:pathLst>
            </a:custGeom>
            <a:blipFill>
              <a:blip r:embed="rId3">
                <a:alphaModFix amt="0"/>
              </a:blip>
              <a:stretch>
                <a:fillRect t="-197310" b="-197310"/>
              </a:stretch>
            </a:blipFill>
          </p:spPr>
          <p:txBody>
            <a:bodyPr/>
            <a:lstStyle/>
            <a:p>
              <a:endParaRPr lang="en-US"/>
            </a:p>
          </p:txBody>
        </p:sp>
        <p:sp>
          <p:nvSpPr>
            <p:cNvPr id="11" name="TextBox 11"/>
            <p:cNvSpPr txBox="1"/>
            <p:nvPr/>
          </p:nvSpPr>
          <p:spPr>
            <a:xfrm>
              <a:off x="0" y="-38100"/>
              <a:ext cx="603504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READ</a:t>
              </a:r>
            </a:p>
          </p:txBody>
        </p:sp>
      </p:grpSp>
      <p:sp>
        <p:nvSpPr>
          <p:cNvPr id="12" name="TextBox 12"/>
          <p:cNvSpPr txBox="1"/>
          <p:nvPr/>
        </p:nvSpPr>
        <p:spPr>
          <a:xfrm>
            <a:off x="12755880" y="3253740"/>
            <a:ext cx="4526280" cy="2440559"/>
          </a:xfrm>
          <a:prstGeom prst="rect">
            <a:avLst/>
          </a:prstGeom>
        </p:spPr>
        <p:txBody>
          <a:bodyPr lIns="0" tIns="0" rIns="0" bIns="0" rtlCol="0" anchor="t">
            <a:spAutoFit/>
          </a:bodyPr>
          <a:lstStyle/>
          <a:p>
            <a:pPr algn="l">
              <a:lnSpc>
                <a:spcPts val="1797"/>
              </a:lnSpc>
            </a:pPr>
            <a:r>
              <a:rPr lang="en-US" sz="1449" b="1">
                <a:solidFill>
                  <a:srgbClr val="0B1F3A"/>
                </a:solidFill>
                <a:latin typeface="Calibri"/>
                <a:ea typeface="Calibri (MS) Bold"/>
                <a:cs typeface="Calibri"/>
                <a:sym typeface="Calibri (MS) Bold"/>
              </a:rPr>
              <a:t>FY2026 capex guide ~$11.4B ex-Cox; network evolution largely complete by end-2027.</a:t>
            </a:r>
          </a:p>
          <a:p>
            <a:pPr algn="l">
              <a:lnSpc>
                <a:spcPts val="1797"/>
              </a:lnSpc>
            </a:pPr>
            <a:r>
              <a:rPr lang="en-US" sz="1449">
                <a:solidFill>
                  <a:srgbClr val="5B6672"/>
                </a:solidFill>
                <a:latin typeface="Calibri"/>
                <a:ea typeface="Calibri (MS)"/>
                <a:cs typeface="Calibri"/>
                <a:sym typeface="Calibri (MS)"/>
              </a:rPr>
              <a:t>Q1 2026 capex +19% YoY (CPE +41%, upgrade/rebuild +71%); FCF −12%. None of that moved the stock, the Internet print did.</a:t>
            </a:r>
          </a:p>
          <a:p>
            <a:pPr algn="l">
              <a:lnSpc>
                <a:spcPts val="1797"/>
              </a:lnSpc>
            </a:pPr>
            <a:r>
              <a:rPr lang="en-US" sz="1449">
                <a:solidFill>
                  <a:srgbClr val="5B6672"/>
                </a:solidFill>
                <a:latin typeface="Calibri"/>
                <a:ea typeface="Calibri (MS)"/>
                <a:cs typeface="Calibri"/>
                <a:sym typeface="Calibri (MS)"/>
              </a:rPr>
              <a:t>A mid-teens-to-20% FCF yield is the sector after the crash (Comcast ~19%), not a Charter-specific gift the market is ignoring.</a:t>
            </a:r>
          </a:p>
          <a:p>
            <a:pPr algn="l">
              <a:lnSpc>
                <a:spcPts val="1797"/>
              </a:lnSpc>
            </a:pPr>
            <a:r>
              <a:rPr lang="en-US" sz="1449" b="1">
                <a:solidFill>
                  <a:srgbClr val="C8102E"/>
                </a:solidFill>
                <a:latin typeface="Calibri"/>
                <a:ea typeface="Calibri (MS) Bold"/>
                <a:cs typeface="Calibri"/>
                <a:sym typeface="Calibri (MS) Bold"/>
              </a:rPr>
              <a:t>Implication: </a:t>
            </a:r>
            <a:r>
              <a:rPr lang="en-US" sz="1449">
                <a:solidFill>
                  <a:srgbClr val="5B6672"/>
                </a:solidFill>
                <a:latin typeface="Calibri"/>
                <a:ea typeface="Calibri (MS)"/>
                <a:cs typeface="Calibri"/>
                <a:sym typeface="Calibri (MS)"/>
              </a:rPr>
              <a:t>guide steady-state post-2027 capex as a number (Rec 2), but do not build the recommendation on FCF.</a:t>
            </a:r>
          </a:p>
        </p:txBody>
      </p:sp>
      <p:grpSp>
        <p:nvGrpSpPr>
          <p:cNvPr id="13" name="Group 13"/>
          <p:cNvGrpSpPr/>
          <p:nvPr/>
        </p:nvGrpSpPr>
        <p:grpSpPr>
          <a:xfrm>
            <a:off x="754380" y="8805672"/>
            <a:ext cx="16733520" cy="356616"/>
            <a:chOff x="0" y="0"/>
            <a:chExt cx="22311360" cy="475488"/>
          </a:xfrm>
        </p:grpSpPr>
        <p:sp>
          <p:nvSpPr>
            <p:cNvPr id="14" name="Freeform 14"/>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5" name="TextBox 15"/>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Charter non-GAAP FCF; NCTA capex categories from trending / 10-Q schedules. Correlation computed on the quarterly trend (team analysis).</a:t>
              </a:r>
            </a:p>
          </p:txBody>
        </p:sp>
      </p:grpSp>
      <p:grpSp>
        <p:nvGrpSpPr>
          <p:cNvPr id="16" name="Group 16"/>
          <p:cNvGrpSpPr/>
          <p:nvPr/>
        </p:nvGrpSpPr>
        <p:grpSpPr>
          <a:xfrm>
            <a:off x="754380" y="9189720"/>
            <a:ext cx="16733520" cy="411480"/>
            <a:chOff x="0" y="0"/>
            <a:chExt cx="22311360" cy="548640"/>
          </a:xfrm>
        </p:grpSpPr>
        <p:sp>
          <p:nvSpPr>
            <p:cNvPr id="17" name="Freeform 17"/>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8" name="TextBox 18"/>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 action="ppaction://hlinksldjump"/>
                </a:rPr>
                <a:t>←  Back to main deck  (p.4)</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6" action="ppaction://hlinksldjump"/>
                </a:rPr>
                <a:t>Appendix index  (p.12)</a:t>
              </a:r>
            </a:p>
          </p:txBody>
        </p:sp>
      </p:grpSp>
      <p:grpSp>
        <p:nvGrpSpPr>
          <p:cNvPr id="19" name="Group 19"/>
          <p:cNvGrpSpPr/>
          <p:nvPr/>
        </p:nvGrpSpPr>
        <p:grpSpPr>
          <a:xfrm>
            <a:off x="17076420" y="9669780"/>
            <a:ext cx="960120" cy="411480"/>
            <a:chOff x="0" y="0"/>
            <a:chExt cx="1280160" cy="548640"/>
          </a:xfrm>
        </p:grpSpPr>
        <p:sp>
          <p:nvSpPr>
            <p:cNvPr id="20" name="Freeform 20"/>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1" name="TextBox 21"/>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17</a:t>
              </a:r>
            </a:p>
          </p:txBody>
        </p:sp>
      </p:grpSp>
      <p:grpSp>
        <p:nvGrpSpPr>
          <p:cNvPr id="22" name="Group 22"/>
          <p:cNvGrpSpPr/>
          <p:nvPr/>
        </p:nvGrpSpPr>
        <p:grpSpPr>
          <a:xfrm>
            <a:off x="754380" y="9669780"/>
            <a:ext cx="16047720" cy="411480"/>
            <a:chOff x="0" y="0"/>
            <a:chExt cx="21396960" cy="548640"/>
          </a:xfrm>
        </p:grpSpPr>
        <p:sp>
          <p:nvSpPr>
            <p:cNvPr id="23" name="Freeform 23"/>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24" name="TextBox 24"/>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
        <p:nvSpPr>
          <p:cNvPr id="25" name="Axis label cover">
            <a:extLst>
              <a:ext uri="{FF2B5EF4-FFF2-40B4-BE49-F238E27FC236}">
                <a16:creationId xmlns:a16="http://schemas.microsoft.com/office/drawing/2014/main" id="{6CD2D388-9F69-0F46-8318-14CD23FA0760}"/>
              </a:ext>
            </a:extLst>
          </p:cNvPr>
          <p:cNvSpPr/>
          <p:nvPr/>
        </p:nvSpPr>
        <p:spPr>
          <a:xfrm>
            <a:off x="1666240" y="8128000"/>
            <a:ext cx="10322560" cy="3048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DD2B048D-9C4D-A243-99E9-3907FCB8B76E}"/>
              </a:ext>
            </a:extLst>
          </p:cNvPr>
          <p:cNvSpPr txBox="1"/>
          <p:nvPr/>
        </p:nvSpPr>
        <p:spPr>
          <a:xfrm>
            <a:off x="179324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27" name="TextBox 26">
            <a:extLst>
              <a:ext uri="{FF2B5EF4-FFF2-40B4-BE49-F238E27FC236}">
                <a16:creationId xmlns:a16="http://schemas.microsoft.com/office/drawing/2014/main" id="{42ABE33F-53B8-304A-84F5-841EE3CE7E21}"/>
              </a:ext>
            </a:extLst>
          </p:cNvPr>
          <p:cNvSpPr txBox="1"/>
          <p:nvPr/>
        </p:nvSpPr>
        <p:spPr>
          <a:xfrm>
            <a:off x="1793240"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2024</a:t>
            </a:r>
          </a:p>
        </p:txBody>
      </p:sp>
      <p:sp>
        <p:nvSpPr>
          <p:cNvPr id="28" name="TextBox 27">
            <a:extLst>
              <a:ext uri="{FF2B5EF4-FFF2-40B4-BE49-F238E27FC236}">
                <a16:creationId xmlns:a16="http://schemas.microsoft.com/office/drawing/2014/main" id="{D0ECC336-34BE-AE44-8290-629054574AE7}"/>
              </a:ext>
            </a:extLst>
          </p:cNvPr>
          <p:cNvSpPr txBox="1"/>
          <p:nvPr/>
        </p:nvSpPr>
        <p:spPr>
          <a:xfrm>
            <a:off x="2827302"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29" name="TextBox 28">
            <a:extLst>
              <a:ext uri="{FF2B5EF4-FFF2-40B4-BE49-F238E27FC236}">
                <a16:creationId xmlns:a16="http://schemas.microsoft.com/office/drawing/2014/main" id="{A1B283D0-8EB5-F544-985C-F00913D8884F}"/>
              </a:ext>
            </a:extLst>
          </p:cNvPr>
          <p:cNvSpPr txBox="1"/>
          <p:nvPr/>
        </p:nvSpPr>
        <p:spPr>
          <a:xfrm>
            <a:off x="3861364"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30" name="TextBox 29">
            <a:extLst>
              <a:ext uri="{FF2B5EF4-FFF2-40B4-BE49-F238E27FC236}">
                <a16:creationId xmlns:a16="http://schemas.microsoft.com/office/drawing/2014/main" id="{4C0E4B55-47A1-6F4F-8732-D026E6FD3989}"/>
              </a:ext>
            </a:extLst>
          </p:cNvPr>
          <p:cNvSpPr txBox="1"/>
          <p:nvPr/>
        </p:nvSpPr>
        <p:spPr>
          <a:xfrm>
            <a:off x="4895426"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31" name="TextBox 30">
            <a:extLst>
              <a:ext uri="{FF2B5EF4-FFF2-40B4-BE49-F238E27FC236}">
                <a16:creationId xmlns:a16="http://schemas.microsoft.com/office/drawing/2014/main" id="{EE83DA86-1F72-3241-BFFF-EADB5B0F9984}"/>
              </a:ext>
            </a:extLst>
          </p:cNvPr>
          <p:cNvSpPr txBox="1"/>
          <p:nvPr/>
        </p:nvSpPr>
        <p:spPr>
          <a:xfrm>
            <a:off x="5929488"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32" name="TextBox 31">
            <a:extLst>
              <a:ext uri="{FF2B5EF4-FFF2-40B4-BE49-F238E27FC236}">
                <a16:creationId xmlns:a16="http://schemas.microsoft.com/office/drawing/2014/main" id="{DFFBD738-F791-254A-8734-DB7AB96A626E}"/>
              </a:ext>
            </a:extLst>
          </p:cNvPr>
          <p:cNvSpPr txBox="1"/>
          <p:nvPr/>
        </p:nvSpPr>
        <p:spPr>
          <a:xfrm>
            <a:off x="5929488"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2025</a:t>
            </a:r>
          </a:p>
        </p:txBody>
      </p:sp>
      <p:sp>
        <p:nvSpPr>
          <p:cNvPr id="33" name="TextBox 32">
            <a:extLst>
              <a:ext uri="{FF2B5EF4-FFF2-40B4-BE49-F238E27FC236}">
                <a16:creationId xmlns:a16="http://schemas.microsoft.com/office/drawing/2014/main" id="{731E1969-3F80-7449-8BA0-287F577850A7}"/>
              </a:ext>
            </a:extLst>
          </p:cNvPr>
          <p:cNvSpPr txBox="1"/>
          <p:nvPr/>
        </p:nvSpPr>
        <p:spPr>
          <a:xfrm>
            <a:off x="6963551"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
        <p:nvSpPr>
          <p:cNvPr id="34" name="TextBox 33">
            <a:extLst>
              <a:ext uri="{FF2B5EF4-FFF2-40B4-BE49-F238E27FC236}">
                <a16:creationId xmlns:a16="http://schemas.microsoft.com/office/drawing/2014/main" id="{97D1F248-505A-1847-A3CF-C4B798D3703A}"/>
              </a:ext>
            </a:extLst>
          </p:cNvPr>
          <p:cNvSpPr txBox="1"/>
          <p:nvPr/>
        </p:nvSpPr>
        <p:spPr>
          <a:xfrm>
            <a:off x="7997613"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Q3</a:t>
            </a:r>
          </a:p>
        </p:txBody>
      </p:sp>
      <p:sp>
        <p:nvSpPr>
          <p:cNvPr id="35" name="TextBox 34">
            <a:extLst>
              <a:ext uri="{FF2B5EF4-FFF2-40B4-BE49-F238E27FC236}">
                <a16:creationId xmlns:a16="http://schemas.microsoft.com/office/drawing/2014/main" id="{4FFB8957-DE2D-734B-A01B-2E5036DF0238}"/>
              </a:ext>
            </a:extLst>
          </p:cNvPr>
          <p:cNvSpPr txBox="1"/>
          <p:nvPr/>
        </p:nvSpPr>
        <p:spPr>
          <a:xfrm>
            <a:off x="9031675"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Q4</a:t>
            </a:r>
          </a:p>
        </p:txBody>
      </p:sp>
      <p:sp>
        <p:nvSpPr>
          <p:cNvPr id="36" name="TextBox 35">
            <a:extLst>
              <a:ext uri="{FF2B5EF4-FFF2-40B4-BE49-F238E27FC236}">
                <a16:creationId xmlns:a16="http://schemas.microsoft.com/office/drawing/2014/main" id="{AA07F574-A05C-D24C-8808-2DF4210AEC91}"/>
              </a:ext>
            </a:extLst>
          </p:cNvPr>
          <p:cNvSpPr txBox="1"/>
          <p:nvPr/>
        </p:nvSpPr>
        <p:spPr>
          <a:xfrm>
            <a:off x="10065737"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Q1</a:t>
            </a:r>
          </a:p>
        </p:txBody>
      </p:sp>
      <p:sp>
        <p:nvSpPr>
          <p:cNvPr id="37" name="TextBox 36">
            <a:extLst>
              <a:ext uri="{FF2B5EF4-FFF2-40B4-BE49-F238E27FC236}">
                <a16:creationId xmlns:a16="http://schemas.microsoft.com/office/drawing/2014/main" id="{053C981F-BB99-B040-A9C9-15FD25C5C4C6}"/>
              </a:ext>
            </a:extLst>
          </p:cNvPr>
          <p:cNvSpPr txBox="1"/>
          <p:nvPr/>
        </p:nvSpPr>
        <p:spPr>
          <a:xfrm>
            <a:off x="10065737" y="8369300"/>
            <a:ext cx="762000" cy="203200"/>
          </a:xfrm>
          <a:prstGeom prst="rect">
            <a:avLst/>
          </a:prstGeom>
          <a:noFill/>
        </p:spPr>
        <p:txBody>
          <a:bodyPr vertOverflow="overflow" vert="horz" wrap="none" rtlCol="0" anchor="t">
            <a:noAutofit/>
          </a:bodyPr>
          <a:lstStyle/>
          <a:p>
            <a:pPr algn="ctr"/>
            <a:r>
              <a:rPr lang="en-US" sz="1100">
                <a:solidFill>
                  <a:srgbClr val="595959"/>
                </a:solidFill>
                <a:latin typeface="Calibri"/>
                <a:cs typeface="Calibri"/>
              </a:rPr>
              <a:t>2026</a:t>
            </a:r>
          </a:p>
        </p:txBody>
      </p:sp>
      <p:sp>
        <p:nvSpPr>
          <p:cNvPr id="38" name="TextBox 37">
            <a:extLst>
              <a:ext uri="{FF2B5EF4-FFF2-40B4-BE49-F238E27FC236}">
                <a16:creationId xmlns:a16="http://schemas.microsoft.com/office/drawing/2014/main" id="{F2D1D30E-0A2F-4D44-BD3E-A9CCBDC20D13}"/>
              </a:ext>
            </a:extLst>
          </p:cNvPr>
          <p:cNvSpPr txBox="1"/>
          <p:nvPr/>
        </p:nvSpPr>
        <p:spPr>
          <a:xfrm>
            <a:off x="11099800" y="8153400"/>
            <a:ext cx="762000" cy="228600"/>
          </a:xfrm>
          <a:prstGeom prst="rect">
            <a:avLst/>
          </a:prstGeom>
          <a:noFill/>
        </p:spPr>
        <p:txBody>
          <a:bodyPr vertOverflow="overflow" vert="horz" wrap="none" rtlCol="0" anchor="t">
            <a:noAutofit/>
          </a:bodyPr>
          <a:lstStyle/>
          <a:p>
            <a:pPr algn="ctr"/>
            <a:r>
              <a:rPr lang="en-US" sz="1200">
                <a:solidFill>
                  <a:srgbClr val="171A1F"/>
                </a:solidFill>
                <a:latin typeface="Calibri"/>
                <a:cs typeface="Calibri"/>
              </a:rPr>
              <a:t>Q2*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A7  ·  EVENT STUDY</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Seven Earnings Days: Acceleration and Surprise Set the Tape</a:t>
            </a:r>
          </a:p>
        </p:txBody>
      </p:sp>
      <p:grpSp>
        <p:nvGrpSpPr>
          <p:cNvPr id="6" name="Group 6"/>
          <p:cNvGrpSpPr/>
          <p:nvPr/>
        </p:nvGrpSpPr>
        <p:grpSpPr>
          <a:xfrm>
            <a:off x="754380" y="2674620"/>
            <a:ext cx="16802100" cy="548640"/>
            <a:chOff x="0" y="0"/>
            <a:chExt cx="22402800" cy="731520"/>
          </a:xfrm>
        </p:grpSpPr>
        <p:sp>
          <p:nvSpPr>
            <p:cNvPr id="7" name="Freeform 7"/>
            <p:cNvSpPr/>
            <p:nvPr/>
          </p:nvSpPr>
          <p:spPr>
            <a:xfrm>
              <a:off x="0" y="0"/>
              <a:ext cx="22402800" cy="731520"/>
            </a:xfrm>
            <a:custGeom>
              <a:avLst/>
              <a:gdLst/>
              <a:ahLst/>
              <a:cxnLst/>
              <a:rect l="l" t="t" r="r" b="b"/>
              <a:pathLst>
                <a:path w="22402800" h="731520">
                  <a:moveTo>
                    <a:pt x="0" y="0"/>
                  </a:moveTo>
                  <a:lnTo>
                    <a:pt x="22402800" y="0"/>
                  </a:lnTo>
                  <a:lnTo>
                    <a:pt x="22402800" y="731520"/>
                  </a:lnTo>
                  <a:lnTo>
                    <a:pt x="0" y="731520"/>
                  </a:lnTo>
                  <a:close/>
                </a:path>
              </a:pathLst>
            </a:custGeom>
            <a:solidFill>
              <a:srgbClr val="003057"/>
            </a:solidFill>
          </p:spPr>
          <p:txBody>
            <a:bodyPr/>
            <a:lstStyle/>
            <a:p>
              <a:endParaRPr lang="en-US"/>
            </a:p>
          </p:txBody>
        </p:sp>
      </p:grpSp>
      <p:grpSp>
        <p:nvGrpSpPr>
          <p:cNvPr id="8" name="Group 8"/>
          <p:cNvGrpSpPr/>
          <p:nvPr/>
        </p:nvGrpSpPr>
        <p:grpSpPr>
          <a:xfrm>
            <a:off x="864108" y="2674620"/>
            <a:ext cx="2935224" cy="548640"/>
            <a:chOff x="0" y="0"/>
            <a:chExt cx="3913632" cy="731520"/>
          </a:xfrm>
        </p:grpSpPr>
        <p:sp>
          <p:nvSpPr>
            <p:cNvPr id="9" name="Freeform 9"/>
            <p:cNvSpPr/>
            <p:nvPr/>
          </p:nvSpPr>
          <p:spPr>
            <a:xfrm>
              <a:off x="0" y="0"/>
              <a:ext cx="3913632" cy="731520"/>
            </a:xfrm>
            <a:custGeom>
              <a:avLst/>
              <a:gdLst/>
              <a:ahLst/>
              <a:cxnLst/>
              <a:rect l="l" t="t" r="r" b="b"/>
              <a:pathLst>
                <a:path w="3913632" h="731520">
                  <a:moveTo>
                    <a:pt x="0" y="0"/>
                  </a:moveTo>
                  <a:lnTo>
                    <a:pt x="3913632" y="0"/>
                  </a:lnTo>
                  <a:lnTo>
                    <a:pt x="3913632" y="731520"/>
                  </a:lnTo>
                  <a:lnTo>
                    <a:pt x="0" y="731520"/>
                  </a:lnTo>
                  <a:close/>
                </a:path>
              </a:pathLst>
            </a:custGeom>
            <a:blipFill>
              <a:blip r:embed="rId3">
                <a:alphaModFix amt="0"/>
              </a:blip>
              <a:stretch>
                <a:fillRect t="-54244" b="-54244"/>
              </a:stretch>
            </a:blipFill>
          </p:spPr>
          <p:txBody>
            <a:bodyPr/>
            <a:lstStyle/>
            <a:p>
              <a:endParaRPr lang="en-US"/>
            </a:p>
          </p:txBody>
        </p:sp>
        <p:sp>
          <p:nvSpPr>
            <p:cNvPr id="10" name="TextBox 10"/>
            <p:cNvSpPr txBox="1"/>
            <p:nvPr/>
          </p:nvSpPr>
          <p:spPr>
            <a:xfrm>
              <a:off x="0" y="-19050"/>
              <a:ext cx="391363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Print</a:t>
              </a:r>
            </a:p>
          </p:txBody>
        </p:sp>
      </p:grpSp>
      <p:grpSp>
        <p:nvGrpSpPr>
          <p:cNvPr id="11" name="Group 11"/>
          <p:cNvGrpSpPr/>
          <p:nvPr/>
        </p:nvGrpSpPr>
        <p:grpSpPr>
          <a:xfrm>
            <a:off x="4018788" y="2674620"/>
            <a:ext cx="1700784" cy="548640"/>
            <a:chOff x="0" y="0"/>
            <a:chExt cx="2267712" cy="731520"/>
          </a:xfrm>
        </p:grpSpPr>
        <p:sp>
          <p:nvSpPr>
            <p:cNvPr id="12" name="Freeform 12"/>
            <p:cNvSpPr/>
            <p:nvPr/>
          </p:nvSpPr>
          <p:spPr>
            <a:xfrm>
              <a:off x="0" y="0"/>
              <a:ext cx="2267712" cy="731520"/>
            </a:xfrm>
            <a:custGeom>
              <a:avLst/>
              <a:gdLst/>
              <a:ahLst/>
              <a:cxnLst/>
              <a:rect l="l" t="t" r="r" b="b"/>
              <a:pathLst>
                <a:path w="2267712" h="731520">
                  <a:moveTo>
                    <a:pt x="0" y="0"/>
                  </a:moveTo>
                  <a:lnTo>
                    <a:pt x="2267712" y="0"/>
                  </a:lnTo>
                  <a:lnTo>
                    <a:pt x="2267712" y="731520"/>
                  </a:lnTo>
                  <a:lnTo>
                    <a:pt x="0" y="731520"/>
                  </a:lnTo>
                  <a:close/>
                </a:path>
              </a:pathLst>
            </a:custGeom>
            <a:blipFill>
              <a:blip r:embed="rId3">
                <a:alphaModFix amt="0"/>
              </a:blip>
              <a:stretch>
                <a:fillRect t="-10403" b="-10403"/>
              </a:stretch>
            </a:blipFill>
          </p:spPr>
          <p:txBody>
            <a:bodyPr/>
            <a:lstStyle/>
            <a:p>
              <a:endParaRPr lang="en-US"/>
            </a:p>
          </p:txBody>
        </p:sp>
        <p:sp>
          <p:nvSpPr>
            <p:cNvPr id="13" name="TextBox 13"/>
            <p:cNvSpPr txBox="1"/>
            <p:nvPr/>
          </p:nvSpPr>
          <p:spPr>
            <a:xfrm>
              <a:off x="0" y="-19050"/>
              <a:ext cx="226771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Internet net adds</a:t>
              </a:r>
            </a:p>
          </p:txBody>
        </p:sp>
      </p:grpSp>
      <p:grpSp>
        <p:nvGrpSpPr>
          <p:cNvPr id="14" name="Group 14"/>
          <p:cNvGrpSpPr/>
          <p:nvPr/>
        </p:nvGrpSpPr>
        <p:grpSpPr>
          <a:xfrm>
            <a:off x="5939028" y="2674620"/>
            <a:ext cx="2386584" cy="548640"/>
            <a:chOff x="0" y="0"/>
            <a:chExt cx="3182112" cy="731520"/>
          </a:xfrm>
        </p:grpSpPr>
        <p:sp>
          <p:nvSpPr>
            <p:cNvPr id="15" name="Freeform 15"/>
            <p:cNvSpPr/>
            <p:nvPr/>
          </p:nvSpPr>
          <p:spPr>
            <a:xfrm>
              <a:off x="0" y="0"/>
              <a:ext cx="3182112" cy="731520"/>
            </a:xfrm>
            <a:custGeom>
              <a:avLst/>
              <a:gdLst/>
              <a:ahLst/>
              <a:cxnLst/>
              <a:rect l="l" t="t" r="r" b="b"/>
              <a:pathLst>
                <a:path w="3182112" h="731520">
                  <a:moveTo>
                    <a:pt x="0" y="0"/>
                  </a:moveTo>
                  <a:lnTo>
                    <a:pt x="3182112" y="0"/>
                  </a:lnTo>
                  <a:lnTo>
                    <a:pt x="3182112" y="731520"/>
                  </a:lnTo>
                  <a:lnTo>
                    <a:pt x="0" y="731520"/>
                  </a:lnTo>
                  <a:close/>
                </a:path>
              </a:pathLst>
            </a:custGeom>
            <a:blipFill>
              <a:blip r:embed="rId3">
                <a:alphaModFix amt="0"/>
              </a:blip>
              <a:stretch>
                <a:fillRect t="-34759" b="-34759"/>
              </a:stretch>
            </a:blipFill>
          </p:spPr>
          <p:txBody>
            <a:bodyPr/>
            <a:lstStyle/>
            <a:p>
              <a:endParaRPr lang="en-US"/>
            </a:p>
          </p:txBody>
        </p:sp>
        <p:sp>
          <p:nvSpPr>
            <p:cNvPr id="16" name="TextBox 16"/>
            <p:cNvSpPr txBox="1"/>
            <p:nvPr/>
          </p:nvSpPr>
          <p:spPr>
            <a:xfrm>
              <a:off x="0" y="-19050"/>
              <a:ext cx="318211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vs. year-ago</a:t>
              </a:r>
            </a:p>
          </p:txBody>
        </p:sp>
      </p:grpSp>
      <p:grpSp>
        <p:nvGrpSpPr>
          <p:cNvPr id="17" name="Group 17"/>
          <p:cNvGrpSpPr/>
          <p:nvPr/>
        </p:nvGrpSpPr>
        <p:grpSpPr>
          <a:xfrm>
            <a:off x="8545068" y="2674620"/>
            <a:ext cx="1906524" cy="548640"/>
            <a:chOff x="0" y="0"/>
            <a:chExt cx="2542032" cy="731520"/>
          </a:xfrm>
        </p:grpSpPr>
        <p:sp>
          <p:nvSpPr>
            <p:cNvPr id="18" name="Freeform 18"/>
            <p:cNvSpPr/>
            <p:nvPr/>
          </p:nvSpPr>
          <p:spPr>
            <a:xfrm>
              <a:off x="0" y="0"/>
              <a:ext cx="2542032" cy="731520"/>
            </a:xfrm>
            <a:custGeom>
              <a:avLst/>
              <a:gdLst/>
              <a:ahLst/>
              <a:cxnLst/>
              <a:rect l="l" t="t" r="r" b="b"/>
              <a:pathLst>
                <a:path w="2542032" h="731520">
                  <a:moveTo>
                    <a:pt x="0" y="0"/>
                  </a:moveTo>
                  <a:lnTo>
                    <a:pt x="2542032" y="0"/>
                  </a:lnTo>
                  <a:lnTo>
                    <a:pt x="2542032" y="731520"/>
                  </a:lnTo>
                  <a:lnTo>
                    <a:pt x="0" y="731520"/>
                  </a:lnTo>
                  <a:close/>
                </a:path>
              </a:pathLst>
            </a:custGeom>
            <a:blipFill>
              <a:blip r:embed="rId3">
                <a:alphaModFix amt="0"/>
              </a:blip>
              <a:stretch>
                <a:fillRect t="-17710" b="-17710"/>
              </a:stretch>
            </a:blipFill>
          </p:spPr>
          <p:txBody>
            <a:bodyPr/>
            <a:lstStyle/>
            <a:p>
              <a:endParaRPr lang="en-US"/>
            </a:p>
          </p:txBody>
        </p:sp>
        <p:sp>
          <p:nvSpPr>
            <p:cNvPr id="19" name="TextBox 19"/>
            <p:cNvSpPr txBox="1"/>
            <p:nvPr/>
          </p:nvSpPr>
          <p:spPr>
            <a:xfrm>
              <a:off x="0" y="-19050"/>
              <a:ext cx="254203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1-day return</a:t>
              </a:r>
            </a:p>
          </p:txBody>
        </p:sp>
      </p:grpSp>
      <p:grpSp>
        <p:nvGrpSpPr>
          <p:cNvPr id="20" name="Group 20"/>
          <p:cNvGrpSpPr/>
          <p:nvPr/>
        </p:nvGrpSpPr>
        <p:grpSpPr>
          <a:xfrm>
            <a:off x="10671048" y="2674620"/>
            <a:ext cx="6775704" cy="548640"/>
            <a:chOff x="0" y="0"/>
            <a:chExt cx="9034272" cy="731520"/>
          </a:xfrm>
        </p:grpSpPr>
        <p:sp>
          <p:nvSpPr>
            <p:cNvPr id="21" name="Freeform 21"/>
            <p:cNvSpPr/>
            <p:nvPr/>
          </p:nvSpPr>
          <p:spPr>
            <a:xfrm>
              <a:off x="0" y="0"/>
              <a:ext cx="9034272" cy="731520"/>
            </a:xfrm>
            <a:custGeom>
              <a:avLst/>
              <a:gdLst/>
              <a:ahLst/>
              <a:cxnLst/>
              <a:rect l="l" t="t" r="r" b="b"/>
              <a:pathLst>
                <a:path w="9034272" h="731520">
                  <a:moveTo>
                    <a:pt x="0" y="0"/>
                  </a:moveTo>
                  <a:lnTo>
                    <a:pt x="9034272" y="0"/>
                  </a:lnTo>
                  <a:lnTo>
                    <a:pt x="9034272" y="731520"/>
                  </a:lnTo>
                  <a:lnTo>
                    <a:pt x="0" y="731520"/>
                  </a:lnTo>
                  <a:close/>
                </a:path>
              </a:pathLst>
            </a:custGeom>
            <a:blipFill>
              <a:blip r:embed="rId3">
                <a:alphaModFix amt="0"/>
              </a:blip>
              <a:stretch>
                <a:fillRect t="-190640" b="-190640"/>
              </a:stretch>
            </a:blipFill>
          </p:spPr>
          <p:txBody>
            <a:bodyPr/>
            <a:lstStyle/>
            <a:p>
              <a:endParaRPr lang="en-US"/>
            </a:p>
          </p:txBody>
        </p:sp>
        <p:sp>
          <p:nvSpPr>
            <p:cNvPr id="22" name="TextBox 22"/>
            <p:cNvSpPr txBox="1"/>
            <p:nvPr/>
          </p:nvSpPr>
          <p:spPr>
            <a:xfrm>
              <a:off x="0" y="-19050"/>
              <a:ext cx="903427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What the tape did</a:t>
              </a:r>
            </a:p>
          </p:txBody>
        </p:sp>
      </p:grpSp>
      <p:grpSp>
        <p:nvGrpSpPr>
          <p:cNvPr id="23" name="Group 23"/>
          <p:cNvGrpSpPr/>
          <p:nvPr/>
        </p:nvGrpSpPr>
        <p:grpSpPr>
          <a:xfrm>
            <a:off x="754380" y="3223260"/>
            <a:ext cx="16802100" cy="685800"/>
            <a:chOff x="0" y="0"/>
            <a:chExt cx="22402800" cy="914400"/>
          </a:xfrm>
        </p:grpSpPr>
        <p:sp>
          <p:nvSpPr>
            <p:cNvPr id="24" name="Freeform 24"/>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25" name="Group 25"/>
          <p:cNvGrpSpPr/>
          <p:nvPr/>
        </p:nvGrpSpPr>
        <p:grpSpPr>
          <a:xfrm>
            <a:off x="864108" y="3223260"/>
            <a:ext cx="2935224" cy="685800"/>
            <a:chOff x="0" y="0"/>
            <a:chExt cx="3913632" cy="914400"/>
          </a:xfrm>
        </p:grpSpPr>
        <p:sp>
          <p:nvSpPr>
            <p:cNvPr id="26" name="Freeform 26"/>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27" name="TextBox 27"/>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Jan 31 2025 / Q4 2024</a:t>
              </a:r>
            </a:p>
          </p:txBody>
        </p:sp>
      </p:grpSp>
      <p:grpSp>
        <p:nvGrpSpPr>
          <p:cNvPr id="28" name="Group 28"/>
          <p:cNvGrpSpPr/>
          <p:nvPr/>
        </p:nvGrpSpPr>
        <p:grpSpPr>
          <a:xfrm>
            <a:off x="4018788" y="3223260"/>
            <a:ext cx="1700784" cy="685800"/>
            <a:chOff x="0" y="0"/>
            <a:chExt cx="2267712" cy="914400"/>
          </a:xfrm>
        </p:grpSpPr>
        <p:sp>
          <p:nvSpPr>
            <p:cNvPr id="29" name="Freeform 29"/>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30" name="TextBox 30"/>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−177k</a:t>
              </a:r>
            </a:p>
          </p:txBody>
        </p:sp>
      </p:grpSp>
      <p:grpSp>
        <p:nvGrpSpPr>
          <p:cNvPr id="31" name="Group 31"/>
          <p:cNvGrpSpPr/>
          <p:nvPr/>
        </p:nvGrpSpPr>
        <p:grpSpPr>
          <a:xfrm>
            <a:off x="5939028" y="3223260"/>
            <a:ext cx="2386584" cy="685800"/>
            <a:chOff x="0" y="0"/>
            <a:chExt cx="3182112" cy="914400"/>
          </a:xfrm>
        </p:grpSpPr>
        <p:sp>
          <p:nvSpPr>
            <p:cNvPr id="32" name="Freeform 32"/>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33" name="TextBox 33"/>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n/a in window</a:t>
              </a:r>
            </a:p>
          </p:txBody>
        </p:sp>
      </p:grpSp>
      <p:grpSp>
        <p:nvGrpSpPr>
          <p:cNvPr id="34" name="Group 34"/>
          <p:cNvGrpSpPr/>
          <p:nvPr/>
        </p:nvGrpSpPr>
        <p:grpSpPr>
          <a:xfrm>
            <a:off x="8545068" y="3223260"/>
            <a:ext cx="1906524" cy="685800"/>
            <a:chOff x="0" y="0"/>
            <a:chExt cx="2542032" cy="914400"/>
          </a:xfrm>
        </p:grpSpPr>
        <p:sp>
          <p:nvSpPr>
            <p:cNvPr id="35" name="Freeform 35"/>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36" name="TextBox 36"/>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66717D"/>
                  </a:solidFill>
                  <a:latin typeface="Calibri"/>
                  <a:ea typeface="Calibri (MS) Bold"/>
                  <a:cs typeface="Calibri"/>
                  <a:sym typeface="Calibri (MS) Bold"/>
                </a:rPr>
                <a:t>+2.6%</a:t>
              </a:r>
            </a:p>
          </p:txBody>
        </p:sp>
      </p:grpSp>
      <p:grpSp>
        <p:nvGrpSpPr>
          <p:cNvPr id="37" name="Group 37"/>
          <p:cNvGrpSpPr/>
          <p:nvPr/>
        </p:nvGrpSpPr>
        <p:grpSpPr>
          <a:xfrm>
            <a:off x="10671048" y="3223260"/>
            <a:ext cx="6775704" cy="685800"/>
            <a:chOff x="0" y="0"/>
            <a:chExt cx="9034272" cy="914400"/>
          </a:xfrm>
        </p:grpSpPr>
        <p:sp>
          <p:nvSpPr>
            <p:cNvPr id="38" name="Freeform 38"/>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39" name="TextBox 39"/>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Losses large but not a new slope</a:t>
              </a:r>
            </a:p>
          </p:txBody>
        </p:sp>
      </p:grpSp>
      <p:grpSp>
        <p:nvGrpSpPr>
          <p:cNvPr id="40" name="Group 40"/>
          <p:cNvGrpSpPr/>
          <p:nvPr/>
        </p:nvGrpSpPr>
        <p:grpSpPr>
          <a:xfrm>
            <a:off x="864108" y="3909060"/>
            <a:ext cx="2935224" cy="685800"/>
            <a:chOff x="0" y="0"/>
            <a:chExt cx="3913632" cy="914400"/>
          </a:xfrm>
        </p:grpSpPr>
        <p:sp>
          <p:nvSpPr>
            <p:cNvPr id="41" name="Freeform 41"/>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42" name="TextBox 42"/>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Apr 25 2025 / Q1 2025</a:t>
              </a:r>
            </a:p>
          </p:txBody>
        </p:sp>
      </p:grpSp>
      <p:grpSp>
        <p:nvGrpSpPr>
          <p:cNvPr id="43" name="Group 43"/>
          <p:cNvGrpSpPr/>
          <p:nvPr/>
        </p:nvGrpSpPr>
        <p:grpSpPr>
          <a:xfrm>
            <a:off x="4018788" y="3909060"/>
            <a:ext cx="1700784" cy="685800"/>
            <a:chOff x="0" y="0"/>
            <a:chExt cx="2267712" cy="914400"/>
          </a:xfrm>
        </p:grpSpPr>
        <p:sp>
          <p:nvSpPr>
            <p:cNvPr id="44" name="Freeform 44"/>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45" name="TextBox 45"/>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−59k</a:t>
              </a:r>
            </a:p>
          </p:txBody>
        </p:sp>
      </p:grpSp>
      <p:grpSp>
        <p:nvGrpSpPr>
          <p:cNvPr id="46" name="Group 46"/>
          <p:cNvGrpSpPr/>
          <p:nvPr/>
        </p:nvGrpSpPr>
        <p:grpSpPr>
          <a:xfrm>
            <a:off x="5939028" y="3909060"/>
            <a:ext cx="2386584" cy="685800"/>
            <a:chOff x="0" y="0"/>
            <a:chExt cx="3182112" cy="914400"/>
          </a:xfrm>
        </p:grpSpPr>
        <p:sp>
          <p:nvSpPr>
            <p:cNvPr id="47" name="Freeform 47"/>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48" name="TextBox 48"/>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better than −72k</a:t>
              </a:r>
            </a:p>
          </p:txBody>
        </p:sp>
      </p:grpSp>
      <p:grpSp>
        <p:nvGrpSpPr>
          <p:cNvPr id="49" name="Group 49"/>
          <p:cNvGrpSpPr/>
          <p:nvPr/>
        </p:nvGrpSpPr>
        <p:grpSpPr>
          <a:xfrm>
            <a:off x="8545068" y="3909060"/>
            <a:ext cx="1906524" cy="685800"/>
            <a:chOff x="0" y="0"/>
            <a:chExt cx="2542032" cy="914400"/>
          </a:xfrm>
        </p:grpSpPr>
        <p:sp>
          <p:nvSpPr>
            <p:cNvPr id="50" name="Freeform 50"/>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51" name="TextBox 51"/>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+11.4%</a:t>
              </a:r>
            </a:p>
          </p:txBody>
        </p:sp>
      </p:grpSp>
      <p:grpSp>
        <p:nvGrpSpPr>
          <p:cNvPr id="52" name="Group 52"/>
          <p:cNvGrpSpPr/>
          <p:nvPr/>
        </p:nvGrpSpPr>
        <p:grpSpPr>
          <a:xfrm>
            <a:off x="10671048" y="3909060"/>
            <a:ext cx="6775704" cy="685800"/>
            <a:chOff x="0" y="0"/>
            <a:chExt cx="9034272" cy="914400"/>
          </a:xfrm>
        </p:grpSpPr>
        <p:sp>
          <p:nvSpPr>
            <p:cNvPr id="53" name="Freeform 53"/>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54" name="TextBox 54"/>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Mobile/video beat; Internet miss ignored because the print improved</a:t>
              </a:r>
            </a:p>
          </p:txBody>
        </p:sp>
      </p:grpSp>
      <p:grpSp>
        <p:nvGrpSpPr>
          <p:cNvPr id="55" name="Group 55"/>
          <p:cNvGrpSpPr/>
          <p:nvPr/>
        </p:nvGrpSpPr>
        <p:grpSpPr>
          <a:xfrm>
            <a:off x="754380" y="4594860"/>
            <a:ext cx="16802100" cy="685800"/>
            <a:chOff x="0" y="0"/>
            <a:chExt cx="22402800" cy="914400"/>
          </a:xfrm>
        </p:grpSpPr>
        <p:sp>
          <p:nvSpPr>
            <p:cNvPr id="56" name="Freeform 56"/>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57" name="Group 57"/>
          <p:cNvGrpSpPr/>
          <p:nvPr/>
        </p:nvGrpSpPr>
        <p:grpSpPr>
          <a:xfrm>
            <a:off x="864108" y="4594860"/>
            <a:ext cx="2935224" cy="685800"/>
            <a:chOff x="0" y="0"/>
            <a:chExt cx="3913632" cy="914400"/>
          </a:xfrm>
        </p:grpSpPr>
        <p:sp>
          <p:nvSpPr>
            <p:cNvPr id="58" name="Freeform 58"/>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59" name="TextBox 59"/>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Jul 25 2025 / Q2 2025</a:t>
              </a:r>
            </a:p>
          </p:txBody>
        </p:sp>
      </p:grpSp>
      <p:grpSp>
        <p:nvGrpSpPr>
          <p:cNvPr id="60" name="Group 60"/>
          <p:cNvGrpSpPr/>
          <p:nvPr/>
        </p:nvGrpSpPr>
        <p:grpSpPr>
          <a:xfrm>
            <a:off x="4018788" y="4594860"/>
            <a:ext cx="1700784" cy="685800"/>
            <a:chOff x="0" y="0"/>
            <a:chExt cx="2267712" cy="914400"/>
          </a:xfrm>
        </p:grpSpPr>
        <p:sp>
          <p:nvSpPr>
            <p:cNvPr id="61" name="Freeform 61"/>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62" name="TextBox 62"/>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−116k</a:t>
              </a:r>
            </a:p>
          </p:txBody>
        </p:sp>
      </p:grpSp>
      <p:grpSp>
        <p:nvGrpSpPr>
          <p:cNvPr id="63" name="Group 63"/>
          <p:cNvGrpSpPr/>
          <p:nvPr/>
        </p:nvGrpSpPr>
        <p:grpSpPr>
          <a:xfrm>
            <a:off x="5939028" y="4594860"/>
            <a:ext cx="2386584" cy="685800"/>
            <a:chOff x="0" y="0"/>
            <a:chExt cx="3182112" cy="914400"/>
          </a:xfrm>
        </p:grpSpPr>
        <p:sp>
          <p:nvSpPr>
            <p:cNvPr id="64" name="Freeform 64"/>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65" name="TextBox 65"/>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better than −148k</a:t>
              </a:r>
            </a:p>
          </p:txBody>
        </p:sp>
      </p:grpSp>
      <p:grpSp>
        <p:nvGrpSpPr>
          <p:cNvPr id="66" name="Group 66"/>
          <p:cNvGrpSpPr/>
          <p:nvPr/>
        </p:nvGrpSpPr>
        <p:grpSpPr>
          <a:xfrm>
            <a:off x="8545068" y="4594860"/>
            <a:ext cx="1906524" cy="685800"/>
            <a:chOff x="0" y="0"/>
            <a:chExt cx="2542032" cy="914400"/>
          </a:xfrm>
        </p:grpSpPr>
        <p:sp>
          <p:nvSpPr>
            <p:cNvPr id="67" name="Freeform 67"/>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68" name="TextBox 68"/>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−18.5%</a:t>
              </a:r>
            </a:p>
          </p:txBody>
        </p:sp>
      </p:grpSp>
      <p:grpSp>
        <p:nvGrpSpPr>
          <p:cNvPr id="69" name="Group 69"/>
          <p:cNvGrpSpPr/>
          <p:nvPr/>
        </p:nvGrpSpPr>
        <p:grpSpPr>
          <a:xfrm>
            <a:off x="10671048" y="4594860"/>
            <a:ext cx="6775704" cy="685800"/>
            <a:chOff x="0" y="0"/>
            <a:chExt cx="9034272" cy="914400"/>
          </a:xfrm>
        </p:grpSpPr>
        <p:sp>
          <p:nvSpPr>
            <p:cNvPr id="70" name="Freeform 70"/>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71" name="TextBox 71"/>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Miss vs. ~−73k consensus (Visible Alpha / Reuters), surprise sold the stock</a:t>
              </a:r>
            </a:p>
          </p:txBody>
        </p:sp>
      </p:grpSp>
      <p:grpSp>
        <p:nvGrpSpPr>
          <p:cNvPr id="72" name="Group 72"/>
          <p:cNvGrpSpPr/>
          <p:nvPr/>
        </p:nvGrpSpPr>
        <p:grpSpPr>
          <a:xfrm>
            <a:off x="864108" y="5280660"/>
            <a:ext cx="2935224" cy="685800"/>
            <a:chOff x="0" y="0"/>
            <a:chExt cx="3913632" cy="914400"/>
          </a:xfrm>
        </p:grpSpPr>
        <p:sp>
          <p:nvSpPr>
            <p:cNvPr id="73" name="Freeform 73"/>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74" name="TextBox 74"/>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Oct 31 2025 / Q3 2025</a:t>
              </a:r>
            </a:p>
          </p:txBody>
        </p:sp>
      </p:grpSp>
      <p:grpSp>
        <p:nvGrpSpPr>
          <p:cNvPr id="75" name="Group 75"/>
          <p:cNvGrpSpPr/>
          <p:nvPr/>
        </p:nvGrpSpPr>
        <p:grpSpPr>
          <a:xfrm>
            <a:off x="4018788" y="5280660"/>
            <a:ext cx="1700784" cy="685800"/>
            <a:chOff x="0" y="0"/>
            <a:chExt cx="2267712" cy="914400"/>
          </a:xfrm>
        </p:grpSpPr>
        <p:sp>
          <p:nvSpPr>
            <p:cNvPr id="76" name="Freeform 76"/>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77" name="TextBox 77"/>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−109k</a:t>
              </a:r>
            </a:p>
          </p:txBody>
        </p:sp>
      </p:grpSp>
      <p:grpSp>
        <p:nvGrpSpPr>
          <p:cNvPr id="78" name="Group 78"/>
          <p:cNvGrpSpPr/>
          <p:nvPr/>
        </p:nvGrpSpPr>
        <p:grpSpPr>
          <a:xfrm>
            <a:off x="5939028" y="5280660"/>
            <a:ext cx="2386584" cy="685800"/>
            <a:chOff x="0" y="0"/>
            <a:chExt cx="3182112" cy="914400"/>
          </a:xfrm>
        </p:grpSpPr>
        <p:sp>
          <p:nvSpPr>
            <p:cNvPr id="79" name="Freeform 79"/>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80" name="TextBox 80"/>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flat vs. −110k</a:t>
              </a:r>
            </a:p>
          </p:txBody>
        </p:sp>
      </p:grpSp>
      <p:grpSp>
        <p:nvGrpSpPr>
          <p:cNvPr id="81" name="Group 81"/>
          <p:cNvGrpSpPr/>
          <p:nvPr/>
        </p:nvGrpSpPr>
        <p:grpSpPr>
          <a:xfrm>
            <a:off x="8545068" y="5280660"/>
            <a:ext cx="1906524" cy="685800"/>
            <a:chOff x="0" y="0"/>
            <a:chExt cx="2542032" cy="914400"/>
          </a:xfrm>
        </p:grpSpPr>
        <p:sp>
          <p:nvSpPr>
            <p:cNvPr id="82" name="Freeform 82"/>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83" name="TextBox 83"/>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66717D"/>
                  </a:solidFill>
                  <a:latin typeface="Calibri"/>
                  <a:ea typeface="Calibri (MS) Bold"/>
                  <a:cs typeface="Calibri"/>
                  <a:sym typeface="Calibri (MS) Bold"/>
                </a:rPr>
                <a:t>+1.3% close / −5.6% open</a:t>
              </a:r>
            </a:p>
          </p:txBody>
        </p:sp>
      </p:grpSp>
      <p:grpSp>
        <p:nvGrpSpPr>
          <p:cNvPr id="84" name="Group 84"/>
          <p:cNvGrpSpPr/>
          <p:nvPr/>
        </p:nvGrpSpPr>
        <p:grpSpPr>
          <a:xfrm>
            <a:off x="10671048" y="5280660"/>
            <a:ext cx="6775704" cy="685800"/>
            <a:chOff x="0" y="0"/>
            <a:chExt cx="9034272" cy="914400"/>
          </a:xfrm>
        </p:grpSpPr>
        <p:sp>
          <p:nvSpPr>
            <p:cNvPr id="85" name="Freeform 85"/>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86" name="TextBox 86"/>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EPS miss; close recovered</a:t>
              </a:r>
            </a:p>
          </p:txBody>
        </p:sp>
      </p:grpSp>
      <p:grpSp>
        <p:nvGrpSpPr>
          <p:cNvPr id="87" name="Group 87"/>
          <p:cNvGrpSpPr/>
          <p:nvPr/>
        </p:nvGrpSpPr>
        <p:grpSpPr>
          <a:xfrm>
            <a:off x="754380" y="5966460"/>
            <a:ext cx="16802100" cy="685800"/>
            <a:chOff x="0" y="0"/>
            <a:chExt cx="22402800" cy="914400"/>
          </a:xfrm>
        </p:grpSpPr>
        <p:sp>
          <p:nvSpPr>
            <p:cNvPr id="88" name="Freeform 8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89" name="Group 89"/>
          <p:cNvGrpSpPr/>
          <p:nvPr/>
        </p:nvGrpSpPr>
        <p:grpSpPr>
          <a:xfrm>
            <a:off x="864108" y="5966460"/>
            <a:ext cx="2935224" cy="685800"/>
            <a:chOff x="0" y="0"/>
            <a:chExt cx="3913632" cy="914400"/>
          </a:xfrm>
        </p:grpSpPr>
        <p:sp>
          <p:nvSpPr>
            <p:cNvPr id="90" name="Freeform 90"/>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91" name="TextBox 91"/>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Jan 30 2026 / Q4 2025</a:t>
              </a:r>
            </a:p>
          </p:txBody>
        </p:sp>
      </p:grpSp>
      <p:grpSp>
        <p:nvGrpSpPr>
          <p:cNvPr id="92" name="Group 92"/>
          <p:cNvGrpSpPr/>
          <p:nvPr/>
        </p:nvGrpSpPr>
        <p:grpSpPr>
          <a:xfrm>
            <a:off x="4018788" y="5966460"/>
            <a:ext cx="1700784" cy="685800"/>
            <a:chOff x="0" y="0"/>
            <a:chExt cx="2267712" cy="914400"/>
          </a:xfrm>
        </p:grpSpPr>
        <p:sp>
          <p:nvSpPr>
            <p:cNvPr id="93" name="Freeform 93"/>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94" name="TextBox 94"/>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−119k</a:t>
              </a:r>
            </a:p>
          </p:txBody>
        </p:sp>
      </p:grpSp>
      <p:grpSp>
        <p:nvGrpSpPr>
          <p:cNvPr id="95" name="Group 95"/>
          <p:cNvGrpSpPr/>
          <p:nvPr/>
        </p:nvGrpSpPr>
        <p:grpSpPr>
          <a:xfrm>
            <a:off x="5939028" y="5966460"/>
            <a:ext cx="2386584" cy="685800"/>
            <a:chOff x="0" y="0"/>
            <a:chExt cx="3182112" cy="914400"/>
          </a:xfrm>
        </p:grpSpPr>
        <p:sp>
          <p:nvSpPr>
            <p:cNvPr id="96" name="Freeform 96"/>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97" name="TextBox 97"/>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better than −177k</a:t>
              </a:r>
            </a:p>
          </p:txBody>
        </p:sp>
      </p:grpSp>
      <p:grpSp>
        <p:nvGrpSpPr>
          <p:cNvPr id="98" name="Group 98"/>
          <p:cNvGrpSpPr/>
          <p:nvPr/>
        </p:nvGrpSpPr>
        <p:grpSpPr>
          <a:xfrm>
            <a:off x="8545068" y="5966460"/>
            <a:ext cx="1906524" cy="685800"/>
            <a:chOff x="0" y="0"/>
            <a:chExt cx="2542032" cy="914400"/>
          </a:xfrm>
        </p:grpSpPr>
        <p:sp>
          <p:nvSpPr>
            <p:cNvPr id="99" name="Freeform 99"/>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00" name="TextBox 100"/>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+7.6%</a:t>
              </a:r>
            </a:p>
          </p:txBody>
        </p:sp>
      </p:grpSp>
      <p:grpSp>
        <p:nvGrpSpPr>
          <p:cNvPr id="101" name="Group 101"/>
          <p:cNvGrpSpPr/>
          <p:nvPr/>
        </p:nvGrpSpPr>
        <p:grpSpPr>
          <a:xfrm>
            <a:off x="10671048" y="5966460"/>
            <a:ext cx="6775704" cy="685800"/>
            <a:chOff x="0" y="0"/>
            <a:chExt cx="9034272" cy="914400"/>
          </a:xfrm>
        </p:grpSpPr>
        <p:sp>
          <p:nvSpPr>
            <p:cNvPr id="102" name="Freeform 102"/>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103" name="TextBox 103"/>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Absolute loss ≈ Q1 2026, opposite tape</a:t>
              </a:r>
            </a:p>
          </p:txBody>
        </p:sp>
      </p:grpSp>
      <p:grpSp>
        <p:nvGrpSpPr>
          <p:cNvPr id="104" name="Group 104"/>
          <p:cNvGrpSpPr/>
          <p:nvPr/>
        </p:nvGrpSpPr>
        <p:grpSpPr>
          <a:xfrm>
            <a:off x="864108" y="6652260"/>
            <a:ext cx="2935224" cy="685800"/>
            <a:chOff x="0" y="0"/>
            <a:chExt cx="3913632" cy="914400"/>
          </a:xfrm>
        </p:grpSpPr>
        <p:sp>
          <p:nvSpPr>
            <p:cNvPr id="105" name="Freeform 105"/>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106" name="TextBox 106"/>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Apr 24 2026 / Q1 2026</a:t>
              </a:r>
            </a:p>
          </p:txBody>
        </p:sp>
      </p:grpSp>
      <p:grpSp>
        <p:nvGrpSpPr>
          <p:cNvPr id="107" name="Group 107"/>
          <p:cNvGrpSpPr/>
          <p:nvPr/>
        </p:nvGrpSpPr>
        <p:grpSpPr>
          <a:xfrm>
            <a:off x="4018788" y="6652260"/>
            <a:ext cx="1700784" cy="685800"/>
            <a:chOff x="0" y="0"/>
            <a:chExt cx="2267712" cy="914400"/>
          </a:xfrm>
        </p:grpSpPr>
        <p:sp>
          <p:nvSpPr>
            <p:cNvPr id="108" name="Freeform 108"/>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109" name="TextBox 109"/>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−120k</a:t>
              </a:r>
            </a:p>
          </p:txBody>
        </p:sp>
      </p:grpSp>
      <p:grpSp>
        <p:nvGrpSpPr>
          <p:cNvPr id="110" name="Group 110"/>
          <p:cNvGrpSpPr/>
          <p:nvPr/>
        </p:nvGrpSpPr>
        <p:grpSpPr>
          <a:xfrm>
            <a:off x="5939028" y="6652260"/>
            <a:ext cx="2386584" cy="685800"/>
            <a:chOff x="0" y="0"/>
            <a:chExt cx="3182112" cy="914400"/>
          </a:xfrm>
        </p:grpSpPr>
        <p:sp>
          <p:nvSpPr>
            <p:cNvPr id="111" name="Freeform 111"/>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112" name="TextBox 112"/>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double −59k</a:t>
              </a:r>
            </a:p>
          </p:txBody>
        </p:sp>
      </p:grpSp>
      <p:grpSp>
        <p:nvGrpSpPr>
          <p:cNvPr id="113" name="Group 113"/>
          <p:cNvGrpSpPr/>
          <p:nvPr/>
        </p:nvGrpSpPr>
        <p:grpSpPr>
          <a:xfrm>
            <a:off x="8545068" y="6652260"/>
            <a:ext cx="1906524" cy="685800"/>
            <a:chOff x="0" y="0"/>
            <a:chExt cx="2542032" cy="914400"/>
          </a:xfrm>
        </p:grpSpPr>
        <p:sp>
          <p:nvSpPr>
            <p:cNvPr id="114" name="Freeform 114"/>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15" name="TextBox 115"/>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−25.5%</a:t>
              </a:r>
            </a:p>
          </p:txBody>
        </p:sp>
      </p:grpSp>
      <p:grpSp>
        <p:nvGrpSpPr>
          <p:cNvPr id="116" name="Group 116"/>
          <p:cNvGrpSpPr/>
          <p:nvPr/>
        </p:nvGrpSpPr>
        <p:grpSpPr>
          <a:xfrm>
            <a:off x="10671048" y="6652260"/>
            <a:ext cx="6775704" cy="685800"/>
            <a:chOff x="0" y="0"/>
            <a:chExt cx="9034272" cy="914400"/>
          </a:xfrm>
        </p:grpSpPr>
        <p:sp>
          <p:nvSpPr>
            <p:cNvPr id="117" name="Freeform 117"/>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118" name="TextBox 118"/>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Assignment trigger. CMCSA −13% same day</a:t>
              </a:r>
            </a:p>
          </p:txBody>
        </p:sp>
      </p:grpSp>
      <p:grpSp>
        <p:nvGrpSpPr>
          <p:cNvPr id="119" name="Group 119"/>
          <p:cNvGrpSpPr/>
          <p:nvPr/>
        </p:nvGrpSpPr>
        <p:grpSpPr>
          <a:xfrm>
            <a:off x="754380" y="7338060"/>
            <a:ext cx="16802100" cy="685800"/>
            <a:chOff x="0" y="0"/>
            <a:chExt cx="22402800" cy="914400"/>
          </a:xfrm>
        </p:grpSpPr>
        <p:sp>
          <p:nvSpPr>
            <p:cNvPr id="120" name="Freeform 120"/>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121" name="Group 121"/>
          <p:cNvGrpSpPr/>
          <p:nvPr/>
        </p:nvGrpSpPr>
        <p:grpSpPr>
          <a:xfrm>
            <a:off x="864108" y="7338060"/>
            <a:ext cx="2935224" cy="685800"/>
            <a:chOff x="0" y="0"/>
            <a:chExt cx="3913632" cy="914400"/>
          </a:xfrm>
        </p:grpSpPr>
        <p:sp>
          <p:nvSpPr>
            <p:cNvPr id="122" name="Freeform 122"/>
            <p:cNvSpPr/>
            <p:nvPr/>
          </p:nvSpPr>
          <p:spPr>
            <a:xfrm>
              <a:off x="0" y="0"/>
              <a:ext cx="3913632" cy="914400"/>
            </a:xfrm>
            <a:custGeom>
              <a:avLst/>
              <a:gdLst/>
              <a:ahLst/>
              <a:cxnLst/>
              <a:rect l="l" t="t" r="r" b="b"/>
              <a:pathLst>
                <a:path w="3913632" h="914400">
                  <a:moveTo>
                    <a:pt x="0" y="0"/>
                  </a:moveTo>
                  <a:lnTo>
                    <a:pt x="3913632" y="0"/>
                  </a:lnTo>
                  <a:lnTo>
                    <a:pt x="3913632" y="914400"/>
                  </a:lnTo>
                  <a:lnTo>
                    <a:pt x="0" y="914400"/>
                  </a:lnTo>
                  <a:close/>
                </a:path>
              </a:pathLst>
            </a:custGeom>
            <a:blipFill>
              <a:blip r:embed="rId3">
                <a:alphaModFix amt="0"/>
              </a:blip>
              <a:stretch>
                <a:fillRect t="-33395" b="-33395"/>
              </a:stretch>
            </a:blipFill>
          </p:spPr>
          <p:txBody>
            <a:bodyPr/>
            <a:lstStyle/>
            <a:p>
              <a:endParaRPr lang="en-US"/>
            </a:p>
          </p:txBody>
        </p:sp>
        <p:sp>
          <p:nvSpPr>
            <p:cNvPr id="123" name="TextBox 123"/>
            <p:cNvSpPr txBox="1"/>
            <p:nvPr/>
          </p:nvSpPr>
          <p:spPr>
            <a:xfrm>
              <a:off x="0" y="-38100"/>
              <a:ext cx="3913632" cy="952500"/>
            </a:xfrm>
            <a:prstGeom prst="rect">
              <a:avLst/>
            </a:prstGeom>
          </p:spPr>
          <p:txBody>
            <a:bodyPr lIns="0" tIns="0" rIns="0" bIns="0" rtlCol="0" anchor="ctr"/>
            <a:lstStyle/>
            <a:p>
              <a:pPr algn="l">
                <a:lnSpc>
                  <a:spcPts val="1800"/>
                </a:lnSpc>
              </a:pPr>
              <a:r>
                <a:rPr lang="en-US" sz="1500">
                  <a:solidFill>
                    <a:srgbClr val="171A1F"/>
                  </a:solidFill>
                  <a:latin typeface="Calibri"/>
                  <a:ea typeface="Calibri (MS)"/>
                  <a:cs typeface="Calibri"/>
                  <a:sym typeface="Calibri (MS)"/>
                </a:rPr>
                <a:t>Jul 24 2026 / Q2 2026*</a:t>
              </a:r>
            </a:p>
          </p:txBody>
        </p:sp>
      </p:grpSp>
      <p:grpSp>
        <p:nvGrpSpPr>
          <p:cNvPr id="124" name="Group 124"/>
          <p:cNvGrpSpPr/>
          <p:nvPr/>
        </p:nvGrpSpPr>
        <p:grpSpPr>
          <a:xfrm>
            <a:off x="4018788" y="7338060"/>
            <a:ext cx="1700784" cy="685800"/>
            <a:chOff x="0" y="0"/>
            <a:chExt cx="2267712" cy="914400"/>
          </a:xfrm>
        </p:grpSpPr>
        <p:sp>
          <p:nvSpPr>
            <p:cNvPr id="125" name="Freeform 125"/>
            <p:cNvSpPr/>
            <p:nvPr/>
          </p:nvSpPr>
          <p:spPr>
            <a:xfrm>
              <a:off x="0" y="0"/>
              <a:ext cx="2267712" cy="914400"/>
            </a:xfrm>
            <a:custGeom>
              <a:avLst/>
              <a:gdLst/>
              <a:ahLst/>
              <a:cxnLst/>
              <a:rect l="l" t="t" r="r" b="b"/>
              <a:pathLst>
                <a:path w="2267712" h="914400">
                  <a:moveTo>
                    <a:pt x="0" y="0"/>
                  </a:moveTo>
                  <a:lnTo>
                    <a:pt x="2267712" y="0"/>
                  </a:lnTo>
                  <a:lnTo>
                    <a:pt x="2267712" y="914400"/>
                  </a:lnTo>
                  <a:lnTo>
                    <a:pt x="0" y="914400"/>
                  </a:lnTo>
                  <a:close/>
                </a:path>
              </a:pathLst>
            </a:custGeom>
            <a:blipFill>
              <a:blip r:embed="rId3">
                <a:alphaModFix amt="0"/>
              </a:blip>
              <a:stretch>
                <a:fillRect l="-1735" r="-1735"/>
              </a:stretch>
            </a:blipFill>
          </p:spPr>
          <p:txBody>
            <a:bodyPr/>
            <a:lstStyle/>
            <a:p>
              <a:endParaRPr lang="en-US"/>
            </a:p>
          </p:txBody>
        </p:sp>
        <p:sp>
          <p:nvSpPr>
            <p:cNvPr id="126" name="TextBox 126"/>
            <p:cNvSpPr txBox="1"/>
            <p:nvPr/>
          </p:nvSpPr>
          <p:spPr>
            <a:xfrm>
              <a:off x="0" y="-38100"/>
              <a:ext cx="22677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−172k</a:t>
              </a:r>
            </a:p>
          </p:txBody>
        </p:sp>
      </p:grpSp>
      <p:grpSp>
        <p:nvGrpSpPr>
          <p:cNvPr id="127" name="Group 127"/>
          <p:cNvGrpSpPr/>
          <p:nvPr/>
        </p:nvGrpSpPr>
        <p:grpSpPr>
          <a:xfrm>
            <a:off x="5939028" y="7338060"/>
            <a:ext cx="2386584" cy="685800"/>
            <a:chOff x="0" y="0"/>
            <a:chExt cx="3182112" cy="914400"/>
          </a:xfrm>
        </p:grpSpPr>
        <p:sp>
          <p:nvSpPr>
            <p:cNvPr id="128" name="Freeform 128"/>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129" name="TextBox 129"/>
            <p:cNvSpPr txBox="1"/>
            <p:nvPr/>
          </p:nvSpPr>
          <p:spPr>
            <a:xfrm>
              <a:off x="0" y="-38100"/>
              <a:ext cx="318211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worse than −116k</a:t>
              </a:r>
            </a:p>
          </p:txBody>
        </p:sp>
      </p:grpSp>
      <p:grpSp>
        <p:nvGrpSpPr>
          <p:cNvPr id="130" name="Group 130"/>
          <p:cNvGrpSpPr/>
          <p:nvPr/>
        </p:nvGrpSpPr>
        <p:grpSpPr>
          <a:xfrm>
            <a:off x="8545068" y="7338060"/>
            <a:ext cx="1906524" cy="685800"/>
            <a:chOff x="0" y="0"/>
            <a:chExt cx="2542032" cy="914400"/>
          </a:xfrm>
        </p:grpSpPr>
        <p:sp>
          <p:nvSpPr>
            <p:cNvPr id="131" name="Freeform 131"/>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32" name="TextBox 132"/>
            <p:cNvSpPr txBox="1"/>
            <p:nvPr/>
          </p:nvSpPr>
          <p:spPr>
            <a:xfrm>
              <a:off x="0" y="-38100"/>
              <a:ext cx="2542032" cy="952500"/>
            </a:xfrm>
            <a:prstGeom prst="rect">
              <a:avLst/>
            </a:prstGeom>
          </p:spPr>
          <p:txBody>
            <a:bodyPr lIns="0" tIns="0" rIns="0" bIns="0" rtlCol="0" anchor="ctr"/>
            <a:lstStyle/>
            <a:p>
              <a:pPr algn="l">
                <a:lnSpc>
                  <a:spcPts val="1800"/>
                </a:lnSpc>
              </a:pPr>
              <a:r>
                <a:rPr lang="en-US" sz="1500" b="1">
                  <a:solidFill>
                    <a:srgbClr val="0099D8"/>
                  </a:solidFill>
                  <a:latin typeface="Calibri"/>
                  <a:ea typeface="Calibri (MS) Bold"/>
                  <a:cs typeface="Calibri"/>
                  <a:sym typeface="Calibri (MS) Bold"/>
                </a:rPr>
                <a:t>−2.5% close / −11.6% open</a:t>
              </a:r>
            </a:p>
          </p:txBody>
        </p:sp>
      </p:grpSp>
      <p:grpSp>
        <p:nvGrpSpPr>
          <p:cNvPr id="133" name="Group 133"/>
          <p:cNvGrpSpPr/>
          <p:nvPr/>
        </p:nvGrpSpPr>
        <p:grpSpPr>
          <a:xfrm>
            <a:off x="10671048" y="7338060"/>
            <a:ext cx="6775704" cy="685800"/>
            <a:chOff x="0" y="0"/>
            <a:chExt cx="9034272" cy="914400"/>
          </a:xfrm>
        </p:grpSpPr>
        <p:sp>
          <p:nvSpPr>
            <p:cNvPr id="134" name="Freeform 134"/>
            <p:cNvSpPr/>
            <p:nvPr/>
          </p:nvSpPr>
          <p:spPr>
            <a:xfrm>
              <a:off x="0" y="0"/>
              <a:ext cx="9034272" cy="914400"/>
            </a:xfrm>
            <a:custGeom>
              <a:avLst/>
              <a:gdLst/>
              <a:ahLst/>
              <a:cxnLst/>
              <a:rect l="l" t="t" r="r" b="b"/>
              <a:pathLst>
                <a:path w="9034272" h="914400">
                  <a:moveTo>
                    <a:pt x="0" y="0"/>
                  </a:moveTo>
                  <a:lnTo>
                    <a:pt x="9034272" y="0"/>
                  </a:lnTo>
                  <a:lnTo>
                    <a:pt x="9034272" y="914400"/>
                  </a:lnTo>
                  <a:lnTo>
                    <a:pt x="0" y="914400"/>
                  </a:lnTo>
                  <a:close/>
                </a:path>
              </a:pathLst>
            </a:custGeom>
            <a:blipFill>
              <a:blip r:embed="rId3">
                <a:alphaModFix amt="0"/>
              </a:blip>
              <a:stretch>
                <a:fillRect t="-142512" b="-142512"/>
              </a:stretch>
            </a:blipFill>
          </p:spPr>
          <p:txBody>
            <a:bodyPr/>
            <a:lstStyle/>
            <a:p>
              <a:endParaRPr lang="en-US"/>
            </a:p>
          </p:txBody>
        </p:sp>
        <p:sp>
          <p:nvSpPr>
            <p:cNvPr id="135" name="TextBox 135"/>
            <p:cNvSpPr txBox="1"/>
            <p:nvPr/>
          </p:nvSpPr>
          <p:spPr>
            <a:xfrm>
              <a:off x="0" y="-38100"/>
              <a:ext cx="9034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Later public fact; already de-rated, the market stopped listening</a:t>
              </a:r>
            </a:p>
          </p:txBody>
        </p:sp>
      </p:grpSp>
      <p:grpSp>
        <p:nvGrpSpPr>
          <p:cNvPr id="136" name="Group 136"/>
          <p:cNvGrpSpPr/>
          <p:nvPr/>
        </p:nvGrpSpPr>
        <p:grpSpPr>
          <a:xfrm>
            <a:off x="754380" y="8161020"/>
            <a:ext cx="16802100" cy="617220"/>
            <a:chOff x="0" y="0"/>
            <a:chExt cx="22402800" cy="822960"/>
          </a:xfrm>
        </p:grpSpPr>
        <p:sp>
          <p:nvSpPr>
            <p:cNvPr id="137" name="Freeform 137"/>
            <p:cNvSpPr/>
            <p:nvPr/>
          </p:nvSpPr>
          <p:spPr>
            <a:xfrm>
              <a:off x="0" y="0"/>
              <a:ext cx="22402800" cy="822960"/>
            </a:xfrm>
            <a:custGeom>
              <a:avLst/>
              <a:gdLst/>
              <a:ahLst/>
              <a:cxnLst/>
              <a:rect l="l" t="t" r="r" b="b"/>
              <a:pathLst>
                <a:path w="22402800" h="822960">
                  <a:moveTo>
                    <a:pt x="0" y="0"/>
                  </a:moveTo>
                  <a:lnTo>
                    <a:pt x="22402800" y="0"/>
                  </a:lnTo>
                  <a:lnTo>
                    <a:pt x="22402800" y="822960"/>
                  </a:lnTo>
                  <a:lnTo>
                    <a:pt x="0" y="822960"/>
                  </a:lnTo>
                  <a:close/>
                </a:path>
              </a:pathLst>
            </a:custGeom>
            <a:blipFill>
              <a:blip r:embed="rId3">
                <a:alphaModFix amt="0"/>
              </a:blip>
              <a:stretch>
                <a:fillRect t="-480426" b="-480426"/>
              </a:stretch>
            </a:blipFill>
          </p:spPr>
          <p:txBody>
            <a:bodyPr/>
            <a:lstStyle/>
            <a:p>
              <a:endParaRPr lang="en-US"/>
            </a:p>
          </p:txBody>
        </p:sp>
        <p:sp>
          <p:nvSpPr>
            <p:cNvPr id="138" name="TextBox 138"/>
            <p:cNvSpPr txBox="1"/>
            <p:nvPr/>
          </p:nvSpPr>
          <p:spPr>
            <a:xfrm>
              <a:off x="0" y="-28575"/>
              <a:ext cx="22402800" cy="851535"/>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Closes (Yahoo): Jan 31 2025 $336.62→$345.49; Apr 25 2025 $335.33→$373.65; Jul 25 2025 $380.00→$309.75; Oct 31 2025 $230.92→$233.84 (open $218); Jan 30 2026 $191.52→$206.12; Apr 24 2026 $241.78→$180.13; Jul 24 2026 $126.50→$123.31 (open $111.80).</a:t>
              </a:r>
            </a:p>
          </p:txBody>
        </p:sp>
      </p:grpSp>
      <p:grpSp>
        <p:nvGrpSpPr>
          <p:cNvPr id="139" name="Group 139"/>
          <p:cNvGrpSpPr/>
          <p:nvPr/>
        </p:nvGrpSpPr>
        <p:grpSpPr>
          <a:xfrm>
            <a:off x="754380" y="8805672"/>
            <a:ext cx="16733520" cy="356616"/>
            <a:chOff x="0" y="0"/>
            <a:chExt cx="22311360" cy="475488"/>
          </a:xfrm>
        </p:grpSpPr>
        <p:sp>
          <p:nvSpPr>
            <p:cNvPr id="140" name="Freeform 140"/>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41" name="TextBox 141"/>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Yahoo Finance daily closes on earnings dates; not split-adjusted (no CHTR split in period). Analysis, not a filing.</a:t>
              </a:r>
            </a:p>
          </p:txBody>
        </p:sp>
      </p:grpSp>
      <p:grpSp>
        <p:nvGrpSpPr>
          <p:cNvPr id="142" name="Group 142"/>
          <p:cNvGrpSpPr/>
          <p:nvPr/>
        </p:nvGrpSpPr>
        <p:grpSpPr>
          <a:xfrm>
            <a:off x="754380" y="9189720"/>
            <a:ext cx="16733520" cy="411480"/>
            <a:chOff x="0" y="0"/>
            <a:chExt cx="22311360" cy="548640"/>
          </a:xfrm>
        </p:grpSpPr>
        <p:sp>
          <p:nvSpPr>
            <p:cNvPr id="143" name="Freeform 14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44" name="TextBox 14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(p.4)</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45" name="Group 145"/>
          <p:cNvGrpSpPr/>
          <p:nvPr/>
        </p:nvGrpSpPr>
        <p:grpSpPr>
          <a:xfrm>
            <a:off x="17076420" y="9669780"/>
            <a:ext cx="960120" cy="411480"/>
            <a:chOff x="0" y="0"/>
            <a:chExt cx="1280160" cy="548640"/>
          </a:xfrm>
        </p:grpSpPr>
        <p:sp>
          <p:nvSpPr>
            <p:cNvPr id="146" name="Freeform 14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47" name="TextBox 14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18</a:t>
              </a:r>
            </a:p>
          </p:txBody>
        </p:sp>
      </p:grpSp>
      <p:grpSp>
        <p:nvGrpSpPr>
          <p:cNvPr id="148" name="Group 148"/>
          <p:cNvGrpSpPr/>
          <p:nvPr/>
        </p:nvGrpSpPr>
        <p:grpSpPr>
          <a:xfrm>
            <a:off x="754380" y="9669780"/>
            <a:ext cx="16047720" cy="411480"/>
            <a:chOff x="0" y="0"/>
            <a:chExt cx="21396960" cy="548640"/>
          </a:xfrm>
        </p:grpSpPr>
        <p:sp>
          <p:nvSpPr>
            <p:cNvPr id="149" name="Freeform 14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50" name="TextBox 15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A8  ·  INDUSTRY OR CHARTER?</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Industry Structure Is in the Multiple; the Rest Is Charter</a:t>
            </a:r>
          </a:p>
        </p:txBody>
      </p:sp>
      <p:grpSp>
        <p:nvGrpSpPr>
          <p:cNvPr id="7" name="Group 7"/>
          <p:cNvGrpSpPr/>
          <p:nvPr/>
        </p:nvGrpSpPr>
        <p:grpSpPr>
          <a:xfrm>
            <a:off x="6858000" y="2606040"/>
            <a:ext cx="10698480" cy="521208"/>
            <a:chOff x="0" y="0"/>
            <a:chExt cx="14264640" cy="694944"/>
          </a:xfrm>
        </p:grpSpPr>
        <p:sp>
          <p:nvSpPr>
            <p:cNvPr id="8" name="Freeform 8"/>
            <p:cNvSpPr/>
            <p:nvPr/>
          </p:nvSpPr>
          <p:spPr>
            <a:xfrm>
              <a:off x="0" y="0"/>
              <a:ext cx="14264639" cy="694944"/>
            </a:xfrm>
            <a:custGeom>
              <a:avLst/>
              <a:gdLst/>
              <a:ahLst/>
              <a:cxnLst/>
              <a:rect l="l" t="t" r="r" b="b"/>
              <a:pathLst>
                <a:path w="14264639" h="694944">
                  <a:moveTo>
                    <a:pt x="0" y="0"/>
                  </a:moveTo>
                  <a:lnTo>
                    <a:pt x="14264639" y="0"/>
                  </a:lnTo>
                  <a:lnTo>
                    <a:pt x="14264639" y="694944"/>
                  </a:lnTo>
                  <a:lnTo>
                    <a:pt x="0" y="694944"/>
                  </a:lnTo>
                  <a:close/>
                </a:path>
              </a:pathLst>
            </a:custGeom>
            <a:solidFill>
              <a:srgbClr val="003057"/>
            </a:solidFill>
          </p:spPr>
          <p:txBody>
            <a:bodyPr/>
            <a:lstStyle/>
            <a:p>
              <a:endParaRPr lang="en-US"/>
            </a:p>
          </p:txBody>
        </p:sp>
      </p:grpSp>
      <p:grpSp>
        <p:nvGrpSpPr>
          <p:cNvPr id="9" name="Group 9"/>
          <p:cNvGrpSpPr/>
          <p:nvPr/>
        </p:nvGrpSpPr>
        <p:grpSpPr>
          <a:xfrm>
            <a:off x="6967728" y="2606040"/>
            <a:ext cx="3758184" cy="521208"/>
            <a:chOff x="0" y="0"/>
            <a:chExt cx="5010912" cy="694944"/>
          </a:xfrm>
        </p:grpSpPr>
        <p:sp>
          <p:nvSpPr>
            <p:cNvPr id="10" name="Freeform 10"/>
            <p:cNvSpPr/>
            <p:nvPr/>
          </p:nvSpPr>
          <p:spPr>
            <a:xfrm>
              <a:off x="0" y="0"/>
              <a:ext cx="5010912" cy="694944"/>
            </a:xfrm>
            <a:custGeom>
              <a:avLst/>
              <a:gdLst/>
              <a:ahLst/>
              <a:cxnLst/>
              <a:rect l="l" t="t" r="r" b="b"/>
              <a:pathLst>
                <a:path w="5010912" h="694944">
                  <a:moveTo>
                    <a:pt x="0" y="0"/>
                  </a:moveTo>
                  <a:lnTo>
                    <a:pt x="5010912" y="0"/>
                  </a:lnTo>
                  <a:lnTo>
                    <a:pt x="5010912" y="694944"/>
                  </a:lnTo>
                  <a:lnTo>
                    <a:pt x="0" y="694944"/>
                  </a:lnTo>
                  <a:close/>
                </a:path>
              </a:pathLst>
            </a:custGeom>
            <a:blipFill>
              <a:blip r:embed="rId3">
                <a:alphaModFix amt="0"/>
              </a:blip>
              <a:stretch>
                <a:fillRect t="-90497" b="-90497"/>
              </a:stretch>
            </a:blipFill>
          </p:spPr>
          <p:txBody>
            <a:bodyPr/>
            <a:lstStyle/>
            <a:p>
              <a:endParaRPr lang="en-US"/>
            </a:p>
          </p:txBody>
        </p:sp>
        <p:sp>
          <p:nvSpPr>
            <p:cNvPr id="11" name="TextBox 11"/>
            <p:cNvSpPr txBox="1"/>
            <p:nvPr/>
          </p:nvSpPr>
          <p:spPr>
            <a:xfrm>
              <a:off x="0" y="-38100"/>
              <a:ext cx="5010912" cy="733044"/>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Snapshot (~Apr 2026)</a:t>
              </a:r>
            </a:p>
          </p:txBody>
        </p:sp>
      </p:grpSp>
      <p:grpSp>
        <p:nvGrpSpPr>
          <p:cNvPr id="12" name="Group 12"/>
          <p:cNvGrpSpPr/>
          <p:nvPr/>
        </p:nvGrpSpPr>
        <p:grpSpPr>
          <a:xfrm>
            <a:off x="10945368" y="2606040"/>
            <a:ext cx="2318004" cy="521208"/>
            <a:chOff x="0" y="0"/>
            <a:chExt cx="3090672" cy="694944"/>
          </a:xfrm>
        </p:grpSpPr>
        <p:sp>
          <p:nvSpPr>
            <p:cNvPr id="13" name="Freeform 13"/>
            <p:cNvSpPr/>
            <p:nvPr/>
          </p:nvSpPr>
          <p:spPr>
            <a:xfrm>
              <a:off x="0" y="0"/>
              <a:ext cx="3090672" cy="694944"/>
            </a:xfrm>
            <a:custGeom>
              <a:avLst/>
              <a:gdLst/>
              <a:ahLst/>
              <a:cxnLst/>
              <a:rect l="l" t="t" r="r" b="b"/>
              <a:pathLst>
                <a:path w="3090672" h="694944">
                  <a:moveTo>
                    <a:pt x="0" y="0"/>
                  </a:moveTo>
                  <a:lnTo>
                    <a:pt x="3090672" y="0"/>
                  </a:lnTo>
                  <a:lnTo>
                    <a:pt x="3090672" y="694944"/>
                  </a:lnTo>
                  <a:lnTo>
                    <a:pt x="0" y="694944"/>
                  </a:lnTo>
                  <a:close/>
                </a:path>
              </a:pathLst>
            </a:custGeom>
            <a:blipFill>
              <a:blip r:embed="rId3">
                <a:alphaModFix amt="0"/>
              </a:blip>
              <a:stretch>
                <a:fillRect t="-36657" b="-36657"/>
              </a:stretch>
            </a:blipFill>
          </p:spPr>
          <p:txBody>
            <a:bodyPr/>
            <a:lstStyle/>
            <a:p>
              <a:endParaRPr lang="en-US"/>
            </a:p>
          </p:txBody>
        </p:sp>
        <p:sp>
          <p:nvSpPr>
            <p:cNvPr id="14" name="TextBox 14"/>
            <p:cNvSpPr txBox="1"/>
            <p:nvPr/>
          </p:nvSpPr>
          <p:spPr>
            <a:xfrm>
              <a:off x="0" y="-38100"/>
              <a:ext cx="3090672" cy="733044"/>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CHTR</a:t>
              </a:r>
            </a:p>
          </p:txBody>
        </p:sp>
      </p:grpSp>
      <p:grpSp>
        <p:nvGrpSpPr>
          <p:cNvPr id="15" name="Group 15"/>
          <p:cNvGrpSpPr/>
          <p:nvPr/>
        </p:nvGrpSpPr>
        <p:grpSpPr>
          <a:xfrm>
            <a:off x="13482828" y="2606040"/>
            <a:ext cx="2318004" cy="521208"/>
            <a:chOff x="0" y="0"/>
            <a:chExt cx="3090672" cy="694944"/>
          </a:xfrm>
        </p:grpSpPr>
        <p:sp>
          <p:nvSpPr>
            <p:cNvPr id="16" name="Freeform 16"/>
            <p:cNvSpPr/>
            <p:nvPr/>
          </p:nvSpPr>
          <p:spPr>
            <a:xfrm>
              <a:off x="0" y="0"/>
              <a:ext cx="3090672" cy="694944"/>
            </a:xfrm>
            <a:custGeom>
              <a:avLst/>
              <a:gdLst/>
              <a:ahLst/>
              <a:cxnLst/>
              <a:rect l="l" t="t" r="r" b="b"/>
              <a:pathLst>
                <a:path w="3090672" h="694944">
                  <a:moveTo>
                    <a:pt x="0" y="0"/>
                  </a:moveTo>
                  <a:lnTo>
                    <a:pt x="3090672" y="0"/>
                  </a:lnTo>
                  <a:lnTo>
                    <a:pt x="3090672" y="694944"/>
                  </a:lnTo>
                  <a:lnTo>
                    <a:pt x="0" y="694944"/>
                  </a:lnTo>
                  <a:close/>
                </a:path>
              </a:pathLst>
            </a:custGeom>
            <a:blipFill>
              <a:blip r:embed="rId3">
                <a:alphaModFix amt="0"/>
              </a:blip>
              <a:stretch>
                <a:fillRect t="-36657" b="-36657"/>
              </a:stretch>
            </a:blipFill>
          </p:spPr>
          <p:txBody>
            <a:bodyPr/>
            <a:lstStyle/>
            <a:p>
              <a:endParaRPr lang="en-US"/>
            </a:p>
          </p:txBody>
        </p:sp>
        <p:sp>
          <p:nvSpPr>
            <p:cNvPr id="17" name="TextBox 17"/>
            <p:cNvSpPr txBox="1"/>
            <p:nvPr/>
          </p:nvSpPr>
          <p:spPr>
            <a:xfrm>
              <a:off x="0" y="-38100"/>
              <a:ext cx="3090672" cy="733044"/>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CMCSA</a:t>
              </a:r>
            </a:p>
          </p:txBody>
        </p:sp>
      </p:grpSp>
      <p:grpSp>
        <p:nvGrpSpPr>
          <p:cNvPr id="18" name="Group 18"/>
          <p:cNvGrpSpPr/>
          <p:nvPr/>
        </p:nvGrpSpPr>
        <p:grpSpPr>
          <a:xfrm>
            <a:off x="16020288" y="2606040"/>
            <a:ext cx="1426464" cy="521208"/>
            <a:chOff x="0" y="0"/>
            <a:chExt cx="1901952" cy="694944"/>
          </a:xfrm>
        </p:grpSpPr>
        <p:sp>
          <p:nvSpPr>
            <p:cNvPr id="19" name="Freeform 19"/>
            <p:cNvSpPr/>
            <p:nvPr/>
          </p:nvSpPr>
          <p:spPr>
            <a:xfrm>
              <a:off x="0" y="0"/>
              <a:ext cx="1901952" cy="694944"/>
            </a:xfrm>
            <a:custGeom>
              <a:avLst/>
              <a:gdLst/>
              <a:ahLst/>
              <a:cxnLst/>
              <a:rect l="l" t="t" r="r" b="b"/>
              <a:pathLst>
                <a:path w="1901952" h="694944">
                  <a:moveTo>
                    <a:pt x="0" y="0"/>
                  </a:moveTo>
                  <a:lnTo>
                    <a:pt x="1901952" y="0"/>
                  </a:lnTo>
                  <a:lnTo>
                    <a:pt x="1901952" y="694944"/>
                  </a:lnTo>
                  <a:lnTo>
                    <a:pt x="0" y="694944"/>
                  </a:lnTo>
                  <a:close/>
                </a:path>
              </a:pathLst>
            </a:custGeom>
            <a:blipFill>
              <a:blip r:embed="rId3">
                <a:alphaModFix amt="0"/>
              </a:blip>
              <a:stretch>
                <a:fillRect t="-3327" b="-3327"/>
              </a:stretch>
            </a:blipFill>
          </p:spPr>
          <p:txBody>
            <a:bodyPr/>
            <a:lstStyle/>
            <a:p>
              <a:endParaRPr lang="en-US"/>
            </a:p>
          </p:txBody>
        </p:sp>
        <p:sp>
          <p:nvSpPr>
            <p:cNvPr id="20" name="TextBox 20"/>
            <p:cNvSpPr txBox="1"/>
            <p:nvPr/>
          </p:nvSpPr>
          <p:spPr>
            <a:xfrm>
              <a:off x="0" y="-38100"/>
              <a:ext cx="1901952" cy="733044"/>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Read</a:t>
              </a:r>
            </a:p>
          </p:txBody>
        </p:sp>
      </p:grpSp>
      <p:grpSp>
        <p:nvGrpSpPr>
          <p:cNvPr id="21" name="Group 21"/>
          <p:cNvGrpSpPr/>
          <p:nvPr/>
        </p:nvGrpSpPr>
        <p:grpSpPr>
          <a:xfrm>
            <a:off x="6858000" y="3127248"/>
            <a:ext cx="10698480" cy="850392"/>
            <a:chOff x="0" y="0"/>
            <a:chExt cx="14264640" cy="1133856"/>
          </a:xfrm>
        </p:grpSpPr>
        <p:sp>
          <p:nvSpPr>
            <p:cNvPr id="22" name="Freeform 22"/>
            <p:cNvSpPr/>
            <p:nvPr/>
          </p:nvSpPr>
          <p:spPr>
            <a:xfrm>
              <a:off x="0" y="0"/>
              <a:ext cx="14264639" cy="1133856"/>
            </a:xfrm>
            <a:custGeom>
              <a:avLst/>
              <a:gdLst/>
              <a:ahLst/>
              <a:cxnLst/>
              <a:rect l="l" t="t" r="r" b="b"/>
              <a:pathLst>
                <a:path w="14264639" h="1133856">
                  <a:moveTo>
                    <a:pt x="0" y="0"/>
                  </a:moveTo>
                  <a:lnTo>
                    <a:pt x="14264639" y="0"/>
                  </a:lnTo>
                  <a:lnTo>
                    <a:pt x="14264639" y="1133856"/>
                  </a:lnTo>
                  <a:lnTo>
                    <a:pt x="0" y="1133856"/>
                  </a:lnTo>
                  <a:close/>
                </a:path>
              </a:pathLst>
            </a:custGeom>
            <a:solidFill>
              <a:srgbClr val="EEF4FB"/>
            </a:solidFill>
          </p:spPr>
          <p:txBody>
            <a:bodyPr/>
            <a:lstStyle/>
            <a:p>
              <a:endParaRPr lang="en-US"/>
            </a:p>
          </p:txBody>
        </p:sp>
      </p:grpSp>
      <p:grpSp>
        <p:nvGrpSpPr>
          <p:cNvPr id="23" name="Group 23"/>
          <p:cNvGrpSpPr/>
          <p:nvPr/>
        </p:nvGrpSpPr>
        <p:grpSpPr>
          <a:xfrm>
            <a:off x="6967728" y="3127248"/>
            <a:ext cx="3758184" cy="850392"/>
            <a:chOff x="0" y="0"/>
            <a:chExt cx="5010912" cy="1133856"/>
          </a:xfrm>
        </p:grpSpPr>
        <p:sp>
          <p:nvSpPr>
            <p:cNvPr id="24" name="Freeform 24"/>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25" name="TextBox 25"/>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EV / EBITDA (published)</a:t>
              </a:r>
            </a:p>
          </p:txBody>
        </p:sp>
      </p:grpSp>
      <p:grpSp>
        <p:nvGrpSpPr>
          <p:cNvPr id="26" name="Group 26"/>
          <p:cNvGrpSpPr/>
          <p:nvPr/>
        </p:nvGrpSpPr>
        <p:grpSpPr>
          <a:xfrm>
            <a:off x="10945368" y="3127248"/>
            <a:ext cx="2318004" cy="850392"/>
            <a:chOff x="0" y="0"/>
            <a:chExt cx="3090672" cy="1133856"/>
          </a:xfrm>
        </p:grpSpPr>
        <p:sp>
          <p:nvSpPr>
            <p:cNvPr id="27" name="Freeform 27"/>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28" name="TextBox 28"/>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~6.1x</a:t>
              </a:r>
            </a:p>
          </p:txBody>
        </p:sp>
      </p:grpSp>
      <p:grpSp>
        <p:nvGrpSpPr>
          <p:cNvPr id="29" name="Group 29"/>
          <p:cNvGrpSpPr/>
          <p:nvPr/>
        </p:nvGrpSpPr>
        <p:grpSpPr>
          <a:xfrm>
            <a:off x="13482828" y="3127248"/>
            <a:ext cx="2318004" cy="850392"/>
            <a:chOff x="0" y="0"/>
            <a:chExt cx="3090672" cy="1133856"/>
          </a:xfrm>
        </p:grpSpPr>
        <p:sp>
          <p:nvSpPr>
            <p:cNvPr id="30" name="Freeform 30"/>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31" name="TextBox 31"/>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~5.7x / 5.5x fwd</a:t>
              </a:r>
            </a:p>
          </p:txBody>
        </p:sp>
      </p:grpSp>
      <p:grpSp>
        <p:nvGrpSpPr>
          <p:cNvPr id="32" name="Group 32"/>
          <p:cNvGrpSpPr/>
          <p:nvPr/>
        </p:nvGrpSpPr>
        <p:grpSpPr>
          <a:xfrm>
            <a:off x="16020288" y="3127248"/>
            <a:ext cx="1426464" cy="850392"/>
            <a:chOff x="0" y="0"/>
            <a:chExt cx="1901952" cy="1133856"/>
          </a:xfrm>
        </p:grpSpPr>
        <p:sp>
          <p:nvSpPr>
            <p:cNvPr id="33" name="Freeform 33"/>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34" name="TextBox 34"/>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Same neighborhood</a:t>
              </a:r>
            </a:p>
          </p:txBody>
        </p:sp>
      </p:grpSp>
      <p:grpSp>
        <p:nvGrpSpPr>
          <p:cNvPr id="35" name="Group 35"/>
          <p:cNvGrpSpPr/>
          <p:nvPr/>
        </p:nvGrpSpPr>
        <p:grpSpPr>
          <a:xfrm>
            <a:off x="6967728" y="3977640"/>
            <a:ext cx="3758184" cy="850392"/>
            <a:chOff x="0" y="0"/>
            <a:chExt cx="5010912" cy="1133856"/>
          </a:xfrm>
        </p:grpSpPr>
        <p:sp>
          <p:nvSpPr>
            <p:cNvPr id="36" name="Freeform 36"/>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37" name="TextBox 37"/>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LTM EV/EBITDA path (CHTR)</a:t>
              </a:r>
            </a:p>
          </p:txBody>
        </p:sp>
      </p:grpSp>
      <p:grpSp>
        <p:nvGrpSpPr>
          <p:cNvPr id="38" name="Group 38"/>
          <p:cNvGrpSpPr/>
          <p:nvPr/>
        </p:nvGrpSpPr>
        <p:grpSpPr>
          <a:xfrm>
            <a:off x="10945368" y="3977640"/>
            <a:ext cx="2318004" cy="850392"/>
            <a:chOff x="0" y="0"/>
            <a:chExt cx="3090672" cy="1133856"/>
          </a:xfrm>
        </p:grpSpPr>
        <p:sp>
          <p:nvSpPr>
            <p:cNvPr id="39" name="Freeform 39"/>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40" name="TextBox 40"/>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5.8x YE25 → 5.6x Q2 26</a:t>
              </a:r>
            </a:p>
          </p:txBody>
        </p:sp>
      </p:grpSp>
      <p:grpSp>
        <p:nvGrpSpPr>
          <p:cNvPr id="41" name="Group 41"/>
          <p:cNvGrpSpPr/>
          <p:nvPr/>
        </p:nvGrpSpPr>
        <p:grpSpPr>
          <a:xfrm>
            <a:off x="13482828" y="3977640"/>
            <a:ext cx="2318004" cy="850392"/>
            <a:chOff x="0" y="0"/>
            <a:chExt cx="3090672" cy="1133856"/>
          </a:xfrm>
        </p:grpSpPr>
        <p:sp>
          <p:nvSpPr>
            <p:cNvPr id="42" name="Freeform 42"/>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43" name="TextBox 43"/>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44" name="Group 44"/>
          <p:cNvGrpSpPr/>
          <p:nvPr/>
        </p:nvGrpSpPr>
        <p:grpSpPr>
          <a:xfrm>
            <a:off x="16020288" y="3977640"/>
            <a:ext cx="1426464" cy="850392"/>
            <a:chOff x="0" y="0"/>
            <a:chExt cx="1901952" cy="1133856"/>
          </a:xfrm>
        </p:grpSpPr>
        <p:sp>
          <p:nvSpPr>
            <p:cNvPr id="45" name="Freeform 45"/>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46" name="TextBox 46"/>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Compressed as print worsened</a:t>
              </a:r>
            </a:p>
          </p:txBody>
        </p:sp>
      </p:grpSp>
      <p:grpSp>
        <p:nvGrpSpPr>
          <p:cNvPr id="47" name="Group 47"/>
          <p:cNvGrpSpPr/>
          <p:nvPr/>
        </p:nvGrpSpPr>
        <p:grpSpPr>
          <a:xfrm>
            <a:off x="6858000" y="4828032"/>
            <a:ext cx="10698480" cy="850392"/>
            <a:chOff x="0" y="0"/>
            <a:chExt cx="14264640" cy="1133856"/>
          </a:xfrm>
        </p:grpSpPr>
        <p:sp>
          <p:nvSpPr>
            <p:cNvPr id="48" name="Freeform 48"/>
            <p:cNvSpPr/>
            <p:nvPr/>
          </p:nvSpPr>
          <p:spPr>
            <a:xfrm>
              <a:off x="0" y="0"/>
              <a:ext cx="14264639" cy="1133856"/>
            </a:xfrm>
            <a:custGeom>
              <a:avLst/>
              <a:gdLst/>
              <a:ahLst/>
              <a:cxnLst/>
              <a:rect l="l" t="t" r="r" b="b"/>
              <a:pathLst>
                <a:path w="14264639" h="1133856">
                  <a:moveTo>
                    <a:pt x="0" y="0"/>
                  </a:moveTo>
                  <a:lnTo>
                    <a:pt x="14264639" y="0"/>
                  </a:lnTo>
                  <a:lnTo>
                    <a:pt x="14264639" y="1133856"/>
                  </a:lnTo>
                  <a:lnTo>
                    <a:pt x="0" y="1133856"/>
                  </a:lnTo>
                  <a:close/>
                </a:path>
              </a:pathLst>
            </a:custGeom>
            <a:solidFill>
              <a:srgbClr val="EEF4FB"/>
            </a:solidFill>
          </p:spPr>
          <p:txBody>
            <a:bodyPr/>
            <a:lstStyle/>
            <a:p>
              <a:endParaRPr lang="en-US"/>
            </a:p>
          </p:txBody>
        </p:sp>
      </p:grpSp>
      <p:grpSp>
        <p:nvGrpSpPr>
          <p:cNvPr id="49" name="Group 49"/>
          <p:cNvGrpSpPr/>
          <p:nvPr/>
        </p:nvGrpSpPr>
        <p:grpSpPr>
          <a:xfrm>
            <a:off x="6967728" y="4828032"/>
            <a:ext cx="3758184" cy="850392"/>
            <a:chOff x="0" y="0"/>
            <a:chExt cx="5010912" cy="1133856"/>
          </a:xfrm>
        </p:grpSpPr>
        <p:sp>
          <p:nvSpPr>
            <p:cNvPr id="50" name="Freeform 50"/>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51" name="TextBox 51"/>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FCF (FY2025)</a:t>
              </a:r>
            </a:p>
          </p:txBody>
        </p:sp>
      </p:grpSp>
      <p:grpSp>
        <p:nvGrpSpPr>
          <p:cNvPr id="52" name="Group 52"/>
          <p:cNvGrpSpPr/>
          <p:nvPr/>
        </p:nvGrpSpPr>
        <p:grpSpPr>
          <a:xfrm>
            <a:off x="10945368" y="4828032"/>
            <a:ext cx="2318004" cy="850392"/>
            <a:chOff x="0" y="0"/>
            <a:chExt cx="3090672" cy="1133856"/>
          </a:xfrm>
        </p:grpSpPr>
        <p:sp>
          <p:nvSpPr>
            <p:cNvPr id="53" name="Freeform 53"/>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54" name="TextBox 54"/>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$5.0B</a:t>
              </a:r>
            </a:p>
          </p:txBody>
        </p:sp>
      </p:grpSp>
      <p:grpSp>
        <p:nvGrpSpPr>
          <p:cNvPr id="55" name="Group 55"/>
          <p:cNvGrpSpPr/>
          <p:nvPr/>
        </p:nvGrpSpPr>
        <p:grpSpPr>
          <a:xfrm>
            <a:off x="13482828" y="4828032"/>
            <a:ext cx="2318004" cy="850392"/>
            <a:chOff x="0" y="0"/>
            <a:chExt cx="3090672" cy="1133856"/>
          </a:xfrm>
        </p:grpSpPr>
        <p:sp>
          <p:nvSpPr>
            <p:cNvPr id="56" name="Freeform 56"/>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57" name="TextBox 57"/>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$19.2B</a:t>
              </a:r>
            </a:p>
          </p:txBody>
        </p:sp>
      </p:grpSp>
      <p:grpSp>
        <p:nvGrpSpPr>
          <p:cNvPr id="58" name="Group 58"/>
          <p:cNvGrpSpPr/>
          <p:nvPr/>
        </p:nvGrpSpPr>
        <p:grpSpPr>
          <a:xfrm>
            <a:off x="16020288" y="4828032"/>
            <a:ext cx="1426464" cy="850392"/>
            <a:chOff x="0" y="0"/>
            <a:chExt cx="1901952" cy="1133856"/>
          </a:xfrm>
        </p:grpSpPr>
        <p:sp>
          <p:nvSpPr>
            <p:cNvPr id="59" name="Freeform 59"/>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60" name="TextBox 60"/>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Both cash-generative</a:t>
              </a:r>
            </a:p>
          </p:txBody>
        </p:sp>
      </p:grpSp>
      <p:grpSp>
        <p:nvGrpSpPr>
          <p:cNvPr id="61" name="Group 61"/>
          <p:cNvGrpSpPr/>
          <p:nvPr/>
        </p:nvGrpSpPr>
        <p:grpSpPr>
          <a:xfrm>
            <a:off x="6967728" y="5678424"/>
            <a:ext cx="3758184" cy="850392"/>
            <a:chOff x="0" y="0"/>
            <a:chExt cx="5010912" cy="1133856"/>
          </a:xfrm>
        </p:grpSpPr>
        <p:sp>
          <p:nvSpPr>
            <p:cNvPr id="62" name="Freeform 62"/>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63" name="TextBox 63"/>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Mkt cap vs. FCF (Apr 2026)</a:t>
              </a:r>
            </a:p>
          </p:txBody>
        </p:sp>
      </p:grpSp>
      <p:grpSp>
        <p:nvGrpSpPr>
          <p:cNvPr id="64" name="Group 64"/>
          <p:cNvGrpSpPr/>
          <p:nvPr/>
        </p:nvGrpSpPr>
        <p:grpSpPr>
          <a:xfrm>
            <a:off x="10945368" y="5678424"/>
            <a:ext cx="2318004" cy="850392"/>
            <a:chOff x="0" y="0"/>
            <a:chExt cx="3090672" cy="1133856"/>
          </a:xfrm>
        </p:grpSpPr>
        <p:sp>
          <p:nvSpPr>
            <p:cNvPr id="65" name="Freeform 65"/>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66" name="TextBox 66"/>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~$22–31B vs $5B → mid-teens–20%+ yield</a:t>
              </a:r>
            </a:p>
          </p:txBody>
        </p:sp>
      </p:grpSp>
      <p:grpSp>
        <p:nvGrpSpPr>
          <p:cNvPr id="67" name="Group 67"/>
          <p:cNvGrpSpPr/>
          <p:nvPr/>
        </p:nvGrpSpPr>
        <p:grpSpPr>
          <a:xfrm>
            <a:off x="13482828" y="5678424"/>
            <a:ext cx="2318004" cy="850392"/>
            <a:chOff x="0" y="0"/>
            <a:chExt cx="3090672" cy="1133856"/>
          </a:xfrm>
        </p:grpSpPr>
        <p:sp>
          <p:nvSpPr>
            <p:cNvPr id="68" name="Freeform 68"/>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69" name="TextBox 69"/>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~$100B vs ~$19B → ~19%</a:t>
              </a:r>
            </a:p>
          </p:txBody>
        </p:sp>
      </p:grpSp>
      <p:grpSp>
        <p:nvGrpSpPr>
          <p:cNvPr id="70" name="Group 70"/>
          <p:cNvGrpSpPr/>
          <p:nvPr/>
        </p:nvGrpSpPr>
        <p:grpSpPr>
          <a:xfrm>
            <a:off x="16020288" y="5678424"/>
            <a:ext cx="1426464" cy="850392"/>
            <a:chOff x="0" y="0"/>
            <a:chExt cx="1901952" cy="1133856"/>
          </a:xfrm>
        </p:grpSpPr>
        <p:sp>
          <p:nvSpPr>
            <p:cNvPr id="71" name="Freeform 71"/>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72" name="TextBox 72"/>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High yield is the sector</a:t>
              </a:r>
            </a:p>
          </p:txBody>
        </p:sp>
      </p:grpSp>
      <p:grpSp>
        <p:nvGrpSpPr>
          <p:cNvPr id="73" name="Group 73"/>
          <p:cNvGrpSpPr/>
          <p:nvPr/>
        </p:nvGrpSpPr>
        <p:grpSpPr>
          <a:xfrm>
            <a:off x="6858000" y="6528816"/>
            <a:ext cx="10698480" cy="850392"/>
            <a:chOff x="0" y="0"/>
            <a:chExt cx="14264640" cy="1133856"/>
          </a:xfrm>
        </p:grpSpPr>
        <p:sp>
          <p:nvSpPr>
            <p:cNvPr id="74" name="Freeform 74"/>
            <p:cNvSpPr/>
            <p:nvPr/>
          </p:nvSpPr>
          <p:spPr>
            <a:xfrm>
              <a:off x="0" y="0"/>
              <a:ext cx="14264639" cy="1133856"/>
            </a:xfrm>
            <a:custGeom>
              <a:avLst/>
              <a:gdLst/>
              <a:ahLst/>
              <a:cxnLst/>
              <a:rect l="l" t="t" r="r" b="b"/>
              <a:pathLst>
                <a:path w="14264639" h="1133856">
                  <a:moveTo>
                    <a:pt x="0" y="0"/>
                  </a:moveTo>
                  <a:lnTo>
                    <a:pt x="14264639" y="0"/>
                  </a:lnTo>
                  <a:lnTo>
                    <a:pt x="14264639" y="1133856"/>
                  </a:lnTo>
                  <a:lnTo>
                    <a:pt x="0" y="1133856"/>
                  </a:lnTo>
                  <a:close/>
                </a:path>
              </a:pathLst>
            </a:custGeom>
            <a:solidFill>
              <a:srgbClr val="EEF4FB"/>
            </a:solidFill>
          </p:spPr>
          <p:txBody>
            <a:bodyPr/>
            <a:lstStyle/>
            <a:p>
              <a:endParaRPr lang="en-US"/>
            </a:p>
          </p:txBody>
        </p:sp>
      </p:grpSp>
      <p:grpSp>
        <p:nvGrpSpPr>
          <p:cNvPr id="75" name="Group 75"/>
          <p:cNvGrpSpPr/>
          <p:nvPr/>
        </p:nvGrpSpPr>
        <p:grpSpPr>
          <a:xfrm>
            <a:off x="6967728" y="6528816"/>
            <a:ext cx="3758184" cy="850392"/>
            <a:chOff x="0" y="0"/>
            <a:chExt cx="5010912" cy="1133856"/>
          </a:xfrm>
        </p:grpSpPr>
        <p:sp>
          <p:nvSpPr>
            <p:cNvPr id="76" name="Freeform 76"/>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77" name="TextBox 77"/>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FY2025 capital return</a:t>
              </a:r>
            </a:p>
          </p:txBody>
        </p:sp>
      </p:grpSp>
      <p:grpSp>
        <p:nvGrpSpPr>
          <p:cNvPr id="78" name="Group 78"/>
          <p:cNvGrpSpPr/>
          <p:nvPr/>
        </p:nvGrpSpPr>
        <p:grpSpPr>
          <a:xfrm>
            <a:off x="10945368" y="6528816"/>
            <a:ext cx="2318004" cy="850392"/>
            <a:chOff x="0" y="0"/>
            <a:chExt cx="3090672" cy="1133856"/>
          </a:xfrm>
        </p:grpSpPr>
        <p:sp>
          <p:nvSpPr>
            <p:cNvPr id="79" name="Freeform 79"/>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80" name="TextBox 80"/>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17.1M shares / ~$5.4B buyback</a:t>
              </a:r>
            </a:p>
          </p:txBody>
        </p:sp>
      </p:grpSp>
      <p:grpSp>
        <p:nvGrpSpPr>
          <p:cNvPr id="81" name="Group 81"/>
          <p:cNvGrpSpPr/>
          <p:nvPr/>
        </p:nvGrpSpPr>
        <p:grpSpPr>
          <a:xfrm>
            <a:off x="13482828" y="6528816"/>
            <a:ext cx="2318004" cy="850392"/>
            <a:chOff x="0" y="0"/>
            <a:chExt cx="3090672" cy="1133856"/>
          </a:xfrm>
        </p:grpSpPr>
        <p:sp>
          <p:nvSpPr>
            <p:cNvPr id="82" name="Freeform 82"/>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83" name="TextBox 83"/>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Dividend + buyback</a:t>
              </a:r>
            </a:p>
          </p:txBody>
        </p:sp>
      </p:grpSp>
      <p:grpSp>
        <p:nvGrpSpPr>
          <p:cNvPr id="84" name="Group 84"/>
          <p:cNvGrpSpPr/>
          <p:nvPr/>
        </p:nvGrpSpPr>
        <p:grpSpPr>
          <a:xfrm>
            <a:off x="16020288" y="6528816"/>
            <a:ext cx="1426464" cy="850392"/>
            <a:chOff x="0" y="0"/>
            <a:chExt cx="1901952" cy="1133856"/>
          </a:xfrm>
        </p:grpSpPr>
        <p:sp>
          <p:nvSpPr>
            <p:cNvPr id="85" name="Freeform 85"/>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86" name="TextBox 86"/>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CHTR buyback did not hold price</a:t>
              </a:r>
            </a:p>
          </p:txBody>
        </p:sp>
      </p:grpSp>
      <p:grpSp>
        <p:nvGrpSpPr>
          <p:cNvPr id="87" name="Group 87"/>
          <p:cNvGrpSpPr/>
          <p:nvPr/>
        </p:nvGrpSpPr>
        <p:grpSpPr>
          <a:xfrm>
            <a:off x="6967728" y="7379208"/>
            <a:ext cx="3758184" cy="850392"/>
            <a:chOff x="0" y="0"/>
            <a:chExt cx="5010912" cy="1133856"/>
          </a:xfrm>
        </p:grpSpPr>
        <p:sp>
          <p:nvSpPr>
            <p:cNvPr id="88" name="Freeform 88"/>
            <p:cNvSpPr/>
            <p:nvPr/>
          </p:nvSpPr>
          <p:spPr>
            <a:xfrm>
              <a:off x="0" y="0"/>
              <a:ext cx="5010912" cy="1133856"/>
            </a:xfrm>
            <a:custGeom>
              <a:avLst/>
              <a:gdLst/>
              <a:ahLst/>
              <a:cxnLst/>
              <a:rect l="l" t="t" r="r" b="b"/>
              <a:pathLst>
                <a:path w="5010912" h="1133856">
                  <a:moveTo>
                    <a:pt x="0" y="0"/>
                  </a:moveTo>
                  <a:lnTo>
                    <a:pt x="5010912" y="0"/>
                  </a:lnTo>
                  <a:lnTo>
                    <a:pt x="5010912" y="1133856"/>
                  </a:lnTo>
                  <a:lnTo>
                    <a:pt x="0" y="1133856"/>
                  </a:lnTo>
                  <a:close/>
                </a:path>
              </a:pathLst>
            </a:custGeom>
            <a:blipFill>
              <a:blip r:embed="rId3">
                <a:alphaModFix amt="0"/>
              </a:blip>
              <a:stretch>
                <a:fillRect t="-36111" b="-36111"/>
              </a:stretch>
            </a:blipFill>
          </p:spPr>
          <p:txBody>
            <a:bodyPr/>
            <a:lstStyle/>
            <a:p>
              <a:endParaRPr lang="en-US"/>
            </a:p>
          </p:txBody>
        </p:sp>
        <p:sp>
          <p:nvSpPr>
            <p:cNvPr id="89" name="TextBox 89"/>
            <p:cNvSpPr txBox="1"/>
            <p:nvPr/>
          </p:nvSpPr>
          <p:spPr>
            <a:xfrm>
              <a:off x="0" y="-38100"/>
              <a:ext cx="501091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Leverage</a:t>
              </a:r>
            </a:p>
          </p:txBody>
        </p:sp>
      </p:grpSp>
      <p:grpSp>
        <p:nvGrpSpPr>
          <p:cNvPr id="90" name="Group 90"/>
          <p:cNvGrpSpPr/>
          <p:nvPr/>
        </p:nvGrpSpPr>
        <p:grpSpPr>
          <a:xfrm>
            <a:off x="10945368" y="7379208"/>
            <a:ext cx="2318004" cy="850392"/>
            <a:chOff x="0" y="0"/>
            <a:chExt cx="3090672" cy="1133856"/>
          </a:xfrm>
        </p:grpSpPr>
        <p:sp>
          <p:nvSpPr>
            <p:cNvPr id="91" name="Freeform 91"/>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92" name="TextBox 92"/>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4.15x (3/31/26)</a:t>
              </a:r>
            </a:p>
          </p:txBody>
        </p:sp>
      </p:grpSp>
      <p:grpSp>
        <p:nvGrpSpPr>
          <p:cNvPr id="93" name="Group 93"/>
          <p:cNvGrpSpPr/>
          <p:nvPr/>
        </p:nvGrpSpPr>
        <p:grpSpPr>
          <a:xfrm>
            <a:off x="13482828" y="7379208"/>
            <a:ext cx="2318004" cy="850392"/>
            <a:chOff x="0" y="0"/>
            <a:chExt cx="3090672" cy="1133856"/>
          </a:xfrm>
        </p:grpSpPr>
        <p:sp>
          <p:nvSpPr>
            <p:cNvPr id="94" name="Freeform 94"/>
            <p:cNvSpPr/>
            <p:nvPr/>
          </p:nvSpPr>
          <p:spPr>
            <a:xfrm>
              <a:off x="0" y="0"/>
              <a:ext cx="3090672" cy="1133856"/>
            </a:xfrm>
            <a:custGeom>
              <a:avLst/>
              <a:gdLst/>
              <a:ahLst/>
              <a:cxnLst/>
              <a:rect l="l" t="t" r="r" b="b"/>
              <a:pathLst>
                <a:path w="3090672" h="1133856">
                  <a:moveTo>
                    <a:pt x="0" y="0"/>
                  </a:moveTo>
                  <a:lnTo>
                    <a:pt x="3090672" y="0"/>
                  </a:lnTo>
                  <a:lnTo>
                    <a:pt x="3090672" y="1133856"/>
                  </a:lnTo>
                  <a:lnTo>
                    <a:pt x="0" y="1133856"/>
                  </a:lnTo>
                  <a:close/>
                </a:path>
              </a:pathLst>
            </a:custGeom>
            <a:blipFill>
              <a:blip r:embed="rId3">
                <a:alphaModFix amt="0"/>
              </a:blip>
              <a:stretch>
                <a:fillRect t="-3112" b="-3112"/>
              </a:stretch>
            </a:blipFill>
          </p:spPr>
          <p:txBody>
            <a:bodyPr/>
            <a:lstStyle/>
            <a:p>
              <a:endParaRPr lang="en-US"/>
            </a:p>
          </p:txBody>
        </p:sp>
        <p:sp>
          <p:nvSpPr>
            <p:cNvPr id="95" name="TextBox 95"/>
            <p:cNvSpPr txBox="1"/>
            <p:nvPr/>
          </p:nvSpPr>
          <p:spPr>
            <a:xfrm>
              <a:off x="0" y="-38100"/>
              <a:ext cx="30906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~2.3x [verify]</a:t>
              </a:r>
            </a:p>
          </p:txBody>
        </p:sp>
      </p:grpSp>
      <p:grpSp>
        <p:nvGrpSpPr>
          <p:cNvPr id="96" name="Group 96"/>
          <p:cNvGrpSpPr/>
          <p:nvPr/>
        </p:nvGrpSpPr>
        <p:grpSpPr>
          <a:xfrm>
            <a:off x="16020288" y="7379208"/>
            <a:ext cx="1426464" cy="850392"/>
            <a:chOff x="0" y="0"/>
            <a:chExt cx="1901952" cy="1133856"/>
          </a:xfrm>
        </p:grpSpPr>
        <p:sp>
          <p:nvSpPr>
            <p:cNvPr id="97" name="Freeform 97"/>
            <p:cNvSpPr/>
            <p:nvPr/>
          </p:nvSpPr>
          <p:spPr>
            <a:xfrm>
              <a:off x="0" y="0"/>
              <a:ext cx="1901952" cy="1133856"/>
            </a:xfrm>
            <a:custGeom>
              <a:avLst/>
              <a:gdLst/>
              <a:ahLst/>
              <a:cxnLst/>
              <a:rect l="l" t="t" r="r" b="b"/>
              <a:pathLst>
                <a:path w="1901952" h="1133856">
                  <a:moveTo>
                    <a:pt x="0" y="0"/>
                  </a:moveTo>
                  <a:lnTo>
                    <a:pt x="1901952" y="0"/>
                  </a:lnTo>
                  <a:lnTo>
                    <a:pt x="1901952" y="1133856"/>
                  </a:lnTo>
                  <a:lnTo>
                    <a:pt x="0" y="1133856"/>
                  </a:lnTo>
                  <a:close/>
                </a:path>
              </a:pathLst>
            </a:custGeom>
            <a:blipFill>
              <a:blip r:embed="rId3">
                <a:alphaModFix amt="0"/>
              </a:blip>
              <a:stretch>
                <a:fillRect l="-26488" r="-26488"/>
              </a:stretch>
            </a:blipFill>
          </p:spPr>
          <p:txBody>
            <a:bodyPr/>
            <a:lstStyle/>
            <a:p>
              <a:endParaRPr lang="en-US"/>
            </a:p>
          </p:txBody>
        </p:sp>
        <p:sp>
          <p:nvSpPr>
            <p:cNvPr id="98" name="TextBox 98"/>
            <p:cNvSpPr txBox="1"/>
            <p:nvPr/>
          </p:nvSpPr>
          <p:spPr>
            <a:xfrm>
              <a:off x="0" y="-38100"/>
              <a:ext cx="1901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Base rate the market applies</a:t>
              </a:r>
            </a:p>
          </p:txBody>
        </p:sp>
      </p:grpSp>
      <p:grpSp>
        <p:nvGrpSpPr>
          <p:cNvPr id="99" name="Group 99"/>
          <p:cNvGrpSpPr/>
          <p:nvPr/>
        </p:nvGrpSpPr>
        <p:grpSpPr>
          <a:xfrm>
            <a:off x="754380" y="8805672"/>
            <a:ext cx="16733520" cy="356616"/>
            <a:chOff x="0" y="0"/>
            <a:chExt cx="22311360" cy="475488"/>
          </a:xfrm>
        </p:grpSpPr>
        <p:sp>
          <p:nvSpPr>
            <p:cNvPr id="100" name="Freeform 100"/>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01" name="TextBox 101"/>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CHTR: Yahoo $241.78→$180.13. CMCSA: contemporaneous reporting ~$31.64→$27.51. Multiples from published aggregators (Devyara, TIKR, ValueSense), analysis, not filings; Comcast leverage is an external figure to verify.</a:t>
              </a:r>
            </a:p>
          </p:txBody>
        </p:sp>
      </p:grpSp>
      <p:grpSp>
        <p:nvGrpSpPr>
          <p:cNvPr id="102" name="Group 102"/>
          <p:cNvGrpSpPr/>
          <p:nvPr/>
        </p:nvGrpSpPr>
        <p:grpSpPr>
          <a:xfrm>
            <a:off x="754380" y="9189720"/>
            <a:ext cx="16733520" cy="411480"/>
            <a:chOff x="0" y="0"/>
            <a:chExt cx="22311360" cy="548640"/>
          </a:xfrm>
        </p:grpSpPr>
        <p:sp>
          <p:nvSpPr>
            <p:cNvPr id="103" name="Freeform 10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04" name="TextBox 10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 action="ppaction://noaction"/>
                </a:rPr>
                <a:t>←  Back to main deck  (p.6)</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 action="ppaction://noaction"/>
                </a:rPr>
                <a:t>Appendix index  (p.12)</a:t>
              </a:r>
            </a:p>
          </p:txBody>
        </p:sp>
      </p:grpSp>
      <p:grpSp>
        <p:nvGrpSpPr>
          <p:cNvPr id="105" name="Group 105"/>
          <p:cNvGrpSpPr/>
          <p:nvPr/>
        </p:nvGrpSpPr>
        <p:grpSpPr>
          <a:xfrm>
            <a:off x="17076420" y="9669780"/>
            <a:ext cx="960120" cy="411480"/>
            <a:chOff x="0" y="0"/>
            <a:chExt cx="1280160" cy="548640"/>
          </a:xfrm>
        </p:grpSpPr>
        <p:sp>
          <p:nvSpPr>
            <p:cNvPr id="106" name="Freeform 10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07" name="TextBox 10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19</a:t>
              </a:r>
            </a:p>
          </p:txBody>
        </p:sp>
      </p:grpSp>
      <p:grpSp>
        <p:nvGrpSpPr>
          <p:cNvPr id="108" name="Group 108"/>
          <p:cNvGrpSpPr/>
          <p:nvPr/>
        </p:nvGrpSpPr>
        <p:grpSpPr>
          <a:xfrm>
            <a:off x="754380" y="9669780"/>
            <a:ext cx="16047720" cy="411480"/>
            <a:chOff x="0" y="0"/>
            <a:chExt cx="21396960" cy="548640"/>
          </a:xfrm>
        </p:grpSpPr>
        <p:sp>
          <p:nvSpPr>
            <p:cNvPr id="109" name="Freeform 10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10" name="TextBox 11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aphicFrame>
        <p:nvGraphicFramePr>
          <p:cNvPr id="111" name="Chart"/>
          <p:cNvGraphicFramePr/>
          <p:nvPr>
            <p:extLst>
              <p:ext uri="{D42A27DB-BD31-4B8C-83A1-F6EECF244321}">
                <p14:modId xmlns:p14="http://schemas.microsoft.com/office/powerpoint/2010/main" val="1815437604"/>
              </p:ext>
            </p:extLst>
          </p:nvPr>
        </p:nvGraphicFramePr>
        <p:xfrm>
          <a:off x="749300" y="2730500"/>
          <a:ext cx="5143500" cy="58420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6640B27B-C629-074E-B53C-E6F3BA19385D}"/>
              </a:ext>
            </a:extLst>
          </p:cNvPr>
          <p:cNvSpPr txBox="1"/>
          <p:nvPr/>
        </p:nvSpPr>
        <p:spPr>
          <a:xfrm>
            <a:off x="749300" y="2413000"/>
            <a:ext cx="5588000" cy="304800"/>
          </a:xfrm>
          <a:prstGeom prst="rect">
            <a:avLst/>
          </a:prstGeom>
          <a:noFill/>
        </p:spPr>
        <p:txBody>
          <a:bodyPr vertOverflow="overflow" vert="horz" wrap="square" rtlCol="0" anchor="t">
            <a:spAutoFit/>
          </a:bodyPr>
          <a:lstStyle/>
          <a:p>
            <a:pPr algn="l"/>
            <a:r>
              <a:rPr lang="en-US" sz="1600">
                <a:solidFill>
                  <a:srgbClr val="171A1F"/>
                </a:solidFill>
                <a:latin typeface="Calibri"/>
                <a:cs typeface="Calibri"/>
              </a:rPr>
              <a:t>One-day share price return, April 24, 2026</a:t>
            </a:r>
          </a:p>
        </p:txBody>
      </p:sp>
    </p:spTree>
    <p:extLst>
      <p:ext uri="{BB962C8B-B14F-4D97-AF65-F5344CB8AC3E}">
        <p14:creationId xmlns:p14="http://schemas.microsoft.com/office/powerpoint/2010/main" val="2124285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A9  ·  RECOMMENDATION 2 EVIDENCE</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Buybacks Lifted EPS, Not the Price</a:t>
            </a:r>
          </a:p>
        </p:txBody>
      </p:sp>
      <p:grpSp>
        <p:nvGrpSpPr>
          <p:cNvPr id="6" name="Group 6"/>
          <p:cNvGrpSpPr/>
          <p:nvPr/>
        </p:nvGrpSpPr>
        <p:grpSpPr>
          <a:xfrm>
            <a:off x="754380" y="2674620"/>
            <a:ext cx="16802100" cy="548640"/>
            <a:chOff x="0" y="0"/>
            <a:chExt cx="22402800" cy="731520"/>
          </a:xfrm>
        </p:grpSpPr>
        <p:sp>
          <p:nvSpPr>
            <p:cNvPr id="7" name="Freeform 7"/>
            <p:cNvSpPr/>
            <p:nvPr/>
          </p:nvSpPr>
          <p:spPr>
            <a:xfrm>
              <a:off x="0" y="0"/>
              <a:ext cx="22402800" cy="731520"/>
            </a:xfrm>
            <a:custGeom>
              <a:avLst/>
              <a:gdLst/>
              <a:ahLst/>
              <a:cxnLst/>
              <a:rect l="l" t="t" r="r" b="b"/>
              <a:pathLst>
                <a:path w="22402800" h="731520">
                  <a:moveTo>
                    <a:pt x="0" y="0"/>
                  </a:moveTo>
                  <a:lnTo>
                    <a:pt x="22402800" y="0"/>
                  </a:lnTo>
                  <a:lnTo>
                    <a:pt x="22402800" y="731520"/>
                  </a:lnTo>
                  <a:lnTo>
                    <a:pt x="0" y="731520"/>
                  </a:lnTo>
                  <a:close/>
                </a:path>
              </a:pathLst>
            </a:custGeom>
            <a:solidFill>
              <a:srgbClr val="003057"/>
            </a:solidFill>
          </p:spPr>
          <p:txBody>
            <a:bodyPr/>
            <a:lstStyle/>
            <a:p>
              <a:endParaRPr lang="en-US"/>
            </a:p>
          </p:txBody>
        </p:sp>
      </p:grpSp>
      <p:grpSp>
        <p:nvGrpSpPr>
          <p:cNvPr id="8" name="Group 8"/>
          <p:cNvGrpSpPr/>
          <p:nvPr/>
        </p:nvGrpSpPr>
        <p:grpSpPr>
          <a:xfrm>
            <a:off x="864108" y="2674620"/>
            <a:ext cx="4443984" cy="548640"/>
            <a:chOff x="0" y="0"/>
            <a:chExt cx="5925312" cy="731520"/>
          </a:xfrm>
        </p:grpSpPr>
        <p:sp>
          <p:nvSpPr>
            <p:cNvPr id="9" name="Freeform 9"/>
            <p:cNvSpPr/>
            <p:nvPr/>
          </p:nvSpPr>
          <p:spPr>
            <a:xfrm>
              <a:off x="0" y="0"/>
              <a:ext cx="5925312" cy="731520"/>
            </a:xfrm>
            <a:custGeom>
              <a:avLst/>
              <a:gdLst/>
              <a:ahLst/>
              <a:cxnLst/>
              <a:rect l="l" t="t" r="r" b="b"/>
              <a:pathLst>
                <a:path w="5925312" h="731520">
                  <a:moveTo>
                    <a:pt x="0" y="0"/>
                  </a:moveTo>
                  <a:lnTo>
                    <a:pt x="5925312" y="0"/>
                  </a:lnTo>
                  <a:lnTo>
                    <a:pt x="5925312" y="731520"/>
                  </a:lnTo>
                  <a:lnTo>
                    <a:pt x="0" y="731520"/>
                  </a:lnTo>
                  <a:close/>
                </a:path>
              </a:pathLst>
            </a:custGeom>
            <a:blipFill>
              <a:blip r:embed="rId3">
                <a:alphaModFix amt="0"/>
              </a:blip>
              <a:stretch>
                <a:fillRect t="-107828" b="-107828"/>
              </a:stretch>
            </a:blipFill>
          </p:spPr>
          <p:txBody>
            <a:bodyPr/>
            <a:lstStyle/>
            <a:p>
              <a:endParaRPr lang="en-US"/>
            </a:p>
          </p:txBody>
        </p:sp>
        <p:sp>
          <p:nvSpPr>
            <p:cNvPr id="10" name="TextBox 10"/>
            <p:cNvSpPr txBox="1"/>
            <p:nvPr/>
          </p:nvSpPr>
          <p:spPr>
            <a:xfrm>
              <a:off x="0" y="-19050"/>
              <a:ext cx="592531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Item</a:t>
              </a:r>
            </a:p>
          </p:txBody>
        </p:sp>
      </p:grpSp>
      <p:grpSp>
        <p:nvGrpSpPr>
          <p:cNvPr id="11" name="Group 11"/>
          <p:cNvGrpSpPr/>
          <p:nvPr/>
        </p:nvGrpSpPr>
        <p:grpSpPr>
          <a:xfrm>
            <a:off x="5527548" y="2674620"/>
            <a:ext cx="3346704" cy="548640"/>
            <a:chOff x="0" y="0"/>
            <a:chExt cx="4462272" cy="731520"/>
          </a:xfrm>
        </p:grpSpPr>
        <p:sp>
          <p:nvSpPr>
            <p:cNvPr id="12" name="Freeform 12"/>
            <p:cNvSpPr/>
            <p:nvPr/>
          </p:nvSpPr>
          <p:spPr>
            <a:xfrm>
              <a:off x="0" y="0"/>
              <a:ext cx="4462272" cy="731520"/>
            </a:xfrm>
            <a:custGeom>
              <a:avLst/>
              <a:gdLst/>
              <a:ahLst/>
              <a:cxnLst/>
              <a:rect l="l" t="t" r="r" b="b"/>
              <a:pathLst>
                <a:path w="4462272" h="731520">
                  <a:moveTo>
                    <a:pt x="0" y="0"/>
                  </a:moveTo>
                  <a:lnTo>
                    <a:pt x="4462272" y="0"/>
                  </a:lnTo>
                  <a:lnTo>
                    <a:pt x="4462272" y="731520"/>
                  </a:lnTo>
                  <a:lnTo>
                    <a:pt x="0" y="731520"/>
                  </a:lnTo>
                  <a:close/>
                </a:path>
              </a:pathLst>
            </a:custGeom>
            <a:blipFill>
              <a:blip r:embed="rId3">
                <a:alphaModFix amt="0"/>
              </a:blip>
              <a:stretch>
                <a:fillRect t="-68858" b="-68858"/>
              </a:stretch>
            </a:blipFill>
          </p:spPr>
          <p:txBody>
            <a:bodyPr/>
            <a:lstStyle/>
            <a:p>
              <a:endParaRPr lang="en-US"/>
            </a:p>
          </p:txBody>
        </p:sp>
        <p:sp>
          <p:nvSpPr>
            <p:cNvPr id="13" name="TextBox 13"/>
            <p:cNvSpPr txBox="1"/>
            <p:nvPr/>
          </p:nvSpPr>
          <p:spPr>
            <a:xfrm>
              <a:off x="0" y="-19050"/>
              <a:ext cx="446227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FY2024</a:t>
              </a:r>
            </a:p>
          </p:txBody>
        </p:sp>
      </p:grpSp>
      <p:grpSp>
        <p:nvGrpSpPr>
          <p:cNvPr id="14" name="Group 14"/>
          <p:cNvGrpSpPr/>
          <p:nvPr/>
        </p:nvGrpSpPr>
        <p:grpSpPr>
          <a:xfrm>
            <a:off x="9093708" y="2674620"/>
            <a:ext cx="3895344" cy="548640"/>
            <a:chOff x="0" y="0"/>
            <a:chExt cx="5193792" cy="731520"/>
          </a:xfrm>
        </p:grpSpPr>
        <p:sp>
          <p:nvSpPr>
            <p:cNvPr id="15" name="Freeform 15"/>
            <p:cNvSpPr/>
            <p:nvPr/>
          </p:nvSpPr>
          <p:spPr>
            <a:xfrm>
              <a:off x="0" y="0"/>
              <a:ext cx="5193792" cy="731520"/>
            </a:xfrm>
            <a:custGeom>
              <a:avLst/>
              <a:gdLst/>
              <a:ahLst/>
              <a:cxnLst/>
              <a:rect l="l" t="t" r="r" b="b"/>
              <a:pathLst>
                <a:path w="5193792" h="731520">
                  <a:moveTo>
                    <a:pt x="0" y="0"/>
                  </a:moveTo>
                  <a:lnTo>
                    <a:pt x="5193792" y="0"/>
                  </a:lnTo>
                  <a:lnTo>
                    <a:pt x="5193792" y="731520"/>
                  </a:lnTo>
                  <a:lnTo>
                    <a:pt x="0" y="731520"/>
                  </a:lnTo>
                  <a:close/>
                </a:path>
              </a:pathLst>
            </a:custGeom>
            <a:blipFill>
              <a:blip r:embed="rId3">
                <a:alphaModFix amt="0"/>
              </a:blip>
              <a:stretch>
                <a:fillRect t="-88343" b="-88343"/>
              </a:stretch>
            </a:blipFill>
          </p:spPr>
          <p:txBody>
            <a:bodyPr/>
            <a:lstStyle/>
            <a:p>
              <a:endParaRPr lang="en-US"/>
            </a:p>
          </p:txBody>
        </p:sp>
        <p:sp>
          <p:nvSpPr>
            <p:cNvPr id="16" name="TextBox 16"/>
            <p:cNvSpPr txBox="1"/>
            <p:nvPr/>
          </p:nvSpPr>
          <p:spPr>
            <a:xfrm>
              <a:off x="0" y="-19050"/>
              <a:ext cx="519379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FY2025</a:t>
              </a:r>
            </a:p>
          </p:txBody>
        </p:sp>
      </p:grpSp>
      <p:grpSp>
        <p:nvGrpSpPr>
          <p:cNvPr id="17" name="Group 17"/>
          <p:cNvGrpSpPr/>
          <p:nvPr/>
        </p:nvGrpSpPr>
        <p:grpSpPr>
          <a:xfrm>
            <a:off x="13208508" y="2674620"/>
            <a:ext cx="4238244" cy="548640"/>
            <a:chOff x="0" y="0"/>
            <a:chExt cx="5650992" cy="731520"/>
          </a:xfrm>
        </p:grpSpPr>
        <p:sp>
          <p:nvSpPr>
            <p:cNvPr id="18" name="Freeform 18"/>
            <p:cNvSpPr/>
            <p:nvPr/>
          </p:nvSpPr>
          <p:spPr>
            <a:xfrm>
              <a:off x="0" y="0"/>
              <a:ext cx="5650992" cy="731520"/>
            </a:xfrm>
            <a:custGeom>
              <a:avLst/>
              <a:gdLst/>
              <a:ahLst/>
              <a:cxnLst/>
              <a:rect l="l" t="t" r="r" b="b"/>
              <a:pathLst>
                <a:path w="5650992" h="731520">
                  <a:moveTo>
                    <a:pt x="0" y="0"/>
                  </a:moveTo>
                  <a:lnTo>
                    <a:pt x="5650992" y="0"/>
                  </a:lnTo>
                  <a:lnTo>
                    <a:pt x="5650992" y="731520"/>
                  </a:lnTo>
                  <a:lnTo>
                    <a:pt x="0" y="731520"/>
                  </a:lnTo>
                  <a:close/>
                </a:path>
              </a:pathLst>
            </a:custGeom>
            <a:blipFill>
              <a:blip r:embed="rId3">
                <a:alphaModFix amt="0"/>
              </a:blip>
              <a:stretch>
                <a:fillRect t="-100521" b="-100521"/>
              </a:stretch>
            </a:blipFill>
          </p:spPr>
          <p:txBody>
            <a:bodyPr/>
            <a:lstStyle/>
            <a:p>
              <a:endParaRPr lang="en-US"/>
            </a:p>
          </p:txBody>
        </p:sp>
        <p:sp>
          <p:nvSpPr>
            <p:cNvPr id="19" name="TextBox 19"/>
            <p:cNvSpPr txBox="1"/>
            <p:nvPr/>
          </p:nvSpPr>
          <p:spPr>
            <a:xfrm>
              <a:off x="0" y="-19050"/>
              <a:ext cx="5650992" cy="75057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Read</a:t>
              </a:r>
            </a:p>
          </p:txBody>
        </p:sp>
      </p:grpSp>
      <p:grpSp>
        <p:nvGrpSpPr>
          <p:cNvPr id="20" name="Group 20"/>
          <p:cNvGrpSpPr/>
          <p:nvPr/>
        </p:nvGrpSpPr>
        <p:grpSpPr>
          <a:xfrm>
            <a:off x="754380" y="3223260"/>
            <a:ext cx="16802100" cy="685800"/>
            <a:chOff x="0" y="0"/>
            <a:chExt cx="22402800" cy="914400"/>
          </a:xfrm>
        </p:grpSpPr>
        <p:sp>
          <p:nvSpPr>
            <p:cNvPr id="21" name="Freeform 21"/>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22" name="Group 22"/>
          <p:cNvGrpSpPr/>
          <p:nvPr/>
        </p:nvGrpSpPr>
        <p:grpSpPr>
          <a:xfrm>
            <a:off x="864108" y="3223260"/>
            <a:ext cx="4443984" cy="685800"/>
            <a:chOff x="0" y="0"/>
            <a:chExt cx="5925312" cy="914400"/>
          </a:xfrm>
        </p:grpSpPr>
        <p:sp>
          <p:nvSpPr>
            <p:cNvPr id="23" name="Freeform 23"/>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24" name="TextBox 24"/>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Net income to CHTR ($M)</a:t>
              </a:r>
            </a:p>
          </p:txBody>
        </p:sp>
      </p:grpSp>
      <p:grpSp>
        <p:nvGrpSpPr>
          <p:cNvPr id="25" name="Group 25"/>
          <p:cNvGrpSpPr/>
          <p:nvPr/>
        </p:nvGrpSpPr>
        <p:grpSpPr>
          <a:xfrm>
            <a:off x="5527548" y="3223260"/>
            <a:ext cx="3346704" cy="685800"/>
            <a:chOff x="0" y="0"/>
            <a:chExt cx="4462272" cy="914400"/>
          </a:xfrm>
        </p:grpSpPr>
        <p:sp>
          <p:nvSpPr>
            <p:cNvPr id="26" name="Freeform 26"/>
            <p:cNvSpPr/>
            <p:nvPr/>
          </p:nvSpPr>
          <p:spPr>
            <a:xfrm>
              <a:off x="0" y="0"/>
              <a:ext cx="4462272" cy="914400"/>
            </a:xfrm>
            <a:custGeom>
              <a:avLst/>
              <a:gdLst/>
              <a:ahLst/>
              <a:cxnLst/>
              <a:rect l="l" t="t" r="r" b="b"/>
              <a:pathLst>
                <a:path w="4462272" h="914400">
                  <a:moveTo>
                    <a:pt x="0" y="0"/>
                  </a:moveTo>
                  <a:lnTo>
                    <a:pt x="4462272" y="0"/>
                  </a:lnTo>
                  <a:lnTo>
                    <a:pt x="4462272" y="914400"/>
                  </a:lnTo>
                  <a:lnTo>
                    <a:pt x="0" y="914400"/>
                  </a:lnTo>
                  <a:close/>
                </a:path>
              </a:pathLst>
            </a:custGeom>
            <a:blipFill>
              <a:blip r:embed="rId3">
                <a:alphaModFix amt="0"/>
              </a:blip>
              <a:stretch>
                <a:fillRect t="-45086" b="-45086"/>
              </a:stretch>
            </a:blipFill>
          </p:spPr>
          <p:txBody>
            <a:bodyPr/>
            <a:lstStyle/>
            <a:p>
              <a:endParaRPr lang="en-US"/>
            </a:p>
          </p:txBody>
        </p:sp>
        <p:sp>
          <p:nvSpPr>
            <p:cNvPr id="27" name="TextBox 27"/>
            <p:cNvSpPr txBox="1"/>
            <p:nvPr/>
          </p:nvSpPr>
          <p:spPr>
            <a:xfrm>
              <a:off x="0" y="-38100"/>
              <a:ext cx="4462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5,083</a:t>
              </a:r>
            </a:p>
          </p:txBody>
        </p:sp>
      </p:grpSp>
      <p:grpSp>
        <p:nvGrpSpPr>
          <p:cNvPr id="28" name="Group 28"/>
          <p:cNvGrpSpPr/>
          <p:nvPr/>
        </p:nvGrpSpPr>
        <p:grpSpPr>
          <a:xfrm>
            <a:off x="9093708" y="3223260"/>
            <a:ext cx="3895344" cy="685800"/>
            <a:chOff x="0" y="0"/>
            <a:chExt cx="5193792" cy="914400"/>
          </a:xfrm>
        </p:grpSpPr>
        <p:sp>
          <p:nvSpPr>
            <p:cNvPr id="29" name="Freeform 29"/>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30" name="TextBox 30"/>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4,987 (−2%)</a:t>
              </a:r>
            </a:p>
          </p:txBody>
        </p:sp>
      </p:grpSp>
      <p:grpSp>
        <p:nvGrpSpPr>
          <p:cNvPr id="31" name="Group 31"/>
          <p:cNvGrpSpPr/>
          <p:nvPr/>
        </p:nvGrpSpPr>
        <p:grpSpPr>
          <a:xfrm>
            <a:off x="13208508" y="3223260"/>
            <a:ext cx="4238244" cy="685800"/>
            <a:chOff x="0" y="0"/>
            <a:chExt cx="5650992" cy="914400"/>
          </a:xfrm>
        </p:grpSpPr>
        <p:sp>
          <p:nvSpPr>
            <p:cNvPr id="32" name="Freeform 32"/>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33" name="TextBox 33"/>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Earnings flat to down</a:t>
              </a:r>
            </a:p>
          </p:txBody>
        </p:sp>
      </p:grpSp>
      <p:grpSp>
        <p:nvGrpSpPr>
          <p:cNvPr id="34" name="Group 34"/>
          <p:cNvGrpSpPr/>
          <p:nvPr/>
        </p:nvGrpSpPr>
        <p:grpSpPr>
          <a:xfrm>
            <a:off x="864108" y="3909060"/>
            <a:ext cx="4443984" cy="685800"/>
            <a:chOff x="0" y="0"/>
            <a:chExt cx="5925312" cy="914400"/>
          </a:xfrm>
        </p:grpSpPr>
        <p:sp>
          <p:nvSpPr>
            <p:cNvPr id="35" name="Freeform 35"/>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36" name="TextBox 36"/>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Diluted shares (M)</a:t>
              </a:r>
            </a:p>
          </p:txBody>
        </p:sp>
      </p:grpSp>
      <p:grpSp>
        <p:nvGrpSpPr>
          <p:cNvPr id="37" name="Group 37"/>
          <p:cNvGrpSpPr/>
          <p:nvPr/>
        </p:nvGrpSpPr>
        <p:grpSpPr>
          <a:xfrm>
            <a:off x="5527548" y="3909060"/>
            <a:ext cx="3346704" cy="685800"/>
            <a:chOff x="0" y="0"/>
            <a:chExt cx="4462272" cy="914400"/>
          </a:xfrm>
        </p:grpSpPr>
        <p:sp>
          <p:nvSpPr>
            <p:cNvPr id="38" name="Freeform 38"/>
            <p:cNvSpPr/>
            <p:nvPr/>
          </p:nvSpPr>
          <p:spPr>
            <a:xfrm>
              <a:off x="0" y="0"/>
              <a:ext cx="4462272" cy="914400"/>
            </a:xfrm>
            <a:custGeom>
              <a:avLst/>
              <a:gdLst/>
              <a:ahLst/>
              <a:cxnLst/>
              <a:rect l="l" t="t" r="r" b="b"/>
              <a:pathLst>
                <a:path w="4462272" h="914400">
                  <a:moveTo>
                    <a:pt x="0" y="0"/>
                  </a:moveTo>
                  <a:lnTo>
                    <a:pt x="4462272" y="0"/>
                  </a:lnTo>
                  <a:lnTo>
                    <a:pt x="4462272" y="914400"/>
                  </a:lnTo>
                  <a:lnTo>
                    <a:pt x="0" y="914400"/>
                  </a:lnTo>
                  <a:close/>
                </a:path>
              </a:pathLst>
            </a:custGeom>
            <a:blipFill>
              <a:blip r:embed="rId3">
                <a:alphaModFix amt="0"/>
              </a:blip>
              <a:stretch>
                <a:fillRect t="-45086" b="-45086"/>
              </a:stretch>
            </a:blipFill>
          </p:spPr>
          <p:txBody>
            <a:bodyPr/>
            <a:lstStyle/>
            <a:p>
              <a:endParaRPr lang="en-US"/>
            </a:p>
          </p:txBody>
        </p:sp>
        <p:sp>
          <p:nvSpPr>
            <p:cNvPr id="39" name="TextBox 39"/>
            <p:cNvSpPr txBox="1"/>
            <p:nvPr/>
          </p:nvSpPr>
          <p:spPr>
            <a:xfrm>
              <a:off x="0" y="-38100"/>
              <a:ext cx="4462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145.4</a:t>
              </a:r>
            </a:p>
          </p:txBody>
        </p:sp>
      </p:grpSp>
      <p:grpSp>
        <p:nvGrpSpPr>
          <p:cNvPr id="40" name="Group 40"/>
          <p:cNvGrpSpPr/>
          <p:nvPr/>
        </p:nvGrpSpPr>
        <p:grpSpPr>
          <a:xfrm>
            <a:off x="9093708" y="3909060"/>
            <a:ext cx="3895344" cy="685800"/>
            <a:chOff x="0" y="0"/>
            <a:chExt cx="5193792" cy="914400"/>
          </a:xfrm>
        </p:grpSpPr>
        <p:sp>
          <p:nvSpPr>
            <p:cNvPr id="41" name="Freeform 41"/>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42" name="TextBox 42"/>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137.7 (−5%)</a:t>
              </a:r>
            </a:p>
          </p:txBody>
        </p:sp>
      </p:grpSp>
      <p:grpSp>
        <p:nvGrpSpPr>
          <p:cNvPr id="43" name="Group 43"/>
          <p:cNvGrpSpPr/>
          <p:nvPr/>
        </p:nvGrpSpPr>
        <p:grpSpPr>
          <a:xfrm>
            <a:off x="13208508" y="3909060"/>
            <a:ext cx="4238244" cy="685800"/>
            <a:chOff x="0" y="0"/>
            <a:chExt cx="5650992" cy="914400"/>
          </a:xfrm>
        </p:grpSpPr>
        <p:sp>
          <p:nvSpPr>
            <p:cNvPr id="44" name="Freeform 44"/>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45" name="TextBox 45"/>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Denominator shrank</a:t>
              </a:r>
            </a:p>
          </p:txBody>
        </p:sp>
      </p:grpSp>
      <p:grpSp>
        <p:nvGrpSpPr>
          <p:cNvPr id="46" name="Group 46"/>
          <p:cNvGrpSpPr/>
          <p:nvPr/>
        </p:nvGrpSpPr>
        <p:grpSpPr>
          <a:xfrm>
            <a:off x="754380" y="4594860"/>
            <a:ext cx="16802100" cy="685800"/>
            <a:chOff x="0" y="0"/>
            <a:chExt cx="22402800" cy="914400"/>
          </a:xfrm>
        </p:grpSpPr>
        <p:sp>
          <p:nvSpPr>
            <p:cNvPr id="47" name="Freeform 4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48" name="Group 48"/>
          <p:cNvGrpSpPr/>
          <p:nvPr/>
        </p:nvGrpSpPr>
        <p:grpSpPr>
          <a:xfrm>
            <a:off x="864108" y="4594860"/>
            <a:ext cx="4443984" cy="685800"/>
            <a:chOff x="0" y="0"/>
            <a:chExt cx="5925312" cy="914400"/>
          </a:xfrm>
        </p:grpSpPr>
        <p:sp>
          <p:nvSpPr>
            <p:cNvPr id="49" name="Freeform 49"/>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50" name="TextBox 50"/>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Diluted EPS</a:t>
              </a:r>
            </a:p>
          </p:txBody>
        </p:sp>
      </p:grpSp>
      <p:grpSp>
        <p:nvGrpSpPr>
          <p:cNvPr id="51" name="Group 51"/>
          <p:cNvGrpSpPr/>
          <p:nvPr/>
        </p:nvGrpSpPr>
        <p:grpSpPr>
          <a:xfrm>
            <a:off x="5527548" y="4594860"/>
            <a:ext cx="3346704" cy="685800"/>
            <a:chOff x="0" y="0"/>
            <a:chExt cx="4462272" cy="914400"/>
          </a:xfrm>
        </p:grpSpPr>
        <p:sp>
          <p:nvSpPr>
            <p:cNvPr id="52" name="Freeform 52"/>
            <p:cNvSpPr/>
            <p:nvPr/>
          </p:nvSpPr>
          <p:spPr>
            <a:xfrm>
              <a:off x="0" y="0"/>
              <a:ext cx="4462272" cy="914400"/>
            </a:xfrm>
            <a:custGeom>
              <a:avLst/>
              <a:gdLst/>
              <a:ahLst/>
              <a:cxnLst/>
              <a:rect l="l" t="t" r="r" b="b"/>
              <a:pathLst>
                <a:path w="4462272" h="914400">
                  <a:moveTo>
                    <a:pt x="0" y="0"/>
                  </a:moveTo>
                  <a:lnTo>
                    <a:pt x="4462272" y="0"/>
                  </a:lnTo>
                  <a:lnTo>
                    <a:pt x="4462272" y="914400"/>
                  </a:lnTo>
                  <a:lnTo>
                    <a:pt x="0" y="914400"/>
                  </a:lnTo>
                  <a:close/>
                </a:path>
              </a:pathLst>
            </a:custGeom>
            <a:blipFill>
              <a:blip r:embed="rId3">
                <a:alphaModFix amt="0"/>
              </a:blip>
              <a:stretch>
                <a:fillRect t="-45086" b="-45086"/>
              </a:stretch>
            </a:blipFill>
          </p:spPr>
          <p:txBody>
            <a:bodyPr/>
            <a:lstStyle/>
            <a:p>
              <a:endParaRPr lang="en-US"/>
            </a:p>
          </p:txBody>
        </p:sp>
        <p:sp>
          <p:nvSpPr>
            <p:cNvPr id="53" name="TextBox 53"/>
            <p:cNvSpPr txBox="1"/>
            <p:nvPr/>
          </p:nvSpPr>
          <p:spPr>
            <a:xfrm>
              <a:off x="0" y="-38100"/>
              <a:ext cx="4462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$34.97</a:t>
              </a:r>
            </a:p>
          </p:txBody>
        </p:sp>
      </p:grpSp>
      <p:grpSp>
        <p:nvGrpSpPr>
          <p:cNvPr id="54" name="Group 54"/>
          <p:cNvGrpSpPr/>
          <p:nvPr/>
        </p:nvGrpSpPr>
        <p:grpSpPr>
          <a:xfrm>
            <a:off x="9093708" y="4594860"/>
            <a:ext cx="3895344" cy="685800"/>
            <a:chOff x="0" y="0"/>
            <a:chExt cx="5193792" cy="914400"/>
          </a:xfrm>
        </p:grpSpPr>
        <p:sp>
          <p:nvSpPr>
            <p:cNvPr id="55" name="Freeform 55"/>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56" name="TextBox 56"/>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$36.21 (+4%)</a:t>
              </a:r>
            </a:p>
          </p:txBody>
        </p:sp>
      </p:grpSp>
      <p:grpSp>
        <p:nvGrpSpPr>
          <p:cNvPr id="57" name="Group 57"/>
          <p:cNvGrpSpPr/>
          <p:nvPr/>
        </p:nvGrpSpPr>
        <p:grpSpPr>
          <a:xfrm>
            <a:off x="13208508" y="4594860"/>
            <a:ext cx="4238244" cy="685800"/>
            <a:chOff x="0" y="0"/>
            <a:chExt cx="5650992" cy="914400"/>
          </a:xfrm>
        </p:grpSpPr>
        <p:sp>
          <p:nvSpPr>
            <p:cNvPr id="58" name="Freeform 58"/>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59" name="TextBox 59"/>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EPS growth is arithmetic</a:t>
              </a:r>
            </a:p>
          </p:txBody>
        </p:sp>
      </p:grpSp>
      <p:grpSp>
        <p:nvGrpSpPr>
          <p:cNvPr id="60" name="Group 60"/>
          <p:cNvGrpSpPr/>
          <p:nvPr/>
        </p:nvGrpSpPr>
        <p:grpSpPr>
          <a:xfrm>
            <a:off x="864108" y="5280660"/>
            <a:ext cx="4443984" cy="685800"/>
            <a:chOff x="0" y="0"/>
            <a:chExt cx="5925312" cy="914400"/>
          </a:xfrm>
        </p:grpSpPr>
        <p:sp>
          <p:nvSpPr>
            <p:cNvPr id="61" name="Freeform 61"/>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62" name="TextBox 62"/>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Shares repurchased</a:t>
              </a:r>
            </a:p>
          </p:txBody>
        </p:sp>
      </p:grpSp>
      <p:grpSp>
        <p:nvGrpSpPr>
          <p:cNvPr id="63" name="Group 63"/>
          <p:cNvGrpSpPr/>
          <p:nvPr/>
        </p:nvGrpSpPr>
        <p:grpSpPr>
          <a:xfrm>
            <a:off x="5527548" y="5280660"/>
            <a:ext cx="3346704" cy="685800"/>
            <a:chOff x="0" y="0"/>
            <a:chExt cx="4462272" cy="914400"/>
          </a:xfrm>
        </p:grpSpPr>
        <p:sp>
          <p:nvSpPr>
            <p:cNvPr id="64" name="Freeform 64"/>
            <p:cNvSpPr/>
            <p:nvPr/>
          </p:nvSpPr>
          <p:spPr>
            <a:xfrm>
              <a:off x="0" y="0"/>
              <a:ext cx="4462272" cy="914400"/>
            </a:xfrm>
            <a:custGeom>
              <a:avLst/>
              <a:gdLst/>
              <a:ahLst/>
              <a:cxnLst/>
              <a:rect l="l" t="t" r="r" b="b"/>
              <a:pathLst>
                <a:path w="4462272" h="914400">
                  <a:moveTo>
                    <a:pt x="0" y="0"/>
                  </a:moveTo>
                  <a:lnTo>
                    <a:pt x="4462272" y="0"/>
                  </a:lnTo>
                  <a:lnTo>
                    <a:pt x="4462272" y="914400"/>
                  </a:lnTo>
                  <a:lnTo>
                    <a:pt x="0" y="914400"/>
                  </a:lnTo>
                  <a:close/>
                </a:path>
              </a:pathLst>
            </a:custGeom>
            <a:blipFill>
              <a:blip r:embed="rId3">
                <a:alphaModFix amt="0"/>
              </a:blip>
              <a:stretch>
                <a:fillRect t="-45086" b="-45086"/>
              </a:stretch>
            </a:blipFill>
          </p:spPr>
          <p:txBody>
            <a:bodyPr/>
            <a:lstStyle/>
            <a:p>
              <a:endParaRPr lang="en-US"/>
            </a:p>
          </p:txBody>
        </p:sp>
        <p:sp>
          <p:nvSpPr>
            <p:cNvPr id="65" name="TextBox 65"/>
            <p:cNvSpPr txBox="1"/>
            <p:nvPr/>
          </p:nvSpPr>
          <p:spPr>
            <a:xfrm>
              <a:off x="0" y="-38100"/>
              <a:ext cx="4462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a:t>
              </a:r>
            </a:p>
          </p:txBody>
        </p:sp>
      </p:grpSp>
      <p:grpSp>
        <p:nvGrpSpPr>
          <p:cNvPr id="66" name="Group 66"/>
          <p:cNvGrpSpPr/>
          <p:nvPr/>
        </p:nvGrpSpPr>
        <p:grpSpPr>
          <a:xfrm>
            <a:off x="9093708" y="5280660"/>
            <a:ext cx="3895344" cy="685800"/>
            <a:chOff x="0" y="0"/>
            <a:chExt cx="5193792" cy="914400"/>
          </a:xfrm>
        </p:grpSpPr>
        <p:sp>
          <p:nvSpPr>
            <p:cNvPr id="67" name="Freeform 67"/>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68" name="TextBox 68"/>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17.1M / ~$5.4B</a:t>
              </a:r>
            </a:p>
          </p:txBody>
        </p:sp>
      </p:grpSp>
      <p:grpSp>
        <p:nvGrpSpPr>
          <p:cNvPr id="69" name="Group 69"/>
          <p:cNvGrpSpPr/>
          <p:nvPr/>
        </p:nvGrpSpPr>
        <p:grpSpPr>
          <a:xfrm>
            <a:off x="13208508" y="5280660"/>
            <a:ext cx="4238244" cy="685800"/>
            <a:chOff x="0" y="0"/>
            <a:chExt cx="5650992" cy="914400"/>
          </a:xfrm>
        </p:grpSpPr>
        <p:sp>
          <p:nvSpPr>
            <p:cNvPr id="70" name="Freeform 70"/>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71" name="TextBox 71"/>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Plus 4.3M / ~$1.0B in Q1 2026</a:t>
              </a:r>
            </a:p>
          </p:txBody>
        </p:sp>
      </p:grpSp>
      <p:grpSp>
        <p:nvGrpSpPr>
          <p:cNvPr id="72" name="Group 72"/>
          <p:cNvGrpSpPr/>
          <p:nvPr/>
        </p:nvGrpSpPr>
        <p:grpSpPr>
          <a:xfrm>
            <a:off x="754380" y="5966460"/>
            <a:ext cx="16802100" cy="685800"/>
            <a:chOff x="0" y="0"/>
            <a:chExt cx="22402800" cy="914400"/>
          </a:xfrm>
        </p:grpSpPr>
        <p:sp>
          <p:nvSpPr>
            <p:cNvPr id="73" name="Freeform 73"/>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74" name="Group 74"/>
          <p:cNvGrpSpPr/>
          <p:nvPr/>
        </p:nvGrpSpPr>
        <p:grpSpPr>
          <a:xfrm>
            <a:off x="864108" y="5966460"/>
            <a:ext cx="4443984" cy="685800"/>
            <a:chOff x="0" y="0"/>
            <a:chExt cx="5925312" cy="914400"/>
          </a:xfrm>
        </p:grpSpPr>
        <p:sp>
          <p:nvSpPr>
            <p:cNvPr id="75" name="Freeform 75"/>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76" name="TextBox 76"/>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Program since Sep 2016</a:t>
              </a:r>
            </a:p>
          </p:txBody>
        </p:sp>
      </p:grpSp>
      <p:grpSp>
        <p:nvGrpSpPr>
          <p:cNvPr id="77" name="Group 77"/>
          <p:cNvGrpSpPr/>
          <p:nvPr/>
        </p:nvGrpSpPr>
        <p:grpSpPr>
          <a:xfrm>
            <a:off x="9093708" y="5966460"/>
            <a:ext cx="3895344" cy="685800"/>
            <a:chOff x="0" y="0"/>
            <a:chExt cx="5193792" cy="914400"/>
          </a:xfrm>
        </p:grpSpPr>
        <p:sp>
          <p:nvSpPr>
            <p:cNvPr id="78" name="Freeform 78"/>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79" name="TextBox 79"/>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~184M shares / units for ~$79.7B</a:t>
              </a:r>
            </a:p>
          </p:txBody>
        </p:sp>
      </p:grpSp>
      <p:grpSp>
        <p:nvGrpSpPr>
          <p:cNvPr id="80" name="Group 80"/>
          <p:cNvGrpSpPr/>
          <p:nvPr/>
        </p:nvGrpSpPr>
        <p:grpSpPr>
          <a:xfrm>
            <a:off x="13208508" y="5966460"/>
            <a:ext cx="4238244" cy="685800"/>
            <a:chOff x="0" y="0"/>
            <a:chExt cx="5650992" cy="914400"/>
          </a:xfrm>
        </p:grpSpPr>
        <p:sp>
          <p:nvSpPr>
            <p:cNvPr id="81" name="Freeform 81"/>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82" name="TextBox 82"/>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Roughly the current market cap, three times over</a:t>
              </a:r>
            </a:p>
          </p:txBody>
        </p:sp>
      </p:grpSp>
      <p:grpSp>
        <p:nvGrpSpPr>
          <p:cNvPr id="83" name="Group 83"/>
          <p:cNvGrpSpPr/>
          <p:nvPr/>
        </p:nvGrpSpPr>
        <p:grpSpPr>
          <a:xfrm>
            <a:off x="864108" y="6652260"/>
            <a:ext cx="4443984" cy="685800"/>
            <a:chOff x="0" y="0"/>
            <a:chExt cx="5925312" cy="914400"/>
          </a:xfrm>
        </p:grpSpPr>
        <p:sp>
          <p:nvSpPr>
            <p:cNvPr id="84" name="Freeform 84"/>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85" name="TextBox 85"/>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CHTR close, earnings dates</a:t>
              </a:r>
            </a:p>
          </p:txBody>
        </p:sp>
      </p:grpSp>
      <p:grpSp>
        <p:nvGrpSpPr>
          <p:cNvPr id="86" name="Group 86"/>
          <p:cNvGrpSpPr/>
          <p:nvPr/>
        </p:nvGrpSpPr>
        <p:grpSpPr>
          <a:xfrm>
            <a:off x="5527548" y="6652260"/>
            <a:ext cx="3346704" cy="685800"/>
            <a:chOff x="0" y="0"/>
            <a:chExt cx="4462272" cy="914400"/>
          </a:xfrm>
        </p:grpSpPr>
        <p:sp>
          <p:nvSpPr>
            <p:cNvPr id="87" name="Freeform 87"/>
            <p:cNvSpPr/>
            <p:nvPr/>
          </p:nvSpPr>
          <p:spPr>
            <a:xfrm>
              <a:off x="0" y="0"/>
              <a:ext cx="4462272" cy="914400"/>
            </a:xfrm>
            <a:custGeom>
              <a:avLst/>
              <a:gdLst/>
              <a:ahLst/>
              <a:cxnLst/>
              <a:rect l="l" t="t" r="r" b="b"/>
              <a:pathLst>
                <a:path w="4462272" h="914400">
                  <a:moveTo>
                    <a:pt x="0" y="0"/>
                  </a:moveTo>
                  <a:lnTo>
                    <a:pt x="4462272" y="0"/>
                  </a:lnTo>
                  <a:lnTo>
                    <a:pt x="4462272" y="914400"/>
                  </a:lnTo>
                  <a:lnTo>
                    <a:pt x="0" y="914400"/>
                  </a:lnTo>
                  <a:close/>
                </a:path>
              </a:pathLst>
            </a:custGeom>
            <a:blipFill>
              <a:blip r:embed="rId3">
                <a:alphaModFix amt="0"/>
              </a:blip>
              <a:stretch>
                <a:fillRect t="-45086" b="-45086"/>
              </a:stretch>
            </a:blipFill>
          </p:spPr>
          <p:txBody>
            <a:bodyPr/>
            <a:lstStyle/>
            <a:p>
              <a:endParaRPr lang="en-US"/>
            </a:p>
          </p:txBody>
        </p:sp>
        <p:sp>
          <p:nvSpPr>
            <p:cNvPr id="88" name="TextBox 88"/>
            <p:cNvSpPr txBox="1"/>
            <p:nvPr/>
          </p:nvSpPr>
          <p:spPr>
            <a:xfrm>
              <a:off x="0" y="-38100"/>
              <a:ext cx="446227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Jan 31 ’25: $345</a:t>
              </a:r>
            </a:p>
          </p:txBody>
        </p:sp>
      </p:grpSp>
      <p:grpSp>
        <p:nvGrpSpPr>
          <p:cNvPr id="89" name="Group 89"/>
          <p:cNvGrpSpPr/>
          <p:nvPr/>
        </p:nvGrpSpPr>
        <p:grpSpPr>
          <a:xfrm>
            <a:off x="9093708" y="6652260"/>
            <a:ext cx="3895344" cy="685800"/>
            <a:chOff x="0" y="0"/>
            <a:chExt cx="5193792" cy="914400"/>
          </a:xfrm>
        </p:grpSpPr>
        <p:sp>
          <p:nvSpPr>
            <p:cNvPr id="90" name="Freeform 90"/>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91" name="TextBox 91"/>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Jul 24 ’26*: $123</a:t>
              </a:r>
            </a:p>
          </p:txBody>
        </p:sp>
      </p:grpSp>
      <p:grpSp>
        <p:nvGrpSpPr>
          <p:cNvPr id="92" name="Group 92"/>
          <p:cNvGrpSpPr/>
          <p:nvPr/>
        </p:nvGrpSpPr>
        <p:grpSpPr>
          <a:xfrm>
            <a:off x="13208508" y="6652260"/>
            <a:ext cx="4238244" cy="685800"/>
            <a:chOff x="0" y="0"/>
            <a:chExt cx="5650992" cy="914400"/>
          </a:xfrm>
        </p:grpSpPr>
        <p:sp>
          <p:nvSpPr>
            <p:cNvPr id="93" name="Freeform 93"/>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94" name="TextBox 94"/>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−64% while buying</a:t>
              </a:r>
            </a:p>
          </p:txBody>
        </p:sp>
      </p:grpSp>
      <p:grpSp>
        <p:nvGrpSpPr>
          <p:cNvPr id="95" name="Group 95"/>
          <p:cNvGrpSpPr/>
          <p:nvPr/>
        </p:nvGrpSpPr>
        <p:grpSpPr>
          <a:xfrm>
            <a:off x="754380" y="7338060"/>
            <a:ext cx="16802100" cy="685800"/>
            <a:chOff x="0" y="0"/>
            <a:chExt cx="22402800" cy="914400"/>
          </a:xfrm>
        </p:grpSpPr>
        <p:sp>
          <p:nvSpPr>
            <p:cNvPr id="96" name="Freeform 96"/>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97" name="Group 97"/>
          <p:cNvGrpSpPr/>
          <p:nvPr/>
        </p:nvGrpSpPr>
        <p:grpSpPr>
          <a:xfrm>
            <a:off x="864108" y="7338060"/>
            <a:ext cx="4443984" cy="685800"/>
            <a:chOff x="0" y="0"/>
            <a:chExt cx="5925312" cy="914400"/>
          </a:xfrm>
        </p:grpSpPr>
        <p:sp>
          <p:nvSpPr>
            <p:cNvPr id="98" name="Freeform 98"/>
            <p:cNvSpPr/>
            <p:nvPr/>
          </p:nvSpPr>
          <p:spPr>
            <a:xfrm>
              <a:off x="0" y="0"/>
              <a:ext cx="5925312" cy="914400"/>
            </a:xfrm>
            <a:custGeom>
              <a:avLst/>
              <a:gdLst/>
              <a:ahLst/>
              <a:cxnLst/>
              <a:rect l="l" t="t" r="r" b="b"/>
              <a:pathLst>
                <a:path w="5925312" h="914400">
                  <a:moveTo>
                    <a:pt x="0" y="0"/>
                  </a:moveTo>
                  <a:lnTo>
                    <a:pt x="5925312" y="0"/>
                  </a:lnTo>
                  <a:lnTo>
                    <a:pt x="5925312" y="914400"/>
                  </a:lnTo>
                  <a:lnTo>
                    <a:pt x="0" y="914400"/>
                  </a:lnTo>
                  <a:close/>
                </a:path>
              </a:pathLst>
            </a:custGeom>
            <a:blipFill>
              <a:blip r:embed="rId3">
                <a:alphaModFix amt="0"/>
              </a:blip>
              <a:stretch>
                <a:fillRect t="-76263" b="-76263"/>
              </a:stretch>
            </a:blipFill>
          </p:spPr>
          <p:txBody>
            <a:bodyPr/>
            <a:lstStyle/>
            <a:p>
              <a:endParaRPr lang="en-US"/>
            </a:p>
          </p:txBody>
        </p:sp>
        <p:sp>
          <p:nvSpPr>
            <p:cNvPr id="99" name="TextBox 99"/>
            <p:cNvSpPr txBox="1"/>
            <p:nvPr/>
          </p:nvSpPr>
          <p:spPr>
            <a:xfrm>
              <a:off x="0" y="-38100"/>
              <a:ext cx="5925312" cy="952500"/>
            </a:xfrm>
            <a:prstGeom prst="rect">
              <a:avLst/>
            </a:prstGeom>
          </p:spPr>
          <p:txBody>
            <a:bodyPr lIns="0" tIns="0" rIns="0" bIns="0" rtlCol="0" anchor="ctr"/>
            <a:lstStyle/>
            <a:p>
              <a:pPr algn="l">
                <a:lnSpc>
                  <a:spcPts val="1800"/>
                </a:lnSpc>
              </a:pPr>
              <a:r>
                <a:rPr lang="en-US" sz="1500" b="1">
                  <a:solidFill>
                    <a:srgbClr val="171A1F"/>
                  </a:solidFill>
                  <a:latin typeface="Calibri"/>
                  <a:ea typeface="Calibri (MS) Bold"/>
                  <a:cs typeface="Calibri"/>
                  <a:sym typeface="Calibri (MS) Bold"/>
                </a:rPr>
                <a:t>Net debt / TTM EBITDA</a:t>
              </a:r>
            </a:p>
          </p:txBody>
        </p:sp>
      </p:grpSp>
      <p:grpSp>
        <p:nvGrpSpPr>
          <p:cNvPr id="100" name="Group 100"/>
          <p:cNvGrpSpPr/>
          <p:nvPr/>
        </p:nvGrpSpPr>
        <p:grpSpPr>
          <a:xfrm>
            <a:off x="9093708" y="7338060"/>
            <a:ext cx="3895344" cy="685800"/>
            <a:chOff x="0" y="0"/>
            <a:chExt cx="5193792" cy="914400"/>
          </a:xfrm>
        </p:grpSpPr>
        <p:sp>
          <p:nvSpPr>
            <p:cNvPr id="101" name="Freeform 101"/>
            <p:cNvSpPr/>
            <p:nvPr/>
          </p:nvSpPr>
          <p:spPr>
            <a:xfrm>
              <a:off x="0" y="0"/>
              <a:ext cx="5193792" cy="914400"/>
            </a:xfrm>
            <a:custGeom>
              <a:avLst/>
              <a:gdLst/>
              <a:ahLst/>
              <a:cxnLst/>
              <a:rect l="l" t="t" r="r" b="b"/>
              <a:pathLst>
                <a:path w="5193792" h="914400">
                  <a:moveTo>
                    <a:pt x="0" y="0"/>
                  </a:moveTo>
                  <a:lnTo>
                    <a:pt x="5193792" y="0"/>
                  </a:lnTo>
                  <a:lnTo>
                    <a:pt x="5193792" y="914400"/>
                  </a:lnTo>
                  <a:lnTo>
                    <a:pt x="0" y="914400"/>
                  </a:lnTo>
                  <a:close/>
                </a:path>
              </a:pathLst>
            </a:custGeom>
            <a:blipFill>
              <a:blip r:embed="rId3">
                <a:alphaModFix amt="0"/>
              </a:blip>
              <a:stretch>
                <a:fillRect t="-60675" b="-60675"/>
              </a:stretch>
            </a:blipFill>
          </p:spPr>
          <p:txBody>
            <a:bodyPr/>
            <a:lstStyle/>
            <a:p>
              <a:endParaRPr lang="en-US"/>
            </a:p>
          </p:txBody>
        </p:sp>
        <p:sp>
          <p:nvSpPr>
            <p:cNvPr id="102" name="TextBox 102"/>
            <p:cNvSpPr txBox="1"/>
            <p:nvPr/>
          </p:nvSpPr>
          <p:spPr>
            <a:xfrm>
              <a:off x="0" y="-38100"/>
              <a:ext cx="5193792" cy="952500"/>
            </a:xfrm>
            <a:prstGeom prst="rect">
              <a:avLst/>
            </a:prstGeom>
          </p:spPr>
          <p:txBody>
            <a:bodyPr lIns="0" tIns="0" rIns="0" bIns="0" rtlCol="0" anchor="ctr"/>
            <a:lstStyle/>
            <a:p>
              <a:pPr algn="l">
                <a:lnSpc>
                  <a:spcPts val="1800"/>
                </a:lnSpc>
              </a:pPr>
              <a:r>
                <a:rPr lang="en-US" sz="1500">
                  <a:solidFill>
                    <a:srgbClr val="66717D"/>
                  </a:solidFill>
                  <a:latin typeface="Calibri"/>
                  <a:ea typeface="Calibri (MS)"/>
                  <a:cs typeface="Calibri"/>
                  <a:sym typeface="Calibri (MS)"/>
                </a:rPr>
                <a:t>4.15x at 3/31/26</a:t>
              </a:r>
            </a:p>
          </p:txBody>
        </p:sp>
      </p:grpSp>
      <p:grpSp>
        <p:nvGrpSpPr>
          <p:cNvPr id="103" name="Group 103"/>
          <p:cNvGrpSpPr/>
          <p:nvPr/>
        </p:nvGrpSpPr>
        <p:grpSpPr>
          <a:xfrm>
            <a:off x="13208508" y="7338060"/>
            <a:ext cx="4238244" cy="685800"/>
            <a:chOff x="0" y="0"/>
            <a:chExt cx="5650992" cy="914400"/>
          </a:xfrm>
        </p:grpSpPr>
        <p:sp>
          <p:nvSpPr>
            <p:cNvPr id="104" name="Freeform 104"/>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105" name="TextBox 105"/>
            <p:cNvSpPr txBox="1"/>
            <p:nvPr/>
          </p:nvSpPr>
          <p:spPr>
            <a:xfrm>
              <a:off x="0" y="-38100"/>
              <a:ext cx="5650992" cy="952500"/>
            </a:xfrm>
            <a:prstGeom prst="rect">
              <a:avLst/>
            </a:prstGeom>
          </p:spPr>
          <p:txBody>
            <a:bodyPr lIns="0" tIns="0" rIns="0" bIns="0" rtlCol="0" anchor="ctr"/>
            <a:lstStyle/>
            <a:p>
              <a:pPr algn="l">
                <a:lnSpc>
                  <a:spcPts val="1800"/>
                </a:lnSpc>
              </a:pPr>
              <a:r>
                <a:rPr lang="en-US" sz="1500">
                  <a:solidFill>
                    <a:srgbClr val="0099D8"/>
                  </a:solidFill>
                  <a:latin typeface="Calibri"/>
                  <a:ea typeface="Calibri (MS)"/>
                  <a:cs typeface="Calibri"/>
                  <a:sym typeface="Calibri (MS)"/>
                </a:rPr>
                <a:t>Interest ~$5.0B/yr</a:t>
              </a:r>
            </a:p>
          </p:txBody>
        </p:sp>
      </p:grpSp>
      <p:grpSp>
        <p:nvGrpSpPr>
          <p:cNvPr id="106" name="Group 106"/>
          <p:cNvGrpSpPr/>
          <p:nvPr/>
        </p:nvGrpSpPr>
        <p:grpSpPr>
          <a:xfrm>
            <a:off x="754380" y="8161020"/>
            <a:ext cx="16802100" cy="617220"/>
            <a:chOff x="0" y="0"/>
            <a:chExt cx="22402800" cy="822960"/>
          </a:xfrm>
        </p:grpSpPr>
        <p:sp>
          <p:nvSpPr>
            <p:cNvPr id="107" name="Freeform 107"/>
            <p:cNvSpPr/>
            <p:nvPr/>
          </p:nvSpPr>
          <p:spPr>
            <a:xfrm>
              <a:off x="0" y="0"/>
              <a:ext cx="22402800" cy="822960"/>
            </a:xfrm>
            <a:custGeom>
              <a:avLst/>
              <a:gdLst/>
              <a:ahLst/>
              <a:cxnLst/>
              <a:rect l="l" t="t" r="r" b="b"/>
              <a:pathLst>
                <a:path w="22402800" h="822960">
                  <a:moveTo>
                    <a:pt x="0" y="0"/>
                  </a:moveTo>
                  <a:lnTo>
                    <a:pt x="22402800" y="0"/>
                  </a:lnTo>
                  <a:lnTo>
                    <a:pt x="22402800" y="822960"/>
                  </a:lnTo>
                  <a:lnTo>
                    <a:pt x="0" y="822960"/>
                  </a:lnTo>
                  <a:close/>
                </a:path>
              </a:pathLst>
            </a:custGeom>
            <a:blipFill>
              <a:blip r:embed="rId3">
                <a:alphaModFix amt="0"/>
              </a:blip>
              <a:stretch>
                <a:fillRect t="-480426" b="-480426"/>
              </a:stretch>
            </a:blipFill>
          </p:spPr>
          <p:txBody>
            <a:bodyPr/>
            <a:lstStyle/>
            <a:p>
              <a:endParaRPr lang="en-US"/>
            </a:p>
          </p:txBody>
        </p:sp>
        <p:sp>
          <p:nvSpPr>
            <p:cNvPr id="108" name="TextBox 108"/>
            <p:cNvSpPr txBox="1"/>
            <p:nvPr/>
          </p:nvSpPr>
          <p:spPr>
            <a:xfrm>
              <a:off x="0" y="-38100"/>
              <a:ext cx="22402800" cy="861060"/>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Why deleveraging and not a dividend: </a:t>
              </a:r>
              <a:r>
                <a:rPr lang="en-US" sz="1425">
                  <a:solidFill>
                    <a:srgbClr val="5B6672"/>
                  </a:solidFill>
                  <a:latin typeface="Calibri"/>
                  <a:ea typeface="Calibri (MS)"/>
                  <a:cs typeface="Calibri"/>
                  <a:sym typeface="Calibri (MS)"/>
                </a:rPr>
                <a:t>a dividend adds a permanent cash claim on a business whose engine is shrinking; paying down debt lowers a real ~$5B interest line, moves toward the 3.5–3.75x long-term target management already states, and is reversible when the reinstatement trigger fires. Structural options (NetCo/ServCo separation) are noted in Appendix A22 as beyond the eight-quarter window.</a:t>
              </a:r>
            </a:p>
          </p:txBody>
        </p:sp>
      </p:grpSp>
      <p:grpSp>
        <p:nvGrpSpPr>
          <p:cNvPr id="109" name="Group 109"/>
          <p:cNvGrpSpPr/>
          <p:nvPr/>
        </p:nvGrpSpPr>
        <p:grpSpPr>
          <a:xfrm>
            <a:off x="754380" y="8805672"/>
            <a:ext cx="16733520" cy="356616"/>
            <a:chOff x="0" y="0"/>
            <a:chExt cx="22311360" cy="475488"/>
          </a:xfrm>
        </p:grpSpPr>
        <p:sp>
          <p:nvSpPr>
            <p:cNvPr id="110" name="Freeform 110"/>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111" name="TextBox 111"/>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Q1 2026 10-Q; Yahoo Finance closes (analysis, not a filing). *Later public fact.</a:t>
              </a:r>
            </a:p>
          </p:txBody>
        </p:sp>
      </p:grpSp>
      <p:grpSp>
        <p:nvGrpSpPr>
          <p:cNvPr id="112" name="Group 112"/>
          <p:cNvGrpSpPr/>
          <p:nvPr/>
        </p:nvGrpSpPr>
        <p:grpSpPr>
          <a:xfrm>
            <a:off x="754380" y="9168289"/>
            <a:ext cx="16733521" cy="432911"/>
            <a:chOff x="0" y="-28575"/>
            <a:chExt cx="22311361" cy="577215"/>
          </a:xfrm>
        </p:grpSpPr>
        <p:sp>
          <p:nvSpPr>
            <p:cNvPr id="113" name="Freeform 11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14" name="TextBox 11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(p.6)</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15" name="Group 115"/>
          <p:cNvGrpSpPr/>
          <p:nvPr/>
        </p:nvGrpSpPr>
        <p:grpSpPr>
          <a:xfrm>
            <a:off x="17076420" y="9669780"/>
            <a:ext cx="960120" cy="411480"/>
            <a:chOff x="0" y="0"/>
            <a:chExt cx="1280160" cy="548640"/>
          </a:xfrm>
        </p:grpSpPr>
        <p:sp>
          <p:nvSpPr>
            <p:cNvPr id="116" name="Freeform 11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17" name="TextBox 11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20</a:t>
              </a:r>
            </a:p>
          </p:txBody>
        </p:sp>
      </p:grpSp>
      <p:grpSp>
        <p:nvGrpSpPr>
          <p:cNvPr id="118" name="Group 118"/>
          <p:cNvGrpSpPr/>
          <p:nvPr/>
        </p:nvGrpSpPr>
        <p:grpSpPr>
          <a:xfrm>
            <a:off x="754380" y="9669780"/>
            <a:ext cx="16047720" cy="411480"/>
            <a:chOff x="0" y="0"/>
            <a:chExt cx="21396960" cy="548640"/>
          </a:xfrm>
        </p:grpSpPr>
        <p:sp>
          <p:nvSpPr>
            <p:cNvPr id="119" name="Freeform 11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20" name="TextBox 12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A10  ·  METHOD: WHAT WE TESTED AND KILLED</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Three Comfortable Hypotheses Failed the Test</a:t>
            </a:r>
          </a:p>
        </p:txBody>
      </p:sp>
      <p:grpSp>
        <p:nvGrpSpPr>
          <p:cNvPr id="6" name="Group 6"/>
          <p:cNvGrpSpPr/>
          <p:nvPr/>
        </p:nvGrpSpPr>
        <p:grpSpPr>
          <a:xfrm>
            <a:off x="744855" y="2665095"/>
            <a:ext cx="3928110" cy="4545330"/>
            <a:chOff x="0" y="0"/>
            <a:chExt cx="5237480" cy="6060440"/>
          </a:xfrm>
        </p:grpSpPr>
        <p:sp>
          <p:nvSpPr>
            <p:cNvPr id="7" name="Freeform 7"/>
            <p:cNvSpPr/>
            <p:nvPr/>
          </p:nvSpPr>
          <p:spPr>
            <a:xfrm>
              <a:off x="0" y="0"/>
              <a:ext cx="5237480" cy="6060440"/>
            </a:xfrm>
            <a:custGeom>
              <a:avLst/>
              <a:gdLst/>
              <a:ahLst/>
              <a:cxnLst/>
              <a:rect l="l" t="t" r="r" b="b"/>
              <a:pathLst>
                <a:path w="5237480" h="6060440">
                  <a:moveTo>
                    <a:pt x="0" y="147066"/>
                  </a:moveTo>
                  <a:cubicBezTo>
                    <a:pt x="0" y="65786"/>
                    <a:pt x="65786" y="0"/>
                    <a:pt x="147066" y="0"/>
                  </a:cubicBezTo>
                  <a:lnTo>
                    <a:pt x="5090414" y="0"/>
                  </a:lnTo>
                  <a:cubicBezTo>
                    <a:pt x="5171567" y="0"/>
                    <a:pt x="5237480" y="65786"/>
                    <a:pt x="5237480" y="147066"/>
                  </a:cubicBezTo>
                  <a:lnTo>
                    <a:pt x="5237480" y="5913374"/>
                  </a:lnTo>
                  <a:cubicBezTo>
                    <a:pt x="5237480" y="5994527"/>
                    <a:pt x="5171694" y="6060440"/>
                    <a:pt x="5090414" y="6060440"/>
                  </a:cubicBezTo>
                  <a:lnTo>
                    <a:pt x="147066" y="6060440"/>
                  </a:lnTo>
                  <a:cubicBezTo>
                    <a:pt x="65786" y="6060440"/>
                    <a:pt x="0" y="5994654"/>
                    <a:pt x="0" y="5913374"/>
                  </a:cubicBezTo>
                  <a:close/>
                </a:path>
              </a:pathLst>
            </a:custGeom>
            <a:solidFill>
              <a:srgbClr val="FEFEFE"/>
            </a:solidFill>
            <a:ln w="19050" cap="sq">
              <a:solidFill>
                <a:srgbClr val="D8DEE6"/>
              </a:solidFill>
              <a:prstDash val="solid"/>
              <a:miter/>
            </a:ln>
          </p:spPr>
          <p:txBody>
            <a:bodyPr/>
            <a:lstStyle/>
            <a:p>
              <a:endParaRPr lang="en-US"/>
            </a:p>
          </p:txBody>
        </p:sp>
      </p:grpSp>
      <p:grpSp>
        <p:nvGrpSpPr>
          <p:cNvPr id="8" name="Group 8"/>
          <p:cNvGrpSpPr/>
          <p:nvPr/>
        </p:nvGrpSpPr>
        <p:grpSpPr>
          <a:xfrm>
            <a:off x="1028700" y="2880360"/>
            <a:ext cx="3360420" cy="356616"/>
            <a:chOff x="0" y="0"/>
            <a:chExt cx="4480560" cy="475488"/>
          </a:xfrm>
        </p:grpSpPr>
        <p:sp>
          <p:nvSpPr>
            <p:cNvPr id="9" name="Freeform 9"/>
            <p:cNvSpPr/>
            <p:nvPr/>
          </p:nvSpPr>
          <p:spPr>
            <a:xfrm>
              <a:off x="0" y="0"/>
              <a:ext cx="4480560" cy="475488"/>
            </a:xfrm>
            <a:custGeom>
              <a:avLst/>
              <a:gdLst/>
              <a:ahLst/>
              <a:cxnLst/>
              <a:rect l="l" t="t" r="r" b="b"/>
              <a:pathLst>
                <a:path w="4480560" h="475488">
                  <a:moveTo>
                    <a:pt x="0" y="0"/>
                  </a:moveTo>
                  <a:lnTo>
                    <a:pt x="4480560" y="0"/>
                  </a:lnTo>
                  <a:lnTo>
                    <a:pt x="4480560" y="475488"/>
                  </a:lnTo>
                  <a:lnTo>
                    <a:pt x="0" y="475488"/>
                  </a:lnTo>
                  <a:close/>
                </a:path>
              </a:pathLst>
            </a:custGeom>
            <a:blipFill>
              <a:blip r:embed="rId3">
                <a:alphaModFix amt="0"/>
              </a:blip>
              <a:stretch>
                <a:fillRect t="-133609" b="-133609"/>
              </a:stretch>
            </a:blipFill>
          </p:spPr>
          <p:txBody>
            <a:bodyPr/>
            <a:lstStyle/>
            <a:p>
              <a:endParaRPr lang="en-US"/>
            </a:p>
          </p:txBody>
        </p:sp>
        <p:sp>
          <p:nvSpPr>
            <p:cNvPr id="10" name="TextBox 10"/>
            <p:cNvSpPr txBox="1"/>
            <p:nvPr/>
          </p:nvSpPr>
          <p:spPr>
            <a:xfrm>
              <a:off x="0" y="-38100"/>
              <a:ext cx="448056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H1  ·  KILLED</a:t>
              </a:r>
            </a:p>
          </p:txBody>
        </p:sp>
      </p:grpSp>
      <p:grpSp>
        <p:nvGrpSpPr>
          <p:cNvPr id="11" name="Group 11"/>
          <p:cNvGrpSpPr/>
          <p:nvPr/>
        </p:nvGrpSpPr>
        <p:grpSpPr>
          <a:xfrm>
            <a:off x="1028700" y="3291840"/>
            <a:ext cx="3360420" cy="754380"/>
            <a:chOff x="0" y="0"/>
            <a:chExt cx="4480560" cy="1005840"/>
          </a:xfrm>
        </p:grpSpPr>
        <p:sp>
          <p:nvSpPr>
            <p:cNvPr id="12" name="Freeform 12"/>
            <p:cNvSpPr/>
            <p:nvPr/>
          </p:nvSpPr>
          <p:spPr>
            <a:xfrm>
              <a:off x="0" y="0"/>
              <a:ext cx="4480560" cy="1005840"/>
            </a:xfrm>
            <a:custGeom>
              <a:avLst/>
              <a:gdLst/>
              <a:ahLst/>
              <a:cxnLst/>
              <a:rect l="l" t="t" r="r" b="b"/>
              <a:pathLst>
                <a:path w="4480560" h="1005840">
                  <a:moveTo>
                    <a:pt x="0" y="0"/>
                  </a:moveTo>
                  <a:lnTo>
                    <a:pt x="4480560" y="0"/>
                  </a:lnTo>
                  <a:lnTo>
                    <a:pt x="4480560" y="1005840"/>
                  </a:lnTo>
                  <a:lnTo>
                    <a:pt x="0" y="1005840"/>
                  </a:lnTo>
                  <a:close/>
                </a:path>
              </a:pathLst>
            </a:custGeom>
            <a:blipFill>
              <a:blip r:embed="rId3">
                <a:alphaModFix amt="0"/>
              </a:blip>
              <a:stretch>
                <a:fillRect t="-36796" b="-36796"/>
              </a:stretch>
            </a:blipFill>
          </p:spPr>
          <p:txBody>
            <a:bodyPr/>
            <a:lstStyle/>
            <a:p>
              <a:endParaRPr lang="en-US"/>
            </a:p>
          </p:txBody>
        </p:sp>
        <p:sp>
          <p:nvSpPr>
            <p:cNvPr id="13" name="TextBox 13"/>
            <p:cNvSpPr txBox="1"/>
            <p:nvPr/>
          </p:nvSpPr>
          <p:spPr>
            <a:xfrm>
              <a:off x="0" y="-47625"/>
              <a:ext cx="4480560" cy="105346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“It’s an opex problem”</a:t>
              </a:r>
            </a:p>
          </p:txBody>
        </p:sp>
      </p:grpSp>
      <p:sp>
        <p:nvSpPr>
          <p:cNvPr id="14" name="TextBox 14"/>
          <p:cNvSpPr txBox="1"/>
          <p:nvPr/>
        </p:nvSpPr>
        <p:spPr>
          <a:xfrm>
            <a:off x="1028700" y="4049268"/>
            <a:ext cx="3360420" cy="134518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Adj. EBITDA margins held at ~41%; operating costs fell YoY in FY2025 ($32.7B vs. $33.2B). The cost story sits below the EBITDA line, capex ($11.7B) plus interest ($5.0B) consume ~73% of EBITDA, a capital-structure fact the market already knows.</a:t>
            </a:r>
          </a:p>
        </p:txBody>
      </p:sp>
      <p:grpSp>
        <p:nvGrpSpPr>
          <p:cNvPr id="15" name="Group 15"/>
          <p:cNvGrpSpPr/>
          <p:nvPr/>
        </p:nvGrpSpPr>
        <p:grpSpPr>
          <a:xfrm>
            <a:off x="4859655" y="2665095"/>
            <a:ext cx="3928110" cy="4545330"/>
            <a:chOff x="0" y="0"/>
            <a:chExt cx="5237480" cy="6060440"/>
          </a:xfrm>
        </p:grpSpPr>
        <p:sp>
          <p:nvSpPr>
            <p:cNvPr id="16" name="Freeform 16"/>
            <p:cNvSpPr/>
            <p:nvPr/>
          </p:nvSpPr>
          <p:spPr>
            <a:xfrm>
              <a:off x="0" y="0"/>
              <a:ext cx="5237480" cy="6060440"/>
            </a:xfrm>
            <a:custGeom>
              <a:avLst/>
              <a:gdLst/>
              <a:ahLst/>
              <a:cxnLst/>
              <a:rect l="l" t="t" r="r" b="b"/>
              <a:pathLst>
                <a:path w="5237480" h="6060440">
                  <a:moveTo>
                    <a:pt x="0" y="147066"/>
                  </a:moveTo>
                  <a:cubicBezTo>
                    <a:pt x="0" y="65786"/>
                    <a:pt x="65786" y="0"/>
                    <a:pt x="147066" y="0"/>
                  </a:cubicBezTo>
                  <a:lnTo>
                    <a:pt x="5090414" y="0"/>
                  </a:lnTo>
                  <a:cubicBezTo>
                    <a:pt x="5171567" y="0"/>
                    <a:pt x="5237480" y="65786"/>
                    <a:pt x="5237480" y="147066"/>
                  </a:cubicBezTo>
                  <a:lnTo>
                    <a:pt x="5237480" y="5913374"/>
                  </a:lnTo>
                  <a:cubicBezTo>
                    <a:pt x="5237480" y="5994527"/>
                    <a:pt x="5171694" y="6060440"/>
                    <a:pt x="5090414" y="6060440"/>
                  </a:cubicBezTo>
                  <a:lnTo>
                    <a:pt x="147066" y="6060440"/>
                  </a:lnTo>
                  <a:cubicBezTo>
                    <a:pt x="65786" y="6060440"/>
                    <a:pt x="0" y="5994654"/>
                    <a:pt x="0" y="5913374"/>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7" name="Group 17"/>
          <p:cNvGrpSpPr/>
          <p:nvPr/>
        </p:nvGrpSpPr>
        <p:grpSpPr>
          <a:xfrm>
            <a:off x="5143500" y="2880360"/>
            <a:ext cx="3360420" cy="356616"/>
            <a:chOff x="0" y="0"/>
            <a:chExt cx="4480560" cy="475488"/>
          </a:xfrm>
        </p:grpSpPr>
        <p:sp>
          <p:nvSpPr>
            <p:cNvPr id="18" name="Freeform 18"/>
            <p:cNvSpPr/>
            <p:nvPr/>
          </p:nvSpPr>
          <p:spPr>
            <a:xfrm>
              <a:off x="0" y="0"/>
              <a:ext cx="4480560" cy="475488"/>
            </a:xfrm>
            <a:custGeom>
              <a:avLst/>
              <a:gdLst/>
              <a:ahLst/>
              <a:cxnLst/>
              <a:rect l="l" t="t" r="r" b="b"/>
              <a:pathLst>
                <a:path w="4480560" h="475488">
                  <a:moveTo>
                    <a:pt x="0" y="0"/>
                  </a:moveTo>
                  <a:lnTo>
                    <a:pt x="4480560" y="0"/>
                  </a:lnTo>
                  <a:lnTo>
                    <a:pt x="4480560" y="475488"/>
                  </a:lnTo>
                  <a:lnTo>
                    <a:pt x="0" y="475488"/>
                  </a:lnTo>
                  <a:close/>
                </a:path>
              </a:pathLst>
            </a:custGeom>
            <a:blipFill>
              <a:blip r:embed="rId3">
                <a:alphaModFix amt="0"/>
              </a:blip>
              <a:stretch>
                <a:fillRect t="-133609" b="-133609"/>
              </a:stretch>
            </a:blipFill>
          </p:spPr>
          <p:txBody>
            <a:bodyPr/>
            <a:lstStyle/>
            <a:p>
              <a:endParaRPr lang="en-US"/>
            </a:p>
          </p:txBody>
        </p:sp>
        <p:sp>
          <p:nvSpPr>
            <p:cNvPr id="19" name="TextBox 19"/>
            <p:cNvSpPr txBox="1"/>
            <p:nvPr/>
          </p:nvSpPr>
          <p:spPr>
            <a:xfrm>
              <a:off x="0" y="-38100"/>
              <a:ext cx="448056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H2  ·  KILLED</a:t>
              </a:r>
            </a:p>
          </p:txBody>
        </p:sp>
      </p:grpSp>
      <p:grpSp>
        <p:nvGrpSpPr>
          <p:cNvPr id="20" name="Group 20"/>
          <p:cNvGrpSpPr/>
          <p:nvPr/>
        </p:nvGrpSpPr>
        <p:grpSpPr>
          <a:xfrm>
            <a:off x="5143500" y="3291840"/>
            <a:ext cx="3360420" cy="754380"/>
            <a:chOff x="0" y="0"/>
            <a:chExt cx="4480560" cy="1005840"/>
          </a:xfrm>
        </p:grpSpPr>
        <p:sp>
          <p:nvSpPr>
            <p:cNvPr id="21" name="Freeform 21"/>
            <p:cNvSpPr/>
            <p:nvPr/>
          </p:nvSpPr>
          <p:spPr>
            <a:xfrm>
              <a:off x="0" y="0"/>
              <a:ext cx="4480560" cy="1005840"/>
            </a:xfrm>
            <a:custGeom>
              <a:avLst/>
              <a:gdLst/>
              <a:ahLst/>
              <a:cxnLst/>
              <a:rect l="l" t="t" r="r" b="b"/>
              <a:pathLst>
                <a:path w="4480560" h="1005840">
                  <a:moveTo>
                    <a:pt x="0" y="0"/>
                  </a:moveTo>
                  <a:lnTo>
                    <a:pt x="4480560" y="0"/>
                  </a:lnTo>
                  <a:lnTo>
                    <a:pt x="4480560" y="1005840"/>
                  </a:lnTo>
                  <a:lnTo>
                    <a:pt x="0" y="1005840"/>
                  </a:lnTo>
                  <a:close/>
                </a:path>
              </a:pathLst>
            </a:custGeom>
            <a:blipFill>
              <a:blip r:embed="rId3">
                <a:alphaModFix amt="0"/>
              </a:blip>
              <a:stretch>
                <a:fillRect t="-36796" b="-36796"/>
              </a:stretch>
            </a:blipFill>
          </p:spPr>
          <p:txBody>
            <a:bodyPr/>
            <a:lstStyle/>
            <a:p>
              <a:endParaRPr lang="en-US"/>
            </a:p>
          </p:txBody>
        </p:sp>
        <p:sp>
          <p:nvSpPr>
            <p:cNvPr id="22" name="TextBox 22"/>
            <p:cNvSpPr txBox="1"/>
            <p:nvPr/>
          </p:nvSpPr>
          <p:spPr>
            <a:xfrm>
              <a:off x="0" y="-47625"/>
              <a:ext cx="4480560" cy="105346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“FCF is the lens; wait for 2027”</a:t>
              </a:r>
            </a:p>
          </p:txBody>
        </p:sp>
      </p:grpSp>
      <p:sp>
        <p:nvSpPr>
          <p:cNvPr id="23" name="TextBox 23"/>
          <p:cNvSpPr txBox="1"/>
          <p:nvPr/>
        </p:nvSpPr>
        <p:spPr>
          <a:xfrm>
            <a:off x="5143500" y="4049268"/>
            <a:ext cx="3360420" cy="1564259"/>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FCF correlates 0.08 with the Internet print. Upgrade/rebuild capex steps up into 2026 and rural extensions ease; FCF swings with accrued capex. Waiting for the end-2027 roll-off is a wait, not an out-of-the-box move, and Comcast’s ~19% FCF yield shows the sector is priced this way.</a:t>
            </a:r>
          </a:p>
        </p:txBody>
      </p:sp>
      <p:grpSp>
        <p:nvGrpSpPr>
          <p:cNvPr id="24" name="Group 24"/>
          <p:cNvGrpSpPr/>
          <p:nvPr/>
        </p:nvGrpSpPr>
        <p:grpSpPr>
          <a:xfrm>
            <a:off x="8974455" y="2665095"/>
            <a:ext cx="3928110" cy="4545330"/>
            <a:chOff x="0" y="0"/>
            <a:chExt cx="5237480" cy="6060440"/>
          </a:xfrm>
        </p:grpSpPr>
        <p:sp>
          <p:nvSpPr>
            <p:cNvPr id="25" name="Freeform 25"/>
            <p:cNvSpPr/>
            <p:nvPr/>
          </p:nvSpPr>
          <p:spPr>
            <a:xfrm>
              <a:off x="0" y="0"/>
              <a:ext cx="5237480" cy="6060440"/>
            </a:xfrm>
            <a:custGeom>
              <a:avLst/>
              <a:gdLst/>
              <a:ahLst/>
              <a:cxnLst/>
              <a:rect l="l" t="t" r="r" b="b"/>
              <a:pathLst>
                <a:path w="5237480" h="6060440">
                  <a:moveTo>
                    <a:pt x="0" y="147066"/>
                  </a:moveTo>
                  <a:cubicBezTo>
                    <a:pt x="0" y="65786"/>
                    <a:pt x="65786" y="0"/>
                    <a:pt x="147066" y="0"/>
                  </a:cubicBezTo>
                  <a:lnTo>
                    <a:pt x="5090414" y="0"/>
                  </a:lnTo>
                  <a:cubicBezTo>
                    <a:pt x="5171567" y="0"/>
                    <a:pt x="5237480" y="65786"/>
                    <a:pt x="5237480" y="147066"/>
                  </a:cubicBezTo>
                  <a:lnTo>
                    <a:pt x="5237480" y="5913374"/>
                  </a:lnTo>
                  <a:cubicBezTo>
                    <a:pt x="5237480" y="5994527"/>
                    <a:pt x="5171694" y="6060440"/>
                    <a:pt x="5090414" y="6060440"/>
                  </a:cubicBezTo>
                  <a:lnTo>
                    <a:pt x="147066" y="6060440"/>
                  </a:lnTo>
                  <a:cubicBezTo>
                    <a:pt x="65786" y="6060440"/>
                    <a:pt x="0" y="5994654"/>
                    <a:pt x="0" y="5913374"/>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6" name="Group 26"/>
          <p:cNvGrpSpPr/>
          <p:nvPr/>
        </p:nvGrpSpPr>
        <p:grpSpPr>
          <a:xfrm>
            <a:off x="9258300" y="2880360"/>
            <a:ext cx="3360420" cy="356616"/>
            <a:chOff x="0" y="0"/>
            <a:chExt cx="4480560" cy="475488"/>
          </a:xfrm>
        </p:grpSpPr>
        <p:sp>
          <p:nvSpPr>
            <p:cNvPr id="27" name="Freeform 27"/>
            <p:cNvSpPr/>
            <p:nvPr/>
          </p:nvSpPr>
          <p:spPr>
            <a:xfrm>
              <a:off x="0" y="0"/>
              <a:ext cx="4480560" cy="475488"/>
            </a:xfrm>
            <a:custGeom>
              <a:avLst/>
              <a:gdLst/>
              <a:ahLst/>
              <a:cxnLst/>
              <a:rect l="l" t="t" r="r" b="b"/>
              <a:pathLst>
                <a:path w="4480560" h="475488">
                  <a:moveTo>
                    <a:pt x="0" y="0"/>
                  </a:moveTo>
                  <a:lnTo>
                    <a:pt x="4480560" y="0"/>
                  </a:lnTo>
                  <a:lnTo>
                    <a:pt x="4480560" y="475488"/>
                  </a:lnTo>
                  <a:lnTo>
                    <a:pt x="0" y="475488"/>
                  </a:lnTo>
                  <a:close/>
                </a:path>
              </a:pathLst>
            </a:custGeom>
            <a:blipFill>
              <a:blip r:embed="rId3">
                <a:alphaModFix amt="0"/>
              </a:blip>
              <a:stretch>
                <a:fillRect t="-133609" b="-133609"/>
              </a:stretch>
            </a:blipFill>
          </p:spPr>
          <p:txBody>
            <a:bodyPr/>
            <a:lstStyle/>
            <a:p>
              <a:endParaRPr lang="en-US"/>
            </a:p>
          </p:txBody>
        </p:sp>
        <p:sp>
          <p:nvSpPr>
            <p:cNvPr id="28" name="TextBox 28"/>
            <p:cNvSpPr txBox="1"/>
            <p:nvPr/>
          </p:nvSpPr>
          <p:spPr>
            <a:xfrm>
              <a:off x="0" y="-38100"/>
              <a:ext cx="448056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H3  ·  KILLED</a:t>
              </a:r>
            </a:p>
          </p:txBody>
        </p:sp>
      </p:grpSp>
      <p:grpSp>
        <p:nvGrpSpPr>
          <p:cNvPr id="29" name="Group 29"/>
          <p:cNvGrpSpPr/>
          <p:nvPr/>
        </p:nvGrpSpPr>
        <p:grpSpPr>
          <a:xfrm>
            <a:off x="9258300" y="3291840"/>
            <a:ext cx="3360420" cy="754380"/>
            <a:chOff x="0" y="0"/>
            <a:chExt cx="4480560" cy="1005840"/>
          </a:xfrm>
        </p:grpSpPr>
        <p:sp>
          <p:nvSpPr>
            <p:cNvPr id="30" name="Freeform 30"/>
            <p:cNvSpPr/>
            <p:nvPr/>
          </p:nvSpPr>
          <p:spPr>
            <a:xfrm>
              <a:off x="0" y="0"/>
              <a:ext cx="4480560" cy="1005840"/>
            </a:xfrm>
            <a:custGeom>
              <a:avLst/>
              <a:gdLst/>
              <a:ahLst/>
              <a:cxnLst/>
              <a:rect l="l" t="t" r="r" b="b"/>
              <a:pathLst>
                <a:path w="4480560" h="1005840">
                  <a:moveTo>
                    <a:pt x="0" y="0"/>
                  </a:moveTo>
                  <a:lnTo>
                    <a:pt x="4480560" y="0"/>
                  </a:lnTo>
                  <a:lnTo>
                    <a:pt x="4480560" y="1005840"/>
                  </a:lnTo>
                  <a:lnTo>
                    <a:pt x="0" y="1005840"/>
                  </a:lnTo>
                  <a:close/>
                </a:path>
              </a:pathLst>
            </a:custGeom>
            <a:blipFill>
              <a:blip r:embed="rId3">
                <a:alphaModFix amt="0"/>
              </a:blip>
              <a:stretch>
                <a:fillRect t="-36796" b="-36796"/>
              </a:stretch>
            </a:blipFill>
          </p:spPr>
          <p:txBody>
            <a:bodyPr/>
            <a:lstStyle/>
            <a:p>
              <a:endParaRPr lang="en-US"/>
            </a:p>
          </p:txBody>
        </p:sp>
        <p:sp>
          <p:nvSpPr>
            <p:cNvPr id="31" name="TextBox 31"/>
            <p:cNvSpPr txBox="1"/>
            <p:nvPr/>
          </p:nvSpPr>
          <p:spPr>
            <a:xfrm>
              <a:off x="0" y="-47625"/>
              <a:ext cx="4480560" cy="105346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“Total connectivity nets it out”</a:t>
              </a:r>
            </a:p>
          </p:txBody>
        </p:sp>
      </p:grpSp>
      <p:sp>
        <p:nvSpPr>
          <p:cNvPr id="32" name="TextBox 32"/>
          <p:cNvSpPr txBox="1"/>
          <p:nvPr/>
        </p:nvSpPr>
        <p:spPr>
          <a:xfrm>
            <a:off x="9258300" y="4049268"/>
            <a:ext cx="3360420" cy="134518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Tested on two earnings days. April 2025 rallied on a mobile beat with an Internet miss because the print improved YoY; April 2026 collapsed with a bigger mobile beat because the print doubled. The multiple prices Internet, and only Internet.</a:t>
            </a:r>
          </a:p>
        </p:txBody>
      </p:sp>
      <p:grpSp>
        <p:nvGrpSpPr>
          <p:cNvPr id="33" name="Group 33"/>
          <p:cNvGrpSpPr/>
          <p:nvPr/>
        </p:nvGrpSpPr>
        <p:grpSpPr>
          <a:xfrm>
            <a:off x="13086874" y="2662714"/>
            <a:ext cx="4481512" cy="4550092"/>
            <a:chOff x="0" y="0"/>
            <a:chExt cx="5975350" cy="6066790"/>
          </a:xfrm>
        </p:grpSpPr>
        <p:sp>
          <p:nvSpPr>
            <p:cNvPr id="34" name="Freeform 34"/>
            <p:cNvSpPr/>
            <p:nvPr/>
          </p:nvSpPr>
          <p:spPr>
            <a:xfrm>
              <a:off x="0" y="0"/>
              <a:ext cx="5975350" cy="6066790"/>
            </a:xfrm>
            <a:custGeom>
              <a:avLst/>
              <a:gdLst/>
              <a:ahLst/>
              <a:cxnLst/>
              <a:rect l="l" t="t" r="r" b="b"/>
              <a:pathLst>
                <a:path w="5975350" h="6066790">
                  <a:moveTo>
                    <a:pt x="0" y="147066"/>
                  </a:moveTo>
                  <a:cubicBezTo>
                    <a:pt x="0" y="65913"/>
                    <a:pt x="65913" y="0"/>
                    <a:pt x="147066" y="0"/>
                  </a:cubicBezTo>
                  <a:lnTo>
                    <a:pt x="5828284" y="0"/>
                  </a:lnTo>
                  <a:cubicBezTo>
                    <a:pt x="5909564" y="0"/>
                    <a:pt x="5975350" y="65913"/>
                    <a:pt x="5975350" y="147066"/>
                  </a:cubicBezTo>
                  <a:lnTo>
                    <a:pt x="5975350" y="5919724"/>
                  </a:lnTo>
                  <a:cubicBezTo>
                    <a:pt x="5975350" y="6001004"/>
                    <a:pt x="5909437" y="6066790"/>
                    <a:pt x="5828284" y="6066790"/>
                  </a:cubicBezTo>
                  <a:lnTo>
                    <a:pt x="147066" y="6066790"/>
                  </a:lnTo>
                  <a:cubicBezTo>
                    <a:pt x="65913" y="6066790"/>
                    <a:pt x="0" y="6000877"/>
                    <a:pt x="0" y="5919724"/>
                  </a:cubicBezTo>
                  <a:close/>
                </a:path>
              </a:pathLst>
            </a:custGeom>
            <a:solidFill>
              <a:srgbClr val="EEF4FB"/>
            </a:solidFill>
            <a:ln w="23812" cap="sq">
              <a:solidFill>
                <a:srgbClr val="0099D8"/>
              </a:solidFill>
              <a:prstDash val="solid"/>
              <a:miter/>
            </a:ln>
          </p:spPr>
          <p:txBody>
            <a:bodyPr/>
            <a:lstStyle/>
            <a:p>
              <a:endParaRPr lang="en-US"/>
            </a:p>
          </p:txBody>
        </p:sp>
      </p:grpSp>
      <p:grpSp>
        <p:nvGrpSpPr>
          <p:cNvPr id="35" name="Group 35"/>
          <p:cNvGrpSpPr/>
          <p:nvPr/>
        </p:nvGrpSpPr>
        <p:grpSpPr>
          <a:xfrm>
            <a:off x="13441680" y="2880360"/>
            <a:ext cx="3840480" cy="356616"/>
            <a:chOff x="0" y="0"/>
            <a:chExt cx="5120640" cy="475488"/>
          </a:xfrm>
        </p:grpSpPr>
        <p:sp>
          <p:nvSpPr>
            <p:cNvPr id="36" name="Freeform 36"/>
            <p:cNvSpPr/>
            <p:nvPr/>
          </p:nvSpPr>
          <p:spPr>
            <a:xfrm>
              <a:off x="0" y="0"/>
              <a:ext cx="5120640" cy="475488"/>
            </a:xfrm>
            <a:custGeom>
              <a:avLst/>
              <a:gdLst/>
              <a:ahLst/>
              <a:cxnLst/>
              <a:rect l="l" t="t" r="r" b="b"/>
              <a:pathLst>
                <a:path w="5120640" h="475488">
                  <a:moveTo>
                    <a:pt x="0" y="0"/>
                  </a:moveTo>
                  <a:lnTo>
                    <a:pt x="5120640" y="0"/>
                  </a:lnTo>
                  <a:lnTo>
                    <a:pt x="5120640" y="475488"/>
                  </a:lnTo>
                  <a:lnTo>
                    <a:pt x="0" y="475488"/>
                  </a:lnTo>
                  <a:close/>
                </a:path>
              </a:pathLst>
            </a:custGeom>
            <a:blipFill>
              <a:blip r:embed="rId3">
                <a:alphaModFix amt="0"/>
              </a:blip>
              <a:stretch>
                <a:fillRect t="-159838" b="-159838"/>
              </a:stretch>
            </a:blipFill>
          </p:spPr>
          <p:txBody>
            <a:bodyPr/>
            <a:lstStyle/>
            <a:p>
              <a:endParaRPr lang="en-US"/>
            </a:p>
          </p:txBody>
        </p:sp>
        <p:sp>
          <p:nvSpPr>
            <p:cNvPr id="37" name="TextBox 37"/>
            <p:cNvSpPr txBox="1"/>
            <p:nvPr/>
          </p:nvSpPr>
          <p:spPr>
            <a:xfrm>
              <a:off x="0" y="-38100"/>
              <a:ext cx="512064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WHAT SURVIVED</a:t>
              </a:r>
            </a:p>
          </p:txBody>
        </p:sp>
      </p:grpSp>
      <p:grpSp>
        <p:nvGrpSpPr>
          <p:cNvPr id="38" name="Group 38"/>
          <p:cNvGrpSpPr/>
          <p:nvPr/>
        </p:nvGrpSpPr>
        <p:grpSpPr>
          <a:xfrm>
            <a:off x="13441680" y="3291840"/>
            <a:ext cx="3840480" cy="754380"/>
            <a:chOff x="0" y="0"/>
            <a:chExt cx="5120640" cy="1005840"/>
          </a:xfrm>
        </p:grpSpPr>
        <p:sp>
          <p:nvSpPr>
            <p:cNvPr id="39" name="Freeform 39"/>
            <p:cNvSpPr/>
            <p:nvPr/>
          </p:nvSpPr>
          <p:spPr>
            <a:xfrm>
              <a:off x="0" y="0"/>
              <a:ext cx="5120640" cy="1005840"/>
            </a:xfrm>
            <a:custGeom>
              <a:avLst/>
              <a:gdLst/>
              <a:ahLst/>
              <a:cxnLst/>
              <a:rect l="l" t="t" r="r" b="b"/>
              <a:pathLst>
                <a:path w="5120640" h="1005840">
                  <a:moveTo>
                    <a:pt x="0" y="0"/>
                  </a:moveTo>
                  <a:lnTo>
                    <a:pt x="5120640" y="0"/>
                  </a:lnTo>
                  <a:lnTo>
                    <a:pt x="5120640" y="1005840"/>
                  </a:lnTo>
                  <a:lnTo>
                    <a:pt x="0" y="1005840"/>
                  </a:lnTo>
                  <a:close/>
                </a:path>
              </a:pathLst>
            </a:custGeom>
            <a:blipFill>
              <a:blip r:embed="rId3">
                <a:alphaModFix amt="0"/>
              </a:blip>
              <a:stretch>
                <a:fillRect t="-49196" b="-49196"/>
              </a:stretch>
            </a:blipFill>
          </p:spPr>
          <p:txBody>
            <a:bodyPr/>
            <a:lstStyle/>
            <a:p>
              <a:endParaRPr lang="en-US"/>
            </a:p>
          </p:txBody>
        </p:sp>
        <p:sp>
          <p:nvSpPr>
            <p:cNvPr id="40" name="TextBox 40"/>
            <p:cNvSpPr txBox="1"/>
            <p:nvPr/>
          </p:nvSpPr>
          <p:spPr>
            <a:xfrm>
              <a:off x="0" y="-47625"/>
              <a:ext cx="5120640" cy="105346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Two branches of the issue tree</a:t>
              </a:r>
            </a:p>
          </p:txBody>
        </p:sp>
      </p:grpSp>
      <p:sp>
        <p:nvSpPr>
          <p:cNvPr id="41" name="TextBox 41"/>
          <p:cNvSpPr txBox="1"/>
          <p:nvPr/>
        </p:nvSpPr>
        <p:spPr>
          <a:xfrm>
            <a:off x="13441680" y="4049268"/>
            <a:ext cx="3840480" cy="1345184"/>
          </a:xfrm>
          <a:prstGeom prst="rect">
            <a:avLst/>
          </a:prstGeom>
        </p:spPr>
        <p:txBody>
          <a:bodyPr lIns="0" tIns="0" rIns="0" bIns="0" rtlCol="0" anchor="t">
            <a:spAutoFit/>
          </a:bodyPr>
          <a:lstStyle/>
          <a:p>
            <a:pPr algn="l">
              <a:lnSpc>
                <a:spcPts val="1797"/>
              </a:lnSpc>
            </a:pPr>
            <a:r>
              <a:rPr lang="en-US" sz="1449" b="1">
                <a:solidFill>
                  <a:srgbClr val="0B1F3A"/>
                </a:solidFill>
                <a:latin typeface="Calibri"/>
                <a:ea typeface="Calibri (MS) Bold"/>
                <a:cs typeface="Calibri"/>
                <a:sym typeface="Calibri (MS) Bold"/>
              </a:rPr>
              <a:t>Branch 1, Bend the print: </a:t>
            </a:r>
            <a:r>
              <a:rPr lang="en-US" sz="1449">
                <a:solidFill>
                  <a:srgbClr val="5B6672"/>
                </a:solidFill>
                <a:latin typeface="Calibri"/>
                <a:ea typeface="Calibri (MS)"/>
                <a:cs typeface="Calibri"/>
                <a:sym typeface="Calibri (MS)"/>
              </a:rPr>
              <a:t>inflect Internet net adds inside ~8 quarters. Decisive unknown: attribution (Rec 1).</a:t>
            </a:r>
          </a:p>
          <a:p>
            <a:pPr algn="l">
              <a:lnSpc>
                <a:spcPts val="1797"/>
              </a:lnSpc>
            </a:pPr>
            <a:r>
              <a:rPr lang="en-US" sz="1449" b="1">
                <a:solidFill>
                  <a:srgbClr val="0B1F3A"/>
                </a:solidFill>
                <a:latin typeface="Calibri"/>
                <a:ea typeface="Calibri (MS) Bold"/>
                <a:cs typeface="Calibri"/>
                <a:sym typeface="Calibri (MS) Bold"/>
              </a:rPr>
              <a:t>Branch 2, Change the print: </a:t>
            </a:r>
            <a:r>
              <a:rPr lang="en-US" sz="1449">
                <a:solidFill>
                  <a:srgbClr val="5B6672"/>
                </a:solidFill>
                <a:latin typeface="Calibri"/>
                <a:ea typeface="Calibri (MS)"/>
                <a:cs typeface="Calibri"/>
                <a:sym typeface="Calibri (MS)"/>
              </a:rPr>
              <a:t>if the curve cannot bend fast enough, change what the market prices, disclosure, capital regime (Rec 2).</a:t>
            </a:r>
          </a:p>
        </p:txBody>
      </p:sp>
      <p:sp>
        <p:nvSpPr>
          <p:cNvPr id="42" name="TextBox 42"/>
          <p:cNvSpPr txBox="1"/>
          <p:nvPr/>
        </p:nvSpPr>
        <p:spPr>
          <a:xfrm>
            <a:off x="754380" y="7437120"/>
            <a:ext cx="16802100" cy="249809"/>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Anchoring check: </a:t>
            </a:r>
            <a:r>
              <a:rPr lang="en-US" sz="1449">
                <a:solidFill>
                  <a:srgbClr val="5B6672"/>
                </a:solidFill>
                <a:latin typeface="Calibri"/>
                <a:ea typeface="Calibri (MS)"/>
                <a:cs typeface="Calibri"/>
                <a:sym typeface="Calibri (MS)"/>
              </a:rPr>
              <a:t>subscriber loss was the first fact the case handed us. These three tests are how we checked the anchor rather than building on it. The condition that would change our mind is stated on slide 11.</a:t>
            </a:r>
          </a:p>
        </p:txBody>
      </p:sp>
      <p:grpSp>
        <p:nvGrpSpPr>
          <p:cNvPr id="43" name="Group 43"/>
          <p:cNvGrpSpPr/>
          <p:nvPr/>
        </p:nvGrpSpPr>
        <p:grpSpPr>
          <a:xfrm>
            <a:off x="754380" y="8805672"/>
            <a:ext cx="16733520" cy="356616"/>
            <a:chOff x="0" y="0"/>
            <a:chExt cx="22311360" cy="475488"/>
          </a:xfrm>
        </p:grpSpPr>
        <p:sp>
          <p:nvSpPr>
            <p:cNvPr id="44" name="Freeform 44"/>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45" name="TextBox 45"/>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(margins, costs, capex, interest); team event study (Yahoo closes). Analysis, not a filing.</a:t>
              </a:r>
            </a:p>
          </p:txBody>
        </p:sp>
      </p:grpSp>
      <p:grpSp>
        <p:nvGrpSpPr>
          <p:cNvPr id="46" name="Group 46"/>
          <p:cNvGrpSpPr/>
          <p:nvPr/>
        </p:nvGrpSpPr>
        <p:grpSpPr>
          <a:xfrm>
            <a:off x="754380" y="9189720"/>
            <a:ext cx="16733520" cy="411480"/>
            <a:chOff x="0" y="0"/>
            <a:chExt cx="22311360" cy="548640"/>
          </a:xfrm>
        </p:grpSpPr>
        <p:sp>
          <p:nvSpPr>
            <p:cNvPr id="47" name="Freeform 47"/>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8" name="TextBox 48"/>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49" name="Group 49"/>
          <p:cNvGrpSpPr/>
          <p:nvPr/>
        </p:nvGrpSpPr>
        <p:grpSpPr>
          <a:xfrm>
            <a:off x="17076420" y="9669780"/>
            <a:ext cx="960120" cy="411480"/>
            <a:chOff x="0" y="0"/>
            <a:chExt cx="1280160" cy="548640"/>
          </a:xfrm>
        </p:grpSpPr>
        <p:sp>
          <p:nvSpPr>
            <p:cNvPr id="50" name="Freeform 50"/>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51" name="TextBox 51"/>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21</a:t>
              </a:r>
            </a:p>
          </p:txBody>
        </p:sp>
      </p:grpSp>
      <p:grpSp>
        <p:nvGrpSpPr>
          <p:cNvPr id="52" name="Group 52"/>
          <p:cNvGrpSpPr/>
          <p:nvPr/>
        </p:nvGrpSpPr>
        <p:grpSpPr>
          <a:xfrm>
            <a:off x="754380" y="9669780"/>
            <a:ext cx="16047720" cy="411480"/>
            <a:chOff x="0" y="0"/>
            <a:chExt cx="21396960" cy="548640"/>
          </a:xfrm>
        </p:grpSpPr>
        <p:sp>
          <p:nvSpPr>
            <p:cNvPr id="53" name="Freeform 53"/>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4" name="TextBox 54"/>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A11  ·  METHOD</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Issue Tree: Two Live Branches, One Closed</a:t>
            </a:r>
          </a:p>
        </p:txBody>
      </p:sp>
      <p:grpSp>
        <p:nvGrpSpPr>
          <p:cNvPr id="6" name="Group 6"/>
          <p:cNvGrpSpPr/>
          <p:nvPr/>
        </p:nvGrpSpPr>
        <p:grpSpPr>
          <a:xfrm>
            <a:off x="744855" y="2665095"/>
            <a:ext cx="16821150" cy="773430"/>
            <a:chOff x="0" y="0"/>
            <a:chExt cx="22428200" cy="1031240"/>
          </a:xfrm>
        </p:grpSpPr>
        <p:sp>
          <p:nvSpPr>
            <p:cNvPr id="7" name="Freeform 7"/>
            <p:cNvSpPr/>
            <p:nvPr/>
          </p:nvSpPr>
          <p:spPr>
            <a:xfrm>
              <a:off x="0" y="0"/>
              <a:ext cx="22428200" cy="1031240"/>
            </a:xfrm>
            <a:custGeom>
              <a:avLst/>
              <a:gdLst/>
              <a:ahLst/>
              <a:cxnLst/>
              <a:rect l="l" t="t" r="r" b="b"/>
              <a:pathLst>
                <a:path w="22428200" h="1031240">
                  <a:moveTo>
                    <a:pt x="0" y="149987"/>
                  </a:moveTo>
                  <a:cubicBezTo>
                    <a:pt x="0" y="67183"/>
                    <a:pt x="67183" y="0"/>
                    <a:pt x="149987" y="0"/>
                  </a:cubicBezTo>
                  <a:lnTo>
                    <a:pt x="22278212" y="0"/>
                  </a:lnTo>
                  <a:cubicBezTo>
                    <a:pt x="22361017" y="0"/>
                    <a:pt x="22428200" y="67183"/>
                    <a:pt x="22428200" y="149987"/>
                  </a:cubicBezTo>
                  <a:lnTo>
                    <a:pt x="22428200" y="881253"/>
                  </a:lnTo>
                  <a:cubicBezTo>
                    <a:pt x="22428200" y="964057"/>
                    <a:pt x="22361017" y="1031240"/>
                    <a:pt x="22278212" y="1031240"/>
                  </a:cubicBezTo>
                  <a:lnTo>
                    <a:pt x="149987" y="1031240"/>
                  </a:lnTo>
                  <a:cubicBezTo>
                    <a:pt x="67183" y="1031240"/>
                    <a:pt x="0" y="964057"/>
                    <a:pt x="0" y="881253"/>
                  </a:cubicBezTo>
                  <a:close/>
                </a:path>
              </a:pathLst>
            </a:custGeom>
            <a:solidFill>
              <a:srgbClr val="003057"/>
            </a:solidFill>
            <a:ln w="19050" cap="sq">
              <a:solidFill>
                <a:srgbClr val="D8DEE6"/>
              </a:solidFill>
              <a:prstDash val="solid"/>
              <a:miter/>
            </a:ln>
          </p:spPr>
          <p:txBody>
            <a:bodyPr/>
            <a:lstStyle/>
            <a:p>
              <a:endParaRPr lang="en-US"/>
            </a:p>
          </p:txBody>
        </p:sp>
      </p:grpSp>
      <p:grpSp>
        <p:nvGrpSpPr>
          <p:cNvPr id="8" name="Group 8"/>
          <p:cNvGrpSpPr/>
          <p:nvPr/>
        </p:nvGrpSpPr>
        <p:grpSpPr>
          <a:xfrm>
            <a:off x="1165860" y="2674620"/>
            <a:ext cx="16047720" cy="754380"/>
            <a:chOff x="0" y="0"/>
            <a:chExt cx="21396960" cy="1005840"/>
          </a:xfrm>
        </p:grpSpPr>
        <p:sp>
          <p:nvSpPr>
            <p:cNvPr id="9" name="Freeform 9"/>
            <p:cNvSpPr/>
            <p:nvPr/>
          </p:nvSpPr>
          <p:spPr>
            <a:xfrm>
              <a:off x="0" y="0"/>
              <a:ext cx="21396961" cy="1005840"/>
            </a:xfrm>
            <a:custGeom>
              <a:avLst/>
              <a:gdLst/>
              <a:ahLst/>
              <a:cxnLst/>
              <a:rect l="l" t="t" r="r" b="b"/>
              <a:pathLst>
                <a:path w="21396961" h="1005840">
                  <a:moveTo>
                    <a:pt x="0" y="0"/>
                  </a:moveTo>
                  <a:lnTo>
                    <a:pt x="21396961" y="0"/>
                  </a:lnTo>
                  <a:lnTo>
                    <a:pt x="21396961" y="1005840"/>
                  </a:lnTo>
                  <a:lnTo>
                    <a:pt x="0" y="1005840"/>
                  </a:lnTo>
                  <a:close/>
                </a:path>
              </a:pathLst>
            </a:custGeom>
            <a:blipFill>
              <a:blip r:embed="rId3">
                <a:alphaModFix amt="0"/>
              </a:blip>
              <a:stretch>
                <a:fillRect t="-364499" b="-364499"/>
              </a:stretch>
            </a:blipFill>
          </p:spPr>
          <p:txBody>
            <a:bodyPr/>
            <a:lstStyle/>
            <a:p>
              <a:endParaRPr lang="en-US"/>
            </a:p>
          </p:txBody>
        </p:sp>
        <p:sp>
          <p:nvSpPr>
            <p:cNvPr id="10" name="TextBox 10"/>
            <p:cNvSpPr txBox="1"/>
            <p:nvPr/>
          </p:nvSpPr>
          <p:spPr>
            <a:xfrm>
              <a:off x="0" y="-38100"/>
              <a:ext cx="21396960" cy="1043940"/>
            </a:xfrm>
            <a:prstGeom prst="rect">
              <a:avLst/>
            </a:prstGeom>
          </p:spPr>
          <p:txBody>
            <a:bodyPr lIns="0" tIns="0" rIns="0" bIns="0" rtlCol="0" anchor="ctr"/>
            <a:lstStyle/>
            <a:p>
              <a:pPr algn="l">
                <a:lnSpc>
                  <a:spcPts val="2250"/>
                </a:lnSpc>
              </a:pPr>
              <a:r>
                <a:rPr lang="en-US" sz="1875" b="1">
                  <a:solidFill>
                    <a:srgbClr val="FCFBF7"/>
                  </a:solidFill>
                  <a:latin typeface="Calibri"/>
                  <a:ea typeface="Calibri (MS) Bold"/>
                  <a:cs typeface="Calibri"/>
                  <a:sym typeface="Calibri (MS) Bold"/>
                </a:rPr>
                <a:t>ROOT  ·  What credibly changes Charter’s share-price trajectory inside ~24 months?</a:t>
              </a:r>
            </a:p>
          </p:txBody>
        </p:sp>
      </p:grpSp>
      <p:grpSp>
        <p:nvGrpSpPr>
          <p:cNvPr id="11" name="Group 11"/>
          <p:cNvGrpSpPr/>
          <p:nvPr/>
        </p:nvGrpSpPr>
        <p:grpSpPr>
          <a:xfrm>
            <a:off x="742474" y="3691414"/>
            <a:ext cx="5304472" cy="4961572"/>
            <a:chOff x="0" y="0"/>
            <a:chExt cx="7072630" cy="6615430"/>
          </a:xfrm>
        </p:grpSpPr>
        <p:sp>
          <p:nvSpPr>
            <p:cNvPr id="12" name="Freeform 12"/>
            <p:cNvSpPr/>
            <p:nvPr/>
          </p:nvSpPr>
          <p:spPr>
            <a:xfrm>
              <a:off x="0" y="0"/>
              <a:ext cx="7072630" cy="6615430"/>
            </a:xfrm>
            <a:custGeom>
              <a:avLst/>
              <a:gdLst/>
              <a:ahLst/>
              <a:cxnLst/>
              <a:rect l="l" t="t" r="r" b="b"/>
              <a:pathLst>
                <a:path w="7072630" h="6615430">
                  <a:moveTo>
                    <a:pt x="0" y="146939"/>
                  </a:moveTo>
                  <a:cubicBezTo>
                    <a:pt x="0" y="65786"/>
                    <a:pt x="65786" y="0"/>
                    <a:pt x="146939" y="0"/>
                  </a:cubicBezTo>
                  <a:lnTo>
                    <a:pt x="6925691" y="0"/>
                  </a:lnTo>
                  <a:cubicBezTo>
                    <a:pt x="7006844" y="0"/>
                    <a:pt x="7072630" y="65786"/>
                    <a:pt x="7072630" y="146939"/>
                  </a:cubicBezTo>
                  <a:lnTo>
                    <a:pt x="7072630" y="6468491"/>
                  </a:lnTo>
                  <a:cubicBezTo>
                    <a:pt x="7072630" y="6549644"/>
                    <a:pt x="7006844" y="6615430"/>
                    <a:pt x="6925691" y="6615430"/>
                  </a:cubicBezTo>
                  <a:lnTo>
                    <a:pt x="146939" y="6615430"/>
                  </a:lnTo>
                  <a:cubicBezTo>
                    <a:pt x="65786" y="6615430"/>
                    <a:pt x="0" y="6549644"/>
                    <a:pt x="0" y="64684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3" name="Group 13"/>
          <p:cNvGrpSpPr/>
          <p:nvPr/>
        </p:nvGrpSpPr>
        <p:grpSpPr>
          <a:xfrm>
            <a:off x="1028700" y="3909060"/>
            <a:ext cx="4732020" cy="411480"/>
            <a:chOff x="0" y="0"/>
            <a:chExt cx="6309360" cy="548640"/>
          </a:xfrm>
        </p:grpSpPr>
        <p:sp>
          <p:nvSpPr>
            <p:cNvPr id="14" name="Freeform 14"/>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15" name="TextBox 15"/>
            <p:cNvSpPr txBox="1"/>
            <p:nvPr/>
          </p:nvSpPr>
          <p:spPr>
            <a:xfrm>
              <a:off x="0" y="-38100"/>
              <a:ext cx="6309360" cy="586740"/>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BRANCH 1, BEND THE PRINT</a:t>
              </a:r>
            </a:p>
          </p:txBody>
        </p:sp>
      </p:grpSp>
      <p:sp>
        <p:nvSpPr>
          <p:cNvPr id="16" name="TextBox 16"/>
          <p:cNvSpPr txBox="1"/>
          <p:nvPr/>
        </p:nvSpPr>
        <p:spPr>
          <a:xfrm>
            <a:off x="1028700" y="4351020"/>
            <a:ext cx="4732020" cy="2002409"/>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1a Attribution (decisive unknown): fiber vs. FWA vs. satellite vs. housing vs. price, jointly unidentified in filings → Rec 1</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1b Lever-to-driver mapping: convergence pricing → FWA; network quality → fiber; rural infill → satellite; mover capture → housing → Rec 1</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1c Unit economics of defense: cost per saved sub vs. LTV; mobile incremental margin vs. Internet margin → economics gates</a:t>
            </a:r>
          </a:p>
        </p:txBody>
      </p:sp>
      <p:grpSp>
        <p:nvGrpSpPr>
          <p:cNvPr id="17" name="Group 17"/>
          <p:cNvGrpSpPr/>
          <p:nvPr/>
        </p:nvGrpSpPr>
        <p:grpSpPr>
          <a:xfrm>
            <a:off x="6503194" y="3691414"/>
            <a:ext cx="5304472" cy="4961572"/>
            <a:chOff x="0" y="0"/>
            <a:chExt cx="7072630" cy="6615430"/>
          </a:xfrm>
        </p:grpSpPr>
        <p:sp>
          <p:nvSpPr>
            <p:cNvPr id="18" name="Freeform 18"/>
            <p:cNvSpPr/>
            <p:nvPr/>
          </p:nvSpPr>
          <p:spPr>
            <a:xfrm>
              <a:off x="0" y="0"/>
              <a:ext cx="7072630" cy="6615430"/>
            </a:xfrm>
            <a:custGeom>
              <a:avLst/>
              <a:gdLst/>
              <a:ahLst/>
              <a:cxnLst/>
              <a:rect l="l" t="t" r="r" b="b"/>
              <a:pathLst>
                <a:path w="7072630" h="6615430">
                  <a:moveTo>
                    <a:pt x="0" y="146939"/>
                  </a:moveTo>
                  <a:cubicBezTo>
                    <a:pt x="0" y="65786"/>
                    <a:pt x="65786" y="0"/>
                    <a:pt x="146939" y="0"/>
                  </a:cubicBezTo>
                  <a:lnTo>
                    <a:pt x="6925691" y="0"/>
                  </a:lnTo>
                  <a:cubicBezTo>
                    <a:pt x="7006844" y="0"/>
                    <a:pt x="7072630" y="65786"/>
                    <a:pt x="7072630" y="146939"/>
                  </a:cubicBezTo>
                  <a:lnTo>
                    <a:pt x="7072630" y="6468491"/>
                  </a:lnTo>
                  <a:cubicBezTo>
                    <a:pt x="7072630" y="6549644"/>
                    <a:pt x="7006844" y="6615430"/>
                    <a:pt x="6925691" y="6615430"/>
                  </a:cubicBezTo>
                  <a:lnTo>
                    <a:pt x="146939" y="6615430"/>
                  </a:lnTo>
                  <a:cubicBezTo>
                    <a:pt x="65786" y="6615430"/>
                    <a:pt x="0" y="6549644"/>
                    <a:pt x="0" y="64684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9" name="Group 19"/>
          <p:cNvGrpSpPr/>
          <p:nvPr/>
        </p:nvGrpSpPr>
        <p:grpSpPr>
          <a:xfrm>
            <a:off x="6789420" y="3909060"/>
            <a:ext cx="4732020" cy="411480"/>
            <a:chOff x="0" y="0"/>
            <a:chExt cx="6309360" cy="548640"/>
          </a:xfrm>
        </p:grpSpPr>
        <p:sp>
          <p:nvSpPr>
            <p:cNvPr id="20" name="Freeform 20"/>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21" name="TextBox 21"/>
            <p:cNvSpPr txBox="1"/>
            <p:nvPr/>
          </p:nvSpPr>
          <p:spPr>
            <a:xfrm>
              <a:off x="0" y="-38100"/>
              <a:ext cx="6309360" cy="586740"/>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BRANCH 2, CHANGE THE PRINT</a:t>
              </a:r>
            </a:p>
          </p:txBody>
        </p:sp>
      </p:grpSp>
      <p:sp>
        <p:nvSpPr>
          <p:cNvPr id="22" name="TextBox 22"/>
          <p:cNvSpPr txBox="1"/>
          <p:nvPr/>
        </p:nvSpPr>
        <p:spPr>
          <a:xfrm>
            <a:off x="6789420" y="4351020"/>
            <a:ext cx="4732020" cy="1345184"/>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2a Re-segmentation / disclosure: rural infrastructure build vs. mature core; steady-state post-2027 capex → Rec 2B</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2b Capital-allocation regime: buybacks → deleveraging below 4.0x until net adds stabilize → Rec 2C</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2c Perimeter: what Cox proves or hides; structural options beyond the window → Appendix A22</a:t>
            </a:r>
          </a:p>
        </p:txBody>
      </p:sp>
      <p:grpSp>
        <p:nvGrpSpPr>
          <p:cNvPr id="23" name="Group 23"/>
          <p:cNvGrpSpPr/>
          <p:nvPr/>
        </p:nvGrpSpPr>
        <p:grpSpPr>
          <a:xfrm>
            <a:off x="12263914" y="3691414"/>
            <a:ext cx="5304472" cy="4961572"/>
            <a:chOff x="0" y="0"/>
            <a:chExt cx="7072630" cy="6615430"/>
          </a:xfrm>
        </p:grpSpPr>
        <p:sp>
          <p:nvSpPr>
            <p:cNvPr id="24" name="Freeform 24"/>
            <p:cNvSpPr/>
            <p:nvPr/>
          </p:nvSpPr>
          <p:spPr>
            <a:xfrm>
              <a:off x="0" y="0"/>
              <a:ext cx="7072630" cy="6615430"/>
            </a:xfrm>
            <a:custGeom>
              <a:avLst/>
              <a:gdLst/>
              <a:ahLst/>
              <a:cxnLst/>
              <a:rect l="l" t="t" r="r" b="b"/>
              <a:pathLst>
                <a:path w="7072630" h="6615430">
                  <a:moveTo>
                    <a:pt x="0" y="146939"/>
                  </a:moveTo>
                  <a:cubicBezTo>
                    <a:pt x="0" y="65786"/>
                    <a:pt x="65786" y="0"/>
                    <a:pt x="146939" y="0"/>
                  </a:cubicBezTo>
                  <a:lnTo>
                    <a:pt x="6925691" y="0"/>
                  </a:lnTo>
                  <a:cubicBezTo>
                    <a:pt x="7006844" y="0"/>
                    <a:pt x="7072630" y="65786"/>
                    <a:pt x="7072630" y="146939"/>
                  </a:cubicBezTo>
                  <a:lnTo>
                    <a:pt x="7072630" y="6468491"/>
                  </a:lnTo>
                  <a:cubicBezTo>
                    <a:pt x="7072630" y="6549644"/>
                    <a:pt x="7006844" y="6615430"/>
                    <a:pt x="6925691" y="6615430"/>
                  </a:cubicBezTo>
                  <a:lnTo>
                    <a:pt x="146939" y="6615430"/>
                  </a:lnTo>
                  <a:cubicBezTo>
                    <a:pt x="65786" y="6615430"/>
                    <a:pt x="0" y="6549644"/>
                    <a:pt x="0" y="6468491"/>
                  </a:cubicBezTo>
                  <a:close/>
                </a:path>
              </a:pathLst>
            </a:custGeom>
            <a:solidFill>
              <a:srgbClr val="EEF4FB"/>
            </a:solidFill>
            <a:ln w="23812" cap="sq">
              <a:solidFill>
                <a:srgbClr val="0099D8"/>
              </a:solidFill>
              <a:prstDash val="solid"/>
              <a:miter/>
            </a:ln>
          </p:spPr>
          <p:txBody>
            <a:bodyPr/>
            <a:lstStyle/>
            <a:p>
              <a:endParaRPr lang="en-US"/>
            </a:p>
          </p:txBody>
        </p:sp>
      </p:grpSp>
      <p:grpSp>
        <p:nvGrpSpPr>
          <p:cNvPr id="25" name="Group 25"/>
          <p:cNvGrpSpPr/>
          <p:nvPr/>
        </p:nvGrpSpPr>
        <p:grpSpPr>
          <a:xfrm>
            <a:off x="12550140" y="3909060"/>
            <a:ext cx="4732020" cy="411480"/>
            <a:chOff x="0" y="0"/>
            <a:chExt cx="6309360" cy="548640"/>
          </a:xfrm>
        </p:grpSpPr>
        <p:sp>
          <p:nvSpPr>
            <p:cNvPr id="26" name="Freeform 26"/>
            <p:cNvSpPr/>
            <p:nvPr/>
          </p:nvSpPr>
          <p:spPr>
            <a:xfrm>
              <a:off x="0" y="0"/>
              <a:ext cx="6309360" cy="548640"/>
            </a:xfrm>
            <a:custGeom>
              <a:avLst/>
              <a:gdLst/>
              <a:ahLst/>
              <a:cxnLst/>
              <a:rect l="l" t="t" r="r" b="b"/>
              <a:pathLst>
                <a:path w="6309360" h="548640">
                  <a:moveTo>
                    <a:pt x="0" y="0"/>
                  </a:moveTo>
                  <a:lnTo>
                    <a:pt x="6309360" y="0"/>
                  </a:lnTo>
                  <a:lnTo>
                    <a:pt x="6309360" y="548640"/>
                  </a:lnTo>
                  <a:lnTo>
                    <a:pt x="0" y="548640"/>
                  </a:lnTo>
                  <a:close/>
                </a:path>
              </a:pathLst>
            </a:custGeom>
            <a:blipFill>
              <a:blip r:embed="rId3">
                <a:alphaModFix amt="0"/>
              </a:blip>
              <a:stretch>
                <a:fillRect t="-174077" b="-174077"/>
              </a:stretch>
            </a:blipFill>
          </p:spPr>
          <p:txBody>
            <a:bodyPr/>
            <a:lstStyle/>
            <a:p>
              <a:endParaRPr lang="en-US"/>
            </a:p>
          </p:txBody>
        </p:sp>
        <p:sp>
          <p:nvSpPr>
            <p:cNvPr id="27" name="TextBox 27"/>
            <p:cNvSpPr txBox="1"/>
            <p:nvPr/>
          </p:nvSpPr>
          <p:spPr>
            <a:xfrm>
              <a:off x="0" y="-38100"/>
              <a:ext cx="6309360" cy="586740"/>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BRANCH 3, CLOSED (kept as method)</a:t>
              </a:r>
            </a:p>
          </p:txBody>
        </p:sp>
      </p:grpSp>
      <p:sp>
        <p:nvSpPr>
          <p:cNvPr id="28" name="TextBox 28"/>
          <p:cNvSpPr txBox="1"/>
          <p:nvPr/>
        </p:nvSpPr>
        <p:spPr>
          <a:xfrm>
            <a:off x="12550140" y="4351020"/>
            <a:ext cx="4732020" cy="907034"/>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Opex → killed (margins stable ~41%)</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FCF-as-lens → killed (r = 0.08; sector-wide yield; capex phasing)</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Mobile netting → killed (rejected on two earnings days)</a:t>
            </a:r>
          </a:p>
        </p:txBody>
      </p:sp>
      <p:grpSp>
        <p:nvGrpSpPr>
          <p:cNvPr id="29" name="Group 29"/>
          <p:cNvGrpSpPr/>
          <p:nvPr/>
        </p:nvGrpSpPr>
        <p:grpSpPr>
          <a:xfrm>
            <a:off x="754380" y="8805672"/>
            <a:ext cx="16733520" cy="356616"/>
            <a:chOff x="0" y="0"/>
            <a:chExt cx="22311360" cy="475488"/>
          </a:xfrm>
        </p:grpSpPr>
        <p:sp>
          <p:nvSpPr>
            <p:cNvPr id="30" name="Freeform 30"/>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31" name="TextBox 31"/>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Team issue tree, Check-in #2 (v2), rebuilt after the event study replaced the FCF waterfall as the money slide.</a:t>
              </a:r>
            </a:p>
          </p:txBody>
        </p:sp>
      </p:grpSp>
      <p:grpSp>
        <p:nvGrpSpPr>
          <p:cNvPr id="32" name="Group 32"/>
          <p:cNvGrpSpPr/>
          <p:nvPr/>
        </p:nvGrpSpPr>
        <p:grpSpPr>
          <a:xfrm>
            <a:off x="754380" y="9189720"/>
            <a:ext cx="16733520" cy="411480"/>
            <a:chOff x="0" y="0"/>
            <a:chExt cx="22311360" cy="548640"/>
          </a:xfrm>
        </p:grpSpPr>
        <p:sp>
          <p:nvSpPr>
            <p:cNvPr id="33" name="Freeform 3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4" name="TextBox 3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35" name="Group 35"/>
          <p:cNvGrpSpPr/>
          <p:nvPr/>
        </p:nvGrpSpPr>
        <p:grpSpPr>
          <a:xfrm>
            <a:off x="17076420" y="9669780"/>
            <a:ext cx="960120" cy="411480"/>
            <a:chOff x="0" y="0"/>
            <a:chExt cx="1280160" cy="548640"/>
          </a:xfrm>
        </p:grpSpPr>
        <p:sp>
          <p:nvSpPr>
            <p:cNvPr id="36" name="Freeform 3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7" name="TextBox 3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22</a:t>
              </a:r>
            </a:p>
          </p:txBody>
        </p:sp>
      </p:grpSp>
      <p:grpSp>
        <p:nvGrpSpPr>
          <p:cNvPr id="38" name="Group 38"/>
          <p:cNvGrpSpPr/>
          <p:nvPr/>
        </p:nvGrpSpPr>
        <p:grpSpPr>
          <a:xfrm>
            <a:off x="754380" y="9669780"/>
            <a:ext cx="16047720" cy="411480"/>
            <a:chOff x="0" y="0"/>
            <a:chExt cx="21396960" cy="548640"/>
          </a:xfrm>
        </p:grpSpPr>
        <p:sp>
          <p:nvSpPr>
            <p:cNvPr id="39" name="Freeform 3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0" name="TextBox 4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A12  ·  RECOMMENDATION 1</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Four Steps Build the Sensor With Data Charter Has</a:t>
            </a:r>
          </a:p>
        </p:txBody>
      </p:sp>
      <p:grpSp>
        <p:nvGrpSpPr>
          <p:cNvPr id="6" name="Group 6"/>
          <p:cNvGrpSpPr/>
          <p:nvPr/>
        </p:nvGrpSpPr>
        <p:grpSpPr>
          <a:xfrm>
            <a:off x="754380" y="2715768"/>
            <a:ext cx="754380" cy="754380"/>
            <a:chOff x="0" y="0"/>
            <a:chExt cx="1005840" cy="1005840"/>
          </a:xfrm>
        </p:grpSpPr>
        <p:sp>
          <p:nvSpPr>
            <p:cNvPr id="7" name="Freeform 7"/>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99D8"/>
            </a:solidFill>
          </p:spPr>
          <p:txBody>
            <a:bodyPr/>
            <a:lstStyle/>
            <a:p>
              <a:endParaRPr lang="en-US"/>
            </a:p>
          </p:txBody>
        </p:sp>
      </p:grpSp>
      <p:grpSp>
        <p:nvGrpSpPr>
          <p:cNvPr id="8" name="Group 8"/>
          <p:cNvGrpSpPr/>
          <p:nvPr/>
        </p:nvGrpSpPr>
        <p:grpSpPr>
          <a:xfrm>
            <a:off x="754380" y="2715768"/>
            <a:ext cx="754380" cy="754380"/>
            <a:chOff x="0" y="0"/>
            <a:chExt cx="1005840" cy="1005840"/>
          </a:xfrm>
        </p:grpSpPr>
        <p:sp>
          <p:nvSpPr>
            <p:cNvPr id="9" name="Freeform 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10" name="TextBox 10"/>
            <p:cNvSpPr txBox="1"/>
            <p:nvPr/>
          </p:nvSpPr>
          <p:spPr>
            <a:xfrm>
              <a:off x="0" y="-57150"/>
              <a:ext cx="1005840" cy="1062990"/>
            </a:xfrm>
            <a:prstGeom prst="rect">
              <a:avLst/>
            </a:prstGeom>
          </p:spPr>
          <p:txBody>
            <a:bodyPr lIns="0" tIns="0" rIns="0" bIns="0" rtlCol="0" anchor="ctr"/>
            <a:lstStyle/>
            <a:p>
              <a:pPr algn="ctr">
                <a:lnSpc>
                  <a:spcPts val="3240"/>
                </a:lnSpc>
              </a:pPr>
              <a:r>
                <a:rPr lang="en-US" sz="2700" b="1">
                  <a:solidFill>
                    <a:srgbClr val="FCFBF7"/>
                  </a:solidFill>
                  <a:latin typeface="Calibri"/>
                  <a:ea typeface="Calibri (MS) Bold"/>
                  <a:cs typeface="Calibri"/>
                  <a:sym typeface="Calibri (MS) Bold"/>
                </a:rPr>
                <a:t>1</a:t>
              </a:r>
            </a:p>
          </p:txBody>
        </p:sp>
      </p:grpSp>
      <p:grpSp>
        <p:nvGrpSpPr>
          <p:cNvPr id="11" name="Group 11"/>
          <p:cNvGrpSpPr/>
          <p:nvPr/>
        </p:nvGrpSpPr>
        <p:grpSpPr>
          <a:xfrm>
            <a:off x="1851660" y="2606040"/>
            <a:ext cx="15636240" cy="438912"/>
            <a:chOff x="0" y="0"/>
            <a:chExt cx="20848320" cy="585216"/>
          </a:xfrm>
        </p:grpSpPr>
        <p:sp>
          <p:nvSpPr>
            <p:cNvPr id="12" name="Freeform 12"/>
            <p:cNvSpPr/>
            <p:nvPr/>
          </p:nvSpPr>
          <p:spPr>
            <a:xfrm>
              <a:off x="0" y="0"/>
              <a:ext cx="20848320" cy="585216"/>
            </a:xfrm>
            <a:custGeom>
              <a:avLst/>
              <a:gdLst/>
              <a:ahLst/>
              <a:cxnLst/>
              <a:rect l="l" t="t" r="r" b="b"/>
              <a:pathLst>
                <a:path w="20848320" h="585216">
                  <a:moveTo>
                    <a:pt x="0" y="0"/>
                  </a:moveTo>
                  <a:lnTo>
                    <a:pt x="20848320" y="0"/>
                  </a:lnTo>
                  <a:lnTo>
                    <a:pt x="20848320" y="585216"/>
                  </a:lnTo>
                  <a:lnTo>
                    <a:pt x="0" y="585216"/>
                  </a:lnTo>
                  <a:close/>
                </a:path>
              </a:pathLst>
            </a:custGeom>
            <a:blipFill>
              <a:blip r:embed="rId3">
                <a:alphaModFix amt="0"/>
              </a:blip>
              <a:stretch>
                <a:fillRect t="-644154" b="-644154"/>
              </a:stretch>
            </a:blipFill>
          </p:spPr>
          <p:txBody>
            <a:bodyPr/>
            <a:lstStyle/>
            <a:p>
              <a:endParaRPr lang="en-US"/>
            </a:p>
          </p:txBody>
        </p:sp>
        <p:sp>
          <p:nvSpPr>
            <p:cNvPr id="13" name="TextBox 13"/>
            <p:cNvSpPr txBox="1"/>
            <p:nvPr/>
          </p:nvSpPr>
          <p:spPr>
            <a:xfrm>
              <a:off x="0" y="-38100"/>
              <a:ext cx="20848320" cy="623316"/>
            </a:xfrm>
            <a:prstGeom prst="rect">
              <a:avLst/>
            </a:prstGeom>
          </p:spPr>
          <p:txBody>
            <a:bodyPr lIns="0" tIns="0" rIns="0" bIns="0" rtlCol="0" anchor="ctr"/>
            <a:lstStyle/>
            <a:p>
              <a:pPr algn="l">
                <a:lnSpc>
                  <a:spcPts val="2430"/>
                </a:lnSpc>
              </a:pPr>
              <a:r>
                <a:rPr lang="en-US" sz="2025" b="1">
                  <a:solidFill>
                    <a:srgbClr val="171A1F"/>
                  </a:solidFill>
                  <a:latin typeface="Calibri"/>
                  <a:ea typeface="Calibri (MS) Bold"/>
                  <a:cs typeface="Calibri"/>
                  <a:sym typeface="Calibri (MS) Bold"/>
                </a:rPr>
                <a:t>Competitive exposure map, FCC Broadband Data Collection (public)</a:t>
              </a:r>
            </a:p>
          </p:txBody>
        </p:sp>
      </p:grpSp>
      <p:grpSp>
        <p:nvGrpSpPr>
          <p:cNvPr id="14" name="Group 14"/>
          <p:cNvGrpSpPr/>
          <p:nvPr/>
        </p:nvGrpSpPr>
        <p:grpSpPr>
          <a:xfrm>
            <a:off x="1851660" y="3058668"/>
            <a:ext cx="15636240" cy="891540"/>
            <a:chOff x="0" y="0"/>
            <a:chExt cx="20848320" cy="1188720"/>
          </a:xfrm>
        </p:grpSpPr>
        <p:sp>
          <p:nvSpPr>
            <p:cNvPr id="15" name="Freeform 15"/>
            <p:cNvSpPr/>
            <p:nvPr/>
          </p:nvSpPr>
          <p:spPr>
            <a:xfrm>
              <a:off x="0" y="0"/>
              <a:ext cx="20848320" cy="1188720"/>
            </a:xfrm>
            <a:custGeom>
              <a:avLst/>
              <a:gdLst/>
              <a:ahLst/>
              <a:cxnLst/>
              <a:rect l="l" t="t" r="r" b="b"/>
              <a:pathLst>
                <a:path w="20848320" h="1188720">
                  <a:moveTo>
                    <a:pt x="0" y="0"/>
                  </a:moveTo>
                  <a:lnTo>
                    <a:pt x="20848320" y="0"/>
                  </a:lnTo>
                  <a:lnTo>
                    <a:pt x="20848320" y="1188720"/>
                  </a:lnTo>
                  <a:lnTo>
                    <a:pt x="0" y="1188720"/>
                  </a:lnTo>
                  <a:close/>
                </a:path>
              </a:pathLst>
            </a:custGeom>
            <a:blipFill>
              <a:blip r:embed="rId3">
                <a:alphaModFix amt="0"/>
              </a:blip>
              <a:stretch>
                <a:fillRect t="-291737" b="-291737"/>
              </a:stretch>
            </a:blipFill>
          </p:spPr>
          <p:txBody>
            <a:bodyPr/>
            <a:lstStyle/>
            <a:p>
              <a:endParaRPr lang="en-US"/>
            </a:p>
          </p:txBody>
        </p:sp>
        <p:sp>
          <p:nvSpPr>
            <p:cNvPr id="16" name="TextBox 16"/>
            <p:cNvSpPr txBox="1"/>
            <p:nvPr/>
          </p:nvSpPr>
          <p:spPr>
            <a:xfrm>
              <a:off x="0" y="-28575"/>
              <a:ext cx="20848320" cy="121729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The FCC’s BDC publishes competitor serviceability location by location. Cross-reference Charter’s ~29.5M Internet subscribers and every disconnect against it → classify each address as fiber-overbuilt / FWA-covered / satellite-only / uncontested.</a:t>
              </a:r>
            </a:p>
          </p:txBody>
        </p:sp>
      </p:grpSp>
      <p:grpSp>
        <p:nvGrpSpPr>
          <p:cNvPr id="17" name="Group 17"/>
          <p:cNvGrpSpPr/>
          <p:nvPr/>
        </p:nvGrpSpPr>
        <p:grpSpPr>
          <a:xfrm>
            <a:off x="754380" y="4155948"/>
            <a:ext cx="754380" cy="754380"/>
            <a:chOff x="0" y="0"/>
            <a:chExt cx="1005840" cy="1005840"/>
          </a:xfrm>
        </p:grpSpPr>
        <p:sp>
          <p:nvSpPr>
            <p:cNvPr id="18" name="Freeform 18"/>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99D8"/>
            </a:solidFill>
          </p:spPr>
          <p:txBody>
            <a:bodyPr/>
            <a:lstStyle/>
            <a:p>
              <a:endParaRPr lang="en-US"/>
            </a:p>
          </p:txBody>
        </p:sp>
      </p:grpSp>
      <p:grpSp>
        <p:nvGrpSpPr>
          <p:cNvPr id="19" name="Group 19"/>
          <p:cNvGrpSpPr/>
          <p:nvPr/>
        </p:nvGrpSpPr>
        <p:grpSpPr>
          <a:xfrm>
            <a:off x="754380" y="4155948"/>
            <a:ext cx="754380" cy="754380"/>
            <a:chOff x="0" y="0"/>
            <a:chExt cx="1005840" cy="1005840"/>
          </a:xfrm>
        </p:grpSpPr>
        <p:sp>
          <p:nvSpPr>
            <p:cNvPr id="20" name="Freeform 20"/>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21" name="TextBox 21"/>
            <p:cNvSpPr txBox="1"/>
            <p:nvPr/>
          </p:nvSpPr>
          <p:spPr>
            <a:xfrm>
              <a:off x="0" y="-57150"/>
              <a:ext cx="1005840" cy="1062990"/>
            </a:xfrm>
            <a:prstGeom prst="rect">
              <a:avLst/>
            </a:prstGeom>
          </p:spPr>
          <p:txBody>
            <a:bodyPr lIns="0" tIns="0" rIns="0" bIns="0" rtlCol="0" anchor="ctr"/>
            <a:lstStyle/>
            <a:p>
              <a:pPr algn="ctr">
                <a:lnSpc>
                  <a:spcPts val="3240"/>
                </a:lnSpc>
              </a:pPr>
              <a:r>
                <a:rPr lang="en-US" sz="2700" b="1">
                  <a:solidFill>
                    <a:srgbClr val="FCFBF7"/>
                  </a:solidFill>
                  <a:latin typeface="Calibri"/>
                  <a:ea typeface="Calibri (MS) Bold"/>
                  <a:cs typeface="Calibri"/>
                  <a:sym typeface="Calibri (MS) Bold"/>
                </a:rPr>
                <a:t>2</a:t>
              </a:r>
            </a:p>
          </p:txBody>
        </p:sp>
      </p:grpSp>
      <p:grpSp>
        <p:nvGrpSpPr>
          <p:cNvPr id="22" name="Group 22"/>
          <p:cNvGrpSpPr/>
          <p:nvPr/>
        </p:nvGrpSpPr>
        <p:grpSpPr>
          <a:xfrm>
            <a:off x="1851660" y="4046220"/>
            <a:ext cx="15636240" cy="438912"/>
            <a:chOff x="0" y="0"/>
            <a:chExt cx="20848320" cy="585216"/>
          </a:xfrm>
        </p:grpSpPr>
        <p:sp>
          <p:nvSpPr>
            <p:cNvPr id="23" name="Freeform 23"/>
            <p:cNvSpPr/>
            <p:nvPr/>
          </p:nvSpPr>
          <p:spPr>
            <a:xfrm>
              <a:off x="0" y="0"/>
              <a:ext cx="20848320" cy="585216"/>
            </a:xfrm>
            <a:custGeom>
              <a:avLst/>
              <a:gdLst/>
              <a:ahLst/>
              <a:cxnLst/>
              <a:rect l="l" t="t" r="r" b="b"/>
              <a:pathLst>
                <a:path w="20848320" h="585216">
                  <a:moveTo>
                    <a:pt x="0" y="0"/>
                  </a:moveTo>
                  <a:lnTo>
                    <a:pt x="20848320" y="0"/>
                  </a:lnTo>
                  <a:lnTo>
                    <a:pt x="20848320" y="585216"/>
                  </a:lnTo>
                  <a:lnTo>
                    <a:pt x="0" y="585216"/>
                  </a:lnTo>
                  <a:close/>
                </a:path>
              </a:pathLst>
            </a:custGeom>
            <a:blipFill>
              <a:blip r:embed="rId3">
                <a:alphaModFix amt="0"/>
              </a:blip>
              <a:stretch>
                <a:fillRect t="-644154" b="-644154"/>
              </a:stretch>
            </a:blipFill>
          </p:spPr>
          <p:txBody>
            <a:bodyPr/>
            <a:lstStyle/>
            <a:p>
              <a:endParaRPr lang="en-US"/>
            </a:p>
          </p:txBody>
        </p:sp>
        <p:sp>
          <p:nvSpPr>
            <p:cNvPr id="24" name="TextBox 24"/>
            <p:cNvSpPr txBox="1"/>
            <p:nvPr/>
          </p:nvSpPr>
          <p:spPr>
            <a:xfrm>
              <a:off x="0" y="-38100"/>
              <a:ext cx="20848320" cy="623316"/>
            </a:xfrm>
            <a:prstGeom prst="rect">
              <a:avLst/>
            </a:prstGeom>
          </p:spPr>
          <p:txBody>
            <a:bodyPr lIns="0" tIns="0" rIns="0" bIns="0" rtlCol="0" anchor="ctr"/>
            <a:lstStyle/>
            <a:p>
              <a:pPr algn="l">
                <a:lnSpc>
                  <a:spcPts val="2430"/>
                </a:lnSpc>
              </a:pPr>
              <a:r>
                <a:rPr lang="en-US" sz="2025" b="1">
                  <a:solidFill>
                    <a:srgbClr val="171A1F"/>
                  </a:solidFill>
                  <a:latin typeface="Calibri"/>
                  <a:ea typeface="Calibri (MS) Bold"/>
                  <a:cs typeface="Calibri"/>
                  <a:sym typeface="Calibri (MS) Bold"/>
                </a:rPr>
                <a:t>Internal disconnect records, join, don’t rebuild</a:t>
              </a:r>
            </a:p>
          </p:txBody>
        </p:sp>
      </p:grpSp>
      <p:grpSp>
        <p:nvGrpSpPr>
          <p:cNvPr id="25" name="Group 25"/>
          <p:cNvGrpSpPr/>
          <p:nvPr/>
        </p:nvGrpSpPr>
        <p:grpSpPr>
          <a:xfrm>
            <a:off x="1851660" y="4498848"/>
            <a:ext cx="15636240" cy="891540"/>
            <a:chOff x="0" y="0"/>
            <a:chExt cx="20848320" cy="1188720"/>
          </a:xfrm>
        </p:grpSpPr>
        <p:sp>
          <p:nvSpPr>
            <p:cNvPr id="26" name="Freeform 26"/>
            <p:cNvSpPr/>
            <p:nvPr/>
          </p:nvSpPr>
          <p:spPr>
            <a:xfrm>
              <a:off x="0" y="0"/>
              <a:ext cx="20848320" cy="1188720"/>
            </a:xfrm>
            <a:custGeom>
              <a:avLst/>
              <a:gdLst/>
              <a:ahLst/>
              <a:cxnLst/>
              <a:rect l="l" t="t" r="r" b="b"/>
              <a:pathLst>
                <a:path w="20848320" h="1188720">
                  <a:moveTo>
                    <a:pt x="0" y="0"/>
                  </a:moveTo>
                  <a:lnTo>
                    <a:pt x="20848320" y="0"/>
                  </a:lnTo>
                  <a:lnTo>
                    <a:pt x="20848320" y="1188720"/>
                  </a:lnTo>
                  <a:lnTo>
                    <a:pt x="0" y="1188720"/>
                  </a:lnTo>
                  <a:close/>
                </a:path>
              </a:pathLst>
            </a:custGeom>
            <a:blipFill>
              <a:blip r:embed="rId3">
                <a:alphaModFix amt="0"/>
              </a:blip>
              <a:stretch>
                <a:fillRect t="-291737" b="-291737"/>
              </a:stretch>
            </a:blipFill>
          </p:spPr>
          <p:txBody>
            <a:bodyPr/>
            <a:lstStyle/>
            <a:p>
              <a:endParaRPr lang="en-US"/>
            </a:p>
          </p:txBody>
        </p:sp>
        <p:sp>
          <p:nvSpPr>
            <p:cNvPr id="27" name="TextBox 27"/>
            <p:cNvSpPr txBox="1"/>
            <p:nvPr/>
          </p:nvSpPr>
          <p:spPr>
            <a:xfrm>
              <a:off x="0" y="-28575"/>
              <a:ext cx="20848320" cy="121729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Billing already holds tenure, ARPU tier, product mix, non-pay vs. voluntary, and move-out flags per disconnect. Joining these to the exposure map yields the loss matrix: cause-cohort × customer-value cohort, refreshed monthly.</a:t>
              </a:r>
            </a:p>
          </p:txBody>
        </p:sp>
      </p:grpSp>
      <p:grpSp>
        <p:nvGrpSpPr>
          <p:cNvPr id="28" name="Group 28"/>
          <p:cNvGrpSpPr/>
          <p:nvPr/>
        </p:nvGrpSpPr>
        <p:grpSpPr>
          <a:xfrm>
            <a:off x="754380" y="5596128"/>
            <a:ext cx="754380" cy="754380"/>
            <a:chOff x="0" y="0"/>
            <a:chExt cx="1005840" cy="1005840"/>
          </a:xfrm>
        </p:grpSpPr>
        <p:sp>
          <p:nvSpPr>
            <p:cNvPr id="29" name="Freeform 29"/>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99D8"/>
            </a:solidFill>
          </p:spPr>
          <p:txBody>
            <a:bodyPr/>
            <a:lstStyle/>
            <a:p>
              <a:endParaRPr lang="en-US"/>
            </a:p>
          </p:txBody>
        </p:sp>
      </p:grpSp>
      <p:grpSp>
        <p:nvGrpSpPr>
          <p:cNvPr id="30" name="Group 30"/>
          <p:cNvGrpSpPr/>
          <p:nvPr/>
        </p:nvGrpSpPr>
        <p:grpSpPr>
          <a:xfrm>
            <a:off x="754380" y="5596128"/>
            <a:ext cx="754380" cy="754380"/>
            <a:chOff x="0" y="0"/>
            <a:chExt cx="1005840" cy="1005840"/>
          </a:xfrm>
        </p:grpSpPr>
        <p:sp>
          <p:nvSpPr>
            <p:cNvPr id="31" name="Freeform 31"/>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32" name="TextBox 32"/>
            <p:cNvSpPr txBox="1"/>
            <p:nvPr/>
          </p:nvSpPr>
          <p:spPr>
            <a:xfrm>
              <a:off x="0" y="-57150"/>
              <a:ext cx="1005840" cy="1062990"/>
            </a:xfrm>
            <a:prstGeom prst="rect">
              <a:avLst/>
            </a:prstGeom>
          </p:spPr>
          <p:txBody>
            <a:bodyPr lIns="0" tIns="0" rIns="0" bIns="0" rtlCol="0" anchor="ctr"/>
            <a:lstStyle/>
            <a:p>
              <a:pPr algn="ctr">
                <a:lnSpc>
                  <a:spcPts val="3240"/>
                </a:lnSpc>
              </a:pPr>
              <a:r>
                <a:rPr lang="en-US" sz="2700" b="1">
                  <a:solidFill>
                    <a:srgbClr val="FCFBF7"/>
                  </a:solidFill>
                  <a:latin typeface="Calibri"/>
                  <a:ea typeface="Calibri (MS) Bold"/>
                  <a:cs typeface="Calibri"/>
                  <a:sym typeface="Calibri (MS) Bold"/>
                </a:rPr>
                <a:t>3</a:t>
              </a:r>
            </a:p>
          </p:txBody>
        </p:sp>
      </p:grpSp>
      <p:grpSp>
        <p:nvGrpSpPr>
          <p:cNvPr id="33" name="Group 33"/>
          <p:cNvGrpSpPr/>
          <p:nvPr/>
        </p:nvGrpSpPr>
        <p:grpSpPr>
          <a:xfrm>
            <a:off x="1851660" y="5486400"/>
            <a:ext cx="15636240" cy="438912"/>
            <a:chOff x="0" y="0"/>
            <a:chExt cx="20848320" cy="585216"/>
          </a:xfrm>
        </p:grpSpPr>
        <p:sp>
          <p:nvSpPr>
            <p:cNvPr id="34" name="Freeform 34"/>
            <p:cNvSpPr/>
            <p:nvPr/>
          </p:nvSpPr>
          <p:spPr>
            <a:xfrm>
              <a:off x="0" y="0"/>
              <a:ext cx="20848320" cy="585216"/>
            </a:xfrm>
            <a:custGeom>
              <a:avLst/>
              <a:gdLst/>
              <a:ahLst/>
              <a:cxnLst/>
              <a:rect l="l" t="t" r="r" b="b"/>
              <a:pathLst>
                <a:path w="20848320" h="585216">
                  <a:moveTo>
                    <a:pt x="0" y="0"/>
                  </a:moveTo>
                  <a:lnTo>
                    <a:pt x="20848320" y="0"/>
                  </a:lnTo>
                  <a:lnTo>
                    <a:pt x="20848320" y="585216"/>
                  </a:lnTo>
                  <a:lnTo>
                    <a:pt x="0" y="585216"/>
                  </a:lnTo>
                  <a:close/>
                </a:path>
              </a:pathLst>
            </a:custGeom>
            <a:blipFill>
              <a:blip r:embed="rId3">
                <a:alphaModFix amt="0"/>
              </a:blip>
              <a:stretch>
                <a:fillRect t="-644154" b="-644154"/>
              </a:stretch>
            </a:blipFill>
          </p:spPr>
          <p:txBody>
            <a:bodyPr/>
            <a:lstStyle/>
            <a:p>
              <a:endParaRPr lang="en-US"/>
            </a:p>
          </p:txBody>
        </p:sp>
        <p:sp>
          <p:nvSpPr>
            <p:cNvPr id="35" name="TextBox 35"/>
            <p:cNvSpPr txBox="1"/>
            <p:nvPr/>
          </p:nvSpPr>
          <p:spPr>
            <a:xfrm>
              <a:off x="0" y="-38100"/>
              <a:ext cx="20848320" cy="623316"/>
            </a:xfrm>
            <a:prstGeom prst="rect">
              <a:avLst/>
            </a:prstGeom>
          </p:spPr>
          <p:txBody>
            <a:bodyPr lIns="0" tIns="0" rIns="0" bIns="0" rtlCol="0" anchor="ctr"/>
            <a:lstStyle/>
            <a:p>
              <a:pPr algn="l">
                <a:lnSpc>
                  <a:spcPts val="2430"/>
                </a:lnSpc>
              </a:pPr>
              <a:r>
                <a:rPr lang="en-US" sz="2025" b="1">
                  <a:solidFill>
                    <a:srgbClr val="171A1F"/>
                  </a:solidFill>
                  <a:latin typeface="Calibri"/>
                  <a:ea typeface="Calibri (MS) Bold"/>
                  <a:cs typeface="Calibri"/>
                  <a:sym typeface="Calibri (MS) Bold"/>
                </a:rPr>
                <a:t>Measured exit signals, the triage-code lesson applied</a:t>
              </a:r>
            </a:p>
          </p:txBody>
        </p:sp>
      </p:grpSp>
      <p:grpSp>
        <p:nvGrpSpPr>
          <p:cNvPr id="36" name="Group 36"/>
          <p:cNvGrpSpPr/>
          <p:nvPr/>
        </p:nvGrpSpPr>
        <p:grpSpPr>
          <a:xfrm>
            <a:off x="1851660" y="5939028"/>
            <a:ext cx="15636240" cy="891540"/>
            <a:chOff x="0" y="0"/>
            <a:chExt cx="20848320" cy="1188720"/>
          </a:xfrm>
        </p:grpSpPr>
        <p:sp>
          <p:nvSpPr>
            <p:cNvPr id="37" name="Freeform 37"/>
            <p:cNvSpPr/>
            <p:nvPr/>
          </p:nvSpPr>
          <p:spPr>
            <a:xfrm>
              <a:off x="0" y="0"/>
              <a:ext cx="20848320" cy="1188720"/>
            </a:xfrm>
            <a:custGeom>
              <a:avLst/>
              <a:gdLst/>
              <a:ahLst/>
              <a:cxnLst/>
              <a:rect l="l" t="t" r="r" b="b"/>
              <a:pathLst>
                <a:path w="20848320" h="1188720">
                  <a:moveTo>
                    <a:pt x="0" y="0"/>
                  </a:moveTo>
                  <a:lnTo>
                    <a:pt x="20848320" y="0"/>
                  </a:lnTo>
                  <a:lnTo>
                    <a:pt x="20848320" y="1188720"/>
                  </a:lnTo>
                  <a:lnTo>
                    <a:pt x="0" y="1188720"/>
                  </a:lnTo>
                  <a:close/>
                </a:path>
              </a:pathLst>
            </a:custGeom>
            <a:blipFill>
              <a:blip r:embed="rId3">
                <a:alphaModFix amt="0"/>
              </a:blip>
              <a:stretch>
                <a:fillRect t="-291737" b="-291737"/>
              </a:stretch>
            </a:blipFill>
          </p:spPr>
          <p:txBody>
            <a:bodyPr/>
            <a:lstStyle/>
            <a:p>
              <a:endParaRPr lang="en-US"/>
            </a:p>
          </p:txBody>
        </p:sp>
        <p:sp>
          <p:nvSpPr>
            <p:cNvPr id="38" name="TextBox 38"/>
            <p:cNvSpPr txBox="1"/>
            <p:nvPr/>
          </p:nvSpPr>
          <p:spPr>
            <a:xfrm>
              <a:off x="0" y="-28575"/>
              <a:ext cx="20848320" cy="121729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Agent-coded disconnect reasons are unreliable (agents have favorite codes). Replace with measured signals: statistically sampled and audited exit surveys, and port-out destination data where number portability reveals the winning competitor. Sample-audit the codes against reality every quarter.</a:t>
              </a:r>
            </a:p>
          </p:txBody>
        </p:sp>
      </p:grpSp>
      <p:grpSp>
        <p:nvGrpSpPr>
          <p:cNvPr id="39" name="Group 39"/>
          <p:cNvGrpSpPr/>
          <p:nvPr/>
        </p:nvGrpSpPr>
        <p:grpSpPr>
          <a:xfrm>
            <a:off x="754380" y="7036308"/>
            <a:ext cx="754380" cy="754380"/>
            <a:chOff x="0" y="0"/>
            <a:chExt cx="1005840" cy="1005840"/>
          </a:xfrm>
        </p:grpSpPr>
        <p:sp>
          <p:nvSpPr>
            <p:cNvPr id="40" name="Freeform 40"/>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99D8"/>
            </a:solidFill>
          </p:spPr>
          <p:txBody>
            <a:bodyPr/>
            <a:lstStyle/>
            <a:p>
              <a:endParaRPr lang="en-US"/>
            </a:p>
          </p:txBody>
        </p:sp>
      </p:grpSp>
      <p:grpSp>
        <p:nvGrpSpPr>
          <p:cNvPr id="41" name="Group 41"/>
          <p:cNvGrpSpPr/>
          <p:nvPr/>
        </p:nvGrpSpPr>
        <p:grpSpPr>
          <a:xfrm>
            <a:off x="754380" y="7036308"/>
            <a:ext cx="754380" cy="754380"/>
            <a:chOff x="0" y="0"/>
            <a:chExt cx="1005840" cy="1005840"/>
          </a:xfrm>
        </p:grpSpPr>
        <p:sp>
          <p:nvSpPr>
            <p:cNvPr id="42" name="Freeform 42"/>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43" name="TextBox 43"/>
            <p:cNvSpPr txBox="1"/>
            <p:nvPr/>
          </p:nvSpPr>
          <p:spPr>
            <a:xfrm>
              <a:off x="0" y="-57150"/>
              <a:ext cx="1005840" cy="1062990"/>
            </a:xfrm>
            <a:prstGeom prst="rect">
              <a:avLst/>
            </a:prstGeom>
          </p:spPr>
          <p:txBody>
            <a:bodyPr lIns="0" tIns="0" rIns="0" bIns="0" rtlCol="0" anchor="ctr"/>
            <a:lstStyle/>
            <a:p>
              <a:pPr algn="ctr">
                <a:lnSpc>
                  <a:spcPts val="3240"/>
                </a:lnSpc>
              </a:pPr>
              <a:r>
                <a:rPr lang="en-US" sz="2700" b="1">
                  <a:solidFill>
                    <a:srgbClr val="FCFBF7"/>
                  </a:solidFill>
                  <a:latin typeface="Calibri"/>
                  <a:ea typeface="Calibri (MS) Bold"/>
                  <a:cs typeface="Calibri"/>
                  <a:sym typeface="Calibri (MS) Bold"/>
                </a:rPr>
                <a:t>4</a:t>
              </a:r>
            </a:p>
          </p:txBody>
        </p:sp>
      </p:grpSp>
      <p:grpSp>
        <p:nvGrpSpPr>
          <p:cNvPr id="44" name="Group 44"/>
          <p:cNvGrpSpPr/>
          <p:nvPr/>
        </p:nvGrpSpPr>
        <p:grpSpPr>
          <a:xfrm>
            <a:off x="1851660" y="6926580"/>
            <a:ext cx="15636240" cy="438912"/>
            <a:chOff x="0" y="0"/>
            <a:chExt cx="20848320" cy="585216"/>
          </a:xfrm>
        </p:grpSpPr>
        <p:sp>
          <p:nvSpPr>
            <p:cNvPr id="45" name="Freeform 45"/>
            <p:cNvSpPr/>
            <p:nvPr/>
          </p:nvSpPr>
          <p:spPr>
            <a:xfrm>
              <a:off x="0" y="0"/>
              <a:ext cx="20848320" cy="585216"/>
            </a:xfrm>
            <a:custGeom>
              <a:avLst/>
              <a:gdLst/>
              <a:ahLst/>
              <a:cxnLst/>
              <a:rect l="l" t="t" r="r" b="b"/>
              <a:pathLst>
                <a:path w="20848320" h="585216">
                  <a:moveTo>
                    <a:pt x="0" y="0"/>
                  </a:moveTo>
                  <a:lnTo>
                    <a:pt x="20848320" y="0"/>
                  </a:lnTo>
                  <a:lnTo>
                    <a:pt x="20848320" y="585216"/>
                  </a:lnTo>
                  <a:lnTo>
                    <a:pt x="0" y="585216"/>
                  </a:lnTo>
                  <a:close/>
                </a:path>
              </a:pathLst>
            </a:custGeom>
            <a:blipFill>
              <a:blip r:embed="rId3">
                <a:alphaModFix amt="0"/>
              </a:blip>
              <a:stretch>
                <a:fillRect t="-644154" b="-644154"/>
              </a:stretch>
            </a:blipFill>
          </p:spPr>
          <p:txBody>
            <a:bodyPr/>
            <a:lstStyle/>
            <a:p>
              <a:endParaRPr lang="en-US"/>
            </a:p>
          </p:txBody>
        </p:sp>
        <p:sp>
          <p:nvSpPr>
            <p:cNvPr id="46" name="TextBox 46"/>
            <p:cNvSpPr txBox="1"/>
            <p:nvPr/>
          </p:nvSpPr>
          <p:spPr>
            <a:xfrm>
              <a:off x="0" y="-38100"/>
              <a:ext cx="20848320" cy="623316"/>
            </a:xfrm>
            <a:prstGeom prst="rect">
              <a:avLst/>
            </a:prstGeom>
          </p:spPr>
          <p:txBody>
            <a:bodyPr lIns="0" tIns="0" rIns="0" bIns="0" rtlCol="0" anchor="ctr"/>
            <a:lstStyle/>
            <a:p>
              <a:pPr algn="l">
                <a:lnSpc>
                  <a:spcPts val="2430"/>
                </a:lnSpc>
              </a:pPr>
              <a:r>
                <a:rPr lang="en-US" sz="2025" b="1">
                  <a:solidFill>
                    <a:srgbClr val="171A1F"/>
                  </a:solidFill>
                  <a:latin typeface="Calibri"/>
                  <a:ea typeface="Calibri (MS) Bold"/>
                  <a:cs typeface="Calibri"/>
                  <a:sym typeface="Calibri (MS) Bold"/>
                </a:rPr>
                <a:t>Validation, do losses actually concentrate where exposure says?</a:t>
              </a:r>
            </a:p>
          </p:txBody>
        </p:sp>
      </p:grpSp>
      <p:grpSp>
        <p:nvGrpSpPr>
          <p:cNvPr id="47" name="Group 47"/>
          <p:cNvGrpSpPr/>
          <p:nvPr/>
        </p:nvGrpSpPr>
        <p:grpSpPr>
          <a:xfrm>
            <a:off x="1851660" y="7379208"/>
            <a:ext cx="15636240" cy="891540"/>
            <a:chOff x="0" y="0"/>
            <a:chExt cx="20848320" cy="1188720"/>
          </a:xfrm>
        </p:grpSpPr>
        <p:sp>
          <p:nvSpPr>
            <p:cNvPr id="48" name="Freeform 48"/>
            <p:cNvSpPr/>
            <p:nvPr/>
          </p:nvSpPr>
          <p:spPr>
            <a:xfrm>
              <a:off x="0" y="0"/>
              <a:ext cx="20848320" cy="1188720"/>
            </a:xfrm>
            <a:custGeom>
              <a:avLst/>
              <a:gdLst/>
              <a:ahLst/>
              <a:cxnLst/>
              <a:rect l="l" t="t" r="r" b="b"/>
              <a:pathLst>
                <a:path w="20848320" h="1188720">
                  <a:moveTo>
                    <a:pt x="0" y="0"/>
                  </a:moveTo>
                  <a:lnTo>
                    <a:pt x="20848320" y="0"/>
                  </a:lnTo>
                  <a:lnTo>
                    <a:pt x="20848320" y="1188720"/>
                  </a:lnTo>
                  <a:lnTo>
                    <a:pt x="0" y="1188720"/>
                  </a:lnTo>
                  <a:close/>
                </a:path>
              </a:pathLst>
            </a:custGeom>
            <a:blipFill>
              <a:blip r:embed="rId3">
                <a:alphaModFix amt="0"/>
              </a:blip>
              <a:stretch>
                <a:fillRect t="-291737" b="-291737"/>
              </a:stretch>
            </a:blipFill>
          </p:spPr>
          <p:txBody>
            <a:bodyPr/>
            <a:lstStyle/>
            <a:p>
              <a:endParaRPr lang="en-US"/>
            </a:p>
          </p:txBody>
        </p:sp>
        <p:sp>
          <p:nvSpPr>
            <p:cNvPr id="49" name="TextBox 49"/>
            <p:cNvSpPr txBox="1"/>
            <p:nvPr/>
          </p:nvSpPr>
          <p:spPr>
            <a:xfrm>
              <a:off x="0" y="-28575"/>
              <a:ext cx="20848320" cy="121729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The first read tests the map itself: churn rate by exposure class vs. the uncontested baseline. Uncontested churn is the control group every other cohort is measured against.</a:t>
              </a:r>
            </a:p>
          </p:txBody>
        </p:sp>
      </p:grpSp>
      <p:grpSp>
        <p:nvGrpSpPr>
          <p:cNvPr id="50" name="Group 50"/>
          <p:cNvGrpSpPr/>
          <p:nvPr/>
        </p:nvGrpSpPr>
        <p:grpSpPr>
          <a:xfrm>
            <a:off x="744855" y="8288655"/>
            <a:ext cx="16821150" cy="704850"/>
            <a:chOff x="0" y="0"/>
            <a:chExt cx="22428200" cy="939800"/>
          </a:xfrm>
        </p:grpSpPr>
        <p:sp>
          <p:nvSpPr>
            <p:cNvPr id="51" name="Freeform 51"/>
            <p:cNvSpPr/>
            <p:nvPr/>
          </p:nvSpPr>
          <p:spPr>
            <a:xfrm>
              <a:off x="0" y="0"/>
              <a:ext cx="22428200" cy="939800"/>
            </a:xfrm>
            <a:custGeom>
              <a:avLst/>
              <a:gdLst/>
              <a:ahLst/>
              <a:cxnLst/>
              <a:rect l="l" t="t" r="r" b="b"/>
              <a:pathLst>
                <a:path w="22428200" h="939800">
                  <a:moveTo>
                    <a:pt x="0" y="150368"/>
                  </a:moveTo>
                  <a:cubicBezTo>
                    <a:pt x="0" y="67310"/>
                    <a:pt x="67310" y="0"/>
                    <a:pt x="150368" y="0"/>
                  </a:cubicBezTo>
                  <a:lnTo>
                    <a:pt x="22277832" y="0"/>
                  </a:lnTo>
                  <a:cubicBezTo>
                    <a:pt x="22360889" y="0"/>
                    <a:pt x="22428200" y="67310"/>
                    <a:pt x="22428200" y="150368"/>
                  </a:cubicBezTo>
                  <a:lnTo>
                    <a:pt x="22428200" y="789432"/>
                  </a:lnTo>
                  <a:cubicBezTo>
                    <a:pt x="22428200" y="872490"/>
                    <a:pt x="22360889" y="939800"/>
                    <a:pt x="22277832" y="939800"/>
                  </a:cubicBezTo>
                  <a:lnTo>
                    <a:pt x="150368" y="939800"/>
                  </a:lnTo>
                  <a:cubicBezTo>
                    <a:pt x="67310" y="939800"/>
                    <a:pt x="0" y="872490"/>
                    <a:pt x="0" y="789432"/>
                  </a:cubicBezTo>
                  <a:close/>
                </a:path>
              </a:pathLst>
            </a:custGeom>
            <a:solidFill>
              <a:srgbClr val="EEF4FB"/>
            </a:solidFill>
            <a:ln w="19050" cap="sq">
              <a:solidFill>
                <a:srgbClr val="D8DEE6"/>
              </a:solidFill>
              <a:prstDash val="solid"/>
              <a:miter/>
            </a:ln>
          </p:spPr>
          <p:txBody>
            <a:bodyPr/>
            <a:lstStyle/>
            <a:p>
              <a:endParaRPr lang="en-US"/>
            </a:p>
          </p:txBody>
        </p:sp>
      </p:grpSp>
      <p:grpSp>
        <p:nvGrpSpPr>
          <p:cNvPr id="52" name="Group 52"/>
          <p:cNvGrpSpPr/>
          <p:nvPr/>
        </p:nvGrpSpPr>
        <p:grpSpPr>
          <a:xfrm>
            <a:off x="1165860" y="8366760"/>
            <a:ext cx="16047720" cy="548640"/>
            <a:chOff x="0" y="0"/>
            <a:chExt cx="21396960" cy="731520"/>
          </a:xfrm>
        </p:grpSpPr>
        <p:sp>
          <p:nvSpPr>
            <p:cNvPr id="53" name="Freeform 53"/>
            <p:cNvSpPr/>
            <p:nvPr/>
          </p:nvSpPr>
          <p:spPr>
            <a:xfrm>
              <a:off x="0" y="0"/>
              <a:ext cx="21396961" cy="731520"/>
            </a:xfrm>
            <a:custGeom>
              <a:avLst/>
              <a:gdLst/>
              <a:ahLst/>
              <a:cxnLst/>
              <a:rect l="l" t="t" r="r" b="b"/>
              <a:pathLst>
                <a:path w="21396961" h="731520">
                  <a:moveTo>
                    <a:pt x="0" y="0"/>
                  </a:moveTo>
                  <a:lnTo>
                    <a:pt x="21396961" y="0"/>
                  </a:lnTo>
                  <a:lnTo>
                    <a:pt x="21396961" y="731520"/>
                  </a:lnTo>
                  <a:lnTo>
                    <a:pt x="0" y="731520"/>
                  </a:lnTo>
                  <a:close/>
                </a:path>
              </a:pathLst>
            </a:custGeom>
            <a:blipFill>
              <a:blip r:embed="rId3">
                <a:alphaModFix amt="0"/>
              </a:blip>
              <a:stretch>
                <a:fillRect t="-519937" b="-519937"/>
              </a:stretch>
            </a:blipFill>
          </p:spPr>
          <p:txBody>
            <a:bodyPr/>
            <a:lstStyle/>
            <a:p>
              <a:endParaRPr lang="en-US"/>
            </a:p>
          </p:txBody>
        </p:sp>
        <p:sp>
          <p:nvSpPr>
            <p:cNvPr id="54" name="TextBox 54"/>
            <p:cNvSpPr txBox="1"/>
            <p:nvPr/>
          </p:nvSpPr>
          <p:spPr>
            <a:xfrm>
              <a:off x="0" y="-28575"/>
              <a:ext cx="21396960" cy="760095"/>
            </a:xfrm>
            <a:prstGeom prst="rect">
              <a:avLst/>
            </a:prstGeom>
          </p:spPr>
          <p:txBody>
            <a:bodyPr lIns="0" tIns="0" rIns="0" bIns="0" rtlCol="0" anchor="ctr"/>
            <a:lstStyle/>
            <a:p>
              <a:pPr algn="l">
                <a:lnSpc>
                  <a:spcPts val="1980"/>
                </a:lnSpc>
              </a:pPr>
              <a:r>
                <a:rPr lang="en-US" sz="1650" b="1">
                  <a:solidFill>
                    <a:srgbClr val="0099D8"/>
                  </a:solidFill>
                  <a:latin typeface="Calibri"/>
                  <a:ea typeface="Calibri (MS) Bold"/>
                  <a:cs typeface="Calibri"/>
                  <a:sym typeface="Calibri (MS) Bold"/>
                </a:rPr>
                <a:t>Cost &amp; time:  </a:t>
              </a:r>
              <a:r>
                <a:rPr lang="en-US" sz="1650">
                  <a:solidFill>
                    <a:srgbClr val="0099D8"/>
                  </a:solidFill>
                  <a:latin typeface="Calibri"/>
                  <a:ea typeface="Calibri (MS)"/>
                  <a:cs typeface="Calibri"/>
                  <a:sym typeface="Calibri (MS)"/>
                </a:rPr>
                <a:t>BI / data-science build on existing systems, $2–4M one-time, &lt;$1M/yr to run; live within one quarter; first full read the quarter after.  </a:t>
              </a:r>
              <a:r>
                <a:rPr lang="en-US" sz="1650" i="1">
                  <a:solidFill>
                    <a:srgbClr val="0099D8"/>
                  </a:solidFill>
                  <a:latin typeface="Calibri"/>
                  <a:ea typeface="Calibri (MS) Italics"/>
                  <a:cs typeface="Calibri"/>
                  <a:sym typeface="Calibri (MS) Italics"/>
                </a:rPr>
                <a:t>[assumption, to size with client IT]</a:t>
              </a:r>
            </a:p>
          </p:txBody>
        </p:sp>
      </p:grpSp>
      <p:grpSp>
        <p:nvGrpSpPr>
          <p:cNvPr id="55" name="Group 55"/>
          <p:cNvGrpSpPr/>
          <p:nvPr/>
        </p:nvGrpSpPr>
        <p:grpSpPr>
          <a:xfrm>
            <a:off x="754380" y="9189720"/>
            <a:ext cx="16733520" cy="411480"/>
            <a:chOff x="0" y="0"/>
            <a:chExt cx="22311360" cy="548640"/>
          </a:xfrm>
        </p:grpSpPr>
        <p:sp>
          <p:nvSpPr>
            <p:cNvPr id="56" name="Freeform 5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57" name="TextBox 5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58" name="Group 58"/>
          <p:cNvGrpSpPr/>
          <p:nvPr/>
        </p:nvGrpSpPr>
        <p:grpSpPr>
          <a:xfrm>
            <a:off x="17076420" y="9669780"/>
            <a:ext cx="960120" cy="411480"/>
            <a:chOff x="0" y="0"/>
            <a:chExt cx="1280160" cy="548640"/>
          </a:xfrm>
        </p:grpSpPr>
        <p:sp>
          <p:nvSpPr>
            <p:cNvPr id="59" name="Freeform 5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60" name="TextBox 6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23</a:t>
              </a:r>
            </a:p>
          </p:txBody>
        </p:sp>
      </p:grpSp>
      <p:grpSp>
        <p:nvGrpSpPr>
          <p:cNvPr id="61" name="Group 61"/>
          <p:cNvGrpSpPr/>
          <p:nvPr/>
        </p:nvGrpSpPr>
        <p:grpSpPr>
          <a:xfrm>
            <a:off x="754380" y="9669780"/>
            <a:ext cx="16047720" cy="411480"/>
            <a:chOff x="0" y="0"/>
            <a:chExt cx="21396960" cy="548640"/>
          </a:xfrm>
        </p:grpSpPr>
        <p:sp>
          <p:nvSpPr>
            <p:cNvPr id="62" name="Freeform 6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63" name="TextBox 6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A13  ·  RECOMMENDATION 1</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Stated Thresholds Route the Read to a Response</a:t>
            </a:r>
          </a:p>
        </p:txBody>
      </p:sp>
      <p:grpSp>
        <p:nvGrpSpPr>
          <p:cNvPr id="6" name="Group 6"/>
          <p:cNvGrpSpPr/>
          <p:nvPr/>
        </p:nvGrpSpPr>
        <p:grpSpPr>
          <a:xfrm>
            <a:off x="742474" y="2662714"/>
            <a:ext cx="5304472" cy="4275772"/>
            <a:chOff x="0" y="0"/>
            <a:chExt cx="7072630" cy="5701030"/>
          </a:xfrm>
        </p:grpSpPr>
        <p:sp>
          <p:nvSpPr>
            <p:cNvPr id="7" name="Freeform 7"/>
            <p:cNvSpPr/>
            <p:nvPr/>
          </p:nvSpPr>
          <p:spPr>
            <a:xfrm>
              <a:off x="0" y="0"/>
              <a:ext cx="7072630" cy="5701030"/>
            </a:xfrm>
            <a:custGeom>
              <a:avLst/>
              <a:gdLst/>
              <a:ahLst/>
              <a:cxnLst/>
              <a:rect l="l" t="t" r="r" b="b"/>
              <a:pathLst>
                <a:path w="7072630" h="5701030">
                  <a:moveTo>
                    <a:pt x="0" y="147193"/>
                  </a:moveTo>
                  <a:cubicBezTo>
                    <a:pt x="0" y="65913"/>
                    <a:pt x="65913" y="0"/>
                    <a:pt x="147193" y="0"/>
                  </a:cubicBezTo>
                  <a:lnTo>
                    <a:pt x="6925437" y="0"/>
                  </a:lnTo>
                  <a:cubicBezTo>
                    <a:pt x="7006717" y="0"/>
                    <a:pt x="7072630" y="65913"/>
                    <a:pt x="7072630" y="147193"/>
                  </a:cubicBezTo>
                  <a:lnTo>
                    <a:pt x="7072630" y="5553837"/>
                  </a:lnTo>
                  <a:cubicBezTo>
                    <a:pt x="7072630" y="5635117"/>
                    <a:pt x="7006717" y="5701030"/>
                    <a:pt x="6925437" y="5701030"/>
                  </a:cubicBezTo>
                  <a:lnTo>
                    <a:pt x="147193" y="5701030"/>
                  </a:lnTo>
                  <a:cubicBezTo>
                    <a:pt x="65913" y="5701030"/>
                    <a:pt x="0" y="5635117"/>
                    <a:pt x="0" y="5553837"/>
                  </a:cubicBezTo>
                  <a:close/>
                </a:path>
              </a:pathLst>
            </a:custGeom>
            <a:solidFill>
              <a:srgbClr val="EEF4FB"/>
            </a:solidFill>
            <a:ln w="23812" cap="sq">
              <a:solidFill>
                <a:srgbClr val="0099D8"/>
              </a:solidFill>
              <a:prstDash val="solid"/>
              <a:miter/>
            </a:ln>
          </p:spPr>
          <p:txBody>
            <a:bodyPr/>
            <a:lstStyle/>
            <a:p>
              <a:endParaRPr lang="en-US"/>
            </a:p>
          </p:txBody>
        </p:sp>
      </p:grpSp>
      <p:grpSp>
        <p:nvGrpSpPr>
          <p:cNvPr id="8" name="Group 8"/>
          <p:cNvGrpSpPr/>
          <p:nvPr/>
        </p:nvGrpSpPr>
        <p:grpSpPr>
          <a:xfrm>
            <a:off x="1097280" y="2948940"/>
            <a:ext cx="4594860" cy="1028700"/>
            <a:chOff x="0" y="0"/>
            <a:chExt cx="6126480" cy="1371600"/>
          </a:xfrm>
        </p:grpSpPr>
        <p:sp>
          <p:nvSpPr>
            <p:cNvPr id="9" name="Freeform 9"/>
            <p:cNvSpPr/>
            <p:nvPr/>
          </p:nvSpPr>
          <p:spPr>
            <a:xfrm>
              <a:off x="0" y="0"/>
              <a:ext cx="6126480" cy="1371600"/>
            </a:xfrm>
            <a:custGeom>
              <a:avLst/>
              <a:gdLst/>
              <a:ahLst/>
              <a:cxnLst/>
              <a:rect l="l" t="t" r="r" b="b"/>
              <a:pathLst>
                <a:path w="6126480" h="1371600">
                  <a:moveTo>
                    <a:pt x="0" y="0"/>
                  </a:moveTo>
                  <a:lnTo>
                    <a:pt x="6126480" y="0"/>
                  </a:lnTo>
                  <a:lnTo>
                    <a:pt x="6126480" y="1371600"/>
                  </a:lnTo>
                  <a:lnTo>
                    <a:pt x="0" y="1371600"/>
                  </a:lnTo>
                  <a:close/>
                </a:path>
              </a:pathLst>
            </a:custGeom>
            <a:blipFill>
              <a:blip r:embed="rId3">
                <a:alphaModFix amt="0"/>
              </a:blip>
              <a:stretch>
                <a:fillRect t="-37033" b="-37033"/>
              </a:stretch>
            </a:blipFill>
          </p:spPr>
          <p:txBody>
            <a:bodyPr/>
            <a:lstStyle/>
            <a:p>
              <a:endParaRPr lang="en-US"/>
            </a:p>
          </p:txBody>
        </p:sp>
        <p:sp>
          <p:nvSpPr>
            <p:cNvPr id="10" name="TextBox 10"/>
            <p:cNvSpPr txBox="1"/>
            <p:nvPr/>
          </p:nvSpPr>
          <p:spPr>
            <a:xfrm>
              <a:off x="0" y="-114300"/>
              <a:ext cx="6126480" cy="1485900"/>
            </a:xfrm>
            <a:prstGeom prst="rect">
              <a:avLst/>
            </a:prstGeom>
          </p:spPr>
          <p:txBody>
            <a:bodyPr lIns="0" tIns="0" rIns="0" bIns="0" rtlCol="0" anchor="ctr"/>
            <a:lstStyle/>
            <a:p>
              <a:pPr algn="l">
                <a:lnSpc>
                  <a:spcPts val="6120"/>
                </a:lnSpc>
              </a:pPr>
              <a:r>
                <a:rPr lang="en-US" sz="5100" b="1">
                  <a:solidFill>
                    <a:srgbClr val="0099D8"/>
                  </a:solidFill>
                  <a:latin typeface="Calibri"/>
                  <a:ea typeface="Calibri (MS) Bold"/>
                  <a:cs typeface="Calibri"/>
                  <a:sym typeface="Calibri (MS) Bold"/>
                </a:rPr>
                <a:t>≥ 40%</a:t>
              </a:r>
            </a:p>
          </p:txBody>
        </p:sp>
      </p:grpSp>
      <p:grpSp>
        <p:nvGrpSpPr>
          <p:cNvPr id="11" name="Group 11"/>
          <p:cNvGrpSpPr/>
          <p:nvPr/>
        </p:nvGrpSpPr>
        <p:grpSpPr>
          <a:xfrm>
            <a:off x="1097280" y="4005072"/>
            <a:ext cx="4594860" cy="384048"/>
            <a:chOff x="0" y="0"/>
            <a:chExt cx="6126480" cy="512064"/>
          </a:xfrm>
        </p:grpSpPr>
        <p:sp>
          <p:nvSpPr>
            <p:cNvPr id="12" name="Freeform 12"/>
            <p:cNvSpPr/>
            <p:nvPr/>
          </p:nvSpPr>
          <p:spPr>
            <a:xfrm>
              <a:off x="0" y="0"/>
              <a:ext cx="6126480" cy="512064"/>
            </a:xfrm>
            <a:custGeom>
              <a:avLst/>
              <a:gdLst/>
              <a:ahLst/>
              <a:cxnLst/>
              <a:rect l="l" t="t" r="r" b="b"/>
              <a:pathLst>
                <a:path w="6126480" h="512064">
                  <a:moveTo>
                    <a:pt x="0" y="0"/>
                  </a:moveTo>
                  <a:lnTo>
                    <a:pt x="6126480" y="0"/>
                  </a:lnTo>
                  <a:lnTo>
                    <a:pt x="6126480" y="512064"/>
                  </a:lnTo>
                  <a:lnTo>
                    <a:pt x="0" y="512064"/>
                  </a:lnTo>
                  <a:close/>
                </a:path>
              </a:pathLst>
            </a:custGeom>
            <a:blipFill>
              <a:blip r:embed="rId3">
                <a:alphaModFix amt="0"/>
              </a:blip>
              <a:stretch>
                <a:fillRect t="-183124" b="-183124"/>
              </a:stretch>
            </a:blipFill>
          </p:spPr>
          <p:txBody>
            <a:bodyPr/>
            <a:lstStyle/>
            <a:p>
              <a:endParaRPr lang="en-US"/>
            </a:p>
          </p:txBody>
        </p:sp>
        <p:sp>
          <p:nvSpPr>
            <p:cNvPr id="13" name="TextBox 13"/>
            <p:cNvSpPr txBox="1"/>
            <p:nvPr/>
          </p:nvSpPr>
          <p:spPr>
            <a:xfrm>
              <a:off x="0" y="-28575"/>
              <a:ext cx="6126480" cy="540639"/>
            </a:xfrm>
            <a:prstGeom prst="rect">
              <a:avLst/>
            </a:prstGeom>
          </p:spPr>
          <p:txBody>
            <a:bodyPr lIns="0" tIns="0" rIns="0" bIns="0" rtlCol="0" anchor="ctr"/>
            <a:lstStyle/>
            <a:p>
              <a:pPr algn="l">
                <a:lnSpc>
                  <a:spcPts val="1980"/>
                </a:lnSpc>
              </a:pPr>
              <a:r>
                <a:rPr lang="en-US" sz="1650" b="1" spc="225">
                  <a:solidFill>
                    <a:srgbClr val="0099D8"/>
                  </a:solidFill>
                  <a:latin typeface="Calibri"/>
                  <a:ea typeface="Calibri (MS) Bold"/>
                  <a:cs typeface="Calibri"/>
                  <a:sym typeface="Calibri (MS) Bold"/>
                </a:rPr>
                <a:t>DOMINANT DRIVER</a:t>
              </a:r>
            </a:p>
          </p:txBody>
        </p:sp>
      </p:grpSp>
      <p:grpSp>
        <p:nvGrpSpPr>
          <p:cNvPr id="14" name="Group 14"/>
          <p:cNvGrpSpPr/>
          <p:nvPr/>
        </p:nvGrpSpPr>
        <p:grpSpPr>
          <a:xfrm>
            <a:off x="1097280" y="4457700"/>
            <a:ext cx="4594860" cy="2331720"/>
            <a:chOff x="0" y="0"/>
            <a:chExt cx="6126480" cy="3108960"/>
          </a:xfrm>
        </p:grpSpPr>
        <p:sp>
          <p:nvSpPr>
            <p:cNvPr id="15" name="Freeform 15"/>
            <p:cNvSpPr/>
            <p:nvPr/>
          </p:nvSpPr>
          <p:spPr>
            <a:xfrm>
              <a:off x="0" y="0"/>
              <a:ext cx="6126480" cy="3108960"/>
            </a:xfrm>
            <a:custGeom>
              <a:avLst/>
              <a:gdLst/>
              <a:ahLst/>
              <a:cxnLst/>
              <a:rect l="l" t="t" r="r" b="b"/>
              <a:pathLst>
                <a:path w="6126480" h="3108960">
                  <a:moveTo>
                    <a:pt x="0" y="0"/>
                  </a:moveTo>
                  <a:lnTo>
                    <a:pt x="6126480" y="0"/>
                  </a:lnTo>
                  <a:lnTo>
                    <a:pt x="6126480" y="3108960"/>
                  </a:lnTo>
                  <a:lnTo>
                    <a:pt x="0" y="3108960"/>
                  </a:lnTo>
                  <a:close/>
                </a:path>
              </a:pathLst>
            </a:custGeom>
            <a:blipFill>
              <a:blip r:embed="rId3">
                <a:alphaModFix amt="0"/>
              </a:blip>
              <a:stretch>
                <a:fillRect l="-15109" r="-15109"/>
              </a:stretch>
            </a:blipFill>
          </p:spPr>
          <p:txBody>
            <a:bodyPr/>
            <a:lstStyle/>
            <a:p>
              <a:endParaRPr lang="en-US"/>
            </a:p>
          </p:txBody>
        </p:sp>
        <p:sp>
          <p:nvSpPr>
            <p:cNvPr id="16" name="TextBox 16"/>
            <p:cNvSpPr txBox="1"/>
            <p:nvPr/>
          </p:nvSpPr>
          <p:spPr>
            <a:xfrm>
              <a:off x="0" y="-28575"/>
              <a:ext cx="6126480" cy="313753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One cause-cohort holds ≥40% of quarterly losses → trigger that scenario’s lead play at scale, with its pre-authorized budget and pre-registered review date. Full scale requires two consecutive quarters above threshold.</a:t>
              </a:r>
            </a:p>
          </p:txBody>
        </p:sp>
      </p:grpSp>
      <p:grpSp>
        <p:nvGrpSpPr>
          <p:cNvPr id="17" name="Group 17"/>
          <p:cNvGrpSpPr/>
          <p:nvPr/>
        </p:nvGrpSpPr>
        <p:grpSpPr>
          <a:xfrm>
            <a:off x="6503194" y="2662714"/>
            <a:ext cx="5304472" cy="4275772"/>
            <a:chOff x="0" y="0"/>
            <a:chExt cx="7072630" cy="5701030"/>
          </a:xfrm>
        </p:grpSpPr>
        <p:sp>
          <p:nvSpPr>
            <p:cNvPr id="18" name="Freeform 18"/>
            <p:cNvSpPr/>
            <p:nvPr/>
          </p:nvSpPr>
          <p:spPr>
            <a:xfrm>
              <a:off x="0" y="0"/>
              <a:ext cx="7072630" cy="5701030"/>
            </a:xfrm>
            <a:custGeom>
              <a:avLst/>
              <a:gdLst/>
              <a:ahLst/>
              <a:cxnLst/>
              <a:rect l="l" t="t" r="r" b="b"/>
              <a:pathLst>
                <a:path w="7072630" h="5701030">
                  <a:moveTo>
                    <a:pt x="0" y="147193"/>
                  </a:moveTo>
                  <a:cubicBezTo>
                    <a:pt x="0" y="65913"/>
                    <a:pt x="65913" y="0"/>
                    <a:pt x="147193" y="0"/>
                  </a:cubicBezTo>
                  <a:lnTo>
                    <a:pt x="6925437" y="0"/>
                  </a:lnTo>
                  <a:cubicBezTo>
                    <a:pt x="7006717" y="0"/>
                    <a:pt x="7072630" y="65913"/>
                    <a:pt x="7072630" y="147193"/>
                  </a:cubicBezTo>
                  <a:lnTo>
                    <a:pt x="7072630" y="5553837"/>
                  </a:lnTo>
                  <a:cubicBezTo>
                    <a:pt x="7072630" y="5635117"/>
                    <a:pt x="7006717" y="5701030"/>
                    <a:pt x="6925437" y="5701030"/>
                  </a:cubicBezTo>
                  <a:lnTo>
                    <a:pt x="147193" y="5701030"/>
                  </a:lnTo>
                  <a:cubicBezTo>
                    <a:pt x="65913" y="5701030"/>
                    <a:pt x="0" y="5635117"/>
                    <a:pt x="0" y="5553837"/>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9" name="Group 19"/>
          <p:cNvGrpSpPr/>
          <p:nvPr/>
        </p:nvGrpSpPr>
        <p:grpSpPr>
          <a:xfrm>
            <a:off x="6858000" y="2948940"/>
            <a:ext cx="4594860" cy="1028700"/>
            <a:chOff x="0" y="0"/>
            <a:chExt cx="6126480" cy="1371600"/>
          </a:xfrm>
        </p:grpSpPr>
        <p:sp>
          <p:nvSpPr>
            <p:cNvPr id="20" name="Freeform 20"/>
            <p:cNvSpPr/>
            <p:nvPr/>
          </p:nvSpPr>
          <p:spPr>
            <a:xfrm>
              <a:off x="0" y="0"/>
              <a:ext cx="6126480" cy="1371600"/>
            </a:xfrm>
            <a:custGeom>
              <a:avLst/>
              <a:gdLst/>
              <a:ahLst/>
              <a:cxnLst/>
              <a:rect l="l" t="t" r="r" b="b"/>
              <a:pathLst>
                <a:path w="6126480" h="1371600">
                  <a:moveTo>
                    <a:pt x="0" y="0"/>
                  </a:moveTo>
                  <a:lnTo>
                    <a:pt x="6126480" y="0"/>
                  </a:lnTo>
                  <a:lnTo>
                    <a:pt x="6126480" y="1371600"/>
                  </a:lnTo>
                  <a:lnTo>
                    <a:pt x="0" y="1371600"/>
                  </a:lnTo>
                  <a:close/>
                </a:path>
              </a:pathLst>
            </a:custGeom>
            <a:blipFill>
              <a:blip r:embed="rId3">
                <a:alphaModFix amt="0"/>
              </a:blip>
              <a:stretch>
                <a:fillRect t="-37033" b="-37033"/>
              </a:stretch>
            </a:blipFill>
          </p:spPr>
          <p:txBody>
            <a:bodyPr/>
            <a:lstStyle/>
            <a:p>
              <a:endParaRPr lang="en-US"/>
            </a:p>
          </p:txBody>
        </p:sp>
        <p:sp>
          <p:nvSpPr>
            <p:cNvPr id="21" name="TextBox 21"/>
            <p:cNvSpPr txBox="1"/>
            <p:nvPr/>
          </p:nvSpPr>
          <p:spPr>
            <a:xfrm>
              <a:off x="0" y="-114300"/>
              <a:ext cx="6126480" cy="1485900"/>
            </a:xfrm>
            <a:prstGeom prst="rect">
              <a:avLst/>
            </a:prstGeom>
          </p:spPr>
          <p:txBody>
            <a:bodyPr lIns="0" tIns="0" rIns="0" bIns="0" rtlCol="0" anchor="ctr"/>
            <a:lstStyle/>
            <a:p>
              <a:pPr algn="l">
                <a:lnSpc>
                  <a:spcPts val="6120"/>
                </a:lnSpc>
              </a:pPr>
              <a:r>
                <a:rPr lang="en-US" sz="5100" b="1">
                  <a:solidFill>
                    <a:srgbClr val="0099D8"/>
                  </a:solidFill>
                  <a:latin typeface="Calibri"/>
                  <a:ea typeface="Calibri (MS) Bold"/>
                  <a:cs typeface="Calibri"/>
                  <a:sym typeface="Calibri (MS) Bold"/>
                </a:rPr>
                <a:t>25–40%</a:t>
              </a:r>
            </a:p>
          </p:txBody>
        </p:sp>
      </p:grpSp>
      <p:grpSp>
        <p:nvGrpSpPr>
          <p:cNvPr id="22" name="Group 22"/>
          <p:cNvGrpSpPr/>
          <p:nvPr/>
        </p:nvGrpSpPr>
        <p:grpSpPr>
          <a:xfrm>
            <a:off x="6858000" y="4005072"/>
            <a:ext cx="4594860" cy="384048"/>
            <a:chOff x="0" y="0"/>
            <a:chExt cx="6126480" cy="512064"/>
          </a:xfrm>
        </p:grpSpPr>
        <p:sp>
          <p:nvSpPr>
            <p:cNvPr id="23" name="Freeform 23"/>
            <p:cNvSpPr/>
            <p:nvPr/>
          </p:nvSpPr>
          <p:spPr>
            <a:xfrm>
              <a:off x="0" y="0"/>
              <a:ext cx="6126480" cy="512064"/>
            </a:xfrm>
            <a:custGeom>
              <a:avLst/>
              <a:gdLst/>
              <a:ahLst/>
              <a:cxnLst/>
              <a:rect l="l" t="t" r="r" b="b"/>
              <a:pathLst>
                <a:path w="6126480" h="512064">
                  <a:moveTo>
                    <a:pt x="0" y="0"/>
                  </a:moveTo>
                  <a:lnTo>
                    <a:pt x="6126480" y="0"/>
                  </a:lnTo>
                  <a:lnTo>
                    <a:pt x="6126480" y="512064"/>
                  </a:lnTo>
                  <a:lnTo>
                    <a:pt x="0" y="512064"/>
                  </a:lnTo>
                  <a:close/>
                </a:path>
              </a:pathLst>
            </a:custGeom>
            <a:blipFill>
              <a:blip r:embed="rId3">
                <a:alphaModFix amt="0"/>
              </a:blip>
              <a:stretch>
                <a:fillRect t="-183124" b="-183124"/>
              </a:stretch>
            </a:blipFill>
          </p:spPr>
          <p:txBody>
            <a:bodyPr/>
            <a:lstStyle/>
            <a:p>
              <a:endParaRPr lang="en-US"/>
            </a:p>
          </p:txBody>
        </p:sp>
        <p:sp>
          <p:nvSpPr>
            <p:cNvPr id="24" name="TextBox 24"/>
            <p:cNvSpPr txBox="1"/>
            <p:nvPr/>
          </p:nvSpPr>
          <p:spPr>
            <a:xfrm>
              <a:off x="0" y="-28575"/>
              <a:ext cx="6126480" cy="540639"/>
            </a:xfrm>
            <a:prstGeom prst="rect">
              <a:avLst/>
            </a:prstGeom>
          </p:spPr>
          <p:txBody>
            <a:bodyPr lIns="0" tIns="0" rIns="0" bIns="0" rtlCol="0" anchor="ctr"/>
            <a:lstStyle/>
            <a:p>
              <a:pPr algn="l">
                <a:lnSpc>
                  <a:spcPts val="1980"/>
                </a:lnSpc>
              </a:pPr>
              <a:r>
                <a:rPr lang="en-US" sz="1650" b="1" spc="225">
                  <a:solidFill>
                    <a:srgbClr val="0099D8"/>
                  </a:solidFill>
                  <a:latin typeface="Calibri"/>
                  <a:ea typeface="Calibri (MS) Bold"/>
                  <a:cs typeface="Calibri"/>
                  <a:sym typeface="Calibri (MS) Bold"/>
                </a:rPr>
                <a:t>MIXED PICTURE</a:t>
              </a:r>
            </a:p>
          </p:txBody>
        </p:sp>
      </p:grpSp>
      <p:grpSp>
        <p:nvGrpSpPr>
          <p:cNvPr id="25" name="Group 25"/>
          <p:cNvGrpSpPr/>
          <p:nvPr/>
        </p:nvGrpSpPr>
        <p:grpSpPr>
          <a:xfrm>
            <a:off x="6858000" y="4457700"/>
            <a:ext cx="4594860" cy="2331720"/>
            <a:chOff x="0" y="0"/>
            <a:chExt cx="6126480" cy="3108960"/>
          </a:xfrm>
        </p:grpSpPr>
        <p:sp>
          <p:nvSpPr>
            <p:cNvPr id="26" name="Freeform 26"/>
            <p:cNvSpPr/>
            <p:nvPr/>
          </p:nvSpPr>
          <p:spPr>
            <a:xfrm>
              <a:off x="0" y="0"/>
              <a:ext cx="6126480" cy="3108960"/>
            </a:xfrm>
            <a:custGeom>
              <a:avLst/>
              <a:gdLst/>
              <a:ahLst/>
              <a:cxnLst/>
              <a:rect l="l" t="t" r="r" b="b"/>
              <a:pathLst>
                <a:path w="6126480" h="3108960">
                  <a:moveTo>
                    <a:pt x="0" y="0"/>
                  </a:moveTo>
                  <a:lnTo>
                    <a:pt x="6126480" y="0"/>
                  </a:lnTo>
                  <a:lnTo>
                    <a:pt x="6126480" y="3108960"/>
                  </a:lnTo>
                  <a:lnTo>
                    <a:pt x="0" y="3108960"/>
                  </a:lnTo>
                  <a:close/>
                </a:path>
              </a:pathLst>
            </a:custGeom>
            <a:blipFill>
              <a:blip r:embed="rId3">
                <a:alphaModFix amt="0"/>
              </a:blip>
              <a:stretch>
                <a:fillRect l="-15109" r="-15109"/>
              </a:stretch>
            </a:blipFill>
          </p:spPr>
          <p:txBody>
            <a:bodyPr/>
            <a:lstStyle/>
            <a:p>
              <a:endParaRPr lang="en-US"/>
            </a:p>
          </p:txBody>
        </p:sp>
        <p:sp>
          <p:nvSpPr>
            <p:cNvPr id="27" name="TextBox 27"/>
            <p:cNvSpPr txBox="1"/>
            <p:nvPr/>
          </p:nvSpPr>
          <p:spPr>
            <a:xfrm>
              <a:off x="0" y="-28575"/>
              <a:ext cx="6126480" cy="313753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Two cohorts in the band → run the top two plays as controlled experiments (treated vs. untreated zones), scale whichever separates churn first. Spend caps until proof.</a:t>
              </a:r>
            </a:p>
          </p:txBody>
        </p:sp>
      </p:grpSp>
      <p:grpSp>
        <p:nvGrpSpPr>
          <p:cNvPr id="28" name="Group 28"/>
          <p:cNvGrpSpPr/>
          <p:nvPr/>
        </p:nvGrpSpPr>
        <p:grpSpPr>
          <a:xfrm>
            <a:off x="12263914" y="2662714"/>
            <a:ext cx="5304472" cy="4275772"/>
            <a:chOff x="0" y="0"/>
            <a:chExt cx="7072630" cy="5701030"/>
          </a:xfrm>
        </p:grpSpPr>
        <p:sp>
          <p:nvSpPr>
            <p:cNvPr id="29" name="Freeform 29"/>
            <p:cNvSpPr/>
            <p:nvPr/>
          </p:nvSpPr>
          <p:spPr>
            <a:xfrm>
              <a:off x="0" y="0"/>
              <a:ext cx="7072630" cy="5701030"/>
            </a:xfrm>
            <a:custGeom>
              <a:avLst/>
              <a:gdLst/>
              <a:ahLst/>
              <a:cxnLst/>
              <a:rect l="l" t="t" r="r" b="b"/>
              <a:pathLst>
                <a:path w="7072630" h="5701030">
                  <a:moveTo>
                    <a:pt x="0" y="147193"/>
                  </a:moveTo>
                  <a:cubicBezTo>
                    <a:pt x="0" y="65913"/>
                    <a:pt x="65913" y="0"/>
                    <a:pt x="147193" y="0"/>
                  </a:cubicBezTo>
                  <a:lnTo>
                    <a:pt x="6925437" y="0"/>
                  </a:lnTo>
                  <a:cubicBezTo>
                    <a:pt x="7006717" y="0"/>
                    <a:pt x="7072630" y="65913"/>
                    <a:pt x="7072630" y="147193"/>
                  </a:cubicBezTo>
                  <a:lnTo>
                    <a:pt x="7072630" y="5553837"/>
                  </a:lnTo>
                  <a:cubicBezTo>
                    <a:pt x="7072630" y="5635117"/>
                    <a:pt x="7006717" y="5701030"/>
                    <a:pt x="6925437" y="5701030"/>
                  </a:cubicBezTo>
                  <a:lnTo>
                    <a:pt x="147193" y="5701030"/>
                  </a:lnTo>
                  <a:cubicBezTo>
                    <a:pt x="65913" y="5701030"/>
                    <a:pt x="0" y="5635117"/>
                    <a:pt x="0" y="5553837"/>
                  </a:cubicBezTo>
                  <a:close/>
                </a:path>
              </a:pathLst>
            </a:custGeom>
            <a:solidFill>
              <a:srgbClr val="EEF4FB"/>
            </a:solidFill>
            <a:ln w="23812" cap="sq">
              <a:solidFill>
                <a:srgbClr val="0099D8"/>
              </a:solidFill>
              <a:prstDash val="solid"/>
              <a:miter/>
            </a:ln>
          </p:spPr>
          <p:txBody>
            <a:bodyPr/>
            <a:lstStyle/>
            <a:p>
              <a:endParaRPr lang="en-US"/>
            </a:p>
          </p:txBody>
        </p:sp>
      </p:grpSp>
      <p:grpSp>
        <p:nvGrpSpPr>
          <p:cNvPr id="30" name="Group 30"/>
          <p:cNvGrpSpPr/>
          <p:nvPr/>
        </p:nvGrpSpPr>
        <p:grpSpPr>
          <a:xfrm>
            <a:off x="12618720" y="2948940"/>
            <a:ext cx="4594860" cy="1028700"/>
            <a:chOff x="0" y="0"/>
            <a:chExt cx="6126480" cy="1371600"/>
          </a:xfrm>
        </p:grpSpPr>
        <p:sp>
          <p:nvSpPr>
            <p:cNvPr id="31" name="Freeform 31"/>
            <p:cNvSpPr/>
            <p:nvPr/>
          </p:nvSpPr>
          <p:spPr>
            <a:xfrm>
              <a:off x="0" y="0"/>
              <a:ext cx="6126480" cy="1371600"/>
            </a:xfrm>
            <a:custGeom>
              <a:avLst/>
              <a:gdLst/>
              <a:ahLst/>
              <a:cxnLst/>
              <a:rect l="l" t="t" r="r" b="b"/>
              <a:pathLst>
                <a:path w="6126480" h="1371600">
                  <a:moveTo>
                    <a:pt x="0" y="0"/>
                  </a:moveTo>
                  <a:lnTo>
                    <a:pt x="6126480" y="0"/>
                  </a:lnTo>
                  <a:lnTo>
                    <a:pt x="6126480" y="1371600"/>
                  </a:lnTo>
                  <a:lnTo>
                    <a:pt x="0" y="1371600"/>
                  </a:lnTo>
                  <a:close/>
                </a:path>
              </a:pathLst>
            </a:custGeom>
            <a:blipFill>
              <a:blip r:embed="rId3">
                <a:alphaModFix amt="0"/>
              </a:blip>
              <a:stretch>
                <a:fillRect t="-37033" b="-37033"/>
              </a:stretch>
            </a:blipFill>
          </p:spPr>
          <p:txBody>
            <a:bodyPr/>
            <a:lstStyle/>
            <a:p>
              <a:endParaRPr lang="en-US"/>
            </a:p>
          </p:txBody>
        </p:sp>
        <p:sp>
          <p:nvSpPr>
            <p:cNvPr id="32" name="TextBox 32"/>
            <p:cNvSpPr txBox="1"/>
            <p:nvPr/>
          </p:nvSpPr>
          <p:spPr>
            <a:xfrm>
              <a:off x="0" y="-114300"/>
              <a:ext cx="6126480" cy="1485900"/>
            </a:xfrm>
            <a:prstGeom prst="rect">
              <a:avLst/>
            </a:prstGeom>
          </p:spPr>
          <p:txBody>
            <a:bodyPr lIns="0" tIns="0" rIns="0" bIns="0" rtlCol="0" anchor="ctr"/>
            <a:lstStyle/>
            <a:p>
              <a:pPr algn="l">
                <a:lnSpc>
                  <a:spcPts val="6120"/>
                </a:lnSpc>
              </a:pPr>
              <a:r>
                <a:rPr lang="en-US" sz="5100" b="1">
                  <a:solidFill>
                    <a:srgbClr val="0099D8"/>
                  </a:solidFill>
                  <a:latin typeface="Calibri"/>
                  <a:ea typeface="Calibri (MS) Bold"/>
                  <a:cs typeface="Calibri"/>
                  <a:sym typeface="Calibri (MS) Bold"/>
                </a:rPr>
                <a:t>&lt; 25%</a:t>
              </a:r>
            </a:p>
          </p:txBody>
        </p:sp>
      </p:grpSp>
      <p:grpSp>
        <p:nvGrpSpPr>
          <p:cNvPr id="33" name="Group 33"/>
          <p:cNvGrpSpPr/>
          <p:nvPr/>
        </p:nvGrpSpPr>
        <p:grpSpPr>
          <a:xfrm>
            <a:off x="12618720" y="4005072"/>
            <a:ext cx="4594860" cy="384048"/>
            <a:chOff x="0" y="0"/>
            <a:chExt cx="6126480" cy="512064"/>
          </a:xfrm>
        </p:grpSpPr>
        <p:sp>
          <p:nvSpPr>
            <p:cNvPr id="34" name="Freeform 34"/>
            <p:cNvSpPr/>
            <p:nvPr/>
          </p:nvSpPr>
          <p:spPr>
            <a:xfrm>
              <a:off x="0" y="0"/>
              <a:ext cx="6126480" cy="512064"/>
            </a:xfrm>
            <a:custGeom>
              <a:avLst/>
              <a:gdLst/>
              <a:ahLst/>
              <a:cxnLst/>
              <a:rect l="l" t="t" r="r" b="b"/>
              <a:pathLst>
                <a:path w="6126480" h="512064">
                  <a:moveTo>
                    <a:pt x="0" y="0"/>
                  </a:moveTo>
                  <a:lnTo>
                    <a:pt x="6126480" y="0"/>
                  </a:lnTo>
                  <a:lnTo>
                    <a:pt x="6126480" y="512064"/>
                  </a:lnTo>
                  <a:lnTo>
                    <a:pt x="0" y="512064"/>
                  </a:lnTo>
                  <a:close/>
                </a:path>
              </a:pathLst>
            </a:custGeom>
            <a:blipFill>
              <a:blip r:embed="rId3">
                <a:alphaModFix amt="0"/>
              </a:blip>
              <a:stretch>
                <a:fillRect t="-183124" b="-183124"/>
              </a:stretch>
            </a:blipFill>
          </p:spPr>
          <p:txBody>
            <a:bodyPr/>
            <a:lstStyle/>
            <a:p>
              <a:endParaRPr lang="en-US"/>
            </a:p>
          </p:txBody>
        </p:sp>
        <p:sp>
          <p:nvSpPr>
            <p:cNvPr id="35" name="TextBox 35"/>
            <p:cNvSpPr txBox="1"/>
            <p:nvPr/>
          </p:nvSpPr>
          <p:spPr>
            <a:xfrm>
              <a:off x="0" y="-28575"/>
              <a:ext cx="6126480" cy="540639"/>
            </a:xfrm>
            <a:prstGeom prst="rect">
              <a:avLst/>
            </a:prstGeom>
          </p:spPr>
          <p:txBody>
            <a:bodyPr lIns="0" tIns="0" rIns="0" bIns="0" rtlCol="0" anchor="ctr"/>
            <a:lstStyle/>
            <a:p>
              <a:pPr algn="l">
                <a:lnSpc>
                  <a:spcPts val="1980"/>
                </a:lnSpc>
              </a:pPr>
              <a:r>
                <a:rPr lang="en-US" sz="1650" b="1" spc="225">
                  <a:solidFill>
                    <a:srgbClr val="0099D8"/>
                  </a:solidFill>
                  <a:latin typeface="Calibri"/>
                  <a:ea typeface="Calibri (MS) Bold"/>
                  <a:cs typeface="Calibri"/>
                  <a:sym typeface="Calibri (MS) Bold"/>
                </a:rPr>
                <a:t>NO DOMINANT DRIVER</a:t>
              </a:r>
            </a:p>
          </p:txBody>
        </p:sp>
      </p:grpSp>
      <p:grpSp>
        <p:nvGrpSpPr>
          <p:cNvPr id="36" name="Group 36"/>
          <p:cNvGrpSpPr/>
          <p:nvPr/>
        </p:nvGrpSpPr>
        <p:grpSpPr>
          <a:xfrm>
            <a:off x="12618720" y="4457700"/>
            <a:ext cx="4594860" cy="2331720"/>
            <a:chOff x="0" y="0"/>
            <a:chExt cx="6126480" cy="3108960"/>
          </a:xfrm>
        </p:grpSpPr>
        <p:sp>
          <p:nvSpPr>
            <p:cNvPr id="37" name="Freeform 37"/>
            <p:cNvSpPr/>
            <p:nvPr/>
          </p:nvSpPr>
          <p:spPr>
            <a:xfrm>
              <a:off x="0" y="0"/>
              <a:ext cx="6126480" cy="3108960"/>
            </a:xfrm>
            <a:custGeom>
              <a:avLst/>
              <a:gdLst/>
              <a:ahLst/>
              <a:cxnLst/>
              <a:rect l="l" t="t" r="r" b="b"/>
              <a:pathLst>
                <a:path w="6126480" h="3108960">
                  <a:moveTo>
                    <a:pt x="0" y="0"/>
                  </a:moveTo>
                  <a:lnTo>
                    <a:pt x="6126480" y="0"/>
                  </a:lnTo>
                  <a:lnTo>
                    <a:pt x="6126480" y="3108960"/>
                  </a:lnTo>
                  <a:lnTo>
                    <a:pt x="0" y="3108960"/>
                  </a:lnTo>
                  <a:close/>
                </a:path>
              </a:pathLst>
            </a:custGeom>
            <a:blipFill>
              <a:blip r:embed="rId3">
                <a:alphaModFix amt="0"/>
              </a:blip>
              <a:stretch>
                <a:fillRect l="-15109" r="-15109"/>
              </a:stretch>
            </a:blipFill>
          </p:spPr>
          <p:txBody>
            <a:bodyPr/>
            <a:lstStyle/>
            <a:p>
              <a:endParaRPr lang="en-US"/>
            </a:p>
          </p:txBody>
        </p:sp>
        <p:sp>
          <p:nvSpPr>
            <p:cNvPr id="38" name="TextBox 38"/>
            <p:cNvSpPr txBox="1"/>
            <p:nvPr/>
          </p:nvSpPr>
          <p:spPr>
            <a:xfrm>
              <a:off x="0" y="-28575"/>
              <a:ext cx="6126480" cy="313753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Losses diffuse across cohorts → Scenario 6 fires: Rec 2 in full plus small experimental bets. The playbook produces a recommendation in every world, including the boring one.</a:t>
              </a:r>
            </a:p>
          </p:txBody>
        </p:sp>
      </p:grpSp>
      <p:grpSp>
        <p:nvGrpSpPr>
          <p:cNvPr id="39" name="Group 39"/>
          <p:cNvGrpSpPr/>
          <p:nvPr/>
        </p:nvGrpSpPr>
        <p:grpSpPr>
          <a:xfrm>
            <a:off x="744855" y="7259955"/>
            <a:ext cx="16821150" cy="1664970"/>
            <a:chOff x="0" y="0"/>
            <a:chExt cx="22428200" cy="2219960"/>
          </a:xfrm>
        </p:grpSpPr>
        <p:sp>
          <p:nvSpPr>
            <p:cNvPr id="40" name="Freeform 40"/>
            <p:cNvSpPr/>
            <p:nvPr/>
          </p:nvSpPr>
          <p:spPr>
            <a:xfrm>
              <a:off x="0" y="0"/>
              <a:ext cx="22428200" cy="2219960"/>
            </a:xfrm>
            <a:custGeom>
              <a:avLst/>
              <a:gdLst/>
              <a:ahLst/>
              <a:cxnLst/>
              <a:rect l="l" t="t" r="r" b="b"/>
              <a:pathLst>
                <a:path w="22428200" h="2219960">
                  <a:moveTo>
                    <a:pt x="0" y="147955"/>
                  </a:moveTo>
                  <a:cubicBezTo>
                    <a:pt x="0" y="66294"/>
                    <a:pt x="66294" y="0"/>
                    <a:pt x="147955" y="0"/>
                  </a:cubicBezTo>
                  <a:lnTo>
                    <a:pt x="22280245" y="0"/>
                  </a:lnTo>
                  <a:cubicBezTo>
                    <a:pt x="22362033" y="0"/>
                    <a:pt x="22428200" y="66294"/>
                    <a:pt x="22428200" y="147955"/>
                  </a:cubicBezTo>
                  <a:lnTo>
                    <a:pt x="22428200" y="2072005"/>
                  </a:lnTo>
                  <a:cubicBezTo>
                    <a:pt x="22428200" y="2153793"/>
                    <a:pt x="22361906" y="2219960"/>
                    <a:pt x="22280245" y="2219960"/>
                  </a:cubicBezTo>
                  <a:lnTo>
                    <a:pt x="147955" y="2219960"/>
                  </a:lnTo>
                  <a:cubicBezTo>
                    <a:pt x="66294" y="2219960"/>
                    <a:pt x="0" y="2153666"/>
                    <a:pt x="0" y="2072005"/>
                  </a:cubicBezTo>
                  <a:close/>
                </a:path>
              </a:pathLst>
            </a:custGeom>
            <a:solidFill>
              <a:srgbClr val="003057"/>
            </a:solidFill>
            <a:ln w="19050" cap="sq">
              <a:solidFill>
                <a:srgbClr val="D8DEE6"/>
              </a:solidFill>
              <a:prstDash val="solid"/>
              <a:miter/>
            </a:ln>
          </p:spPr>
          <p:txBody>
            <a:bodyPr/>
            <a:lstStyle/>
            <a:p>
              <a:endParaRPr lang="en-US"/>
            </a:p>
          </p:txBody>
        </p:sp>
      </p:grpSp>
      <p:grpSp>
        <p:nvGrpSpPr>
          <p:cNvPr id="41" name="Group 41"/>
          <p:cNvGrpSpPr/>
          <p:nvPr/>
        </p:nvGrpSpPr>
        <p:grpSpPr>
          <a:xfrm>
            <a:off x="1165860" y="7406640"/>
            <a:ext cx="16047720" cy="1371600"/>
            <a:chOff x="0" y="0"/>
            <a:chExt cx="21396960" cy="1828800"/>
          </a:xfrm>
        </p:grpSpPr>
        <p:sp>
          <p:nvSpPr>
            <p:cNvPr id="42" name="Freeform 42"/>
            <p:cNvSpPr/>
            <p:nvPr/>
          </p:nvSpPr>
          <p:spPr>
            <a:xfrm>
              <a:off x="0" y="0"/>
              <a:ext cx="21396961" cy="1828800"/>
            </a:xfrm>
            <a:custGeom>
              <a:avLst/>
              <a:gdLst/>
              <a:ahLst/>
              <a:cxnLst/>
              <a:rect l="l" t="t" r="r" b="b"/>
              <a:pathLst>
                <a:path w="21396961" h="1828800">
                  <a:moveTo>
                    <a:pt x="0" y="0"/>
                  </a:moveTo>
                  <a:lnTo>
                    <a:pt x="21396961" y="0"/>
                  </a:lnTo>
                  <a:lnTo>
                    <a:pt x="21396961" y="1828800"/>
                  </a:lnTo>
                  <a:lnTo>
                    <a:pt x="0" y="1828800"/>
                  </a:lnTo>
                  <a:close/>
                </a:path>
              </a:pathLst>
            </a:custGeom>
            <a:blipFill>
              <a:blip r:embed="rId3">
                <a:alphaModFix amt="0"/>
              </a:blip>
              <a:stretch>
                <a:fillRect t="-177974" b="-177974"/>
              </a:stretch>
            </a:blipFill>
          </p:spPr>
          <p:txBody>
            <a:bodyPr/>
            <a:lstStyle/>
            <a:p>
              <a:endParaRPr lang="en-US"/>
            </a:p>
          </p:txBody>
        </p:sp>
        <p:sp>
          <p:nvSpPr>
            <p:cNvPr id="43" name="TextBox 43"/>
            <p:cNvSpPr txBox="1"/>
            <p:nvPr/>
          </p:nvSpPr>
          <p:spPr>
            <a:xfrm>
              <a:off x="0" y="-38100"/>
              <a:ext cx="21396960" cy="1866900"/>
            </a:xfrm>
            <a:prstGeom prst="rect">
              <a:avLst/>
            </a:prstGeom>
          </p:spPr>
          <p:txBody>
            <a:bodyPr lIns="0" tIns="0" rIns="0" bIns="0" rtlCol="0" anchor="ctr"/>
            <a:lstStyle/>
            <a:p>
              <a:pPr algn="l">
                <a:lnSpc>
                  <a:spcPts val="2160"/>
                </a:lnSpc>
              </a:pPr>
              <a:r>
                <a:rPr lang="en-US" sz="1800" b="1">
                  <a:solidFill>
                    <a:srgbClr val="FFFFFF"/>
                  </a:solidFill>
                  <a:latin typeface="Calibri"/>
                  <a:ea typeface="Calibri (MS) Bold"/>
                  <a:cs typeface="Calibri"/>
                  <a:sym typeface="Calibri (MS) Bold"/>
                </a:rPr>
                <a:t>Why stated thresholds:  </a:t>
              </a:r>
              <a:r>
                <a:rPr lang="en-US" sz="1800">
                  <a:solidFill>
                    <a:srgbClr val="DCE9F7"/>
                  </a:solidFill>
                  <a:latin typeface="Calibri"/>
                  <a:ea typeface="Calibri (MS)"/>
                  <a:cs typeface="Calibri"/>
                  <a:sym typeface="Calibri (MS)"/>
                </a:rPr>
                <a:t>the cut-offs are judgment calls, set in advance and owned (criteria before scoring, the availability-bias move). A stated threshold can be defended, revisited, and audited; an unstated one becomes whatever the loudest voice wants after the data lands. Calibrated so a cohort matching the fiber-overlap share (~27%) registers as meaningful; client data re-tunes before go-live.</a:t>
              </a:r>
            </a:p>
          </p:txBody>
        </p:sp>
      </p:grpSp>
      <p:grpSp>
        <p:nvGrpSpPr>
          <p:cNvPr id="44" name="Group 44"/>
          <p:cNvGrpSpPr/>
          <p:nvPr/>
        </p:nvGrpSpPr>
        <p:grpSpPr>
          <a:xfrm>
            <a:off x="754380" y="9189720"/>
            <a:ext cx="16733520" cy="411480"/>
            <a:chOff x="0" y="0"/>
            <a:chExt cx="22311360" cy="548640"/>
          </a:xfrm>
        </p:grpSpPr>
        <p:sp>
          <p:nvSpPr>
            <p:cNvPr id="45" name="Freeform 45"/>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6" name="TextBox 46"/>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47" name="Group 47"/>
          <p:cNvGrpSpPr/>
          <p:nvPr/>
        </p:nvGrpSpPr>
        <p:grpSpPr>
          <a:xfrm>
            <a:off x="17076420" y="9669780"/>
            <a:ext cx="960120" cy="411480"/>
            <a:chOff x="0" y="0"/>
            <a:chExt cx="1280160" cy="548640"/>
          </a:xfrm>
        </p:grpSpPr>
        <p:sp>
          <p:nvSpPr>
            <p:cNvPr id="48" name="Freeform 48"/>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49" name="TextBox 49"/>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24</a:t>
              </a:r>
            </a:p>
          </p:txBody>
        </p:sp>
      </p:grpSp>
      <p:grpSp>
        <p:nvGrpSpPr>
          <p:cNvPr id="50" name="Group 50"/>
          <p:cNvGrpSpPr/>
          <p:nvPr/>
        </p:nvGrpSpPr>
        <p:grpSpPr>
          <a:xfrm>
            <a:off x="754380" y="9669780"/>
            <a:ext cx="16047720" cy="411480"/>
            <a:chOff x="0" y="0"/>
            <a:chExt cx="21396960" cy="548640"/>
          </a:xfrm>
        </p:grpSpPr>
        <p:sp>
          <p:nvSpPr>
            <p:cNvPr id="51" name="Freeform 51"/>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2" name="TextBox 52"/>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A14  ·  RECOMMENDATION 1, SCENARIOS 1–3 (COMPETITIVE ATTACKERS)</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Scenarios 1 to 3: Fixed Wireless, Fiber, Satellite</a:t>
            </a:r>
          </a:p>
        </p:txBody>
      </p:sp>
      <p:grpSp>
        <p:nvGrpSpPr>
          <p:cNvPr id="6" name="Group 6"/>
          <p:cNvGrpSpPr/>
          <p:nvPr/>
        </p:nvGrpSpPr>
        <p:grpSpPr>
          <a:xfrm>
            <a:off x="744855" y="2527935"/>
            <a:ext cx="5436870" cy="6534150"/>
            <a:chOff x="0" y="0"/>
            <a:chExt cx="7249160" cy="8712200"/>
          </a:xfrm>
        </p:grpSpPr>
        <p:sp>
          <p:nvSpPr>
            <p:cNvPr id="7" name="Freeform 7"/>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8" name="Group 8"/>
          <p:cNvGrpSpPr/>
          <p:nvPr/>
        </p:nvGrpSpPr>
        <p:grpSpPr>
          <a:xfrm>
            <a:off x="754380" y="2537460"/>
            <a:ext cx="5417820" cy="795528"/>
            <a:chOff x="0" y="0"/>
            <a:chExt cx="7223760" cy="1060704"/>
          </a:xfrm>
        </p:grpSpPr>
        <p:sp>
          <p:nvSpPr>
            <p:cNvPr id="9" name="Freeform 9"/>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10" name="Group 10"/>
          <p:cNvGrpSpPr/>
          <p:nvPr/>
        </p:nvGrpSpPr>
        <p:grpSpPr>
          <a:xfrm>
            <a:off x="1028700" y="2537460"/>
            <a:ext cx="4937760" cy="795528"/>
            <a:chOff x="0" y="0"/>
            <a:chExt cx="6583680" cy="1060704"/>
          </a:xfrm>
        </p:grpSpPr>
        <p:sp>
          <p:nvSpPr>
            <p:cNvPr id="11" name="Freeform 11"/>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12" name="TextBox 12"/>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1 ,  FWA-DRIVEN</a:t>
              </a:r>
            </a:p>
          </p:txBody>
        </p:sp>
      </p:grpSp>
      <p:sp>
        <p:nvSpPr>
          <p:cNvPr id="13" name="TextBox 13"/>
          <p:cNvSpPr txBox="1"/>
          <p:nvPr/>
        </p:nvSpPr>
        <p:spPr>
          <a:xfrm>
            <a:off x="1028700" y="3500628"/>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SIGNAL  </a:t>
            </a:r>
            <a:r>
              <a:rPr lang="en-US" sz="1449">
                <a:solidFill>
                  <a:srgbClr val="5B6672"/>
                </a:solidFill>
                <a:latin typeface="Calibri"/>
                <a:ea typeface="Calibri (MS)"/>
                <a:cs typeface="Calibri"/>
                <a:sym typeface="Calibri (MS)"/>
              </a:rPr>
              <a:t>&gt;35–40% of losses map to FWA-covered addresses; low-tenure / low-ARPU skew; audited exit data cites price.</a:t>
            </a:r>
          </a:p>
        </p:txBody>
      </p:sp>
      <p:sp>
        <p:nvSpPr>
          <p:cNvPr id="14" name="TextBox 14"/>
          <p:cNvSpPr txBox="1"/>
          <p:nvPr/>
        </p:nvSpPr>
        <p:spPr>
          <a:xfrm>
            <a:off x="1028700" y="4405884"/>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Convergence pricing attack: Internet + unlimited mobile at/below T-Mobile Home Internet’s price, offered only in FWA-exposed zones; market on speed and capacity.</a:t>
            </a:r>
          </a:p>
        </p:txBody>
      </p:sp>
      <p:sp>
        <p:nvSpPr>
          <p:cNvPr id="15" name="TextBox 15"/>
          <p:cNvSpPr txBox="1"/>
          <p:nvPr/>
        </p:nvSpPr>
        <p:spPr>
          <a:xfrm>
            <a:off x="1028700" y="5503164"/>
            <a:ext cx="4869180" cy="687959"/>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Bundle discount &lt; churn-avoided LTV. Requires MVNO wholesale cost per line (client data ask). If the gate fails, do not run it.</a:t>
            </a:r>
          </a:p>
        </p:txBody>
      </p:sp>
      <p:sp>
        <p:nvSpPr>
          <p:cNvPr id="16" name="TextBox 16"/>
          <p:cNvSpPr txBox="1"/>
          <p:nvPr/>
        </p:nvSpPr>
        <p:spPr>
          <a:xfrm>
            <a:off x="1028700" y="6463284"/>
            <a:ext cx="4869180" cy="468884"/>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Churn delta, treated vs. untreated FWA zones, within 2 quarters, pre-registered controlled experiment.</a:t>
            </a:r>
          </a:p>
        </p:txBody>
      </p:sp>
      <p:sp>
        <p:nvSpPr>
          <p:cNvPr id="17" name="TextBox 17"/>
          <p:cNvSpPr txBox="1"/>
          <p:nvPr/>
        </p:nvSpPr>
        <p:spPr>
          <a:xfrm>
            <a:off x="1028700" y="7286244"/>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No churn separation after 2 quarters, or bundle margin negative after CBRS-offload assumptions.</a:t>
            </a:r>
          </a:p>
        </p:txBody>
      </p:sp>
      <p:sp>
        <p:nvSpPr>
          <p:cNvPr id="18" name="TextBox 18"/>
          <p:cNvSpPr txBox="1"/>
          <p:nvPr/>
        </p:nvSpPr>
        <p:spPr>
          <a:xfrm>
            <a:off x="1028700" y="8054340"/>
            <a:ext cx="4869180" cy="468884"/>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Value flanker tier to defend the base without repricing it, or concede the segment and route budget to 2 / 6.</a:t>
            </a:r>
          </a:p>
        </p:txBody>
      </p:sp>
      <p:grpSp>
        <p:nvGrpSpPr>
          <p:cNvPr id="19" name="Group 19"/>
          <p:cNvGrpSpPr/>
          <p:nvPr/>
        </p:nvGrpSpPr>
        <p:grpSpPr>
          <a:xfrm>
            <a:off x="6436995" y="2527935"/>
            <a:ext cx="5436870" cy="6534150"/>
            <a:chOff x="0" y="0"/>
            <a:chExt cx="7249160" cy="8712200"/>
          </a:xfrm>
        </p:grpSpPr>
        <p:sp>
          <p:nvSpPr>
            <p:cNvPr id="20" name="Freeform 20"/>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1" name="Group 21"/>
          <p:cNvGrpSpPr/>
          <p:nvPr/>
        </p:nvGrpSpPr>
        <p:grpSpPr>
          <a:xfrm>
            <a:off x="6446520" y="2537460"/>
            <a:ext cx="5417820" cy="795528"/>
            <a:chOff x="0" y="0"/>
            <a:chExt cx="7223760" cy="1060704"/>
          </a:xfrm>
        </p:grpSpPr>
        <p:sp>
          <p:nvSpPr>
            <p:cNvPr id="22" name="Freeform 22"/>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23" name="Group 23"/>
          <p:cNvGrpSpPr/>
          <p:nvPr/>
        </p:nvGrpSpPr>
        <p:grpSpPr>
          <a:xfrm>
            <a:off x="6720840" y="2537460"/>
            <a:ext cx="4937760" cy="795528"/>
            <a:chOff x="0" y="0"/>
            <a:chExt cx="6583680" cy="1060704"/>
          </a:xfrm>
        </p:grpSpPr>
        <p:sp>
          <p:nvSpPr>
            <p:cNvPr id="24" name="Freeform 24"/>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25" name="TextBox 25"/>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2 ,  FIBER-DRIVEN</a:t>
              </a:r>
            </a:p>
          </p:txBody>
        </p:sp>
      </p:grpSp>
      <p:sp>
        <p:nvSpPr>
          <p:cNvPr id="26" name="TextBox 26"/>
          <p:cNvSpPr txBox="1"/>
          <p:nvPr/>
        </p:nvSpPr>
        <p:spPr>
          <a:xfrm>
            <a:off x="6720840" y="3500628"/>
            <a:ext cx="4869180" cy="687959"/>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SIGNAL  </a:t>
            </a:r>
            <a:r>
              <a:rPr lang="en-US" sz="1449">
                <a:solidFill>
                  <a:srgbClr val="5B6672"/>
                </a:solidFill>
                <a:latin typeface="Calibri"/>
                <a:ea typeface="Calibri (MS)"/>
                <a:cs typeface="Calibri"/>
                <a:sym typeface="Calibri (MS)"/>
              </a:rPr>
              <a:t>Losses skew to AT&amp;T / Verizon / Frontier fiber DMAs; higher-ARPU customers leaving; exit data cites speed, reliability, or upload.</a:t>
            </a:r>
          </a:p>
        </p:txBody>
      </p:sp>
      <p:sp>
        <p:nvSpPr>
          <p:cNvPr id="27" name="TextBox 27"/>
          <p:cNvSpPr txBox="1"/>
          <p:nvPr/>
        </p:nvSpPr>
        <p:spPr>
          <a:xfrm>
            <a:off x="6720840" y="4405884"/>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Re-sequence network evolution by competitive exposure, not construction cost: DOCSIS 4.0 / high-split first where fiber overlaps; symmetric-speed win-back in completed zones.</a:t>
            </a:r>
          </a:p>
        </p:txBody>
      </p:sp>
      <p:sp>
        <p:nvSpPr>
          <p:cNvPr id="28" name="TextBox 28"/>
          <p:cNvSpPr txBox="1"/>
          <p:nvPr/>
        </p:nvSpPr>
        <p:spPr>
          <a:xfrm>
            <a:off x="6720840" y="5503164"/>
            <a:ext cx="4869180" cy="468884"/>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Re-sequencing premium vs. LTV at risk in exposed DMAs; the end-2027 completion target is the binding constraint to test.</a:t>
            </a:r>
          </a:p>
        </p:txBody>
      </p:sp>
      <p:sp>
        <p:nvSpPr>
          <p:cNvPr id="29" name="TextBox 29"/>
          <p:cNvSpPr txBox="1"/>
          <p:nvPr/>
        </p:nvSpPr>
        <p:spPr>
          <a:xfrm>
            <a:off x="6720840" y="6463284"/>
            <a:ext cx="4869180" cy="468884"/>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Charter’s cleanest natural experiment: churn in evolution-complete vs. incomplete overbuilt zones.</a:t>
            </a:r>
          </a:p>
        </p:txBody>
      </p:sp>
      <p:sp>
        <p:nvSpPr>
          <p:cNvPr id="30" name="TextBox 30"/>
          <p:cNvSpPr txBox="1"/>
          <p:nvPr/>
        </p:nvSpPr>
        <p:spPr>
          <a:xfrm>
            <a:off x="6720840" y="7286244"/>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Parity product, continued losses. Then fiber losses are brand / price-structural, not product.</a:t>
            </a:r>
          </a:p>
        </p:txBody>
      </p:sp>
      <p:sp>
        <p:nvSpPr>
          <p:cNvPr id="31" name="TextBox 31"/>
          <p:cNvSpPr txBox="1"/>
          <p:nvPr/>
        </p:nvSpPr>
        <p:spPr>
          <a:xfrm>
            <a:off x="6720840" y="8054340"/>
            <a:ext cx="4869180" cy="687959"/>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Harvest, don’t chase: stop defending unwinnable zones at full cost; make it legible via re-segmented disclosure (Rec 2).</a:t>
            </a:r>
          </a:p>
        </p:txBody>
      </p:sp>
      <p:grpSp>
        <p:nvGrpSpPr>
          <p:cNvPr id="32" name="Group 32"/>
          <p:cNvGrpSpPr/>
          <p:nvPr/>
        </p:nvGrpSpPr>
        <p:grpSpPr>
          <a:xfrm>
            <a:off x="12129135" y="2527935"/>
            <a:ext cx="5436870" cy="6534150"/>
            <a:chOff x="0" y="0"/>
            <a:chExt cx="7249160" cy="8712200"/>
          </a:xfrm>
        </p:grpSpPr>
        <p:sp>
          <p:nvSpPr>
            <p:cNvPr id="33" name="Freeform 33"/>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34" name="Group 34"/>
          <p:cNvGrpSpPr/>
          <p:nvPr/>
        </p:nvGrpSpPr>
        <p:grpSpPr>
          <a:xfrm>
            <a:off x="12138660" y="2537460"/>
            <a:ext cx="5417820" cy="795528"/>
            <a:chOff x="0" y="0"/>
            <a:chExt cx="7223760" cy="1060704"/>
          </a:xfrm>
        </p:grpSpPr>
        <p:sp>
          <p:nvSpPr>
            <p:cNvPr id="35" name="Freeform 35"/>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36" name="Group 36"/>
          <p:cNvGrpSpPr/>
          <p:nvPr/>
        </p:nvGrpSpPr>
        <p:grpSpPr>
          <a:xfrm>
            <a:off x="12412980" y="2537460"/>
            <a:ext cx="4937760" cy="795528"/>
            <a:chOff x="0" y="0"/>
            <a:chExt cx="6583680" cy="1060704"/>
          </a:xfrm>
        </p:grpSpPr>
        <p:sp>
          <p:nvSpPr>
            <p:cNvPr id="37" name="Freeform 37"/>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38" name="TextBox 38"/>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3 ,  LEO-SATELLITE-DRIVEN</a:t>
              </a:r>
            </a:p>
          </p:txBody>
        </p:sp>
      </p:grpSp>
      <p:sp>
        <p:nvSpPr>
          <p:cNvPr id="39" name="TextBox 39"/>
          <p:cNvSpPr txBox="1"/>
          <p:nvPr/>
        </p:nvSpPr>
        <p:spPr>
          <a:xfrm>
            <a:off x="12412980" y="3500628"/>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SIGNAL  </a:t>
            </a:r>
            <a:r>
              <a:rPr lang="en-US" sz="1449">
                <a:solidFill>
                  <a:srgbClr val="5B6672"/>
                </a:solidFill>
                <a:latin typeface="Calibri"/>
                <a:ea typeface="Calibri (MS)"/>
                <a:cs typeface="Calibri"/>
                <a:sym typeface="Calibri (MS)"/>
              </a:rPr>
              <a:t>Losses map to low-density census blocks where Starlink (and Kuiper next) is the only alternative.</a:t>
            </a:r>
          </a:p>
        </p:txBody>
      </p:sp>
      <p:sp>
        <p:nvSpPr>
          <p:cNvPr id="40" name="TextBox 40"/>
          <p:cNvSpPr txBox="1"/>
          <p:nvPr/>
        </p:nvSpPr>
        <p:spPr>
          <a:xfrm>
            <a:off x="12412980" y="4405884"/>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Accelerate rural subsidized build activation, penetrate new passings before satellite entrenches. Satellite is capacity-constrained: it wins by default where wireline is absent.</a:t>
            </a:r>
          </a:p>
        </p:txBody>
      </p:sp>
      <p:sp>
        <p:nvSpPr>
          <p:cNvPr id="41" name="TextBox 41"/>
          <p:cNvSpPr txBox="1"/>
          <p:nvPr/>
        </p:nvSpPr>
        <p:spPr>
          <a:xfrm>
            <a:off x="12412980" y="5503164"/>
            <a:ext cx="4869180" cy="687959"/>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Program already funded ($8B+, &gt;$2B subsidies, “infrastructure-style returns”); the variable is activation pace vs. BEAD / RDOF milestone penalties.</a:t>
            </a:r>
          </a:p>
        </p:txBody>
      </p:sp>
      <p:sp>
        <p:nvSpPr>
          <p:cNvPr id="42" name="TextBox 42"/>
          <p:cNvSpPr txBox="1"/>
          <p:nvPr/>
        </p:nvSpPr>
        <p:spPr>
          <a:xfrm>
            <a:off x="12412980" y="6463284"/>
            <a:ext cx="4869180" cy="468884"/>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Penetration on new rural passings vs. vintage cohorts. Rural is already the one footprint growing (+41k Q1, +47k Q2).</a:t>
            </a:r>
          </a:p>
        </p:txBody>
      </p:sp>
      <p:sp>
        <p:nvSpPr>
          <p:cNvPr id="43" name="TextBox 43"/>
          <p:cNvSpPr txBox="1"/>
          <p:nvPr/>
        </p:nvSpPr>
        <p:spPr>
          <a:xfrm>
            <a:off x="12412980" y="7286244"/>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Penetration on new passings falls below the underwriting curve.</a:t>
            </a:r>
          </a:p>
        </p:txBody>
      </p:sp>
      <p:sp>
        <p:nvSpPr>
          <p:cNvPr id="44" name="TextBox 44"/>
          <p:cNvSpPr txBox="1"/>
          <p:nvPr/>
        </p:nvSpPr>
        <p:spPr>
          <a:xfrm>
            <a:off x="12412980" y="8054340"/>
            <a:ext cx="4869180" cy="468884"/>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Slow non-committed rural extensions; subsidy-committed builds continue regardless.</a:t>
            </a:r>
          </a:p>
        </p:txBody>
      </p:sp>
      <p:grpSp>
        <p:nvGrpSpPr>
          <p:cNvPr id="45" name="Group 45"/>
          <p:cNvGrpSpPr/>
          <p:nvPr/>
        </p:nvGrpSpPr>
        <p:grpSpPr>
          <a:xfrm>
            <a:off x="754380" y="9189720"/>
            <a:ext cx="16733520" cy="411480"/>
            <a:chOff x="0" y="0"/>
            <a:chExt cx="22311360" cy="548640"/>
          </a:xfrm>
        </p:grpSpPr>
        <p:sp>
          <p:nvSpPr>
            <p:cNvPr id="46" name="Freeform 4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7" name="TextBox 4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48" name="Group 48"/>
          <p:cNvGrpSpPr/>
          <p:nvPr/>
        </p:nvGrpSpPr>
        <p:grpSpPr>
          <a:xfrm>
            <a:off x="17076420" y="9669780"/>
            <a:ext cx="960120" cy="411480"/>
            <a:chOff x="0" y="0"/>
            <a:chExt cx="1280160" cy="548640"/>
          </a:xfrm>
        </p:grpSpPr>
        <p:sp>
          <p:nvSpPr>
            <p:cNvPr id="49" name="Freeform 4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50" name="TextBox 5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25</a:t>
              </a:r>
            </a:p>
          </p:txBody>
        </p:sp>
      </p:grpSp>
      <p:grpSp>
        <p:nvGrpSpPr>
          <p:cNvPr id="51" name="Group 51"/>
          <p:cNvGrpSpPr/>
          <p:nvPr/>
        </p:nvGrpSpPr>
        <p:grpSpPr>
          <a:xfrm>
            <a:off x="754380" y="9669780"/>
            <a:ext cx="16047720" cy="411480"/>
            <a:chOff x="0" y="0"/>
            <a:chExt cx="21396960" cy="548640"/>
          </a:xfrm>
        </p:grpSpPr>
        <p:sp>
          <p:nvSpPr>
            <p:cNvPr id="52" name="Freeform 5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3" name="TextBox 5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A15  ·  RECOMMENDATION 1, SCENARIOS 4–6 (NON-COMPETITIVE AND NULL)</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Scenarios 4 to 6: Housing, Non-Pay, and the Null Result</a:t>
            </a:r>
          </a:p>
        </p:txBody>
      </p:sp>
      <p:grpSp>
        <p:nvGrpSpPr>
          <p:cNvPr id="6" name="Group 6"/>
          <p:cNvGrpSpPr/>
          <p:nvPr/>
        </p:nvGrpSpPr>
        <p:grpSpPr>
          <a:xfrm>
            <a:off x="744855" y="2527935"/>
            <a:ext cx="5436870" cy="6534150"/>
            <a:chOff x="0" y="0"/>
            <a:chExt cx="7249160" cy="8712200"/>
          </a:xfrm>
        </p:grpSpPr>
        <p:sp>
          <p:nvSpPr>
            <p:cNvPr id="7" name="Freeform 7"/>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8" name="Group 8"/>
          <p:cNvGrpSpPr/>
          <p:nvPr/>
        </p:nvGrpSpPr>
        <p:grpSpPr>
          <a:xfrm>
            <a:off x="754380" y="2537460"/>
            <a:ext cx="5417820" cy="795528"/>
            <a:chOff x="0" y="0"/>
            <a:chExt cx="7223760" cy="1060704"/>
          </a:xfrm>
        </p:grpSpPr>
        <p:sp>
          <p:nvSpPr>
            <p:cNvPr id="9" name="Freeform 9"/>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10" name="Group 10"/>
          <p:cNvGrpSpPr/>
          <p:nvPr/>
        </p:nvGrpSpPr>
        <p:grpSpPr>
          <a:xfrm>
            <a:off x="1028700" y="2537460"/>
            <a:ext cx="4937760" cy="795528"/>
            <a:chOff x="0" y="0"/>
            <a:chExt cx="6583680" cy="1060704"/>
          </a:xfrm>
        </p:grpSpPr>
        <p:sp>
          <p:nvSpPr>
            <p:cNvPr id="11" name="Freeform 11"/>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12" name="TextBox 12"/>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4 ,  HOUSING-DRIVEN</a:t>
              </a:r>
            </a:p>
          </p:txBody>
        </p:sp>
      </p:grpSp>
      <p:sp>
        <p:nvSpPr>
          <p:cNvPr id="13" name="TextBox 13"/>
          <p:cNvSpPr txBox="1"/>
          <p:nvPr/>
        </p:nvSpPr>
        <p:spPr>
          <a:xfrm>
            <a:off x="1028700" y="3500628"/>
            <a:ext cx="4869180" cy="687959"/>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SIGNAL  </a:t>
            </a:r>
            <a:r>
              <a:rPr lang="en-US" sz="1449">
                <a:solidFill>
                  <a:srgbClr val="5B6672"/>
                </a:solidFill>
                <a:latin typeface="Calibri"/>
                <a:ea typeface="Calibri (MS)"/>
                <a:cs typeface="Calibri"/>
                <a:sym typeface="Calibri (MS)"/>
              </a:rPr>
              <a:t>Gross adds down while churn-to-competitor is flat; disconnects cluster on move-outs with no replacement household; losses spread evenly across exposure classes.</a:t>
            </a:r>
          </a:p>
        </p:txBody>
      </p:sp>
      <p:sp>
        <p:nvSpPr>
          <p:cNvPr id="14" name="TextBox 14"/>
          <p:cNvSpPr txBox="1"/>
          <p:nvPr/>
        </p:nvSpPr>
        <p:spPr>
          <a:xfrm>
            <a:off x="1028700" y="4570476"/>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Shift spend from retention to mover capture: builder and MDU partnerships (Community Solutions), instant-on self-install, win the connect when the move happens.</a:t>
            </a:r>
          </a:p>
        </p:txBody>
      </p:sp>
      <p:sp>
        <p:nvSpPr>
          <p:cNvPr id="15" name="TextBox 15"/>
          <p:cNvSpPr txBox="1"/>
          <p:nvPr/>
        </p:nvSpPr>
        <p:spPr>
          <a:xfrm>
            <a:off x="1028700" y="5640324"/>
            <a:ext cx="4869180" cy="468884"/>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Mover-capture cost per connect vs. standard acquisition cost; MDU deals underwritten building by building.</a:t>
            </a:r>
          </a:p>
        </p:txBody>
      </p:sp>
      <p:sp>
        <p:nvSpPr>
          <p:cNvPr id="16" name="TextBox 16"/>
          <p:cNvSpPr txBox="1"/>
          <p:nvPr/>
        </p:nvSpPr>
        <p:spPr>
          <a:xfrm>
            <a:off x="1028700" y="6463284"/>
            <a:ext cx="4869180" cy="468884"/>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Connect share of new move-ins inside the footprint; gross-add recovery as turnover normalizes.</a:t>
            </a:r>
          </a:p>
        </p:txBody>
      </p:sp>
      <p:sp>
        <p:nvSpPr>
          <p:cNvPr id="17" name="TextBox 17"/>
          <p:cNvSpPr txBox="1"/>
          <p:nvPr/>
        </p:nvSpPr>
        <p:spPr>
          <a:xfrm>
            <a:off x="1028700" y="7258812"/>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Port-out destination data contradicts the macro story → re-route to Scenarios 1–2.</a:t>
            </a:r>
          </a:p>
        </p:txBody>
      </p:sp>
      <p:sp>
        <p:nvSpPr>
          <p:cNvPr id="18" name="TextBox 18"/>
          <p:cNvSpPr txBox="1"/>
          <p:nvPr/>
        </p:nvSpPr>
        <p:spPr>
          <a:xfrm>
            <a:off x="1028700" y="7972044"/>
            <a:ext cx="4869180" cy="687959"/>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Activates Rec 2 hardest: disclose losses by cohort so the multiple stops pricing macro softness as competitive share loss.</a:t>
            </a:r>
          </a:p>
        </p:txBody>
      </p:sp>
      <p:grpSp>
        <p:nvGrpSpPr>
          <p:cNvPr id="19" name="Group 19"/>
          <p:cNvGrpSpPr/>
          <p:nvPr/>
        </p:nvGrpSpPr>
        <p:grpSpPr>
          <a:xfrm>
            <a:off x="6436995" y="2527935"/>
            <a:ext cx="5436870" cy="6534150"/>
            <a:chOff x="0" y="0"/>
            <a:chExt cx="7249160" cy="8712200"/>
          </a:xfrm>
        </p:grpSpPr>
        <p:sp>
          <p:nvSpPr>
            <p:cNvPr id="20" name="Freeform 20"/>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1" name="Group 21"/>
          <p:cNvGrpSpPr/>
          <p:nvPr/>
        </p:nvGrpSpPr>
        <p:grpSpPr>
          <a:xfrm>
            <a:off x="6446520" y="2537460"/>
            <a:ext cx="5417820" cy="795528"/>
            <a:chOff x="0" y="0"/>
            <a:chExt cx="7223760" cy="1060704"/>
          </a:xfrm>
        </p:grpSpPr>
        <p:sp>
          <p:nvSpPr>
            <p:cNvPr id="22" name="Freeform 22"/>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23" name="Group 23"/>
          <p:cNvGrpSpPr/>
          <p:nvPr/>
        </p:nvGrpSpPr>
        <p:grpSpPr>
          <a:xfrm>
            <a:off x="6720840" y="2537460"/>
            <a:ext cx="4937760" cy="795528"/>
            <a:chOff x="0" y="0"/>
            <a:chExt cx="6583680" cy="1060704"/>
          </a:xfrm>
        </p:grpSpPr>
        <p:sp>
          <p:nvSpPr>
            <p:cNvPr id="24" name="Freeform 24"/>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25" name="TextBox 25"/>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5 ,  ECONOMIC / NON-PAY</a:t>
              </a:r>
            </a:p>
          </p:txBody>
        </p:sp>
      </p:grpSp>
      <p:sp>
        <p:nvSpPr>
          <p:cNvPr id="26" name="TextBox 26"/>
          <p:cNvSpPr txBox="1"/>
          <p:nvPr/>
        </p:nvSpPr>
        <p:spPr>
          <a:xfrm>
            <a:off x="6720840" y="3500628"/>
            <a:ext cx="4869180" cy="468884"/>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SIGNAL  </a:t>
            </a:r>
            <a:r>
              <a:rPr lang="en-US" sz="1449">
                <a:solidFill>
                  <a:srgbClr val="5B6672"/>
                </a:solidFill>
                <a:latin typeface="Calibri"/>
                <a:ea typeface="Calibri (MS)"/>
                <a:cs typeface="Calibri"/>
                <a:sym typeface="Calibri (MS)"/>
              </a:rPr>
              <a:t>Losses skew to non-pay disconnects and downgrades; demographics echo the ACP-expiration cohort.</a:t>
            </a:r>
          </a:p>
        </p:txBody>
      </p:sp>
      <p:sp>
        <p:nvSpPr>
          <p:cNvPr id="27" name="TextBox 27"/>
          <p:cNvSpPr txBox="1"/>
          <p:nvPr/>
        </p:nvSpPr>
        <p:spPr>
          <a:xfrm>
            <a:off x="6720840" y="4570476"/>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Retention-priced value tier with credit-friendly terms (deposit alternatives, seasonal pause), offered at the point of delinquency.</a:t>
            </a:r>
          </a:p>
        </p:txBody>
      </p:sp>
      <p:sp>
        <p:nvSpPr>
          <p:cNvPr id="28" name="TextBox 28"/>
          <p:cNvSpPr txBox="1"/>
          <p:nvPr/>
        </p:nvSpPr>
        <p:spPr>
          <a:xfrm>
            <a:off x="6720840" y="5640324"/>
            <a:ext cx="4869180" cy="687959"/>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Save-rate × retained margin vs. discount cost + bad-debt exposure. Note 60+ day delinquencies improved in FY2025 (~82k vs. ~103k), size before funding.</a:t>
            </a:r>
          </a:p>
        </p:txBody>
      </p:sp>
      <p:sp>
        <p:nvSpPr>
          <p:cNvPr id="29" name="TextBox 29"/>
          <p:cNvSpPr txBox="1"/>
          <p:nvPr/>
        </p:nvSpPr>
        <p:spPr>
          <a:xfrm>
            <a:off x="6720840" y="6463284"/>
            <a:ext cx="4869180" cy="468884"/>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Save-rate on treated delinquent accounts vs. control; 6-month survival of saved accounts.</a:t>
            </a:r>
          </a:p>
        </p:txBody>
      </p:sp>
      <p:sp>
        <p:nvSpPr>
          <p:cNvPr id="30" name="TextBox 30"/>
          <p:cNvSpPr txBox="1"/>
          <p:nvPr/>
        </p:nvSpPr>
        <p:spPr>
          <a:xfrm>
            <a:off x="6720840" y="7258812"/>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Save-rate economics below LTV threshold, let it churn and stop subsidizing.</a:t>
            </a:r>
          </a:p>
        </p:txBody>
      </p:sp>
      <p:sp>
        <p:nvSpPr>
          <p:cNvPr id="31" name="TextBox 31"/>
          <p:cNvSpPr txBox="1"/>
          <p:nvPr/>
        </p:nvSpPr>
        <p:spPr>
          <a:xfrm>
            <a:off x="6720840" y="7972044"/>
            <a:ext cx="4869180" cy="249809"/>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None needed: this scenario is self-limiting by design.</a:t>
            </a:r>
          </a:p>
        </p:txBody>
      </p:sp>
      <p:grpSp>
        <p:nvGrpSpPr>
          <p:cNvPr id="32" name="Group 32"/>
          <p:cNvGrpSpPr/>
          <p:nvPr/>
        </p:nvGrpSpPr>
        <p:grpSpPr>
          <a:xfrm>
            <a:off x="12129135" y="2527935"/>
            <a:ext cx="5436870" cy="6534150"/>
            <a:chOff x="0" y="0"/>
            <a:chExt cx="7249160" cy="8712200"/>
          </a:xfrm>
        </p:grpSpPr>
        <p:sp>
          <p:nvSpPr>
            <p:cNvPr id="33" name="Freeform 33"/>
            <p:cNvSpPr/>
            <p:nvPr/>
          </p:nvSpPr>
          <p:spPr>
            <a:xfrm>
              <a:off x="0" y="0"/>
              <a:ext cx="7249160" cy="8712200"/>
            </a:xfrm>
            <a:custGeom>
              <a:avLst/>
              <a:gdLst/>
              <a:ahLst/>
              <a:cxnLst/>
              <a:rect l="l" t="t" r="r" b="b"/>
              <a:pathLst>
                <a:path w="7249160" h="8712200">
                  <a:moveTo>
                    <a:pt x="0" y="146812"/>
                  </a:moveTo>
                  <a:cubicBezTo>
                    <a:pt x="0" y="65786"/>
                    <a:pt x="65786" y="0"/>
                    <a:pt x="146812" y="0"/>
                  </a:cubicBezTo>
                  <a:lnTo>
                    <a:pt x="7102348" y="0"/>
                  </a:lnTo>
                  <a:cubicBezTo>
                    <a:pt x="7183374" y="0"/>
                    <a:pt x="7249160" y="65786"/>
                    <a:pt x="7249160" y="146812"/>
                  </a:cubicBezTo>
                  <a:lnTo>
                    <a:pt x="7249160" y="8565388"/>
                  </a:lnTo>
                  <a:cubicBezTo>
                    <a:pt x="7249160" y="8646414"/>
                    <a:pt x="7183374" y="8712200"/>
                    <a:pt x="7102348" y="8712200"/>
                  </a:cubicBezTo>
                  <a:lnTo>
                    <a:pt x="146812" y="8712200"/>
                  </a:lnTo>
                  <a:cubicBezTo>
                    <a:pt x="65786" y="8712200"/>
                    <a:pt x="0" y="8646414"/>
                    <a:pt x="0" y="856538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34" name="Group 34"/>
          <p:cNvGrpSpPr/>
          <p:nvPr/>
        </p:nvGrpSpPr>
        <p:grpSpPr>
          <a:xfrm>
            <a:off x="12138660" y="2537460"/>
            <a:ext cx="5417820" cy="795528"/>
            <a:chOff x="0" y="0"/>
            <a:chExt cx="7223760" cy="1060704"/>
          </a:xfrm>
        </p:grpSpPr>
        <p:sp>
          <p:nvSpPr>
            <p:cNvPr id="35" name="Freeform 35"/>
            <p:cNvSpPr/>
            <p:nvPr/>
          </p:nvSpPr>
          <p:spPr>
            <a:xfrm>
              <a:off x="0" y="0"/>
              <a:ext cx="7223761" cy="1060704"/>
            </a:xfrm>
            <a:custGeom>
              <a:avLst/>
              <a:gdLst/>
              <a:ahLst/>
              <a:cxnLst/>
              <a:rect l="l" t="t" r="r" b="b"/>
              <a:pathLst>
                <a:path w="7223761" h="1060704">
                  <a:moveTo>
                    <a:pt x="0" y="146304"/>
                  </a:moveTo>
                  <a:cubicBezTo>
                    <a:pt x="0" y="65532"/>
                    <a:pt x="65532" y="0"/>
                    <a:pt x="146304" y="0"/>
                  </a:cubicBezTo>
                  <a:lnTo>
                    <a:pt x="7077456" y="0"/>
                  </a:lnTo>
                  <a:cubicBezTo>
                    <a:pt x="7158228" y="0"/>
                    <a:pt x="7223761" y="65532"/>
                    <a:pt x="7223761" y="146304"/>
                  </a:cubicBezTo>
                  <a:lnTo>
                    <a:pt x="7223761" y="914400"/>
                  </a:lnTo>
                  <a:cubicBezTo>
                    <a:pt x="7223761" y="995172"/>
                    <a:pt x="7158228" y="1060704"/>
                    <a:pt x="7077456" y="1060704"/>
                  </a:cubicBezTo>
                  <a:lnTo>
                    <a:pt x="146304" y="1060704"/>
                  </a:lnTo>
                  <a:cubicBezTo>
                    <a:pt x="65532" y="1060704"/>
                    <a:pt x="0" y="995172"/>
                    <a:pt x="0" y="914400"/>
                  </a:cubicBezTo>
                  <a:close/>
                </a:path>
              </a:pathLst>
            </a:custGeom>
            <a:solidFill>
              <a:srgbClr val="003057"/>
            </a:solidFill>
          </p:spPr>
          <p:txBody>
            <a:bodyPr/>
            <a:lstStyle/>
            <a:p>
              <a:endParaRPr lang="en-US"/>
            </a:p>
          </p:txBody>
        </p:sp>
      </p:grpSp>
      <p:grpSp>
        <p:nvGrpSpPr>
          <p:cNvPr id="36" name="Group 36"/>
          <p:cNvGrpSpPr/>
          <p:nvPr/>
        </p:nvGrpSpPr>
        <p:grpSpPr>
          <a:xfrm>
            <a:off x="12412980" y="2537460"/>
            <a:ext cx="4937760" cy="795528"/>
            <a:chOff x="0" y="0"/>
            <a:chExt cx="6583680" cy="1060704"/>
          </a:xfrm>
        </p:grpSpPr>
        <p:sp>
          <p:nvSpPr>
            <p:cNvPr id="37" name="Freeform 37"/>
            <p:cNvSpPr/>
            <p:nvPr/>
          </p:nvSpPr>
          <p:spPr>
            <a:xfrm>
              <a:off x="0" y="0"/>
              <a:ext cx="6583680" cy="1060704"/>
            </a:xfrm>
            <a:custGeom>
              <a:avLst/>
              <a:gdLst/>
              <a:ahLst/>
              <a:cxnLst/>
              <a:rect l="l" t="t" r="r" b="b"/>
              <a:pathLst>
                <a:path w="6583680" h="1060704">
                  <a:moveTo>
                    <a:pt x="0" y="0"/>
                  </a:moveTo>
                  <a:lnTo>
                    <a:pt x="6583680" y="0"/>
                  </a:lnTo>
                  <a:lnTo>
                    <a:pt x="6583680" y="1060704"/>
                  </a:lnTo>
                  <a:lnTo>
                    <a:pt x="0" y="1060704"/>
                  </a:lnTo>
                  <a:close/>
                </a:path>
              </a:pathLst>
            </a:custGeom>
            <a:blipFill>
              <a:blip r:embed="rId3">
                <a:alphaModFix amt="0"/>
              </a:blip>
              <a:stretch>
                <a:fillRect t="-70941" b="-70941"/>
              </a:stretch>
            </a:blipFill>
          </p:spPr>
          <p:txBody>
            <a:bodyPr/>
            <a:lstStyle/>
            <a:p>
              <a:endParaRPr lang="en-US"/>
            </a:p>
          </p:txBody>
        </p:sp>
        <p:sp>
          <p:nvSpPr>
            <p:cNvPr id="38" name="TextBox 38"/>
            <p:cNvSpPr txBox="1"/>
            <p:nvPr/>
          </p:nvSpPr>
          <p:spPr>
            <a:xfrm>
              <a:off x="0" y="-38100"/>
              <a:ext cx="6583680" cy="1098804"/>
            </a:xfrm>
            <a:prstGeom prst="rect">
              <a:avLst/>
            </a:prstGeom>
          </p:spPr>
          <p:txBody>
            <a:bodyPr lIns="0" tIns="0" rIns="0" bIns="0" rtlCol="0" anchor="ctr"/>
            <a:lstStyle/>
            <a:p>
              <a:pPr algn="l">
                <a:lnSpc>
                  <a:spcPts val="2070"/>
                </a:lnSpc>
              </a:pPr>
              <a:r>
                <a:rPr lang="en-US" sz="1725" b="1">
                  <a:solidFill>
                    <a:srgbClr val="FCFBF7"/>
                  </a:solidFill>
                  <a:latin typeface="Calibri"/>
                  <a:ea typeface="Calibri (MS) Bold"/>
                  <a:cs typeface="Calibri"/>
                  <a:sym typeface="Calibri (MS) Bold"/>
                </a:rPr>
                <a:t>SCENARIO 6 ,  NULL, NO DOMINANT DRIVER</a:t>
              </a:r>
            </a:p>
          </p:txBody>
        </p:sp>
      </p:grpSp>
      <p:sp>
        <p:nvSpPr>
          <p:cNvPr id="39" name="TextBox 39"/>
          <p:cNvSpPr txBox="1"/>
          <p:nvPr/>
        </p:nvSpPr>
        <p:spPr>
          <a:xfrm>
            <a:off x="12412980" y="3500628"/>
            <a:ext cx="486918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SIGNAL  </a:t>
            </a:r>
            <a:r>
              <a:rPr lang="en-US" sz="1449">
                <a:solidFill>
                  <a:srgbClr val="0099D8"/>
                </a:solidFill>
                <a:latin typeface="Calibri"/>
                <a:ea typeface="Calibri (MS)"/>
                <a:cs typeface="Calibri"/>
                <a:sym typeface="Calibri (MS)"/>
              </a:rPr>
              <a:t>No cause-cohort exceeds ~25–30% of losses; everything is nibbling at once. Plausibly the true state of the world, the playbook does not skip it.</a:t>
            </a:r>
          </a:p>
        </p:txBody>
      </p:sp>
      <p:sp>
        <p:nvSpPr>
          <p:cNvPr id="40" name="TextBox 40"/>
          <p:cNvSpPr txBox="1"/>
          <p:nvPr/>
        </p:nvSpPr>
        <p:spPr>
          <a:xfrm>
            <a:off x="12412980" y="4570476"/>
            <a:ext cx="4869180" cy="907034"/>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PLAY  </a:t>
            </a:r>
            <a:r>
              <a:rPr lang="en-US" sz="1449">
                <a:solidFill>
                  <a:srgbClr val="0099D8"/>
                </a:solidFill>
                <a:latin typeface="Calibri"/>
                <a:ea typeface="Calibri (MS)"/>
                <a:cs typeface="Calibri"/>
                <a:sym typeface="Calibri (MS)"/>
              </a:rPr>
              <a:t>Default to Rec 2: re-segmented disclosure, steady-state post-2027 capex guidance, capital-regime shift, plus small controlled bets from Scenarios 1–3 run as experiments, not campaigns.</a:t>
            </a:r>
          </a:p>
        </p:txBody>
      </p:sp>
      <p:sp>
        <p:nvSpPr>
          <p:cNvPr id="41" name="TextBox 41"/>
          <p:cNvSpPr txBox="1"/>
          <p:nvPr/>
        </p:nvSpPr>
        <p:spPr>
          <a:xfrm>
            <a:off x="12412980" y="5640324"/>
            <a:ext cx="4869180" cy="249809"/>
          </a:xfrm>
          <a:prstGeom prst="rect">
            <a:avLst/>
          </a:prstGeom>
        </p:spPr>
        <p:txBody>
          <a:bodyPr lIns="0" tIns="0" rIns="0" bIns="0" rtlCol="0" anchor="t">
            <a:spAutoFit/>
          </a:bodyPr>
          <a:lstStyle/>
          <a:p>
            <a:pPr algn="l">
              <a:lnSpc>
                <a:spcPts val="1797"/>
              </a:lnSpc>
            </a:pPr>
            <a:r>
              <a:rPr lang="en-US" sz="1449" b="1">
                <a:solidFill>
                  <a:srgbClr val="B26A00"/>
                </a:solidFill>
                <a:latin typeface="Calibri"/>
                <a:ea typeface="Calibri (MS) Bold"/>
                <a:cs typeface="Calibri"/>
                <a:sym typeface="Calibri (MS) Bold"/>
              </a:rPr>
              <a:t>GATE  </a:t>
            </a:r>
            <a:r>
              <a:rPr lang="en-US" sz="1449">
                <a:solidFill>
                  <a:srgbClr val="5B6672"/>
                </a:solidFill>
                <a:latin typeface="Calibri"/>
                <a:ea typeface="Calibri (MS)"/>
                <a:cs typeface="Calibri"/>
                <a:sym typeface="Calibri (MS)"/>
              </a:rPr>
              <a:t>Disclosure costs ~nothing; experiments are spend-capped.</a:t>
            </a:r>
          </a:p>
        </p:txBody>
      </p:sp>
      <p:sp>
        <p:nvSpPr>
          <p:cNvPr id="42" name="TextBox 42"/>
          <p:cNvSpPr txBox="1"/>
          <p:nvPr/>
        </p:nvSpPr>
        <p:spPr>
          <a:xfrm>
            <a:off x="12412980" y="6463284"/>
            <a:ext cx="4869180" cy="687959"/>
          </a:xfrm>
          <a:prstGeom prst="rect">
            <a:avLst/>
          </a:prstGeom>
        </p:spPr>
        <p:txBody>
          <a:bodyPr lIns="0" tIns="0" rIns="0" bIns="0" rtlCol="0" anchor="t">
            <a:spAutoFit/>
          </a:bodyPr>
          <a:lstStyle/>
          <a:p>
            <a:pPr algn="l">
              <a:lnSpc>
                <a:spcPts val="1797"/>
              </a:lnSpc>
            </a:pPr>
            <a:r>
              <a:rPr lang="en-US" sz="1449" b="1">
                <a:solidFill>
                  <a:srgbClr val="1E7A46"/>
                </a:solidFill>
                <a:latin typeface="Calibri"/>
                <a:ea typeface="Calibri (MS) Bold"/>
                <a:cs typeface="Calibri"/>
                <a:sym typeface="Calibri (MS) Bold"/>
              </a:rPr>
              <a:t>PROOF  </a:t>
            </a:r>
            <a:r>
              <a:rPr lang="en-US" sz="1449">
                <a:solidFill>
                  <a:srgbClr val="5B6672"/>
                </a:solidFill>
                <a:latin typeface="Calibri"/>
                <a:ea typeface="Calibri (MS)"/>
                <a:cs typeface="Calibri"/>
                <a:sym typeface="Calibri (MS)"/>
              </a:rPr>
              <a:t>Multiple response to disclosure (does the market start pricing two businesses?); experiment read-outs feed the next cycle.</a:t>
            </a:r>
          </a:p>
        </p:txBody>
      </p:sp>
      <p:sp>
        <p:nvSpPr>
          <p:cNvPr id="43" name="TextBox 43"/>
          <p:cNvSpPr txBox="1"/>
          <p:nvPr/>
        </p:nvSpPr>
        <p:spPr>
          <a:xfrm>
            <a:off x="12412980" y="7258812"/>
            <a:ext cx="4869180" cy="468884"/>
          </a:xfrm>
          <a:prstGeom prst="rect">
            <a:avLst/>
          </a:prstGeom>
        </p:spPr>
        <p:txBody>
          <a:bodyPr lIns="0" tIns="0" rIns="0" bIns="0" rtlCol="0" anchor="t">
            <a:spAutoFit/>
          </a:bodyPr>
          <a:lstStyle/>
          <a:p>
            <a:pPr algn="l">
              <a:lnSpc>
                <a:spcPts val="1797"/>
              </a:lnSpc>
            </a:pPr>
            <a:r>
              <a:rPr lang="en-US" sz="1449" b="1">
                <a:solidFill>
                  <a:srgbClr val="C8102E"/>
                </a:solidFill>
                <a:latin typeface="Calibri"/>
                <a:ea typeface="Calibri (MS) Bold"/>
                <a:cs typeface="Calibri"/>
                <a:sym typeface="Calibri (MS) Bold"/>
              </a:rPr>
              <a:t>KILL  </a:t>
            </a:r>
            <a:r>
              <a:rPr lang="en-US" sz="1449">
                <a:solidFill>
                  <a:srgbClr val="5B6672"/>
                </a:solidFill>
                <a:latin typeface="Calibri"/>
                <a:ea typeface="Calibri (MS)"/>
                <a:cs typeface="Calibri"/>
                <a:sym typeface="Calibri (MS)"/>
              </a:rPr>
              <a:t>A later quarter’s read crosses a threshold → the matching scenario fires. Null is a state, not a verdict.</a:t>
            </a:r>
          </a:p>
        </p:txBody>
      </p:sp>
      <p:sp>
        <p:nvSpPr>
          <p:cNvPr id="44" name="TextBox 44"/>
          <p:cNvSpPr txBox="1"/>
          <p:nvPr/>
        </p:nvSpPr>
        <p:spPr>
          <a:xfrm>
            <a:off x="12412980" y="7972044"/>
            <a:ext cx="4869180" cy="468884"/>
          </a:xfrm>
          <a:prstGeom prst="rect">
            <a:avLst/>
          </a:prstGeom>
        </p:spPr>
        <p:txBody>
          <a:bodyPr lIns="0" tIns="0" rIns="0" bIns="0" rtlCol="0" anchor="t">
            <a:spAutoFit/>
          </a:bodyPr>
          <a:lstStyle/>
          <a:p>
            <a:pPr algn="l">
              <a:lnSpc>
                <a:spcPts val="1797"/>
              </a:lnSpc>
            </a:pPr>
            <a:r>
              <a:rPr lang="en-US" sz="1449" b="1">
                <a:solidFill>
                  <a:srgbClr val="66717D"/>
                </a:solidFill>
                <a:latin typeface="Calibri"/>
                <a:ea typeface="Calibri (MS) Bold"/>
                <a:cs typeface="Calibri"/>
                <a:sym typeface="Calibri (MS) Bold"/>
              </a:rPr>
              <a:t>FALLBACK  </a:t>
            </a:r>
            <a:r>
              <a:rPr lang="en-US" sz="1449">
                <a:solidFill>
                  <a:srgbClr val="66717D"/>
                </a:solidFill>
                <a:latin typeface="Calibri"/>
                <a:ea typeface="Calibri (MS)"/>
                <a:cs typeface="Calibri"/>
                <a:sym typeface="Calibri (MS)"/>
              </a:rPr>
              <a:t>Not applicable, Scenario 6 is the system’s floor: a defensible recommendation in every world.</a:t>
            </a:r>
          </a:p>
        </p:txBody>
      </p:sp>
      <p:grpSp>
        <p:nvGrpSpPr>
          <p:cNvPr id="45" name="Group 45"/>
          <p:cNvGrpSpPr/>
          <p:nvPr/>
        </p:nvGrpSpPr>
        <p:grpSpPr>
          <a:xfrm>
            <a:off x="754380" y="9189720"/>
            <a:ext cx="16733520" cy="411480"/>
            <a:chOff x="0" y="0"/>
            <a:chExt cx="22311360" cy="548640"/>
          </a:xfrm>
        </p:grpSpPr>
        <p:sp>
          <p:nvSpPr>
            <p:cNvPr id="46" name="Freeform 4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7" name="TextBox 4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48" name="Group 48"/>
          <p:cNvGrpSpPr/>
          <p:nvPr/>
        </p:nvGrpSpPr>
        <p:grpSpPr>
          <a:xfrm>
            <a:off x="17076420" y="9669780"/>
            <a:ext cx="960120" cy="411480"/>
            <a:chOff x="0" y="0"/>
            <a:chExt cx="1280160" cy="548640"/>
          </a:xfrm>
        </p:grpSpPr>
        <p:sp>
          <p:nvSpPr>
            <p:cNvPr id="49" name="Freeform 4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50" name="TextBox 5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26</a:t>
              </a:r>
            </a:p>
          </p:txBody>
        </p:sp>
      </p:grpSp>
      <p:grpSp>
        <p:nvGrpSpPr>
          <p:cNvPr id="51" name="Group 51"/>
          <p:cNvGrpSpPr/>
          <p:nvPr/>
        </p:nvGrpSpPr>
        <p:grpSpPr>
          <a:xfrm>
            <a:off x="754380" y="9669780"/>
            <a:ext cx="16047720" cy="411480"/>
            <a:chOff x="0" y="0"/>
            <a:chExt cx="21396960" cy="548640"/>
          </a:xfrm>
        </p:grpSpPr>
        <p:sp>
          <p:nvSpPr>
            <p:cNvPr id="52" name="Freeform 5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3" name="TextBox 5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A16  ·  RECOMMENDATION 1, LEAVE-BEHIND</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The Playbook on a Page</a:t>
            </a:r>
          </a:p>
        </p:txBody>
      </p:sp>
      <p:grpSp>
        <p:nvGrpSpPr>
          <p:cNvPr id="6" name="Group 6"/>
          <p:cNvGrpSpPr/>
          <p:nvPr/>
        </p:nvGrpSpPr>
        <p:grpSpPr>
          <a:xfrm>
            <a:off x="754380" y="2537460"/>
            <a:ext cx="16802100" cy="576072"/>
            <a:chOff x="0" y="0"/>
            <a:chExt cx="22402800" cy="768096"/>
          </a:xfrm>
        </p:grpSpPr>
        <p:sp>
          <p:nvSpPr>
            <p:cNvPr id="7" name="Freeform 7"/>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003057"/>
            </a:solidFill>
          </p:spPr>
          <p:txBody>
            <a:bodyPr/>
            <a:lstStyle/>
            <a:p>
              <a:endParaRPr lang="en-US"/>
            </a:p>
          </p:txBody>
        </p:sp>
      </p:grpSp>
      <p:grpSp>
        <p:nvGrpSpPr>
          <p:cNvPr id="8" name="Group 8"/>
          <p:cNvGrpSpPr/>
          <p:nvPr/>
        </p:nvGrpSpPr>
        <p:grpSpPr>
          <a:xfrm>
            <a:off x="864108" y="2537460"/>
            <a:ext cx="397764" cy="576072"/>
            <a:chOff x="0" y="0"/>
            <a:chExt cx="530352" cy="768096"/>
          </a:xfrm>
        </p:grpSpPr>
        <p:sp>
          <p:nvSpPr>
            <p:cNvPr id="9" name="Freeform 9"/>
            <p:cNvSpPr/>
            <p:nvPr/>
          </p:nvSpPr>
          <p:spPr>
            <a:xfrm>
              <a:off x="0" y="0"/>
              <a:ext cx="530352" cy="768096"/>
            </a:xfrm>
            <a:custGeom>
              <a:avLst/>
              <a:gdLst/>
              <a:ahLst/>
              <a:cxnLst/>
              <a:rect l="l" t="t" r="r" b="b"/>
              <a:pathLst>
                <a:path w="530352" h="768096">
                  <a:moveTo>
                    <a:pt x="0" y="0"/>
                  </a:moveTo>
                  <a:lnTo>
                    <a:pt x="530352" y="0"/>
                  </a:lnTo>
                  <a:lnTo>
                    <a:pt x="530352" y="768096"/>
                  </a:lnTo>
                  <a:lnTo>
                    <a:pt x="0" y="768096"/>
                  </a:lnTo>
                  <a:close/>
                </a:path>
              </a:pathLst>
            </a:custGeom>
            <a:blipFill>
              <a:blip r:embed="rId3">
                <a:alphaModFix amt="0"/>
              </a:blip>
              <a:stretch>
                <a:fillRect l="-135818" r="-135818"/>
              </a:stretch>
            </a:blipFill>
          </p:spPr>
          <p:txBody>
            <a:bodyPr/>
            <a:lstStyle/>
            <a:p>
              <a:endParaRPr lang="en-US"/>
            </a:p>
          </p:txBody>
        </p:sp>
        <p:sp>
          <p:nvSpPr>
            <p:cNvPr id="10" name="TextBox 10"/>
            <p:cNvSpPr txBox="1"/>
            <p:nvPr/>
          </p:nvSpPr>
          <p:spPr>
            <a:xfrm>
              <a:off x="0" y="-28575"/>
              <a:ext cx="530352" cy="796671"/>
            </a:xfrm>
            <a:prstGeom prst="rect">
              <a:avLst/>
            </a:prstGeom>
          </p:spPr>
          <p:txBody>
            <a:bodyPr lIns="0" tIns="0" rIns="0" bIns="0" rtlCol="0" anchor="ctr"/>
            <a:lstStyle/>
            <a:p>
              <a:pPr algn="l">
                <a:lnSpc>
                  <a:spcPts val="1980"/>
                </a:lnSpc>
              </a:pPr>
              <a:r>
                <a:rPr lang="en-US" sz="1650" b="1">
                  <a:solidFill>
                    <a:srgbClr val="FCFBF7"/>
                  </a:solidFill>
                  <a:latin typeface="Calibri"/>
                  <a:ea typeface="Calibri (MS) Bold"/>
                  <a:cs typeface="Calibri"/>
                  <a:sym typeface="Calibri (MS) Bold"/>
                </a:rPr>
                <a:t>#</a:t>
              </a:r>
            </a:p>
          </p:txBody>
        </p:sp>
      </p:grpSp>
      <p:grpSp>
        <p:nvGrpSpPr>
          <p:cNvPr id="11" name="Group 11"/>
          <p:cNvGrpSpPr/>
          <p:nvPr/>
        </p:nvGrpSpPr>
        <p:grpSpPr>
          <a:xfrm>
            <a:off x="1481328" y="2537460"/>
            <a:ext cx="3483864" cy="576072"/>
            <a:chOff x="0" y="0"/>
            <a:chExt cx="4645152" cy="768096"/>
          </a:xfrm>
        </p:grpSpPr>
        <p:sp>
          <p:nvSpPr>
            <p:cNvPr id="12" name="Freeform 12"/>
            <p:cNvSpPr/>
            <p:nvPr/>
          </p:nvSpPr>
          <p:spPr>
            <a:xfrm>
              <a:off x="0" y="0"/>
              <a:ext cx="4645152" cy="768096"/>
            </a:xfrm>
            <a:custGeom>
              <a:avLst/>
              <a:gdLst/>
              <a:ahLst/>
              <a:cxnLst/>
              <a:rect l="l" t="t" r="r" b="b"/>
              <a:pathLst>
                <a:path w="4645152" h="768096">
                  <a:moveTo>
                    <a:pt x="0" y="0"/>
                  </a:moveTo>
                  <a:lnTo>
                    <a:pt x="4645152" y="0"/>
                  </a:lnTo>
                  <a:lnTo>
                    <a:pt x="4645152" y="768096"/>
                  </a:lnTo>
                  <a:lnTo>
                    <a:pt x="0" y="768096"/>
                  </a:lnTo>
                  <a:close/>
                </a:path>
              </a:pathLst>
            </a:custGeom>
            <a:blipFill>
              <a:blip r:embed="rId3">
                <a:alphaModFix amt="0"/>
              </a:blip>
              <a:stretch>
                <a:fillRect t="-67838" b="-67838"/>
              </a:stretch>
            </a:blipFill>
          </p:spPr>
          <p:txBody>
            <a:bodyPr/>
            <a:lstStyle/>
            <a:p>
              <a:endParaRPr lang="en-US"/>
            </a:p>
          </p:txBody>
        </p:sp>
        <p:sp>
          <p:nvSpPr>
            <p:cNvPr id="13" name="TextBox 13"/>
            <p:cNvSpPr txBox="1"/>
            <p:nvPr/>
          </p:nvSpPr>
          <p:spPr>
            <a:xfrm>
              <a:off x="0" y="-28575"/>
              <a:ext cx="4645152" cy="796671"/>
            </a:xfrm>
            <a:prstGeom prst="rect">
              <a:avLst/>
            </a:prstGeom>
          </p:spPr>
          <p:txBody>
            <a:bodyPr lIns="0" tIns="0" rIns="0" bIns="0" rtlCol="0" anchor="ctr"/>
            <a:lstStyle/>
            <a:p>
              <a:pPr algn="l">
                <a:lnSpc>
                  <a:spcPts val="1980"/>
                </a:lnSpc>
              </a:pPr>
              <a:r>
                <a:rPr lang="en-US" sz="1650" b="1">
                  <a:solidFill>
                    <a:srgbClr val="FCFBF7"/>
                  </a:solidFill>
                  <a:latin typeface="Calibri"/>
                  <a:ea typeface="Calibri (MS) Bold"/>
                  <a:cs typeface="Calibri"/>
                  <a:sym typeface="Calibri (MS) Bold"/>
                </a:rPr>
                <a:t>Trigger (signal)</a:t>
              </a:r>
            </a:p>
          </p:txBody>
        </p:sp>
      </p:grpSp>
      <p:grpSp>
        <p:nvGrpSpPr>
          <p:cNvPr id="14" name="Group 14"/>
          <p:cNvGrpSpPr/>
          <p:nvPr/>
        </p:nvGrpSpPr>
        <p:grpSpPr>
          <a:xfrm>
            <a:off x="5184648" y="2537460"/>
            <a:ext cx="4718304" cy="576072"/>
            <a:chOff x="0" y="0"/>
            <a:chExt cx="6291072" cy="768096"/>
          </a:xfrm>
        </p:grpSpPr>
        <p:sp>
          <p:nvSpPr>
            <p:cNvPr id="15" name="Freeform 15"/>
            <p:cNvSpPr/>
            <p:nvPr/>
          </p:nvSpPr>
          <p:spPr>
            <a:xfrm>
              <a:off x="0" y="0"/>
              <a:ext cx="6291072" cy="768096"/>
            </a:xfrm>
            <a:custGeom>
              <a:avLst/>
              <a:gdLst/>
              <a:ahLst/>
              <a:cxnLst/>
              <a:rect l="l" t="t" r="r" b="b"/>
              <a:pathLst>
                <a:path w="6291072" h="768096">
                  <a:moveTo>
                    <a:pt x="0" y="0"/>
                  </a:moveTo>
                  <a:lnTo>
                    <a:pt x="6291072" y="0"/>
                  </a:lnTo>
                  <a:lnTo>
                    <a:pt x="6291072" y="768096"/>
                  </a:lnTo>
                  <a:lnTo>
                    <a:pt x="0" y="768096"/>
                  </a:lnTo>
                  <a:close/>
                </a:path>
              </a:pathLst>
            </a:custGeom>
            <a:blipFill>
              <a:blip r:embed="rId3">
                <a:alphaModFix amt="0"/>
              </a:blip>
              <a:stretch>
                <a:fillRect t="-109591" b="-109591"/>
              </a:stretch>
            </a:blipFill>
          </p:spPr>
          <p:txBody>
            <a:bodyPr/>
            <a:lstStyle/>
            <a:p>
              <a:endParaRPr lang="en-US"/>
            </a:p>
          </p:txBody>
        </p:sp>
        <p:sp>
          <p:nvSpPr>
            <p:cNvPr id="16" name="TextBox 16"/>
            <p:cNvSpPr txBox="1"/>
            <p:nvPr/>
          </p:nvSpPr>
          <p:spPr>
            <a:xfrm>
              <a:off x="0" y="-28575"/>
              <a:ext cx="6291072" cy="796671"/>
            </a:xfrm>
            <a:prstGeom prst="rect">
              <a:avLst/>
            </a:prstGeom>
          </p:spPr>
          <p:txBody>
            <a:bodyPr lIns="0" tIns="0" rIns="0" bIns="0" rtlCol="0" anchor="ctr"/>
            <a:lstStyle/>
            <a:p>
              <a:pPr algn="l">
                <a:lnSpc>
                  <a:spcPts val="1980"/>
                </a:lnSpc>
              </a:pPr>
              <a:r>
                <a:rPr lang="en-US" sz="1650" b="1">
                  <a:solidFill>
                    <a:srgbClr val="FCFBF7"/>
                  </a:solidFill>
                  <a:latin typeface="Calibri"/>
                  <a:ea typeface="Calibri (MS) Bold"/>
                  <a:cs typeface="Calibri"/>
                  <a:sym typeface="Calibri (MS) Bold"/>
                </a:rPr>
                <a:t>Lead play</a:t>
              </a:r>
            </a:p>
          </p:txBody>
        </p:sp>
      </p:grpSp>
      <p:grpSp>
        <p:nvGrpSpPr>
          <p:cNvPr id="17" name="Group 17"/>
          <p:cNvGrpSpPr/>
          <p:nvPr/>
        </p:nvGrpSpPr>
        <p:grpSpPr>
          <a:xfrm>
            <a:off x="10122408" y="2537460"/>
            <a:ext cx="3552444" cy="576072"/>
            <a:chOff x="0" y="0"/>
            <a:chExt cx="4736592" cy="768096"/>
          </a:xfrm>
        </p:grpSpPr>
        <p:sp>
          <p:nvSpPr>
            <p:cNvPr id="18" name="Freeform 18"/>
            <p:cNvSpPr/>
            <p:nvPr/>
          </p:nvSpPr>
          <p:spPr>
            <a:xfrm>
              <a:off x="0" y="0"/>
              <a:ext cx="4736592" cy="768096"/>
            </a:xfrm>
            <a:custGeom>
              <a:avLst/>
              <a:gdLst/>
              <a:ahLst/>
              <a:cxnLst/>
              <a:rect l="l" t="t" r="r" b="b"/>
              <a:pathLst>
                <a:path w="4736592" h="768096">
                  <a:moveTo>
                    <a:pt x="0" y="0"/>
                  </a:moveTo>
                  <a:lnTo>
                    <a:pt x="4736592" y="0"/>
                  </a:lnTo>
                  <a:lnTo>
                    <a:pt x="4736592" y="768096"/>
                  </a:lnTo>
                  <a:lnTo>
                    <a:pt x="0" y="768096"/>
                  </a:lnTo>
                  <a:close/>
                </a:path>
              </a:pathLst>
            </a:custGeom>
            <a:blipFill>
              <a:blip r:embed="rId3">
                <a:alphaModFix amt="0"/>
              </a:blip>
              <a:stretch>
                <a:fillRect t="-70157" b="-70157"/>
              </a:stretch>
            </a:blipFill>
          </p:spPr>
          <p:txBody>
            <a:bodyPr/>
            <a:lstStyle/>
            <a:p>
              <a:endParaRPr lang="en-US"/>
            </a:p>
          </p:txBody>
        </p:sp>
        <p:sp>
          <p:nvSpPr>
            <p:cNvPr id="19" name="TextBox 19"/>
            <p:cNvSpPr txBox="1"/>
            <p:nvPr/>
          </p:nvSpPr>
          <p:spPr>
            <a:xfrm>
              <a:off x="0" y="-28575"/>
              <a:ext cx="4736592" cy="796671"/>
            </a:xfrm>
            <a:prstGeom prst="rect">
              <a:avLst/>
            </a:prstGeom>
          </p:spPr>
          <p:txBody>
            <a:bodyPr lIns="0" tIns="0" rIns="0" bIns="0" rtlCol="0" anchor="ctr"/>
            <a:lstStyle/>
            <a:p>
              <a:pPr algn="l">
                <a:lnSpc>
                  <a:spcPts val="1980"/>
                </a:lnSpc>
              </a:pPr>
              <a:r>
                <a:rPr lang="en-US" sz="1650" b="1">
                  <a:solidFill>
                    <a:srgbClr val="FCFBF7"/>
                  </a:solidFill>
                  <a:latin typeface="Calibri"/>
                  <a:ea typeface="Calibri (MS) Bold"/>
                  <a:cs typeface="Calibri"/>
                  <a:sym typeface="Calibri (MS) Bold"/>
                </a:rPr>
                <a:t>Proof metric</a:t>
              </a:r>
            </a:p>
          </p:txBody>
        </p:sp>
      </p:grpSp>
      <p:grpSp>
        <p:nvGrpSpPr>
          <p:cNvPr id="20" name="Group 20"/>
          <p:cNvGrpSpPr/>
          <p:nvPr/>
        </p:nvGrpSpPr>
        <p:grpSpPr>
          <a:xfrm>
            <a:off x="13894308" y="2537460"/>
            <a:ext cx="3552444" cy="576072"/>
            <a:chOff x="0" y="0"/>
            <a:chExt cx="4736592" cy="768096"/>
          </a:xfrm>
        </p:grpSpPr>
        <p:sp>
          <p:nvSpPr>
            <p:cNvPr id="21" name="Freeform 21"/>
            <p:cNvSpPr/>
            <p:nvPr/>
          </p:nvSpPr>
          <p:spPr>
            <a:xfrm>
              <a:off x="0" y="0"/>
              <a:ext cx="4736592" cy="768096"/>
            </a:xfrm>
            <a:custGeom>
              <a:avLst/>
              <a:gdLst/>
              <a:ahLst/>
              <a:cxnLst/>
              <a:rect l="l" t="t" r="r" b="b"/>
              <a:pathLst>
                <a:path w="4736592" h="768096">
                  <a:moveTo>
                    <a:pt x="0" y="0"/>
                  </a:moveTo>
                  <a:lnTo>
                    <a:pt x="4736592" y="0"/>
                  </a:lnTo>
                  <a:lnTo>
                    <a:pt x="4736592" y="768096"/>
                  </a:lnTo>
                  <a:lnTo>
                    <a:pt x="0" y="768096"/>
                  </a:lnTo>
                  <a:close/>
                </a:path>
              </a:pathLst>
            </a:custGeom>
            <a:blipFill>
              <a:blip r:embed="rId3">
                <a:alphaModFix amt="0"/>
              </a:blip>
              <a:stretch>
                <a:fillRect t="-70157" b="-70157"/>
              </a:stretch>
            </a:blipFill>
          </p:spPr>
          <p:txBody>
            <a:bodyPr/>
            <a:lstStyle/>
            <a:p>
              <a:endParaRPr lang="en-US"/>
            </a:p>
          </p:txBody>
        </p:sp>
        <p:sp>
          <p:nvSpPr>
            <p:cNvPr id="22" name="TextBox 22"/>
            <p:cNvSpPr txBox="1"/>
            <p:nvPr/>
          </p:nvSpPr>
          <p:spPr>
            <a:xfrm>
              <a:off x="0" y="-28575"/>
              <a:ext cx="4736592" cy="796671"/>
            </a:xfrm>
            <a:prstGeom prst="rect">
              <a:avLst/>
            </a:prstGeom>
          </p:spPr>
          <p:txBody>
            <a:bodyPr lIns="0" tIns="0" rIns="0" bIns="0" rtlCol="0" anchor="ctr"/>
            <a:lstStyle/>
            <a:p>
              <a:pPr algn="l">
                <a:lnSpc>
                  <a:spcPts val="1980"/>
                </a:lnSpc>
              </a:pPr>
              <a:r>
                <a:rPr lang="en-US" sz="1650" b="1">
                  <a:solidFill>
                    <a:srgbClr val="FCFBF7"/>
                  </a:solidFill>
                  <a:latin typeface="Calibri"/>
                  <a:ea typeface="Calibri (MS) Bold"/>
                  <a:cs typeface="Calibri"/>
                  <a:sym typeface="Calibri (MS) Bold"/>
                </a:rPr>
                <a:t>Kill condition</a:t>
              </a:r>
            </a:p>
          </p:txBody>
        </p:sp>
      </p:grpSp>
      <p:grpSp>
        <p:nvGrpSpPr>
          <p:cNvPr id="23" name="Group 23"/>
          <p:cNvGrpSpPr/>
          <p:nvPr/>
        </p:nvGrpSpPr>
        <p:grpSpPr>
          <a:xfrm>
            <a:off x="754380" y="3113532"/>
            <a:ext cx="16802100" cy="932688"/>
            <a:chOff x="0" y="0"/>
            <a:chExt cx="22402800" cy="1243584"/>
          </a:xfrm>
        </p:grpSpPr>
        <p:sp>
          <p:nvSpPr>
            <p:cNvPr id="24" name="Freeform 24"/>
            <p:cNvSpPr/>
            <p:nvPr/>
          </p:nvSpPr>
          <p:spPr>
            <a:xfrm>
              <a:off x="0" y="0"/>
              <a:ext cx="22402800" cy="1243584"/>
            </a:xfrm>
            <a:custGeom>
              <a:avLst/>
              <a:gdLst/>
              <a:ahLst/>
              <a:cxnLst/>
              <a:rect l="l" t="t" r="r" b="b"/>
              <a:pathLst>
                <a:path w="22402800" h="1243584">
                  <a:moveTo>
                    <a:pt x="0" y="0"/>
                  </a:moveTo>
                  <a:lnTo>
                    <a:pt x="22402800" y="0"/>
                  </a:lnTo>
                  <a:lnTo>
                    <a:pt x="22402800" y="1243584"/>
                  </a:lnTo>
                  <a:lnTo>
                    <a:pt x="0" y="1243584"/>
                  </a:lnTo>
                  <a:close/>
                </a:path>
              </a:pathLst>
            </a:custGeom>
            <a:solidFill>
              <a:srgbClr val="EEF4FB"/>
            </a:solidFill>
          </p:spPr>
          <p:txBody>
            <a:bodyPr/>
            <a:lstStyle/>
            <a:p>
              <a:endParaRPr lang="en-US"/>
            </a:p>
          </p:txBody>
        </p:sp>
      </p:grpSp>
      <p:grpSp>
        <p:nvGrpSpPr>
          <p:cNvPr id="25" name="Group 25"/>
          <p:cNvGrpSpPr/>
          <p:nvPr/>
        </p:nvGrpSpPr>
        <p:grpSpPr>
          <a:xfrm>
            <a:off x="864108" y="3113532"/>
            <a:ext cx="397764" cy="932688"/>
            <a:chOff x="0" y="0"/>
            <a:chExt cx="530352" cy="1243584"/>
          </a:xfrm>
        </p:grpSpPr>
        <p:sp>
          <p:nvSpPr>
            <p:cNvPr id="26" name="Freeform 26"/>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27" name="TextBox 27"/>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1</a:t>
              </a:r>
            </a:p>
          </p:txBody>
        </p:sp>
      </p:grpSp>
      <p:grpSp>
        <p:nvGrpSpPr>
          <p:cNvPr id="28" name="Group 28"/>
          <p:cNvGrpSpPr/>
          <p:nvPr/>
        </p:nvGrpSpPr>
        <p:grpSpPr>
          <a:xfrm>
            <a:off x="1481328" y="3113532"/>
            <a:ext cx="3483864" cy="932688"/>
            <a:chOff x="0" y="0"/>
            <a:chExt cx="4645152" cy="1243584"/>
          </a:xfrm>
        </p:grpSpPr>
        <p:sp>
          <p:nvSpPr>
            <p:cNvPr id="29" name="Freeform 29"/>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30" name="TextBox 30"/>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FWA-covered losses &gt;35–40%; low-tenure, price-cited</a:t>
              </a:r>
            </a:p>
          </p:txBody>
        </p:sp>
      </p:grpSp>
      <p:grpSp>
        <p:nvGrpSpPr>
          <p:cNvPr id="31" name="Group 31"/>
          <p:cNvGrpSpPr/>
          <p:nvPr/>
        </p:nvGrpSpPr>
        <p:grpSpPr>
          <a:xfrm>
            <a:off x="5184648" y="3113532"/>
            <a:ext cx="4718304" cy="932688"/>
            <a:chOff x="0" y="0"/>
            <a:chExt cx="6291072" cy="1243584"/>
          </a:xfrm>
        </p:grpSpPr>
        <p:sp>
          <p:nvSpPr>
            <p:cNvPr id="32" name="Freeform 32"/>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33" name="TextBox 33"/>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Convergence pricing attack in FWA zones only (gated on MVNO unit economics)</a:t>
              </a:r>
            </a:p>
          </p:txBody>
        </p:sp>
      </p:grpSp>
      <p:grpSp>
        <p:nvGrpSpPr>
          <p:cNvPr id="34" name="Group 34"/>
          <p:cNvGrpSpPr/>
          <p:nvPr/>
        </p:nvGrpSpPr>
        <p:grpSpPr>
          <a:xfrm>
            <a:off x="10122408" y="3113532"/>
            <a:ext cx="3552444" cy="932688"/>
            <a:chOff x="0" y="0"/>
            <a:chExt cx="4736592" cy="1243584"/>
          </a:xfrm>
        </p:grpSpPr>
        <p:sp>
          <p:nvSpPr>
            <p:cNvPr id="35" name="Freeform 35"/>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36" name="TextBox 36"/>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Churn delta, treated vs. untreated zones, in 2 qtrs</a:t>
              </a:r>
            </a:p>
          </p:txBody>
        </p:sp>
      </p:grpSp>
      <p:grpSp>
        <p:nvGrpSpPr>
          <p:cNvPr id="37" name="Group 37"/>
          <p:cNvGrpSpPr/>
          <p:nvPr/>
        </p:nvGrpSpPr>
        <p:grpSpPr>
          <a:xfrm>
            <a:off x="13894308" y="3113532"/>
            <a:ext cx="3552444" cy="932688"/>
            <a:chOff x="0" y="0"/>
            <a:chExt cx="4736592" cy="1243584"/>
          </a:xfrm>
        </p:grpSpPr>
        <p:sp>
          <p:nvSpPr>
            <p:cNvPr id="38" name="Freeform 38"/>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39" name="TextBox 39"/>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No churn separation in 2 qtrs, or negative bundle margin</a:t>
              </a:r>
            </a:p>
          </p:txBody>
        </p:sp>
      </p:grpSp>
      <p:grpSp>
        <p:nvGrpSpPr>
          <p:cNvPr id="40" name="Group 40"/>
          <p:cNvGrpSpPr/>
          <p:nvPr/>
        </p:nvGrpSpPr>
        <p:grpSpPr>
          <a:xfrm>
            <a:off x="864108" y="4046220"/>
            <a:ext cx="397764" cy="932688"/>
            <a:chOff x="0" y="0"/>
            <a:chExt cx="530352" cy="1243584"/>
          </a:xfrm>
        </p:grpSpPr>
        <p:sp>
          <p:nvSpPr>
            <p:cNvPr id="41" name="Freeform 41"/>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42" name="TextBox 42"/>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2</a:t>
              </a:r>
            </a:p>
          </p:txBody>
        </p:sp>
      </p:grpSp>
      <p:grpSp>
        <p:nvGrpSpPr>
          <p:cNvPr id="43" name="Group 43"/>
          <p:cNvGrpSpPr/>
          <p:nvPr/>
        </p:nvGrpSpPr>
        <p:grpSpPr>
          <a:xfrm>
            <a:off x="1481328" y="4046220"/>
            <a:ext cx="3483864" cy="932688"/>
            <a:chOff x="0" y="0"/>
            <a:chExt cx="4645152" cy="1243584"/>
          </a:xfrm>
        </p:grpSpPr>
        <p:sp>
          <p:nvSpPr>
            <p:cNvPr id="44" name="Freeform 44"/>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45" name="TextBox 45"/>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Fiber-DMA losses dominate; high-ARPU, speed-cited</a:t>
              </a:r>
            </a:p>
          </p:txBody>
        </p:sp>
      </p:grpSp>
      <p:grpSp>
        <p:nvGrpSpPr>
          <p:cNvPr id="46" name="Group 46"/>
          <p:cNvGrpSpPr/>
          <p:nvPr/>
        </p:nvGrpSpPr>
        <p:grpSpPr>
          <a:xfrm>
            <a:off x="5184648" y="4046220"/>
            <a:ext cx="4718304" cy="932688"/>
            <a:chOff x="0" y="0"/>
            <a:chExt cx="6291072" cy="1243584"/>
          </a:xfrm>
        </p:grpSpPr>
        <p:sp>
          <p:nvSpPr>
            <p:cNvPr id="47" name="Freeform 47"/>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48" name="TextBox 48"/>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Re-sequence DOCSIS 4.0 by competitive exposure; symmetric-speed win-back</a:t>
              </a:r>
            </a:p>
          </p:txBody>
        </p:sp>
      </p:grpSp>
      <p:grpSp>
        <p:nvGrpSpPr>
          <p:cNvPr id="49" name="Group 49"/>
          <p:cNvGrpSpPr/>
          <p:nvPr/>
        </p:nvGrpSpPr>
        <p:grpSpPr>
          <a:xfrm>
            <a:off x="10122408" y="4046220"/>
            <a:ext cx="3552444" cy="932688"/>
            <a:chOff x="0" y="0"/>
            <a:chExt cx="4736592" cy="1243584"/>
          </a:xfrm>
        </p:grpSpPr>
        <p:sp>
          <p:nvSpPr>
            <p:cNvPr id="50" name="Freeform 50"/>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51" name="TextBox 51"/>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Churn in evolution-complete vs. incomplete overbuilt zones</a:t>
              </a:r>
            </a:p>
          </p:txBody>
        </p:sp>
      </p:grpSp>
      <p:grpSp>
        <p:nvGrpSpPr>
          <p:cNvPr id="52" name="Group 52"/>
          <p:cNvGrpSpPr/>
          <p:nvPr/>
        </p:nvGrpSpPr>
        <p:grpSpPr>
          <a:xfrm>
            <a:off x="13894308" y="4046220"/>
            <a:ext cx="3552444" cy="932688"/>
            <a:chOff x="0" y="0"/>
            <a:chExt cx="4736592" cy="1243584"/>
          </a:xfrm>
        </p:grpSpPr>
        <p:sp>
          <p:nvSpPr>
            <p:cNvPr id="53" name="Freeform 53"/>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54" name="TextBox 54"/>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Completed zones bleed at the same rate (product isn’t the problem)</a:t>
              </a:r>
            </a:p>
          </p:txBody>
        </p:sp>
      </p:grpSp>
      <p:grpSp>
        <p:nvGrpSpPr>
          <p:cNvPr id="55" name="Group 55"/>
          <p:cNvGrpSpPr/>
          <p:nvPr/>
        </p:nvGrpSpPr>
        <p:grpSpPr>
          <a:xfrm>
            <a:off x="754380" y="4978908"/>
            <a:ext cx="16802100" cy="932688"/>
            <a:chOff x="0" y="0"/>
            <a:chExt cx="22402800" cy="1243584"/>
          </a:xfrm>
        </p:grpSpPr>
        <p:sp>
          <p:nvSpPr>
            <p:cNvPr id="56" name="Freeform 56"/>
            <p:cNvSpPr/>
            <p:nvPr/>
          </p:nvSpPr>
          <p:spPr>
            <a:xfrm>
              <a:off x="0" y="0"/>
              <a:ext cx="22402800" cy="1243584"/>
            </a:xfrm>
            <a:custGeom>
              <a:avLst/>
              <a:gdLst/>
              <a:ahLst/>
              <a:cxnLst/>
              <a:rect l="l" t="t" r="r" b="b"/>
              <a:pathLst>
                <a:path w="22402800" h="1243584">
                  <a:moveTo>
                    <a:pt x="0" y="0"/>
                  </a:moveTo>
                  <a:lnTo>
                    <a:pt x="22402800" y="0"/>
                  </a:lnTo>
                  <a:lnTo>
                    <a:pt x="22402800" y="1243584"/>
                  </a:lnTo>
                  <a:lnTo>
                    <a:pt x="0" y="1243584"/>
                  </a:lnTo>
                  <a:close/>
                </a:path>
              </a:pathLst>
            </a:custGeom>
            <a:solidFill>
              <a:srgbClr val="EEF4FB"/>
            </a:solidFill>
          </p:spPr>
          <p:txBody>
            <a:bodyPr/>
            <a:lstStyle/>
            <a:p>
              <a:endParaRPr lang="en-US"/>
            </a:p>
          </p:txBody>
        </p:sp>
      </p:grpSp>
      <p:grpSp>
        <p:nvGrpSpPr>
          <p:cNvPr id="57" name="Group 57"/>
          <p:cNvGrpSpPr/>
          <p:nvPr/>
        </p:nvGrpSpPr>
        <p:grpSpPr>
          <a:xfrm>
            <a:off x="864108" y="4978908"/>
            <a:ext cx="397764" cy="932688"/>
            <a:chOff x="0" y="0"/>
            <a:chExt cx="530352" cy="1243584"/>
          </a:xfrm>
        </p:grpSpPr>
        <p:sp>
          <p:nvSpPr>
            <p:cNvPr id="58" name="Freeform 58"/>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59" name="TextBox 59"/>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3</a:t>
              </a:r>
            </a:p>
          </p:txBody>
        </p:sp>
      </p:grpSp>
      <p:grpSp>
        <p:nvGrpSpPr>
          <p:cNvPr id="60" name="Group 60"/>
          <p:cNvGrpSpPr/>
          <p:nvPr/>
        </p:nvGrpSpPr>
        <p:grpSpPr>
          <a:xfrm>
            <a:off x="1481328" y="4978908"/>
            <a:ext cx="3483864" cy="932688"/>
            <a:chOff x="0" y="0"/>
            <a:chExt cx="4645152" cy="1243584"/>
          </a:xfrm>
        </p:grpSpPr>
        <p:sp>
          <p:nvSpPr>
            <p:cNvPr id="61" name="Freeform 61"/>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62" name="TextBox 62"/>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Losses in satellite-only low-density blocks</a:t>
              </a:r>
            </a:p>
          </p:txBody>
        </p:sp>
      </p:grpSp>
      <p:grpSp>
        <p:nvGrpSpPr>
          <p:cNvPr id="63" name="Group 63"/>
          <p:cNvGrpSpPr/>
          <p:nvPr/>
        </p:nvGrpSpPr>
        <p:grpSpPr>
          <a:xfrm>
            <a:off x="5184648" y="4978908"/>
            <a:ext cx="4718304" cy="932688"/>
            <a:chOff x="0" y="0"/>
            <a:chExt cx="6291072" cy="1243584"/>
          </a:xfrm>
        </p:grpSpPr>
        <p:sp>
          <p:nvSpPr>
            <p:cNvPr id="64" name="Freeform 64"/>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65" name="TextBox 65"/>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Accelerate rural build activation ahead of Starlink / Kuiper</a:t>
              </a:r>
            </a:p>
          </p:txBody>
        </p:sp>
      </p:grpSp>
      <p:grpSp>
        <p:nvGrpSpPr>
          <p:cNvPr id="66" name="Group 66"/>
          <p:cNvGrpSpPr/>
          <p:nvPr/>
        </p:nvGrpSpPr>
        <p:grpSpPr>
          <a:xfrm>
            <a:off x="10122408" y="4978908"/>
            <a:ext cx="3552444" cy="932688"/>
            <a:chOff x="0" y="0"/>
            <a:chExt cx="4736592" cy="1243584"/>
          </a:xfrm>
        </p:grpSpPr>
        <p:sp>
          <p:nvSpPr>
            <p:cNvPr id="67" name="Freeform 67"/>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68" name="TextBox 68"/>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Penetration on new passings vs. vintage cohorts</a:t>
              </a:r>
            </a:p>
          </p:txBody>
        </p:sp>
      </p:grpSp>
      <p:grpSp>
        <p:nvGrpSpPr>
          <p:cNvPr id="69" name="Group 69"/>
          <p:cNvGrpSpPr/>
          <p:nvPr/>
        </p:nvGrpSpPr>
        <p:grpSpPr>
          <a:xfrm>
            <a:off x="13894308" y="4978908"/>
            <a:ext cx="3552444" cy="932688"/>
            <a:chOff x="0" y="0"/>
            <a:chExt cx="4736592" cy="1243584"/>
          </a:xfrm>
        </p:grpSpPr>
        <p:sp>
          <p:nvSpPr>
            <p:cNvPr id="70" name="Freeform 70"/>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71" name="TextBox 71"/>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New-passing penetration below underwriting curve</a:t>
              </a:r>
            </a:p>
          </p:txBody>
        </p:sp>
      </p:grpSp>
      <p:grpSp>
        <p:nvGrpSpPr>
          <p:cNvPr id="72" name="Group 72"/>
          <p:cNvGrpSpPr/>
          <p:nvPr/>
        </p:nvGrpSpPr>
        <p:grpSpPr>
          <a:xfrm>
            <a:off x="864108" y="5911596"/>
            <a:ext cx="397764" cy="932688"/>
            <a:chOff x="0" y="0"/>
            <a:chExt cx="530352" cy="1243584"/>
          </a:xfrm>
        </p:grpSpPr>
        <p:sp>
          <p:nvSpPr>
            <p:cNvPr id="73" name="Freeform 73"/>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74" name="TextBox 74"/>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4</a:t>
              </a:r>
            </a:p>
          </p:txBody>
        </p:sp>
      </p:grpSp>
      <p:grpSp>
        <p:nvGrpSpPr>
          <p:cNvPr id="75" name="Group 75"/>
          <p:cNvGrpSpPr/>
          <p:nvPr/>
        </p:nvGrpSpPr>
        <p:grpSpPr>
          <a:xfrm>
            <a:off x="1481328" y="5911596"/>
            <a:ext cx="3483864" cy="932688"/>
            <a:chOff x="0" y="0"/>
            <a:chExt cx="4645152" cy="1243584"/>
          </a:xfrm>
        </p:grpSpPr>
        <p:sp>
          <p:nvSpPr>
            <p:cNvPr id="76" name="Freeform 76"/>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77" name="TextBox 77"/>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Gross adds down, competitor churn flat; move-out clustered</a:t>
              </a:r>
            </a:p>
          </p:txBody>
        </p:sp>
      </p:grpSp>
      <p:grpSp>
        <p:nvGrpSpPr>
          <p:cNvPr id="78" name="Group 78"/>
          <p:cNvGrpSpPr/>
          <p:nvPr/>
        </p:nvGrpSpPr>
        <p:grpSpPr>
          <a:xfrm>
            <a:off x="5184648" y="5911596"/>
            <a:ext cx="4718304" cy="932688"/>
            <a:chOff x="0" y="0"/>
            <a:chExt cx="6291072" cy="1243584"/>
          </a:xfrm>
        </p:grpSpPr>
        <p:sp>
          <p:nvSpPr>
            <p:cNvPr id="79" name="Freeform 79"/>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80" name="TextBox 80"/>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Mover capture: builder / MDU partnerships, instant-on install; cohort disclosure</a:t>
              </a:r>
            </a:p>
          </p:txBody>
        </p:sp>
      </p:grpSp>
      <p:grpSp>
        <p:nvGrpSpPr>
          <p:cNvPr id="81" name="Group 81"/>
          <p:cNvGrpSpPr/>
          <p:nvPr/>
        </p:nvGrpSpPr>
        <p:grpSpPr>
          <a:xfrm>
            <a:off x="10122408" y="5911596"/>
            <a:ext cx="3552444" cy="932688"/>
            <a:chOff x="0" y="0"/>
            <a:chExt cx="4736592" cy="1243584"/>
          </a:xfrm>
        </p:grpSpPr>
        <p:sp>
          <p:nvSpPr>
            <p:cNvPr id="82" name="Freeform 82"/>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83" name="TextBox 83"/>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Connect share of new move-ins in footprint</a:t>
              </a:r>
            </a:p>
          </p:txBody>
        </p:sp>
      </p:grpSp>
      <p:grpSp>
        <p:nvGrpSpPr>
          <p:cNvPr id="84" name="Group 84"/>
          <p:cNvGrpSpPr/>
          <p:nvPr/>
        </p:nvGrpSpPr>
        <p:grpSpPr>
          <a:xfrm>
            <a:off x="13894308" y="5911596"/>
            <a:ext cx="3552444" cy="932688"/>
            <a:chOff x="0" y="0"/>
            <a:chExt cx="4736592" cy="1243584"/>
          </a:xfrm>
        </p:grpSpPr>
        <p:sp>
          <p:nvSpPr>
            <p:cNvPr id="85" name="Freeform 85"/>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86" name="TextBox 86"/>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Port-out data contradicts the macro story</a:t>
              </a:r>
            </a:p>
          </p:txBody>
        </p:sp>
      </p:grpSp>
      <p:grpSp>
        <p:nvGrpSpPr>
          <p:cNvPr id="87" name="Group 87"/>
          <p:cNvGrpSpPr/>
          <p:nvPr/>
        </p:nvGrpSpPr>
        <p:grpSpPr>
          <a:xfrm>
            <a:off x="754380" y="6844284"/>
            <a:ext cx="16802100" cy="932688"/>
            <a:chOff x="0" y="0"/>
            <a:chExt cx="22402800" cy="1243584"/>
          </a:xfrm>
        </p:grpSpPr>
        <p:sp>
          <p:nvSpPr>
            <p:cNvPr id="88" name="Freeform 88"/>
            <p:cNvSpPr/>
            <p:nvPr/>
          </p:nvSpPr>
          <p:spPr>
            <a:xfrm>
              <a:off x="0" y="0"/>
              <a:ext cx="22402800" cy="1243584"/>
            </a:xfrm>
            <a:custGeom>
              <a:avLst/>
              <a:gdLst/>
              <a:ahLst/>
              <a:cxnLst/>
              <a:rect l="l" t="t" r="r" b="b"/>
              <a:pathLst>
                <a:path w="22402800" h="1243584">
                  <a:moveTo>
                    <a:pt x="0" y="0"/>
                  </a:moveTo>
                  <a:lnTo>
                    <a:pt x="22402800" y="0"/>
                  </a:lnTo>
                  <a:lnTo>
                    <a:pt x="22402800" y="1243584"/>
                  </a:lnTo>
                  <a:lnTo>
                    <a:pt x="0" y="1243584"/>
                  </a:lnTo>
                  <a:close/>
                </a:path>
              </a:pathLst>
            </a:custGeom>
            <a:solidFill>
              <a:srgbClr val="EEF4FB"/>
            </a:solidFill>
          </p:spPr>
          <p:txBody>
            <a:bodyPr/>
            <a:lstStyle/>
            <a:p>
              <a:endParaRPr lang="en-US"/>
            </a:p>
          </p:txBody>
        </p:sp>
      </p:grpSp>
      <p:grpSp>
        <p:nvGrpSpPr>
          <p:cNvPr id="89" name="Group 89"/>
          <p:cNvGrpSpPr/>
          <p:nvPr/>
        </p:nvGrpSpPr>
        <p:grpSpPr>
          <a:xfrm>
            <a:off x="864108" y="6844284"/>
            <a:ext cx="397764" cy="932688"/>
            <a:chOff x="0" y="0"/>
            <a:chExt cx="530352" cy="1243584"/>
          </a:xfrm>
        </p:grpSpPr>
        <p:sp>
          <p:nvSpPr>
            <p:cNvPr id="90" name="Freeform 90"/>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91" name="TextBox 91"/>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5</a:t>
              </a:r>
            </a:p>
          </p:txBody>
        </p:sp>
      </p:grpSp>
      <p:grpSp>
        <p:nvGrpSpPr>
          <p:cNvPr id="92" name="Group 92"/>
          <p:cNvGrpSpPr/>
          <p:nvPr/>
        </p:nvGrpSpPr>
        <p:grpSpPr>
          <a:xfrm>
            <a:off x="1481328" y="6844284"/>
            <a:ext cx="3483864" cy="932688"/>
            <a:chOff x="0" y="0"/>
            <a:chExt cx="4645152" cy="1243584"/>
          </a:xfrm>
        </p:grpSpPr>
        <p:sp>
          <p:nvSpPr>
            <p:cNvPr id="93" name="Freeform 93"/>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94" name="TextBox 94"/>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Non-pay / downgrade skew; ACP-echo demographics</a:t>
              </a:r>
            </a:p>
          </p:txBody>
        </p:sp>
      </p:grpSp>
      <p:grpSp>
        <p:nvGrpSpPr>
          <p:cNvPr id="95" name="Group 95"/>
          <p:cNvGrpSpPr/>
          <p:nvPr/>
        </p:nvGrpSpPr>
        <p:grpSpPr>
          <a:xfrm>
            <a:off x="5184648" y="6844284"/>
            <a:ext cx="4718304" cy="932688"/>
            <a:chOff x="0" y="0"/>
            <a:chExt cx="6291072" cy="1243584"/>
          </a:xfrm>
        </p:grpSpPr>
        <p:sp>
          <p:nvSpPr>
            <p:cNvPr id="96" name="Freeform 96"/>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97" name="TextBox 97"/>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Retention-priced value tier with credit-friendly terms at delinquency</a:t>
              </a:r>
            </a:p>
          </p:txBody>
        </p:sp>
      </p:grpSp>
      <p:grpSp>
        <p:nvGrpSpPr>
          <p:cNvPr id="98" name="Group 98"/>
          <p:cNvGrpSpPr/>
          <p:nvPr/>
        </p:nvGrpSpPr>
        <p:grpSpPr>
          <a:xfrm>
            <a:off x="10122408" y="6844284"/>
            <a:ext cx="3552444" cy="932688"/>
            <a:chOff x="0" y="0"/>
            <a:chExt cx="4736592" cy="1243584"/>
          </a:xfrm>
        </p:grpSpPr>
        <p:sp>
          <p:nvSpPr>
            <p:cNvPr id="99" name="Freeform 99"/>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100" name="TextBox 100"/>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Save-rate vs. control; 6-month survival</a:t>
              </a:r>
            </a:p>
          </p:txBody>
        </p:sp>
      </p:grpSp>
      <p:grpSp>
        <p:nvGrpSpPr>
          <p:cNvPr id="101" name="Group 101"/>
          <p:cNvGrpSpPr/>
          <p:nvPr/>
        </p:nvGrpSpPr>
        <p:grpSpPr>
          <a:xfrm>
            <a:off x="13894308" y="6844284"/>
            <a:ext cx="3552444" cy="932688"/>
            <a:chOff x="0" y="0"/>
            <a:chExt cx="4736592" cy="1243584"/>
          </a:xfrm>
        </p:grpSpPr>
        <p:sp>
          <p:nvSpPr>
            <p:cNvPr id="102" name="Freeform 102"/>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103" name="TextBox 103"/>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Save-rate economics below LTV threshold</a:t>
              </a:r>
            </a:p>
          </p:txBody>
        </p:sp>
      </p:grpSp>
      <p:grpSp>
        <p:nvGrpSpPr>
          <p:cNvPr id="104" name="Group 104"/>
          <p:cNvGrpSpPr/>
          <p:nvPr/>
        </p:nvGrpSpPr>
        <p:grpSpPr>
          <a:xfrm>
            <a:off x="864108" y="7776972"/>
            <a:ext cx="397764" cy="932688"/>
            <a:chOff x="0" y="0"/>
            <a:chExt cx="530352" cy="1243584"/>
          </a:xfrm>
        </p:grpSpPr>
        <p:sp>
          <p:nvSpPr>
            <p:cNvPr id="105" name="Freeform 105"/>
            <p:cNvSpPr/>
            <p:nvPr/>
          </p:nvSpPr>
          <p:spPr>
            <a:xfrm>
              <a:off x="0" y="0"/>
              <a:ext cx="530352" cy="1243584"/>
            </a:xfrm>
            <a:custGeom>
              <a:avLst/>
              <a:gdLst/>
              <a:ahLst/>
              <a:cxnLst/>
              <a:rect l="l" t="t" r="r" b="b"/>
              <a:pathLst>
                <a:path w="530352" h="1243584">
                  <a:moveTo>
                    <a:pt x="0" y="0"/>
                  </a:moveTo>
                  <a:lnTo>
                    <a:pt x="530352" y="0"/>
                  </a:lnTo>
                  <a:lnTo>
                    <a:pt x="530352" y="1243584"/>
                  </a:lnTo>
                  <a:lnTo>
                    <a:pt x="0" y="1243584"/>
                  </a:lnTo>
                  <a:close/>
                </a:path>
              </a:pathLst>
            </a:custGeom>
            <a:blipFill>
              <a:blip r:embed="rId3">
                <a:alphaModFix amt="0"/>
              </a:blip>
              <a:stretch>
                <a:fillRect l="-250849" r="-250849"/>
              </a:stretch>
            </a:blipFill>
          </p:spPr>
          <p:txBody>
            <a:bodyPr/>
            <a:lstStyle/>
            <a:p>
              <a:endParaRPr lang="en-US"/>
            </a:p>
          </p:txBody>
        </p:sp>
        <p:sp>
          <p:nvSpPr>
            <p:cNvPr id="106" name="TextBox 106"/>
            <p:cNvSpPr txBox="1"/>
            <p:nvPr/>
          </p:nvSpPr>
          <p:spPr>
            <a:xfrm>
              <a:off x="0" y="-38100"/>
              <a:ext cx="530352" cy="1281684"/>
            </a:xfrm>
            <a:prstGeom prst="rect">
              <a:avLst/>
            </a:prstGeom>
          </p:spPr>
          <p:txBody>
            <a:bodyPr lIns="0" tIns="0" rIns="0" bIns="0" rtlCol="0" anchor="ctr"/>
            <a:lstStyle/>
            <a:p>
              <a:pPr algn="l">
                <a:lnSpc>
                  <a:spcPts val="2160"/>
                </a:lnSpc>
              </a:pPr>
              <a:r>
                <a:rPr lang="en-US" sz="1800" b="1">
                  <a:solidFill>
                    <a:srgbClr val="0099D8"/>
                  </a:solidFill>
                  <a:latin typeface="Calibri"/>
                  <a:ea typeface="Calibri (MS) Bold"/>
                  <a:cs typeface="Calibri"/>
                  <a:sym typeface="Calibri (MS) Bold"/>
                </a:rPr>
                <a:t>6</a:t>
              </a:r>
            </a:p>
          </p:txBody>
        </p:sp>
      </p:grpSp>
      <p:grpSp>
        <p:nvGrpSpPr>
          <p:cNvPr id="107" name="Group 107"/>
          <p:cNvGrpSpPr/>
          <p:nvPr/>
        </p:nvGrpSpPr>
        <p:grpSpPr>
          <a:xfrm>
            <a:off x="1481328" y="7776972"/>
            <a:ext cx="3483864" cy="932688"/>
            <a:chOff x="0" y="0"/>
            <a:chExt cx="4645152" cy="1243584"/>
          </a:xfrm>
        </p:grpSpPr>
        <p:sp>
          <p:nvSpPr>
            <p:cNvPr id="108" name="Freeform 108"/>
            <p:cNvSpPr/>
            <p:nvPr/>
          </p:nvSpPr>
          <p:spPr>
            <a:xfrm>
              <a:off x="0" y="0"/>
              <a:ext cx="4645152" cy="1243584"/>
            </a:xfrm>
            <a:custGeom>
              <a:avLst/>
              <a:gdLst/>
              <a:ahLst/>
              <a:cxnLst/>
              <a:rect l="l" t="t" r="r" b="b"/>
              <a:pathLst>
                <a:path w="4645152" h="1243584">
                  <a:moveTo>
                    <a:pt x="0" y="0"/>
                  </a:moveTo>
                  <a:lnTo>
                    <a:pt x="4645152" y="0"/>
                  </a:lnTo>
                  <a:lnTo>
                    <a:pt x="4645152" y="1243584"/>
                  </a:lnTo>
                  <a:lnTo>
                    <a:pt x="0" y="1243584"/>
                  </a:lnTo>
                  <a:close/>
                </a:path>
              </a:pathLst>
            </a:custGeom>
            <a:blipFill>
              <a:blip r:embed="rId3">
                <a:alphaModFix amt="0"/>
              </a:blip>
              <a:stretch>
                <a:fillRect t="-22782" b="-22782"/>
              </a:stretch>
            </a:blipFill>
          </p:spPr>
          <p:txBody>
            <a:bodyPr/>
            <a:lstStyle/>
            <a:p>
              <a:endParaRPr lang="en-US"/>
            </a:p>
          </p:txBody>
        </p:sp>
        <p:sp>
          <p:nvSpPr>
            <p:cNvPr id="109" name="TextBox 109"/>
            <p:cNvSpPr txBox="1"/>
            <p:nvPr/>
          </p:nvSpPr>
          <p:spPr>
            <a:xfrm>
              <a:off x="0" y="-38100"/>
              <a:ext cx="4645152" cy="1281684"/>
            </a:xfrm>
            <a:prstGeom prst="rect">
              <a:avLst/>
            </a:prstGeom>
          </p:spPr>
          <p:txBody>
            <a:bodyPr lIns="0" tIns="0" rIns="0" bIns="0" rtlCol="0" anchor="ctr"/>
            <a:lstStyle/>
            <a:p>
              <a:pPr algn="l">
                <a:lnSpc>
                  <a:spcPts val="1709"/>
                </a:lnSpc>
              </a:pPr>
              <a:r>
                <a:rPr lang="en-US" sz="1425">
                  <a:solidFill>
                    <a:srgbClr val="171A1F"/>
                  </a:solidFill>
                  <a:latin typeface="Calibri"/>
                  <a:ea typeface="Calibri (MS)"/>
                  <a:cs typeface="Calibri"/>
                  <a:sym typeface="Calibri (MS)"/>
                </a:rPr>
                <a:t>No cohort &gt;25–30%, diffuse losses</a:t>
              </a:r>
            </a:p>
          </p:txBody>
        </p:sp>
      </p:grpSp>
      <p:grpSp>
        <p:nvGrpSpPr>
          <p:cNvPr id="110" name="Group 110"/>
          <p:cNvGrpSpPr/>
          <p:nvPr/>
        </p:nvGrpSpPr>
        <p:grpSpPr>
          <a:xfrm>
            <a:off x="5184648" y="7776972"/>
            <a:ext cx="4718304" cy="932688"/>
            <a:chOff x="0" y="0"/>
            <a:chExt cx="6291072" cy="1243584"/>
          </a:xfrm>
        </p:grpSpPr>
        <p:sp>
          <p:nvSpPr>
            <p:cNvPr id="111" name="Freeform 111"/>
            <p:cNvSpPr/>
            <p:nvPr/>
          </p:nvSpPr>
          <p:spPr>
            <a:xfrm>
              <a:off x="0" y="0"/>
              <a:ext cx="6291072" cy="1243584"/>
            </a:xfrm>
            <a:custGeom>
              <a:avLst/>
              <a:gdLst/>
              <a:ahLst/>
              <a:cxnLst/>
              <a:rect l="l" t="t" r="r" b="b"/>
              <a:pathLst>
                <a:path w="6291072" h="1243584">
                  <a:moveTo>
                    <a:pt x="0" y="0"/>
                  </a:moveTo>
                  <a:lnTo>
                    <a:pt x="6291072" y="0"/>
                  </a:lnTo>
                  <a:lnTo>
                    <a:pt x="6291072" y="1243584"/>
                  </a:lnTo>
                  <a:lnTo>
                    <a:pt x="0" y="1243584"/>
                  </a:lnTo>
                  <a:close/>
                </a:path>
              </a:pathLst>
            </a:custGeom>
            <a:blipFill>
              <a:blip r:embed="rId3">
                <a:alphaModFix amt="0"/>
              </a:blip>
              <a:stretch>
                <a:fillRect t="-48571" b="-48571"/>
              </a:stretch>
            </a:blipFill>
          </p:spPr>
          <p:txBody>
            <a:bodyPr/>
            <a:lstStyle/>
            <a:p>
              <a:endParaRPr lang="en-US"/>
            </a:p>
          </p:txBody>
        </p:sp>
        <p:sp>
          <p:nvSpPr>
            <p:cNvPr id="112" name="TextBox 112"/>
            <p:cNvSpPr txBox="1"/>
            <p:nvPr/>
          </p:nvSpPr>
          <p:spPr>
            <a:xfrm>
              <a:off x="0" y="-38100"/>
              <a:ext cx="6291072" cy="1281684"/>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Default to Rec 2 plus spend-capped experiments from 1–3</a:t>
              </a:r>
            </a:p>
          </p:txBody>
        </p:sp>
      </p:grpSp>
      <p:grpSp>
        <p:nvGrpSpPr>
          <p:cNvPr id="113" name="Group 113"/>
          <p:cNvGrpSpPr/>
          <p:nvPr/>
        </p:nvGrpSpPr>
        <p:grpSpPr>
          <a:xfrm>
            <a:off x="10122408" y="7776972"/>
            <a:ext cx="3552444" cy="932688"/>
            <a:chOff x="0" y="0"/>
            <a:chExt cx="4736592" cy="1243584"/>
          </a:xfrm>
        </p:grpSpPr>
        <p:sp>
          <p:nvSpPr>
            <p:cNvPr id="114" name="Freeform 114"/>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115" name="TextBox 115"/>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Multiple response to disclosure; experiment read-outs</a:t>
              </a:r>
            </a:p>
          </p:txBody>
        </p:sp>
      </p:grpSp>
      <p:grpSp>
        <p:nvGrpSpPr>
          <p:cNvPr id="116" name="Group 116"/>
          <p:cNvGrpSpPr/>
          <p:nvPr/>
        </p:nvGrpSpPr>
        <p:grpSpPr>
          <a:xfrm>
            <a:off x="13894308" y="7776972"/>
            <a:ext cx="3552444" cy="932688"/>
            <a:chOff x="0" y="0"/>
            <a:chExt cx="4736592" cy="1243584"/>
          </a:xfrm>
        </p:grpSpPr>
        <p:sp>
          <p:nvSpPr>
            <p:cNvPr id="117" name="Freeform 117"/>
            <p:cNvSpPr/>
            <p:nvPr/>
          </p:nvSpPr>
          <p:spPr>
            <a:xfrm>
              <a:off x="0" y="0"/>
              <a:ext cx="4736592" cy="1243584"/>
            </a:xfrm>
            <a:custGeom>
              <a:avLst/>
              <a:gdLst/>
              <a:ahLst/>
              <a:cxnLst/>
              <a:rect l="l" t="t" r="r" b="b"/>
              <a:pathLst>
                <a:path w="4736592" h="1243584">
                  <a:moveTo>
                    <a:pt x="0" y="0"/>
                  </a:moveTo>
                  <a:lnTo>
                    <a:pt x="4736592" y="0"/>
                  </a:lnTo>
                  <a:lnTo>
                    <a:pt x="4736592" y="1243584"/>
                  </a:lnTo>
                  <a:lnTo>
                    <a:pt x="0" y="1243584"/>
                  </a:lnTo>
                  <a:close/>
                </a:path>
              </a:pathLst>
            </a:custGeom>
            <a:blipFill>
              <a:blip r:embed="rId3">
                <a:alphaModFix amt="0"/>
              </a:blip>
              <a:stretch>
                <a:fillRect t="-24215" b="-24215"/>
              </a:stretch>
            </a:blipFill>
          </p:spPr>
          <p:txBody>
            <a:bodyPr/>
            <a:lstStyle/>
            <a:p>
              <a:endParaRPr lang="en-US"/>
            </a:p>
          </p:txBody>
        </p:sp>
        <p:sp>
          <p:nvSpPr>
            <p:cNvPr id="118" name="TextBox 118"/>
            <p:cNvSpPr txBox="1"/>
            <p:nvPr/>
          </p:nvSpPr>
          <p:spPr>
            <a:xfrm>
              <a:off x="0" y="-38100"/>
              <a:ext cx="4736592" cy="1281684"/>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A later read crosses a threshold → that scenario fires</a:t>
              </a:r>
            </a:p>
          </p:txBody>
        </p:sp>
      </p:grpSp>
      <p:grpSp>
        <p:nvGrpSpPr>
          <p:cNvPr id="119" name="Group 119"/>
          <p:cNvGrpSpPr/>
          <p:nvPr/>
        </p:nvGrpSpPr>
        <p:grpSpPr>
          <a:xfrm>
            <a:off x="754380" y="8778240"/>
            <a:ext cx="16802100" cy="411480"/>
            <a:chOff x="0" y="0"/>
            <a:chExt cx="22402800" cy="548640"/>
          </a:xfrm>
        </p:grpSpPr>
        <p:sp>
          <p:nvSpPr>
            <p:cNvPr id="120" name="Freeform 120"/>
            <p:cNvSpPr/>
            <p:nvPr/>
          </p:nvSpPr>
          <p:spPr>
            <a:xfrm>
              <a:off x="0" y="0"/>
              <a:ext cx="22402800" cy="548640"/>
            </a:xfrm>
            <a:custGeom>
              <a:avLst/>
              <a:gdLst/>
              <a:ahLst/>
              <a:cxnLst/>
              <a:rect l="l" t="t" r="r" b="b"/>
              <a:pathLst>
                <a:path w="22402800" h="548640">
                  <a:moveTo>
                    <a:pt x="0" y="0"/>
                  </a:moveTo>
                  <a:lnTo>
                    <a:pt x="22402800" y="0"/>
                  </a:lnTo>
                  <a:lnTo>
                    <a:pt x="22402800" y="548640"/>
                  </a:lnTo>
                  <a:lnTo>
                    <a:pt x="0" y="548640"/>
                  </a:lnTo>
                  <a:close/>
                </a:path>
              </a:pathLst>
            </a:custGeom>
            <a:blipFill>
              <a:blip r:embed="rId3">
                <a:alphaModFix amt="0"/>
              </a:blip>
              <a:stretch>
                <a:fillRect t="-745639" b="-745639"/>
              </a:stretch>
            </a:blipFill>
          </p:spPr>
          <p:txBody>
            <a:bodyPr/>
            <a:lstStyle/>
            <a:p>
              <a:endParaRPr lang="en-US"/>
            </a:p>
          </p:txBody>
        </p:sp>
        <p:sp>
          <p:nvSpPr>
            <p:cNvPr id="121" name="TextBox 121"/>
            <p:cNvSpPr txBox="1"/>
            <p:nvPr/>
          </p:nvSpPr>
          <p:spPr>
            <a:xfrm>
              <a:off x="0" y="-38100"/>
              <a:ext cx="22402800" cy="586740"/>
            </a:xfrm>
            <a:prstGeom prst="rect">
              <a:avLst/>
            </a:prstGeom>
          </p:spPr>
          <p:txBody>
            <a:bodyPr lIns="0" tIns="0" rIns="0" bIns="0" rtlCol="0" anchor="ctr"/>
            <a:lstStyle/>
            <a:p>
              <a:pPr algn="l">
                <a:lnSpc>
                  <a:spcPts val="1800"/>
                </a:lnSpc>
              </a:pPr>
              <a:r>
                <a:rPr lang="en-US" sz="1500" i="1">
                  <a:solidFill>
                    <a:srgbClr val="66717D"/>
                  </a:solidFill>
                  <a:latin typeface="Calibri"/>
                  <a:ea typeface="Calibri (MS) Italics"/>
                  <a:cs typeface="Calibri"/>
                  <a:sym typeface="Calibri (MS) Italics"/>
                </a:rPr>
                <a:t>Every scenario is gated on unit economics: no play is funded through ARPU compression. Full-scale commitment requires two consecutive quarters above threshold; experiments can start on one.</a:t>
              </a:r>
            </a:p>
          </p:txBody>
        </p:sp>
      </p:grpSp>
      <p:grpSp>
        <p:nvGrpSpPr>
          <p:cNvPr id="122" name="Group 122"/>
          <p:cNvGrpSpPr/>
          <p:nvPr/>
        </p:nvGrpSpPr>
        <p:grpSpPr>
          <a:xfrm>
            <a:off x="754380" y="9189720"/>
            <a:ext cx="16733520" cy="411480"/>
            <a:chOff x="0" y="0"/>
            <a:chExt cx="22311360" cy="548640"/>
          </a:xfrm>
        </p:grpSpPr>
        <p:sp>
          <p:nvSpPr>
            <p:cNvPr id="123" name="Freeform 123"/>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24" name="TextBox 124"/>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25" name="Group 125"/>
          <p:cNvGrpSpPr/>
          <p:nvPr/>
        </p:nvGrpSpPr>
        <p:grpSpPr>
          <a:xfrm>
            <a:off x="17076420" y="9669780"/>
            <a:ext cx="960120" cy="411480"/>
            <a:chOff x="0" y="0"/>
            <a:chExt cx="1280160" cy="548640"/>
          </a:xfrm>
        </p:grpSpPr>
        <p:sp>
          <p:nvSpPr>
            <p:cNvPr id="126" name="Freeform 126"/>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27" name="TextBox 127"/>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27</a:t>
              </a:r>
            </a:p>
          </p:txBody>
        </p:sp>
      </p:grpSp>
      <p:grpSp>
        <p:nvGrpSpPr>
          <p:cNvPr id="128" name="Group 128"/>
          <p:cNvGrpSpPr/>
          <p:nvPr/>
        </p:nvGrpSpPr>
        <p:grpSpPr>
          <a:xfrm>
            <a:off x="754380" y="9669780"/>
            <a:ext cx="16047720" cy="411480"/>
            <a:chOff x="0" y="0"/>
            <a:chExt cx="21396960" cy="548640"/>
          </a:xfrm>
        </p:grpSpPr>
        <p:sp>
          <p:nvSpPr>
            <p:cNvPr id="129" name="Freeform 129"/>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30" name="TextBox 130"/>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A17  ·  RECOMMENDATION 2, THE THREE MOVES</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Three Moves Change What the Market Prices</a:t>
            </a:r>
          </a:p>
        </p:txBody>
      </p:sp>
      <p:grpSp>
        <p:nvGrpSpPr>
          <p:cNvPr id="6" name="Group 6"/>
          <p:cNvGrpSpPr/>
          <p:nvPr/>
        </p:nvGrpSpPr>
        <p:grpSpPr>
          <a:xfrm>
            <a:off x="744855" y="2596515"/>
            <a:ext cx="5299710" cy="6328410"/>
            <a:chOff x="0" y="0"/>
            <a:chExt cx="7066280" cy="8437880"/>
          </a:xfrm>
        </p:grpSpPr>
        <p:sp>
          <p:nvSpPr>
            <p:cNvPr id="7" name="Freeform 7"/>
            <p:cNvSpPr/>
            <p:nvPr/>
          </p:nvSpPr>
          <p:spPr>
            <a:xfrm>
              <a:off x="0" y="0"/>
              <a:ext cx="7066280" cy="8437880"/>
            </a:xfrm>
            <a:custGeom>
              <a:avLst/>
              <a:gdLst/>
              <a:ahLst/>
              <a:cxnLst/>
              <a:rect l="l" t="t" r="r" b="b"/>
              <a:pathLst>
                <a:path w="7066280" h="8437880">
                  <a:moveTo>
                    <a:pt x="0" y="146812"/>
                  </a:moveTo>
                  <a:cubicBezTo>
                    <a:pt x="0" y="65786"/>
                    <a:pt x="65786" y="0"/>
                    <a:pt x="146812" y="0"/>
                  </a:cubicBezTo>
                  <a:lnTo>
                    <a:pt x="6919468" y="0"/>
                  </a:lnTo>
                  <a:cubicBezTo>
                    <a:pt x="7000622" y="0"/>
                    <a:pt x="7066280" y="65786"/>
                    <a:pt x="7066280" y="146812"/>
                  </a:cubicBezTo>
                  <a:lnTo>
                    <a:pt x="7066280" y="8291068"/>
                  </a:lnTo>
                  <a:cubicBezTo>
                    <a:pt x="7066280" y="8372222"/>
                    <a:pt x="7000494" y="8437880"/>
                    <a:pt x="6919468" y="8437880"/>
                  </a:cubicBezTo>
                  <a:lnTo>
                    <a:pt x="146812" y="8437880"/>
                  </a:lnTo>
                  <a:cubicBezTo>
                    <a:pt x="65786" y="8437880"/>
                    <a:pt x="0" y="8372094"/>
                    <a:pt x="0" y="829106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097280" y="2839212"/>
            <a:ext cx="685800" cy="685800"/>
            <a:chOff x="0" y="0"/>
            <a:chExt cx="914400" cy="914400"/>
          </a:xfrm>
        </p:grpSpPr>
        <p:sp>
          <p:nvSpPr>
            <p:cNvPr id="9" name="Freeform 9"/>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10" name="Group 10"/>
          <p:cNvGrpSpPr/>
          <p:nvPr/>
        </p:nvGrpSpPr>
        <p:grpSpPr>
          <a:xfrm>
            <a:off x="1097280" y="2839212"/>
            <a:ext cx="685800" cy="685800"/>
            <a:chOff x="0" y="0"/>
            <a:chExt cx="914400" cy="914400"/>
          </a:xfrm>
        </p:grpSpPr>
        <p:sp>
          <p:nvSpPr>
            <p:cNvPr id="11" name="Freeform 11"/>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12" name="TextBox 12"/>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A</a:t>
              </a:r>
            </a:p>
          </p:txBody>
        </p:sp>
      </p:grpSp>
      <p:grpSp>
        <p:nvGrpSpPr>
          <p:cNvPr id="13" name="Group 13"/>
          <p:cNvGrpSpPr/>
          <p:nvPr/>
        </p:nvGrpSpPr>
        <p:grpSpPr>
          <a:xfrm>
            <a:off x="1961388" y="2839212"/>
            <a:ext cx="3771900" cy="685800"/>
            <a:chOff x="0" y="0"/>
            <a:chExt cx="5029200" cy="914400"/>
          </a:xfrm>
        </p:grpSpPr>
        <p:sp>
          <p:nvSpPr>
            <p:cNvPr id="14" name="Freeform 14"/>
            <p:cNvSpPr/>
            <p:nvPr/>
          </p:nvSpPr>
          <p:spPr>
            <a:xfrm>
              <a:off x="0" y="0"/>
              <a:ext cx="5029200" cy="914400"/>
            </a:xfrm>
            <a:custGeom>
              <a:avLst/>
              <a:gdLst/>
              <a:ahLst/>
              <a:cxnLst/>
              <a:rect l="l" t="t" r="r" b="b"/>
              <a:pathLst>
                <a:path w="5029200" h="914400">
                  <a:moveTo>
                    <a:pt x="0" y="0"/>
                  </a:moveTo>
                  <a:lnTo>
                    <a:pt x="5029200" y="0"/>
                  </a:lnTo>
                  <a:lnTo>
                    <a:pt x="5029200" y="914400"/>
                  </a:lnTo>
                  <a:lnTo>
                    <a:pt x="0" y="914400"/>
                  </a:lnTo>
                  <a:close/>
                </a:path>
              </a:pathLst>
            </a:custGeom>
            <a:blipFill>
              <a:blip r:embed="rId3">
                <a:alphaModFix amt="0"/>
              </a:blip>
              <a:stretch>
                <a:fillRect t="-57167" b="-57167"/>
              </a:stretch>
            </a:blipFill>
          </p:spPr>
          <p:txBody>
            <a:bodyPr/>
            <a:lstStyle/>
            <a:p>
              <a:endParaRPr lang="en-US"/>
            </a:p>
          </p:txBody>
        </p:sp>
        <p:sp>
          <p:nvSpPr>
            <p:cNvPr id="15" name="TextBox 15"/>
            <p:cNvSpPr txBox="1"/>
            <p:nvPr/>
          </p:nvSpPr>
          <p:spPr>
            <a:xfrm>
              <a:off x="0" y="-47625"/>
              <a:ext cx="5029200" cy="96202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Publish the triggers</a:t>
              </a:r>
            </a:p>
          </p:txBody>
        </p:sp>
      </p:grpSp>
      <p:sp>
        <p:nvSpPr>
          <p:cNvPr id="16" name="TextBox 16"/>
          <p:cNvSpPr txBox="1"/>
          <p:nvPr/>
        </p:nvSpPr>
        <p:spPr>
          <a:xfrm>
            <a:off x="1097280" y="3706368"/>
            <a:ext cx="4594860" cy="1126109"/>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At a Q4 2027 investor day, disclose the playbook’s thresholds and pre-committed responses once the first read has validated the map. The tape prices surprise; a published contingent plan means every future print arrives pre-mapped to a known response.</a:t>
            </a:r>
          </a:p>
        </p:txBody>
      </p:sp>
      <p:sp>
        <p:nvSpPr>
          <p:cNvPr id="17" name="TextBox 17"/>
          <p:cNvSpPr txBox="1"/>
          <p:nvPr/>
        </p:nvSpPr>
        <p:spPr>
          <a:xfrm>
            <a:off x="1097280" y="7162800"/>
            <a:ext cx="4594860" cy="68795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Why: </a:t>
            </a:r>
            <a:r>
              <a:rPr lang="en-US" sz="1449" i="1">
                <a:solidFill>
                  <a:srgbClr val="0099D8"/>
                </a:solidFill>
                <a:latin typeface="Calibri"/>
                <a:ea typeface="Calibri (MS) Italics"/>
                <a:cs typeface="Calibri"/>
                <a:sym typeface="Calibri (MS) Italics"/>
              </a:rPr>
              <a:t>Comcast does not do this. It is Charter-specific and out-of-the-box in the CEO’s sense. Risk: it binds management, which is the point.</a:t>
            </a:r>
          </a:p>
        </p:txBody>
      </p:sp>
      <p:grpSp>
        <p:nvGrpSpPr>
          <p:cNvPr id="18" name="Group 18"/>
          <p:cNvGrpSpPr/>
          <p:nvPr/>
        </p:nvGrpSpPr>
        <p:grpSpPr>
          <a:xfrm>
            <a:off x="6505575" y="2596515"/>
            <a:ext cx="5299710" cy="6328410"/>
            <a:chOff x="0" y="0"/>
            <a:chExt cx="7066280" cy="8437880"/>
          </a:xfrm>
        </p:grpSpPr>
        <p:sp>
          <p:nvSpPr>
            <p:cNvPr id="19" name="Freeform 19"/>
            <p:cNvSpPr/>
            <p:nvPr/>
          </p:nvSpPr>
          <p:spPr>
            <a:xfrm>
              <a:off x="0" y="0"/>
              <a:ext cx="7066280" cy="8437880"/>
            </a:xfrm>
            <a:custGeom>
              <a:avLst/>
              <a:gdLst/>
              <a:ahLst/>
              <a:cxnLst/>
              <a:rect l="l" t="t" r="r" b="b"/>
              <a:pathLst>
                <a:path w="7066280" h="8437880">
                  <a:moveTo>
                    <a:pt x="0" y="146812"/>
                  </a:moveTo>
                  <a:cubicBezTo>
                    <a:pt x="0" y="65786"/>
                    <a:pt x="65786" y="0"/>
                    <a:pt x="146812" y="0"/>
                  </a:cubicBezTo>
                  <a:lnTo>
                    <a:pt x="6919468" y="0"/>
                  </a:lnTo>
                  <a:cubicBezTo>
                    <a:pt x="7000622" y="0"/>
                    <a:pt x="7066280" y="65786"/>
                    <a:pt x="7066280" y="146812"/>
                  </a:cubicBezTo>
                  <a:lnTo>
                    <a:pt x="7066280" y="8291068"/>
                  </a:lnTo>
                  <a:cubicBezTo>
                    <a:pt x="7066280" y="8372222"/>
                    <a:pt x="7000494" y="8437880"/>
                    <a:pt x="6919468" y="8437880"/>
                  </a:cubicBezTo>
                  <a:lnTo>
                    <a:pt x="146812" y="8437880"/>
                  </a:lnTo>
                  <a:cubicBezTo>
                    <a:pt x="65786" y="8437880"/>
                    <a:pt x="0" y="8372094"/>
                    <a:pt x="0" y="829106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20" name="Group 20"/>
          <p:cNvGrpSpPr/>
          <p:nvPr/>
        </p:nvGrpSpPr>
        <p:grpSpPr>
          <a:xfrm>
            <a:off x="6858000" y="2839212"/>
            <a:ext cx="685800" cy="685800"/>
            <a:chOff x="0" y="0"/>
            <a:chExt cx="914400" cy="914400"/>
          </a:xfrm>
        </p:grpSpPr>
        <p:sp>
          <p:nvSpPr>
            <p:cNvPr id="21" name="Freeform 21"/>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22" name="Group 22"/>
          <p:cNvGrpSpPr/>
          <p:nvPr/>
        </p:nvGrpSpPr>
        <p:grpSpPr>
          <a:xfrm>
            <a:off x="6858000" y="2839212"/>
            <a:ext cx="685800" cy="685800"/>
            <a:chOff x="0" y="0"/>
            <a:chExt cx="914400" cy="914400"/>
          </a:xfrm>
        </p:grpSpPr>
        <p:sp>
          <p:nvSpPr>
            <p:cNvPr id="23" name="Freeform 23"/>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24" name="TextBox 24"/>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B</a:t>
              </a:r>
            </a:p>
          </p:txBody>
        </p:sp>
      </p:grpSp>
      <p:grpSp>
        <p:nvGrpSpPr>
          <p:cNvPr id="25" name="Group 25"/>
          <p:cNvGrpSpPr/>
          <p:nvPr/>
        </p:nvGrpSpPr>
        <p:grpSpPr>
          <a:xfrm>
            <a:off x="7722108" y="2839212"/>
            <a:ext cx="3771900" cy="685800"/>
            <a:chOff x="0" y="0"/>
            <a:chExt cx="5029200" cy="914400"/>
          </a:xfrm>
        </p:grpSpPr>
        <p:sp>
          <p:nvSpPr>
            <p:cNvPr id="26" name="Freeform 26"/>
            <p:cNvSpPr/>
            <p:nvPr/>
          </p:nvSpPr>
          <p:spPr>
            <a:xfrm>
              <a:off x="0" y="0"/>
              <a:ext cx="5029200" cy="914400"/>
            </a:xfrm>
            <a:custGeom>
              <a:avLst/>
              <a:gdLst/>
              <a:ahLst/>
              <a:cxnLst/>
              <a:rect l="l" t="t" r="r" b="b"/>
              <a:pathLst>
                <a:path w="5029200" h="914400">
                  <a:moveTo>
                    <a:pt x="0" y="0"/>
                  </a:moveTo>
                  <a:lnTo>
                    <a:pt x="5029200" y="0"/>
                  </a:lnTo>
                  <a:lnTo>
                    <a:pt x="5029200" y="914400"/>
                  </a:lnTo>
                  <a:lnTo>
                    <a:pt x="0" y="914400"/>
                  </a:lnTo>
                  <a:close/>
                </a:path>
              </a:pathLst>
            </a:custGeom>
            <a:blipFill>
              <a:blip r:embed="rId3">
                <a:alphaModFix amt="0"/>
              </a:blip>
              <a:stretch>
                <a:fillRect t="-57167" b="-57167"/>
              </a:stretch>
            </a:blipFill>
          </p:spPr>
          <p:txBody>
            <a:bodyPr/>
            <a:lstStyle/>
            <a:p>
              <a:endParaRPr lang="en-US"/>
            </a:p>
          </p:txBody>
        </p:sp>
        <p:sp>
          <p:nvSpPr>
            <p:cNvPr id="27" name="TextBox 27"/>
            <p:cNvSpPr txBox="1"/>
            <p:nvPr/>
          </p:nvSpPr>
          <p:spPr>
            <a:xfrm>
              <a:off x="0" y="-47625"/>
              <a:ext cx="5029200" cy="96202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Re-segment the disclosure</a:t>
              </a:r>
            </a:p>
          </p:txBody>
        </p:sp>
      </p:grpSp>
      <p:sp>
        <p:nvSpPr>
          <p:cNvPr id="28" name="TextBox 28"/>
          <p:cNvSpPr txBox="1"/>
          <p:nvPr/>
        </p:nvSpPr>
        <p:spPr>
          <a:xfrm>
            <a:off x="6858000" y="3706368"/>
            <a:ext cx="4594860" cy="134518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Report the subsidized rural build (growing, $8B+ program, “infrastructure-style returns”) separately from the mature core footprint from Q1 2027 results. Publish churn by exposure class once the sensor validates it. Guide steady-state post-2027 capex explicitly so the step-down from ~$11.4B is a number, not a hope.</a:t>
            </a:r>
          </a:p>
        </p:txBody>
      </p:sp>
      <p:sp>
        <p:nvSpPr>
          <p:cNvPr id="29" name="TextBox 29"/>
          <p:cNvSpPr txBox="1"/>
          <p:nvPr/>
        </p:nvSpPr>
        <p:spPr>
          <a:xfrm>
            <a:off x="6858000" y="7162800"/>
            <a:ext cx="4594860" cy="907034"/>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Why: </a:t>
            </a:r>
            <a:r>
              <a:rPr lang="en-US" sz="1449" i="1">
                <a:solidFill>
                  <a:srgbClr val="0099D8"/>
                </a:solidFill>
                <a:latin typeface="Calibri"/>
                <a:ea typeface="Calibri (MS) Italics"/>
                <a:cs typeface="Calibri"/>
                <a:sym typeface="Calibri (MS) Italics"/>
              </a:rPr>
              <a:t>Forces the market to price two businesses instead of one melting one. Risk: if non-overlap losses show up, the bears get a better model, own it; the worst case is already priced.</a:t>
            </a:r>
          </a:p>
        </p:txBody>
      </p:sp>
      <p:grpSp>
        <p:nvGrpSpPr>
          <p:cNvPr id="30" name="Group 30"/>
          <p:cNvGrpSpPr/>
          <p:nvPr/>
        </p:nvGrpSpPr>
        <p:grpSpPr>
          <a:xfrm>
            <a:off x="12266295" y="2596515"/>
            <a:ext cx="5299710" cy="6328410"/>
            <a:chOff x="0" y="0"/>
            <a:chExt cx="7066280" cy="8437880"/>
          </a:xfrm>
        </p:grpSpPr>
        <p:sp>
          <p:nvSpPr>
            <p:cNvPr id="31" name="Freeform 31"/>
            <p:cNvSpPr/>
            <p:nvPr/>
          </p:nvSpPr>
          <p:spPr>
            <a:xfrm>
              <a:off x="0" y="0"/>
              <a:ext cx="7066280" cy="8437880"/>
            </a:xfrm>
            <a:custGeom>
              <a:avLst/>
              <a:gdLst/>
              <a:ahLst/>
              <a:cxnLst/>
              <a:rect l="l" t="t" r="r" b="b"/>
              <a:pathLst>
                <a:path w="7066280" h="8437880">
                  <a:moveTo>
                    <a:pt x="0" y="146812"/>
                  </a:moveTo>
                  <a:cubicBezTo>
                    <a:pt x="0" y="65786"/>
                    <a:pt x="65786" y="0"/>
                    <a:pt x="146812" y="0"/>
                  </a:cubicBezTo>
                  <a:lnTo>
                    <a:pt x="6919468" y="0"/>
                  </a:lnTo>
                  <a:cubicBezTo>
                    <a:pt x="7000622" y="0"/>
                    <a:pt x="7066280" y="65786"/>
                    <a:pt x="7066280" y="146812"/>
                  </a:cubicBezTo>
                  <a:lnTo>
                    <a:pt x="7066280" y="8291068"/>
                  </a:lnTo>
                  <a:cubicBezTo>
                    <a:pt x="7066280" y="8372222"/>
                    <a:pt x="7000494" y="8437880"/>
                    <a:pt x="6919468" y="8437880"/>
                  </a:cubicBezTo>
                  <a:lnTo>
                    <a:pt x="146812" y="8437880"/>
                  </a:lnTo>
                  <a:cubicBezTo>
                    <a:pt x="65786" y="8437880"/>
                    <a:pt x="0" y="8372094"/>
                    <a:pt x="0" y="829106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32" name="Group 32"/>
          <p:cNvGrpSpPr/>
          <p:nvPr/>
        </p:nvGrpSpPr>
        <p:grpSpPr>
          <a:xfrm>
            <a:off x="12618720" y="2839212"/>
            <a:ext cx="685800" cy="685800"/>
            <a:chOff x="0" y="0"/>
            <a:chExt cx="914400" cy="914400"/>
          </a:xfrm>
        </p:grpSpPr>
        <p:sp>
          <p:nvSpPr>
            <p:cNvPr id="33" name="Freeform 33"/>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99D8"/>
            </a:solidFill>
          </p:spPr>
          <p:txBody>
            <a:bodyPr/>
            <a:lstStyle/>
            <a:p>
              <a:endParaRPr lang="en-US"/>
            </a:p>
          </p:txBody>
        </p:sp>
      </p:grpSp>
      <p:grpSp>
        <p:nvGrpSpPr>
          <p:cNvPr id="34" name="Group 34"/>
          <p:cNvGrpSpPr/>
          <p:nvPr/>
        </p:nvGrpSpPr>
        <p:grpSpPr>
          <a:xfrm>
            <a:off x="12618720" y="2839212"/>
            <a:ext cx="685800" cy="685800"/>
            <a:chOff x="0" y="0"/>
            <a:chExt cx="914400" cy="914400"/>
          </a:xfrm>
        </p:grpSpPr>
        <p:sp>
          <p:nvSpPr>
            <p:cNvPr id="35" name="Freeform 35"/>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3">
                <a:alphaModFix amt="0"/>
              </a:blip>
              <a:stretch>
                <a:fillRect l="-78303" r="-78303"/>
              </a:stretch>
            </a:blipFill>
          </p:spPr>
          <p:txBody>
            <a:bodyPr/>
            <a:lstStyle/>
            <a:p>
              <a:endParaRPr lang="en-US"/>
            </a:p>
          </p:txBody>
        </p:sp>
        <p:sp>
          <p:nvSpPr>
            <p:cNvPr id="36" name="TextBox 36"/>
            <p:cNvSpPr txBox="1"/>
            <p:nvPr/>
          </p:nvSpPr>
          <p:spPr>
            <a:xfrm>
              <a:off x="0" y="-38100"/>
              <a:ext cx="914400" cy="952500"/>
            </a:xfrm>
            <a:prstGeom prst="rect">
              <a:avLst/>
            </a:prstGeom>
          </p:spPr>
          <p:txBody>
            <a:bodyPr lIns="0" tIns="0" rIns="0" bIns="0" rtlCol="0" anchor="ctr"/>
            <a:lstStyle/>
            <a:p>
              <a:pPr algn="ctr">
                <a:lnSpc>
                  <a:spcPts val="2879"/>
                </a:lnSpc>
              </a:pPr>
              <a:r>
                <a:rPr lang="en-US" sz="2400" b="1">
                  <a:solidFill>
                    <a:srgbClr val="FCFBF7"/>
                  </a:solidFill>
                  <a:latin typeface="Calibri"/>
                  <a:ea typeface="Calibri (MS) Bold"/>
                  <a:cs typeface="Calibri"/>
                  <a:sym typeface="Calibri (MS) Bold"/>
                </a:rPr>
                <a:t>C</a:t>
              </a:r>
            </a:p>
          </p:txBody>
        </p:sp>
      </p:grpSp>
      <p:grpSp>
        <p:nvGrpSpPr>
          <p:cNvPr id="37" name="Group 37"/>
          <p:cNvGrpSpPr/>
          <p:nvPr/>
        </p:nvGrpSpPr>
        <p:grpSpPr>
          <a:xfrm>
            <a:off x="13482828" y="2839212"/>
            <a:ext cx="3771900" cy="685800"/>
            <a:chOff x="0" y="0"/>
            <a:chExt cx="5029200" cy="914400"/>
          </a:xfrm>
        </p:grpSpPr>
        <p:sp>
          <p:nvSpPr>
            <p:cNvPr id="38" name="Freeform 38"/>
            <p:cNvSpPr/>
            <p:nvPr/>
          </p:nvSpPr>
          <p:spPr>
            <a:xfrm>
              <a:off x="0" y="0"/>
              <a:ext cx="5029200" cy="914400"/>
            </a:xfrm>
            <a:custGeom>
              <a:avLst/>
              <a:gdLst/>
              <a:ahLst/>
              <a:cxnLst/>
              <a:rect l="l" t="t" r="r" b="b"/>
              <a:pathLst>
                <a:path w="5029200" h="914400">
                  <a:moveTo>
                    <a:pt x="0" y="0"/>
                  </a:moveTo>
                  <a:lnTo>
                    <a:pt x="5029200" y="0"/>
                  </a:lnTo>
                  <a:lnTo>
                    <a:pt x="5029200" y="914400"/>
                  </a:lnTo>
                  <a:lnTo>
                    <a:pt x="0" y="914400"/>
                  </a:lnTo>
                  <a:close/>
                </a:path>
              </a:pathLst>
            </a:custGeom>
            <a:blipFill>
              <a:blip r:embed="rId3">
                <a:alphaModFix amt="0"/>
              </a:blip>
              <a:stretch>
                <a:fillRect t="-57167" b="-57167"/>
              </a:stretch>
            </a:blipFill>
          </p:spPr>
          <p:txBody>
            <a:bodyPr/>
            <a:lstStyle/>
            <a:p>
              <a:endParaRPr lang="en-US"/>
            </a:p>
          </p:txBody>
        </p:sp>
        <p:sp>
          <p:nvSpPr>
            <p:cNvPr id="39" name="TextBox 39"/>
            <p:cNvSpPr txBox="1"/>
            <p:nvPr/>
          </p:nvSpPr>
          <p:spPr>
            <a:xfrm>
              <a:off x="0" y="-47625"/>
              <a:ext cx="5029200" cy="96202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Change the capital regime</a:t>
              </a:r>
            </a:p>
          </p:txBody>
        </p:sp>
      </p:grpSp>
      <p:sp>
        <p:nvSpPr>
          <p:cNvPr id="40" name="TextBox 40"/>
          <p:cNvSpPr txBox="1"/>
          <p:nvPr/>
        </p:nvSpPr>
        <p:spPr>
          <a:xfrm>
            <a:off x="12618720" y="3706368"/>
            <a:ext cx="4594860" cy="1126109"/>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Redirect discretionary buybacks ($4–5B/yr) to deleveraging below 4.0x from Q1 2027 until Internet net adds improve YoY for two consecutive quarters (the reinstatement trigger). Each $5B retired saves ~$250–300M/yr of interest [5–6% blended coupon assumption], visible in FCF.</a:t>
            </a:r>
          </a:p>
        </p:txBody>
      </p:sp>
      <p:sp>
        <p:nvSpPr>
          <p:cNvPr id="41" name="TextBox 41"/>
          <p:cNvSpPr txBox="1"/>
          <p:nvPr/>
        </p:nvSpPr>
        <p:spPr>
          <a:xfrm>
            <a:off x="12618720" y="7162800"/>
            <a:ext cx="4594860" cy="907034"/>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Why: </a:t>
            </a:r>
            <a:r>
              <a:rPr lang="en-US" sz="1449" i="1">
                <a:solidFill>
                  <a:srgbClr val="0099D8"/>
                </a:solidFill>
                <a:latin typeface="Calibri"/>
                <a:ea typeface="Calibri (MS) Italics"/>
                <a:cs typeface="Calibri"/>
                <a:sym typeface="Calibri (MS) Italics"/>
              </a:rPr>
              <a:t>The buyback signal is demonstrably spent. Deleveraging is the act that says management believes the fundamentals, and it shrinks the equity stub’s downside. Base rate: peers run far below 4x.</a:t>
            </a:r>
          </a:p>
        </p:txBody>
      </p:sp>
      <p:grpSp>
        <p:nvGrpSpPr>
          <p:cNvPr id="42" name="Group 42"/>
          <p:cNvGrpSpPr/>
          <p:nvPr/>
        </p:nvGrpSpPr>
        <p:grpSpPr>
          <a:xfrm>
            <a:off x="754380" y="8805672"/>
            <a:ext cx="16733520" cy="356616"/>
            <a:chOff x="0" y="0"/>
            <a:chExt cx="22311360" cy="475488"/>
          </a:xfrm>
        </p:grpSpPr>
        <p:sp>
          <p:nvSpPr>
            <p:cNvPr id="43" name="Freeform 43"/>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44" name="TextBox 44"/>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(buybacks, rural program, capex guide, interest); Q1 2026 10-Q (4.15x; $1.0B Q1 repurchases; 4.0–4.5x plan). Regime and disclosure design are team recommendations; blue = assumption.</a:t>
              </a:r>
            </a:p>
          </p:txBody>
        </p:sp>
      </p:grpSp>
      <p:grpSp>
        <p:nvGrpSpPr>
          <p:cNvPr id="45" name="Group 45"/>
          <p:cNvGrpSpPr/>
          <p:nvPr/>
        </p:nvGrpSpPr>
        <p:grpSpPr>
          <a:xfrm>
            <a:off x="754380" y="9168289"/>
            <a:ext cx="16733521" cy="432911"/>
            <a:chOff x="0" y="-28575"/>
            <a:chExt cx="22311361" cy="577215"/>
          </a:xfrm>
        </p:grpSpPr>
        <p:sp>
          <p:nvSpPr>
            <p:cNvPr id="46" name="Freeform 4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7" name="TextBox 4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(p.5)</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48" name="Group 48"/>
          <p:cNvGrpSpPr/>
          <p:nvPr/>
        </p:nvGrpSpPr>
        <p:grpSpPr>
          <a:xfrm>
            <a:off x="17076420" y="9669780"/>
            <a:ext cx="960120" cy="411480"/>
            <a:chOff x="0" y="0"/>
            <a:chExt cx="1280160" cy="548640"/>
          </a:xfrm>
        </p:grpSpPr>
        <p:sp>
          <p:nvSpPr>
            <p:cNvPr id="49" name="Freeform 4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50" name="TextBox 5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28</a:t>
              </a:r>
            </a:p>
          </p:txBody>
        </p:sp>
      </p:grpSp>
      <p:grpSp>
        <p:nvGrpSpPr>
          <p:cNvPr id="51" name="Group 51"/>
          <p:cNvGrpSpPr/>
          <p:nvPr/>
        </p:nvGrpSpPr>
        <p:grpSpPr>
          <a:xfrm>
            <a:off x="754380" y="9669780"/>
            <a:ext cx="16047720" cy="411480"/>
            <a:chOff x="0" y="0"/>
            <a:chExt cx="21396960" cy="548640"/>
          </a:xfrm>
        </p:grpSpPr>
        <p:sp>
          <p:nvSpPr>
            <p:cNvPr id="52" name="Freeform 5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3" name="TextBox 5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A18  ·  RECOMMENDATION 3, EHB DETAIL AND ASSUMPTION REGISTER</a:t>
              </a:r>
            </a:p>
          </p:txBody>
        </p:sp>
      </p:grpSp>
      <p:sp>
        <p:nvSpPr>
          <p:cNvPr id="5" name="TextBox 5"/>
          <p:cNvSpPr txBox="1"/>
          <p:nvPr/>
        </p:nvSpPr>
        <p:spPr>
          <a:xfrm>
            <a:off x="754380" y="783717"/>
            <a:ext cx="16733520" cy="561975"/>
          </a:xfrm>
          <a:prstGeom prst="rect">
            <a:avLst/>
          </a:prstGeom>
        </p:spPr>
        <p:txBody>
          <a:bodyPr lIns="0" tIns="0" rIns="0" bIns="0" rtlCol="0" anchor="t">
            <a:spAutoFit/>
          </a:bodyPr>
          <a:lstStyle/>
          <a:p>
            <a:pPr algn="l">
              <a:lnSpc>
                <a:spcPts val="3960"/>
              </a:lnSpc>
            </a:pPr>
            <a:r>
              <a:rPr lang="en-US" sz="3300" b="1">
                <a:solidFill>
                  <a:srgbClr val="003057"/>
                </a:solidFill>
                <a:latin typeface="Calibri"/>
                <a:ea typeface="Calibri (MS) Bold"/>
                <a:cs typeface="Calibri"/>
                <a:sym typeface="Calibri (MS) Bold"/>
              </a:rPr>
              <a:t>EHB Brokerage: Assumptions and Metrics to Fill Before the Freeze</a:t>
            </a:r>
          </a:p>
        </p:txBody>
      </p:sp>
      <p:grpSp>
        <p:nvGrpSpPr>
          <p:cNvPr id="6" name="Group 6"/>
          <p:cNvGrpSpPr/>
          <p:nvPr/>
        </p:nvGrpSpPr>
        <p:grpSpPr>
          <a:xfrm>
            <a:off x="754380" y="1920240"/>
            <a:ext cx="16802100" cy="576072"/>
            <a:chOff x="0" y="0"/>
            <a:chExt cx="22402800" cy="768096"/>
          </a:xfrm>
        </p:grpSpPr>
        <p:sp>
          <p:nvSpPr>
            <p:cNvPr id="7" name="Freeform 7"/>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003057"/>
            </a:solidFill>
          </p:spPr>
          <p:txBody>
            <a:bodyPr/>
            <a:lstStyle/>
            <a:p>
              <a:endParaRPr lang="en-US"/>
            </a:p>
          </p:txBody>
        </p:sp>
      </p:grpSp>
      <p:grpSp>
        <p:nvGrpSpPr>
          <p:cNvPr id="8" name="Group 8"/>
          <p:cNvGrpSpPr/>
          <p:nvPr/>
        </p:nvGrpSpPr>
        <p:grpSpPr>
          <a:xfrm>
            <a:off x="864108" y="1920240"/>
            <a:ext cx="5678424" cy="576072"/>
            <a:chOff x="0" y="0"/>
            <a:chExt cx="7571232" cy="768096"/>
          </a:xfrm>
        </p:grpSpPr>
        <p:sp>
          <p:nvSpPr>
            <p:cNvPr id="9" name="Freeform 9"/>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10" name="TextBox 10"/>
            <p:cNvSpPr txBox="1"/>
            <p:nvPr/>
          </p:nvSpPr>
          <p:spPr>
            <a:xfrm>
              <a:off x="0" y="-19050"/>
              <a:ext cx="7571232" cy="78714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Metric / assumption</a:t>
              </a:r>
            </a:p>
          </p:txBody>
        </p:sp>
      </p:grpSp>
      <p:grpSp>
        <p:nvGrpSpPr>
          <p:cNvPr id="11" name="Group 11"/>
          <p:cNvGrpSpPr/>
          <p:nvPr/>
        </p:nvGrpSpPr>
        <p:grpSpPr>
          <a:xfrm>
            <a:off x="6761988" y="1920240"/>
            <a:ext cx="5541264" cy="576072"/>
            <a:chOff x="0" y="0"/>
            <a:chExt cx="7388352" cy="768096"/>
          </a:xfrm>
        </p:grpSpPr>
        <p:sp>
          <p:nvSpPr>
            <p:cNvPr id="12" name="Freeform 12"/>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13" name="TextBox 13"/>
            <p:cNvSpPr txBox="1"/>
            <p:nvPr/>
          </p:nvSpPr>
          <p:spPr>
            <a:xfrm>
              <a:off x="0" y="-19050"/>
              <a:ext cx="7388352" cy="78714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Source file in repo</a:t>
              </a:r>
            </a:p>
          </p:txBody>
        </p:sp>
      </p:grpSp>
      <p:grpSp>
        <p:nvGrpSpPr>
          <p:cNvPr id="14" name="Group 14"/>
          <p:cNvGrpSpPr/>
          <p:nvPr/>
        </p:nvGrpSpPr>
        <p:grpSpPr>
          <a:xfrm>
            <a:off x="12522708" y="1920240"/>
            <a:ext cx="1563624" cy="576072"/>
            <a:chOff x="0" y="0"/>
            <a:chExt cx="2084832" cy="768096"/>
          </a:xfrm>
        </p:grpSpPr>
        <p:sp>
          <p:nvSpPr>
            <p:cNvPr id="15" name="Freeform 15"/>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16" name="TextBox 16"/>
            <p:cNvSpPr txBox="1"/>
            <p:nvPr/>
          </p:nvSpPr>
          <p:spPr>
            <a:xfrm>
              <a:off x="0" y="-19050"/>
              <a:ext cx="2084832" cy="78714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Value</a:t>
              </a:r>
            </a:p>
          </p:txBody>
        </p:sp>
      </p:grpSp>
      <p:grpSp>
        <p:nvGrpSpPr>
          <p:cNvPr id="17" name="Group 17"/>
          <p:cNvGrpSpPr/>
          <p:nvPr/>
        </p:nvGrpSpPr>
        <p:grpSpPr>
          <a:xfrm>
            <a:off x="14305788" y="1920240"/>
            <a:ext cx="3140964" cy="576072"/>
            <a:chOff x="0" y="0"/>
            <a:chExt cx="4187952" cy="768096"/>
          </a:xfrm>
        </p:grpSpPr>
        <p:sp>
          <p:nvSpPr>
            <p:cNvPr id="18" name="Freeform 18"/>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19" name="TextBox 19"/>
            <p:cNvSpPr txBox="1"/>
            <p:nvPr/>
          </p:nvSpPr>
          <p:spPr>
            <a:xfrm>
              <a:off x="0" y="-19050"/>
              <a:ext cx="4187952" cy="78714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Used on</a:t>
              </a:r>
            </a:p>
          </p:txBody>
        </p:sp>
      </p:grpSp>
      <p:grpSp>
        <p:nvGrpSpPr>
          <p:cNvPr id="20" name="Group 20"/>
          <p:cNvGrpSpPr/>
          <p:nvPr/>
        </p:nvGrpSpPr>
        <p:grpSpPr>
          <a:xfrm>
            <a:off x="754380" y="2496312"/>
            <a:ext cx="16802100" cy="576072"/>
            <a:chOff x="0" y="0"/>
            <a:chExt cx="22402800" cy="768096"/>
          </a:xfrm>
        </p:grpSpPr>
        <p:sp>
          <p:nvSpPr>
            <p:cNvPr id="21" name="Freeform 21"/>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EEF4FB"/>
            </a:solidFill>
          </p:spPr>
          <p:txBody>
            <a:bodyPr/>
            <a:lstStyle/>
            <a:p>
              <a:endParaRPr lang="en-US"/>
            </a:p>
          </p:txBody>
        </p:sp>
      </p:grpSp>
      <p:grpSp>
        <p:nvGrpSpPr>
          <p:cNvPr id="22" name="Group 22"/>
          <p:cNvGrpSpPr/>
          <p:nvPr/>
        </p:nvGrpSpPr>
        <p:grpSpPr>
          <a:xfrm>
            <a:off x="864108" y="2496312"/>
            <a:ext cx="5678424" cy="576072"/>
            <a:chOff x="0" y="0"/>
            <a:chExt cx="7571232" cy="768096"/>
          </a:xfrm>
        </p:grpSpPr>
        <p:sp>
          <p:nvSpPr>
            <p:cNvPr id="23" name="Freeform 23"/>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24" name="TextBox 24"/>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ESI coverage rate, Charter states vs. national</a:t>
              </a:r>
            </a:p>
          </p:txBody>
        </p:sp>
      </p:grpSp>
      <p:grpSp>
        <p:nvGrpSpPr>
          <p:cNvPr id="25" name="Group 25"/>
          <p:cNvGrpSpPr/>
          <p:nvPr/>
        </p:nvGrpSpPr>
        <p:grpSpPr>
          <a:xfrm>
            <a:off x="6761988" y="2496312"/>
            <a:ext cx="5541264" cy="576072"/>
            <a:chOff x="0" y="0"/>
            <a:chExt cx="7388352" cy="768096"/>
          </a:xfrm>
        </p:grpSpPr>
        <p:sp>
          <p:nvSpPr>
            <p:cNvPr id="26" name="Freeform 26"/>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27" name="TextBox 27"/>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ehb-broker-metrics/m1/esi_residence_in_charter_states</a:t>
              </a:r>
            </a:p>
          </p:txBody>
        </p:sp>
      </p:grpSp>
      <p:grpSp>
        <p:nvGrpSpPr>
          <p:cNvPr id="28" name="Group 28"/>
          <p:cNvGrpSpPr/>
          <p:nvPr/>
        </p:nvGrpSpPr>
        <p:grpSpPr>
          <a:xfrm>
            <a:off x="12522708" y="2496312"/>
            <a:ext cx="1563624" cy="576072"/>
            <a:chOff x="0" y="0"/>
            <a:chExt cx="2084832" cy="768096"/>
          </a:xfrm>
        </p:grpSpPr>
        <p:sp>
          <p:nvSpPr>
            <p:cNvPr id="29" name="Freeform 29"/>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30" name="TextBox 30"/>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31" name="Group 31"/>
          <p:cNvGrpSpPr/>
          <p:nvPr/>
        </p:nvGrpSpPr>
        <p:grpSpPr>
          <a:xfrm>
            <a:off x="14305788" y="2496312"/>
            <a:ext cx="3140964" cy="576072"/>
            <a:chOff x="0" y="0"/>
            <a:chExt cx="4187952" cy="768096"/>
          </a:xfrm>
        </p:grpSpPr>
        <p:sp>
          <p:nvSpPr>
            <p:cNvPr id="32" name="Freeform 32"/>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33" name="TextBox 33"/>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Slides 7, 8</a:t>
              </a:r>
            </a:p>
          </p:txBody>
        </p:sp>
      </p:grpSp>
      <p:grpSp>
        <p:nvGrpSpPr>
          <p:cNvPr id="34" name="Group 34"/>
          <p:cNvGrpSpPr/>
          <p:nvPr/>
        </p:nvGrpSpPr>
        <p:grpSpPr>
          <a:xfrm>
            <a:off x="864108" y="3072384"/>
            <a:ext cx="5678424" cy="576072"/>
            <a:chOff x="0" y="0"/>
            <a:chExt cx="7571232" cy="768096"/>
          </a:xfrm>
        </p:grpSpPr>
        <p:sp>
          <p:nvSpPr>
            <p:cNvPr id="35" name="Freeform 35"/>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36" name="TextBox 36"/>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Assumption register (pilot economics)</a:t>
              </a:r>
            </a:p>
          </p:txBody>
        </p:sp>
      </p:grpSp>
      <p:grpSp>
        <p:nvGrpSpPr>
          <p:cNvPr id="37" name="Group 37"/>
          <p:cNvGrpSpPr/>
          <p:nvPr/>
        </p:nvGrpSpPr>
        <p:grpSpPr>
          <a:xfrm>
            <a:off x="6761988" y="3072384"/>
            <a:ext cx="5541264" cy="576072"/>
            <a:chOff x="0" y="0"/>
            <a:chExt cx="7388352" cy="768096"/>
          </a:xfrm>
        </p:grpSpPr>
        <p:sp>
          <p:nvSpPr>
            <p:cNvPr id="38" name="Freeform 38"/>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39" name="TextBox 39"/>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ehb-broker-metrics/m1/assumption_register.csv</a:t>
              </a:r>
            </a:p>
          </p:txBody>
        </p:sp>
      </p:grpSp>
      <p:grpSp>
        <p:nvGrpSpPr>
          <p:cNvPr id="40" name="Group 40"/>
          <p:cNvGrpSpPr/>
          <p:nvPr/>
        </p:nvGrpSpPr>
        <p:grpSpPr>
          <a:xfrm>
            <a:off x="12522708" y="3072384"/>
            <a:ext cx="1563624" cy="576072"/>
            <a:chOff x="0" y="0"/>
            <a:chExt cx="2084832" cy="768096"/>
          </a:xfrm>
        </p:grpSpPr>
        <p:sp>
          <p:nvSpPr>
            <p:cNvPr id="41" name="Freeform 41"/>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42" name="TextBox 42"/>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43" name="Group 43"/>
          <p:cNvGrpSpPr/>
          <p:nvPr/>
        </p:nvGrpSpPr>
        <p:grpSpPr>
          <a:xfrm>
            <a:off x="14305788" y="3072384"/>
            <a:ext cx="3140964" cy="576072"/>
            <a:chOff x="0" y="0"/>
            <a:chExt cx="4187952" cy="768096"/>
          </a:xfrm>
        </p:grpSpPr>
        <p:sp>
          <p:nvSpPr>
            <p:cNvPr id="44" name="Freeform 44"/>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45" name="TextBox 45"/>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7</a:t>
              </a:r>
            </a:p>
          </p:txBody>
        </p:sp>
      </p:grpSp>
      <p:grpSp>
        <p:nvGrpSpPr>
          <p:cNvPr id="46" name="Group 46"/>
          <p:cNvGrpSpPr/>
          <p:nvPr/>
        </p:nvGrpSpPr>
        <p:grpSpPr>
          <a:xfrm>
            <a:off x="754380" y="3648456"/>
            <a:ext cx="16802100" cy="576072"/>
            <a:chOff x="0" y="0"/>
            <a:chExt cx="22402800" cy="768096"/>
          </a:xfrm>
        </p:grpSpPr>
        <p:sp>
          <p:nvSpPr>
            <p:cNvPr id="47" name="Freeform 47"/>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EEF4FB"/>
            </a:solidFill>
          </p:spPr>
          <p:txBody>
            <a:bodyPr/>
            <a:lstStyle/>
            <a:p>
              <a:endParaRPr lang="en-US"/>
            </a:p>
          </p:txBody>
        </p:sp>
      </p:grpSp>
      <p:grpSp>
        <p:nvGrpSpPr>
          <p:cNvPr id="48" name="Group 48"/>
          <p:cNvGrpSpPr/>
          <p:nvPr/>
        </p:nvGrpSpPr>
        <p:grpSpPr>
          <a:xfrm>
            <a:off x="864108" y="3648456"/>
            <a:ext cx="5678424" cy="576072"/>
            <a:chOff x="0" y="0"/>
            <a:chExt cx="7571232" cy="768096"/>
          </a:xfrm>
        </p:grpSpPr>
        <p:sp>
          <p:nvSpPr>
            <p:cNvPr id="49" name="Freeform 49"/>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50" name="TextBox 50"/>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Summary metrics m1</a:t>
              </a:r>
            </a:p>
          </p:txBody>
        </p:sp>
      </p:grpSp>
      <p:grpSp>
        <p:nvGrpSpPr>
          <p:cNvPr id="51" name="Group 51"/>
          <p:cNvGrpSpPr/>
          <p:nvPr/>
        </p:nvGrpSpPr>
        <p:grpSpPr>
          <a:xfrm>
            <a:off x="6761988" y="3648456"/>
            <a:ext cx="5541264" cy="576072"/>
            <a:chOff x="0" y="0"/>
            <a:chExt cx="7388352" cy="768096"/>
          </a:xfrm>
        </p:grpSpPr>
        <p:sp>
          <p:nvSpPr>
            <p:cNvPr id="52" name="Freeform 52"/>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53" name="TextBox 53"/>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ehb-broker-metrics/m1/summary.json</a:t>
              </a:r>
            </a:p>
          </p:txBody>
        </p:sp>
      </p:grpSp>
      <p:grpSp>
        <p:nvGrpSpPr>
          <p:cNvPr id="54" name="Group 54"/>
          <p:cNvGrpSpPr/>
          <p:nvPr/>
        </p:nvGrpSpPr>
        <p:grpSpPr>
          <a:xfrm>
            <a:off x="12522708" y="3648456"/>
            <a:ext cx="1563624" cy="576072"/>
            <a:chOff x="0" y="0"/>
            <a:chExt cx="2084832" cy="768096"/>
          </a:xfrm>
        </p:grpSpPr>
        <p:sp>
          <p:nvSpPr>
            <p:cNvPr id="55" name="Freeform 55"/>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56" name="TextBox 56"/>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57" name="Group 57"/>
          <p:cNvGrpSpPr/>
          <p:nvPr/>
        </p:nvGrpSpPr>
        <p:grpSpPr>
          <a:xfrm>
            <a:off x="14305788" y="3648456"/>
            <a:ext cx="3140964" cy="576072"/>
            <a:chOff x="0" y="0"/>
            <a:chExt cx="4187952" cy="768096"/>
          </a:xfrm>
        </p:grpSpPr>
        <p:sp>
          <p:nvSpPr>
            <p:cNvPr id="58" name="Freeform 58"/>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59" name="TextBox 59"/>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8</a:t>
              </a:r>
            </a:p>
          </p:txBody>
        </p:sp>
      </p:grpSp>
      <p:grpSp>
        <p:nvGrpSpPr>
          <p:cNvPr id="60" name="Group 60"/>
          <p:cNvGrpSpPr/>
          <p:nvPr/>
        </p:nvGrpSpPr>
        <p:grpSpPr>
          <a:xfrm>
            <a:off x="864108" y="4224528"/>
            <a:ext cx="5678424" cy="576072"/>
            <a:chOff x="0" y="0"/>
            <a:chExt cx="7571232" cy="768096"/>
          </a:xfrm>
        </p:grpSpPr>
        <p:sp>
          <p:nvSpPr>
            <p:cNvPr id="61" name="Freeform 61"/>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62" name="TextBox 62"/>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Broker commission %, retention, attach benchmarks</a:t>
              </a:r>
            </a:p>
          </p:txBody>
        </p:sp>
      </p:grpSp>
      <p:grpSp>
        <p:nvGrpSpPr>
          <p:cNvPr id="63" name="Group 63"/>
          <p:cNvGrpSpPr/>
          <p:nvPr/>
        </p:nvGrpSpPr>
        <p:grpSpPr>
          <a:xfrm>
            <a:off x="6761988" y="4224528"/>
            <a:ext cx="5541264" cy="576072"/>
            <a:chOff x="0" y="0"/>
            <a:chExt cx="7388352" cy="768096"/>
          </a:xfrm>
        </p:grpSpPr>
        <p:sp>
          <p:nvSpPr>
            <p:cNvPr id="64" name="Freeform 64"/>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65" name="TextBox 65"/>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ehb-broker-metrics/m2, m5, m9, m13</a:t>
              </a:r>
            </a:p>
          </p:txBody>
        </p:sp>
      </p:grpSp>
      <p:grpSp>
        <p:nvGrpSpPr>
          <p:cNvPr id="66" name="Group 66"/>
          <p:cNvGrpSpPr/>
          <p:nvPr/>
        </p:nvGrpSpPr>
        <p:grpSpPr>
          <a:xfrm>
            <a:off x="12522708" y="4224528"/>
            <a:ext cx="1563624" cy="576072"/>
            <a:chOff x="0" y="0"/>
            <a:chExt cx="2084832" cy="768096"/>
          </a:xfrm>
        </p:grpSpPr>
        <p:sp>
          <p:nvSpPr>
            <p:cNvPr id="67" name="Freeform 67"/>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68" name="TextBox 68"/>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69" name="Group 69"/>
          <p:cNvGrpSpPr/>
          <p:nvPr/>
        </p:nvGrpSpPr>
        <p:grpSpPr>
          <a:xfrm>
            <a:off x="14305788" y="4224528"/>
            <a:ext cx="3140964" cy="576072"/>
            <a:chOff x="0" y="0"/>
            <a:chExt cx="4187952" cy="768096"/>
          </a:xfrm>
        </p:grpSpPr>
        <p:sp>
          <p:nvSpPr>
            <p:cNvPr id="70" name="Freeform 70"/>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71" name="TextBox 71"/>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Slides 2, 7</a:t>
              </a:r>
            </a:p>
          </p:txBody>
        </p:sp>
      </p:grpSp>
      <p:grpSp>
        <p:nvGrpSpPr>
          <p:cNvPr id="72" name="Group 72"/>
          <p:cNvGrpSpPr/>
          <p:nvPr/>
        </p:nvGrpSpPr>
        <p:grpSpPr>
          <a:xfrm>
            <a:off x="754380" y="4800600"/>
            <a:ext cx="16802100" cy="576072"/>
            <a:chOff x="0" y="0"/>
            <a:chExt cx="22402800" cy="768096"/>
          </a:xfrm>
        </p:grpSpPr>
        <p:sp>
          <p:nvSpPr>
            <p:cNvPr id="73" name="Freeform 73"/>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EEF4FB"/>
            </a:solidFill>
          </p:spPr>
          <p:txBody>
            <a:bodyPr/>
            <a:lstStyle/>
            <a:p>
              <a:endParaRPr lang="en-US"/>
            </a:p>
          </p:txBody>
        </p:sp>
      </p:grpSp>
      <p:grpSp>
        <p:nvGrpSpPr>
          <p:cNvPr id="74" name="Group 74"/>
          <p:cNvGrpSpPr/>
          <p:nvPr/>
        </p:nvGrpSpPr>
        <p:grpSpPr>
          <a:xfrm>
            <a:off x="864108" y="4800600"/>
            <a:ext cx="5678424" cy="576072"/>
            <a:chOff x="0" y="0"/>
            <a:chExt cx="7571232" cy="768096"/>
          </a:xfrm>
        </p:grpSpPr>
        <p:sp>
          <p:nvSpPr>
            <p:cNvPr id="75" name="Freeform 75"/>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76" name="TextBox 76"/>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Share of footprint employment at firms &lt;50 employees</a:t>
              </a:r>
            </a:p>
          </p:txBody>
        </p:sp>
      </p:grpSp>
      <p:grpSp>
        <p:nvGrpSpPr>
          <p:cNvPr id="77" name="Group 77"/>
          <p:cNvGrpSpPr/>
          <p:nvPr/>
        </p:nvGrpSpPr>
        <p:grpSpPr>
          <a:xfrm>
            <a:off x="6761988" y="4800600"/>
            <a:ext cx="5541264" cy="576072"/>
            <a:chOff x="0" y="0"/>
            <a:chExt cx="7388352" cy="768096"/>
          </a:xfrm>
        </p:grpSpPr>
        <p:sp>
          <p:nvSpPr>
            <p:cNvPr id="78" name="Freeform 78"/>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79" name="TextBox 79"/>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small-large-employment/</a:t>
              </a:r>
            </a:p>
          </p:txBody>
        </p:sp>
      </p:grpSp>
      <p:grpSp>
        <p:nvGrpSpPr>
          <p:cNvPr id="80" name="Group 80"/>
          <p:cNvGrpSpPr/>
          <p:nvPr/>
        </p:nvGrpSpPr>
        <p:grpSpPr>
          <a:xfrm>
            <a:off x="12522708" y="4800600"/>
            <a:ext cx="1563624" cy="576072"/>
            <a:chOff x="0" y="0"/>
            <a:chExt cx="2084832" cy="768096"/>
          </a:xfrm>
        </p:grpSpPr>
        <p:sp>
          <p:nvSpPr>
            <p:cNvPr id="81" name="Freeform 81"/>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82" name="TextBox 82"/>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83" name="Group 83"/>
          <p:cNvGrpSpPr/>
          <p:nvPr/>
        </p:nvGrpSpPr>
        <p:grpSpPr>
          <a:xfrm>
            <a:off x="14305788" y="4800600"/>
            <a:ext cx="3140964" cy="576072"/>
            <a:chOff x="0" y="0"/>
            <a:chExt cx="4187952" cy="768096"/>
          </a:xfrm>
        </p:grpSpPr>
        <p:sp>
          <p:nvSpPr>
            <p:cNvPr id="84" name="Freeform 84"/>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85" name="TextBox 85"/>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8</a:t>
              </a:r>
            </a:p>
          </p:txBody>
        </p:sp>
      </p:grpSp>
      <p:grpSp>
        <p:nvGrpSpPr>
          <p:cNvPr id="86" name="Group 86"/>
          <p:cNvGrpSpPr/>
          <p:nvPr/>
        </p:nvGrpSpPr>
        <p:grpSpPr>
          <a:xfrm>
            <a:off x="864108" y="5376672"/>
            <a:ext cx="5678424" cy="576072"/>
            <a:chOff x="0" y="0"/>
            <a:chExt cx="7571232" cy="768096"/>
          </a:xfrm>
        </p:grpSpPr>
        <p:sp>
          <p:nvSpPr>
            <p:cNvPr id="87" name="Freeform 87"/>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88" name="TextBox 88"/>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Remote and hybrid worker share in footprint</a:t>
              </a:r>
            </a:p>
          </p:txBody>
        </p:sp>
      </p:grpSp>
      <p:grpSp>
        <p:nvGrpSpPr>
          <p:cNvPr id="89" name="Group 89"/>
          <p:cNvGrpSpPr/>
          <p:nvPr/>
        </p:nvGrpSpPr>
        <p:grpSpPr>
          <a:xfrm>
            <a:off x="6761988" y="5376672"/>
            <a:ext cx="5541264" cy="576072"/>
            <a:chOff x="0" y="0"/>
            <a:chExt cx="7388352" cy="768096"/>
          </a:xfrm>
        </p:grpSpPr>
        <p:sp>
          <p:nvSpPr>
            <p:cNvPr id="90" name="Freeform 90"/>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91" name="TextBox 91"/>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work-from-home/</a:t>
              </a:r>
            </a:p>
          </p:txBody>
        </p:sp>
      </p:grpSp>
      <p:grpSp>
        <p:nvGrpSpPr>
          <p:cNvPr id="92" name="Group 92"/>
          <p:cNvGrpSpPr/>
          <p:nvPr/>
        </p:nvGrpSpPr>
        <p:grpSpPr>
          <a:xfrm>
            <a:off x="12522708" y="5376672"/>
            <a:ext cx="1563624" cy="576072"/>
            <a:chOff x="0" y="0"/>
            <a:chExt cx="2084832" cy="768096"/>
          </a:xfrm>
        </p:grpSpPr>
        <p:sp>
          <p:nvSpPr>
            <p:cNvPr id="93" name="Freeform 93"/>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94" name="TextBox 94"/>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95" name="Group 95"/>
          <p:cNvGrpSpPr/>
          <p:nvPr/>
        </p:nvGrpSpPr>
        <p:grpSpPr>
          <a:xfrm>
            <a:off x="14305788" y="5376672"/>
            <a:ext cx="3140964" cy="576072"/>
            <a:chOff x="0" y="0"/>
            <a:chExt cx="4187952" cy="768096"/>
          </a:xfrm>
        </p:grpSpPr>
        <p:sp>
          <p:nvSpPr>
            <p:cNvPr id="96" name="Freeform 96"/>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97" name="TextBox 97"/>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8</a:t>
              </a:r>
            </a:p>
          </p:txBody>
        </p:sp>
      </p:grpSp>
      <p:grpSp>
        <p:nvGrpSpPr>
          <p:cNvPr id="98" name="Group 98"/>
          <p:cNvGrpSpPr/>
          <p:nvPr/>
        </p:nvGrpSpPr>
        <p:grpSpPr>
          <a:xfrm>
            <a:off x="754380" y="5952744"/>
            <a:ext cx="16802100" cy="576072"/>
            <a:chOff x="0" y="0"/>
            <a:chExt cx="22402800" cy="768096"/>
          </a:xfrm>
        </p:grpSpPr>
        <p:sp>
          <p:nvSpPr>
            <p:cNvPr id="99" name="Freeform 99"/>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EEF4FB"/>
            </a:solidFill>
          </p:spPr>
          <p:txBody>
            <a:bodyPr/>
            <a:lstStyle/>
            <a:p>
              <a:endParaRPr lang="en-US"/>
            </a:p>
          </p:txBody>
        </p:sp>
      </p:grpSp>
      <p:grpSp>
        <p:nvGrpSpPr>
          <p:cNvPr id="100" name="Group 100"/>
          <p:cNvGrpSpPr/>
          <p:nvPr/>
        </p:nvGrpSpPr>
        <p:grpSpPr>
          <a:xfrm>
            <a:off x="864108" y="5952744"/>
            <a:ext cx="5678424" cy="576072"/>
            <a:chOff x="0" y="0"/>
            <a:chExt cx="7571232" cy="768096"/>
          </a:xfrm>
        </p:grpSpPr>
        <p:sp>
          <p:nvSpPr>
            <p:cNvPr id="101" name="Freeform 101"/>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102" name="TextBox 102"/>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Cable share among small firms; multi-product churn</a:t>
              </a:r>
            </a:p>
          </p:txBody>
        </p:sp>
      </p:grpSp>
      <p:grpSp>
        <p:nvGrpSpPr>
          <p:cNvPr id="103" name="Group 103"/>
          <p:cNvGrpSpPr/>
          <p:nvPr/>
        </p:nvGrpSpPr>
        <p:grpSpPr>
          <a:xfrm>
            <a:off x="6761988" y="5952744"/>
            <a:ext cx="5541264" cy="576072"/>
            <a:chOff x="0" y="0"/>
            <a:chExt cx="7388352" cy="768096"/>
          </a:xfrm>
        </p:grpSpPr>
        <p:sp>
          <p:nvSpPr>
            <p:cNvPr id="104" name="Freeform 104"/>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105" name="TextBox 105"/>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cable-share-small-firm/</a:t>
              </a:r>
            </a:p>
          </p:txBody>
        </p:sp>
      </p:grpSp>
      <p:grpSp>
        <p:nvGrpSpPr>
          <p:cNvPr id="106" name="Group 106"/>
          <p:cNvGrpSpPr/>
          <p:nvPr/>
        </p:nvGrpSpPr>
        <p:grpSpPr>
          <a:xfrm>
            <a:off x="12522708" y="5952744"/>
            <a:ext cx="1563624" cy="576072"/>
            <a:chOff x="0" y="0"/>
            <a:chExt cx="2084832" cy="768096"/>
          </a:xfrm>
        </p:grpSpPr>
        <p:sp>
          <p:nvSpPr>
            <p:cNvPr id="107" name="Freeform 107"/>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108" name="TextBox 108"/>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109" name="Group 109"/>
          <p:cNvGrpSpPr/>
          <p:nvPr/>
        </p:nvGrpSpPr>
        <p:grpSpPr>
          <a:xfrm>
            <a:off x="14305788" y="5952744"/>
            <a:ext cx="3140964" cy="576072"/>
            <a:chOff x="0" y="0"/>
            <a:chExt cx="4187952" cy="768096"/>
          </a:xfrm>
        </p:grpSpPr>
        <p:sp>
          <p:nvSpPr>
            <p:cNvPr id="110" name="Freeform 110"/>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111" name="TextBox 111"/>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7</a:t>
              </a:r>
            </a:p>
          </p:txBody>
        </p:sp>
      </p:grpSp>
      <p:grpSp>
        <p:nvGrpSpPr>
          <p:cNvPr id="112" name="Group 112"/>
          <p:cNvGrpSpPr/>
          <p:nvPr/>
        </p:nvGrpSpPr>
        <p:grpSpPr>
          <a:xfrm>
            <a:off x="864108" y="6528816"/>
            <a:ext cx="5678424" cy="576072"/>
            <a:chOff x="0" y="0"/>
            <a:chExt cx="7571232" cy="768096"/>
          </a:xfrm>
        </p:grpSpPr>
        <p:sp>
          <p:nvSpPr>
            <p:cNvPr id="113" name="Freeform 113"/>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114" name="TextBox 114"/>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Analyst coverage of non-connectivity adjacencies</a:t>
              </a:r>
            </a:p>
          </p:txBody>
        </p:sp>
      </p:grpSp>
      <p:grpSp>
        <p:nvGrpSpPr>
          <p:cNvPr id="115" name="Group 115"/>
          <p:cNvGrpSpPr/>
          <p:nvPr/>
        </p:nvGrpSpPr>
        <p:grpSpPr>
          <a:xfrm>
            <a:off x="6761988" y="6528816"/>
            <a:ext cx="5541264" cy="576072"/>
            <a:chOff x="0" y="0"/>
            <a:chExt cx="7388352" cy="768096"/>
          </a:xfrm>
        </p:grpSpPr>
        <p:sp>
          <p:nvSpPr>
            <p:cNvPr id="116" name="Freeform 116"/>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117" name="TextBox 117"/>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sellside-coverage/</a:t>
              </a:r>
            </a:p>
          </p:txBody>
        </p:sp>
      </p:grpSp>
      <p:grpSp>
        <p:nvGrpSpPr>
          <p:cNvPr id="118" name="Group 118"/>
          <p:cNvGrpSpPr/>
          <p:nvPr/>
        </p:nvGrpSpPr>
        <p:grpSpPr>
          <a:xfrm>
            <a:off x="12522708" y="6528816"/>
            <a:ext cx="1563624" cy="576072"/>
            <a:chOff x="0" y="0"/>
            <a:chExt cx="2084832" cy="768096"/>
          </a:xfrm>
        </p:grpSpPr>
        <p:sp>
          <p:nvSpPr>
            <p:cNvPr id="119" name="Freeform 119"/>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120" name="TextBox 120"/>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 ]</a:t>
              </a:r>
            </a:p>
          </p:txBody>
        </p:sp>
      </p:grpSp>
      <p:grpSp>
        <p:nvGrpSpPr>
          <p:cNvPr id="121" name="Group 121"/>
          <p:cNvGrpSpPr/>
          <p:nvPr/>
        </p:nvGrpSpPr>
        <p:grpSpPr>
          <a:xfrm>
            <a:off x="14305788" y="6528816"/>
            <a:ext cx="3140964" cy="576072"/>
            <a:chOff x="0" y="0"/>
            <a:chExt cx="4187952" cy="768096"/>
          </a:xfrm>
        </p:grpSpPr>
        <p:sp>
          <p:nvSpPr>
            <p:cNvPr id="122" name="Freeform 122"/>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123" name="TextBox 123"/>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Slide 7</a:t>
              </a:r>
            </a:p>
          </p:txBody>
        </p:sp>
      </p:grpSp>
      <p:grpSp>
        <p:nvGrpSpPr>
          <p:cNvPr id="124" name="Group 124"/>
          <p:cNvGrpSpPr/>
          <p:nvPr/>
        </p:nvGrpSpPr>
        <p:grpSpPr>
          <a:xfrm>
            <a:off x="754380" y="7104888"/>
            <a:ext cx="16802100" cy="576072"/>
            <a:chOff x="0" y="0"/>
            <a:chExt cx="22402800" cy="768096"/>
          </a:xfrm>
        </p:grpSpPr>
        <p:sp>
          <p:nvSpPr>
            <p:cNvPr id="125" name="Freeform 125"/>
            <p:cNvSpPr/>
            <p:nvPr/>
          </p:nvSpPr>
          <p:spPr>
            <a:xfrm>
              <a:off x="0" y="0"/>
              <a:ext cx="22402800" cy="768096"/>
            </a:xfrm>
            <a:custGeom>
              <a:avLst/>
              <a:gdLst/>
              <a:ahLst/>
              <a:cxnLst/>
              <a:rect l="l" t="t" r="r" b="b"/>
              <a:pathLst>
                <a:path w="22402800" h="768096">
                  <a:moveTo>
                    <a:pt x="0" y="0"/>
                  </a:moveTo>
                  <a:lnTo>
                    <a:pt x="22402800" y="0"/>
                  </a:lnTo>
                  <a:lnTo>
                    <a:pt x="22402800" y="768096"/>
                  </a:lnTo>
                  <a:lnTo>
                    <a:pt x="0" y="768096"/>
                  </a:lnTo>
                  <a:close/>
                </a:path>
              </a:pathLst>
            </a:custGeom>
            <a:solidFill>
              <a:srgbClr val="EEF4FB"/>
            </a:solidFill>
          </p:spPr>
          <p:txBody>
            <a:bodyPr/>
            <a:lstStyle/>
            <a:p>
              <a:endParaRPr lang="en-US"/>
            </a:p>
          </p:txBody>
        </p:sp>
      </p:grpSp>
      <p:grpSp>
        <p:nvGrpSpPr>
          <p:cNvPr id="126" name="Group 126"/>
          <p:cNvGrpSpPr/>
          <p:nvPr/>
        </p:nvGrpSpPr>
        <p:grpSpPr>
          <a:xfrm>
            <a:off x="864108" y="7104888"/>
            <a:ext cx="5678424" cy="576072"/>
            <a:chOff x="0" y="0"/>
            <a:chExt cx="7571232" cy="768096"/>
          </a:xfrm>
        </p:grpSpPr>
        <p:sp>
          <p:nvSpPr>
            <p:cNvPr id="127" name="Freeform 127"/>
            <p:cNvSpPr/>
            <p:nvPr/>
          </p:nvSpPr>
          <p:spPr>
            <a:xfrm>
              <a:off x="0" y="0"/>
              <a:ext cx="7571232" cy="768096"/>
            </a:xfrm>
            <a:custGeom>
              <a:avLst/>
              <a:gdLst/>
              <a:ahLst/>
              <a:cxnLst/>
              <a:rect l="l" t="t" r="r" b="b"/>
              <a:pathLst>
                <a:path w="7571232" h="768096">
                  <a:moveTo>
                    <a:pt x="0" y="0"/>
                  </a:moveTo>
                  <a:lnTo>
                    <a:pt x="7571232" y="0"/>
                  </a:lnTo>
                  <a:lnTo>
                    <a:pt x="7571232" y="768096"/>
                  </a:lnTo>
                  <a:lnTo>
                    <a:pt x="0" y="768096"/>
                  </a:lnTo>
                  <a:close/>
                </a:path>
              </a:pathLst>
            </a:custGeom>
            <a:blipFill>
              <a:blip r:embed="rId3">
                <a:alphaModFix amt="0"/>
              </a:blip>
              <a:stretch>
                <a:fillRect t="-142066" b="-142066"/>
              </a:stretch>
            </a:blipFill>
          </p:spPr>
          <p:txBody>
            <a:bodyPr/>
            <a:lstStyle/>
            <a:p>
              <a:endParaRPr lang="en-US"/>
            </a:p>
          </p:txBody>
        </p:sp>
        <p:sp>
          <p:nvSpPr>
            <p:cNvPr id="128" name="TextBox 128"/>
            <p:cNvSpPr txBox="1"/>
            <p:nvPr/>
          </p:nvSpPr>
          <p:spPr>
            <a:xfrm>
              <a:off x="0" y="-38100"/>
              <a:ext cx="7571232" cy="80619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Export / breakdown script</a:t>
              </a:r>
            </a:p>
          </p:txBody>
        </p:sp>
      </p:grpSp>
      <p:grpSp>
        <p:nvGrpSpPr>
          <p:cNvPr id="129" name="Group 129"/>
          <p:cNvGrpSpPr/>
          <p:nvPr/>
        </p:nvGrpSpPr>
        <p:grpSpPr>
          <a:xfrm>
            <a:off x="6761988" y="7104888"/>
            <a:ext cx="5541264" cy="576072"/>
            <a:chOff x="0" y="0"/>
            <a:chExt cx="7388352" cy="768096"/>
          </a:xfrm>
        </p:grpSpPr>
        <p:sp>
          <p:nvSpPr>
            <p:cNvPr id="130" name="Freeform 130"/>
            <p:cNvSpPr/>
            <p:nvPr/>
          </p:nvSpPr>
          <p:spPr>
            <a:xfrm>
              <a:off x="0" y="0"/>
              <a:ext cx="7388352" cy="768096"/>
            </a:xfrm>
            <a:custGeom>
              <a:avLst/>
              <a:gdLst/>
              <a:ahLst/>
              <a:cxnLst/>
              <a:rect l="l" t="t" r="r" b="b"/>
              <a:pathLst>
                <a:path w="7388352" h="768096">
                  <a:moveTo>
                    <a:pt x="0" y="0"/>
                  </a:moveTo>
                  <a:lnTo>
                    <a:pt x="7388352" y="0"/>
                  </a:lnTo>
                  <a:lnTo>
                    <a:pt x="7388352" y="768096"/>
                  </a:lnTo>
                  <a:lnTo>
                    <a:pt x="0" y="768096"/>
                  </a:lnTo>
                  <a:close/>
                </a:path>
              </a:pathLst>
            </a:custGeom>
            <a:blipFill>
              <a:blip r:embed="rId3">
                <a:alphaModFix amt="0"/>
              </a:blip>
              <a:stretch>
                <a:fillRect t="-137427" b="-137427"/>
              </a:stretch>
            </a:blipFill>
          </p:spPr>
          <p:txBody>
            <a:bodyPr/>
            <a:lstStyle/>
            <a:p>
              <a:endParaRPr lang="en-US"/>
            </a:p>
          </p:txBody>
        </p:sp>
        <p:sp>
          <p:nvSpPr>
            <p:cNvPr id="131" name="TextBox 131"/>
            <p:cNvSpPr txBox="1"/>
            <p:nvPr/>
          </p:nvSpPr>
          <p:spPr>
            <a:xfrm>
              <a:off x="0" y="-38100"/>
              <a:ext cx="73883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ehb-broker-metrics/export_breakdown.py</a:t>
              </a:r>
            </a:p>
          </p:txBody>
        </p:sp>
      </p:grpSp>
      <p:grpSp>
        <p:nvGrpSpPr>
          <p:cNvPr id="132" name="Group 132"/>
          <p:cNvGrpSpPr/>
          <p:nvPr/>
        </p:nvGrpSpPr>
        <p:grpSpPr>
          <a:xfrm>
            <a:off x="12522708" y="7104888"/>
            <a:ext cx="1563624" cy="576072"/>
            <a:chOff x="0" y="0"/>
            <a:chExt cx="2084832" cy="768096"/>
          </a:xfrm>
        </p:grpSpPr>
        <p:sp>
          <p:nvSpPr>
            <p:cNvPr id="133" name="Freeform 133"/>
            <p:cNvSpPr/>
            <p:nvPr/>
          </p:nvSpPr>
          <p:spPr>
            <a:xfrm>
              <a:off x="0" y="0"/>
              <a:ext cx="2084832" cy="768096"/>
            </a:xfrm>
            <a:custGeom>
              <a:avLst/>
              <a:gdLst/>
              <a:ahLst/>
              <a:cxnLst/>
              <a:rect l="l" t="t" r="r" b="b"/>
              <a:pathLst>
                <a:path w="2084832" h="768096">
                  <a:moveTo>
                    <a:pt x="0" y="0"/>
                  </a:moveTo>
                  <a:lnTo>
                    <a:pt x="2084832" y="0"/>
                  </a:lnTo>
                  <a:lnTo>
                    <a:pt x="2084832" y="768096"/>
                  </a:lnTo>
                  <a:lnTo>
                    <a:pt x="0" y="768096"/>
                  </a:lnTo>
                  <a:close/>
                </a:path>
              </a:pathLst>
            </a:custGeom>
            <a:blipFill>
              <a:blip r:embed="rId3">
                <a:alphaModFix amt="0"/>
              </a:blip>
              <a:stretch>
                <a:fillRect t="-2887" b="-2887"/>
              </a:stretch>
            </a:blipFill>
          </p:spPr>
          <p:txBody>
            <a:bodyPr/>
            <a:lstStyle/>
            <a:p>
              <a:endParaRPr lang="en-US"/>
            </a:p>
          </p:txBody>
        </p:sp>
        <p:sp>
          <p:nvSpPr>
            <p:cNvPr id="134" name="TextBox 134"/>
            <p:cNvSpPr txBox="1"/>
            <p:nvPr/>
          </p:nvSpPr>
          <p:spPr>
            <a:xfrm>
              <a:off x="0" y="-38100"/>
              <a:ext cx="2084832" cy="80619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n/a</a:t>
              </a:r>
            </a:p>
          </p:txBody>
        </p:sp>
      </p:grpSp>
      <p:grpSp>
        <p:nvGrpSpPr>
          <p:cNvPr id="135" name="Group 135"/>
          <p:cNvGrpSpPr/>
          <p:nvPr/>
        </p:nvGrpSpPr>
        <p:grpSpPr>
          <a:xfrm>
            <a:off x="14305788" y="7104888"/>
            <a:ext cx="3140964" cy="576072"/>
            <a:chOff x="0" y="0"/>
            <a:chExt cx="4187952" cy="768096"/>
          </a:xfrm>
        </p:grpSpPr>
        <p:sp>
          <p:nvSpPr>
            <p:cNvPr id="136" name="Freeform 136"/>
            <p:cNvSpPr/>
            <p:nvPr/>
          </p:nvSpPr>
          <p:spPr>
            <a:xfrm>
              <a:off x="0" y="0"/>
              <a:ext cx="4187952" cy="768096"/>
            </a:xfrm>
            <a:custGeom>
              <a:avLst/>
              <a:gdLst/>
              <a:ahLst/>
              <a:cxnLst/>
              <a:rect l="l" t="t" r="r" b="b"/>
              <a:pathLst>
                <a:path w="4187952" h="768096">
                  <a:moveTo>
                    <a:pt x="0" y="0"/>
                  </a:moveTo>
                  <a:lnTo>
                    <a:pt x="4187952" y="0"/>
                  </a:lnTo>
                  <a:lnTo>
                    <a:pt x="4187952" y="768096"/>
                  </a:lnTo>
                  <a:lnTo>
                    <a:pt x="0" y="768096"/>
                  </a:lnTo>
                  <a:close/>
                </a:path>
              </a:pathLst>
            </a:custGeom>
            <a:blipFill>
              <a:blip r:embed="rId3">
                <a:alphaModFix amt="0"/>
              </a:blip>
              <a:stretch>
                <a:fillRect t="-56239" b="-56239"/>
              </a:stretch>
            </a:blipFill>
          </p:spPr>
          <p:txBody>
            <a:bodyPr/>
            <a:lstStyle/>
            <a:p>
              <a:endParaRPr lang="en-US"/>
            </a:p>
          </p:txBody>
        </p:sp>
        <p:sp>
          <p:nvSpPr>
            <p:cNvPr id="137" name="TextBox 137"/>
            <p:cNvSpPr txBox="1"/>
            <p:nvPr/>
          </p:nvSpPr>
          <p:spPr>
            <a:xfrm>
              <a:off x="0" y="-38100"/>
              <a:ext cx="4187952" cy="80619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Regenerates the above</a:t>
              </a:r>
            </a:p>
          </p:txBody>
        </p:sp>
      </p:grpSp>
      <p:grpSp>
        <p:nvGrpSpPr>
          <p:cNvPr id="138" name="Group 138"/>
          <p:cNvGrpSpPr/>
          <p:nvPr/>
        </p:nvGrpSpPr>
        <p:grpSpPr>
          <a:xfrm>
            <a:off x="742474" y="7806214"/>
            <a:ext cx="16825912" cy="1258252"/>
            <a:chOff x="0" y="0"/>
            <a:chExt cx="22434550" cy="1677670"/>
          </a:xfrm>
        </p:grpSpPr>
        <p:sp>
          <p:nvSpPr>
            <p:cNvPr id="139" name="Freeform 139"/>
            <p:cNvSpPr/>
            <p:nvPr/>
          </p:nvSpPr>
          <p:spPr>
            <a:xfrm>
              <a:off x="0" y="0"/>
              <a:ext cx="22434550" cy="1677670"/>
            </a:xfrm>
            <a:custGeom>
              <a:avLst/>
              <a:gdLst/>
              <a:ahLst/>
              <a:cxnLst/>
              <a:rect l="l" t="t" r="r" b="b"/>
              <a:pathLst>
                <a:path w="22434550" h="1677670">
                  <a:moveTo>
                    <a:pt x="0" y="149098"/>
                  </a:moveTo>
                  <a:cubicBezTo>
                    <a:pt x="0" y="66802"/>
                    <a:pt x="66802" y="0"/>
                    <a:pt x="149098" y="0"/>
                  </a:cubicBezTo>
                  <a:lnTo>
                    <a:pt x="22285452" y="0"/>
                  </a:lnTo>
                  <a:cubicBezTo>
                    <a:pt x="22367875" y="0"/>
                    <a:pt x="22434550" y="66802"/>
                    <a:pt x="22434550" y="149098"/>
                  </a:cubicBezTo>
                  <a:lnTo>
                    <a:pt x="22434550" y="1528572"/>
                  </a:lnTo>
                  <a:cubicBezTo>
                    <a:pt x="22434550" y="1610995"/>
                    <a:pt x="22367748" y="1677670"/>
                    <a:pt x="22285452" y="1677670"/>
                  </a:cubicBezTo>
                  <a:lnTo>
                    <a:pt x="149098" y="1677670"/>
                  </a:lnTo>
                  <a:cubicBezTo>
                    <a:pt x="66802" y="1677670"/>
                    <a:pt x="0" y="1610868"/>
                    <a:pt x="0" y="1528572"/>
                  </a:cubicBezTo>
                  <a:close/>
                </a:path>
              </a:pathLst>
            </a:custGeom>
            <a:solidFill>
              <a:srgbClr val="EEF4FB"/>
            </a:solidFill>
            <a:ln w="23812" cap="sq">
              <a:solidFill>
                <a:srgbClr val="0099D8"/>
              </a:solidFill>
              <a:prstDash val="solid"/>
              <a:miter/>
            </a:ln>
          </p:spPr>
          <p:txBody>
            <a:bodyPr/>
            <a:lstStyle/>
            <a:p>
              <a:endParaRPr lang="en-US"/>
            </a:p>
          </p:txBody>
        </p:sp>
      </p:grpSp>
      <p:grpSp>
        <p:nvGrpSpPr>
          <p:cNvPr id="140" name="Group 140"/>
          <p:cNvGrpSpPr/>
          <p:nvPr/>
        </p:nvGrpSpPr>
        <p:grpSpPr>
          <a:xfrm>
            <a:off x="1165860" y="7927848"/>
            <a:ext cx="16047720" cy="1028700"/>
            <a:chOff x="0" y="0"/>
            <a:chExt cx="21396960" cy="1371600"/>
          </a:xfrm>
        </p:grpSpPr>
        <p:sp>
          <p:nvSpPr>
            <p:cNvPr id="141" name="Freeform 141"/>
            <p:cNvSpPr/>
            <p:nvPr/>
          </p:nvSpPr>
          <p:spPr>
            <a:xfrm>
              <a:off x="0" y="0"/>
              <a:ext cx="21396961" cy="1371600"/>
            </a:xfrm>
            <a:custGeom>
              <a:avLst/>
              <a:gdLst/>
              <a:ahLst/>
              <a:cxnLst/>
              <a:rect l="l" t="t" r="r" b="b"/>
              <a:pathLst>
                <a:path w="21396961" h="1371600">
                  <a:moveTo>
                    <a:pt x="0" y="0"/>
                  </a:moveTo>
                  <a:lnTo>
                    <a:pt x="21396961" y="0"/>
                  </a:lnTo>
                  <a:lnTo>
                    <a:pt x="21396961" y="1371600"/>
                  </a:lnTo>
                  <a:lnTo>
                    <a:pt x="0" y="1371600"/>
                  </a:lnTo>
                  <a:close/>
                </a:path>
              </a:pathLst>
            </a:custGeom>
            <a:blipFill>
              <a:blip r:embed="rId3">
                <a:alphaModFix amt="0"/>
              </a:blip>
              <a:stretch>
                <a:fillRect t="-253966" b="-253966"/>
              </a:stretch>
            </a:blipFill>
          </p:spPr>
          <p:txBody>
            <a:bodyPr/>
            <a:lstStyle/>
            <a:p>
              <a:endParaRPr lang="en-US"/>
            </a:p>
          </p:txBody>
        </p:sp>
        <p:sp>
          <p:nvSpPr>
            <p:cNvPr id="142" name="TextBox 142"/>
            <p:cNvSpPr txBox="1"/>
            <p:nvPr/>
          </p:nvSpPr>
          <p:spPr>
            <a:xfrm>
              <a:off x="0" y="-38100"/>
              <a:ext cx="21396960" cy="1409700"/>
            </a:xfrm>
            <a:prstGeom prst="rect">
              <a:avLst/>
            </a:prstGeom>
          </p:spPr>
          <p:txBody>
            <a:bodyPr lIns="0" tIns="0" rIns="0" bIns="0" rtlCol="0" anchor="ctr"/>
            <a:lstStyle/>
            <a:p>
              <a:pPr algn="l">
                <a:lnSpc>
                  <a:spcPts val="1800"/>
                </a:lnSpc>
              </a:pPr>
              <a:r>
                <a:rPr lang="en-US" sz="1500" b="1">
                  <a:solidFill>
                    <a:srgbClr val="0B1F3A"/>
                  </a:solidFill>
                  <a:latin typeface="Calibri"/>
                  <a:ea typeface="Calibri (MS) Bold"/>
                  <a:cs typeface="Calibri"/>
                  <a:sym typeface="Calibri (MS) Bold"/>
                </a:rPr>
                <a:t>Status: </a:t>
              </a:r>
              <a:r>
                <a:rPr lang="en-US" sz="1500">
                  <a:solidFill>
                    <a:srgbClr val="5B6672"/>
                  </a:solidFill>
                  <a:latin typeface="Calibri"/>
                  <a:ea typeface="Calibri (MS)"/>
                  <a:cs typeface="Calibri"/>
                  <a:sym typeface="Calibri (MS)"/>
                </a:rPr>
                <a:t>the EHB folders in Analysis/ could not be retrieved from GitHub for this draft (folder listings blocked). The recommendation structure, risks, and next steps are drafted; every number in blue brackets on slides 2, 7, and 8 must be filled from these files. Owner: Kyle. If the ESI gap or the small-firm share is weak, Recommendation 3 becomes a spend-capped experiment inside Recommendation 1’s playbook.</a:t>
              </a:r>
            </a:p>
          </p:txBody>
        </p:sp>
      </p:grpSp>
      <p:grpSp>
        <p:nvGrpSpPr>
          <p:cNvPr id="143" name="Group 143"/>
          <p:cNvGrpSpPr/>
          <p:nvPr/>
        </p:nvGrpSpPr>
        <p:grpSpPr>
          <a:xfrm>
            <a:off x="754380" y="9189720"/>
            <a:ext cx="16733520" cy="411480"/>
            <a:chOff x="0" y="0"/>
            <a:chExt cx="22311360" cy="548640"/>
          </a:xfrm>
        </p:grpSpPr>
        <p:sp>
          <p:nvSpPr>
            <p:cNvPr id="144" name="Freeform 144"/>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45" name="TextBox 145"/>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(p.7)</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46" name="Group 146"/>
          <p:cNvGrpSpPr/>
          <p:nvPr/>
        </p:nvGrpSpPr>
        <p:grpSpPr>
          <a:xfrm>
            <a:off x="17076420" y="9669780"/>
            <a:ext cx="960120" cy="411480"/>
            <a:chOff x="0" y="0"/>
            <a:chExt cx="1280160" cy="548640"/>
          </a:xfrm>
        </p:grpSpPr>
        <p:sp>
          <p:nvSpPr>
            <p:cNvPr id="147" name="Freeform 147"/>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48" name="TextBox 148"/>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29</a:t>
              </a:r>
            </a:p>
          </p:txBody>
        </p:sp>
      </p:grpSp>
      <p:grpSp>
        <p:nvGrpSpPr>
          <p:cNvPr id="149" name="Group 149"/>
          <p:cNvGrpSpPr/>
          <p:nvPr/>
        </p:nvGrpSpPr>
        <p:grpSpPr>
          <a:xfrm>
            <a:off x="754380" y="9669780"/>
            <a:ext cx="16047720" cy="411480"/>
            <a:chOff x="0" y="0"/>
            <a:chExt cx="21396960" cy="548640"/>
          </a:xfrm>
        </p:grpSpPr>
        <p:sp>
          <p:nvSpPr>
            <p:cNvPr id="150" name="Freeform 15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51" name="TextBox 15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A19  ·  WHAT YOU GET, SIZING, AS RANGES</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Sizing the Prize, as Ranges</a:t>
            </a:r>
          </a:p>
        </p:txBody>
      </p:sp>
      <p:grpSp>
        <p:nvGrpSpPr>
          <p:cNvPr id="6" name="Group 6"/>
          <p:cNvGrpSpPr/>
          <p:nvPr/>
        </p:nvGrpSpPr>
        <p:grpSpPr>
          <a:xfrm>
            <a:off x="744855" y="2733675"/>
            <a:ext cx="5505450" cy="5916930"/>
            <a:chOff x="0" y="0"/>
            <a:chExt cx="7340600" cy="7889240"/>
          </a:xfrm>
        </p:grpSpPr>
        <p:sp>
          <p:nvSpPr>
            <p:cNvPr id="7" name="Freeform 7"/>
            <p:cNvSpPr/>
            <p:nvPr/>
          </p:nvSpPr>
          <p:spPr>
            <a:xfrm>
              <a:off x="0" y="0"/>
              <a:ext cx="7340600" cy="7889240"/>
            </a:xfrm>
            <a:custGeom>
              <a:avLst/>
              <a:gdLst/>
              <a:ahLst/>
              <a:cxnLst/>
              <a:rect l="l" t="t" r="r" b="b"/>
              <a:pathLst>
                <a:path w="7340600" h="7889240">
                  <a:moveTo>
                    <a:pt x="0" y="146812"/>
                  </a:moveTo>
                  <a:cubicBezTo>
                    <a:pt x="0" y="65786"/>
                    <a:pt x="65786" y="0"/>
                    <a:pt x="146812" y="0"/>
                  </a:cubicBezTo>
                  <a:lnTo>
                    <a:pt x="7193788" y="0"/>
                  </a:lnTo>
                  <a:cubicBezTo>
                    <a:pt x="7274814" y="0"/>
                    <a:pt x="7340600" y="65786"/>
                    <a:pt x="7340600" y="146812"/>
                  </a:cubicBezTo>
                  <a:lnTo>
                    <a:pt x="7340600" y="7742428"/>
                  </a:lnTo>
                  <a:cubicBezTo>
                    <a:pt x="7340600" y="7823454"/>
                    <a:pt x="7274814" y="7889240"/>
                    <a:pt x="7193788" y="7889240"/>
                  </a:cubicBezTo>
                  <a:lnTo>
                    <a:pt x="146812" y="7889240"/>
                  </a:lnTo>
                  <a:cubicBezTo>
                    <a:pt x="65786" y="7889240"/>
                    <a:pt x="0" y="7823454"/>
                    <a:pt x="0" y="774242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097280" y="2948940"/>
            <a:ext cx="4800600" cy="356616"/>
            <a:chOff x="0" y="0"/>
            <a:chExt cx="6400800" cy="475488"/>
          </a:xfrm>
        </p:grpSpPr>
        <p:sp>
          <p:nvSpPr>
            <p:cNvPr id="9" name="Freeform 9"/>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a:p>
          </p:txBody>
        </p:sp>
        <p:sp>
          <p:nvSpPr>
            <p:cNvPr id="10" name="TextBox 10"/>
            <p:cNvSpPr txBox="1"/>
            <p:nvPr/>
          </p:nvSpPr>
          <p:spPr>
            <a:xfrm>
              <a:off x="0" y="-38100"/>
              <a:ext cx="64008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THE TARGET PRINTS</a:t>
              </a:r>
            </a:p>
          </p:txBody>
        </p:sp>
      </p:grpSp>
      <p:sp>
        <p:nvSpPr>
          <p:cNvPr id="11" name="TextBox 11"/>
          <p:cNvSpPr txBox="1"/>
          <p:nvPr/>
        </p:nvSpPr>
        <p:spPr>
          <a:xfrm>
            <a:off x="1097280" y="3390900"/>
            <a:ext cx="4800600" cy="2002409"/>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Q2 2027 must beat −172k.</a:t>
            </a:r>
          </a:p>
          <a:p>
            <a:pPr algn="l">
              <a:lnSpc>
                <a:spcPts val="1797"/>
              </a:lnSpc>
            </a:pPr>
            <a:r>
              <a:rPr lang="en-US" sz="1449" b="1">
                <a:solidFill>
                  <a:srgbClr val="0099D8"/>
                </a:solidFill>
                <a:latin typeface="Calibri"/>
                <a:ea typeface="Calibri (MS) Bold"/>
                <a:cs typeface="Calibri"/>
                <a:sym typeface="Calibri (MS) Bold"/>
              </a:rPr>
              <a:t>Q4 2027 must beat its comp.</a:t>
            </a:r>
          </a:p>
          <a:p>
            <a:pPr algn="l">
              <a:lnSpc>
                <a:spcPts val="1797"/>
              </a:lnSpc>
            </a:pPr>
            <a:r>
              <a:rPr lang="en-US" sz="1449">
                <a:solidFill>
                  <a:srgbClr val="0099D8"/>
                </a:solidFill>
                <a:latin typeface="Calibri"/>
                <a:ea typeface="Calibri (MS)"/>
                <a:cs typeface="Calibri"/>
                <a:sym typeface="Calibri (MS)"/>
              </a:rPr>
              <a:t>On a ~29.5M base at roughly 1% monthly churn, quarterly disconnects run ~880–970k. Neutralizing a −120k quarter is ~13 bps of monthly churn; a visible YoY improvement on −172k is ~6–8 bps.</a:t>
            </a:r>
          </a:p>
          <a:p>
            <a:pPr algn="l">
              <a:lnSpc>
                <a:spcPts val="1797"/>
              </a:lnSpc>
            </a:pPr>
            <a:r>
              <a:rPr lang="en-US" sz="1449">
                <a:solidFill>
                  <a:srgbClr val="0099D8"/>
                </a:solidFill>
                <a:latin typeface="Calibri"/>
                <a:ea typeface="Calibri (MS)"/>
                <a:cs typeface="Calibri"/>
                <a:sym typeface="Calibri (MS)"/>
              </a:rPr>
              <a:t>Caution: the −172k comp is easy. Measure treated vs. untreated zones so an improving print is not mistaken for a working play.</a:t>
            </a:r>
          </a:p>
          <a:p>
            <a:pPr algn="l">
              <a:lnSpc>
                <a:spcPts val="1797"/>
              </a:lnSpc>
            </a:pPr>
            <a:r>
              <a:rPr lang="en-US" sz="1449" i="1">
                <a:solidFill>
                  <a:srgbClr val="0099D8"/>
                </a:solidFill>
                <a:latin typeface="Calibri"/>
                <a:ea typeface="Calibri (MS) Italics"/>
                <a:cs typeface="Calibri"/>
                <a:sym typeface="Calibri (MS) Italics"/>
              </a:rPr>
              <a:t>[Churn is not disclosed; ~1% monthly is a team assumption]</a:t>
            </a:r>
          </a:p>
        </p:txBody>
      </p:sp>
      <p:grpSp>
        <p:nvGrpSpPr>
          <p:cNvPr id="12" name="Group 12"/>
          <p:cNvGrpSpPr/>
          <p:nvPr/>
        </p:nvGrpSpPr>
        <p:grpSpPr>
          <a:xfrm>
            <a:off x="6436995" y="2733675"/>
            <a:ext cx="5505450" cy="5916930"/>
            <a:chOff x="0" y="0"/>
            <a:chExt cx="7340600" cy="7889240"/>
          </a:xfrm>
        </p:grpSpPr>
        <p:sp>
          <p:nvSpPr>
            <p:cNvPr id="13" name="Freeform 13"/>
            <p:cNvSpPr/>
            <p:nvPr/>
          </p:nvSpPr>
          <p:spPr>
            <a:xfrm>
              <a:off x="0" y="0"/>
              <a:ext cx="7340600" cy="7889240"/>
            </a:xfrm>
            <a:custGeom>
              <a:avLst/>
              <a:gdLst/>
              <a:ahLst/>
              <a:cxnLst/>
              <a:rect l="l" t="t" r="r" b="b"/>
              <a:pathLst>
                <a:path w="7340600" h="7889240">
                  <a:moveTo>
                    <a:pt x="0" y="146812"/>
                  </a:moveTo>
                  <a:cubicBezTo>
                    <a:pt x="0" y="65786"/>
                    <a:pt x="65786" y="0"/>
                    <a:pt x="146812" y="0"/>
                  </a:cubicBezTo>
                  <a:lnTo>
                    <a:pt x="7193788" y="0"/>
                  </a:lnTo>
                  <a:cubicBezTo>
                    <a:pt x="7274814" y="0"/>
                    <a:pt x="7340600" y="65786"/>
                    <a:pt x="7340600" y="146812"/>
                  </a:cubicBezTo>
                  <a:lnTo>
                    <a:pt x="7340600" y="7742428"/>
                  </a:lnTo>
                  <a:cubicBezTo>
                    <a:pt x="7340600" y="7823454"/>
                    <a:pt x="7274814" y="7889240"/>
                    <a:pt x="7193788" y="7889240"/>
                  </a:cubicBezTo>
                  <a:lnTo>
                    <a:pt x="146812" y="7889240"/>
                  </a:lnTo>
                  <a:cubicBezTo>
                    <a:pt x="65786" y="7889240"/>
                    <a:pt x="0" y="7823454"/>
                    <a:pt x="0" y="774242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14" name="Group 14"/>
          <p:cNvGrpSpPr/>
          <p:nvPr/>
        </p:nvGrpSpPr>
        <p:grpSpPr>
          <a:xfrm>
            <a:off x="6789420" y="2948940"/>
            <a:ext cx="4800600" cy="356616"/>
            <a:chOff x="0" y="0"/>
            <a:chExt cx="6400800" cy="475488"/>
          </a:xfrm>
        </p:grpSpPr>
        <p:sp>
          <p:nvSpPr>
            <p:cNvPr id="15" name="Freeform 15"/>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a:p>
          </p:txBody>
        </p:sp>
        <p:sp>
          <p:nvSpPr>
            <p:cNvPr id="16" name="TextBox 16"/>
            <p:cNvSpPr txBox="1"/>
            <p:nvPr/>
          </p:nvSpPr>
          <p:spPr>
            <a:xfrm>
              <a:off x="0" y="-38100"/>
              <a:ext cx="64008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THE EQUITY STUB AMPLIFIES IT</a:t>
              </a:r>
            </a:p>
          </p:txBody>
        </p:sp>
      </p:grpSp>
      <p:sp>
        <p:nvSpPr>
          <p:cNvPr id="17" name="TextBox 17"/>
          <p:cNvSpPr txBox="1"/>
          <p:nvPr/>
        </p:nvSpPr>
        <p:spPr>
          <a:xfrm>
            <a:off x="6789420" y="3390900"/>
            <a:ext cx="4800600" cy="2221484"/>
          </a:xfrm>
          <a:prstGeom prst="rect">
            <a:avLst/>
          </a:prstGeom>
        </p:spPr>
        <p:txBody>
          <a:bodyPr lIns="0" tIns="0" rIns="0" bIns="0" rtlCol="0" anchor="t">
            <a:spAutoFit/>
          </a:bodyPr>
          <a:lstStyle/>
          <a:p>
            <a:pPr algn="l">
              <a:lnSpc>
                <a:spcPts val="1797"/>
              </a:lnSpc>
            </a:pPr>
            <a:r>
              <a:rPr lang="en-US" sz="1449" b="1">
                <a:solidFill>
                  <a:srgbClr val="0099D8"/>
                </a:solidFill>
                <a:latin typeface="Calibri"/>
                <a:ea typeface="Calibri (MS) Bold"/>
                <a:cs typeface="Calibri"/>
                <a:sym typeface="Calibri (MS) Bold"/>
              </a:rPr>
              <a:t>~$25B equity on ~$119B EV</a:t>
            </a:r>
          </a:p>
          <a:p>
            <a:pPr algn="l">
              <a:lnSpc>
                <a:spcPts val="1797"/>
              </a:lnSpc>
            </a:pPr>
            <a:r>
              <a:rPr lang="en-US" sz="1449">
                <a:solidFill>
                  <a:srgbClr val="0099D8"/>
                </a:solidFill>
                <a:latin typeface="Calibri"/>
                <a:ea typeface="Calibri (MS)"/>
                <a:cs typeface="Calibri"/>
                <a:sym typeface="Calibri (MS)"/>
              </a:rPr>
              <a:t>At the April 24, 2026 close ($180) with ~$94B net debt and ~$22.6B TTM EBITDA, Charter trades near 5.3x. Because the equity is a thin slice of the enterprise:</a:t>
            </a:r>
          </a:p>
          <a:p>
            <a:pPr marL="262413" lvl="1" indent="-131207" algn="l">
              <a:lnSpc>
                <a:spcPts val="1797"/>
              </a:lnSpc>
              <a:buFont typeface="Arial"/>
              <a:buChar char="•"/>
            </a:pPr>
            <a:r>
              <a:rPr lang="en-US" sz="1449" b="1">
                <a:solidFill>
                  <a:srgbClr val="0099D8"/>
                </a:solidFill>
                <a:latin typeface="Calibri"/>
                <a:ea typeface="Calibri (MS) Bold"/>
                <a:cs typeface="Calibri"/>
                <a:sym typeface="Calibri (MS) Bold"/>
              </a:rPr>
              <a:t>0.1x of EV/EBITDA ≈ $2.3B ≈ 9% of market cap</a:t>
            </a:r>
          </a:p>
          <a:p>
            <a:pPr marL="262413" lvl="1" indent="-131207" algn="l">
              <a:lnSpc>
                <a:spcPts val="1797"/>
              </a:lnSpc>
              <a:buFont typeface="Arial"/>
              <a:buChar char="•"/>
            </a:pPr>
            <a:r>
              <a:rPr lang="en-US" sz="1449" b="1">
                <a:solidFill>
                  <a:srgbClr val="0099D8"/>
                </a:solidFill>
                <a:latin typeface="Calibri"/>
                <a:ea typeface="Calibri (MS) Bold"/>
                <a:cs typeface="Calibri"/>
                <a:sym typeface="Calibri (MS) Bold"/>
              </a:rPr>
              <a:t>0.3–0.5x re-rating ≈ $7–11B ≈ 25–45% of market cap</a:t>
            </a:r>
          </a:p>
          <a:p>
            <a:pPr marL="262413" lvl="1" indent="-131207" algn="l">
              <a:lnSpc>
                <a:spcPts val="1797"/>
              </a:lnSpc>
            </a:pPr>
            <a:r>
              <a:rPr lang="en-US" sz="1449">
                <a:solidFill>
                  <a:srgbClr val="0099D8"/>
                </a:solidFill>
                <a:latin typeface="Calibri"/>
                <a:ea typeface="Calibri (MS)"/>
                <a:cs typeface="Calibri"/>
                <a:sym typeface="Calibri (MS)"/>
              </a:rPr>
              <a:t>Cox close (~$12.6B assumed net debt) changes EV and the base; the leverage logic holds on the combined entity.</a:t>
            </a:r>
          </a:p>
          <a:p>
            <a:pPr marL="262413" lvl="1" indent="-131207" algn="l">
              <a:lnSpc>
                <a:spcPts val="1797"/>
              </a:lnSpc>
            </a:pPr>
            <a:r>
              <a:rPr lang="en-US" sz="1449" i="1">
                <a:solidFill>
                  <a:srgbClr val="0099D8"/>
                </a:solidFill>
                <a:latin typeface="Calibri"/>
                <a:ea typeface="Calibri (MS) Italics"/>
                <a:cs typeface="Calibri"/>
                <a:sym typeface="Calibri (MS) Italics"/>
              </a:rPr>
              <a:t>[Team estimate from filings and Yahoo close; analysis, not a filing]</a:t>
            </a:r>
          </a:p>
        </p:txBody>
      </p:sp>
      <p:grpSp>
        <p:nvGrpSpPr>
          <p:cNvPr id="18" name="Group 18"/>
          <p:cNvGrpSpPr/>
          <p:nvPr/>
        </p:nvGrpSpPr>
        <p:grpSpPr>
          <a:xfrm>
            <a:off x="12129135" y="2733675"/>
            <a:ext cx="5436870" cy="5916930"/>
            <a:chOff x="0" y="0"/>
            <a:chExt cx="7249160" cy="7889240"/>
          </a:xfrm>
        </p:grpSpPr>
        <p:sp>
          <p:nvSpPr>
            <p:cNvPr id="19" name="Freeform 19"/>
            <p:cNvSpPr/>
            <p:nvPr/>
          </p:nvSpPr>
          <p:spPr>
            <a:xfrm>
              <a:off x="0" y="0"/>
              <a:ext cx="7249160" cy="7889240"/>
            </a:xfrm>
            <a:custGeom>
              <a:avLst/>
              <a:gdLst/>
              <a:ahLst/>
              <a:cxnLst/>
              <a:rect l="l" t="t" r="r" b="b"/>
              <a:pathLst>
                <a:path w="7249160" h="7889240">
                  <a:moveTo>
                    <a:pt x="0" y="146812"/>
                  </a:moveTo>
                  <a:cubicBezTo>
                    <a:pt x="0" y="65786"/>
                    <a:pt x="65786" y="0"/>
                    <a:pt x="146812" y="0"/>
                  </a:cubicBezTo>
                  <a:lnTo>
                    <a:pt x="7102348" y="0"/>
                  </a:lnTo>
                  <a:cubicBezTo>
                    <a:pt x="7183374" y="0"/>
                    <a:pt x="7249160" y="65786"/>
                    <a:pt x="7249160" y="146812"/>
                  </a:cubicBezTo>
                  <a:lnTo>
                    <a:pt x="7249160" y="7742428"/>
                  </a:lnTo>
                  <a:cubicBezTo>
                    <a:pt x="7249160" y="7823454"/>
                    <a:pt x="7183374" y="7889240"/>
                    <a:pt x="7102348" y="7889240"/>
                  </a:cubicBezTo>
                  <a:lnTo>
                    <a:pt x="146812" y="7889240"/>
                  </a:lnTo>
                  <a:cubicBezTo>
                    <a:pt x="65786" y="7889240"/>
                    <a:pt x="0" y="7823454"/>
                    <a:pt x="0" y="774242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0" name="Group 20"/>
          <p:cNvGrpSpPr/>
          <p:nvPr/>
        </p:nvGrpSpPr>
        <p:grpSpPr>
          <a:xfrm>
            <a:off x="12481560" y="2948940"/>
            <a:ext cx="4800600" cy="356616"/>
            <a:chOff x="0" y="0"/>
            <a:chExt cx="6400800" cy="475488"/>
          </a:xfrm>
        </p:grpSpPr>
        <p:sp>
          <p:nvSpPr>
            <p:cNvPr id="21" name="Freeform 21"/>
            <p:cNvSpPr/>
            <p:nvPr/>
          </p:nvSpPr>
          <p:spPr>
            <a:xfrm>
              <a:off x="0" y="0"/>
              <a:ext cx="6400800" cy="475488"/>
            </a:xfrm>
            <a:custGeom>
              <a:avLst/>
              <a:gdLst/>
              <a:ahLst/>
              <a:cxnLst/>
              <a:rect l="l" t="t" r="r" b="b"/>
              <a:pathLst>
                <a:path w="6400800" h="475488">
                  <a:moveTo>
                    <a:pt x="0" y="0"/>
                  </a:moveTo>
                  <a:lnTo>
                    <a:pt x="6400800" y="0"/>
                  </a:lnTo>
                  <a:lnTo>
                    <a:pt x="6400800" y="475488"/>
                  </a:lnTo>
                  <a:lnTo>
                    <a:pt x="0" y="475488"/>
                  </a:lnTo>
                  <a:close/>
                </a:path>
              </a:pathLst>
            </a:custGeom>
            <a:blipFill>
              <a:blip r:embed="rId3">
                <a:alphaModFix amt="0"/>
              </a:blip>
              <a:stretch>
                <a:fillRect t="-212298" b="-212298"/>
              </a:stretch>
            </a:blipFill>
          </p:spPr>
          <p:txBody>
            <a:bodyPr/>
            <a:lstStyle/>
            <a:p>
              <a:endParaRPr lang="en-US"/>
            </a:p>
          </p:txBody>
        </p:sp>
        <p:sp>
          <p:nvSpPr>
            <p:cNvPr id="22" name="TextBox 22"/>
            <p:cNvSpPr txBox="1"/>
            <p:nvPr/>
          </p:nvSpPr>
          <p:spPr>
            <a:xfrm>
              <a:off x="0" y="-38100"/>
              <a:ext cx="64008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THE HISTORICAL ANALOGS</a:t>
              </a:r>
            </a:p>
          </p:txBody>
        </p:sp>
      </p:grpSp>
      <p:grpSp>
        <p:nvGrpSpPr>
          <p:cNvPr id="23" name="Group 23"/>
          <p:cNvGrpSpPr/>
          <p:nvPr/>
        </p:nvGrpSpPr>
        <p:grpSpPr>
          <a:xfrm>
            <a:off x="12481560" y="3497580"/>
            <a:ext cx="1920240" cy="685800"/>
            <a:chOff x="0" y="0"/>
            <a:chExt cx="2560320" cy="914400"/>
          </a:xfrm>
        </p:grpSpPr>
        <p:sp>
          <p:nvSpPr>
            <p:cNvPr id="24" name="Freeform 24"/>
            <p:cNvSpPr/>
            <p:nvPr/>
          </p:nvSpPr>
          <p:spPr>
            <a:xfrm>
              <a:off x="0" y="0"/>
              <a:ext cx="2560320" cy="914400"/>
            </a:xfrm>
            <a:custGeom>
              <a:avLst/>
              <a:gdLst/>
              <a:ahLst/>
              <a:cxnLst/>
              <a:rect l="l" t="t" r="r" b="b"/>
              <a:pathLst>
                <a:path w="2560320" h="914400">
                  <a:moveTo>
                    <a:pt x="0" y="0"/>
                  </a:moveTo>
                  <a:lnTo>
                    <a:pt x="2560320" y="0"/>
                  </a:lnTo>
                  <a:lnTo>
                    <a:pt x="2560320" y="914400"/>
                  </a:lnTo>
                  <a:lnTo>
                    <a:pt x="0" y="914400"/>
                  </a:lnTo>
                  <a:close/>
                </a:path>
              </a:pathLst>
            </a:custGeom>
            <a:blipFill>
              <a:blip r:embed="rId3">
                <a:alphaModFix amt="0"/>
              </a:blip>
              <a:stretch>
                <a:fillRect t="-4558" b="-4558"/>
              </a:stretch>
            </a:blipFill>
          </p:spPr>
          <p:txBody>
            <a:bodyPr/>
            <a:lstStyle/>
            <a:p>
              <a:endParaRPr lang="en-US"/>
            </a:p>
          </p:txBody>
        </p:sp>
        <p:sp>
          <p:nvSpPr>
            <p:cNvPr id="25" name="TextBox 25"/>
            <p:cNvSpPr txBox="1"/>
            <p:nvPr/>
          </p:nvSpPr>
          <p:spPr>
            <a:xfrm>
              <a:off x="0" y="-57150"/>
              <a:ext cx="2560320" cy="971550"/>
            </a:xfrm>
            <a:prstGeom prst="rect">
              <a:avLst/>
            </a:prstGeom>
          </p:spPr>
          <p:txBody>
            <a:bodyPr lIns="0" tIns="0" rIns="0" bIns="0" rtlCol="0" anchor="ctr"/>
            <a:lstStyle/>
            <a:p>
              <a:pPr algn="l">
                <a:lnSpc>
                  <a:spcPts val="3419"/>
                </a:lnSpc>
              </a:pPr>
              <a:r>
                <a:rPr lang="en-US" sz="2850" b="1">
                  <a:solidFill>
                    <a:srgbClr val="0099D8"/>
                  </a:solidFill>
                  <a:latin typeface="Calibri"/>
                  <a:ea typeface="Calibri (MS) Bold"/>
                  <a:cs typeface="Calibri"/>
                  <a:sym typeface="Calibri (MS) Bold"/>
                </a:rPr>
                <a:t>+11.4%</a:t>
              </a:r>
            </a:p>
          </p:txBody>
        </p:sp>
      </p:grpSp>
      <p:grpSp>
        <p:nvGrpSpPr>
          <p:cNvPr id="26" name="Group 26"/>
          <p:cNvGrpSpPr/>
          <p:nvPr/>
        </p:nvGrpSpPr>
        <p:grpSpPr>
          <a:xfrm>
            <a:off x="14401800" y="3497580"/>
            <a:ext cx="2948940" cy="1028700"/>
            <a:chOff x="0" y="0"/>
            <a:chExt cx="3931920" cy="1371600"/>
          </a:xfrm>
        </p:grpSpPr>
        <p:sp>
          <p:nvSpPr>
            <p:cNvPr id="27" name="Freeform 27"/>
            <p:cNvSpPr/>
            <p:nvPr/>
          </p:nvSpPr>
          <p:spPr>
            <a:xfrm>
              <a:off x="0" y="0"/>
              <a:ext cx="3931920" cy="1371600"/>
            </a:xfrm>
            <a:custGeom>
              <a:avLst/>
              <a:gdLst/>
              <a:ahLst/>
              <a:cxnLst/>
              <a:rect l="l" t="t" r="r" b="b"/>
              <a:pathLst>
                <a:path w="3931920" h="1371600">
                  <a:moveTo>
                    <a:pt x="0" y="0"/>
                  </a:moveTo>
                  <a:lnTo>
                    <a:pt x="3931920" y="0"/>
                  </a:lnTo>
                  <a:lnTo>
                    <a:pt x="3931920" y="1371600"/>
                  </a:lnTo>
                  <a:lnTo>
                    <a:pt x="0" y="1371600"/>
                  </a:lnTo>
                  <a:close/>
                </a:path>
              </a:pathLst>
            </a:custGeom>
            <a:blipFill>
              <a:blip r:embed="rId3">
                <a:alphaModFix amt="0"/>
              </a:blip>
              <a:stretch>
                <a:fillRect t="-5857" b="-5857"/>
              </a:stretch>
            </a:blipFill>
          </p:spPr>
          <p:txBody>
            <a:bodyPr/>
            <a:lstStyle/>
            <a:p>
              <a:endParaRPr lang="en-US"/>
            </a:p>
          </p:txBody>
        </p:sp>
        <p:sp>
          <p:nvSpPr>
            <p:cNvPr id="28" name="TextBox 28"/>
            <p:cNvSpPr txBox="1"/>
            <p:nvPr/>
          </p:nvSpPr>
          <p:spPr>
            <a:xfrm>
              <a:off x="0" y="-38100"/>
              <a:ext cx="3931920" cy="14097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Apr 25, 2025, Q1’25 printed −59k, better than −72k</a:t>
              </a:r>
            </a:p>
          </p:txBody>
        </p:sp>
      </p:grpSp>
      <p:grpSp>
        <p:nvGrpSpPr>
          <p:cNvPr id="29" name="Group 29"/>
          <p:cNvGrpSpPr/>
          <p:nvPr/>
        </p:nvGrpSpPr>
        <p:grpSpPr>
          <a:xfrm>
            <a:off x="12481560" y="4732020"/>
            <a:ext cx="1920240" cy="685800"/>
            <a:chOff x="0" y="0"/>
            <a:chExt cx="2560320" cy="914400"/>
          </a:xfrm>
        </p:grpSpPr>
        <p:sp>
          <p:nvSpPr>
            <p:cNvPr id="30" name="Freeform 30"/>
            <p:cNvSpPr/>
            <p:nvPr/>
          </p:nvSpPr>
          <p:spPr>
            <a:xfrm>
              <a:off x="0" y="0"/>
              <a:ext cx="2560320" cy="914400"/>
            </a:xfrm>
            <a:custGeom>
              <a:avLst/>
              <a:gdLst/>
              <a:ahLst/>
              <a:cxnLst/>
              <a:rect l="l" t="t" r="r" b="b"/>
              <a:pathLst>
                <a:path w="2560320" h="914400">
                  <a:moveTo>
                    <a:pt x="0" y="0"/>
                  </a:moveTo>
                  <a:lnTo>
                    <a:pt x="2560320" y="0"/>
                  </a:lnTo>
                  <a:lnTo>
                    <a:pt x="2560320" y="914400"/>
                  </a:lnTo>
                  <a:lnTo>
                    <a:pt x="0" y="914400"/>
                  </a:lnTo>
                  <a:close/>
                </a:path>
              </a:pathLst>
            </a:custGeom>
            <a:blipFill>
              <a:blip r:embed="rId3">
                <a:alphaModFix amt="0"/>
              </a:blip>
              <a:stretch>
                <a:fillRect t="-4558" b="-4558"/>
              </a:stretch>
            </a:blipFill>
          </p:spPr>
          <p:txBody>
            <a:bodyPr/>
            <a:lstStyle/>
            <a:p>
              <a:endParaRPr lang="en-US"/>
            </a:p>
          </p:txBody>
        </p:sp>
        <p:sp>
          <p:nvSpPr>
            <p:cNvPr id="31" name="TextBox 31"/>
            <p:cNvSpPr txBox="1"/>
            <p:nvPr/>
          </p:nvSpPr>
          <p:spPr>
            <a:xfrm>
              <a:off x="0" y="-57150"/>
              <a:ext cx="2560320" cy="971550"/>
            </a:xfrm>
            <a:prstGeom prst="rect">
              <a:avLst/>
            </a:prstGeom>
          </p:spPr>
          <p:txBody>
            <a:bodyPr lIns="0" tIns="0" rIns="0" bIns="0" rtlCol="0" anchor="ctr"/>
            <a:lstStyle/>
            <a:p>
              <a:pPr algn="l">
                <a:lnSpc>
                  <a:spcPts val="3419"/>
                </a:lnSpc>
              </a:pPr>
              <a:r>
                <a:rPr lang="en-US" sz="2850" b="1">
                  <a:solidFill>
                    <a:srgbClr val="0099D8"/>
                  </a:solidFill>
                  <a:latin typeface="Calibri"/>
                  <a:ea typeface="Calibri (MS) Bold"/>
                  <a:cs typeface="Calibri"/>
                  <a:sym typeface="Calibri (MS) Bold"/>
                </a:rPr>
                <a:t>+7.6%</a:t>
              </a:r>
            </a:p>
          </p:txBody>
        </p:sp>
      </p:grpSp>
      <p:grpSp>
        <p:nvGrpSpPr>
          <p:cNvPr id="32" name="Group 32"/>
          <p:cNvGrpSpPr/>
          <p:nvPr/>
        </p:nvGrpSpPr>
        <p:grpSpPr>
          <a:xfrm>
            <a:off x="14401800" y="4732020"/>
            <a:ext cx="2948940" cy="1028700"/>
            <a:chOff x="0" y="0"/>
            <a:chExt cx="3931920" cy="1371600"/>
          </a:xfrm>
        </p:grpSpPr>
        <p:sp>
          <p:nvSpPr>
            <p:cNvPr id="33" name="Freeform 33"/>
            <p:cNvSpPr/>
            <p:nvPr/>
          </p:nvSpPr>
          <p:spPr>
            <a:xfrm>
              <a:off x="0" y="0"/>
              <a:ext cx="3931920" cy="1371600"/>
            </a:xfrm>
            <a:custGeom>
              <a:avLst/>
              <a:gdLst/>
              <a:ahLst/>
              <a:cxnLst/>
              <a:rect l="l" t="t" r="r" b="b"/>
              <a:pathLst>
                <a:path w="3931920" h="1371600">
                  <a:moveTo>
                    <a:pt x="0" y="0"/>
                  </a:moveTo>
                  <a:lnTo>
                    <a:pt x="3931920" y="0"/>
                  </a:lnTo>
                  <a:lnTo>
                    <a:pt x="3931920" y="1371600"/>
                  </a:lnTo>
                  <a:lnTo>
                    <a:pt x="0" y="1371600"/>
                  </a:lnTo>
                  <a:close/>
                </a:path>
              </a:pathLst>
            </a:custGeom>
            <a:blipFill>
              <a:blip r:embed="rId3">
                <a:alphaModFix amt="0"/>
              </a:blip>
              <a:stretch>
                <a:fillRect t="-5857" b="-5857"/>
              </a:stretch>
            </a:blipFill>
          </p:spPr>
          <p:txBody>
            <a:bodyPr/>
            <a:lstStyle/>
            <a:p>
              <a:endParaRPr lang="en-US"/>
            </a:p>
          </p:txBody>
        </p:sp>
        <p:sp>
          <p:nvSpPr>
            <p:cNvPr id="34" name="TextBox 34"/>
            <p:cNvSpPr txBox="1"/>
            <p:nvPr/>
          </p:nvSpPr>
          <p:spPr>
            <a:xfrm>
              <a:off x="0" y="-38100"/>
              <a:ext cx="3931920" cy="14097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Jan 30, 2026, Q4’25 printed −119k, better than −177k</a:t>
              </a:r>
            </a:p>
          </p:txBody>
        </p:sp>
      </p:grpSp>
      <p:grpSp>
        <p:nvGrpSpPr>
          <p:cNvPr id="35" name="Group 35"/>
          <p:cNvGrpSpPr/>
          <p:nvPr/>
        </p:nvGrpSpPr>
        <p:grpSpPr>
          <a:xfrm>
            <a:off x="12481560" y="5966460"/>
            <a:ext cx="1920240" cy="685800"/>
            <a:chOff x="0" y="0"/>
            <a:chExt cx="2560320" cy="914400"/>
          </a:xfrm>
        </p:grpSpPr>
        <p:sp>
          <p:nvSpPr>
            <p:cNvPr id="36" name="Freeform 36"/>
            <p:cNvSpPr/>
            <p:nvPr/>
          </p:nvSpPr>
          <p:spPr>
            <a:xfrm>
              <a:off x="0" y="0"/>
              <a:ext cx="2560320" cy="914400"/>
            </a:xfrm>
            <a:custGeom>
              <a:avLst/>
              <a:gdLst/>
              <a:ahLst/>
              <a:cxnLst/>
              <a:rect l="l" t="t" r="r" b="b"/>
              <a:pathLst>
                <a:path w="2560320" h="914400">
                  <a:moveTo>
                    <a:pt x="0" y="0"/>
                  </a:moveTo>
                  <a:lnTo>
                    <a:pt x="2560320" y="0"/>
                  </a:lnTo>
                  <a:lnTo>
                    <a:pt x="2560320" y="914400"/>
                  </a:lnTo>
                  <a:lnTo>
                    <a:pt x="0" y="914400"/>
                  </a:lnTo>
                  <a:close/>
                </a:path>
              </a:pathLst>
            </a:custGeom>
            <a:blipFill>
              <a:blip r:embed="rId3">
                <a:alphaModFix amt="0"/>
              </a:blip>
              <a:stretch>
                <a:fillRect t="-4558" b="-4558"/>
              </a:stretch>
            </a:blipFill>
          </p:spPr>
          <p:txBody>
            <a:bodyPr/>
            <a:lstStyle/>
            <a:p>
              <a:endParaRPr lang="en-US"/>
            </a:p>
          </p:txBody>
        </p:sp>
        <p:sp>
          <p:nvSpPr>
            <p:cNvPr id="37" name="TextBox 37"/>
            <p:cNvSpPr txBox="1"/>
            <p:nvPr/>
          </p:nvSpPr>
          <p:spPr>
            <a:xfrm>
              <a:off x="0" y="-57150"/>
              <a:ext cx="2560320" cy="971550"/>
            </a:xfrm>
            <a:prstGeom prst="rect">
              <a:avLst/>
            </a:prstGeom>
          </p:spPr>
          <p:txBody>
            <a:bodyPr lIns="0" tIns="0" rIns="0" bIns="0" rtlCol="0" anchor="ctr"/>
            <a:lstStyle/>
            <a:p>
              <a:pPr algn="l">
                <a:lnSpc>
                  <a:spcPts val="3419"/>
                </a:lnSpc>
              </a:pPr>
              <a:r>
                <a:rPr lang="en-US" sz="2850" b="1">
                  <a:solidFill>
                    <a:srgbClr val="0099D8"/>
                  </a:solidFill>
                  <a:latin typeface="Calibri"/>
                  <a:ea typeface="Calibri (MS) Bold"/>
                  <a:cs typeface="Calibri"/>
                  <a:sym typeface="Calibri (MS) Bold"/>
                </a:rPr>
                <a:t>−25.5%</a:t>
              </a:r>
            </a:p>
          </p:txBody>
        </p:sp>
      </p:grpSp>
      <p:grpSp>
        <p:nvGrpSpPr>
          <p:cNvPr id="38" name="Group 38"/>
          <p:cNvGrpSpPr/>
          <p:nvPr/>
        </p:nvGrpSpPr>
        <p:grpSpPr>
          <a:xfrm>
            <a:off x="14401800" y="5966460"/>
            <a:ext cx="2948940" cy="1028700"/>
            <a:chOff x="0" y="0"/>
            <a:chExt cx="3931920" cy="1371600"/>
          </a:xfrm>
        </p:grpSpPr>
        <p:sp>
          <p:nvSpPr>
            <p:cNvPr id="39" name="Freeform 39"/>
            <p:cNvSpPr/>
            <p:nvPr/>
          </p:nvSpPr>
          <p:spPr>
            <a:xfrm>
              <a:off x="0" y="0"/>
              <a:ext cx="3931920" cy="1371600"/>
            </a:xfrm>
            <a:custGeom>
              <a:avLst/>
              <a:gdLst/>
              <a:ahLst/>
              <a:cxnLst/>
              <a:rect l="l" t="t" r="r" b="b"/>
              <a:pathLst>
                <a:path w="3931920" h="1371600">
                  <a:moveTo>
                    <a:pt x="0" y="0"/>
                  </a:moveTo>
                  <a:lnTo>
                    <a:pt x="3931920" y="0"/>
                  </a:lnTo>
                  <a:lnTo>
                    <a:pt x="3931920" y="1371600"/>
                  </a:lnTo>
                  <a:lnTo>
                    <a:pt x="0" y="1371600"/>
                  </a:lnTo>
                  <a:close/>
                </a:path>
              </a:pathLst>
            </a:custGeom>
            <a:blipFill>
              <a:blip r:embed="rId3">
                <a:alphaModFix amt="0"/>
              </a:blip>
              <a:stretch>
                <a:fillRect t="-5857" b="-5857"/>
              </a:stretch>
            </a:blipFill>
          </p:spPr>
          <p:txBody>
            <a:bodyPr/>
            <a:lstStyle/>
            <a:p>
              <a:endParaRPr lang="en-US"/>
            </a:p>
          </p:txBody>
        </p:sp>
        <p:sp>
          <p:nvSpPr>
            <p:cNvPr id="40" name="TextBox 40"/>
            <p:cNvSpPr txBox="1"/>
            <p:nvPr/>
          </p:nvSpPr>
          <p:spPr>
            <a:xfrm>
              <a:off x="0" y="-38100"/>
              <a:ext cx="3931920" cy="14097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Apr 24, 2026, Q1’26 printed −120k, double −59k</a:t>
              </a:r>
            </a:p>
          </p:txBody>
        </p:sp>
      </p:grpSp>
      <p:sp>
        <p:nvSpPr>
          <p:cNvPr id="41" name="TextBox 41"/>
          <p:cNvSpPr txBox="1"/>
          <p:nvPr/>
        </p:nvSpPr>
        <p:spPr>
          <a:xfrm>
            <a:off x="12481560" y="7231380"/>
            <a:ext cx="4800600" cy="1126109"/>
          </a:xfrm>
          <a:prstGeom prst="rect">
            <a:avLst/>
          </a:prstGeom>
        </p:spPr>
        <p:txBody>
          <a:bodyPr lIns="0" tIns="0" rIns="0" bIns="0" rtlCol="0" anchor="t">
            <a:spAutoFit/>
          </a:bodyPr>
          <a:lstStyle/>
          <a:p>
            <a:pPr algn="l">
              <a:lnSpc>
                <a:spcPts val="1797"/>
              </a:lnSpc>
            </a:pPr>
            <a:r>
              <a:rPr lang="en-US" sz="1449" b="1">
                <a:solidFill>
                  <a:srgbClr val="171A1F"/>
                </a:solidFill>
                <a:latin typeface="Calibri"/>
                <a:ea typeface="Calibri (MS) Bold"/>
                <a:cs typeface="Calibri"/>
                <a:sym typeface="Calibri (MS) Bold"/>
              </a:rPr>
              <a:t>Range, not a point: +8% to +11% for one improving print. Two in a row with a published playbook is a re-rating (0.3–0.5x), not a bounce. Best case above 0.5x if the market prices two businesses; worst case 0x if gross adds stay housing-bound, in which case Rec 2 still lowers interest and downside.</a:t>
            </a:r>
          </a:p>
        </p:txBody>
      </p:sp>
      <p:grpSp>
        <p:nvGrpSpPr>
          <p:cNvPr id="42" name="Group 42"/>
          <p:cNvGrpSpPr/>
          <p:nvPr/>
        </p:nvGrpSpPr>
        <p:grpSpPr>
          <a:xfrm>
            <a:off x="754380" y="8805672"/>
            <a:ext cx="16733520" cy="356616"/>
            <a:chOff x="0" y="0"/>
            <a:chExt cx="22311360" cy="475488"/>
          </a:xfrm>
        </p:grpSpPr>
        <p:sp>
          <p:nvSpPr>
            <p:cNvPr id="43" name="Freeform 43"/>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44" name="TextBox 44"/>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Ex99.1 / trending (customers); Q1 2026 10-Q (net debt, leverage); Yahoo Finance closes. Blue bracketed items are team assumptions.</a:t>
              </a:r>
            </a:p>
          </p:txBody>
        </p:sp>
      </p:grpSp>
      <p:grpSp>
        <p:nvGrpSpPr>
          <p:cNvPr id="45" name="Group 45"/>
          <p:cNvGrpSpPr/>
          <p:nvPr/>
        </p:nvGrpSpPr>
        <p:grpSpPr>
          <a:xfrm>
            <a:off x="754380" y="9189720"/>
            <a:ext cx="16733520" cy="411480"/>
            <a:chOff x="0" y="0"/>
            <a:chExt cx="22311360" cy="548640"/>
          </a:xfrm>
        </p:grpSpPr>
        <p:sp>
          <p:nvSpPr>
            <p:cNvPr id="46" name="Freeform 4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7" name="TextBox 4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 action="ppaction://noaction"/>
                </a:rPr>
                <a:t>←  Back to main deck  (p.10)</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48" name="Group 48"/>
          <p:cNvGrpSpPr/>
          <p:nvPr/>
        </p:nvGrpSpPr>
        <p:grpSpPr>
          <a:xfrm>
            <a:off x="17076420" y="9669780"/>
            <a:ext cx="960120" cy="411480"/>
            <a:chOff x="0" y="0"/>
            <a:chExt cx="1280160" cy="548640"/>
          </a:xfrm>
        </p:grpSpPr>
        <p:sp>
          <p:nvSpPr>
            <p:cNvPr id="49" name="Freeform 4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50" name="TextBox 5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30</a:t>
              </a:r>
            </a:p>
          </p:txBody>
        </p:sp>
      </p:grpSp>
      <p:grpSp>
        <p:nvGrpSpPr>
          <p:cNvPr id="51" name="Group 51"/>
          <p:cNvGrpSpPr/>
          <p:nvPr/>
        </p:nvGrpSpPr>
        <p:grpSpPr>
          <a:xfrm>
            <a:off x="754380" y="9669780"/>
            <a:ext cx="16047720" cy="411480"/>
            <a:chOff x="0" y="0"/>
            <a:chExt cx="21396960" cy="548640"/>
          </a:xfrm>
        </p:grpSpPr>
        <p:sp>
          <p:nvSpPr>
            <p:cNvPr id="52" name="Freeform 5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3" name="TextBox 5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A20  ·  GOVERNANCE AND CALENDAR</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Live in One Quarter, Acting in Three, Published in Five</a:t>
            </a:r>
          </a:p>
        </p:txBody>
      </p:sp>
      <p:grpSp>
        <p:nvGrpSpPr>
          <p:cNvPr id="6" name="Group 6"/>
          <p:cNvGrpSpPr/>
          <p:nvPr/>
        </p:nvGrpSpPr>
        <p:grpSpPr>
          <a:xfrm>
            <a:off x="744855" y="2527935"/>
            <a:ext cx="16821150" cy="1116330"/>
            <a:chOff x="0" y="0"/>
            <a:chExt cx="22428200" cy="1488440"/>
          </a:xfrm>
        </p:grpSpPr>
        <p:sp>
          <p:nvSpPr>
            <p:cNvPr id="7" name="Freeform 7"/>
            <p:cNvSpPr/>
            <p:nvPr/>
          </p:nvSpPr>
          <p:spPr>
            <a:xfrm>
              <a:off x="0" y="0"/>
              <a:ext cx="22428200" cy="1488440"/>
            </a:xfrm>
            <a:custGeom>
              <a:avLst/>
              <a:gdLst/>
              <a:ahLst/>
              <a:cxnLst/>
              <a:rect l="l" t="t" r="r" b="b"/>
              <a:pathLst>
                <a:path w="22428200" h="1488440">
                  <a:moveTo>
                    <a:pt x="0" y="148844"/>
                  </a:moveTo>
                  <a:cubicBezTo>
                    <a:pt x="0" y="66675"/>
                    <a:pt x="66675" y="0"/>
                    <a:pt x="148844" y="0"/>
                  </a:cubicBezTo>
                  <a:lnTo>
                    <a:pt x="22279356" y="0"/>
                  </a:lnTo>
                  <a:cubicBezTo>
                    <a:pt x="22361525" y="0"/>
                    <a:pt x="22428200" y="66675"/>
                    <a:pt x="22428200" y="148844"/>
                  </a:cubicBezTo>
                  <a:lnTo>
                    <a:pt x="22428200" y="1339596"/>
                  </a:lnTo>
                  <a:cubicBezTo>
                    <a:pt x="22428200" y="1421765"/>
                    <a:pt x="22361525" y="1488440"/>
                    <a:pt x="22279356" y="1488440"/>
                  </a:cubicBezTo>
                  <a:lnTo>
                    <a:pt x="148844" y="1488440"/>
                  </a:lnTo>
                  <a:cubicBezTo>
                    <a:pt x="66675" y="1488440"/>
                    <a:pt x="0" y="1421765"/>
                    <a:pt x="0" y="1339596"/>
                  </a:cubicBezTo>
                  <a:close/>
                </a:path>
              </a:pathLst>
            </a:custGeom>
            <a:solidFill>
              <a:srgbClr val="FEFEFE"/>
            </a:solidFill>
            <a:ln w="19050" cap="sq">
              <a:solidFill>
                <a:srgbClr val="D8DEE6"/>
              </a:solidFill>
              <a:prstDash val="solid"/>
              <a:miter/>
            </a:ln>
          </p:spPr>
          <p:txBody>
            <a:bodyPr/>
            <a:lstStyle/>
            <a:p>
              <a:endParaRPr lang="en-US"/>
            </a:p>
          </p:txBody>
        </p:sp>
      </p:grpSp>
      <p:grpSp>
        <p:nvGrpSpPr>
          <p:cNvPr id="8" name="Group 8"/>
          <p:cNvGrpSpPr/>
          <p:nvPr/>
        </p:nvGrpSpPr>
        <p:grpSpPr>
          <a:xfrm>
            <a:off x="1165860" y="2674620"/>
            <a:ext cx="16047720" cy="822960"/>
            <a:chOff x="0" y="0"/>
            <a:chExt cx="21396960" cy="1097280"/>
          </a:xfrm>
        </p:grpSpPr>
        <p:sp>
          <p:nvSpPr>
            <p:cNvPr id="9" name="Freeform 9"/>
            <p:cNvSpPr/>
            <p:nvPr/>
          </p:nvSpPr>
          <p:spPr>
            <a:xfrm>
              <a:off x="0" y="0"/>
              <a:ext cx="21396961" cy="1097280"/>
            </a:xfrm>
            <a:custGeom>
              <a:avLst/>
              <a:gdLst/>
              <a:ahLst/>
              <a:cxnLst/>
              <a:rect l="l" t="t" r="r" b="b"/>
              <a:pathLst>
                <a:path w="21396961" h="1097280">
                  <a:moveTo>
                    <a:pt x="0" y="0"/>
                  </a:moveTo>
                  <a:lnTo>
                    <a:pt x="21396961" y="0"/>
                  </a:lnTo>
                  <a:lnTo>
                    <a:pt x="21396961" y="1097280"/>
                  </a:lnTo>
                  <a:lnTo>
                    <a:pt x="0" y="1097280"/>
                  </a:lnTo>
                  <a:close/>
                </a:path>
              </a:pathLst>
            </a:custGeom>
            <a:blipFill>
              <a:blip r:embed="rId3">
                <a:alphaModFix amt="0"/>
              </a:blip>
              <a:stretch>
                <a:fillRect t="-329958" b="-329958"/>
              </a:stretch>
            </a:blipFill>
          </p:spPr>
          <p:txBody>
            <a:bodyPr/>
            <a:lstStyle/>
            <a:p>
              <a:endParaRPr lang="en-US"/>
            </a:p>
          </p:txBody>
        </p:sp>
        <p:sp>
          <p:nvSpPr>
            <p:cNvPr id="10" name="TextBox 10"/>
            <p:cNvSpPr txBox="1"/>
            <p:nvPr/>
          </p:nvSpPr>
          <p:spPr>
            <a:xfrm>
              <a:off x="0" y="-28575"/>
              <a:ext cx="21396960" cy="1125855"/>
            </a:xfrm>
            <a:prstGeom prst="rect">
              <a:avLst/>
            </a:prstGeom>
          </p:spPr>
          <p:txBody>
            <a:bodyPr lIns="0" tIns="0" rIns="0" bIns="0" rtlCol="0" anchor="ctr"/>
            <a:lstStyle/>
            <a:p>
              <a:pPr algn="l">
                <a:lnSpc>
                  <a:spcPts val="1980"/>
                </a:lnSpc>
              </a:pPr>
              <a:r>
                <a:rPr lang="en-US" sz="1650" b="1">
                  <a:solidFill>
                    <a:srgbClr val="0B1F3A"/>
                  </a:solidFill>
                  <a:latin typeface="Calibri"/>
                  <a:ea typeface="Calibri (MS) Bold"/>
                  <a:cs typeface="Calibri"/>
                  <a:sym typeface="Calibri (MS) Bold"/>
                </a:rPr>
                <a:t>Owner:  </a:t>
              </a:r>
              <a:r>
                <a:rPr lang="en-US" sz="1650">
                  <a:solidFill>
                    <a:srgbClr val="5B6672"/>
                  </a:solidFill>
                  <a:latin typeface="Calibri"/>
                  <a:ea typeface="Calibri (MS)"/>
                  <a:cs typeface="Calibri"/>
                  <a:sym typeface="Calibri (MS)"/>
                </a:rPr>
                <a:t>one executive sponsor (COO or Chief Customer Officer) holds the sensor, the playbook budgets, and the disclosure calendar. Thresholds, budgets, and kill conditions are ratified by the executive team before the first read, and cannot be renegotiated after it. Calendar math: five steps at ~90% ≈ 59% that every date holds, so each date is one Charter can beat.</a:t>
              </a:r>
            </a:p>
          </p:txBody>
        </p:sp>
      </p:grpSp>
      <p:sp>
        <p:nvSpPr>
          <p:cNvPr id="11" name="AutoShape 11"/>
          <p:cNvSpPr/>
          <p:nvPr/>
        </p:nvSpPr>
        <p:spPr>
          <a:xfrm rot="8160">
            <a:off x="1078211" y="4585335"/>
            <a:ext cx="16085868" cy="0"/>
          </a:xfrm>
          <a:prstGeom prst="line">
            <a:avLst/>
          </a:prstGeom>
          <a:ln w="19050" cap="rnd">
            <a:solidFill>
              <a:srgbClr val="B9C4D0"/>
            </a:solidFill>
            <a:prstDash val="solid"/>
            <a:headEnd type="none" w="sm" len="sm"/>
            <a:tailEnd type="none" w="sm" len="sm"/>
          </a:ln>
        </p:spPr>
        <p:txBody>
          <a:bodyPr/>
          <a:lstStyle/>
          <a:p>
            <a:endParaRPr lang="en-US"/>
          </a:p>
        </p:txBody>
      </p:sp>
      <p:grpSp>
        <p:nvGrpSpPr>
          <p:cNvPr id="12" name="Group 12"/>
          <p:cNvGrpSpPr/>
          <p:nvPr/>
        </p:nvGrpSpPr>
        <p:grpSpPr>
          <a:xfrm>
            <a:off x="2743200" y="4443984"/>
            <a:ext cx="301752" cy="301752"/>
            <a:chOff x="0" y="0"/>
            <a:chExt cx="402336" cy="402336"/>
          </a:xfrm>
        </p:grpSpPr>
        <p:sp>
          <p:nvSpPr>
            <p:cNvPr id="13" name="Freeform 13"/>
            <p:cNvSpPr/>
            <p:nvPr/>
          </p:nvSpPr>
          <p:spPr>
            <a:xfrm>
              <a:off x="0" y="0"/>
              <a:ext cx="402336" cy="402336"/>
            </a:xfrm>
            <a:custGeom>
              <a:avLst/>
              <a:gdLst/>
              <a:ahLst/>
              <a:cxnLst/>
              <a:rect l="l" t="t" r="r" b="b"/>
              <a:pathLst>
                <a:path w="402336" h="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0099D8"/>
            </a:solidFill>
          </p:spPr>
          <p:txBody>
            <a:bodyPr/>
            <a:lstStyle/>
            <a:p>
              <a:endParaRPr lang="en-US"/>
            </a:p>
          </p:txBody>
        </p:sp>
      </p:grpSp>
      <p:grpSp>
        <p:nvGrpSpPr>
          <p:cNvPr id="14" name="Group 14"/>
          <p:cNvGrpSpPr/>
          <p:nvPr/>
        </p:nvGrpSpPr>
        <p:grpSpPr>
          <a:xfrm>
            <a:off x="1714500" y="3744468"/>
            <a:ext cx="2400300" cy="480060"/>
            <a:chOff x="0" y="0"/>
            <a:chExt cx="3200400" cy="640080"/>
          </a:xfrm>
        </p:grpSpPr>
        <p:sp>
          <p:nvSpPr>
            <p:cNvPr id="15" name="Freeform 15"/>
            <p:cNvSpPr/>
            <p:nvPr/>
          </p:nvSpPr>
          <p:spPr>
            <a:xfrm>
              <a:off x="0" y="0"/>
              <a:ext cx="3200400" cy="640080"/>
            </a:xfrm>
            <a:custGeom>
              <a:avLst/>
              <a:gdLst/>
              <a:ahLst/>
              <a:cxnLst/>
              <a:rect l="l" t="t" r="r" b="b"/>
              <a:pathLst>
                <a:path w="3200400" h="640080">
                  <a:moveTo>
                    <a:pt x="0" y="0"/>
                  </a:moveTo>
                  <a:lnTo>
                    <a:pt x="3200400" y="0"/>
                  </a:lnTo>
                  <a:lnTo>
                    <a:pt x="3200400" y="640080"/>
                  </a:lnTo>
                  <a:lnTo>
                    <a:pt x="0" y="640080"/>
                  </a:lnTo>
                  <a:close/>
                </a:path>
              </a:pathLst>
            </a:custGeom>
            <a:blipFill>
              <a:blip r:embed="rId3">
                <a:alphaModFix amt="0"/>
              </a:blip>
              <a:stretch>
                <a:fillRect t="-47425" b="-47425"/>
              </a:stretch>
            </a:blipFill>
          </p:spPr>
          <p:txBody>
            <a:bodyPr/>
            <a:lstStyle/>
            <a:p>
              <a:endParaRPr lang="en-US"/>
            </a:p>
          </p:txBody>
        </p:sp>
        <p:sp>
          <p:nvSpPr>
            <p:cNvPr id="16" name="TextBox 16"/>
            <p:cNvSpPr txBox="1"/>
            <p:nvPr/>
          </p:nvSpPr>
          <p:spPr>
            <a:xfrm>
              <a:off x="0" y="-47625"/>
              <a:ext cx="3200400" cy="687705"/>
            </a:xfrm>
            <a:prstGeom prst="rect">
              <a:avLst/>
            </a:prstGeom>
          </p:spPr>
          <p:txBody>
            <a:bodyPr lIns="0" tIns="0" rIns="0" bIns="0" rtlCol="0" anchor="ctr"/>
            <a:lstStyle/>
            <a:p>
              <a:pPr algn="ctr">
                <a:lnSpc>
                  <a:spcPts val="2520"/>
                </a:lnSpc>
              </a:pPr>
              <a:r>
                <a:rPr lang="en-US" sz="2100" b="1">
                  <a:solidFill>
                    <a:srgbClr val="0099D8"/>
                  </a:solidFill>
                  <a:latin typeface="Calibri"/>
                  <a:ea typeface="Calibri (MS) Bold"/>
                  <a:cs typeface="Calibri"/>
                  <a:sym typeface="Calibri (MS) Bold"/>
                </a:rPr>
                <a:t>Q4 2026</a:t>
              </a:r>
            </a:p>
          </p:txBody>
        </p:sp>
      </p:grpSp>
      <p:grpSp>
        <p:nvGrpSpPr>
          <p:cNvPr id="17" name="Group 17"/>
          <p:cNvGrpSpPr/>
          <p:nvPr/>
        </p:nvGrpSpPr>
        <p:grpSpPr>
          <a:xfrm>
            <a:off x="1087755" y="5065395"/>
            <a:ext cx="3653790" cy="3448050"/>
            <a:chOff x="0" y="0"/>
            <a:chExt cx="4871720" cy="4597400"/>
          </a:xfrm>
        </p:grpSpPr>
        <p:sp>
          <p:nvSpPr>
            <p:cNvPr id="18" name="Freeform 18"/>
            <p:cNvSpPr/>
            <p:nvPr/>
          </p:nvSpPr>
          <p:spPr>
            <a:xfrm>
              <a:off x="0" y="0"/>
              <a:ext cx="4871720" cy="4597400"/>
            </a:xfrm>
            <a:custGeom>
              <a:avLst/>
              <a:gdLst/>
              <a:ahLst/>
              <a:cxnLst/>
              <a:rect l="l" t="t" r="r" b="b"/>
              <a:pathLst>
                <a:path w="4871720" h="4597400">
                  <a:moveTo>
                    <a:pt x="0" y="147066"/>
                  </a:moveTo>
                  <a:cubicBezTo>
                    <a:pt x="0" y="65913"/>
                    <a:pt x="65913" y="0"/>
                    <a:pt x="147066" y="0"/>
                  </a:cubicBezTo>
                  <a:lnTo>
                    <a:pt x="4724654" y="0"/>
                  </a:lnTo>
                  <a:cubicBezTo>
                    <a:pt x="4805934" y="0"/>
                    <a:pt x="4871720" y="65913"/>
                    <a:pt x="4871720" y="147066"/>
                  </a:cubicBezTo>
                  <a:lnTo>
                    <a:pt x="4871720" y="4450334"/>
                  </a:lnTo>
                  <a:cubicBezTo>
                    <a:pt x="4871720" y="4531614"/>
                    <a:pt x="4805807" y="4597400"/>
                    <a:pt x="4724654" y="4597400"/>
                  </a:cubicBezTo>
                  <a:lnTo>
                    <a:pt x="147066" y="4597400"/>
                  </a:lnTo>
                  <a:cubicBezTo>
                    <a:pt x="65913" y="4597400"/>
                    <a:pt x="0" y="4531487"/>
                    <a:pt x="0" y="4450334"/>
                  </a:cubicBezTo>
                  <a:close/>
                </a:path>
              </a:pathLst>
            </a:custGeom>
            <a:solidFill>
              <a:srgbClr val="EEF4FB"/>
            </a:solidFill>
            <a:ln w="19050" cap="sq">
              <a:solidFill>
                <a:srgbClr val="D8DEE6"/>
              </a:solidFill>
              <a:prstDash val="solid"/>
              <a:miter/>
            </a:ln>
          </p:spPr>
          <p:txBody>
            <a:bodyPr/>
            <a:lstStyle/>
            <a:p>
              <a:endParaRPr lang="en-US"/>
            </a:p>
          </p:txBody>
        </p:sp>
      </p:grpSp>
      <p:grpSp>
        <p:nvGrpSpPr>
          <p:cNvPr id="19" name="Group 19"/>
          <p:cNvGrpSpPr/>
          <p:nvPr/>
        </p:nvGrpSpPr>
        <p:grpSpPr>
          <a:xfrm>
            <a:off x="1344168" y="5280660"/>
            <a:ext cx="3154680" cy="438912"/>
            <a:chOff x="0" y="0"/>
            <a:chExt cx="4206240" cy="585216"/>
          </a:xfrm>
        </p:grpSpPr>
        <p:sp>
          <p:nvSpPr>
            <p:cNvPr id="20" name="Freeform 20"/>
            <p:cNvSpPr/>
            <p:nvPr/>
          </p:nvSpPr>
          <p:spPr>
            <a:xfrm>
              <a:off x="0" y="0"/>
              <a:ext cx="4206240" cy="585216"/>
            </a:xfrm>
            <a:custGeom>
              <a:avLst/>
              <a:gdLst/>
              <a:ahLst/>
              <a:cxnLst/>
              <a:rect l="l" t="t" r="r" b="b"/>
              <a:pathLst>
                <a:path w="4206240" h="585216">
                  <a:moveTo>
                    <a:pt x="0" y="0"/>
                  </a:moveTo>
                  <a:lnTo>
                    <a:pt x="4206240" y="0"/>
                  </a:lnTo>
                  <a:lnTo>
                    <a:pt x="4206240" y="585216"/>
                  </a:lnTo>
                  <a:lnTo>
                    <a:pt x="0" y="585216"/>
                  </a:lnTo>
                  <a:close/>
                </a:path>
              </a:pathLst>
            </a:custGeom>
            <a:blipFill>
              <a:blip r:embed="rId3">
                <a:alphaModFix amt="0"/>
              </a:blip>
              <a:stretch>
                <a:fillRect t="-90048" b="-90048"/>
              </a:stretch>
            </a:blipFill>
          </p:spPr>
          <p:txBody>
            <a:bodyPr/>
            <a:lstStyle/>
            <a:p>
              <a:endParaRPr lang="en-US"/>
            </a:p>
          </p:txBody>
        </p:sp>
        <p:sp>
          <p:nvSpPr>
            <p:cNvPr id="21" name="TextBox 21"/>
            <p:cNvSpPr txBox="1"/>
            <p:nvPr/>
          </p:nvSpPr>
          <p:spPr>
            <a:xfrm>
              <a:off x="0" y="-38100"/>
              <a:ext cx="4206240" cy="623316"/>
            </a:xfrm>
            <a:prstGeom prst="rect">
              <a:avLst/>
            </a:prstGeom>
          </p:spPr>
          <p:txBody>
            <a:bodyPr lIns="0" tIns="0" rIns="0" bIns="0" rtlCol="0" anchor="ctr"/>
            <a:lstStyle/>
            <a:p>
              <a:pPr algn="l">
                <a:lnSpc>
                  <a:spcPts val="2160"/>
                </a:lnSpc>
              </a:pPr>
              <a:r>
                <a:rPr lang="en-US" sz="1800" b="1">
                  <a:solidFill>
                    <a:srgbClr val="171A1F"/>
                  </a:solidFill>
                  <a:latin typeface="Calibri"/>
                  <a:ea typeface="Calibri (MS) Bold"/>
                  <a:cs typeface="Calibri"/>
                  <a:sym typeface="Calibri (MS) Bold"/>
                </a:rPr>
                <a:t>Sensor live</a:t>
              </a:r>
            </a:p>
          </p:txBody>
        </p:sp>
      </p:grpSp>
      <p:grpSp>
        <p:nvGrpSpPr>
          <p:cNvPr id="22" name="Group 22"/>
          <p:cNvGrpSpPr/>
          <p:nvPr/>
        </p:nvGrpSpPr>
        <p:grpSpPr>
          <a:xfrm>
            <a:off x="1344168" y="5747004"/>
            <a:ext cx="3154680" cy="2606040"/>
            <a:chOff x="0" y="0"/>
            <a:chExt cx="4206240" cy="3474720"/>
          </a:xfrm>
        </p:grpSpPr>
        <p:sp>
          <p:nvSpPr>
            <p:cNvPr id="23" name="Freeform 23"/>
            <p:cNvSpPr/>
            <p:nvPr/>
          </p:nvSpPr>
          <p:spPr>
            <a:xfrm>
              <a:off x="0" y="0"/>
              <a:ext cx="4206240" cy="3474720"/>
            </a:xfrm>
            <a:custGeom>
              <a:avLst/>
              <a:gdLst/>
              <a:ahLst/>
              <a:cxnLst/>
              <a:rect l="l" t="t" r="r" b="b"/>
              <a:pathLst>
                <a:path w="4206240" h="3474720">
                  <a:moveTo>
                    <a:pt x="0" y="0"/>
                  </a:moveTo>
                  <a:lnTo>
                    <a:pt x="4206240" y="0"/>
                  </a:lnTo>
                  <a:lnTo>
                    <a:pt x="4206240" y="3474720"/>
                  </a:lnTo>
                  <a:lnTo>
                    <a:pt x="0" y="3474720"/>
                  </a:lnTo>
                  <a:close/>
                </a:path>
              </a:pathLst>
            </a:custGeom>
            <a:blipFill>
              <a:blip r:embed="rId3">
                <a:alphaModFix amt="0"/>
              </a:blip>
              <a:stretch>
                <a:fillRect l="-55989" r="-55989"/>
              </a:stretch>
            </a:blipFill>
          </p:spPr>
          <p:txBody>
            <a:bodyPr/>
            <a:lstStyle/>
            <a:p>
              <a:endParaRPr lang="en-US"/>
            </a:p>
          </p:txBody>
        </p:sp>
        <p:sp>
          <p:nvSpPr>
            <p:cNvPr id="24" name="TextBox 24"/>
            <p:cNvSpPr txBox="1"/>
            <p:nvPr/>
          </p:nvSpPr>
          <p:spPr>
            <a:xfrm>
              <a:off x="0" y="-38100"/>
              <a:ext cx="4206240" cy="351282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Sponsor named (Oct 31). BDC cross-reference built; disconnect join complete; audited exit-survey sampling starts. Thresholds and budgets drafted (Nov).</a:t>
              </a:r>
            </a:p>
          </p:txBody>
        </p:sp>
      </p:grpSp>
      <p:grpSp>
        <p:nvGrpSpPr>
          <p:cNvPr id="25" name="Group 25"/>
          <p:cNvGrpSpPr/>
          <p:nvPr/>
        </p:nvGrpSpPr>
        <p:grpSpPr>
          <a:xfrm>
            <a:off x="6748272" y="4443984"/>
            <a:ext cx="301752" cy="301752"/>
            <a:chOff x="0" y="0"/>
            <a:chExt cx="402336" cy="402336"/>
          </a:xfrm>
        </p:grpSpPr>
        <p:sp>
          <p:nvSpPr>
            <p:cNvPr id="26" name="Freeform 26"/>
            <p:cNvSpPr/>
            <p:nvPr/>
          </p:nvSpPr>
          <p:spPr>
            <a:xfrm>
              <a:off x="0" y="0"/>
              <a:ext cx="402336" cy="402336"/>
            </a:xfrm>
            <a:custGeom>
              <a:avLst/>
              <a:gdLst/>
              <a:ahLst/>
              <a:cxnLst/>
              <a:rect l="l" t="t" r="r" b="b"/>
              <a:pathLst>
                <a:path w="402336" h="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0099D8"/>
            </a:solidFill>
          </p:spPr>
          <p:txBody>
            <a:bodyPr/>
            <a:lstStyle/>
            <a:p>
              <a:endParaRPr lang="en-US"/>
            </a:p>
          </p:txBody>
        </p:sp>
      </p:grpSp>
      <p:grpSp>
        <p:nvGrpSpPr>
          <p:cNvPr id="27" name="Group 27"/>
          <p:cNvGrpSpPr/>
          <p:nvPr/>
        </p:nvGrpSpPr>
        <p:grpSpPr>
          <a:xfrm>
            <a:off x="5719572" y="3744468"/>
            <a:ext cx="2400300" cy="480060"/>
            <a:chOff x="0" y="0"/>
            <a:chExt cx="3200400" cy="640080"/>
          </a:xfrm>
        </p:grpSpPr>
        <p:sp>
          <p:nvSpPr>
            <p:cNvPr id="28" name="Freeform 28"/>
            <p:cNvSpPr/>
            <p:nvPr/>
          </p:nvSpPr>
          <p:spPr>
            <a:xfrm>
              <a:off x="0" y="0"/>
              <a:ext cx="3200400" cy="640080"/>
            </a:xfrm>
            <a:custGeom>
              <a:avLst/>
              <a:gdLst/>
              <a:ahLst/>
              <a:cxnLst/>
              <a:rect l="l" t="t" r="r" b="b"/>
              <a:pathLst>
                <a:path w="3200400" h="640080">
                  <a:moveTo>
                    <a:pt x="0" y="0"/>
                  </a:moveTo>
                  <a:lnTo>
                    <a:pt x="3200400" y="0"/>
                  </a:lnTo>
                  <a:lnTo>
                    <a:pt x="3200400" y="640080"/>
                  </a:lnTo>
                  <a:lnTo>
                    <a:pt x="0" y="640080"/>
                  </a:lnTo>
                  <a:close/>
                </a:path>
              </a:pathLst>
            </a:custGeom>
            <a:blipFill>
              <a:blip r:embed="rId3">
                <a:alphaModFix amt="0"/>
              </a:blip>
              <a:stretch>
                <a:fillRect t="-47425" b="-47425"/>
              </a:stretch>
            </a:blipFill>
          </p:spPr>
          <p:txBody>
            <a:bodyPr/>
            <a:lstStyle/>
            <a:p>
              <a:endParaRPr lang="en-US"/>
            </a:p>
          </p:txBody>
        </p:sp>
        <p:sp>
          <p:nvSpPr>
            <p:cNvPr id="29" name="TextBox 29"/>
            <p:cNvSpPr txBox="1"/>
            <p:nvPr/>
          </p:nvSpPr>
          <p:spPr>
            <a:xfrm>
              <a:off x="0" y="-47625"/>
              <a:ext cx="3200400" cy="687705"/>
            </a:xfrm>
            <a:prstGeom prst="rect">
              <a:avLst/>
            </a:prstGeom>
          </p:spPr>
          <p:txBody>
            <a:bodyPr lIns="0" tIns="0" rIns="0" bIns="0" rtlCol="0" anchor="ctr"/>
            <a:lstStyle/>
            <a:p>
              <a:pPr algn="ctr">
                <a:lnSpc>
                  <a:spcPts val="2520"/>
                </a:lnSpc>
              </a:pPr>
              <a:r>
                <a:rPr lang="en-US" sz="2100" b="1">
                  <a:solidFill>
                    <a:srgbClr val="0099D8"/>
                  </a:solidFill>
                  <a:latin typeface="Calibri"/>
                  <a:ea typeface="Calibri (MS) Bold"/>
                  <a:cs typeface="Calibri"/>
                  <a:sym typeface="Calibri (MS) Bold"/>
                </a:rPr>
                <a:t>Q1 2027</a:t>
              </a:r>
            </a:p>
          </p:txBody>
        </p:sp>
      </p:grpSp>
      <p:grpSp>
        <p:nvGrpSpPr>
          <p:cNvPr id="30" name="Group 30"/>
          <p:cNvGrpSpPr/>
          <p:nvPr/>
        </p:nvGrpSpPr>
        <p:grpSpPr>
          <a:xfrm>
            <a:off x="5092827" y="5065395"/>
            <a:ext cx="3653790" cy="3448050"/>
            <a:chOff x="0" y="0"/>
            <a:chExt cx="4871720" cy="4597400"/>
          </a:xfrm>
        </p:grpSpPr>
        <p:sp>
          <p:nvSpPr>
            <p:cNvPr id="31" name="Freeform 31"/>
            <p:cNvSpPr/>
            <p:nvPr/>
          </p:nvSpPr>
          <p:spPr>
            <a:xfrm>
              <a:off x="0" y="0"/>
              <a:ext cx="4871720" cy="4597400"/>
            </a:xfrm>
            <a:custGeom>
              <a:avLst/>
              <a:gdLst/>
              <a:ahLst/>
              <a:cxnLst/>
              <a:rect l="l" t="t" r="r" b="b"/>
              <a:pathLst>
                <a:path w="4871720" h="4597400">
                  <a:moveTo>
                    <a:pt x="0" y="147066"/>
                  </a:moveTo>
                  <a:cubicBezTo>
                    <a:pt x="0" y="65913"/>
                    <a:pt x="65913" y="0"/>
                    <a:pt x="147066" y="0"/>
                  </a:cubicBezTo>
                  <a:lnTo>
                    <a:pt x="4724654" y="0"/>
                  </a:lnTo>
                  <a:cubicBezTo>
                    <a:pt x="4805934" y="0"/>
                    <a:pt x="4871720" y="65913"/>
                    <a:pt x="4871720" y="147066"/>
                  </a:cubicBezTo>
                  <a:lnTo>
                    <a:pt x="4871720" y="4450334"/>
                  </a:lnTo>
                  <a:cubicBezTo>
                    <a:pt x="4871720" y="4531614"/>
                    <a:pt x="4805807" y="4597400"/>
                    <a:pt x="4724654" y="4597400"/>
                  </a:cubicBezTo>
                  <a:lnTo>
                    <a:pt x="147066" y="4597400"/>
                  </a:lnTo>
                  <a:cubicBezTo>
                    <a:pt x="65913" y="4597400"/>
                    <a:pt x="0" y="4531487"/>
                    <a:pt x="0" y="4450334"/>
                  </a:cubicBezTo>
                  <a:close/>
                </a:path>
              </a:pathLst>
            </a:custGeom>
            <a:solidFill>
              <a:srgbClr val="EEF4FB"/>
            </a:solidFill>
            <a:ln w="19050" cap="sq">
              <a:solidFill>
                <a:srgbClr val="D8DEE6"/>
              </a:solidFill>
              <a:prstDash val="solid"/>
              <a:miter/>
            </a:ln>
          </p:spPr>
          <p:txBody>
            <a:bodyPr/>
            <a:lstStyle/>
            <a:p>
              <a:endParaRPr lang="en-US"/>
            </a:p>
          </p:txBody>
        </p:sp>
      </p:grpSp>
      <p:grpSp>
        <p:nvGrpSpPr>
          <p:cNvPr id="32" name="Group 32"/>
          <p:cNvGrpSpPr/>
          <p:nvPr/>
        </p:nvGrpSpPr>
        <p:grpSpPr>
          <a:xfrm>
            <a:off x="5349240" y="5280660"/>
            <a:ext cx="3154680" cy="438912"/>
            <a:chOff x="0" y="0"/>
            <a:chExt cx="4206240" cy="585216"/>
          </a:xfrm>
        </p:grpSpPr>
        <p:sp>
          <p:nvSpPr>
            <p:cNvPr id="33" name="Freeform 33"/>
            <p:cNvSpPr/>
            <p:nvPr/>
          </p:nvSpPr>
          <p:spPr>
            <a:xfrm>
              <a:off x="0" y="0"/>
              <a:ext cx="4206240" cy="585216"/>
            </a:xfrm>
            <a:custGeom>
              <a:avLst/>
              <a:gdLst/>
              <a:ahLst/>
              <a:cxnLst/>
              <a:rect l="l" t="t" r="r" b="b"/>
              <a:pathLst>
                <a:path w="4206240" h="585216">
                  <a:moveTo>
                    <a:pt x="0" y="0"/>
                  </a:moveTo>
                  <a:lnTo>
                    <a:pt x="4206240" y="0"/>
                  </a:lnTo>
                  <a:lnTo>
                    <a:pt x="4206240" y="585216"/>
                  </a:lnTo>
                  <a:lnTo>
                    <a:pt x="0" y="585216"/>
                  </a:lnTo>
                  <a:close/>
                </a:path>
              </a:pathLst>
            </a:custGeom>
            <a:blipFill>
              <a:blip r:embed="rId3">
                <a:alphaModFix amt="0"/>
              </a:blip>
              <a:stretch>
                <a:fillRect t="-90048" b="-90048"/>
              </a:stretch>
            </a:blipFill>
          </p:spPr>
          <p:txBody>
            <a:bodyPr/>
            <a:lstStyle/>
            <a:p>
              <a:endParaRPr lang="en-US"/>
            </a:p>
          </p:txBody>
        </p:sp>
        <p:sp>
          <p:nvSpPr>
            <p:cNvPr id="34" name="TextBox 34"/>
            <p:cNvSpPr txBox="1"/>
            <p:nvPr/>
          </p:nvSpPr>
          <p:spPr>
            <a:xfrm>
              <a:off x="0" y="-38100"/>
              <a:ext cx="4206240" cy="623316"/>
            </a:xfrm>
            <a:prstGeom prst="rect">
              <a:avLst/>
            </a:prstGeom>
          </p:spPr>
          <p:txBody>
            <a:bodyPr lIns="0" tIns="0" rIns="0" bIns="0" rtlCol="0" anchor="ctr"/>
            <a:lstStyle/>
            <a:p>
              <a:pPr algn="l">
                <a:lnSpc>
                  <a:spcPts val="2160"/>
                </a:lnSpc>
              </a:pPr>
              <a:r>
                <a:rPr lang="en-US" sz="1800" b="1">
                  <a:solidFill>
                    <a:srgbClr val="171A1F"/>
                  </a:solidFill>
                  <a:latin typeface="Calibri"/>
                  <a:ea typeface="Calibri (MS) Bold"/>
                  <a:cs typeface="Calibri"/>
                  <a:sym typeface="Calibri (MS) Bold"/>
                </a:rPr>
                <a:t>First read + capital regime</a:t>
              </a:r>
            </a:p>
          </p:txBody>
        </p:sp>
      </p:grpSp>
      <p:grpSp>
        <p:nvGrpSpPr>
          <p:cNvPr id="35" name="Group 35"/>
          <p:cNvGrpSpPr/>
          <p:nvPr/>
        </p:nvGrpSpPr>
        <p:grpSpPr>
          <a:xfrm>
            <a:off x="5349240" y="5747004"/>
            <a:ext cx="3154680" cy="2606040"/>
            <a:chOff x="0" y="0"/>
            <a:chExt cx="4206240" cy="3474720"/>
          </a:xfrm>
        </p:grpSpPr>
        <p:sp>
          <p:nvSpPr>
            <p:cNvPr id="36" name="Freeform 36"/>
            <p:cNvSpPr/>
            <p:nvPr/>
          </p:nvSpPr>
          <p:spPr>
            <a:xfrm>
              <a:off x="0" y="0"/>
              <a:ext cx="4206240" cy="3474720"/>
            </a:xfrm>
            <a:custGeom>
              <a:avLst/>
              <a:gdLst/>
              <a:ahLst/>
              <a:cxnLst/>
              <a:rect l="l" t="t" r="r" b="b"/>
              <a:pathLst>
                <a:path w="4206240" h="3474720">
                  <a:moveTo>
                    <a:pt x="0" y="0"/>
                  </a:moveTo>
                  <a:lnTo>
                    <a:pt x="4206240" y="0"/>
                  </a:lnTo>
                  <a:lnTo>
                    <a:pt x="4206240" y="3474720"/>
                  </a:lnTo>
                  <a:lnTo>
                    <a:pt x="0" y="3474720"/>
                  </a:lnTo>
                  <a:close/>
                </a:path>
              </a:pathLst>
            </a:custGeom>
            <a:blipFill>
              <a:blip r:embed="rId3">
                <a:alphaModFix amt="0"/>
              </a:blip>
              <a:stretch>
                <a:fillRect l="-55989" r="-55989"/>
              </a:stretch>
            </a:blipFill>
          </p:spPr>
          <p:txBody>
            <a:bodyPr/>
            <a:lstStyle/>
            <a:p>
              <a:endParaRPr lang="en-US"/>
            </a:p>
          </p:txBody>
        </p:sp>
        <p:sp>
          <p:nvSpPr>
            <p:cNvPr id="37" name="TextBox 37"/>
            <p:cNvSpPr txBox="1"/>
            <p:nvPr/>
          </p:nvSpPr>
          <p:spPr>
            <a:xfrm>
              <a:off x="0" y="-38100"/>
              <a:ext cx="4206240" cy="351282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Board ratifies playbook and buyback redirect with FY2026 results (Jan). First attribution read (Apr); validation against uncontested baseline. Re-segmented disclosure begins with Q1 results.</a:t>
              </a:r>
            </a:p>
          </p:txBody>
        </p:sp>
      </p:grpSp>
      <p:grpSp>
        <p:nvGrpSpPr>
          <p:cNvPr id="38" name="Group 38"/>
          <p:cNvGrpSpPr/>
          <p:nvPr/>
        </p:nvGrpSpPr>
        <p:grpSpPr>
          <a:xfrm>
            <a:off x="10753344" y="4443984"/>
            <a:ext cx="301752" cy="301752"/>
            <a:chOff x="0" y="0"/>
            <a:chExt cx="402336" cy="402336"/>
          </a:xfrm>
        </p:grpSpPr>
        <p:sp>
          <p:nvSpPr>
            <p:cNvPr id="39" name="Freeform 39"/>
            <p:cNvSpPr/>
            <p:nvPr/>
          </p:nvSpPr>
          <p:spPr>
            <a:xfrm>
              <a:off x="0" y="0"/>
              <a:ext cx="402336" cy="402336"/>
            </a:xfrm>
            <a:custGeom>
              <a:avLst/>
              <a:gdLst/>
              <a:ahLst/>
              <a:cxnLst/>
              <a:rect l="l" t="t" r="r" b="b"/>
              <a:pathLst>
                <a:path w="402336" h="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0099D8"/>
            </a:solidFill>
          </p:spPr>
          <p:txBody>
            <a:bodyPr/>
            <a:lstStyle/>
            <a:p>
              <a:endParaRPr lang="en-US"/>
            </a:p>
          </p:txBody>
        </p:sp>
      </p:grpSp>
      <p:grpSp>
        <p:nvGrpSpPr>
          <p:cNvPr id="40" name="Group 40"/>
          <p:cNvGrpSpPr/>
          <p:nvPr/>
        </p:nvGrpSpPr>
        <p:grpSpPr>
          <a:xfrm>
            <a:off x="9724644" y="3744468"/>
            <a:ext cx="2400300" cy="480060"/>
            <a:chOff x="0" y="0"/>
            <a:chExt cx="3200400" cy="640080"/>
          </a:xfrm>
        </p:grpSpPr>
        <p:sp>
          <p:nvSpPr>
            <p:cNvPr id="41" name="Freeform 41"/>
            <p:cNvSpPr/>
            <p:nvPr/>
          </p:nvSpPr>
          <p:spPr>
            <a:xfrm>
              <a:off x="0" y="0"/>
              <a:ext cx="3200400" cy="640080"/>
            </a:xfrm>
            <a:custGeom>
              <a:avLst/>
              <a:gdLst/>
              <a:ahLst/>
              <a:cxnLst/>
              <a:rect l="l" t="t" r="r" b="b"/>
              <a:pathLst>
                <a:path w="3200400" h="640080">
                  <a:moveTo>
                    <a:pt x="0" y="0"/>
                  </a:moveTo>
                  <a:lnTo>
                    <a:pt x="3200400" y="0"/>
                  </a:lnTo>
                  <a:lnTo>
                    <a:pt x="3200400" y="640080"/>
                  </a:lnTo>
                  <a:lnTo>
                    <a:pt x="0" y="640080"/>
                  </a:lnTo>
                  <a:close/>
                </a:path>
              </a:pathLst>
            </a:custGeom>
            <a:blipFill>
              <a:blip r:embed="rId3">
                <a:alphaModFix amt="0"/>
              </a:blip>
              <a:stretch>
                <a:fillRect t="-47425" b="-47425"/>
              </a:stretch>
            </a:blipFill>
          </p:spPr>
          <p:txBody>
            <a:bodyPr/>
            <a:lstStyle/>
            <a:p>
              <a:endParaRPr lang="en-US"/>
            </a:p>
          </p:txBody>
        </p:sp>
        <p:sp>
          <p:nvSpPr>
            <p:cNvPr id="42" name="TextBox 42"/>
            <p:cNvSpPr txBox="1"/>
            <p:nvPr/>
          </p:nvSpPr>
          <p:spPr>
            <a:xfrm>
              <a:off x="0" y="-47625"/>
              <a:ext cx="3200400" cy="687705"/>
            </a:xfrm>
            <a:prstGeom prst="rect">
              <a:avLst/>
            </a:prstGeom>
          </p:spPr>
          <p:txBody>
            <a:bodyPr lIns="0" tIns="0" rIns="0" bIns="0" rtlCol="0" anchor="ctr"/>
            <a:lstStyle/>
            <a:p>
              <a:pPr algn="ctr">
                <a:lnSpc>
                  <a:spcPts val="2520"/>
                </a:lnSpc>
              </a:pPr>
              <a:r>
                <a:rPr lang="en-US" sz="2100" b="1">
                  <a:solidFill>
                    <a:srgbClr val="0099D8"/>
                  </a:solidFill>
                  <a:latin typeface="Calibri"/>
                  <a:ea typeface="Calibri (MS) Bold"/>
                  <a:cs typeface="Calibri"/>
                  <a:sym typeface="Calibri (MS) Bold"/>
                </a:rPr>
                <a:t>Q2 2027</a:t>
              </a:r>
            </a:p>
          </p:txBody>
        </p:sp>
      </p:grpSp>
      <p:grpSp>
        <p:nvGrpSpPr>
          <p:cNvPr id="43" name="Group 43"/>
          <p:cNvGrpSpPr/>
          <p:nvPr/>
        </p:nvGrpSpPr>
        <p:grpSpPr>
          <a:xfrm>
            <a:off x="9097899" y="5065395"/>
            <a:ext cx="3653790" cy="3448050"/>
            <a:chOff x="0" y="0"/>
            <a:chExt cx="4871720" cy="4597400"/>
          </a:xfrm>
        </p:grpSpPr>
        <p:sp>
          <p:nvSpPr>
            <p:cNvPr id="44" name="Freeform 44"/>
            <p:cNvSpPr/>
            <p:nvPr/>
          </p:nvSpPr>
          <p:spPr>
            <a:xfrm>
              <a:off x="0" y="0"/>
              <a:ext cx="4871720" cy="4597400"/>
            </a:xfrm>
            <a:custGeom>
              <a:avLst/>
              <a:gdLst/>
              <a:ahLst/>
              <a:cxnLst/>
              <a:rect l="l" t="t" r="r" b="b"/>
              <a:pathLst>
                <a:path w="4871720" h="4597400">
                  <a:moveTo>
                    <a:pt x="0" y="147066"/>
                  </a:moveTo>
                  <a:cubicBezTo>
                    <a:pt x="0" y="65913"/>
                    <a:pt x="65913" y="0"/>
                    <a:pt x="147066" y="0"/>
                  </a:cubicBezTo>
                  <a:lnTo>
                    <a:pt x="4724654" y="0"/>
                  </a:lnTo>
                  <a:cubicBezTo>
                    <a:pt x="4805934" y="0"/>
                    <a:pt x="4871720" y="65913"/>
                    <a:pt x="4871720" y="147066"/>
                  </a:cubicBezTo>
                  <a:lnTo>
                    <a:pt x="4871720" y="4450334"/>
                  </a:lnTo>
                  <a:cubicBezTo>
                    <a:pt x="4871720" y="4531614"/>
                    <a:pt x="4805807" y="4597400"/>
                    <a:pt x="4724654" y="4597400"/>
                  </a:cubicBezTo>
                  <a:lnTo>
                    <a:pt x="147066" y="4597400"/>
                  </a:lnTo>
                  <a:cubicBezTo>
                    <a:pt x="65913" y="4597400"/>
                    <a:pt x="0" y="4531487"/>
                    <a:pt x="0" y="4450334"/>
                  </a:cubicBezTo>
                  <a:close/>
                </a:path>
              </a:pathLst>
            </a:custGeom>
            <a:solidFill>
              <a:srgbClr val="EEF4FB"/>
            </a:solidFill>
            <a:ln w="19050" cap="sq">
              <a:solidFill>
                <a:srgbClr val="D8DEE6"/>
              </a:solidFill>
              <a:prstDash val="solid"/>
              <a:miter/>
            </a:ln>
          </p:spPr>
          <p:txBody>
            <a:bodyPr/>
            <a:lstStyle/>
            <a:p>
              <a:endParaRPr lang="en-US"/>
            </a:p>
          </p:txBody>
        </p:sp>
      </p:grpSp>
      <p:grpSp>
        <p:nvGrpSpPr>
          <p:cNvPr id="45" name="Group 45"/>
          <p:cNvGrpSpPr/>
          <p:nvPr/>
        </p:nvGrpSpPr>
        <p:grpSpPr>
          <a:xfrm>
            <a:off x="9354312" y="5280660"/>
            <a:ext cx="3154680" cy="438912"/>
            <a:chOff x="0" y="0"/>
            <a:chExt cx="4206240" cy="585216"/>
          </a:xfrm>
        </p:grpSpPr>
        <p:sp>
          <p:nvSpPr>
            <p:cNvPr id="46" name="Freeform 46"/>
            <p:cNvSpPr/>
            <p:nvPr/>
          </p:nvSpPr>
          <p:spPr>
            <a:xfrm>
              <a:off x="0" y="0"/>
              <a:ext cx="4206240" cy="585216"/>
            </a:xfrm>
            <a:custGeom>
              <a:avLst/>
              <a:gdLst/>
              <a:ahLst/>
              <a:cxnLst/>
              <a:rect l="l" t="t" r="r" b="b"/>
              <a:pathLst>
                <a:path w="4206240" h="585216">
                  <a:moveTo>
                    <a:pt x="0" y="0"/>
                  </a:moveTo>
                  <a:lnTo>
                    <a:pt x="4206240" y="0"/>
                  </a:lnTo>
                  <a:lnTo>
                    <a:pt x="4206240" y="585216"/>
                  </a:lnTo>
                  <a:lnTo>
                    <a:pt x="0" y="585216"/>
                  </a:lnTo>
                  <a:close/>
                </a:path>
              </a:pathLst>
            </a:custGeom>
            <a:blipFill>
              <a:blip r:embed="rId3">
                <a:alphaModFix amt="0"/>
              </a:blip>
              <a:stretch>
                <a:fillRect t="-90048" b="-90048"/>
              </a:stretch>
            </a:blipFill>
          </p:spPr>
          <p:txBody>
            <a:bodyPr/>
            <a:lstStyle/>
            <a:p>
              <a:endParaRPr lang="en-US"/>
            </a:p>
          </p:txBody>
        </p:sp>
        <p:sp>
          <p:nvSpPr>
            <p:cNvPr id="47" name="TextBox 47"/>
            <p:cNvSpPr txBox="1"/>
            <p:nvPr/>
          </p:nvSpPr>
          <p:spPr>
            <a:xfrm>
              <a:off x="0" y="-38100"/>
              <a:ext cx="4206240" cy="623316"/>
            </a:xfrm>
            <a:prstGeom prst="rect">
              <a:avLst/>
            </a:prstGeom>
          </p:spPr>
          <p:txBody>
            <a:bodyPr lIns="0" tIns="0" rIns="0" bIns="0" rtlCol="0" anchor="ctr"/>
            <a:lstStyle/>
            <a:p>
              <a:pPr algn="l">
                <a:lnSpc>
                  <a:spcPts val="2160"/>
                </a:lnSpc>
              </a:pPr>
              <a:r>
                <a:rPr lang="en-US" sz="1800" b="1">
                  <a:solidFill>
                    <a:srgbClr val="171A1F"/>
                  </a:solidFill>
                  <a:latin typeface="Calibri"/>
                  <a:ea typeface="Calibri (MS) Bold"/>
                  <a:cs typeface="Calibri"/>
                  <a:sym typeface="Calibri (MS) Bold"/>
                </a:rPr>
                <a:t>Plays trigger</a:t>
              </a:r>
            </a:p>
          </p:txBody>
        </p:sp>
      </p:grpSp>
      <p:grpSp>
        <p:nvGrpSpPr>
          <p:cNvPr id="48" name="Group 48"/>
          <p:cNvGrpSpPr/>
          <p:nvPr/>
        </p:nvGrpSpPr>
        <p:grpSpPr>
          <a:xfrm>
            <a:off x="9354312" y="5747004"/>
            <a:ext cx="3154680" cy="2606040"/>
            <a:chOff x="0" y="0"/>
            <a:chExt cx="4206240" cy="3474720"/>
          </a:xfrm>
        </p:grpSpPr>
        <p:sp>
          <p:nvSpPr>
            <p:cNvPr id="49" name="Freeform 49"/>
            <p:cNvSpPr/>
            <p:nvPr/>
          </p:nvSpPr>
          <p:spPr>
            <a:xfrm>
              <a:off x="0" y="0"/>
              <a:ext cx="4206240" cy="3474720"/>
            </a:xfrm>
            <a:custGeom>
              <a:avLst/>
              <a:gdLst/>
              <a:ahLst/>
              <a:cxnLst/>
              <a:rect l="l" t="t" r="r" b="b"/>
              <a:pathLst>
                <a:path w="4206240" h="3474720">
                  <a:moveTo>
                    <a:pt x="0" y="0"/>
                  </a:moveTo>
                  <a:lnTo>
                    <a:pt x="4206240" y="0"/>
                  </a:lnTo>
                  <a:lnTo>
                    <a:pt x="4206240" y="3474720"/>
                  </a:lnTo>
                  <a:lnTo>
                    <a:pt x="0" y="3474720"/>
                  </a:lnTo>
                  <a:close/>
                </a:path>
              </a:pathLst>
            </a:custGeom>
            <a:blipFill>
              <a:blip r:embed="rId3">
                <a:alphaModFix amt="0"/>
              </a:blip>
              <a:stretch>
                <a:fillRect l="-55989" r="-55989"/>
              </a:stretch>
            </a:blipFill>
          </p:spPr>
          <p:txBody>
            <a:bodyPr/>
            <a:lstStyle/>
            <a:p>
              <a:endParaRPr lang="en-US"/>
            </a:p>
          </p:txBody>
        </p:sp>
        <p:sp>
          <p:nvSpPr>
            <p:cNvPr id="50" name="TextBox 50"/>
            <p:cNvSpPr txBox="1"/>
            <p:nvPr/>
          </p:nvSpPr>
          <p:spPr>
            <a:xfrm>
              <a:off x="0" y="-38100"/>
              <a:ext cx="4206240" cy="351282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Lead play(s) launch with pre-authorized budgets; controlled experiments start with pre-registered treatment / control and review dates. Steady-state capex guide with Q2 results.</a:t>
              </a:r>
            </a:p>
          </p:txBody>
        </p:sp>
      </p:grpSp>
      <p:grpSp>
        <p:nvGrpSpPr>
          <p:cNvPr id="51" name="Group 51"/>
          <p:cNvGrpSpPr/>
          <p:nvPr/>
        </p:nvGrpSpPr>
        <p:grpSpPr>
          <a:xfrm>
            <a:off x="14758416" y="4443984"/>
            <a:ext cx="301752" cy="301752"/>
            <a:chOff x="0" y="0"/>
            <a:chExt cx="402336" cy="402336"/>
          </a:xfrm>
        </p:grpSpPr>
        <p:sp>
          <p:nvSpPr>
            <p:cNvPr id="52" name="Freeform 52"/>
            <p:cNvSpPr/>
            <p:nvPr/>
          </p:nvSpPr>
          <p:spPr>
            <a:xfrm>
              <a:off x="0" y="0"/>
              <a:ext cx="402336" cy="402336"/>
            </a:xfrm>
            <a:custGeom>
              <a:avLst/>
              <a:gdLst/>
              <a:ahLst/>
              <a:cxnLst/>
              <a:rect l="l" t="t" r="r" b="b"/>
              <a:pathLst>
                <a:path w="402336" h="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0099D8"/>
            </a:solidFill>
          </p:spPr>
          <p:txBody>
            <a:bodyPr/>
            <a:lstStyle/>
            <a:p>
              <a:endParaRPr lang="en-US"/>
            </a:p>
          </p:txBody>
        </p:sp>
      </p:grpSp>
      <p:grpSp>
        <p:nvGrpSpPr>
          <p:cNvPr id="53" name="Group 53"/>
          <p:cNvGrpSpPr/>
          <p:nvPr/>
        </p:nvGrpSpPr>
        <p:grpSpPr>
          <a:xfrm>
            <a:off x="13729716" y="3744468"/>
            <a:ext cx="2400300" cy="480060"/>
            <a:chOff x="0" y="0"/>
            <a:chExt cx="3200400" cy="640080"/>
          </a:xfrm>
        </p:grpSpPr>
        <p:sp>
          <p:nvSpPr>
            <p:cNvPr id="54" name="Freeform 54"/>
            <p:cNvSpPr/>
            <p:nvPr/>
          </p:nvSpPr>
          <p:spPr>
            <a:xfrm>
              <a:off x="0" y="0"/>
              <a:ext cx="3200400" cy="640080"/>
            </a:xfrm>
            <a:custGeom>
              <a:avLst/>
              <a:gdLst/>
              <a:ahLst/>
              <a:cxnLst/>
              <a:rect l="l" t="t" r="r" b="b"/>
              <a:pathLst>
                <a:path w="3200400" h="640080">
                  <a:moveTo>
                    <a:pt x="0" y="0"/>
                  </a:moveTo>
                  <a:lnTo>
                    <a:pt x="3200400" y="0"/>
                  </a:lnTo>
                  <a:lnTo>
                    <a:pt x="3200400" y="640080"/>
                  </a:lnTo>
                  <a:lnTo>
                    <a:pt x="0" y="640080"/>
                  </a:lnTo>
                  <a:close/>
                </a:path>
              </a:pathLst>
            </a:custGeom>
            <a:blipFill>
              <a:blip r:embed="rId3">
                <a:alphaModFix amt="0"/>
              </a:blip>
              <a:stretch>
                <a:fillRect t="-47425" b="-47425"/>
              </a:stretch>
            </a:blipFill>
          </p:spPr>
          <p:txBody>
            <a:bodyPr/>
            <a:lstStyle/>
            <a:p>
              <a:endParaRPr lang="en-US"/>
            </a:p>
          </p:txBody>
        </p:sp>
        <p:sp>
          <p:nvSpPr>
            <p:cNvPr id="55" name="TextBox 55"/>
            <p:cNvSpPr txBox="1"/>
            <p:nvPr/>
          </p:nvSpPr>
          <p:spPr>
            <a:xfrm>
              <a:off x="0" y="-47625"/>
              <a:ext cx="3200400" cy="687705"/>
            </a:xfrm>
            <a:prstGeom prst="rect">
              <a:avLst/>
            </a:prstGeom>
          </p:spPr>
          <p:txBody>
            <a:bodyPr lIns="0" tIns="0" rIns="0" bIns="0" rtlCol="0" anchor="ctr"/>
            <a:lstStyle/>
            <a:p>
              <a:pPr algn="ctr">
                <a:lnSpc>
                  <a:spcPts val="2520"/>
                </a:lnSpc>
              </a:pPr>
              <a:r>
                <a:rPr lang="en-US" sz="2100" b="1">
                  <a:solidFill>
                    <a:srgbClr val="0099D8"/>
                  </a:solidFill>
                  <a:latin typeface="Calibri"/>
                  <a:ea typeface="Calibri (MS) Bold"/>
                  <a:cs typeface="Calibri"/>
                  <a:sym typeface="Calibri (MS) Bold"/>
                </a:rPr>
                <a:t>Q3–Q4 2027</a:t>
              </a:r>
            </a:p>
          </p:txBody>
        </p:sp>
      </p:grpSp>
      <p:grpSp>
        <p:nvGrpSpPr>
          <p:cNvPr id="56" name="Group 56"/>
          <p:cNvGrpSpPr/>
          <p:nvPr/>
        </p:nvGrpSpPr>
        <p:grpSpPr>
          <a:xfrm>
            <a:off x="13102971" y="5065395"/>
            <a:ext cx="3653790" cy="3448050"/>
            <a:chOff x="0" y="0"/>
            <a:chExt cx="4871720" cy="4597400"/>
          </a:xfrm>
        </p:grpSpPr>
        <p:sp>
          <p:nvSpPr>
            <p:cNvPr id="57" name="Freeform 57"/>
            <p:cNvSpPr/>
            <p:nvPr/>
          </p:nvSpPr>
          <p:spPr>
            <a:xfrm>
              <a:off x="0" y="0"/>
              <a:ext cx="4871720" cy="4597400"/>
            </a:xfrm>
            <a:custGeom>
              <a:avLst/>
              <a:gdLst/>
              <a:ahLst/>
              <a:cxnLst/>
              <a:rect l="l" t="t" r="r" b="b"/>
              <a:pathLst>
                <a:path w="4871720" h="4597400">
                  <a:moveTo>
                    <a:pt x="0" y="147066"/>
                  </a:moveTo>
                  <a:cubicBezTo>
                    <a:pt x="0" y="65913"/>
                    <a:pt x="65913" y="0"/>
                    <a:pt x="147066" y="0"/>
                  </a:cubicBezTo>
                  <a:lnTo>
                    <a:pt x="4724654" y="0"/>
                  </a:lnTo>
                  <a:cubicBezTo>
                    <a:pt x="4805934" y="0"/>
                    <a:pt x="4871720" y="65913"/>
                    <a:pt x="4871720" y="147066"/>
                  </a:cubicBezTo>
                  <a:lnTo>
                    <a:pt x="4871720" y="4450334"/>
                  </a:lnTo>
                  <a:cubicBezTo>
                    <a:pt x="4871720" y="4531614"/>
                    <a:pt x="4805807" y="4597400"/>
                    <a:pt x="4724654" y="4597400"/>
                  </a:cubicBezTo>
                  <a:lnTo>
                    <a:pt x="147066" y="4597400"/>
                  </a:lnTo>
                  <a:cubicBezTo>
                    <a:pt x="65913" y="4597400"/>
                    <a:pt x="0" y="4531487"/>
                    <a:pt x="0" y="4450334"/>
                  </a:cubicBezTo>
                  <a:close/>
                </a:path>
              </a:pathLst>
            </a:custGeom>
            <a:solidFill>
              <a:srgbClr val="EEF4FB"/>
            </a:solidFill>
            <a:ln w="19050" cap="sq">
              <a:solidFill>
                <a:srgbClr val="D8DEE6"/>
              </a:solidFill>
              <a:prstDash val="solid"/>
              <a:miter/>
            </a:ln>
          </p:spPr>
          <p:txBody>
            <a:bodyPr/>
            <a:lstStyle/>
            <a:p>
              <a:endParaRPr lang="en-US"/>
            </a:p>
          </p:txBody>
        </p:sp>
      </p:grpSp>
      <p:grpSp>
        <p:nvGrpSpPr>
          <p:cNvPr id="58" name="Group 58"/>
          <p:cNvGrpSpPr/>
          <p:nvPr/>
        </p:nvGrpSpPr>
        <p:grpSpPr>
          <a:xfrm>
            <a:off x="13359384" y="5280660"/>
            <a:ext cx="3154680" cy="438912"/>
            <a:chOff x="0" y="0"/>
            <a:chExt cx="4206240" cy="585216"/>
          </a:xfrm>
        </p:grpSpPr>
        <p:sp>
          <p:nvSpPr>
            <p:cNvPr id="59" name="Freeform 59"/>
            <p:cNvSpPr/>
            <p:nvPr/>
          </p:nvSpPr>
          <p:spPr>
            <a:xfrm>
              <a:off x="0" y="0"/>
              <a:ext cx="4206240" cy="585216"/>
            </a:xfrm>
            <a:custGeom>
              <a:avLst/>
              <a:gdLst/>
              <a:ahLst/>
              <a:cxnLst/>
              <a:rect l="l" t="t" r="r" b="b"/>
              <a:pathLst>
                <a:path w="4206240" h="585216">
                  <a:moveTo>
                    <a:pt x="0" y="0"/>
                  </a:moveTo>
                  <a:lnTo>
                    <a:pt x="4206240" y="0"/>
                  </a:lnTo>
                  <a:lnTo>
                    <a:pt x="4206240" y="585216"/>
                  </a:lnTo>
                  <a:lnTo>
                    <a:pt x="0" y="585216"/>
                  </a:lnTo>
                  <a:close/>
                </a:path>
              </a:pathLst>
            </a:custGeom>
            <a:blipFill>
              <a:blip r:embed="rId3">
                <a:alphaModFix amt="0"/>
              </a:blip>
              <a:stretch>
                <a:fillRect t="-90048" b="-90048"/>
              </a:stretch>
            </a:blipFill>
          </p:spPr>
          <p:txBody>
            <a:bodyPr/>
            <a:lstStyle/>
            <a:p>
              <a:endParaRPr lang="en-US"/>
            </a:p>
          </p:txBody>
        </p:sp>
        <p:sp>
          <p:nvSpPr>
            <p:cNvPr id="60" name="TextBox 60"/>
            <p:cNvSpPr txBox="1"/>
            <p:nvPr/>
          </p:nvSpPr>
          <p:spPr>
            <a:xfrm>
              <a:off x="0" y="-38100"/>
              <a:ext cx="4206240" cy="623316"/>
            </a:xfrm>
            <a:prstGeom prst="rect">
              <a:avLst/>
            </a:prstGeom>
          </p:spPr>
          <p:txBody>
            <a:bodyPr lIns="0" tIns="0" rIns="0" bIns="0" rtlCol="0" anchor="ctr"/>
            <a:lstStyle/>
            <a:p>
              <a:pPr algn="l">
                <a:lnSpc>
                  <a:spcPts val="2160"/>
                </a:lnSpc>
              </a:pPr>
              <a:r>
                <a:rPr lang="en-US" sz="1800" b="1">
                  <a:solidFill>
                    <a:srgbClr val="171A1F"/>
                  </a:solidFill>
                  <a:latin typeface="Calibri"/>
                  <a:ea typeface="Calibri (MS) Bold"/>
                  <a:cs typeface="Calibri"/>
                  <a:sym typeface="Calibri (MS) Bold"/>
                </a:rPr>
                <a:t>Proof, kill, publish</a:t>
              </a:r>
            </a:p>
          </p:txBody>
        </p:sp>
      </p:grpSp>
      <p:grpSp>
        <p:nvGrpSpPr>
          <p:cNvPr id="61" name="Group 61"/>
          <p:cNvGrpSpPr/>
          <p:nvPr/>
        </p:nvGrpSpPr>
        <p:grpSpPr>
          <a:xfrm>
            <a:off x="13359384" y="5747004"/>
            <a:ext cx="3154680" cy="2606040"/>
            <a:chOff x="0" y="0"/>
            <a:chExt cx="4206240" cy="3474720"/>
          </a:xfrm>
        </p:grpSpPr>
        <p:sp>
          <p:nvSpPr>
            <p:cNvPr id="62" name="Freeform 62"/>
            <p:cNvSpPr/>
            <p:nvPr/>
          </p:nvSpPr>
          <p:spPr>
            <a:xfrm>
              <a:off x="0" y="0"/>
              <a:ext cx="4206240" cy="3474720"/>
            </a:xfrm>
            <a:custGeom>
              <a:avLst/>
              <a:gdLst/>
              <a:ahLst/>
              <a:cxnLst/>
              <a:rect l="l" t="t" r="r" b="b"/>
              <a:pathLst>
                <a:path w="4206240" h="3474720">
                  <a:moveTo>
                    <a:pt x="0" y="0"/>
                  </a:moveTo>
                  <a:lnTo>
                    <a:pt x="4206240" y="0"/>
                  </a:lnTo>
                  <a:lnTo>
                    <a:pt x="4206240" y="3474720"/>
                  </a:lnTo>
                  <a:lnTo>
                    <a:pt x="0" y="3474720"/>
                  </a:lnTo>
                  <a:close/>
                </a:path>
              </a:pathLst>
            </a:custGeom>
            <a:blipFill>
              <a:blip r:embed="rId3">
                <a:alphaModFix amt="0"/>
              </a:blip>
              <a:stretch>
                <a:fillRect l="-55989" r="-55989"/>
              </a:stretch>
            </a:blipFill>
          </p:spPr>
          <p:txBody>
            <a:bodyPr/>
            <a:lstStyle/>
            <a:p>
              <a:endParaRPr lang="en-US"/>
            </a:p>
          </p:txBody>
        </p:sp>
        <p:sp>
          <p:nvSpPr>
            <p:cNvPr id="63" name="TextBox 63"/>
            <p:cNvSpPr txBox="1"/>
            <p:nvPr/>
          </p:nvSpPr>
          <p:spPr>
            <a:xfrm>
              <a:off x="0" y="-38100"/>
              <a:ext cx="4206240" cy="351282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Proof metrics read; kill conditions executed without renegotiation; winners scale. Investor day (Q4) publishes triggers once the first read validates the map.</a:t>
              </a:r>
            </a:p>
          </p:txBody>
        </p:sp>
      </p:grpSp>
      <p:grpSp>
        <p:nvGrpSpPr>
          <p:cNvPr id="64" name="Group 64"/>
          <p:cNvGrpSpPr/>
          <p:nvPr/>
        </p:nvGrpSpPr>
        <p:grpSpPr>
          <a:xfrm>
            <a:off x="754380" y="8641080"/>
            <a:ext cx="16802100" cy="480060"/>
            <a:chOff x="0" y="0"/>
            <a:chExt cx="22402800" cy="640080"/>
          </a:xfrm>
        </p:grpSpPr>
        <p:sp>
          <p:nvSpPr>
            <p:cNvPr id="65" name="Freeform 65"/>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blipFill>
              <a:blip r:embed="rId3">
                <a:alphaModFix amt="0"/>
              </a:blip>
              <a:stretch>
                <a:fillRect t="-631976" b="-631976"/>
              </a:stretch>
            </a:blipFill>
          </p:spPr>
          <p:txBody>
            <a:bodyPr/>
            <a:lstStyle/>
            <a:p>
              <a:endParaRPr lang="en-US"/>
            </a:p>
          </p:txBody>
        </p:sp>
        <p:sp>
          <p:nvSpPr>
            <p:cNvPr id="66" name="TextBox 66"/>
            <p:cNvSpPr txBox="1"/>
            <p:nvPr/>
          </p:nvSpPr>
          <p:spPr>
            <a:xfrm>
              <a:off x="0" y="-38100"/>
              <a:ext cx="22402800" cy="678180"/>
            </a:xfrm>
            <a:prstGeom prst="rect">
              <a:avLst/>
            </a:prstGeom>
          </p:spPr>
          <p:txBody>
            <a:bodyPr lIns="0" tIns="0" rIns="0" bIns="0" rtlCol="0" anchor="ctr"/>
            <a:lstStyle/>
            <a:p>
              <a:pPr algn="l">
                <a:lnSpc>
                  <a:spcPts val="1800"/>
                </a:lnSpc>
              </a:pPr>
              <a:r>
                <a:rPr lang="en-US" sz="1500" i="1">
                  <a:solidFill>
                    <a:srgbClr val="66717D"/>
                  </a:solidFill>
                  <a:latin typeface="Calibri"/>
                  <a:ea typeface="Calibri (MS) Italics"/>
                  <a:cs typeface="Calibri"/>
                  <a:sym typeface="Calibri (MS) Italics"/>
                </a:rPr>
                <a:t>Ongoing cadence: attribution refreshes every quarter; thresholds re-checked; a null quarter can become a triggered quarter. The system runs as long as the Internet print is the priced variable.</a:t>
              </a:r>
            </a:p>
          </p:txBody>
        </p:sp>
      </p:grpSp>
      <p:grpSp>
        <p:nvGrpSpPr>
          <p:cNvPr id="67" name="Group 67"/>
          <p:cNvGrpSpPr/>
          <p:nvPr/>
        </p:nvGrpSpPr>
        <p:grpSpPr>
          <a:xfrm>
            <a:off x="754380" y="9189720"/>
            <a:ext cx="16733520" cy="411480"/>
            <a:chOff x="0" y="0"/>
            <a:chExt cx="22311360" cy="548640"/>
          </a:xfrm>
        </p:grpSpPr>
        <p:sp>
          <p:nvSpPr>
            <p:cNvPr id="68" name="Freeform 68"/>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69" name="TextBox 69"/>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 action="ppaction://noaction"/>
                </a:rPr>
                <a:t>←  Back to main deck  (p.10)</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70" name="Group 70"/>
          <p:cNvGrpSpPr/>
          <p:nvPr/>
        </p:nvGrpSpPr>
        <p:grpSpPr>
          <a:xfrm>
            <a:off x="17076420" y="9669780"/>
            <a:ext cx="960120" cy="411480"/>
            <a:chOff x="0" y="0"/>
            <a:chExt cx="1280160" cy="548640"/>
          </a:xfrm>
        </p:grpSpPr>
        <p:sp>
          <p:nvSpPr>
            <p:cNvPr id="71" name="Freeform 71"/>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72" name="TextBox 72"/>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31</a:t>
              </a:r>
            </a:p>
          </p:txBody>
        </p:sp>
      </p:grpSp>
      <p:grpSp>
        <p:nvGrpSpPr>
          <p:cNvPr id="73" name="Group 73"/>
          <p:cNvGrpSpPr/>
          <p:nvPr/>
        </p:nvGrpSpPr>
        <p:grpSpPr>
          <a:xfrm>
            <a:off x="754380" y="9669780"/>
            <a:ext cx="16047720" cy="411480"/>
            <a:chOff x="0" y="0"/>
            <a:chExt cx="21396960" cy="548640"/>
          </a:xfrm>
        </p:grpSpPr>
        <p:sp>
          <p:nvSpPr>
            <p:cNvPr id="74" name="Freeform 74"/>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75" name="TextBox 75"/>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A21  ·  ACTIONABILITY, TRADE-OFFS WE ASK THE CEO TO ACCEPT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Three Trade-offs We Ask the CEO to Accept</a:t>
            </a:r>
          </a:p>
        </p:txBody>
      </p:sp>
      <p:grpSp>
        <p:nvGrpSpPr>
          <p:cNvPr id="6" name="Group 6"/>
          <p:cNvGrpSpPr/>
          <p:nvPr/>
        </p:nvGrpSpPr>
        <p:grpSpPr>
          <a:xfrm>
            <a:off x="744855" y="2596515"/>
            <a:ext cx="16821150" cy="1802130"/>
            <a:chOff x="0" y="0"/>
            <a:chExt cx="22428200" cy="2402840"/>
          </a:xfrm>
        </p:grpSpPr>
        <p:sp>
          <p:nvSpPr>
            <p:cNvPr id="7" name="Freeform 7"/>
            <p:cNvSpPr/>
            <p:nvPr/>
          </p:nvSpPr>
          <p:spPr>
            <a:xfrm>
              <a:off x="0" y="0"/>
              <a:ext cx="22428200" cy="2402840"/>
            </a:xfrm>
            <a:custGeom>
              <a:avLst/>
              <a:gdLst/>
              <a:ahLst/>
              <a:cxnLst/>
              <a:rect l="l" t="t" r="r" b="b"/>
              <a:pathLst>
                <a:path w="22428200" h="2402840">
                  <a:moveTo>
                    <a:pt x="0" y="147828"/>
                  </a:moveTo>
                  <a:cubicBezTo>
                    <a:pt x="0" y="66167"/>
                    <a:pt x="66167" y="0"/>
                    <a:pt x="147828" y="0"/>
                  </a:cubicBezTo>
                  <a:lnTo>
                    <a:pt x="22280372" y="0"/>
                  </a:lnTo>
                  <a:cubicBezTo>
                    <a:pt x="22362033" y="0"/>
                    <a:pt x="22428200" y="66167"/>
                    <a:pt x="22428200" y="147828"/>
                  </a:cubicBezTo>
                  <a:lnTo>
                    <a:pt x="22428200" y="2255012"/>
                  </a:lnTo>
                  <a:cubicBezTo>
                    <a:pt x="22428200" y="2336673"/>
                    <a:pt x="22362033" y="2402840"/>
                    <a:pt x="22280372" y="2402840"/>
                  </a:cubicBezTo>
                  <a:lnTo>
                    <a:pt x="147828" y="2402840"/>
                  </a:lnTo>
                  <a:cubicBezTo>
                    <a:pt x="66167" y="2402840"/>
                    <a:pt x="0" y="2336673"/>
                    <a:pt x="0" y="2255012"/>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165860" y="2770632"/>
            <a:ext cx="5486400" cy="1440180"/>
            <a:chOff x="0" y="0"/>
            <a:chExt cx="7315200" cy="1920240"/>
          </a:xfrm>
        </p:grpSpPr>
        <p:sp>
          <p:nvSpPr>
            <p:cNvPr id="9" name="Freeform 9"/>
            <p:cNvSpPr/>
            <p:nvPr/>
          </p:nvSpPr>
          <p:spPr>
            <a:xfrm>
              <a:off x="0" y="0"/>
              <a:ext cx="7315200" cy="1920240"/>
            </a:xfrm>
            <a:custGeom>
              <a:avLst/>
              <a:gdLst/>
              <a:ahLst/>
              <a:cxnLst/>
              <a:rect l="l" t="t" r="r" b="b"/>
              <a:pathLst>
                <a:path w="7315200" h="1920240">
                  <a:moveTo>
                    <a:pt x="0" y="0"/>
                  </a:moveTo>
                  <a:lnTo>
                    <a:pt x="7315200" y="0"/>
                  </a:lnTo>
                  <a:lnTo>
                    <a:pt x="7315200" y="1920240"/>
                  </a:lnTo>
                  <a:lnTo>
                    <a:pt x="0" y="1920240"/>
                  </a:lnTo>
                  <a:close/>
                </a:path>
              </a:pathLst>
            </a:custGeom>
            <a:blipFill>
              <a:blip r:embed="rId3">
                <a:alphaModFix amt="0"/>
              </a:blip>
              <a:stretch>
                <a:fillRect t="-24228" b="-24228"/>
              </a:stretch>
            </a:blipFill>
          </p:spPr>
          <p:txBody>
            <a:bodyPr/>
            <a:lstStyle/>
            <a:p>
              <a:endParaRPr lang="en-US"/>
            </a:p>
          </p:txBody>
        </p:sp>
        <p:sp>
          <p:nvSpPr>
            <p:cNvPr id="10" name="TextBox 10"/>
            <p:cNvSpPr txBox="1"/>
            <p:nvPr/>
          </p:nvSpPr>
          <p:spPr>
            <a:xfrm>
              <a:off x="0" y="-47625"/>
              <a:ext cx="7315200" cy="196786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EPS accretion for balance-sheet credibility</a:t>
              </a:r>
            </a:p>
          </p:txBody>
        </p:sp>
      </p:grpSp>
      <p:grpSp>
        <p:nvGrpSpPr>
          <p:cNvPr id="11" name="Group 11"/>
          <p:cNvGrpSpPr/>
          <p:nvPr/>
        </p:nvGrpSpPr>
        <p:grpSpPr>
          <a:xfrm>
            <a:off x="6858000" y="2770632"/>
            <a:ext cx="10424160" cy="1440180"/>
            <a:chOff x="0" y="0"/>
            <a:chExt cx="13898880" cy="1920240"/>
          </a:xfrm>
        </p:grpSpPr>
        <p:sp>
          <p:nvSpPr>
            <p:cNvPr id="12" name="Freeform 12"/>
            <p:cNvSpPr/>
            <p:nvPr/>
          </p:nvSpPr>
          <p:spPr>
            <a:xfrm>
              <a:off x="0" y="0"/>
              <a:ext cx="13898880" cy="1920240"/>
            </a:xfrm>
            <a:custGeom>
              <a:avLst/>
              <a:gdLst/>
              <a:ahLst/>
              <a:cxnLst/>
              <a:rect l="l" t="t" r="r" b="b"/>
              <a:pathLst>
                <a:path w="13898880" h="1920240">
                  <a:moveTo>
                    <a:pt x="0" y="0"/>
                  </a:moveTo>
                  <a:lnTo>
                    <a:pt x="13898880" y="0"/>
                  </a:lnTo>
                  <a:lnTo>
                    <a:pt x="13898880" y="1920240"/>
                  </a:lnTo>
                  <a:lnTo>
                    <a:pt x="0" y="1920240"/>
                  </a:lnTo>
                  <a:close/>
                </a:path>
              </a:pathLst>
            </a:custGeom>
            <a:blipFill>
              <a:blip r:embed="rId3">
                <a:alphaModFix amt="0"/>
              </a:blip>
              <a:stretch>
                <a:fillRect t="-91034" b="-91034"/>
              </a:stretch>
            </a:blipFill>
          </p:spPr>
          <p:txBody>
            <a:bodyPr/>
            <a:lstStyle/>
            <a:p>
              <a:endParaRPr lang="en-US"/>
            </a:p>
          </p:txBody>
        </p:sp>
        <p:sp>
          <p:nvSpPr>
            <p:cNvPr id="13" name="TextBox 13"/>
            <p:cNvSpPr txBox="1"/>
            <p:nvPr/>
          </p:nvSpPr>
          <p:spPr>
            <a:xfrm>
              <a:off x="0" y="-28575"/>
              <a:ext cx="13898880" cy="194881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Pausing buybacks ends the mechanism that turned flat earnings into +4% EPS. We are betting the market rewards deleveraging more than it has rewarded repurchases, the last $6.4B says it will. Reversible: the reinstatement trigger is two improving prints.</a:t>
              </a:r>
            </a:p>
          </p:txBody>
        </p:sp>
      </p:grpSp>
      <p:grpSp>
        <p:nvGrpSpPr>
          <p:cNvPr id="14" name="Group 14"/>
          <p:cNvGrpSpPr/>
          <p:nvPr/>
        </p:nvGrpSpPr>
        <p:grpSpPr>
          <a:xfrm>
            <a:off x="744855" y="4585335"/>
            <a:ext cx="16821150" cy="1802130"/>
            <a:chOff x="0" y="0"/>
            <a:chExt cx="22428200" cy="2402840"/>
          </a:xfrm>
        </p:grpSpPr>
        <p:sp>
          <p:nvSpPr>
            <p:cNvPr id="15" name="Freeform 15"/>
            <p:cNvSpPr/>
            <p:nvPr/>
          </p:nvSpPr>
          <p:spPr>
            <a:xfrm>
              <a:off x="0" y="0"/>
              <a:ext cx="22428200" cy="2402840"/>
            </a:xfrm>
            <a:custGeom>
              <a:avLst/>
              <a:gdLst/>
              <a:ahLst/>
              <a:cxnLst/>
              <a:rect l="l" t="t" r="r" b="b"/>
              <a:pathLst>
                <a:path w="22428200" h="2402840">
                  <a:moveTo>
                    <a:pt x="0" y="147828"/>
                  </a:moveTo>
                  <a:cubicBezTo>
                    <a:pt x="0" y="66167"/>
                    <a:pt x="66167" y="0"/>
                    <a:pt x="147828" y="0"/>
                  </a:cubicBezTo>
                  <a:lnTo>
                    <a:pt x="22280372" y="0"/>
                  </a:lnTo>
                  <a:cubicBezTo>
                    <a:pt x="22362033" y="0"/>
                    <a:pt x="22428200" y="66167"/>
                    <a:pt x="22428200" y="147828"/>
                  </a:cubicBezTo>
                  <a:lnTo>
                    <a:pt x="22428200" y="2255012"/>
                  </a:lnTo>
                  <a:cubicBezTo>
                    <a:pt x="22428200" y="2336673"/>
                    <a:pt x="22362033" y="2402840"/>
                    <a:pt x="22280372" y="2402840"/>
                  </a:cubicBezTo>
                  <a:lnTo>
                    <a:pt x="147828" y="2402840"/>
                  </a:lnTo>
                  <a:cubicBezTo>
                    <a:pt x="66167" y="2402840"/>
                    <a:pt x="0" y="2336673"/>
                    <a:pt x="0" y="2255012"/>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6" name="Group 16"/>
          <p:cNvGrpSpPr/>
          <p:nvPr/>
        </p:nvGrpSpPr>
        <p:grpSpPr>
          <a:xfrm>
            <a:off x="1165860" y="4759452"/>
            <a:ext cx="5486400" cy="1440180"/>
            <a:chOff x="0" y="0"/>
            <a:chExt cx="7315200" cy="1920240"/>
          </a:xfrm>
        </p:grpSpPr>
        <p:sp>
          <p:nvSpPr>
            <p:cNvPr id="17" name="Freeform 17"/>
            <p:cNvSpPr/>
            <p:nvPr/>
          </p:nvSpPr>
          <p:spPr>
            <a:xfrm>
              <a:off x="0" y="0"/>
              <a:ext cx="7315200" cy="1920240"/>
            </a:xfrm>
            <a:custGeom>
              <a:avLst/>
              <a:gdLst/>
              <a:ahLst/>
              <a:cxnLst/>
              <a:rect l="l" t="t" r="r" b="b"/>
              <a:pathLst>
                <a:path w="7315200" h="1920240">
                  <a:moveTo>
                    <a:pt x="0" y="0"/>
                  </a:moveTo>
                  <a:lnTo>
                    <a:pt x="7315200" y="0"/>
                  </a:lnTo>
                  <a:lnTo>
                    <a:pt x="7315200" y="1920240"/>
                  </a:lnTo>
                  <a:lnTo>
                    <a:pt x="0" y="1920240"/>
                  </a:lnTo>
                  <a:close/>
                </a:path>
              </a:pathLst>
            </a:custGeom>
            <a:blipFill>
              <a:blip r:embed="rId3">
                <a:alphaModFix amt="0"/>
              </a:blip>
              <a:stretch>
                <a:fillRect t="-24228" b="-24228"/>
              </a:stretch>
            </a:blipFill>
          </p:spPr>
          <p:txBody>
            <a:bodyPr/>
            <a:lstStyle/>
            <a:p>
              <a:endParaRPr lang="en-US"/>
            </a:p>
          </p:txBody>
        </p:sp>
        <p:sp>
          <p:nvSpPr>
            <p:cNvPr id="18" name="TextBox 18"/>
            <p:cNvSpPr txBox="1"/>
            <p:nvPr/>
          </p:nvSpPr>
          <p:spPr>
            <a:xfrm>
              <a:off x="0" y="-47625"/>
              <a:ext cx="7315200" cy="196786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Transparency for optionality</a:t>
              </a:r>
            </a:p>
          </p:txBody>
        </p:sp>
      </p:grpSp>
      <p:grpSp>
        <p:nvGrpSpPr>
          <p:cNvPr id="19" name="Group 19"/>
          <p:cNvGrpSpPr/>
          <p:nvPr/>
        </p:nvGrpSpPr>
        <p:grpSpPr>
          <a:xfrm>
            <a:off x="6858000" y="4759452"/>
            <a:ext cx="10424160" cy="1440180"/>
            <a:chOff x="0" y="0"/>
            <a:chExt cx="13898880" cy="1920240"/>
          </a:xfrm>
        </p:grpSpPr>
        <p:sp>
          <p:nvSpPr>
            <p:cNvPr id="20" name="Freeform 20"/>
            <p:cNvSpPr/>
            <p:nvPr/>
          </p:nvSpPr>
          <p:spPr>
            <a:xfrm>
              <a:off x="0" y="0"/>
              <a:ext cx="13898880" cy="1920240"/>
            </a:xfrm>
            <a:custGeom>
              <a:avLst/>
              <a:gdLst/>
              <a:ahLst/>
              <a:cxnLst/>
              <a:rect l="l" t="t" r="r" b="b"/>
              <a:pathLst>
                <a:path w="13898880" h="1920240">
                  <a:moveTo>
                    <a:pt x="0" y="0"/>
                  </a:moveTo>
                  <a:lnTo>
                    <a:pt x="13898880" y="0"/>
                  </a:lnTo>
                  <a:lnTo>
                    <a:pt x="13898880" y="1920240"/>
                  </a:lnTo>
                  <a:lnTo>
                    <a:pt x="0" y="1920240"/>
                  </a:lnTo>
                  <a:close/>
                </a:path>
              </a:pathLst>
            </a:custGeom>
            <a:blipFill>
              <a:blip r:embed="rId3">
                <a:alphaModFix amt="0"/>
              </a:blip>
              <a:stretch>
                <a:fillRect t="-91034" b="-91034"/>
              </a:stretch>
            </a:blipFill>
          </p:spPr>
          <p:txBody>
            <a:bodyPr/>
            <a:lstStyle/>
            <a:p>
              <a:endParaRPr lang="en-US"/>
            </a:p>
          </p:txBody>
        </p:sp>
        <p:sp>
          <p:nvSpPr>
            <p:cNvPr id="21" name="TextBox 21"/>
            <p:cNvSpPr txBox="1"/>
            <p:nvPr/>
          </p:nvSpPr>
          <p:spPr>
            <a:xfrm>
              <a:off x="0" y="-28575"/>
              <a:ext cx="13898880" cy="194881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Publishing triggers and cohort churn hands competitors and bears a better map of Charter. We accept that because the market has stopped pricing anything it cannot verify, and because the worst case is already in the price.</a:t>
              </a:r>
            </a:p>
          </p:txBody>
        </p:sp>
      </p:grpSp>
      <p:grpSp>
        <p:nvGrpSpPr>
          <p:cNvPr id="22" name="Group 22"/>
          <p:cNvGrpSpPr/>
          <p:nvPr/>
        </p:nvGrpSpPr>
        <p:grpSpPr>
          <a:xfrm>
            <a:off x="744855" y="6574155"/>
            <a:ext cx="16821150" cy="1802130"/>
            <a:chOff x="0" y="0"/>
            <a:chExt cx="22428200" cy="2402840"/>
          </a:xfrm>
        </p:grpSpPr>
        <p:sp>
          <p:nvSpPr>
            <p:cNvPr id="23" name="Freeform 23"/>
            <p:cNvSpPr/>
            <p:nvPr/>
          </p:nvSpPr>
          <p:spPr>
            <a:xfrm>
              <a:off x="0" y="0"/>
              <a:ext cx="22428200" cy="2402840"/>
            </a:xfrm>
            <a:custGeom>
              <a:avLst/>
              <a:gdLst/>
              <a:ahLst/>
              <a:cxnLst/>
              <a:rect l="l" t="t" r="r" b="b"/>
              <a:pathLst>
                <a:path w="22428200" h="2402840">
                  <a:moveTo>
                    <a:pt x="0" y="147828"/>
                  </a:moveTo>
                  <a:cubicBezTo>
                    <a:pt x="0" y="66167"/>
                    <a:pt x="66167" y="0"/>
                    <a:pt x="147828" y="0"/>
                  </a:cubicBezTo>
                  <a:lnTo>
                    <a:pt x="22280372" y="0"/>
                  </a:lnTo>
                  <a:cubicBezTo>
                    <a:pt x="22362033" y="0"/>
                    <a:pt x="22428200" y="66167"/>
                    <a:pt x="22428200" y="147828"/>
                  </a:cubicBezTo>
                  <a:lnTo>
                    <a:pt x="22428200" y="2255012"/>
                  </a:lnTo>
                  <a:cubicBezTo>
                    <a:pt x="22428200" y="2336673"/>
                    <a:pt x="22362033" y="2402840"/>
                    <a:pt x="22280372" y="2402840"/>
                  </a:cubicBezTo>
                  <a:lnTo>
                    <a:pt x="147828" y="2402840"/>
                  </a:lnTo>
                  <a:cubicBezTo>
                    <a:pt x="66167" y="2402840"/>
                    <a:pt x="0" y="2336673"/>
                    <a:pt x="0" y="2255012"/>
                  </a:cubicBezTo>
                  <a:close/>
                </a:path>
              </a:pathLst>
            </a:custGeom>
            <a:solidFill>
              <a:srgbClr val="EEF4FB"/>
            </a:solidFill>
            <a:ln w="19050" cap="sq">
              <a:solidFill>
                <a:srgbClr val="D8DEE6"/>
              </a:solidFill>
              <a:prstDash val="solid"/>
              <a:miter/>
            </a:ln>
          </p:spPr>
          <p:txBody>
            <a:bodyPr/>
            <a:lstStyle/>
            <a:p>
              <a:endParaRPr lang="en-US"/>
            </a:p>
          </p:txBody>
        </p:sp>
      </p:grpSp>
      <p:grpSp>
        <p:nvGrpSpPr>
          <p:cNvPr id="24" name="Group 24"/>
          <p:cNvGrpSpPr/>
          <p:nvPr/>
        </p:nvGrpSpPr>
        <p:grpSpPr>
          <a:xfrm>
            <a:off x="1165860" y="6748272"/>
            <a:ext cx="5486400" cy="1440180"/>
            <a:chOff x="0" y="0"/>
            <a:chExt cx="7315200" cy="1920240"/>
          </a:xfrm>
        </p:grpSpPr>
        <p:sp>
          <p:nvSpPr>
            <p:cNvPr id="25" name="Freeform 25"/>
            <p:cNvSpPr/>
            <p:nvPr/>
          </p:nvSpPr>
          <p:spPr>
            <a:xfrm>
              <a:off x="0" y="0"/>
              <a:ext cx="7315200" cy="1920240"/>
            </a:xfrm>
            <a:custGeom>
              <a:avLst/>
              <a:gdLst/>
              <a:ahLst/>
              <a:cxnLst/>
              <a:rect l="l" t="t" r="r" b="b"/>
              <a:pathLst>
                <a:path w="7315200" h="1920240">
                  <a:moveTo>
                    <a:pt x="0" y="0"/>
                  </a:moveTo>
                  <a:lnTo>
                    <a:pt x="7315200" y="0"/>
                  </a:lnTo>
                  <a:lnTo>
                    <a:pt x="7315200" y="1920240"/>
                  </a:lnTo>
                  <a:lnTo>
                    <a:pt x="0" y="1920240"/>
                  </a:lnTo>
                  <a:close/>
                </a:path>
              </a:pathLst>
            </a:custGeom>
            <a:blipFill>
              <a:blip r:embed="rId3">
                <a:alphaModFix amt="0"/>
              </a:blip>
              <a:stretch>
                <a:fillRect t="-24228" b="-24228"/>
              </a:stretch>
            </a:blipFill>
          </p:spPr>
          <p:txBody>
            <a:bodyPr/>
            <a:lstStyle/>
            <a:p>
              <a:endParaRPr lang="en-US"/>
            </a:p>
          </p:txBody>
        </p:sp>
        <p:sp>
          <p:nvSpPr>
            <p:cNvPr id="26" name="TextBox 26"/>
            <p:cNvSpPr txBox="1"/>
            <p:nvPr/>
          </p:nvSpPr>
          <p:spPr>
            <a:xfrm>
              <a:off x="0" y="-47625"/>
              <a:ext cx="7315200" cy="1967865"/>
            </a:xfrm>
            <a:prstGeom prst="rect">
              <a:avLst/>
            </a:prstGeom>
          </p:spPr>
          <p:txBody>
            <a:bodyPr lIns="0" tIns="0" rIns="0" bIns="0" rtlCol="0" anchor="ctr"/>
            <a:lstStyle/>
            <a:p>
              <a:pPr algn="l">
                <a:lnSpc>
                  <a:spcPts val="2520"/>
                </a:lnSpc>
              </a:pPr>
              <a:r>
                <a:rPr lang="en-US" sz="2100" b="1">
                  <a:solidFill>
                    <a:srgbClr val="171A1F"/>
                  </a:solidFill>
                  <a:latin typeface="Calibri"/>
                  <a:ea typeface="Calibri (MS) Bold"/>
                  <a:cs typeface="Calibri"/>
                  <a:sym typeface="Calibri (MS) Bold"/>
                </a:rPr>
                <a:t>Discipline for flexibility</a:t>
              </a:r>
            </a:p>
          </p:txBody>
        </p:sp>
      </p:grpSp>
      <p:grpSp>
        <p:nvGrpSpPr>
          <p:cNvPr id="27" name="Group 27"/>
          <p:cNvGrpSpPr/>
          <p:nvPr/>
        </p:nvGrpSpPr>
        <p:grpSpPr>
          <a:xfrm>
            <a:off x="6858000" y="6748272"/>
            <a:ext cx="10424160" cy="1440180"/>
            <a:chOff x="0" y="0"/>
            <a:chExt cx="13898880" cy="1920240"/>
          </a:xfrm>
        </p:grpSpPr>
        <p:sp>
          <p:nvSpPr>
            <p:cNvPr id="28" name="Freeform 28"/>
            <p:cNvSpPr/>
            <p:nvPr/>
          </p:nvSpPr>
          <p:spPr>
            <a:xfrm>
              <a:off x="0" y="0"/>
              <a:ext cx="13898880" cy="1920240"/>
            </a:xfrm>
            <a:custGeom>
              <a:avLst/>
              <a:gdLst/>
              <a:ahLst/>
              <a:cxnLst/>
              <a:rect l="l" t="t" r="r" b="b"/>
              <a:pathLst>
                <a:path w="13898880" h="1920240">
                  <a:moveTo>
                    <a:pt x="0" y="0"/>
                  </a:moveTo>
                  <a:lnTo>
                    <a:pt x="13898880" y="0"/>
                  </a:lnTo>
                  <a:lnTo>
                    <a:pt x="13898880" y="1920240"/>
                  </a:lnTo>
                  <a:lnTo>
                    <a:pt x="0" y="1920240"/>
                  </a:lnTo>
                  <a:close/>
                </a:path>
              </a:pathLst>
            </a:custGeom>
            <a:blipFill>
              <a:blip r:embed="rId3">
                <a:alphaModFix amt="0"/>
              </a:blip>
              <a:stretch>
                <a:fillRect t="-91034" b="-91034"/>
              </a:stretch>
            </a:blipFill>
          </p:spPr>
          <p:txBody>
            <a:bodyPr/>
            <a:lstStyle/>
            <a:p>
              <a:endParaRPr lang="en-US"/>
            </a:p>
          </p:txBody>
        </p:sp>
        <p:sp>
          <p:nvSpPr>
            <p:cNvPr id="29" name="TextBox 29"/>
            <p:cNvSpPr txBox="1"/>
            <p:nvPr/>
          </p:nvSpPr>
          <p:spPr>
            <a:xfrm>
              <a:off x="0" y="-28575"/>
              <a:ext cx="13898880" cy="1948815"/>
            </a:xfrm>
            <a:prstGeom prst="rect">
              <a:avLst/>
            </a:prstGeom>
          </p:spPr>
          <p:txBody>
            <a:bodyPr lIns="0" tIns="0" rIns="0" bIns="0" rtlCol="0" anchor="ctr"/>
            <a:lstStyle/>
            <a:p>
              <a:pPr algn="l">
                <a:lnSpc>
                  <a:spcPts val="1980"/>
                </a:lnSpc>
              </a:pPr>
              <a:r>
                <a:rPr lang="en-US" sz="1650">
                  <a:solidFill>
                    <a:srgbClr val="66717D"/>
                  </a:solidFill>
                  <a:latin typeface="Calibri"/>
                  <a:ea typeface="Calibri (MS)"/>
                  <a:cs typeface="Calibri"/>
                  <a:sym typeface="Calibri (MS)"/>
                </a:rPr>
                <a:t>Pre-commitment removes management’s freedom to re-decide after the data lands, including the freedom to keep defending zones the kill condition says to harvest. That loss of flexibility is the product; it is what makes the plan believable.</a:t>
              </a:r>
            </a:p>
          </p:txBody>
        </p:sp>
      </p:grpSp>
      <p:grpSp>
        <p:nvGrpSpPr>
          <p:cNvPr id="30" name="Group 30"/>
          <p:cNvGrpSpPr/>
          <p:nvPr/>
        </p:nvGrpSpPr>
        <p:grpSpPr>
          <a:xfrm>
            <a:off x="754380" y="9189720"/>
            <a:ext cx="16733520" cy="411480"/>
            <a:chOff x="0" y="0"/>
            <a:chExt cx="22311360" cy="548640"/>
          </a:xfrm>
        </p:grpSpPr>
        <p:sp>
          <p:nvSpPr>
            <p:cNvPr id="31" name="Freeform 31"/>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2" name="TextBox 32"/>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 action="ppaction://noaction"/>
                </a:rPr>
                <a:t>←  Back to main deck  (p.10)</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33" name="Group 33"/>
          <p:cNvGrpSpPr/>
          <p:nvPr/>
        </p:nvGrpSpPr>
        <p:grpSpPr>
          <a:xfrm>
            <a:off x="17076420" y="9669780"/>
            <a:ext cx="960120" cy="411480"/>
            <a:chOff x="0" y="0"/>
            <a:chExt cx="1280160" cy="548640"/>
          </a:xfrm>
        </p:grpSpPr>
        <p:sp>
          <p:nvSpPr>
            <p:cNvPr id="34" name="Freeform 34"/>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5" name="TextBox 35"/>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32</a:t>
              </a:r>
            </a:p>
          </p:txBody>
        </p:sp>
      </p:grpSp>
      <p:grpSp>
        <p:nvGrpSpPr>
          <p:cNvPr id="36" name="Group 36"/>
          <p:cNvGrpSpPr/>
          <p:nvPr/>
        </p:nvGrpSpPr>
        <p:grpSpPr>
          <a:xfrm>
            <a:off x="754380" y="9669780"/>
            <a:ext cx="16047720" cy="411480"/>
            <a:chOff x="0" y="0"/>
            <a:chExt cx="21396960" cy="548640"/>
          </a:xfrm>
        </p:grpSpPr>
        <p:sp>
          <p:nvSpPr>
            <p:cNvPr id="37" name="Freeform 37"/>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38" name="TextBox 38"/>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A22  ·  SUPPORT, ALTERNATIVES CONSIDERED AND WHY NOT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Six Alternatives Considered, and Why Not</a:t>
            </a:r>
          </a:p>
        </p:txBody>
      </p:sp>
      <p:grpSp>
        <p:nvGrpSpPr>
          <p:cNvPr id="6" name="Group 6"/>
          <p:cNvGrpSpPr/>
          <p:nvPr/>
        </p:nvGrpSpPr>
        <p:grpSpPr>
          <a:xfrm>
            <a:off x="754380" y="2606040"/>
            <a:ext cx="16802100" cy="850392"/>
            <a:chOff x="0" y="0"/>
            <a:chExt cx="22402800" cy="1133856"/>
          </a:xfrm>
        </p:grpSpPr>
        <p:sp>
          <p:nvSpPr>
            <p:cNvPr id="7" name="Freeform 7"/>
            <p:cNvSpPr/>
            <p:nvPr/>
          </p:nvSpPr>
          <p:spPr>
            <a:xfrm>
              <a:off x="0" y="0"/>
              <a:ext cx="22402800" cy="1133856"/>
            </a:xfrm>
            <a:custGeom>
              <a:avLst/>
              <a:gdLst/>
              <a:ahLst/>
              <a:cxnLst/>
              <a:rect l="l" t="t" r="r" b="b"/>
              <a:pathLst>
                <a:path w="22402800" h="1133856">
                  <a:moveTo>
                    <a:pt x="0" y="0"/>
                  </a:moveTo>
                  <a:lnTo>
                    <a:pt x="22402800" y="0"/>
                  </a:lnTo>
                  <a:lnTo>
                    <a:pt x="22402800" y="1133856"/>
                  </a:lnTo>
                  <a:lnTo>
                    <a:pt x="0" y="1133856"/>
                  </a:lnTo>
                  <a:close/>
                </a:path>
              </a:pathLst>
            </a:custGeom>
            <a:solidFill>
              <a:srgbClr val="003057"/>
            </a:solidFill>
          </p:spPr>
          <p:txBody>
            <a:bodyPr/>
            <a:lstStyle/>
            <a:p>
              <a:endParaRPr lang="en-US"/>
            </a:p>
          </p:txBody>
        </p:sp>
      </p:grpSp>
      <p:grpSp>
        <p:nvGrpSpPr>
          <p:cNvPr id="8" name="Group 8"/>
          <p:cNvGrpSpPr/>
          <p:nvPr/>
        </p:nvGrpSpPr>
        <p:grpSpPr>
          <a:xfrm>
            <a:off x="864108" y="2606040"/>
            <a:ext cx="4306824" cy="850392"/>
            <a:chOff x="0" y="0"/>
            <a:chExt cx="5742432" cy="1133856"/>
          </a:xfrm>
        </p:grpSpPr>
        <p:sp>
          <p:nvSpPr>
            <p:cNvPr id="9" name="Freeform 9"/>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10" name="TextBox 10"/>
            <p:cNvSpPr txBox="1"/>
            <p:nvPr/>
          </p:nvSpPr>
          <p:spPr>
            <a:xfrm>
              <a:off x="0" y="-19050"/>
              <a:ext cx="5742432" cy="115290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Alternative</a:t>
              </a:r>
            </a:p>
          </p:txBody>
        </p:sp>
      </p:grpSp>
      <p:grpSp>
        <p:nvGrpSpPr>
          <p:cNvPr id="11" name="Group 11"/>
          <p:cNvGrpSpPr/>
          <p:nvPr/>
        </p:nvGrpSpPr>
        <p:grpSpPr>
          <a:xfrm>
            <a:off x="5390388" y="2606040"/>
            <a:ext cx="3346704" cy="850392"/>
            <a:chOff x="0" y="0"/>
            <a:chExt cx="4462272" cy="1133856"/>
          </a:xfrm>
        </p:grpSpPr>
        <p:sp>
          <p:nvSpPr>
            <p:cNvPr id="12" name="Freeform 12"/>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13" name="TextBox 13"/>
            <p:cNvSpPr txBox="1"/>
            <p:nvPr/>
          </p:nvSpPr>
          <p:spPr>
            <a:xfrm>
              <a:off x="0" y="-19050"/>
              <a:ext cx="4462272" cy="115290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Why it appeals</a:t>
              </a:r>
            </a:p>
          </p:txBody>
        </p:sp>
      </p:grpSp>
      <p:grpSp>
        <p:nvGrpSpPr>
          <p:cNvPr id="14" name="Group 14"/>
          <p:cNvGrpSpPr/>
          <p:nvPr/>
        </p:nvGrpSpPr>
        <p:grpSpPr>
          <a:xfrm>
            <a:off x="8956548" y="2606040"/>
            <a:ext cx="5129784" cy="850392"/>
            <a:chOff x="0" y="0"/>
            <a:chExt cx="6839712" cy="1133856"/>
          </a:xfrm>
        </p:grpSpPr>
        <p:sp>
          <p:nvSpPr>
            <p:cNvPr id="15" name="Freeform 15"/>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16" name="TextBox 16"/>
            <p:cNvSpPr txBox="1"/>
            <p:nvPr/>
          </p:nvSpPr>
          <p:spPr>
            <a:xfrm>
              <a:off x="0" y="-19050"/>
              <a:ext cx="6839712" cy="115290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Why not as the recommendation</a:t>
              </a:r>
            </a:p>
          </p:txBody>
        </p:sp>
      </p:grpSp>
      <p:grpSp>
        <p:nvGrpSpPr>
          <p:cNvPr id="17" name="Group 17"/>
          <p:cNvGrpSpPr/>
          <p:nvPr/>
        </p:nvGrpSpPr>
        <p:grpSpPr>
          <a:xfrm>
            <a:off x="14305788" y="2606040"/>
            <a:ext cx="3140964" cy="850392"/>
            <a:chOff x="0" y="0"/>
            <a:chExt cx="4187952" cy="1133856"/>
          </a:xfrm>
        </p:grpSpPr>
        <p:sp>
          <p:nvSpPr>
            <p:cNvPr id="18" name="Freeform 18"/>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19" name="TextBox 19"/>
            <p:cNvSpPr txBox="1"/>
            <p:nvPr/>
          </p:nvSpPr>
          <p:spPr>
            <a:xfrm>
              <a:off x="0" y="-19050"/>
              <a:ext cx="4187952" cy="1152906"/>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Where it lives</a:t>
              </a:r>
            </a:p>
          </p:txBody>
        </p:sp>
      </p:grpSp>
      <p:grpSp>
        <p:nvGrpSpPr>
          <p:cNvPr id="20" name="Group 20"/>
          <p:cNvGrpSpPr/>
          <p:nvPr/>
        </p:nvGrpSpPr>
        <p:grpSpPr>
          <a:xfrm>
            <a:off x="754380" y="3456432"/>
            <a:ext cx="16802100" cy="850392"/>
            <a:chOff x="0" y="0"/>
            <a:chExt cx="22402800" cy="1133856"/>
          </a:xfrm>
        </p:grpSpPr>
        <p:sp>
          <p:nvSpPr>
            <p:cNvPr id="21" name="Freeform 21"/>
            <p:cNvSpPr/>
            <p:nvPr/>
          </p:nvSpPr>
          <p:spPr>
            <a:xfrm>
              <a:off x="0" y="0"/>
              <a:ext cx="22402800" cy="1133856"/>
            </a:xfrm>
            <a:custGeom>
              <a:avLst/>
              <a:gdLst/>
              <a:ahLst/>
              <a:cxnLst/>
              <a:rect l="l" t="t" r="r" b="b"/>
              <a:pathLst>
                <a:path w="22402800" h="1133856">
                  <a:moveTo>
                    <a:pt x="0" y="0"/>
                  </a:moveTo>
                  <a:lnTo>
                    <a:pt x="22402800" y="0"/>
                  </a:lnTo>
                  <a:lnTo>
                    <a:pt x="22402800" y="1133856"/>
                  </a:lnTo>
                  <a:lnTo>
                    <a:pt x="0" y="1133856"/>
                  </a:lnTo>
                  <a:close/>
                </a:path>
              </a:pathLst>
            </a:custGeom>
            <a:solidFill>
              <a:srgbClr val="EEF4FB"/>
            </a:solidFill>
          </p:spPr>
          <p:txBody>
            <a:bodyPr/>
            <a:lstStyle/>
            <a:p>
              <a:endParaRPr lang="en-US"/>
            </a:p>
          </p:txBody>
        </p:sp>
      </p:grpSp>
      <p:grpSp>
        <p:nvGrpSpPr>
          <p:cNvPr id="22" name="Group 22"/>
          <p:cNvGrpSpPr/>
          <p:nvPr/>
        </p:nvGrpSpPr>
        <p:grpSpPr>
          <a:xfrm>
            <a:off x="864108" y="3456432"/>
            <a:ext cx="4306824" cy="850392"/>
            <a:chOff x="0" y="0"/>
            <a:chExt cx="5742432" cy="1133856"/>
          </a:xfrm>
        </p:grpSpPr>
        <p:sp>
          <p:nvSpPr>
            <p:cNvPr id="23" name="Freeform 23"/>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24" name="TextBox 24"/>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Run the network upgrade harder (DOCSIS 4.0 everywhere, faster)</a:t>
              </a:r>
            </a:p>
          </p:txBody>
        </p:sp>
      </p:grpSp>
      <p:grpSp>
        <p:nvGrpSpPr>
          <p:cNvPr id="25" name="Group 25"/>
          <p:cNvGrpSpPr/>
          <p:nvPr/>
        </p:nvGrpSpPr>
        <p:grpSpPr>
          <a:xfrm>
            <a:off x="5390388" y="3456432"/>
            <a:ext cx="3346704" cy="850392"/>
            <a:chOff x="0" y="0"/>
            <a:chExt cx="4462272" cy="1133856"/>
          </a:xfrm>
        </p:grpSpPr>
        <p:sp>
          <p:nvSpPr>
            <p:cNvPr id="26" name="Freeform 26"/>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27" name="TextBox 27"/>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Answers fiber; management’s current plan</a:t>
              </a:r>
            </a:p>
          </p:txBody>
        </p:sp>
      </p:grpSp>
      <p:grpSp>
        <p:nvGrpSpPr>
          <p:cNvPr id="28" name="Group 28"/>
          <p:cNvGrpSpPr/>
          <p:nvPr/>
        </p:nvGrpSpPr>
        <p:grpSpPr>
          <a:xfrm>
            <a:off x="8956548" y="3456432"/>
            <a:ext cx="5129784" cy="850392"/>
            <a:chOff x="0" y="0"/>
            <a:chExt cx="6839712" cy="1133856"/>
          </a:xfrm>
        </p:grpSpPr>
        <p:sp>
          <p:nvSpPr>
            <p:cNvPr id="29" name="Freeform 29"/>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30" name="TextBox 30"/>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“Keep doing what we’re doing, but better”; capex already ~$11.4B; no evidence fiber is the dominant attacker</a:t>
              </a:r>
            </a:p>
          </p:txBody>
        </p:sp>
      </p:grpSp>
      <p:grpSp>
        <p:nvGrpSpPr>
          <p:cNvPr id="31" name="Group 31"/>
          <p:cNvGrpSpPr/>
          <p:nvPr/>
        </p:nvGrpSpPr>
        <p:grpSpPr>
          <a:xfrm>
            <a:off x="14305788" y="3456432"/>
            <a:ext cx="3140964" cy="850392"/>
            <a:chOff x="0" y="0"/>
            <a:chExt cx="4187952" cy="1133856"/>
          </a:xfrm>
        </p:grpSpPr>
        <p:sp>
          <p:nvSpPr>
            <p:cNvPr id="32" name="Freeform 32"/>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33" name="TextBox 33"/>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Scenario 2, re-sequenced by exposure</a:t>
              </a:r>
            </a:p>
          </p:txBody>
        </p:sp>
      </p:grpSp>
      <p:grpSp>
        <p:nvGrpSpPr>
          <p:cNvPr id="34" name="Group 34"/>
          <p:cNvGrpSpPr/>
          <p:nvPr/>
        </p:nvGrpSpPr>
        <p:grpSpPr>
          <a:xfrm>
            <a:off x="864108" y="4306824"/>
            <a:ext cx="4306824" cy="850392"/>
            <a:chOff x="0" y="0"/>
            <a:chExt cx="5742432" cy="1133856"/>
          </a:xfrm>
        </p:grpSpPr>
        <p:sp>
          <p:nvSpPr>
            <p:cNvPr id="35" name="Freeform 35"/>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36" name="TextBox 36"/>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Convergence pricing attack across the footprint</a:t>
              </a:r>
            </a:p>
          </p:txBody>
        </p:sp>
      </p:grpSp>
      <p:grpSp>
        <p:nvGrpSpPr>
          <p:cNvPr id="37" name="Group 37"/>
          <p:cNvGrpSpPr/>
          <p:nvPr/>
        </p:nvGrpSpPr>
        <p:grpSpPr>
          <a:xfrm>
            <a:off x="5390388" y="4306824"/>
            <a:ext cx="3346704" cy="850392"/>
            <a:chOff x="0" y="0"/>
            <a:chExt cx="4462272" cy="1133856"/>
          </a:xfrm>
        </p:grpSpPr>
        <p:sp>
          <p:nvSpPr>
            <p:cNvPr id="38" name="Freeform 38"/>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39" name="TextBox 39"/>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Answers FWA; mobile is growing 19%</a:t>
              </a:r>
            </a:p>
          </p:txBody>
        </p:sp>
      </p:grpSp>
      <p:grpSp>
        <p:nvGrpSpPr>
          <p:cNvPr id="40" name="Group 40"/>
          <p:cNvGrpSpPr/>
          <p:nvPr/>
        </p:nvGrpSpPr>
        <p:grpSpPr>
          <a:xfrm>
            <a:off x="8956548" y="4306824"/>
            <a:ext cx="5129784" cy="850392"/>
            <a:chOff x="0" y="0"/>
            <a:chExt cx="6839712" cy="1133856"/>
          </a:xfrm>
        </p:grpSpPr>
        <p:sp>
          <p:nvSpPr>
            <p:cNvPr id="41" name="Freeform 41"/>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42" name="TextBox 42"/>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Funds retention through ARPU, the rate offset is already negative; MVNO margin unknown</a:t>
              </a:r>
            </a:p>
          </p:txBody>
        </p:sp>
      </p:grpSp>
      <p:grpSp>
        <p:nvGrpSpPr>
          <p:cNvPr id="43" name="Group 43"/>
          <p:cNvGrpSpPr/>
          <p:nvPr/>
        </p:nvGrpSpPr>
        <p:grpSpPr>
          <a:xfrm>
            <a:off x="14305788" y="4306824"/>
            <a:ext cx="3140964" cy="850392"/>
            <a:chOff x="0" y="0"/>
            <a:chExt cx="4187952" cy="1133856"/>
          </a:xfrm>
        </p:grpSpPr>
        <p:sp>
          <p:nvSpPr>
            <p:cNvPr id="44" name="Freeform 44"/>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45" name="TextBox 45"/>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Scenario 1, FWA zones only, gated</a:t>
              </a:r>
            </a:p>
          </p:txBody>
        </p:sp>
      </p:grpSp>
      <p:grpSp>
        <p:nvGrpSpPr>
          <p:cNvPr id="46" name="Group 46"/>
          <p:cNvGrpSpPr/>
          <p:nvPr/>
        </p:nvGrpSpPr>
        <p:grpSpPr>
          <a:xfrm>
            <a:off x="754380" y="5157216"/>
            <a:ext cx="16802100" cy="850392"/>
            <a:chOff x="0" y="0"/>
            <a:chExt cx="22402800" cy="1133856"/>
          </a:xfrm>
        </p:grpSpPr>
        <p:sp>
          <p:nvSpPr>
            <p:cNvPr id="47" name="Freeform 47"/>
            <p:cNvSpPr/>
            <p:nvPr/>
          </p:nvSpPr>
          <p:spPr>
            <a:xfrm>
              <a:off x="0" y="0"/>
              <a:ext cx="22402800" cy="1133856"/>
            </a:xfrm>
            <a:custGeom>
              <a:avLst/>
              <a:gdLst/>
              <a:ahLst/>
              <a:cxnLst/>
              <a:rect l="l" t="t" r="r" b="b"/>
              <a:pathLst>
                <a:path w="22402800" h="1133856">
                  <a:moveTo>
                    <a:pt x="0" y="0"/>
                  </a:moveTo>
                  <a:lnTo>
                    <a:pt x="22402800" y="0"/>
                  </a:lnTo>
                  <a:lnTo>
                    <a:pt x="22402800" y="1133856"/>
                  </a:lnTo>
                  <a:lnTo>
                    <a:pt x="0" y="1133856"/>
                  </a:lnTo>
                  <a:close/>
                </a:path>
              </a:pathLst>
            </a:custGeom>
            <a:solidFill>
              <a:srgbClr val="EEF4FB"/>
            </a:solidFill>
          </p:spPr>
          <p:txBody>
            <a:bodyPr/>
            <a:lstStyle/>
            <a:p>
              <a:endParaRPr lang="en-US"/>
            </a:p>
          </p:txBody>
        </p:sp>
      </p:grpSp>
      <p:grpSp>
        <p:nvGrpSpPr>
          <p:cNvPr id="48" name="Group 48"/>
          <p:cNvGrpSpPr/>
          <p:nvPr/>
        </p:nvGrpSpPr>
        <p:grpSpPr>
          <a:xfrm>
            <a:off x="864108" y="5157216"/>
            <a:ext cx="4306824" cy="850392"/>
            <a:chOff x="0" y="0"/>
            <a:chExt cx="5742432" cy="1133856"/>
          </a:xfrm>
        </p:grpSpPr>
        <p:sp>
          <p:nvSpPr>
            <p:cNvPr id="49" name="Freeform 49"/>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50" name="TextBox 50"/>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Cut operating costs / headcount</a:t>
              </a:r>
            </a:p>
          </p:txBody>
        </p:sp>
      </p:grpSp>
      <p:grpSp>
        <p:nvGrpSpPr>
          <p:cNvPr id="51" name="Group 51"/>
          <p:cNvGrpSpPr/>
          <p:nvPr/>
        </p:nvGrpSpPr>
        <p:grpSpPr>
          <a:xfrm>
            <a:off x="5390388" y="5157216"/>
            <a:ext cx="3346704" cy="850392"/>
            <a:chOff x="0" y="0"/>
            <a:chExt cx="4462272" cy="1133856"/>
          </a:xfrm>
        </p:grpSpPr>
        <p:sp>
          <p:nvSpPr>
            <p:cNvPr id="52" name="Freeform 52"/>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53" name="TextBox 53"/>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Familiar; fast EPS</a:t>
              </a:r>
            </a:p>
          </p:txBody>
        </p:sp>
      </p:grpSp>
      <p:grpSp>
        <p:nvGrpSpPr>
          <p:cNvPr id="54" name="Group 54"/>
          <p:cNvGrpSpPr/>
          <p:nvPr/>
        </p:nvGrpSpPr>
        <p:grpSpPr>
          <a:xfrm>
            <a:off x="8956548" y="5157216"/>
            <a:ext cx="5129784" cy="850392"/>
            <a:chOff x="0" y="0"/>
            <a:chExt cx="6839712" cy="1133856"/>
          </a:xfrm>
        </p:grpSpPr>
        <p:sp>
          <p:nvSpPr>
            <p:cNvPr id="55" name="Freeform 55"/>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56" name="TextBox 56"/>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Margins already 41% and costs fell; hits the insourced field force that is a churn differentiator</a:t>
              </a:r>
            </a:p>
          </p:txBody>
        </p:sp>
      </p:grpSp>
      <p:grpSp>
        <p:nvGrpSpPr>
          <p:cNvPr id="57" name="Group 57"/>
          <p:cNvGrpSpPr/>
          <p:nvPr/>
        </p:nvGrpSpPr>
        <p:grpSpPr>
          <a:xfrm>
            <a:off x="14305788" y="5157216"/>
            <a:ext cx="3140964" cy="850392"/>
            <a:chOff x="0" y="0"/>
            <a:chExt cx="4187952" cy="1133856"/>
          </a:xfrm>
        </p:grpSpPr>
        <p:sp>
          <p:nvSpPr>
            <p:cNvPr id="58" name="Freeform 58"/>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59" name="TextBox 59"/>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Killed (H1)</a:t>
              </a:r>
            </a:p>
          </p:txBody>
        </p:sp>
      </p:grpSp>
      <p:grpSp>
        <p:nvGrpSpPr>
          <p:cNvPr id="60" name="Group 60"/>
          <p:cNvGrpSpPr/>
          <p:nvPr/>
        </p:nvGrpSpPr>
        <p:grpSpPr>
          <a:xfrm>
            <a:off x="864108" y="6007608"/>
            <a:ext cx="4306824" cy="850392"/>
            <a:chOff x="0" y="0"/>
            <a:chExt cx="5742432" cy="1133856"/>
          </a:xfrm>
        </p:grpSpPr>
        <p:sp>
          <p:nvSpPr>
            <p:cNvPr id="61" name="Freeform 61"/>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62" name="TextBox 62"/>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Wait for the 2027 capex roll-off and FCF inflection</a:t>
              </a:r>
            </a:p>
          </p:txBody>
        </p:sp>
      </p:grpSp>
      <p:grpSp>
        <p:nvGrpSpPr>
          <p:cNvPr id="63" name="Group 63"/>
          <p:cNvGrpSpPr/>
          <p:nvPr/>
        </p:nvGrpSpPr>
        <p:grpSpPr>
          <a:xfrm>
            <a:off x="5390388" y="6007608"/>
            <a:ext cx="3346704" cy="850392"/>
            <a:chOff x="0" y="0"/>
            <a:chExt cx="4462272" cy="1133856"/>
          </a:xfrm>
        </p:grpSpPr>
        <p:sp>
          <p:nvSpPr>
            <p:cNvPr id="64" name="Freeform 64"/>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65" name="TextBox 65"/>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Real; management’s implicit thesis</a:t>
              </a:r>
            </a:p>
          </p:txBody>
        </p:sp>
      </p:grpSp>
      <p:grpSp>
        <p:nvGrpSpPr>
          <p:cNvPr id="66" name="Group 66"/>
          <p:cNvGrpSpPr/>
          <p:nvPr/>
        </p:nvGrpSpPr>
        <p:grpSpPr>
          <a:xfrm>
            <a:off x="8956548" y="6007608"/>
            <a:ext cx="5129784" cy="850392"/>
            <a:chOff x="0" y="0"/>
            <a:chExt cx="6839712" cy="1133856"/>
          </a:xfrm>
        </p:grpSpPr>
        <p:sp>
          <p:nvSpPr>
            <p:cNvPr id="67" name="Freeform 67"/>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68" name="TextBox 68"/>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FCF r = 0.08 with the tape; a wait is not a strategy; window closes first</a:t>
              </a:r>
            </a:p>
          </p:txBody>
        </p:sp>
      </p:grpSp>
      <p:grpSp>
        <p:nvGrpSpPr>
          <p:cNvPr id="69" name="Group 69"/>
          <p:cNvGrpSpPr/>
          <p:nvPr/>
        </p:nvGrpSpPr>
        <p:grpSpPr>
          <a:xfrm>
            <a:off x="14305788" y="6007608"/>
            <a:ext cx="3140964" cy="850392"/>
            <a:chOff x="0" y="0"/>
            <a:chExt cx="4187952" cy="1133856"/>
          </a:xfrm>
        </p:grpSpPr>
        <p:sp>
          <p:nvSpPr>
            <p:cNvPr id="70" name="Freeform 70"/>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71" name="TextBox 71"/>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Rec 2B: guide steady-state capex as a number</a:t>
              </a:r>
            </a:p>
          </p:txBody>
        </p:sp>
      </p:grpSp>
      <p:grpSp>
        <p:nvGrpSpPr>
          <p:cNvPr id="72" name="Group 72"/>
          <p:cNvGrpSpPr/>
          <p:nvPr/>
        </p:nvGrpSpPr>
        <p:grpSpPr>
          <a:xfrm>
            <a:off x="754380" y="6858000"/>
            <a:ext cx="16802100" cy="850392"/>
            <a:chOff x="0" y="0"/>
            <a:chExt cx="22402800" cy="1133856"/>
          </a:xfrm>
        </p:grpSpPr>
        <p:sp>
          <p:nvSpPr>
            <p:cNvPr id="73" name="Freeform 73"/>
            <p:cNvSpPr/>
            <p:nvPr/>
          </p:nvSpPr>
          <p:spPr>
            <a:xfrm>
              <a:off x="0" y="0"/>
              <a:ext cx="22402800" cy="1133856"/>
            </a:xfrm>
            <a:custGeom>
              <a:avLst/>
              <a:gdLst/>
              <a:ahLst/>
              <a:cxnLst/>
              <a:rect l="l" t="t" r="r" b="b"/>
              <a:pathLst>
                <a:path w="22402800" h="1133856">
                  <a:moveTo>
                    <a:pt x="0" y="0"/>
                  </a:moveTo>
                  <a:lnTo>
                    <a:pt x="22402800" y="0"/>
                  </a:lnTo>
                  <a:lnTo>
                    <a:pt x="22402800" y="1133856"/>
                  </a:lnTo>
                  <a:lnTo>
                    <a:pt x="0" y="1133856"/>
                  </a:lnTo>
                  <a:close/>
                </a:path>
              </a:pathLst>
            </a:custGeom>
            <a:solidFill>
              <a:srgbClr val="EEF4FB"/>
            </a:solidFill>
          </p:spPr>
          <p:txBody>
            <a:bodyPr/>
            <a:lstStyle/>
            <a:p>
              <a:endParaRPr lang="en-US"/>
            </a:p>
          </p:txBody>
        </p:sp>
      </p:grpSp>
      <p:grpSp>
        <p:nvGrpSpPr>
          <p:cNvPr id="74" name="Group 74"/>
          <p:cNvGrpSpPr/>
          <p:nvPr/>
        </p:nvGrpSpPr>
        <p:grpSpPr>
          <a:xfrm>
            <a:off x="864108" y="6858000"/>
            <a:ext cx="4306824" cy="850392"/>
            <a:chOff x="0" y="0"/>
            <a:chExt cx="5742432" cy="1133856"/>
          </a:xfrm>
        </p:grpSpPr>
        <p:sp>
          <p:nvSpPr>
            <p:cNvPr id="75" name="Freeform 75"/>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76" name="TextBox 76"/>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Initiate a dividend</a:t>
              </a:r>
            </a:p>
          </p:txBody>
        </p:sp>
      </p:grpSp>
      <p:grpSp>
        <p:nvGrpSpPr>
          <p:cNvPr id="77" name="Group 77"/>
          <p:cNvGrpSpPr/>
          <p:nvPr/>
        </p:nvGrpSpPr>
        <p:grpSpPr>
          <a:xfrm>
            <a:off x="5390388" y="6858000"/>
            <a:ext cx="3346704" cy="850392"/>
            <a:chOff x="0" y="0"/>
            <a:chExt cx="4462272" cy="1133856"/>
          </a:xfrm>
        </p:grpSpPr>
        <p:sp>
          <p:nvSpPr>
            <p:cNvPr id="78" name="Freeform 78"/>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79" name="TextBox 79"/>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Signals confidence; peers pay</a:t>
              </a:r>
            </a:p>
          </p:txBody>
        </p:sp>
      </p:grpSp>
      <p:grpSp>
        <p:nvGrpSpPr>
          <p:cNvPr id="80" name="Group 80"/>
          <p:cNvGrpSpPr/>
          <p:nvPr/>
        </p:nvGrpSpPr>
        <p:grpSpPr>
          <a:xfrm>
            <a:off x="8956548" y="6858000"/>
            <a:ext cx="5129784" cy="850392"/>
            <a:chOff x="0" y="0"/>
            <a:chExt cx="6839712" cy="1133856"/>
          </a:xfrm>
        </p:grpSpPr>
        <p:sp>
          <p:nvSpPr>
            <p:cNvPr id="81" name="Freeform 81"/>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82" name="TextBox 82"/>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Permanent cash claim on a shrinking engine; does not touch leverage or interest</a:t>
              </a:r>
            </a:p>
          </p:txBody>
        </p:sp>
      </p:grpSp>
      <p:grpSp>
        <p:nvGrpSpPr>
          <p:cNvPr id="83" name="Group 83"/>
          <p:cNvGrpSpPr/>
          <p:nvPr/>
        </p:nvGrpSpPr>
        <p:grpSpPr>
          <a:xfrm>
            <a:off x="14305788" y="6858000"/>
            <a:ext cx="3140964" cy="850392"/>
            <a:chOff x="0" y="0"/>
            <a:chExt cx="4187952" cy="1133856"/>
          </a:xfrm>
        </p:grpSpPr>
        <p:sp>
          <p:nvSpPr>
            <p:cNvPr id="84" name="Freeform 84"/>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85" name="TextBox 85"/>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Rejected; deleveraging preferred (Rec 2C)</a:t>
              </a:r>
            </a:p>
          </p:txBody>
        </p:sp>
      </p:grpSp>
      <p:grpSp>
        <p:nvGrpSpPr>
          <p:cNvPr id="86" name="Group 86"/>
          <p:cNvGrpSpPr/>
          <p:nvPr/>
        </p:nvGrpSpPr>
        <p:grpSpPr>
          <a:xfrm>
            <a:off x="864108" y="7708392"/>
            <a:ext cx="4306824" cy="850392"/>
            <a:chOff x="0" y="0"/>
            <a:chExt cx="5742432" cy="1133856"/>
          </a:xfrm>
        </p:grpSpPr>
        <p:sp>
          <p:nvSpPr>
            <p:cNvPr id="87" name="Freeform 87"/>
            <p:cNvSpPr/>
            <p:nvPr/>
          </p:nvSpPr>
          <p:spPr>
            <a:xfrm>
              <a:off x="0" y="0"/>
              <a:ext cx="5742432" cy="1133856"/>
            </a:xfrm>
            <a:custGeom>
              <a:avLst/>
              <a:gdLst/>
              <a:ahLst/>
              <a:cxnLst/>
              <a:rect l="l" t="t" r="r" b="b"/>
              <a:pathLst>
                <a:path w="5742432" h="1133856">
                  <a:moveTo>
                    <a:pt x="0" y="0"/>
                  </a:moveTo>
                  <a:lnTo>
                    <a:pt x="5742432" y="0"/>
                  </a:lnTo>
                  <a:lnTo>
                    <a:pt x="5742432" y="1133856"/>
                  </a:lnTo>
                  <a:lnTo>
                    <a:pt x="0" y="1133856"/>
                  </a:lnTo>
                  <a:close/>
                </a:path>
              </a:pathLst>
            </a:custGeom>
            <a:blipFill>
              <a:blip r:embed="rId3">
                <a:alphaModFix amt="0"/>
              </a:blip>
              <a:stretch>
                <a:fillRect t="-48682" b="-48682"/>
              </a:stretch>
            </a:blipFill>
          </p:spPr>
          <p:txBody>
            <a:bodyPr/>
            <a:lstStyle/>
            <a:p>
              <a:endParaRPr lang="en-US"/>
            </a:p>
          </p:txBody>
        </p:sp>
        <p:sp>
          <p:nvSpPr>
            <p:cNvPr id="88" name="TextBox 88"/>
            <p:cNvSpPr txBox="1"/>
            <p:nvPr/>
          </p:nvSpPr>
          <p:spPr>
            <a:xfrm>
              <a:off x="0" y="-38100"/>
              <a:ext cx="5742432" cy="11719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NetCo / ServCo structural separation</a:t>
              </a:r>
            </a:p>
          </p:txBody>
        </p:sp>
      </p:grpSp>
      <p:grpSp>
        <p:nvGrpSpPr>
          <p:cNvPr id="89" name="Group 89"/>
          <p:cNvGrpSpPr/>
          <p:nvPr/>
        </p:nvGrpSpPr>
        <p:grpSpPr>
          <a:xfrm>
            <a:off x="5390388" y="7708392"/>
            <a:ext cx="3346704" cy="850392"/>
            <a:chOff x="0" y="0"/>
            <a:chExt cx="4462272" cy="1133856"/>
          </a:xfrm>
        </p:grpSpPr>
        <p:sp>
          <p:nvSpPr>
            <p:cNvPr id="90" name="Freeform 90"/>
            <p:cNvSpPr/>
            <p:nvPr/>
          </p:nvSpPr>
          <p:spPr>
            <a:xfrm>
              <a:off x="0" y="0"/>
              <a:ext cx="4462272" cy="1133856"/>
            </a:xfrm>
            <a:custGeom>
              <a:avLst/>
              <a:gdLst/>
              <a:ahLst/>
              <a:cxnLst/>
              <a:rect l="l" t="t" r="r" b="b"/>
              <a:pathLst>
                <a:path w="4462272" h="1133856">
                  <a:moveTo>
                    <a:pt x="0" y="0"/>
                  </a:moveTo>
                  <a:lnTo>
                    <a:pt x="4462272" y="0"/>
                  </a:lnTo>
                  <a:lnTo>
                    <a:pt x="4462272" y="1133856"/>
                  </a:lnTo>
                  <a:lnTo>
                    <a:pt x="0" y="1133856"/>
                  </a:lnTo>
                  <a:close/>
                </a:path>
              </a:pathLst>
            </a:custGeom>
            <a:blipFill>
              <a:blip r:embed="rId3">
                <a:alphaModFix amt="0"/>
              </a:blip>
              <a:stretch>
                <a:fillRect t="-26683" b="-26683"/>
              </a:stretch>
            </a:blipFill>
          </p:spPr>
          <p:txBody>
            <a:bodyPr/>
            <a:lstStyle/>
            <a:p>
              <a:endParaRPr lang="en-US"/>
            </a:p>
          </p:txBody>
        </p:sp>
        <p:sp>
          <p:nvSpPr>
            <p:cNvPr id="91" name="TextBox 91"/>
            <p:cNvSpPr txBox="1"/>
            <p:nvPr/>
          </p:nvSpPr>
          <p:spPr>
            <a:xfrm>
              <a:off x="0" y="-38100"/>
              <a:ext cx="446227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Re-prices infrastructure like towers/real estate</a:t>
              </a:r>
            </a:p>
          </p:txBody>
        </p:sp>
      </p:grpSp>
      <p:grpSp>
        <p:nvGrpSpPr>
          <p:cNvPr id="92" name="Group 92"/>
          <p:cNvGrpSpPr/>
          <p:nvPr/>
        </p:nvGrpSpPr>
        <p:grpSpPr>
          <a:xfrm>
            <a:off x="8956548" y="7708392"/>
            <a:ext cx="5129784" cy="850392"/>
            <a:chOff x="0" y="0"/>
            <a:chExt cx="6839712" cy="1133856"/>
          </a:xfrm>
        </p:grpSpPr>
        <p:sp>
          <p:nvSpPr>
            <p:cNvPr id="93" name="Freeform 93"/>
            <p:cNvSpPr/>
            <p:nvPr/>
          </p:nvSpPr>
          <p:spPr>
            <a:xfrm>
              <a:off x="0" y="0"/>
              <a:ext cx="6839712" cy="1133856"/>
            </a:xfrm>
            <a:custGeom>
              <a:avLst/>
              <a:gdLst/>
              <a:ahLst/>
              <a:cxnLst/>
              <a:rect l="l" t="t" r="r" b="b"/>
              <a:pathLst>
                <a:path w="6839712" h="1133856">
                  <a:moveTo>
                    <a:pt x="0" y="0"/>
                  </a:moveTo>
                  <a:lnTo>
                    <a:pt x="6839712" y="0"/>
                  </a:lnTo>
                  <a:lnTo>
                    <a:pt x="6839712" y="1133856"/>
                  </a:lnTo>
                  <a:lnTo>
                    <a:pt x="0" y="1133856"/>
                  </a:lnTo>
                  <a:close/>
                </a:path>
              </a:pathLst>
            </a:custGeom>
            <a:blipFill>
              <a:blip r:embed="rId3">
                <a:alphaModFix amt="0"/>
              </a:blip>
              <a:stretch>
                <a:fillRect t="-67538" b="-67538"/>
              </a:stretch>
            </a:blipFill>
          </p:spPr>
          <p:txBody>
            <a:bodyPr/>
            <a:lstStyle/>
            <a:p>
              <a:endParaRPr lang="en-US"/>
            </a:p>
          </p:txBody>
        </p:sp>
        <p:sp>
          <p:nvSpPr>
            <p:cNvPr id="94" name="TextBox 94"/>
            <p:cNvSpPr txBox="1"/>
            <p:nvPr/>
          </p:nvSpPr>
          <p:spPr>
            <a:xfrm>
              <a:off x="0" y="-38100"/>
              <a:ext cx="6839712" cy="11719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Multi-year; Cox and Liberty deals already reset the perimeter; outside the eight-quarter window</a:t>
              </a:r>
            </a:p>
          </p:txBody>
        </p:sp>
      </p:grpSp>
      <p:grpSp>
        <p:nvGrpSpPr>
          <p:cNvPr id="95" name="Group 95"/>
          <p:cNvGrpSpPr/>
          <p:nvPr/>
        </p:nvGrpSpPr>
        <p:grpSpPr>
          <a:xfrm>
            <a:off x="14305788" y="7708392"/>
            <a:ext cx="3140964" cy="850392"/>
            <a:chOff x="0" y="0"/>
            <a:chExt cx="4187952" cy="1133856"/>
          </a:xfrm>
        </p:grpSpPr>
        <p:sp>
          <p:nvSpPr>
            <p:cNvPr id="96" name="Freeform 96"/>
            <p:cNvSpPr/>
            <p:nvPr/>
          </p:nvSpPr>
          <p:spPr>
            <a:xfrm>
              <a:off x="0" y="0"/>
              <a:ext cx="4187952" cy="1133856"/>
            </a:xfrm>
            <a:custGeom>
              <a:avLst/>
              <a:gdLst/>
              <a:ahLst/>
              <a:cxnLst/>
              <a:rect l="l" t="t" r="r" b="b"/>
              <a:pathLst>
                <a:path w="4187952" h="1133856">
                  <a:moveTo>
                    <a:pt x="0" y="0"/>
                  </a:moveTo>
                  <a:lnTo>
                    <a:pt x="4187952" y="0"/>
                  </a:lnTo>
                  <a:lnTo>
                    <a:pt x="4187952" y="1133856"/>
                  </a:lnTo>
                  <a:lnTo>
                    <a:pt x="0" y="1133856"/>
                  </a:lnTo>
                  <a:close/>
                </a:path>
              </a:pathLst>
            </a:custGeom>
            <a:blipFill>
              <a:blip r:embed="rId3">
                <a:alphaModFix amt="0"/>
              </a:blip>
              <a:stretch>
                <a:fillRect t="-21968" b="-21968"/>
              </a:stretch>
            </a:blipFill>
          </p:spPr>
          <p:txBody>
            <a:bodyPr/>
            <a:lstStyle/>
            <a:p>
              <a:endParaRPr lang="en-US"/>
            </a:p>
          </p:txBody>
        </p:sp>
        <p:sp>
          <p:nvSpPr>
            <p:cNvPr id="97" name="TextBox 97"/>
            <p:cNvSpPr txBox="1"/>
            <p:nvPr/>
          </p:nvSpPr>
          <p:spPr>
            <a:xfrm>
              <a:off x="0" y="-38100"/>
              <a:ext cx="4187952" cy="11719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Noted for Branch 2c; not in scope</a:t>
              </a:r>
            </a:p>
          </p:txBody>
        </p:sp>
      </p:grpSp>
      <p:grpSp>
        <p:nvGrpSpPr>
          <p:cNvPr id="98" name="Group 98"/>
          <p:cNvGrpSpPr/>
          <p:nvPr/>
        </p:nvGrpSpPr>
        <p:grpSpPr>
          <a:xfrm>
            <a:off x="754380" y="8641080"/>
            <a:ext cx="16802100" cy="480060"/>
            <a:chOff x="0" y="0"/>
            <a:chExt cx="22402800" cy="640080"/>
          </a:xfrm>
        </p:grpSpPr>
        <p:sp>
          <p:nvSpPr>
            <p:cNvPr id="99" name="Freeform 99"/>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blipFill>
              <a:blip r:embed="rId3">
                <a:alphaModFix amt="0"/>
              </a:blip>
              <a:stretch>
                <a:fillRect t="-631976" b="-631976"/>
              </a:stretch>
            </a:blipFill>
          </p:spPr>
          <p:txBody>
            <a:bodyPr/>
            <a:lstStyle/>
            <a:p>
              <a:endParaRPr lang="en-US"/>
            </a:p>
          </p:txBody>
        </p:sp>
        <p:sp>
          <p:nvSpPr>
            <p:cNvPr id="100" name="TextBox 100"/>
            <p:cNvSpPr txBox="1"/>
            <p:nvPr/>
          </p:nvSpPr>
          <p:spPr>
            <a:xfrm>
              <a:off x="0" y="-38100"/>
              <a:ext cx="22402800" cy="678180"/>
            </a:xfrm>
            <a:prstGeom prst="rect">
              <a:avLst/>
            </a:prstGeom>
          </p:spPr>
          <p:txBody>
            <a:bodyPr lIns="0" tIns="0" rIns="0" bIns="0" rtlCol="0" anchor="ctr"/>
            <a:lstStyle/>
            <a:p>
              <a:pPr algn="l">
                <a:lnSpc>
                  <a:spcPts val="1800"/>
                </a:lnSpc>
              </a:pPr>
              <a:r>
                <a:rPr lang="en-US" sz="1500" i="1">
                  <a:solidFill>
                    <a:srgbClr val="66717D"/>
                  </a:solidFill>
                  <a:latin typeface="Calibri"/>
                  <a:ea typeface="Calibri (MS) Italics"/>
                  <a:cs typeface="Calibri"/>
                  <a:sym typeface="Calibri (MS) Italics"/>
                </a:rPr>
                <a:t>Dissent explored: the team’s own first framing (opex) was killed by the data; the second (cash access as differentiator) by the Comcast comparison. The recommendation is the third framing to survive.</a:t>
              </a:r>
            </a:p>
          </p:txBody>
        </p:sp>
      </p:grpSp>
      <p:grpSp>
        <p:nvGrpSpPr>
          <p:cNvPr id="101" name="Group 101"/>
          <p:cNvGrpSpPr/>
          <p:nvPr/>
        </p:nvGrpSpPr>
        <p:grpSpPr>
          <a:xfrm>
            <a:off x="754380" y="9189720"/>
            <a:ext cx="16733520" cy="411480"/>
            <a:chOff x="0" y="0"/>
            <a:chExt cx="22311360" cy="548640"/>
          </a:xfrm>
        </p:grpSpPr>
        <p:sp>
          <p:nvSpPr>
            <p:cNvPr id="102" name="Freeform 102"/>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03" name="TextBox 103"/>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(p.2)</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04" name="Group 104"/>
          <p:cNvGrpSpPr/>
          <p:nvPr/>
        </p:nvGrpSpPr>
        <p:grpSpPr>
          <a:xfrm>
            <a:off x="17076420" y="9669780"/>
            <a:ext cx="960120" cy="411480"/>
            <a:chOff x="0" y="0"/>
            <a:chExt cx="1280160" cy="548640"/>
          </a:xfrm>
        </p:grpSpPr>
        <p:sp>
          <p:nvSpPr>
            <p:cNvPr id="105" name="Freeform 105"/>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06" name="TextBox 106"/>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33</a:t>
              </a:r>
            </a:p>
          </p:txBody>
        </p:sp>
      </p:grpSp>
      <p:grpSp>
        <p:nvGrpSpPr>
          <p:cNvPr id="107" name="Group 107"/>
          <p:cNvGrpSpPr/>
          <p:nvPr/>
        </p:nvGrpSpPr>
        <p:grpSpPr>
          <a:xfrm>
            <a:off x="754380" y="9669780"/>
            <a:ext cx="16047720" cy="411480"/>
            <a:chOff x="0" y="0"/>
            <a:chExt cx="21396960" cy="548640"/>
          </a:xfrm>
        </p:grpSpPr>
        <p:sp>
          <p:nvSpPr>
            <p:cNvPr id="108" name="Freeform 108"/>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09" name="TextBox 109"/>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A23  ·  Q&amp;A PREPARATION, THE CEO’S SCRIPT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Anticipated Pushback and the Fact-Based Response</a:t>
            </a:r>
          </a:p>
        </p:txBody>
      </p:sp>
      <p:grpSp>
        <p:nvGrpSpPr>
          <p:cNvPr id="6" name="Group 6"/>
          <p:cNvGrpSpPr/>
          <p:nvPr/>
        </p:nvGrpSpPr>
        <p:grpSpPr>
          <a:xfrm>
            <a:off x="754380" y="2606040"/>
            <a:ext cx="16802100" cy="685800"/>
            <a:chOff x="0" y="0"/>
            <a:chExt cx="22402800" cy="914400"/>
          </a:xfrm>
        </p:grpSpPr>
        <p:sp>
          <p:nvSpPr>
            <p:cNvPr id="7" name="Freeform 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003057"/>
            </a:solidFill>
          </p:spPr>
          <p:txBody>
            <a:bodyPr/>
            <a:lstStyle/>
            <a:p>
              <a:endParaRPr lang="en-US"/>
            </a:p>
          </p:txBody>
        </p:sp>
      </p:grpSp>
      <p:grpSp>
        <p:nvGrpSpPr>
          <p:cNvPr id="8" name="Group 8"/>
          <p:cNvGrpSpPr/>
          <p:nvPr/>
        </p:nvGrpSpPr>
        <p:grpSpPr>
          <a:xfrm>
            <a:off x="864108" y="2606040"/>
            <a:ext cx="5541264" cy="685800"/>
            <a:chOff x="0" y="0"/>
            <a:chExt cx="7388352" cy="914400"/>
          </a:xfrm>
        </p:grpSpPr>
        <p:sp>
          <p:nvSpPr>
            <p:cNvPr id="9" name="Freeform 9"/>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10" name="TextBox 10"/>
            <p:cNvSpPr txBox="1"/>
            <p:nvPr/>
          </p:nvSpPr>
          <p:spPr>
            <a:xfrm>
              <a:off x="0" y="-19050"/>
              <a:ext cx="738835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Objection (layer)</a:t>
              </a:r>
            </a:p>
          </p:txBody>
        </p:sp>
      </p:grpSp>
      <p:grpSp>
        <p:nvGrpSpPr>
          <p:cNvPr id="11" name="Group 11"/>
          <p:cNvGrpSpPr/>
          <p:nvPr/>
        </p:nvGrpSpPr>
        <p:grpSpPr>
          <a:xfrm>
            <a:off x="6624828" y="2606040"/>
            <a:ext cx="9656064" cy="685800"/>
            <a:chOff x="0" y="0"/>
            <a:chExt cx="12874752" cy="914400"/>
          </a:xfrm>
        </p:grpSpPr>
        <p:sp>
          <p:nvSpPr>
            <p:cNvPr id="12" name="Freeform 12"/>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13" name="TextBox 13"/>
            <p:cNvSpPr txBox="1"/>
            <p:nvPr/>
          </p:nvSpPr>
          <p:spPr>
            <a:xfrm>
              <a:off x="0" y="-19050"/>
              <a:ext cx="1287475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Response</a:t>
              </a:r>
            </a:p>
          </p:txBody>
        </p:sp>
      </p:grpSp>
      <p:grpSp>
        <p:nvGrpSpPr>
          <p:cNvPr id="14" name="Group 14"/>
          <p:cNvGrpSpPr/>
          <p:nvPr/>
        </p:nvGrpSpPr>
        <p:grpSpPr>
          <a:xfrm>
            <a:off x="16500348" y="2606040"/>
            <a:ext cx="946404" cy="685800"/>
            <a:chOff x="0" y="0"/>
            <a:chExt cx="1261872" cy="914400"/>
          </a:xfrm>
        </p:grpSpPr>
        <p:sp>
          <p:nvSpPr>
            <p:cNvPr id="15" name="Freeform 15"/>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16" name="TextBox 16"/>
            <p:cNvSpPr txBox="1"/>
            <p:nvPr/>
          </p:nvSpPr>
          <p:spPr>
            <a:xfrm>
              <a:off x="0" y="-19050"/>
              <a:ext cx="126187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Slide</a:t>
              </a:r>
            </a:p>
          </p:txBody>
        </p:sp>
      </p:grpSp>
      <p:grpSp>
        <p:nvGrpSpPr>
          <p:cNvPr id="17" name="Group 17"/>
          <p:cNvGrpSpPr/>
          <p:nvPr/>
        </p:nvGrpSpPr>
        <p:grpSpPr>
          <a:xfrm>
            <a:off x="754380" y="3291840"/>
            <a:ext cx="16802100" cy="685800"/>
            <a:chOff x="0" y="0"/>
            <a:chExt cx="22402800" cy="914400"/>
          </a:xfrm>
        </p:grpSpPr>
        <p:sp>
          <p:nvSpPr>
            <p:cNvPr id="18" name="Freeform 1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19" name="Group 19"/>
          <p:cNvGrpSpPr/>
          <p:nvPr/>
        </p:nvGrpSpPr>
        <p:grpSpPr>
          <a:xfrm>
            <a:off x="864108" y="3291840"/>
            <a:ext cx="5541264" cy="685800"/>
            <a:chOff x="0" y="0"/>
            <a:chExt cx="7388352" cy="914400"/>
          </a:xfrm>
        </p:grpSpPr>
        <p:sp>
          <p:nvSpPr>
            <p:cNvPr id="20" name="Freeform 20"/>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21" name="TextBox 21"/>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“We know who is taking our customers, it’s FWA and fiber.” (Answer)</a:t>
              </a:r>
            </a:p>
          </p:txBody>
        </p:sp>
      </p:grpSp>
      <p:grpSp>
        <p:nvGrpSpPr>
          <p:cNvPr id="22" name="Group 22"/>
          <p:cNvGrpSpPr/>
          <p:nvPr/>
        </p:nvGrpSpPr>
        <p:grpSpPr>
          <a:xfrm>
            <a:off x="6624828" y="3291840"/>
            <a:ext cx="9656064" cy="685800"/>
            <a:chOff x="0" y="0"/>
            <a:chExt cx="12874752" cy="914400"/>
          </a:xfrm>
        </p:grpSpPr>
        <p:sp>
          <p:nvSpPr>
            <p:cNvPr id="23" name="Freeform 23"/>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24" name="TextBox 24"/>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Show us the measured split. No filing has one; disconnect codes are coded, not measured. If you have it internally, the first read moves from Q1 2027 to Q4 2026 and we will take that trade.</a:t>
              </a:r>
            </a:p>
          </p:txBody>
        </p:sp>
      </p:grpSp>
      <p:grpSp>
        <p:nvGrpSpPr>
          <p:cNvPr id="25" name="Group 25"/>
          <p:cNvGrpSpPr/>
          <p:nvPr/>
        </p:nvGrpSpPr>
        <p:grpSpPr>
          <a:xfrm>
            <a:off x="16500348" y="3291840"/>
            <a:ext cx="946404" cy="685800"/>
            <a:chOff x="0" y="0"/>
            <a:chExt cx="1261872" cy="914400"/>
          </a:xfrm>
        </p:grpSpPr>
        <p:sp>
          <p:nvSpPr>
            <p:cNvPr id="26" name="Freeform 26"/>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27" name="TextBox 27"/>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4" action="ppaction://hlinksldjump"/>
                </a:rPr>
                <a:t>p.4</a:t>
              </a:r>
            </a:p>
          </p:txBody>
        </p:sp>
      </p:grpSp>
      <p:grpSp>
        <p:nvGrpSpPr>
          <p:cNvPr id="28" name="Group 28"/>
          <p:cNvGrpSpPr/>
          <p:nvPr/>
        </p:nvGrpSpPr>
        <p:grpSpPr>
          <a:xfrm>
            <a:off x="864108" y="3977640"/>
            <a:ext cx="5541264" cy="685800"/>
            <a:chOff x="0" y="0"/>
            <a:chExt cx="7388352" cy="914400"/>
          </a:xfrm>
        </p:grpSpPr>
        <p:sp>
          <p:nvSpPr>
            <p:cNvPr id="29" name="Freeform 29"/>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30" name="TextBox 30"/>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“This is just analysis; where’s the bold move?” (Answer)</a:t>
              </a:r>
            </a:p>
          </p:txBody>
        </p:sp>
      </p:grpSp>
      <p:grpSp>
        <p:nvGrpSpPr>
          <p:cNvPr id="31" name="Group 31"/>
          <p:cNvGrpSpPr/>
          <p:nvPr/>
        </p:nvGrpSpPr>
        <p:grpSpPr>
          <a:xfrm>
            <a:off x="6624828" y="3977640"/>
            <a:ext cx="9656064" cy="685800"/>
            <a:chOff x="0" y="0"/>
            <a:chExt cx="12874752" cy="914400"/>
          </a:xfrm>
        </p:grpSpPr>
        <p:sp>
          <p:nvSpPr>
            <p:cNvPr id="32" name="Freeform 32"/>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33" name="TextBox 33"/>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The analysis is two quarters and table stakes. The bold move is pre-authorizing contingent responses and publishing the rules, a governance and disclosure change no operator has made.</a:t>
              </a:r>
            </a:p>
          </p:txBody>
        </p:sp>
      </p:grpSp>
      <p:grpSp>
        <p:nvGrpSpPr>
          <p:cNvPr id="34" name="Group 34"/>
          <p:cNvGrpSpPr/>
          <p:nvPr/>
        </p:nvGrpSpPr>
        <p:grpSpPr>
          <a:xfrm>
            <a:off x="16500348" y="3977640"/>
            <a:ext cx="946404" cy="685800"/>
            <a:chOff x="0" y="0"/>
            <a:chExt cx="1261872" cy="914400"/>
          </a:xfrm>
        </p:grpSpPr>
        <p:sp>
          <p:nvSpPr>
            <p:cNvPr id="35" name="Freeform 35"/>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36" name="TextBox 36"/>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5" action="ppaction://hlinksldjump"/>
                </a:rPr>
                <a:t>p.3</a:t>
              </a:r>
            </a:p>
          </p:txBody>
        </p:sp>
      </p:grpSp>
      <p:grpSp>
        <p:nvGrpSpPr>
          <p:cNvPr id="37" name="Group 37"/>
          <p:cNvGrpSpPr/>
          <p:nvPr/>
        </p:nvGrpSpPr>
        <p:grpSpPr>
          <a:xfrm>
            <a:off x="754380" y="4663440"/>
            <a:ext cx="16802100" cy="685800"/>
            <a:chOff x="0" y="0"/>
            <a:chExt cx="22402800" cy="914400"/>
          </a:xfrm>
        </p:grpSpPr>
        <p:sp>
          <p:nvSpPr>
            <p:cNvPr id="38" name="Freeform 3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39" name="Group 39"/>
          <p:cNvGrpSpPr/>
          <p:nvPr/>
        </p:nvGrpSpPr>
        <p:grpSpPr>
          <a:xfrm>
            <a:off x="864108" y="4663440"/>
            <a:ext cx="5541264" cy="685800"/>
            <a:chOff x="0" y="0"/>
            <a:chExt cx="7388352" cy="914400"/>
          </a:xfrm>
        </p:grpSpPr>
        <p:sp>
          <p:nvSpPr>
            <p:cNvPr id="40" name="Freeform 40"/>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41" name="TextBox 41"/>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“Isn’t the market layer a PR patch?” (Reason)</a:t>
              </a:r>
            </a:p>
          </p:txBody>
        </p:sp>
      </p:grpSp>
      <p:grpSp>
        <p:nvGrpSpPr>
          <p:cNvPr id="42" name="Group 42"/>
          <p:cNvGrpSpPr/>
          <p:nvPr/>
        </p:nvGrpSpPr>
        <p:grpSpPr>
          <a:xfrm>
            <a:off x="6624828" y="4663440"/>
            <a:ext cx="9656064" cy="685800"/>
            <a:chOff x="0" y="0"/>
            <a:chExt cx="12874752" cy="914400"/>
          </a:xfrm>
        </p:grpSpPr>
        <p:sp>
          <p:nvSpPr>
            <p:cNvPr id="43" name="Freeform 43"/>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44" name="TextBox 44"/>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Redirecting $4–5B/yr is a capital-allocation decision with a real interest saving; re-segmentation changes what management is measured on; publishing triggers binds management. None is a press release.</a:t>
              </a:r>
            </a:p>
          </p:txBody>
        </p:sp>
      </p:grpSp>
      <p:grpSp>
        <p:nvGrpSpPr>
          <p:cNvPr id="45" name="Group 45"/>
          <p:cNvGrpSpPr/>
          <p:nvPr/>
        </p:nvGrpSpPr>
        <p:grpSpPr>
          <a:xfrm>
            <a:off x="16500348" y="4642009"/>
            <a:ext cx="946404" cy="707231"/>
            <a:chOff x="0" y="-28575"/>
            <a:chExt cx="1261872" cy="942975"/>
          </a:xfrm>
        </p:grpSpPr>
        <p:sp>
          <p:nvSpPr>
            <p:cNvPr id="46" name="Freeform 46"/>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47" name="TextBox 47"/>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6" action="ppaction://hlinksldjump"/>
                </a:rPr>
                <a:t>p.5</a:t>
              </a:r>
            </a:p>
          </p:txBody>
        </p:sp>
      </p:grpSp>
      <p:grpSp>
        <p:nvGrpSpPr>
          <p:cNvPr id="48" name="Group 48"/>
          <p:cNvGrpSpPr/>
          <p:nvPr/>
        </p:nvGrpSpPr>
        <p:grpSpPr>
          <a:xfrm>
            <a:off x="864108" y="5349240"/>
            <a:ext cx="5541264" cy="685800"/>
            <a:chOff x="0" y="0"/>
            <a:chExt cx="7388352" cy="914400"/>
          </a:xfrm>
        </p:grpSpPr>
        <p:sp>
          <p:nvSpPr>
            <p:cNvPr id="49" name="Freeform 49"/>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50" name="TextBox 50"/>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“Buybacks are how we create value; the stock is undervalued.” (Reason)</a:t>
              </a:r>
            </a:p>
          </p:txBody>
        </p:sp>
      </p:grpSp>
      <p:grpSp>
        <p:nvGrpSpPr>
          <p:cNvPr id="51" name="Group 51"/>
          <p:cNvGrpSpPr/>
          <p:nvPr/>
        </p:nvGrpSpPr>
        <p:grpSpPr>
          <a:xfrm>
            <a:off x="6624828" y="5349240"/>
            <a:ext cx="9656064" cy="685800"/>
            <a:chOff x="0" y="0"/>
            <a:chExt cx="12874752" cy="914400"/>
          </a:xfrm>
        </p:grpSpPr>
        <p:sp>
          <p:nvSpPr>
            <p:cNvPr id="52" name="Freeform 52"/>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53" name="TextBox 53"/>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Agreed it is undervalued, that is why we need a strategic answer. $6.4B of repurchases in five quarters bought no price support; leverage is the base rate the market applies. Reinstatement trigger is two improving prints.</a:t>
              </a:r>
            </a:p>
          </p:txBody>
        </p:sp>
      </p:grpSp>
      <p:grpSp>
        <p:nvGrpSpPr>
          <p:cNvPr id="54" name="Group 54"/>
          <p:cNvGrpSpPr/>
          <p:nvPr/>
        </p:nvGrpSpPr>
        <p:grpSpPr>
          <a:xfrm>
            <a:off x="16500348" y="5327809"/>
            <a:ext cx="946404" cy="707231"/>
            <a:chOff x="0" y="-28575"/>
            <a:chExt cx="1261872" cy="942975"/>
          </a:xfrm>
        </p:grpSpPr>
        <p:sp>
          <p:nvSpPr>
            <p:cNvPr id="55" name="Freeform 55"/>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56" name="TextBox 56"/>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7" action="ppaction://hlinksldjump"/>
                </a:rPr>
                <a:t>p.6</a:t>
              </a:r>
            </a:p>
          </p:txBody>
        </p:sp>
      </p:grpSp>
      <p:grpSp>
        <p:nvGrpSpPr>
          <p:cNvPr id="57" name="Group 57"/>
          <p:cNvGrpSpPr/>
          <p:nvPr/>
        </p:nvGrpSpPr>
        <p:grpSpPr>
          <a:xfrm>
            <a:off x="754380" y="6035040"/>
            <a:ext cx="16802100" cy="685800"/>
            <a:chOff x="0" y="0"/>
            <a:chExt cx="22402800" cy="914400"/>
          </a:xfrm>
        </p:grpSpPr>
        <p:sp>
          <p:nvSpPr>
            <p:cNvPr id="58" name="Freeform 5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59" name="Group 59"/>
          <p:cNvGrpSpPr/>
          <p:nvPr/>
        </p:nvGrpSpPr>
        <p:grpSpPr>
          <a:xfrm>
            <a:off x="864108" y="6035040"/>
            <a:ext cx="5541264" cy="685800"/>
            <a:chOff x="0" y="0"/>
            <a:chExt cx="7388352" cy="914400"/>
          </a:xfrm>
        </p:grpSpPr>
        <p:sp>
          <p:nvSpPr>
            <p:cNvPr id="60" name="Freeform 60"/>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61" name="TextBox 61"/>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“Your 40 / 25 thresholds are arbitrary.” (Evidence)</a:t>
              </a:r>
            </a:p>
          </p:txBody>
        </p:sp>
      </p:grpSp>
      <p:grpSp>
        <p:nvGrpSpPr>
          <p:cNvPr id="62" name="Group 62"/>
          <p:cNvGrpSpPr/>
          <p:nvPr/>
        </p:nvGrpSpPr>
        <p:grpSpPr>
          <a:xfrm>
            <a:off x="6624828" y="6035040"/>
            <a:ext cx="9656064" cy="685800"/>
            <a:chOff x="0" y="0"/>
            <a:chExt cx="12874752" cy="914400"/>
          </a:xfrm>
        </p:grpSpPr>
        <p:sp>
          <p:nvSpPr>
            <p:cNvPr id="63" name="Freeform 63"/>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64" name="TextBox 64"/>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Arbitrary-but-stated beats unstated. Set before scoring, calibrated so the fiber-overlap share (~27%) registers; client data re-tunes them before go-live.</a:t>
              </a:r>
            </a:p>
          </p:txBody>
        </p:sp>
      </p:grpSp>
      <p:grpSp>
        <p:nvGrpSpPr>
          <p:cNvPr id="65" name="Group 65"/>
          <p:cNvGrpSpPr/>
          <p:nvPr/>
        </p:nvGrpSpPr>
        <p:grpSpPr>
          <a:xfrm>
            <a:off x="16500348" y="6035040"/>
            <a:ext cx="946404" cy="685800"/>
            <a:chOff x="0" y="0"/>
            <a:chExt cx="1261872" cy="914400"/>
          </a:xfrm>
        </p:grpSpPr>
        <p:sp>
          <p:nvSpPr>
            <p:cNvPr id="66" name="Freeform 66"/>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67" name="TextBox 67"/>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8" action="ppaction://hlinksldjump"/>
                </a:rPr>
                <a:t>p.24</a:t>
              </a:r>
            </a:p>
          </p:txBody>
        </p:sp>
      </p:grpSp>
      <p:grpSp>
        <p:nvGrpSpPr>
          <p:cNvPr id="68" name="Group 68"/>
          <p:cNvGrpSpPr/>
          <p:nvPr/>
        </p:nvGrpSpPr>
        <p:grpSpPr>
          <a:xfrm>
            <a:off x="864108" y="6720840"/>
            <a:ext cx="5541264" cy="685800"/>
            <a:chOff x="0" y="0"/>
            <a:chExt cx="7388352" cy="914400"/>
          </a:xfrm>
        </p:grpSpPr>
        <p:sp>
          <p:nvSpPr>
            <p:cNvPr id="69" name="Freeform 69"/>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70" name="TextBox 70"/>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“The Q2 2027 comp is easy, you’ll claim credit for a low bar.” (Evidence)</a:t>
              </a:r>
            </a:p>
          </p:txBody>
        </p:sp>
      </p:grpSp>
      <p:grpSp>
        <p:nvGrpSpPr>
          <p:cNvPr id="71" name="Group 71"/>
          <p:cNvGrpSpPr/>
          <p:nvPr/>
        </p:nvGrpSpPr>
        <p:grpSpPr>
          <a:xfrm>
            <a:off x="6624828" y="6720840"/>
            <a:ext cx="9656064" cy="685800"/>
            <a:chOff x="0" y="0"/>
            <a:chExt cx="12874752" cy="914400"/>
          </a:xfrm>
        </p:grpSpPr>
        <p:sp>
          <p:nvSpPr>
            <p:cNvPr id="72" name="Freeform 72"/>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73" name="TextBox 73"/>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Correct, which is why proof is measured on treated vs. untreated zones, not the print. The print is what the market prices; the experiment is what we grade ourselves on.</a:t>
              </a:r>
            </a:p>
          </p:txBody>
        </p:sp>
      </p:grpSp>
      <p:grpSp>
        <p:nvGrpSpPr>
          <p:cNvPr id="74" name="Group 74"/>
          <p:cNvGrpSpPr/>
          <p:nvPr/>
        </p:nvGrpSpPr>
        <p:grpSpPr>
          <a:xfrm>
            <a:off x="16500348" y="6720840"/>
            <a:ext cx="946404" cy="685800"/>
            <a:chOff x="0" y="0"/>
            <a:chExt cx="1261872" cy="914400"/>
          </a:xfrm>
        </p:grpSpPr>
        <p:sp>
          <p:nvSpPr>
            <p:cNvPr id="75" name="Freeform 75"/>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76" name="TextBox 76"/>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9" action="ppaction://hlinksldjump"/>
                </a:rPr>
                <a:t>p.30</a:t>
              </a:r>
            </a:p>
          </p:txBody>
        </p:sp>
      </p:grpSp>
      <p:grpSp>
        <p:nvGrpSpPr>
          <p:cNvPr id="77" name="Group 77"/>
          <p:cNvGrpSpPr/>
          <p:nvPr/>
        </p:nvGrpSpPr>
        <p:grpSpPr>
          <a:xfrm>
            <a:off x="754380" y="7406640"/>
            <a:ext cx="16802100" cy="685800"/>
            <a:chOff x="0" y="0"/>
            <a:chExt cx="22402800" cy="914400"/>
          </a:xfrm>
        </p:grpSpPr>
        <p:sp>
          <p:nvSpPr>
            <p:cNvPr id="78" name="Freeform 7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79" name="Group 79"/>
          <p:cNvGrpSpPr/>
          <p:nvPr/>
        </p:nvGrpSpPr>
        <p:grpSpPr>
          <a:xfrm>
            <a:off x="864108" y="7406640"/>
            <a:ext cx="5541264" cy="685800"/>
            <a:chOff x="0" y="0"/>
            <a:chExt cx="7388352" cy="914400"/>
          </a:xfrm>
        </p:grpSpPr>
        <p:sp>
          <p:nvSpPr>
            <p:cNvPr id="80" name="Freeform 80"/>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81" name="TextBox 81"/>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“Cox will consume every ounce of management attention.” (Condition)</a:t>
              </a:r>
            </a:p>
          </p:txBody>
        </p:sp>
      </p:grpSp>
      <p:grpSp>
        <p:nvGrpSpPr>
          <p:cNvPr id="82" name="Group 82"/>
          <p:cNvGrpSpPr/>
          <p:nvPr/>
        </p:nvGrpSpPr>
        <p:grpSpPr>
          <a:xfrm>
            <a:off x="6624828" y="7406640"/>
            <a:ext cx="9656064" cy="685800"/>
            <a:chOff x="0" y="0"/>
            <a:chExt cx="12874752" cy="914400"/>
          </a:xfrm>
        </p:grpSpPr>
        <p:sp>
          <p:nvSpPr>
            <p:cNvPr id="83" name="Freeform 83"/>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84" name="TextBox 84"/>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Yes, which is why the sensor is small, has one sponsor, and is built on the combined footprint. Cox is also the strongest argument for cohort disclosure: the market will otherwise blend two bases.</a:t>
              </a:r>
            </a:p>
          </p:txBody>
        </p:sp>
      </p:grpSp>
      <p:grpSp>
        <p:nvGrpSpPr>
          <p:cNvPr id="85" name="Group 85"/>
          <p:cNvGrpSpPr/>
          <p:nvPr/>
        </p:nvGrpSpPr>
        <p:grpSpPr>
          <a:xfrm>
            <a:off x="16500348" y="7406640"/>
            <a:ext cx="946404" cy="685800"/>
            <a:chOff x="0" y="0"/>
            <a:chExt cx="1261872" cy="914400"/>
          </a:xfrm>
        </p:grpSpPr>
        <p:sp>
          <p:nvSpPr>
            <p:cNvPr id="86" name="Freeform 86"/>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87" name="TextBox 87"/>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 action="ppaction://noaction"/>
                </a:rPr>
                <a:t>p.10</a:t>
              </a:r>
            </a:p>
          </p:txBody>
        </p:sp>
      </p:grpSp>
      <p:grpSp>
        <p:nvGrpSpPr>
          <p:cNvPr id="88" name="Group 88"/>
          <p:cNvGrpSpPr/>
          <p:nvPr/>
        </p:nvGrpSpPr>
        <p:grpSpPr>
          <a:xfrm>
            <a:off x="864108" y="8092440"/>
            <a:ext cx="5541264" cy="685800"/>
            <a:chOff x="0" y="0"/>
            <a:chExt cx="7388352" cy="914400"/>
          </a:xfrm>
        </p:grpSpPr>
        <p:sp>
          <p:nvSpPr>
            <p:cNvPr id="89" name="Freeform 89"/>
            <p:cNvSpPr/>
            <p:nvPr/>
          </p:nvSpPr>
          <p:spPr>
            <a:xfrm>
              <a:off x="0" y="0"/>
              <a:ext cx="7388352" cy="914400"/>
            </a:xfrm>
            <a:custGeom>
              <a:avLst/>
              <a:gdLst/>
              <a:ahLst/>
              <a:cxnLst/>
              <a:rect l="l" t="t" r="r" b="b"/>
              <a:pathLst>
                <a:path w="7388352" h="914400">
                  <a:moveTo>
                    <a:pt x="0" y="0"/>
                  </a:moveTo>
                  <a:lnTo>
                    <a:pt x="7388352" y="0"/>
                  </a:lnTo>
                  <a:lnTo>
                    <a:pt x="7388352" y="914400"/>
                  </a:lnTo>
                  <a:lnTo>
                    <a:pt x="0" y="914400"/>
                  </a:lnTo>
                  <a:close/>
                </a:path>
              </a:pathLst>
            </a:custGeom>
            <a:blipFill>
              <a:blip r:embed="rId3">
                <a:alphaModFix amt="0"/>
              </a:blip>
              <a:stretch>
                <a:fillRect t="-107439" b="-107439"/>
              </a:stretch>
            </a:blipFill>
          </p:spPr>
          <p:txBody>
            <a:bodyPr/>
            <a:lstStyle/>
            <a:p>
              <a:endParaRPr lang="en-US"/>
            </a:p>
          </p:txBody>
        </p:sp>
        <p:sp>
          <p:nvSpPr>
            <p:cNvPr id="90" name="TextBox 90"/>
            <p:cNvSpPr txBox="1"/>
            <p:nvPr/>
          </p:nvSpPr>
          <p:spPr>
            <a:xfrm>
              <a:off x="0" y="-28575"/>
              <a:ext cx="7388352" cy="94297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“What if the data disappoints?” (Condition)</a:t>
              </a:r>
            </a:p>
          </p:txBody>
        </p:sp>
      </p:grpSp>
      <p:grpSp>
        <p:nvGrpSpPr>
          <p:cNvPr id="91" name="Group 91"/>
          <p:cNvGrpSpPr/>
          <p:nvPr/>
        </p:nvGrpSpPr>
        <p:grpSpPr>
          <a:xfrm>
            <a:off x="6624828" y="8092440"/>
            <a:ext cx="9656064" cy="685800"/>
            <a:chOff x="0" y="0"/>
            <a:chExt cx="12874752" cy="914400"/>
          </a:xfrm>
        </p:grpSpPr>
        <p:sp>
          <p:nvSpPr>
            <p:cNvPr id="92" name="Freeform 92"/>
            <p:cNvSpPr/>
            <p:nvPr/>
          </p:nvSpPr>
          <p:spPr>
            <a:xfrm>
              <a:off x="0" y="0"/>
              <a:ext cx="12874752" cy="914400"/>
            </a:xfrm>
            <a:custGeom>
              <a:avLst/>
              <a:gdLst/>
              <a:ahLst/>
              <a:cxnLst/>
              <a:rect l="l" t="t" r="r" b="b"/>
              <a:pathLst>
                <a:path w="12874752" h="914400">
                  <a:moveTo>
                    <a:pt x="0" y="0"/>
                  </a:moveTo>
                  <a:lnTo>
                    <a:pt x="12874752" y="0"/>
                  </a:lnTo>
                  <a:lnTo>
                    <a:pt x="12874752" y="914400"/>
                  </a:lnTo>
                  <a:lnTo>
                    <a:pt x="0" y="914400"/>
                  </a:lnTo>
                  <a:close/>
                </a:path>
              </a:pathLst>
            </a:custGeom>
            <a:blipFill>
              <a:blip r:embed="rId3">
                <a:alphaModFix amt="0"/>
              </a:blip>
              <a:stretch>
                <a:fillRect t="-224349" b="-224349"/>
              </a:stretch>
            </a:blipFill>
          </p:spPr>
          <p:txBody>
            <a:bodyPr/>
            <a:lstStyle/>
            <a:p>
              <a:endParaRPr lang="en-US"/>
            </a:p>
          </p:txBody>
        </p:sp>
        <p:sp>
          <p:nvSpPr>
            <p:cNvPr id="93" name="TextBox 93"/>
            <p:cNvSpPr txBox="1"/>
            <p:nvPr/>
          </p:nvSpPr>
          <p:spPr>
            <a:xfrm>
              <a:off x="0" y="-28575"/>
              <a:ext cx="1287475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Scenario 6 is a trigger, not a shrug: it fires Rec 2 in full and spend-capped experiments. The plan produces a recommendation in every world, including the boring one.</a:t>
              </a:r>
            </a:p>
          </p:txBody>
        </p:sp>
      </p:grpSp>
      <p:grpSp>
        <p:nvGrpSpPr>
          <p:cNvPr id="94" name="Group 94"/>
          <p:cNvGrpSpPr/>
          <p:nvPr/>
        </p:nvGrpSpPr>
        <p:grpSpPr>
          <a:xfrm>
            <a:off x="16500348" y="8092440"/>
            <a:ext cx="946404" cy="685800"/>
            <a:chOff x="0" y="0"/>
            <a:chExt cx="1261872" cy="914400"/>
          </a:xfrm>
        </p:grpSpPr>
        <p:sp>
          <p:nvSpPr>
            <p:cNvPr id="95" name="Freeform 95"/>
            <p:cNvSpPr/>
            <p:nvPr/>
          </p:nvSpPr>
          <p:spPr>
            <a:xfrm>
              <a:off x="0" y="0"/>
              <a:ext cx="1261872" cy="914400"/>
            </a:xfrm>
            <a:custGeom>
              <a:avLst/>
              <a:gdLst/>
              <a:ahLst/>
              <a:cxnLst/>
              <a:rect l="l" t="t" r="r" b="b"/>
              <a:pathLst>
                <a:path w="1261872" h="914400">
                  <a:moveTo>
                    <a:pt x="0" y="0"/>
                  </a:moveTo>
                  <a:lnTo>
                    <a:pt x="1261872" y="0"/>
                  </a:lnTo>
                  <a:lnTo>
                    <a:pt x="1261872" y="914400"/>
                  </a:lnTo>
                  <a:lnTo>
                    <a:pt x="0" y="914400"/>
                  </a:lnTo>
                  <a:close/>
                </a:path>
              </a:pathLst>
            </a:custGeom>
            <a:blipFill>
              <a:blip r:embed="rId3">
                <a:alphaModFix amt="0"/>
              </a:blip>
              <a:stretch>
                <a:fillRect l="-42973" r="-42973"/>
              </a:stretch>
            </a:blipFill>
          </p:spPr>
          <p:txBody>
            <a:bodyPr/>
            <a:lstStyle/>
            <a:p>
              <a:endParaRPr lang="en-US"/>
            </a:p>
          </p:txBody>
        </p:sp>
        <p:sp>
          <p:nvSpPr>
            <p:cNvPr id="96" name="TextBox 96"/>
            <p:cNvSpPr txBox="1"/>
            <p:nvPr/>
          </p:nvSpPr>
          <p:spPr>
            <a:xfrm>
              <a:off x="0" y="-28575"/>
              <a:ext cx="1261872" cy="942975"/>
            </a:xfrm>
            <a:prstGeom prst="rect">
              <a:avLst/>
            </a:prstGeom>
          </p:spPr>
          <p:txBody>
            <a:bodyPr lIns="0" tIns="0" rIns="0" bIns="0" rtlCol="0" anchor="ctr"/>
            <a:lstStyle/>
            <a:p>
              <a:pPr algn="l">
                <a:lnSpc>
                  <a:spcPts val="1530"/>
                </a:lnSpc>
              </a:pPr>
              <a:r>
                <a:rPr lang="en-US" sz="1275" u="sng">
                  <a:solidFill>
                    <a:srgbClr val="0099D8"/>
                  </a:solidFill>
                  <a:latin typeface="Calibri"/>
                  <a:ea typeface="Calibri (MS)"/>
                  <a:cs typeface="Calibri"/>
                  <a:sym typeface="Calibri (MS)"/>
                  <a:hlinkClick r:id="rId10" action="ppaction://hlinksldjump"/>
                </a:rPr>
                <a:t>p.26</a:t>
              </a:r>
            </a:p>
          </p:txBody>
        </p:sp>
      </p:grpSp>
      <p:grpSp>
        <p:nvGrpSpPr>
          <p:cNvPr id="97" name="Group 97"/>
          <p:cNvGrpSpPr/>
          <p:nvPr/>
        </p:nvGrpSpPr>
        <p:grpSpPr>
          <a:xfrm>
            <a:off x="754380" y="8778240"/>
            <a:ext cx="16802100" cy="411480"/>
            <a:chOff x="0" y="0"/>
            <a:chExt cx="22402800" cy="548640"/>
          </a:xfrm>
        </p:grpSpPr>
        <p:sp>
          <p:nvSpPr>
            <p:cNvPr id="98" name="Freeform 98"/>
            <p:cNvSpPr/>
            <p:nvPr/>
          </p:nvSpPr>
          <p:spPr>
            <a:xfrm>
              <a:off x="0" y="0"/>
              <a:ext cx="22402800" cy="548640"/>
            </a:xfrm>
            <a:custGeom>
              <a:avLst/>
              <a:gdLst/>
              <a:ahLst/>
              <a:cxnLst/>
              <a:rect l="l" t="t" r="r" b="b"/>
              <a:pathLst>
                <a:path w="22402800" h="548640">
                  <a:moveTo>
                    <a:pt x="0" y="0"/>
                  </a:moveTo>
                  <a:lnTo>
                    <a:pt x="22402800" y="0"/>
                  </a:lnTo>
                  <a:lnTo>
                    <a:pt x="22402800" y="548640"/>
                  </a:lnTo>
                  <a:lnTo>
                    <a:pt x="0" y="548640"/>
                  </a:lnTo>
                  <a:close/>
                </a:path>
              </a:pathLst>
            </a:custGeom>
            <a:blipFill>
              <a:blip r:embed="rId3">
                <a:alphaModFix amt="0"/>
              </a:blip>
              <a:stretch>
                <a:fillRect t="-745639" b="-745639"/>
              </a:stretch>
            </a:blipFill>
          </p:spPr>
          <p:txBody>
            <a:bodyPr/>
            <a:lstStyle/>
            <a:p>
              <a:endParaRPr lang="en-US"/>
            </a:p>
          </p:txBody>
        </p:sp>
        <p:sp>
          <p:nvSpPr>
            <p:cNvPr id="99" name="TextBox 99"/>
            <p:cNvSpPr txBox="1"/>
            <p:nvPr/>
          </p:nvSpPr>
          <p:spPr>
            <a:xfrm>
              <a:off x="0" y="-38100"/>
              <a:ext cx="22402800" cy="586740"/>
            </a:xfrm>
            <a:prstGeom prst="rect">
              <a:avLst/>
            </a:prstGeom>
          </p:spPr>
          <p:txBody>
            <a:bodyPr lIns="0" tIns="0" rIns="0" bIns="0" rtlCol="0" anchor="ctr"/>
            <a:lstStyle/>
            <a:p>
              <a:pPr algn="l">
                <a:lnSpc>
                  <a:spcPts val="1800"/>
                </a:lnSpc>
              </a:pPr>
              <a:r>
                <a:rPr lang="en-US" sz="1500" i="1">
                  <a:solidFill>
                    <a:srgbClr val="66717D"/>
                  </a:solidFill>
                  <a:latin typeface="Calibri"/>
                  <a:ea typeface="Calibri (MS) Italics"/>
                  <a:cs typeface="Calibri"/>
                  <a:sym typeface="Calibri (MS) Italics"/>
                </a:rPr>
                <a:t>Handling rule from class: don’t cave, don’t stonewall. Locate the layer, respond with the fact, and say what would change our mind.</a:t>
              </a:r>
            </a:p>
          </p:txBody>
        </p:sp>
      </p:grpSp>
      <p:grpSp>
        <p:nvGrpSpPr>
          <p:cNvPr id="100" name="Group 100"/>
          <p:cNvGrpSpPr/>
          <p:nvPr/>
        </p:nvGrpSpPr>
        <p:grpSpPr>
          <a:xfrm>
            <a:off x="754380" y="9189720"/>
            <a:ext cx="16733520" cy="411480"/>
            <a:chOff x="0" y="0"/>
            <a:chExt cx="22311360" cy="548640"/>
          </a:xfrm>
        </p:grpSpPr>
        <p:sp>
          <p:nvSpPr>
            <p:cNvPr id="101" name="Freeform 101"/>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02" name="TextBox 102"/>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11" action="ppaction://hlinksldjump"/>
                </a:rPr>
                <a:t>←  Back to main deck  (p.11)</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12" action="ppaction://hlinksldjump"/>
                </a:rPr>
                <a:t>Appendix index  (p.12)</a:t>
              </a:r>
            </a:p>
          </p:txBody>
        </p:sp>
      </p:grpSp>
      <p:grpSp>
        <p:nvGrpSpPr>
          <p:cNvPr id="103" name="Group 103"/>
          <p:cNvGrpSpPr/>
          <p:nvPr/>
        </p:nvGrpSpPr>
        <p:grpSpPr>
          <a:xfrm>
            <a:off x="17076420" y="9669780"/>
            <a:ext cx="960120" cy="411480"/>
            <a:chOff x="0" y="0"/>
            <a:chExt cx="1280160" cy="548640"/>
          </a:xfrm>
        </p:grpSpPr>
        <p:sp>
          <p:nvSpPr>
            <p:cNvPr id="104" name="Freeform 104"/>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05" name="TextBox 105"/>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34</a:t>
              </a:r>
            </a:p>
          </p:txBody>
        </p:sp>
      </p:grpSp>
      <p:grpSp>
        <p:nvGrpSpPr>
          <p:cNvPr id="106" name="Group 106"/>
          <p:cNvGrpSpPr/>
          <p:nvPr/>
        </p:nvGrpSpPr>
        <p:grpSpPr>
          <a:xfrm>
            <a:off x="754380" y="9669780"/>
            <a:ext cx="16047720" cy="411480"/>
            <a:chOff x="0" y="0"/>
            <a:chExt cx="21396960" cy="548640"/>
          </a:xfrm>
        </p:grpSpPr>
        <p:sp>
          <p:nvSpPr>
            <p:cNvPr id="107" name="Freeform 107"/>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08" name="TextBox 108"/>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A24  ·  CONTEXT, PENDING TRANSACTIONS</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Cox and Liberty Reset Scale, Ownership, and Leverage</a:t>
            </a:r>
          </a:p>
        </p:txBody>
      </p:sp>
      <p:grpSp>
        <p:nvGrpSpPr>
          <p:cNvPr id="6" name="Group 6"/>
          <p:cNvGrpSpPr/>
          <p:nvPr/>
        </p:nvGrpSpPr>
        <p:grpSpPr>
          <a:xfrm>
            <a:off x="744855" y="2733675"/>
            <a:ext cx="8248650" cy="5368290"/>
            <a:chOff x="0" y="0"/>
            <a:chExt cx="10998200" cy="7157720"/>
          </a:xfrm>
        </p:grpSpPr>
        <p:sp>
          <p:nvSpPr>
            <p:cNvPr id="7" name="Freeform 7"/>
            <p:cNvSpPr/>
            <p:nvPr/>
          </p:nvSpPr>
          <p:spPr>
            <a:xfrm>
              <a:off x="0" y="0"/>
              <a:ext cx="10998200" cy="7157720"/>
            </a:xfrm>
            <a:custGeom>
              <a:avLst/>
              <a:gdLst/>
              <a:ahLst/>
              <a:cxnLst/>
              <a:rect l="l" t="t" r="r" b="b"/>
              <a:pathLst>
                <a:path w="10998200" h="7157720">
                  <a:moveTo>
                    <a:pt x="0" y="146812"/>
                  </a:moveTo>
                  <a:cubicBezTo>
                    <a:pt x="0" y="65786"/>
                    <a:pt x="65786" y="0"/>
                    <a:pt x="146812" y="0"/>
                  </a:cubicBezTo>
                  <a:lnTo>
                    <a:pt x="10851388" y="0"/>
                  </a:lnTo>
                  <a:cubicBezTo>
                    <a:pt x="10932414" y="0"/>
                    <a:pt x="10998200" y="65786"/>
                    <a:pt x="10998200" y="146812"/>
                  </a:cubicBezTo>
                  <a:lnTo>
                    <a:pt x="10998200" y="7010908"/>
                  </a:lnTo>
                  <a:cubicBezTo>
                    <a:pt x="10998200" y="7091934"/>
                    <a:pt x="10932414" y="7157720"/>
                    <a:pt x="10851388" y="7157720"/>
                  </a:cubicBezTo>
                  <a:lnTo>
                    <a:pt x="146812" y="7157720"/>
                  </a:lnTo>
                  <a:cubicBezTo>
                    <a:pt x="65786" y="7157720"/>
                    <a:pt x="0" y="7091934"/>
                    <a:pt x="0" y="7010908"/>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097280" y="2948940"/>
            <a:ext cx="7543800" cy="356616"/>
            <a:chOff x="0" y="0"/>
            <a:chExt cx="10058400" cy="475488"/>
          </a:xfrm>
        </p:grpSpPr>
        <p:sp>
          <p:nvSpPr>
            <p:cNvPr id="9" name="Freeform 9"/>
            <p:cNvSpPr/>
            <p:nvPr/>
          </p:nvSpPr>
          <p:spPr>
            <a:xfrm>
              <a:off x="0" y="0"/>
              <a:ext cx="10058400" cy="475488"/>
            </a:xfrm>
            <a:custGeom>
              <a:avLst/>
              <a:gdLst/>
              <a:ahLst/>
              <a:cxnLst/>
              <a:rect l="l" t="t" r="r" b="b"/>
              <a:pathLst>
                <a:path w="10058400" h="475488">
                  <a:moveTo>
                    <a:pt x="0" y="0"/>
                  </a:moveTo>
                  <a:lnTo>
                    <a:pt x="10058400" y="0"/>
                  </a:lnTo>
                  <a:lnTo>
                    <a:pt x="10058400" y="475488"/>
                  </a:lnTo>
                  <a:lnTo>
                    <a:pt x="0" y="475488"/>
                  </a:lnTo>
                  <a:close/>
                </a:path>
              </a:pathLst>
            </a:custGeom>
            <a:blipFill>
              <a:blip r:embed="rId3">
                <a:alphaModFix amt="0"/>
              </a:blip>
              <a:stretch>
                <a:fillRect t="-362183" b="-362183"/>
              </a:stretch>
            </a:blipFill>
          </p:spPr>
          <p:txBody>
            <a:bodyPr/>
            <a:lstStyle/>
            <a:p>
              <a:endParaRPr lang="en-US"/>
            </a:p>
          </p:txBody>
        </p:sp>
        <p:sp>
          <p:nvSpPr>
            <p:cNvPr id="10" name="TextBox 10"/>
            <p:cNvSpPr txBox="1"/>
            <p:nvPr/>
          </p:nvSpPr>
          <p:spPr>
            <a:xfrm>
              <a:off x="0" y="-38100"/>
              <a:ext cx="100584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COX (ANNOUNCED MAY 16, 2025)</a:t>
              </a:r>
            </a:p>
          </p:txBody>
        </p:sp>
      </p:grpSp>
      <p:sp>
        <p:nvSpPr>
          <p:cNvPr id="11" name="TextBox 11"/>
          <p:cNvSpPr txBox="1"/>
          <p:nvPr/>
        </p:nvSpPr>
        <p:spPr>
          <a:xfrm>
            <a:off x="1097280" y="3322320"/>
            <a:ext cx="7543800" cy="2002409"/>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Combine with Cox Communications (residential cable) and acquire Cox commercial fiber and managed IT/cloud.</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Consideration (FY2025 10-K): $3.5B cash for equity + $500M cash for contribution, $6.0B convertible preferred (6.875%, $477.41 conversion), ~33.6M Charter Holdings common units, one Class C share. Q1 2026 10-Q updates some figures.</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Combined entity assumes ~$12.6B Cox net debt; Cox Enterprises becomes a major long-term shareholder.</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Cox has ~6.5M subscribers; class rule-of-thumb: ~$5,300 of revenue per subscriber acquired, payback shortened only by connecting unconnected homes on the Cox network.</a:t>
            </a:r>
          </a:p>
        </p:txBody>
      </p:sp>
      <p:grpSp>
        <p:nvGrpSpPr>
          <p:cNvPr id="12" name="Group 12"/>
          <p:cNvGrpSpPr/>
          <p:nvPr/>
        </p:nvGrpSpPr>
        <p:grpSpPr>
          <a:xfrm>
            <a:off x="9317355" y="2733675"/>
            <a:ext cx="8248650" cy="5368290"/>
            <a:chOff x="0" y="0"/>
            <a:chExt cx="10998200" cy="7157720"/>
          </a:xfrm>
        </p:grpSpPr>
        <p:sp>
          <p:nvSpPr>
            <p:cNvPr id="13" name="Freeform 13"/>
            <p:cNvSpPr/>
            <p:nvPr/>
          </p:nvSpPr>
          <p:spPr>
            <a:xfrm>
              <a:off x="0" y="0"/>
              <a:ext cx="10998200" cy="7157720"/>
            </a:xfrm>
            <a:custGeom>
              <a:avLst/>
              <a:gdLst/>
              <a:ahLst/>
              <a:cxnLst/>
              <a:rect l="l" t="t" r="r" b="b"/>
              <a:pathLst>
                <a:path w="10998200" h="7157720">
                  <a:moveTo>
                    <a:pt x="0" y="146812"/>
                  </a:moveTo>
                  <a:cubicBezTo>
                    <a:pt x="0" y="65786"/>
                    <a:pt x="65786" y="0"/>
                    <a:pt x="146812" y="0"/>
                  </a:cubicBezTo>
                  <a:lnTo>
                    <a:pt x="10851388" y="0"/>
                  </a:lnTo>
                  <a:cubicBezTo>
                    <a:pt x="10932414" y="0"/>
                    <a:pt x="10998200" y="65786"/>
                    <a:pt x="10998200" y="146812"/>
                  </a:cubicBezTo>
                  <a:lnTo>
                    <a:pt x="10998200" y="7010908"/>
                  </a:lnTo>
                  <a:cubicBezTo>
                    <a:pt x="10998200" y="7091934"/>
                    <a:pt x="10932414" y="7157720"/>
                    <a:pt x="10851388" y="7157720"/>
                  </a:cubicBezTo>
                  <a:lnTo>
                    <a:pt x="146812" y="7157720"/>
                  </a:lnTo>
                  <a:cubicBezTo>
                    <a:pt x="65786" y="7157720"/>
                    <a:pt x="0" y="7091934"/>
                    <a:pt x="0" y="7010908"/>
                  </a:cubicBezTo>
                  <a:close/>
                </a:path>
              </a:pathLst>
            </a:custGeom>
            <a:solidFill>
              <a:srgbClr val="FEFEFE"/>
            </a:solidFill>
            <a:ln w="19050" cap="sq">
              <a:solidFill>
                <a:srgbClr val="D8DEE6"/>
              </a:solidFill>
              <a:prstDash val="solid"/>
              <a:miter/>
            </a:ln>
          </p:spPr>
          <p:txBody>
            <a:bodyPr/>
            <a:lstStyle/>
            <a:p>
              <a:endParaRPr lang="en-US"/>
            </a:p>
          </p:txBody>
        </p:sp>
      </p:grpSp>
      <p:grpSp>
        <p:nvGrpSpPr>
          <p:cNvPr id="14" name="Group 14"/>
          <p:cNvGrpSpPr/>
          <p:nvPr/>
        </p:nvGrpSpPr>
        <p:grpSpPr>
          <a:xfrm>
            <a:off x="9669780" y="2948940"/>
            <a:ext cx="7543800" cy="356616"/>
            <a:chOff x="0" y="0"/>
            <a:chExt cx="10058400" cy="475488"/>
          </a:xfrm>
        </p:grpSpPr>
        <p:sp>
          <p:nvSpPr>
            <p:cNvPr id="15" name="Freeform 15"/>
            <p:cNvSpPr/>
            <p:nvPr/>
          </p:nvSpPr>
          <p:spPr>
            <a:xfrm>
              <a:off x="0" y="0"/>
              <a:ext cx="10058400" cy="475488"/>
            </a:xfrm>
            <a:custGeom>
              <a:avLst/>
              <a:gdLst/>
              <a:ahLst/>
              <a:cxnLst/>
              <a:rect l="l" t="t" r="r" b="b"/>
              <a:pathLst>
                <a:path w="10058400" h="475488">
                  <a:moveTo>
                    <a:pt x="0" y="0"/>
                  </a:moveTo>
                  <a:lnTo>
                    <a:pt x="10058400" y="0"/>
                  </a:lnTo>
                  <a:lnTo>
                    <a:pt x="10058400" y="475488"/>
                  </a:lnTo>
                  <a:lnTo>
                    <a:pt x="0" y="475488"/>
                  </a:lnTo>
                  <a:close/>
                </a:path>
              </a:pathLst>
            </a:custGeom>
            <a:blipFill>
              <a:blip r:embed="rId3">
                <a:alphaModFix amt="0"/>
              </a:blip>
              <a:stretch>
                <a:fillRect t="-362183" b="-362183"/>
              </a:stretch>
            </a:blipFill>
          </p:spPr>
          <p:txBody>
            <a:bodyPr/>
            <a:lstStyle/>
            <a:p>
              <a:endParaRPr lang="en-US"/>
            </a:p>
          </p:txBody>
        </p:sp>
        <p:sp>
          <p:nvSpPr>
            <p:cNvPr id="16" name="TextBox 16"/>
            <p:cNvSpPr txBox="1"/>
            <p:nvPr/>
          </p:nvSpPr>
          <p:spPr>
            <a:xfrm>
              <a:off x="0" y="-38100"/>
              <a:ext cx="100584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LIBERTY BROADBAND (ANNOUNCED NOV 12, 2024)</a:t>
              </a:r>
            </a:p>
          </p:txBody>
        </p:sp>
      </p:grpSp>
      <p:sp>
        <p:nvSpPr>
          <p:cNvPr id="17" name="TextBox 17"/>
          <p:cNvSpPr txBox="1"/>
          <p:nvPr/>
        </p:nvSpPr>
        <p:spPr>
          <a:xfrm>
            <a:off x="9669780" y="3322320"/>
            <a:ext cx="7543800" cy="907034"/>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Acquire Liberty Broadband, whose principal asset is ~41.5M Charter shares (0.236 CHTR Class A per Liberty share). Simplifies ownership; GCI Alaska spun off July 14, 2025.</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A/N suspended its standing repurchase (Aug 2025) pending Cox close; remaining board authorization ~$179M ex-Liberty purchases.</a:t>
            </a:r>
          </a:p>
        </p:txBody>
      </p:sp>
      <p:grpSp>
        <p:nvGrpSpPr>
          <p:cNvPr id="18" name="Group 18"/>
          <p:cNvGrpSpPr/>
          <p:nvPr/>
        </p:nvGrpSpPr>
        <p:grpSpPr>
          <a:xfrm>
            <a:off x="9669780" y="5692140"/>
            <a:ext cx="7543800" cy="356616"/>
            <a:chOff x="0" y="0"/>
            <a:chExt cx="10058400" cy="475488"/>
          </a:xfrm>
        </p:grpSpPr>
        <p:sp>
          <p:nvSpPr>
            <p:cNvPr id="19" name="Freeform 19"/>
            <p:cNvSpPr/>
            <p:nvPr/>
          </p:nvSpPr>
          <p:spPr>
            <a:xfrm>
              <a:off x="0" y="0"/>
              <a:ext cx="10058400" cy="475488"/>
            </a:xfrm>
            <a:custGeom>
              <a:avLst/>
              <a:gdLst/>
              <a:ahLst/>
              <a:cxnLst/>
              <a:rect l="l" t="t" r="r" b="b"/>
              <a:pathLst>
                <a:path w="10058400" h="475488">
                  <a:moveTo>
                    <a:pt x="0" y="0"/>
                  </a:moveTo>
                  <a:lnTo>
                    <a:pt x="10058400" y="0"/>
                  </a:lnTo>
                  <a:lnTo>
                    <a:pt x="10058400" y="475488"/>
                  </a:lnTo>
                  <a:lnTo>
                    <a:pt x="0" y="475488"/>
                  </a:lnTo>
                  <a:close/>
                </a:path>
              </a:pathLst>
            </a:custGeom>
            <a:blipFill>
              <a:blip r:embed="rId3">
                <a:alphaModFix amt="0"/>
              </a:blip>
              <a:stretch>
                <a:fillRect t="-362183" b="-362183"/>
              </a:stretch>
            </a:blipFill>
          </p:spPr>
          <p:txBody>
            <a:bodyPr/>
            <a:lstStyle/>
            <a:p>
              <a:endParaRPr lang="en-US"/>
            </a:p>
          </p:txBody>
        </p:sp>
        <p:sp>
          <p:nvSpPr>
            <p:cNvPr id="20" name="TextBox 20"/>
            <p:cNvSpPr txBox="1"/>
            <p:nvPr/>
          </p:nvSpPr>
          <p:spPr>
            <a:xfrm>
              <a:off x="0" y="-38100"/>
              <a:ext cx="1005840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IMPLICATIONS FOR THE PLAN</a:t>
              </a:r>
            </a:p>
          </p:txBody>
        </p:sp>
      </p:grpSp>
      <p:sp>
        <p:nvSpPr>
          <p:cNvPr id="21" name="TextBox 21"/>
          <p:cNvSpPr txBox="1"/>
          <p:nvPr/>
        </p:nvSpPr>
        <p:spPr>
          <a:xfrm>
            <a:off x="9669780" y="6065520"/>
            <a:ext cx="7543800" cy="1345184"/>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Sensor and cohorts are built on the combined footprint from day one; never blend pre- and post-close bases (the Q4 2025 restatement trap applies again).</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Leverage plan: stay near 4.0–4.5x until close, then 3.5–3.75x, Rec 2C accelerates the stated direction rather than inventing one.</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Cox Enterprises and A/N must be briefed on the buyback redirect; they are the holders most affected.</a:t>
            </a:r>
          </a:p>
        </p:txBody>
      </p:sp>
      <p:grpSp>
        <p:nvGrpSpPr>
          <p:cNvPr id="22" name="Group 22"/>
          <p:cNvGrpSpPr/>
          <p:nvPr/>
        </p:nvGrpSpPr>
        <p:grpSpPr>
          <a:xfrm>
            <a:off x="754380" y="8805672"/>
            <a:ext cx="16733520" cy="356616"/>
            <a:chOff x="0" y="0"/>
            <a:chExt cx="22311360" cy="475488"/>
          </a:xfrm>
        </p:grpSpPr>
        <p:sp>
          <p:nvSpPr>
            <p:cNvPr id="23" name="Freeform 23"/>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24" name="TextBox 24"/>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Q1 2026 10-Q; Cox announcement press release and presentation (May 16, 2025); class notes (revenue per subscriber).</a:t>
              </a:r>
            </a:p>
          </p:txBody>
        </p:sp>
      </p:grpSp>
      <p:grpSp>
        <p:nvGrpSpPr>
          <p:cNvPr id="25" name="Group 25"/>
          <p:cNvGrpSpPr/>
          <p:nvPr/>
        </p:nvGrpSpPr>
        <p:grpSpPr>
          <a:xfrm>
            <a:off x="754380" y="9168289"/>
            <a:ext cx="16733521" cy="432911"/>
            <a:chOff x="0" y="-28575"/>
            <a:chExt cx="22311361" cy="577215"/>
          </a:xfrm>
        </p:grpSpPr>
        <p:sp>
          <p:nvSpPr>
            <p:cNvPr id="26" name="Freeform 2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27" name="TextBox 2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(p.5)</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28" name="Group 28"/>
          <p:cNvGrpSpPr/>
          <p:nvPr/>
        </p:nvGrpSpPr>
        <p:grpSpPr>
          <a:xfrm>
            <a:off x="17076420" y="9669780"/>
            <a:ext cx="960120" cy="411480"/>
            <a:chOff x="0" y="0"/>
            <a:chExt cx="1280160" cy="548640"/>
          </a:xfrm>
        </p:grpSpPr>
        <p:sp>
          <p:nvSpPr>
            <p:cNvPr id="29" name="Freeform 2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0" name="TextBox 3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35</a:t>
              </a:r>
            </a:p>
          </p:txBody>
        </p:sp>
      </p:grpSp>
      <p:grpSp>
        <p:nvGrpSpPr>
          <p:cNvPr id="31" name="Group 31"/>
          <p:cNvGrpSpPr/>
          <p:nvPr/>
        </p:nvGrpSpPr>
        <p:grpSpPr>
          <a:xfrm>
            <a:off x="754380" y="9669780"/>
            <a:ext cx="16047720" cy="411480"/>
            <a:chOff x="0" y="0"/>
            <a:chExt cx="21396960" cy="548640"/>
          </a:xfrm>
        </p:grpSpPr>
        <p:sp>
          <p:nvSpPr>
            <p:cNvPr id="32" name="Freeform 3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33" name="TextBox 3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A25  ·  CONTEXT, WHY BROADBAND IS SHRINKING</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Two Durable Forces Are Shrinking Broadband</a:t>
            </a:r>
          </a:p>
        </p:txBody>
      </p:sp>
      <p:grpSp>
        <p:nvGrpSpPr>
          <p:cNvPr id="6" name="Group 6"/>
          <p:cNvGrpSpPr/>
          <p:nvPr/>
        </p:nvGrpSpPr>
        <p:grpSpPr>
          <a:xfrm>
            <a:off x="744855" y="2665095"/>
            <a:ext cx="5299710" cy="3036570"/>
            <a:chOff x="0" y="0"/>
            <a:chExt cx="7066280" cy="4048760"/>
          </a:xfrm>
        </p:grpSpPr>
        <p:sp>
          <p:nvSpPr>
            <p:cNvPr id="7" name="Freeform 7"/>
            <p:cNvSpPr/>
            <p:nvPr/>
          </p:nvSpPr>
          <p:spPr>
            <a:xfrm>
              <a:off x="0" y="0"/>
              <a:ext cx="7066280" cy="4048760"/>
            </a:xfrm>
            <a:custGeom>
              <a:avLst/>
              <a:gdLst/>
              <a:ahLst/>
              <a:cxnLst/>
              <a:rect l="l" t="t" r="r" b="b"/>
              <a:pathLst>
                <a:path w="7066280" h="404876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097280" y="2880360"/>
            <a:ext cx="4594860" cy="480060"/>
            <a:chOff x="0" y="0"/>
            <a:chExt cx="6126480" cy="640080"/>
          </a:xfrm>
        </p:grpSpPr>
        <p:sp>
          <p:nvSpPr>
            <p:cNvPr id="9" name="Freeform 9"/>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10" name="TextBox 10"/>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FTTH overbuilders</a:t>
              </a:r>
            </a:p>
          </p:txBody>
        </p:sp>
      </p:grpSp>
      <p:sp>
        <p:nvSpPr>
          <p:cNvPr id="11" name="TextBox 11"/>
          <p:cNvSpPr txBox="1"/>
          <p:nvPr/>
        </p:nvSpPr>
        <p:spPr>
          <a:xfrm>
            <a:off x="1097280" y="3390900"/>
            <a:ext cx="4594860" cy="90703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AT&amp;T in ~27% and Verizon in ~16% of footprint at 100 Mbps+ (FY2025 10-K); Frontier and others regionally. COVID and hundreds of billions of public money scaled fiber from small to large competition.</a:t>
            </a:r>
          </a:p>
        </p:txBody>
      </p:sp>
      <p:grpSp>
        <p:nvGrpSpPr>
          <p:cNvPr id="12" name="Group 12"/>
          <p:cNvGrpSpPr/>
          <p:nvPr/>
        </p:nvGrpSpPr>
        <p:grpSpPr>
          <a:xfrm>
            <a:off x="6505575" y="2665095"/>
            <a:ext cx="5299710" cy="3036570"/>
            <a:chOff x="0" y="0"/>
            <a:chExt cx="7066280" cy="4048760"/>
          </a:xfrm>
        </p:grpSpPr>
        <p:sp>
          <p:nvSpPr>
            <p:cNvPr id="13" name="Freeform 13"/>
            <p:cNvSpPr/>
            <p:nvPr/>
          </p:nvSpPr>
          <p:spPr>
            <a:xfrm>
              <a:off x="0" y="0"/>
              <a:ext cx="7066280" cy="4048760"/>
            </a:xfrm>
            <a:custGeom>
              <a:avLst/>
              <a:gdLst/>
              <a:ahLst/>
              <a:cxnLst/>
              <a:rect l="l" t="t" r="r" b="b"/>
              <a:pathLst>
                <a:path w="7066280" h="404876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4FB"/>
            </a:solidFill>
            <a:ln w="19050" cap="sq">
              <a:solidFill>
                <a:srgbClr val="D8DEE6"/>
              </a:solidFill>
              <a:prstDash val="solid"/>
              <a:miter/>
            </a:ln>
          </p:spPr>
          <p:txBody>
            <a:bodyPr/>
            <a:lstStyle/>
            <a:p>
              <a:endParaRPr lang="en-US"/>
            </a:p>
          </p:txBody>
        </p:sp>
      </p:grpSp>
      <p:grpSp>
        <p:nvGrpSpPr>
          <p:cNvPr id="14" name="Group 14"/>
          <p:cNvGrpSpPr/>
          <p:nvPr/>
        </p:nvGrpSpPr>
        <p:grpSpPr>
          <a:xfrm>
            <a:off x="6858000" y="2880360"/>
            <a:ext cx="4594860" cy="480060"/>
            <a:chOff x="0" y="0"/>
            <a:chExt cx="6126480" cy="640080"/>
          </a:xfrm>
        </p:grpSpPr>
        <p:sp>
          <p:nvSpPr>
            <p:cNvPr id="15" name="Freeform 15"/>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16" name="TextBox 16"/>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Fixed wireless access</a:t>
              </a:r>
            </a:p>
          </p:txBody>
        </p:sp>
      </p:grpSp>
      <p:sp>
        <p:nvSpPr>
          <p:cNvPr id="17" name="TextBox 17"/>
          <p:cNvSpPr txBox="1"/>
          <p:nvPr/>
        </p:nvSpPr>
        <p:spPr>
          <a:xfrm>
            <a:off x="6858000" y="3390900"/>
            <a:ext cx="4594860" cy="90703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T-Mobile and Verizon 5G home Internet from a box in the house, winning price-sensitive customers. Same carriers Charter resells mobile from (Verizon MVNO; T-Mobile for business from 2026).</a:t>
            </a:r>
          </a:p>
        </p:txBody>
      </p:sp>
      <p:grpSp>
        <p:nvGrpSpPr>
          <p:cNvPr id="18" name="Group 18"/>
          <p:cNvGrpSpPr/>
          <p:nvPr/>
        </p:nvGrpSpPr>
        <p:grpSpPr>
          <a:xfrm>
            <a:off x="12266295" y="2665095"/>
            <a:ext cx="5299710" cy="3036570"/>
            <a:chOff x="0" y="0"/>
            <a:chExt cx="7066280" cy="4048760"/>
          </a:xfrm>
        </p:grpSpPr>
        <p:sp>
          <p:nvSpPr>
            <p:cNvPr id="19" name="Freeform 19"/>
            <p:cNvSpPr/>
            <p:nvPr/>
          </p:nvSpPr>
          <p:spPr>
            <a:xfrm>
              <a:off x="0" y="0"/>
              <a:ext cx="7066280" cy="4048760"/>
            </a:xfrm>
            <a:custGeom>
              <a:avLst/>
              <a:gdLst/>
              <a:ahLst/>
              <a:cxnLst/>
              <a:rect l="l" t="t" r="r" b="b"/>
              <a:pathLst>
                <a:path w="7066280" h="4048760">
                  <a:moveTo>
                    <a:pt x="0" y="147193"/>
                  </a:moveTo>
                  <a:cubicBezTo>
                    <a:pt x="0" y="65913"/>
                    <a:pt x="65913" y="0"/>
                    <a:pt x="147193" y="0"/>
                  </a:cubicBezTo>
                  <a:lnTo>
                    <a:pt x="6919087" y="0"/>
                  </a:lnTo>
                  <a:cubicBezTo>
                    <a:pt x="7000367" y="0"/>
                    <a:pt x="7066280" y="65913"/>
                    <a:pt x="7066280" y="147193"/>
                  </a:cubicBezTo>
                  <a:lnTo>
                    <a:pt x="7066280" y="3901567"/>
                  </a:lnTo>
                  <a:cubicBezTo>
                    <a:pt x="7066280" y="3982847"/>
                    <a:pt x="7000367" y="4048760"/>
                    <a:pt x="6919087" y="4048760"/>
                  </a:cubicBezTo>
                  <a:lnTo>
                    <a:pt x="147193" y="4048760"/>
                  </a:lnTo>
                  <a:cubicBezTo>
                    <a:pt x="65913" y="4048760"/>
                    <a:pt x="0" y="3982847"/>
                    <a:pt x="0" y="3901567"/>
                  </a:cubicBezTo>
                  <a:close/>
                </a:path>
              </a:pathLst>
            </a:custGeom>
            <a:solidFill>
              <a:srgbClr val="EEF4FB"/>
            </a:solidFill>
            <a:ln w="19050" cap="sq">
              <a:solidFill>
                <a:srgbClr val="D8DEE6"/>
              </a:solidFill>
              <a:prstDash val="solid"/>
              <a:miter/>
            </a:ln>
          </p:spPr>
          <p:txBody>
            <a:bodyPr/>
            <a:lstStyle/>
            <a:p>
              <a:endParaRPr lang="en-US"/>
            </a:p>
          </p:txBody>
        </p:sp>
      </p:grpSp>
      <p:grpSp>
        <p:nvGrpSpPr>
          <p:cNvPr id="20" name="Group 20"/>
          <p:cNvGrpSpPr/>
          <p:nvPr/>
        </p:nvGrpSpPr>
        <p:grpSpPr>
          <a:xfrm>
            <a:off x="12618720" y="2880360"/>
            <a:ext cx="4594860" cy="480060"/>
            <a:chOff x="0" y="0"/>
            <a:chExt cx="6126480" cy="640080"/>
          </a:xfrm>
        </p:grpSpPr>
        <p:sp>
          <p:nvSpPr>
            <p:cNvPr id="21" name="Freeform 21"/>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22" name="TextBox 22"/>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LEO satellite + housing</a:t>
              </a:r>
            </a:p>
          </p:txBody>
        </p:sp>
      </p:grpSp>
      <p:sp>
        <p:nvSpPr>
          <p:cNvPr id="23" name="TextBox 23"/>
          <p:cNvSpPr txBox="1"/>
          <p:nvPr/>
        </p:nvSpPr>
        <p:spPr>
          <a:xfrm>
            <a:off x="12618720" y="3390900"/>
            <a:ext cx="4594860" cy="90703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Starlink today, Amazon Kuiper next, wins by default where wireline is absent; capacity-constrained head-to-head. Housing turnover is frozen; the industry counts on moves for gross adds.</a:t>
            </a:r>
          </a:p>
        </p:txBody>
      </p:sp>
      <p:grpSp>
        <p:nvGrpSpPr>
          <p:cNvPr id="24" name="Group 24"/>
          <p:cNvGrpSpPr/>
          <p:nvPr/>
        </p:nvGrpSpPr>
        <p:grpSpPr>
          <a:xfrm>
            <a:off x="744855" y="5888355"/>
            <a:ext cx="16821150" cy="2967990"/>
            <a:chOff x="0" y="0"/>
            <a:chExt cx="22428200" cy="3957320"/>
          </a:xfrm>
        </p:grpSpPr>
        <p:sp>
          <p:nvSpPr>
            <p:cNvPr id="25" name="Freeform 25"/>
            <p:cNvSpPr/>
            <p:nvPr/>
          </p:nvSpPr>
          <p:spPr>
            <a:xfrm>
              <a:off x="0" y="0"/>
              <a:ext cx="22428200" cy="3957320"/>
            </a:xfrm>
            <a:custGeom>
              <a:avLst/>
              <a:gdLst/>
              <a:ahLst/>
              <a:cxnLst/>
              <a:rect l="l" t="t" r="r" b="b"/>
              <a:pathLst>
                <a:path w="22428200" h="3957320">
                  <a:moveTo>
                    <a:pt x="0" y="147193"/>
                  </a:moveTo>
                  <a:cubicBezTo>
                    <a:pt x="0" y="65913"/>
                    <a:pt x="65913" y="0"/>
                    <a:pt x="147193" y="0"/>
                  </a:cubicBezTo>
                  <a:lnTo>
                    <a:pt x="22281007" y="0"/>
                  </a:lnTo>
                  <a:cubicBezTo>
                    <a:pt x="22362288" y="0"/>
                    <a:pt x="22428200" y="65913"/>
                    <a:pt x="22428200" y="147193"/>
                  </a:cubicBezTo>
                  <a:lnTo>
                    <a:pt x="22428200" y="3810127"/>
                  </a:lnTo>
                  <a:cubicBezTo>
                    <a:pt x="22428200" y="3891407"/>
                    <a:pt x="22362288" y="3957320"/>
                    <a:pt x="22281007" y="3957320"/>
                  </a:cubicBezTo>
                  <a:lnTo>
                    <a:pt x="147193" y="3957320"/>
                  </a:lnTo>
                  <a:cubicBezTo>
                    <a:pt x="65913" y="3957320"/>
                    <a:pt x="0" y="3891407"/>
                    <a:pt x="0" y="3810127"/>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6" name="Group 26"/>
          <p:cNvGrpSpPr/>
          <p:nvPr/>
        </p:nvGrpSpPr>
        <p:grpSpPr>
          <a:xfrm>
            <a:off x="1165860" y="6062472"/>
            <a:ext cx="16047720" cy="356616"/>
            <a:chOff x="0" y="0"/>
            <a:chExt cx="21396960" cy="475488"/>
          </a:xfrm>
        </p:grpSpPr>
        <p:sp>
          <p:nvSpPr>
            <p:cNvPr id="27" name="Freeform 27"/>
            <p:cNvSpPr/>
            <p:nvPr/>
          </p:nvSpPr>
          <p:spPr>
            <a:xfrm>
              <a:off x="0" y="0"/>
              <a:ext cx="21396961" cy="475488"/>
            </a:xfrm>
            <a:custGeom>
              <a:avLst/>
              <a:gdLst/>
              <a:ahLst/>
              <a:cxnLst/>
              <a:rect l="l" t="t" r="r" b="b"/>
              <a:pathLst>
                <a:path w="21396961" h="475488">
                  <a:moveTo>
                    <a:pt x="0" y="0"/>
                  </a:moveTo>
                  <a:lnTo>
                    <a:pt x="21396961" y="0"/>
                  </a:lnTo>
                  <a:lnTo>
                    <a:pt x="21396961" y="475488"/>
                  </a:lnTo>
                  <a:lnTo>
                    <a:pt x="0" y="475488"/>
                  </a:lnTo>
                  <a:close/>
                </a:path>
              </a:pathLst>
            </a:custGeom>
            <a:blipFill>
              <a:blip r:embed="rId3">
                <a:alphaModFix amt="0"/>
              </a:blip>
              <a:stretch>
                <a:fillRect t="-826826" b="-826826"/>
              </a:stretch>
            </a:blipFill>
          </p:spPr>
          <p:txBody>
            <a:bodyPr/>
            <a:lstStyle/>
            <a:p>
              <a:endParaRPr lang="en-US"/>
            </a:p>
          </p:txBody>
        </p:sp>
        <p:sp>
          <p:nvSpPr>
            <p:cNvPr id="28" name="TextBox 28"/>
            <p:cNvSpPr txBox="1"/>
            <p:nvPr/>
          </p:nvSpPr>
          <p:spPr>
            <a:xfrm>
              <a:off x="0" y="-38100"/>
              <a:ext cx="2139696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NETWORK AND OPERATING FACTS THE PLAYS DEPEND ON</a:t>
              </a:r>
            </a:p>
          </p:txBody>
        </p:sp>
      </p:grpSp>
      <p:sp>
        <p:nvSpPr>
          <p:cNvPr id="29" name="TextBox 29"/>
          <p:cNvSpPr txBox="1"/>
          <p:nvPr/>
        </p:nvSpPr>
        <p:spPr>
          <a:xfrm>
            <a:off x="1165860" y="6435852"/>
            <a:ext cx="16047720" cy="907034"/>
          </a:xfrm>
          <a:prstGeom prst="rect">
            <a:avLst/>
          </a:prstGeom>
        </p:spPr>
        <p:txBody>
          <a:bodyPr lIns="0" tIns="0" rIns="0" bIns="0" rtlCol="0" anchor="t">
            <a:spAutoFit/>
          </a:bodyPr>
          <a:lstStyle/>
          <a:p>
            <a:pPr marL="262413" lvl="1" indent="-131207" algn="l">
              <a:lnSpc>
                <a:spcPts val="1797"/>
              </a:lnSpc>
              <a:buFont typeface="Arial"/>
              <a:buChar char="•"/>
            </a:pPr>
            <a:r>
              <a:rPr lang="en-US" sz="1449">
                <a:solidFill>
                  <a:srgbClr val="66717D"/>
                </a:solidFill>
                <a:latin typeface="Calibri"/>
                <a:ea typeface="Calibri (MS)"/>
                <a:cs typeface="Calibri"/>
                <a:sym typeface="Calibri (MS)"/>
              </a:rPr>
              <a:t>Last mile is mostly HFC (fiber to node, coax to home); network evolution to 1.2/1.8 GHz, high-split, DAA, DOCSIS 4.0 targeted largely complete by end-2027; FY2026 capex ~$11.4B ex-Cox.</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Rural construction since 2022: $7.7B spent, ~1.3M passings activated, &gt;1.7M targeted; &gt;$8B total expected, &gt;$2B subsidies (RDOF, BEAD); pole permitting and milestone penalties are the execution risks.</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Insourced operations: 100% U.S. workforce, ~91,900 FTEs, &gt;80% of premise visits in-house, a churn differentiator and a fixed labor base the cost-cut alternative would damage.</a:t>
            </a:r>
          </a:p>
          <a:p>
            <a:pPr marL="262413" lvl="1" indent="-131207" algn="l">
              <a:lnSpc>
                <a:spcPts val="1797"/>
              </a:lnSpc>
              <a:buFont typeface="Arial"/>
              <a:buChar char="•"/>
            </a:pPr>
            <a:r>
              <a:rPr lang="en-US" sz="1449">
                <a:solidFill>
                  <a:srgbClr val="66717D"/>
                </a:solidFill>
                <a:latin typeface="Calibri"/>
                <a:ea typeface="Calibri (MS)"/>
                <a:cs typeface="Calibri"/>
                <a:sym typeface="Calibri (MS)"/>
              </a:rPr>
              <a:t>Mobile: ~49M out-of-home WiFi APs, 210 CBRS PALs for 5G offload to improve MVNO economics; Spectrum Mobile is available only to Spectrum Internet customers (the convergence lever).</a:t>
            </a:r>
          </a:p>
        </p:txBody>
      </p:sp>
      <p:grpSp>
        <p:nvGrpSpPr>
          <p:cNvPr id="30" name="Group 30"/>
          <p:cNvGrpSpPr/>
          <p:nvPr/>
        </p:nvGrpSpPr>
        <p:grpSpPr>
          <a:xfrm>
            <a:off x="754380" y="8805672"/>
            <a:ext cx="16733520" cy="356616"/>
            <a:chOff x="0" y="0"/>
            <a:chExt cx="22311360" cy="475488"/>
          </a:xfrm>
        </p:grpSpPr>
        <p:sp>
          <p:nvSpPr>
            <p:cNvPr id="31" name="Freeform 31"/>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32" name="TextBox 32"/>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FY2025 10-K; class notes 18–27 Aug 2026 (policy/capital wave; housing).</a:t>
              </a:r>
            </a:p>
          </p:txBody>
        </p:sp>
      </p:grpSp>
      <p:grpSp>
        <p:nvGrpSpPr>
          <p:cNvPr id="33" name="Group 33"/>
          <p:cNvGrpSpPr/>
          <p:nvPr/>
        </p:nvGrpSpPr>
        <p:grpSpPr>
          <a:xfrm>
            <a:off x="754380" y="9189720"/>
            <a:ext cx="16733520" cy="411480"/>
            <a:chOff x="0" y="0"/>
            <a:chExt cx="22311360" cy="548640"/>
          </a:xfrm>
        </p:grpSpPr>
        <p:sp>
          <p:nvSpPr>
            <p:cNvPr id="34" name="Freeform 34"/>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5" name="TextBox 35"/>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(p.4)</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36" name="Group 36"/>
          <p:cNvGrpSpPr/>
          <p:nvPr/>
        </p:nvGrpSpPr>
        <p:grpSpPr>
          <a:xfrm>
            <a:off x="17076420" y="9669780"/>
            <a:ext cx="960120" cy="411480"/>
            <a:chOff x="0" y="0"/>
            <a:chExt cx="1280160" cy="548640"/>
          </a:xfrm>
        </p:grpSpPr>
        <p:sp>
          <p:nvSpPr>
            <p:cNvPr id="37" name="Freeform 37"/>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38" name="TextBox 38"/>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36</a:t>
              </a:r>
            </a:p>
          </p:txBody>
        </p:sp>
      </p:grpSp>
      <p:grpSp>
        <p:nvGrpSpPr>
          <p:cNvPr id="39" name="Group 39"/>
          <p:cNvGrpSpPr/>
          <p:nvPr/>
        </p:nvGrpSpPr>
        <p:grpSpPr>
          <a:xfrm>
            <a:off x="754380" y="9669780"/>
            <a:ext cx="16047720" cy="411480"/>
            <a:chOff x="0" y="0"/>
            <a:chExt cx="21396960" cy="548640"/>
          </a:xfrm>
        </p:grpSpPr>
        <p:sp>
          <p:nvSpPr>
            <p:cNvPr id="40" name="Freeform 4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1" name="TextBox 4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A26  ·  REFERENCE, FY SNAPSHOT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FY2025 Snapshot: Stable P&amp;L, Shrinking Engine</a:t>
            </a:r>
          </a:p>
        </p:txBody>
      </p:sp>
      <p:grpSp>
        <p:nvGrpSpPr>
          <p:cNvPr id="6" name="Group 6"/>
          <p:cNvGrpSpPr/>
          <p:nvPr/>
        </p:nvGrpSpPr>
        <p:grpSpPr>
          <a:xfrm>
            <a:off x="754380" y="2674620"/>
            <a:ext cx="16802100" cy="507492"/>
            <a:chOff x="0" y="0"/>
            <a:chExt cx="22402800" cy="676656"/>
          </a:xfrm>
        </p:grpSpPr>
        <p:sp>
          <p:nvSpPr>
            <p:cNvPr id="7" name="Freeform 7"/>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003057"/>
            </a:solidFill>
          </p:spPr>
          <p:txBody>
            <a:bodyPr/>
            <a:lstStyle/>
            <a:p>
              <a:endParaRPr lang="en-US"/>
            </a:p>
          </p:txBody>
        </p:sp>
      </p:grpSp>
      <p:grpSp>
        <p:nvGrpSpPr>
          <p:cNvPr id="8" name="Group 8"/>
          <p:cNvGrpSpPr/>
          <p:nvPr/>
        </p:nvGrpSpPr>
        <p:grpSpPr>
          <a:xfrm>
            <a:off x="864108" y="2674620"/>
            <a:ext cx="4718304" cy="507492"/>
            <a:chOff x="0" y="0"/>
            <a:chExt cx="6291072" cy="676656"/>
          </a:xfrm>
        </p:grpSpPr>
        <p:sp>
          <p:nvSpPr>
            <p:cNvPr id="9" name="Freeform 9"/>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0" name="TextBox 10"/>
            <p:cNvSpPr txBox="1"/>
            <p:nvPr/>
          </p:nvSpPr>
          <p:spPr>
            <a:xfrm>
              <a:off x="0" y="-38100"/>
              <a:ext cx="6291072" cy="714756"/>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Metric</a:t>
              </a:r>
            </a:p>
          </p:txBody>
        </p:sp>
      </p:grpSp>
      <p:grpSp>
        <p:nvGrpSpPr>
          <p:cNvPr id="11" name="Group 11"/>
          <p:cNvGrpSpPr/>
          <p:nvPr/>
        </p:nvGrpSpPr>
        <p:grpSpPr>
          <a:xfrm>
            <a:off x="5801868" y="2674620"/>
            <a:ext cx="1975104" cy="507492"/>
            <a:chOff x="0" y="0"/>
            <a:chExt cx="2633472" cy="676656"/>
          </a:xfrm>
        </p:grpSpPr>
        <p:sp>
          <p:nvSpPr>
            <p:cNvPr id="12" name="Freeform 12"/>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3" name="TextBox 13"/>
            <p:cNvSpPr txBox="1"/>
            <p:nvPr/>
          </p:nvSpPr>
          <p:spPr>
            <a:xfrm>
              <a:off x="0" y="-38100"/>
              <a:ext cx="2633472" cy="714756"/>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FY2023</a:t>
              </a:r>
            </a:p>
          </p:txBody>
        </p:sp>
      </p:grpSp>
      <p:grpSp>
        <p:nvGrpSpPr>
          <p:cNvPr id="14" name="Group 14"/>
          <p:cNvGrpSpPr/>
          <p:nvPr/>
        </p:nvGrpSpPr>
        <p:grpSpPr>
          <a:xfrm>
            <a:off x="7996428" y="2674620"/>
            <a:ext cx="1975104" cy="507492"/>
            <a:chOff x="0" y="0"/>
            <a:chExt cx="2633472" cy="676656"/>
          </a:xfrm>
        </p:grpSpPr>
        <p:sp>
          <p:nvSpPr>
            <p:cNvPr id="15" name="Freeform 15"/>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6" name="TextBox 16"/>
            <p:cNvSpPr txBox="1"/>
            <p:nvPr/>
          </p:nvSpPr>
          <p:spPr>
            <a:xfrm>
              <a:off x="0" y="-38100"/>
              <a:ext cx="2633472" cy="714756"/>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FY2024</a:t>
              </a:r>
            </a:p>
          </p:txBody>
        </p:sp>
      </p:grpSp>
      <p:grpSp>
        <p:nvGrpSpPr>
          <p:cNvPr id="17" name="Group 17"/>
          <p:cNvGrpSpPr/>
          <p:nvPr/>
        </p:nvGrpSpPr>
        <p:grpSpPr>
          <a:xfrm>
            <a:off x="10190988" y="2674620"/>
            <a:ext cx="3072384" cy="507492"/>
            <a:chOff x="0" y="0"/>
            <a:chExt cx="4096512" cy="676656"/>
          </a:xfrm>
        </p:grpSpPr>
        <p:sp>
          <p:nvSpPr>
            <p:cNvPr id="18" name="Freeform 18"/>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9" name="TextBox 19"/>
            <p:cNvSpPr txBox="1"/>
            <p:nvPr/>
          </p:nvSpPr>
          <p:spPr>
            <a:xfrm>
              <a:off x="0" y="-38100"/>
              <a:ext cx="4096512" cy="714756"/>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FY2025</a:t>
              </a:r>
            </a:p>
          </p:txBody>
        </p:sp>
      </p:grpSp>
      <p:grpSp>
        <p:nvGrpSpPr>
          <p:cNvPr id="20" name="Group 20"/>
          <p:cNvGrpSpPr/>
          <p:nvPr/>
        </p:nvGrpSpPr>
        <p:grpSpPr>
          <a:xfrm>
            <a:off x="13482828" y="2674620"/>
            <a:ext cx="3963924" cy="507492"/>
            <a:chOff x="0" y="0"/>
            <a:chExt cx="5285232" cy="676656"/>
          </a:xfrm>
        </p:grpSpPr>
        <p:sp>
          <p:nvSpPr>
            <p:cNvPr id="21" name="Freeform 21"/>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22" name="TextBox 22"/>
            <p:cNvSpPr txBox="1"/>
            <p:nvPr/>
          </p:nvSpPr>
          <p:spPr>
            <a:xfrm>
              <a:off x="0" y="-38100"/>
              <a:ext cx="5285232" cy="714756"/>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Read</a:t>
              </a:r>
            </a:p>
          </p:txBody>
        </p:sp>
      </p:grpSp>
      <p:grpSp>
        <p:nvGrpSpPr>
          <p:cNvPr id="23" name="Group 23"/>
          <p:cNvGrpSpPr/>
          <p:nvPr/>
        </p:nvGrpSpPr>
        <p:grpSpPr>
          <a:xfrm>
            <a:off x="754380" y="3182112"/>
            <a:ext cx="16802100" cy="507492"/>
            <a:chOff x="0" y="0"/>
            <a:chExt cx="22402800" cy="676656"/>
          </a:xfrm>
        </p:grpSpPr>
        <p:sp>
          <p:nvSpPr>
            <p:cNvPr id="24" name="Freeform 24"/>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25" name="Group 25"/>
          <p:cNvGrpSpPr/>
          <p:nvPr/>
        </p:nvGrpSpPr>
        <p:grpSpPr>
          <a:xfrm>
            <a:off x="864108" y="3182112"/>
            <a:ext cx="4718304" cy="507492"/>
            <a:chOff x="0" y="0"/>
            <a:chExt cx="6291072" cy="676656"/>
          </a:xfrm>
        </p:grpSpPr>
        <p:sp>
          <p:nvSpPr>
            <p:cNvPr id="26" name="Freeform 26"/>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27" name="TextBox 27"/>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Total revenue ($M)</a:t>
              </a:r>
            </a:p>
          </p:txBody>
        </p:sp>
      </p:grpSp>
      <p:grpSp>
        <p:nvGrpSpPr>
          <p:cNvPr id="28" name="Group 28"/>
          <p:cNvGrpSpPr/>
          <p:nvPr/>
        </p:nvGrpSpPr>
        <p:grpSpPr>
          <a:xfrm>
            <a:off x="5801868" y="3182112"/>
            <a:ext cx="1975104" cy="507492"/>
            <a:chOff x="0" y="0"/>
            <a:chExt cx="2633472" cy="676656"/>
          </a:xfrm>
        </p:grpSpPr>
        <p:sp>
          <p:nvSpPr>
            <p:cNvPr id="29" name="Freeform 29"/>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30" name="TextBox 30"/>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54,607</a:t>
              </a:r>
            </a:p>
          </p:txBody>
        </p:sp>
      </p:grpSp>
      <p:grpSp>
        <p:nvGrpSpPr>
          <p:cNvPr id="31" name="Group 31"/>
          <p:cNvGrpSpPr/>
          <p:nvPr/>
        </p:nvGrpSpPr>
        <p:grpSpPr>
          <a:xfrm>
            <a:off x="7996428" y="3182112"/>
            <a:ext cx="1975104" cy="507492"/>
            <a:chOff x="0" y="0"/>
            <a:chExt cx="2633472" cy="676656"/>
          </a:xfrm>
        </p:grpSpPr>
        <p:sp>
          <p:nvSpPr>
            <p:cNvPr id="32" name="Freeform 32"/>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33" name="TextBox 33"/>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55,085</a:t>
              </a:r>
            </a:p>
          </p:txBody>
        </p:sp>
      </p:grpSp>
      <p:grpSp>
        <p:nvGrpSpPr>
          <p:cNvPr id="34" name="Group 34"/>
          <p:cNvGrpSpPr/>
          <p:nvPr/>
        </p:nvGrpSpPr>
        <p:grpSpPr>
          <a:xfrm>
            <a:off x="10190988" y="3182112"/>
            <a:ext cx="3072384" cy="507492"/>
            <a:chOff x="0" y="0"/>
            <a:chExt cx="4096512" cy="676656"/>
          </a:xfrm>
        </p:grpSpPr>
        <p:sp>
          <p:nvSpPr>
            <p:cNvPr id="35" name="Freeform 35"/>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36" name="TextBox 36"/>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54,774 (−0.6%)</a:t>
              </a:r>
            </a:p>
          </p:txBody>
        </p:sp>
      </p:grpSp>
      <p:grpSp>
        <p:nvGrpSpPr>
          <p:cNvPr id="37" name="Group 37"/>
          <p:cNvGrpSpPr/>
          <p:nvPr/>
        </p:nvGrpSpPr>
        <p:grpSpPr>
          <a:xfrm>
            <a:off x="13482828" y="3182112"/>
            <a:ext cx="3963924" cy="507492"/>
            <a:chOff x="0" y="0"/>
            <a:chExt cx="5285232" cy="676656"/>
          </a:xfrm>
        </p:grpSpPr>
        <p:sp>
          <p:nvSpPr>
            <p:cNvPr id="38" name="Freeform 38"/>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39" name="TextBox 39"/>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Flat top line</a:t>
              </a:r>
            </a:p>
          </p:txBody>
        </p:sp>
      </p:grpSp>
      <p:grpSp>
        <p:nvGrpSpPr>
          <p:cNvPr id="40" name="Group 40"/>
          <p:cNvGrpSpPr/>
          <p:nvPr/>
        </p:nvGrpSpPr>
        <p:grpSpPr>
          <a:xfrm>
            <a:off x="864108" y="3689604"/>
            <a:ext cx="4718304" cy="507492"/>
            <a:chOff x="0" y="0"/>
            <a:chExt cx="6291072" cy="676656"/>
          </a:xfrm>
        </p:grpSpPr>
        <p:sp>
          <p:nvSpPr>
            <p:cNvPr id="41" name="Freeform 41"/>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42" name="TextBox 42"/>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Adjusted EBITDA ($M)</a:t>
              </a:r>
            </a:p>
          </p:txBody>
        </p:sp>
      </p:grpSp>
      <p:grpSp>
        <p:nvGrpSpPr>
          <p:cNvPr id="43" name="Group 43"/>
          <p:cNvGrpSpPr/>
          <p:nvPr/>
        </p:nvGrpSpPr>
        <p:grpSpPr>
          <a:xfrm>
            <a:off x="5801868" y="3689604"/>
            <a:ext cx="1975104" cy="507492"/>
            <a:chOff x="0" y="0"/>
            <a:chExt cx="2633472" cy="676656"/>
          </a:xfrm>
        </p:grpSpPr>
        <p:sp>
          <p:nvSpPr>
            <p:cNvPr id="44" name="Freeform 44"/>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45" name="TextBox 45"/>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n/a*</a:t>
              </a:r>
            </a:p>
          </p:txBody>
        </p:sp>
      </p:grpSp>
      <p:grpSp>
        <p:nvGrpSpPr>
          <p:cNvPr id="46" name="Group 46"/>
          <p:cNvGrpSpPr/>
          <p:nvPr/>
        </p:nvGrpSpPr>
        <p:grpSpPr>
          <a:xfrm>
            <a:off x="7996428" y="3689604"/>
            <a:ext cx="1975104" cy="507492"/>
            <a:chOff x="0" y="0"/>
            <a:chExt cx="2633472" cy="676656"/>
          </a:xfrm>
        </p:grpSpPr>
        <p:sp>
          <p:nvSpPr>
            <p:cNvPr id="47" name="Freeform 47"/>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48" name="TextBox 48"/>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22,569</a:t>
              </a:r>
            </a:p>
          </p:txBody>
        </p:sp>
      </p:grpSp>
      <p:grpSp>
        <p:nvGrpSpPr>
          <p:cNvPr id="49" name="Group 49"/>
          <p:cNvGrpSpPr/>
          <p:nvPr/>
        </p:nvGrpSpPr>
        <p:grpSpPr>
          <a:xfrm>
            <a:off x="10190988" y="3689604"/>
            <a:ext cx="3072384" cy="507492"/>
            <a:chOff x="0" y="0"/>
            <a:chExt cx="4096512" cy="676656"/>
          </a:xfrm>
        </p:grpSpPr>
        <p:sp>
          <p:nvSpPr>
            <p:cNvPr id="50" name="Freeform 50"/>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51" name="TextBox 51"/>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22,708 (+0.6%)</a:t>
              </a:r>
            </a:p>
          </p:txBody>
        </p:sp>
      </p:grpSp>
      <p:grpSp>
        <p:nvGrpSpPr>
          <p:cNvPr id="52" name="Group 52"/>
          <p:cNvGrpSpPr/>
          <p:nvPr/>
        </p:nvGrpSpPr>
        <p:grpSpPr>
          <a:xfrm>
            <a:off x="13482828" y="3689604"/>
            <a:ext cx="3963924" cy="507492"/>
            <a:chOff x="0" y="0"/>
            <a:chExt cx="5285232" cy="676656"/>
          </a:xfrm>
        </p:grpSpPr>
        <p:sp>
          <p:nvSpPr>
            <p:cNvPr id="53" name="Freeform 53"/>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54" name="TextBox 54"/>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~41% margin, stable</a:t>
              </a:r>
            </a:p>
          </p:txBody>
        </p:sp>
      </p:grpSp>
      <p:grpSp>
        <p:nvGrpSpPr>
          <p:cNvPr id="55" name="Group 55"/>
          <p:cNvGrpSpPr/>
          <p:nvPr/>
        </p:nvGrpSpPr>
        <p:grpSpPr>
          <a:xfrm>
            <a:off x="754380" y="4197096"/>
            <a:ext cx="16802100" cy="507492"/>
            <a:chOff x="0" y="0"/>
            <a:chExt cx="22402800" cy="676656"/>
          </a:xfrm>
        </p:grpSpPr>
        <p:sp>
          <p:nvSpPr>
            <p:cNvPr id="56" name="Freeform 56"/>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57" name="Group 57"/>
          <p:cNvGrpSpPr/>
          <p:nvPr/>
        </p:nvGrpSpPr>
        <p:grpSpPr>
          <a:xfrm>
            <a:off x="864108" y="4197096"/>
            <a:ext cx="4718304" cy="507492"/>
            <a:chOff x="0" y="0"/>
            <a:chExt cx="6291072" cy="676656"/>
          </a:xfrm>
        </p:grpSpPr>
        <p:sp>
          <p:nvSpPr>
            <p:cNvPr id="58" name="Freeform 58"/>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59" name="TextBox 59"/>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Net income to CHTR ($M)</a:t>
              </a:r>
            </a:p>
          </p:txBody>
        </p:sp>
      </p:grpSp>
      <p:grpSp>
        <p:nvGrpSpPr>
          <p:cNvPr id="60" name="Group 60"/>
          <p:cNvGrpSpPr/>
          <p:nvPr/>
        </p:nvGrpSpPr>
        <p:grpSpPr>
          <a:xfrm>
            <a:off x="5801868" y="4197096"/>
            <a:ext cx="1975104" cy="507492"/>
            <a:chOff x="0" y="0"/>
            <a:chExt cx="2633472" cy="676656"/>
          </a:xfrm>
        </p:grpSpPr>
        <p:sp>
          <p:nvSpPr>
            <p:cNvPr id="61" name="Freeform 61"/>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62" name="TextBox 62"/>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n/a*</a:t>
              </a:r>
            </a:p>
          </p:txBody>
        </p:sp>
      </p:grpSp>
      <p:grpSp>
        <p:nvGrpSpPr>
          <p:cNvPr id="63" name="Group 63"/>
          <p:cNvGrpSpPr/>
          <p:nvPr/>
        </p:nvGrpSpPr>
        <p:grpSpPr>
          <a:xfrm>
            <a:off x="7996428" y="4197096"/>
            <a:ext cx="1975104" cy="507492"/>
            <a:chOff x="0" y="0"/>
            <a:chExt cx="2633472" cy="676656"/>
          </a:xfrm>
        </p:grpSpPr>
        <p:sp>
          <p:nvSpPr>
            <p:cNvPr id="64" name="Freeform 64"/>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65" name="TextBox 65"/>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5,083</a:t>
              </a:r>
            </a:p>
          </p:txBody>
        </p:sp>
      </p:grpSp>
      <p:grpSp>
        <p:nvGrpSpPr>
          <p:cNvPr id="66" name="Group 66"/>
          <p:cNvGrpSpPr/>
          <p:nvPr/>
        </p:nvGrpSpPr>
        <p:grpSpPr>
          <a:xfrm>
            <a:off x="10190988" y="4197096"/>
            <a:ext cx="3072384" cy="507492"/>
            <a:chOff x="0" y="0"/>
            <a:chExt cx="4096512" cy="676656"/>
          </a:xfrm>
        </p:grpSpPr>
        <p:sp>
          <p:nvSpPr>
            <p:cNvPr id="67" name="Freeform 67"/>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68" name="TextBox 68"/>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4,987</a:t>
              </a:r>
            </a:p>
          </p:txBody>
        </p:sp>
      </p:grpSp>
      <p:grpSp>
        <p:nvGrpSpPr>
          <p:cNvPr id="69" name="Group 69"/>
          <p:cNvGrpSpPr/>
          <p:nvPr/>
        </p:nvGrpSpPr>
        <p:grpSpPr>
          <a:xfrm>
            <a:off x="13482828" y="4197096"/>
            <a:ext cx="3963924" cy="507492"/>
            <a:chOff x="0" y="0"/>
            <a:chExt cx="5285232" cy="676656"/>
          </a:xfrm>
        </p:grpSpPr>
        <p:sp>
          <p:nvSpPr>
            <p:cNvPr id="70" name="Freeform 70"/>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71" name="TextBox 71"/>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Flat to down</a:t>
              </a:r>
            </a:p>
          </p:txBody>
        </p:sp>
      </p:grpSp>
      <p:grpSp>
        <p:nvGrpSpPr>
          <p:cNvPr id="72" name="Group 72"/>
          <p:cNvGrpSpPr/>
          <p:nvPr/>
        </p:nvGrpSpPr>
        <p:grpSpPr>
          <a:xfrm>
            <a:off x="864108" y="4704588"/>
            <a:ext cx="4718304" cy="507492"/>
            <a:chOff x="0" y="0"/>
            <a:chExt cx="6291072" cy="676656"/>
          </a:xfrm>
        </p:grpSpPr>
        <p:sp>
          <p:nvSpPr>
            <p:cNvPr id="73" name="Freeform 73"/>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74" name="TextBox 74"/>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Diluted EPS</a:t>
              </a:r>
            </a:p>
          </p:txBody>
        </p:sp>
      </p:grpSp>
      <p:grpSp>
        <p:nvGrpSpPr>
          <p:cNvPr id="75" name="Group 75"/>
          <p:cNvGrpSpPr/>
          <p:nvPr/>
        </p:nvGrpSpPr>
        <p:grpSpPr>
          <a:xfrm>
            <a:off x="5801868" y="4704588"/>
            <a:ext cx="1975104" cy="507492"/>
            <a:chOff x="0" y="0"/>
            <a:chExt cx="2633472" cy="676656"/>
          </a:xfrm>
        </p:grpSpPr>
        <p:sp>
          <p:nvSpPr>
            <p:cNvPr id="76" name="Freeform 76"/>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77" name="TextBox 77"/>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78" name="Group 78"/>
          <p:cNvGrpSpPr/>
          <p:nvPr/>
        </p:nvGrpSpPr>
        <p:grpSpPr>
          <a:xfrm>
            <a:off x="7996428" y="4704588"/>
            <a:ext cx="1975104" cy="507492"/>
            <a:chOff x="0" y="0"/>
            <a:chExt cx="2633472" cy="676656"/>
          </a:xfrm>
        </p:grpSpPr>
        <p:sp>
          <p:nvSpPr>
            <p:cNvPr id="79" name="Freeform 79"/>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80" name="TextBox 80"/>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$34.97</a:t>
              </a:r>
            </a:p>
          </p:txBody>
        </p:sp>
      </p:grpSp>
      <p:grpSp>
        <p:nvGrpSpPr>
          <p:cNvPr id="81" name="Group 81"/>
          <p:cNvGrpSpPr/>
          <p:nvPr/>
        </p:nvGrpSpPr>
        <p:grpSpPr>
          <a:xfrm>
            <a:off x="10190988" y="4704588"/>
            <a:ext cx="3072384" cy="507492"/>
            <a:chOff x="0" y="0"/>
            <a:chExt cx="4096512" cy="676656"/>
          </a:xfrm>
        </p:grpSpPr>
        <p:sp>
          <p:nvSpPr>
            <p:cNvPr id="82" name="Freeform 82"/>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83" name="TextBox 83"/>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$36.21 (+4%)</a:t>
              </a:r>
            </a:p>
          </p:txBody>
        </p:sp>
      </p:grpSp>
      <p:grpSp>
        <p:nvGrpSpPr>
          <p:cNvPr id="84" name="Group 84"/>
          <p:cNvGrpSpPr/>
          <p:nvPr/>
        </p:nvGrpSpPr>
        <p:grpSpPr>
          <a:xfrm>
            <a:off x="13482828" y="4704588"/>
            <a:ext cx="3963924" cy="507492"/>
            <a:chOff x="0" y="0"/>
            <a:chExt cx="5285232" cy="676656"/>
          </a:xfrm>
        </p:grpSpPr>
        <p:sp>
          <p:nvSpPr>
            <p:cNvPr id="85" name="Freeform 85"/>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86" name="TextBox 86"/>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Buyback arithmetic</a:t>
              </a:r>
            </a:p>
          </p:txBody>
        </p:sp>
      </p:grpSp>
      <p:grpSp>
        <p:nvGrpSpPr>
          <p:cNvPr id="87" name="Group 87"/>
          <p:cNvGrpSpPr/>
          <p:nvPr/>
        </p:nvGrpSpPr>
        <p:grpSpPr>
          <a:xfrm>
            <a:off x="754380" y="5212080"/>
            <a:ext cx="16802100" cy="507492"/>
            <a:chOff x="0" y="0"/>
            <a:chExt cx="22402800" cy="676656"/>
          </a:xfrm>
        </p:grpSpPr>
        <p:sp>
          <p:nvSpPr>
            <p:cNvPr id="88" name="Freeform 88"/>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89" name="Group 89"/>
          <p:cNvGrpSpPr/>
          <p:nvPr/>
        </p:nvGrpSpPr>
        <p:grpSpPr>
          <a:xfrm>
            <a:off x="864108" y="5212080"/>
            <a:ext cx="4718304" cy="507492"/>
            <a:chOff x="0" y="0"/>
            <a:chExt cx="6291072" cy="676656"/>
          </a:xfrm>
        </p:grpSpPr>
        <p:sp>
          <p:nvSpPr>
            <p:cNvPr id="90" name="Freeform 90"/>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91" name="TextBox 91"/>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Free cash flow ($M)</a:t>
              </a:r>
            </a:p>
          </p:txBody>
        </p:sp>
      </p:grpSp>
      <p:grpSp>
        <p:nvGrpSpPr>
          <p:cNvPr id="92" name="Group 92"/>
          <p:cNvGrpSpPr/>
          <p:nvPr/>
        </p:nvGrpSpPr>
        <p:grpSpPr>
          <a:xfrm>
            <a:off x="5801868" y="5212080"/>
            <a:ext cx="1975104" cy="507492"/>
            <a:chOff x="0" y="0"/>
            <a:chExt cx="2633472" cy="676656"/>
          </a:xfrm>
        </p:grpSpPr>
        <p:sp>
          <p:nvSpPr>
            <p:cNvPr id="93" name="Freeform 93"/>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94" name="TextBox 94"/>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n/a*</a:t>
              </a:r>
            </a:p>
          </p:txBody>
        </p:sp>
      </p:grpSp>
      <p:grpSp>
        <p:nvGrpSpPr>
          <p:cNvPr id="95" name="Group 95"/>
          <p:cNvGrpSpPr/>
          <p:nvPr/>
        </p:nvGrpSpPr>
        <p:grpSpPr>
          <a:xfrm>
            <a:off x="7996428" y="5212080"/>
            <a:ext cx="1975104" cy="507492"/>
            <a:chOff x="0" y="0"/>
            <a:chExt cx="2633472" cy="676656"/>
          </a:xfrm>
        </p:grpSpPr>
        <p:sp>
          <p:nvSpPr>
            <p:cNvPr id="96" name="Freeform 96"/>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97" name="TextBox 97"/>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4,257</a:t>
              </a:r>
            </a:p>
          </p:txBody>
        </p:sp>
      </p:grpSp>
      <p:grpSp>
        <p:nvGrpSpPr>
          <p:cNvPr id="98" name="Group 98"/>
          <p:cNvGrpSpPr/>
          <p:nvPr/>
        </p:nvGrpSpPr>
        <p:grpSpPr>
          <a:xfrm>
            <a:off x="10190988" y="5212080"/>
            <a:ext cx="3072384" cy="507492"/>
            <a:chOff x="0" y="0"/>
            <a:chExt cx="4096512" cy="676656"/>
          </a:xfrm>
        </p:grpSpPr>
        <p:sp>
          <p:nvSpPr>
            <p:cNvPr id="99" name="Freeform 99"/>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00" name="TextBox 100"/>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5,004 (+18%)</a:t>
              </a:r>
            </a:p>
          </p:txBody>
        </p:sp>
      </p:grpSp>
      <p:grpSp>
        <p:nvGrpSpPr>
          <p:cNvPr id="101" name="Group 101"/>
          <p:cNvGrpSpPr/>
          <p:nvPr/>
        </p:nvGrpSpPr>
        <p:grpSpPr>
          <a:xfrm>
            <a:off x="13482828" y="5212080"/>
            <a:ext cx="3963924" cy="507492"/>
            <a:chOff x="0" y="0"/>
            <a:chExt cx="5285232" cy="676656"/>
          </a:xfrm>
        </p:grpSpPr>
        <p:sp>
          <p:nvSpPr>
            <p:cNvPr id="102" name="Freeform 102"/>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03" name="TextBox 103"/>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Capex-phasing driven</a:t>
              </a:r>
            </a:p>
          </p:txBody>
        </p:sp>
      </p:grpSp>
      <p:grpSp>
        <p:nvGrpSpPr>
          <p:cNvPr id="104" name="Group 104"/>
          <p:cNvGrpSpPr/>
          <p:nvPr/>
        </p:nvGrpSpPr>
        <p:grpSpPr>
          <a:xfrm>
            <a:off x="864108" y="5719572"/>
            <a:ext cx="4718304" cy="507492"/>
            <a:chOff x="0" y="0"/>
            <a:chExt cx="6291072" cy="676656"/>
          </a:xfrm>
        </p:grpSpPr>
        <p:sp>
          <p:nvSpPr>
            <p:cNvPr id="105" name="Freeform 105"/>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06" name="TextBox 106"/>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Capex ($M)</a:t>
              </a:r>
            </a:p>
          </p:txBody>
        </p:sp>
      </p:grpSp>
      <p:grpSp>
        <p:nvGrpSpPr>
          <p:cNvPr id="107" name="Group 107"/>
          <p:cNvGrpSpPr/>
          <p:nvPr/>
        </p:nvGrpSpPr>
        <p:grpSpPr>
          <a:xfrm>
            <a:off x="5801868" y="5719572"/>
            <a:ext cx="1975104" cy="507492"/>
            <a:chOff x="0" y="0"/>
            <a:chExt cx="2633472" cy="676656"/>
          </a:xfrm>
        </p:grpSpPr>
        <p:sp>
          <p:nvSpPr>
            <p:cNvPr id="108" name="Freeform 108"/>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09" name="TextBox 109"/>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n/a*</a:t>
              </a:r>
            </a:p>
          </p:txBody>
        </p:sp>
      </p:grpSp>
      <p:grpSp>
        <p:nvGrpSpPr>
          <p:cNvPr id="110" name="Group 110"/>
          <p:cNvGrpSpPr/>
          <p:nvPr/>
        </p:nvGrpSpPr>
        <p:grpSpPr>
          <a:xfrm>
            <a:off x="7996428" y="5719572"/>
            <a:ext cx="1975104" cy="507492"/>
            <a:chOff x="0" y="0"/>
            <a:chExt cx="2633472" cy="676656"/>
          </a:xfrm>
        </p:grpSpPr>
        <p:sp>
          <p:nvSpPr>
            <p:cNvPr id="111" name="Freeform 111"/>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12" name="TextBox 112"/>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11,269</a:t>
              </a:r>
            </a:p>
          </p:txBody>
        </p:sp>
      </p:grpSp>
      <p:grpSp>
        <p:nvGrpSpPr>
          <p:cNvPr id="113" name="Group 113"/>
          <p:cNvGrpSpPr/>
          <p:nvPr/>
        </p:nvGrpSpPr>
        <p:grpSpPr>
          <a:xfrm>
            <a:off x="10190988" y="5719572"/>
            <a:ext cx="3072384" cy="507492"/>
            <a:chOff x="0" y="0"/>
            <a:chExt cx="4096512" cy="676656"/>
          </a:xfrm>
        </p:grpSpPr>
        <p:sp>
          <p:nvSpPr>
            <p:cNvPr id="114" name="Freeform 114"/>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15" name="TextBox 115"/>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11,659</a:t>
              </a:r>
            </a:p>
          </p:txBody>
        </p:sp>
      </p:grpSp>
      <p:grpSp>
        <p:nvGrpSpPr>
          <p:cNvPr id="116" name="Group 116"/>
          <p:cNvGrpSpPr/>
          <p:nvPr/>
        </p:nvGrpSpPr>
        <p:grpSpPr>
          <a:xfrm>
            <a:off x="13482828" y="5719572"/>
            <a:ext cx="3963924" cy="507492"/>
            <a:chOff x="0" y="0"/>
            <a:chExt cx="5285232" cy="676656"/>
          </a:xfrm>
        </p:grpSpPr>
        <p:sp>
          <p:nvSpPr>
            <p:cNvPr id="117" name="Freeform 117"/>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18" name="TextBox 118"/>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FY2026 guide ~11,400 ex-Cox</a:t>
              </a:r>
            </a:p>
          </p:txBody>
        </p:sp>
      </p:grpSp>
      <p:grpSp>
        <p:nvGrpSpPr>
          <p:cNvPr id="119" name="Group 119"/>
          <p:cNvGrpSpPr/>
          <p:nvPr/>
        </p:nvGrpSpPr>
        <p:grpSpPr>
          <a:xfrm>
            <a:off x="754380" y="6227064"/>
            <a:ext cx="16802100" cy="507492"/>
            <a:chOff x="0" y="0"/>
            <a:chExt cx="22402800" cy="676656"/>
          </a:xfrm>
        </p:grpSpPr>
        <p:sp>
          <p:nvSpPr>
            <p:cNvPr id="120" name="Freeform 120"/>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121" name="Group 121"/>
          <p:cNvGrpSpPr/>
          <p:nvPr/>
        </p:nvGrpSpPr>
        <p:grpSpPr>
          <a:xfrm>
            <a:off x="864108" y="6227064"/>
            <a:ext cx="4718304" cy="507492"/>
            <a:chOff x="0" y="0"/>
            <a:chExt cx="6291072" cy="676656"/>
          </a:xfrm>
        </p:grpSpPr>
        <p:sp>
          <p:nvSpPr>
            <p:cNvPr id="122" name="Freeform 122"/>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23" name="TextBox 123"/>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Customer relationships (000s)</a:t>
              </a:r>
            </a:p>
          </p:txBody>
        </p:sp>
      </p:grpSp>
      <p:grpSp>
        <p:nvGrpSpPr>
          <p:cNvPr id="124" name="Group 124"/>
          <p:cNvGrpSpPr/>
          <p:nvPr/>
        </p:nvGrpSpPr>
        <p:grpSpPr>
          <a:xfrm>
            <a:off x="5801868" y="6227064"/>
            <a:ext cx="1975104" cy="507492"/>
            <a:chOff x="0" y="0"/>
            <a:chExt cx="2633472" cy="676656"/>
          </a:xfrm>
        </p:grpSpPr>
        <p:sp>
          <p:nvSpPr>
            <p:cNvPr id="125" name="Freeform 125"/>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26" name="TextBox 126"/>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32,126**</a:t>
              </a:r>
            </a:p>
          </p:txBody>
        </p:sp>
      </p:grpSp>
      <p:grpSp>
        <p:nvGrpSpPr>
          <p:cNvPr id="127" name="Group 127"/>
          <p:cNvGrpSpPr/>
          <p:nvPr/>
        </p:nvGrpSpPr>
        <p:grpSpPr>
          <a:xfrm>
            <a:off x="7996428" y="6227064"/>
            <a:ext cx="1975104" cy="507492"/>
            <a:chOff x="0" y="0"/>
            <a:chExt cx="2633472" cy="676656"/>
          </a:xfrm>
        </p:grpSpPr>
        <p:sp>
          <p:nvSpPr>
            <p:cNvPr id="128" name="Freeform 128"/>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29" name="TextBox 129"/>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32,214</a:t>
              </a:r>
            </a:p>
          </p:txBody>
        </p:sp>
      </p:grpSp>
      <p:grpSp>
        <p:nvGrpSpPr>
          <p:cNvPr id="130" name="Group 130"/>
          <p:cNvGrpSpPr/>
          <p:nvPr/>
        </p:nvGrpSpPr>
        <p:grpSpPr>
          <a:xfrm>
            <a:off x="10190988" y="6227064"/>
            <a:ext cx="3072384" cy="507492"/>
            <a:chOff x="0" y="0"/>
            <a:chExt cx="4096512" cy="676656"/>
          </a:xfrm>
        </p:grpSpPr>
        <p:sp>
          <p:nvSpPr>
            <p:cNvPr id="131" name="Freeform 131"/>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32" name="TextBox 132"/>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31,846 (−1.1%)</a:t>
              </a:r>
            </a:p>
          </p:txBody>
        </p:sp>
      </p:grpSp>
      <p:grpSp>
        <p:nvGrpSpPr>
          <p:cNvPr id="133" name="Group 133"/>
          <p:cNvGrpSpPr/>
          <p:nvPr/>
        </p:nvGrpSpPr>
        <p:grpSpPr>
          <a:xfrm>
            <a:off x="13482828" y="6227064"/>
            <a:ext cx="3963924" cy="507492"/>
            <a:chOff x="0" y="0"/>
            <a:chExt cx="5285232" cy="676656"/>
          </a:xfrm>
        </p:grpSpPr>
        <p:sp>
          <p:nvSpPr>
            <p:cNvPr id="134" name="Freeform 134"/>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35" name="TextBox 135"/>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Restated basis 2024–25</a:t>
              </a:r>
            </a:p>
          </p:txBody>
        </p:sp>
      </p:grpSp>
      <p:grpSp>
        <p:nvGrpSpPr>
          <p:cNvPr id="136" name="Group 136"/>
          <p:cNvGrpSpPr/>
          <p:nvPr/>
        </p:nvGrpSpPr>
        <p:grpSpPr>
          <a:xfrm>
            <a:off x="864108" y="6734556"/>
            <a:ext cx="4718304" cy="507492"/>
            <a:chOff x="0" y="0"/>
            <a:chExt cx="6291072" cy="676656"/>
          </a:xfrm>
        </p:grpSpPr>
        <p:sp>
          <p:nvSpPr>
            <p:cNvPr id="137" name="Freeform 137"/>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38" name="TextBox 138"/>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Internet customers (000s)</a:t>
              </a:r>
            </a:p>
          </p:txBody>
        </p:sp>
      </p:grpSp>
      <p:grpSp>
        <p:nvGrpSpPr>
          <p:cNvPr id="139" name="Group 139"/>
          <p:cNvGrpSpPr/>
          <p:nvPr/>
        </p:nvGrpSpPr>
        <p:grpSpPr>
          <a:xfrm>
            <a:off x="5801868" y="6734556"/>
            <a:ext cx="1975104" cy="507492"/>
            <a:chOff x="0" y="0"/>
            <a:chExt cx="2633472" cy="676656"/>
          </a:xfrm>
        </p:grpSpPr>
        <p:sp>
          <p:nvSpPr>
            <p:cNvPr id="140" name="Freeform 140"/>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41" name="TextBox 141"/>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30,588**</a:t>
              </a:r>
            </a:p>
          </p:txBody>
        </p:sp>
      </p:grpSp>
      <p:grpSp>
        <p:nvGrpSpPr>
          <p:cNvPr id="142" name="Group 142"/>
          <p:cNvGrpSpPr/>
          <p:nvPr/>
        </p:nvGrpSpPr>
        <p:grpSpPr>
          <a:xfrm>
            <a:off x="7996428" y="6734556"/>
            <a:ext cx="1975104" cy="507492"/>
            <a:chOff x="0" y="0"/>
            <a:chExt cx="2633472" cy="676656"/>
          </a:xfrm>
        </p:grpSpPr>
        <p:sp>
          <p:nvSpPr>
            <p:cNvPr id="143" name="Freeform 143"/>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44" name="TextBox 144"/>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30,083</a:t>
              </a:r>
            </a:p>
          </p:txBody>
        </p:sp>
      </p:grpSp>
      <p:grpSp>
        <p:nvGrpSpPr>
          <p:cNvPr id="145" name="Group 145"/>
          <p:cNvGrpSpPr/>
          <p:nvPr/>
        </p:nvGrpSpPr>
        <p:grpSpPr>
          <a:xfrm>
            <a:off x="10190988" y="6734556"/>
            <a:ext cx="3072384" cy="507492"/>
            <a:chOff x="0" y="0"/>
            <a:chExt cx="4096512" cy="676656"/>
          </a:xfrm>
        </p:grpSpPr>
        <p:sp>
          <p:nvSpPr>
            <p:cNvPr id="146" name="Freeform 146"/>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47" name="TextBox 147"/>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29,680 (−1.3%)</a:t>
              </a:r>
            </a:p>
          </p:txBody>
        </p:sp>
      </p:grpSp>
      <p:grpSp>
        <p:nvGrpSpPr>
          <p:cNvPr id="148" name="Group 148"/>
          <p:cNvGrpSpPr/>
          <p:nvPr/>
        </p:nvGrpSpPr>
        <p:grpSpPr>
          <a:xfrm>
            <a:off x="13482828" y="6734556"/>
            <a:ext cx="3963924" cy="507492"/>
            <a:chOff x="0" y="0"/>
            <a:chExt cx="5285232" cy="676656"/>
          </a:xfrm>
        </p:grpSpPr>
        <p:sp>
          <p:nvSpPr>
            <p:cNvPr id="149" name="Freeform 149"/>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50" name="TextBox 150"/>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The profit engine</a:t>
              </a:r>
            </a:p>
          </p:txBody>
        </p:sp>
      </p:grpSp>
      <p:grpSp>
        <p:nvGrpSpPr>
          <p:cNvPr id="151" name="Group 151"/>
          <p:cNvGrpSpPr/>
          <p:nvPr/>
        </p:nvGrpSpPr>
        <p:grpSpPr>
          <a:xfrm>
            <a:off x="754380" y="7242048"/>
            <a:ext cx="16802100" cy="507492"/>
            <a:chOff x="0" y="0"/>
            <a:chExt cx="22402800" cy="676656"/>
          </a:xfrm>
        </p:grpSpPr>
        <p:sp>
          <p:nvSpPr>
            <p:cNvPr id="152" name="Freeform 152"/>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153" name="Group 153"/>
          <p:cNvGrpSpPr/>
          <p:nvPr/>
        </p:nvGrpSpPr>
        <p:grpSpPr>
          <a:xfrm>
            <a:off x="864108" y="7242048"/>
            <a:ext cx="4718304" cy="507492"/>
            <a:chOff x="0" y="0"/>
            <a:chExt cx="6291072" cy="676656"/>
          </a:xfrm>
        </p:grpSpPr>
        <p:sp>
          <p:nvSpPr>
            <p:cNvPr id="154" name="Freeform 154"/>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55" name="TextBox 155"/>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Mobile lines (000s)</a:t>
              </a:r>
            </a:p>
          </p:txBody>
        </p:sp>
      </p:grpSp>
      <p:grpSp>
        <p:nvGrpSpPr>
          <p:cNvPr id="156" name="Group 156"/>
          <p:cNvGrpSpPr/>
          <p:nvPr/>
        </p:nvGrpSpPr>
        <p:grpSpPr>
          <a:xfrm>
            <a:off x="5801868" y="7242048"/>
            <a:ext cx="1975104" cy="507492"/>
            <a:chOff x="0" y="0"/>
            <a:chExt cx="2633472" cy="676656"/>
          </a:xfrm>
        </p:grpSpPr>
        <p:sp>
          <p:nvSpPr>
            <p:cNvPr id="157" name="Freeform 157"/>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58" name="TextBox 158"/>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7,766**</a:t>
              </a:r>
            </a:p>
          </p:txBody>
        </p:sp>
      </p:grpSp>
      <p:grpSp>
        <p:nvGrpSpPr>
          <p:cNvPr id="159" name="Group 159"/>
          <p:cNvGrpSpPr/>
          <p:nvPr/>
        </p:nvGrpSpPr>
        <p:grpSpPr>
          <a:xfrm>
            <a:off x="7996428" y="7242048"/>
            <a:ext cx="1975104" cy="507492"/>
            <a:chOff x="0" y="0"/>
            <a:chExt cx="2633472" cy="676656"/>
          </a:xfrm>
        </p:grpSpPr>
        <p:sp>
          <p:nvSpPr>
            <p:cNvPr id="160" name="Freeform 160"/>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61" name="TextBox 161"/>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9,858</a:t>
              </a:r>
            </a:p>
          </p:txBody>
        </p:sp>
      </p:grpSp>
      <p:grpSp>
        <p:nvGrpSpPr>
          <p:cNvPr id="162" name="Group 162"/>
          <p:cNvGrpSpPr/>
          <p:nvPr/>
        </p:nvGrpSpPr>
        <p:grpSpPr>
          <a:xfrm>
            <a:off x="10190988" y="7242048"/>
            <a:ext cx="3072384" cy="507492"/>
            <a:chOff x="0" y="0"/>
            <a:chExt cx="4096512" cy="676656"/>
          </a:xfrm>
        </p:grpSpPr>
        <p:sp>
          <p:nvSpPr>
            <p:cNvPr id="163" name="Freeform 163"/>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64" name="TextBox 164"/>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11,766 (+19%)</a:t>
              </a:r>
            </a:p>
          </p:txBody>
        </p:sp>
      </p:grpSp>
      <p:grpSp>
        <p:nvGrpSpPr>
          <p:cNvPr id="165" name="Group 165"/>
          <p:cNvGrpSpPr/>
          <p:nvPr/>
        </p:nvGrpSpPr>
        <p:grpSpPr>
          <a:xfrm>
            <a:off x="13482828" y="7242048"/>
            <a:ext cx="3963924" cy="507492"/>
            <a:chOff x="0" y="0"/>
            <a:chExt cx="5285232" cy="676656"/>
          </a:xfrm>
        </p:grpSpPr>
        <p:sp>
          <p:nvSpPr>
            <p:cNvPr id="166" name="Freeform 166"/>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67" name="TextBox 167"/>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Lower-margin growth</a:t>
              </a:r>
            </a:p>
          </p:txBody>
        </p:sp>
      </p:grpSp>
      <p:grpSp>
        <p:nvGrpSpPr>
          <p:cNvPr id="168" name="Group 168"/>
          <p:cNvGrpSpPr/>
          <p:nvPr/>
        </p:nvGrpSpPr>
        <p:grpSpPr>
          <a:xfrm>
            <a:off x="864108" y="7749540"/>
            <a:ext cx="4718304" cy="507492"/>
            <a:chOff x="0" y="0"/>
            <a:chExt cx="6291072" cy="676656"/>
          </a:xfrm>
        </p:grpSpPr>
        <p:sp>
          <p:nvSpPr>
            <p:cNvPr id="169" name="Freeform 169"/>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70" name="TextBox 170"/>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Residential ARPU / month</a:t>
              </a:r>
            </a:p>
          </p:txBody>
        </p:sp>
      </p:grpSp>
      <p:grpSp>
        <p:nvGrpSpPr>
          <p:cNvPr id="171" name="Group 171"/>
          <p:cNvGrpSpPr/>
          <p:nvPr/>
        </p:nvGrpSpPr>
        <p:grpSpPr>
          <a:xfrm>
            <a:off x="5801868" y="7749540"/>
            <a:ext cx="1975104" cy="507492"/>
            <a:chOff x="0" y="0"/>
            <a:chExt cx="2633472" cy="676656"/>
          </a:xfrm>
        </p:grpSpPr>
        <p:sp>
          <p:nvSpPr>
            <p:cNvPr id="172" name="Freeform 172"/>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73" name="TextBox 173"/>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174" name="Group 174"/>
          <p:cNvGrpSpPr/>
          <p:nvPr/>
        </p:nvGrpSpPr>
        <p:grpSpPr>
          <a:xfrm>
            <a:off x="7996428" y="7749540"/>
            <a:ext cx="1975104" cy="507492"/>
            <a:chOff x="0" y="0"/>
            <a:chExt cx="2633472" cy="676656"/>
          </a:xfrm>
        </p:grpSpPr>
        <p:sp>
          <p:nvSpPr>
            <p:cNvPr id="175" name="Freeform 175"/>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76" name="TextBox 176"/>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$118.71</a:t>
              </a:r>
            </a:p>
          </p:txBody>
        </p:sp>
      </p:grpSp>
      <p:grpSp>
        <p:nvGrpSpPr>
          <p:cNvPr id="177" name="Group 177"/>
          <p:cNvGrpSpPr/>
          <p:nvPr/>
        </p:nvGrpSpPr>
        <p:grpSpPr>
          <a:xfrm>
            <a:off x="10190988" y="7749540"/>
            <a:ext cx="3072384" cy="507492"/>
            <a:chOff x="0" y="0"/>
            <a:chExt cx="4096512" cy="676656"/>
          </a:xfrm>
        </p:grpSpPr>
        <p:sp>
          <p:nvSpPr>
            <p:cNvPr id="178" name="Freeform 178"/>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79" name="TextBox 179"/>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$119.05</a:t>
              </a:r>
            </a:p>
          </p:txBody>
        </p:sp>
      </p:grpSp>
      <p:grpSp>
        <p:nvGrpSpPr>
          <p:cNvPr id="180" name="Group 180"/>
          <p:cNvGrpSpPr/>
          <p:nvPr/>
        </p:nvGrpSpPr>
        <p:grpSpPr>
          <a:xfrm>
            <a:off x="13482828" y="7749540"/>
            <a:ext cx="3963924" cy="507492"/>
            <a:chOff x="0" y="0"/>
            <a:chExt cx="5285232" cy="676656"/>
          </a:xfrm>
        </p:grpSpPr>
        <p:sp>
          <p:nvSpPr>
            <p:cNvPr id="181" name="Freeform 181"/>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82" name="TextBox 182"/>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Q1 2026: $118.44</a:t>
              </a:r>
            </a:p>
          </p:txBody>
        </p:sp>
      </p:grpSp>
      <p:grpSp>
        <p:nvGrpSpPr>
          <p:cNvPr id="183" name="Group 183"/>
          <p:cNvGrpSpPr/>
          <p:nvPr/>
        </p:nvGrpSpPr>
        <p:grpSpPr>
          <a:xfrm>
            <a:off x="754380" y="8257032"/>
            <a:ext cx="16802100" cy="507492"/>
            <a:chOff x="0" y="0"/>
            <a:chExt cx="22402800" cy="676656"/>
          </a:xfrm>
        </p:grpSpPr>
        <p:sp>
          <p:nvSpPr>
            <p:cNvPr id="184" name="Freeform 184"/>
            <p:cNvSpPr/>
            <p:nvPr/>
          </p:nvSpPr>
          <p:spPr>
            <a:xfrm>
              <a:off x="0" y="0"/>
              <a:ext cx="22402800" cy="676656"/>
            </a:xfrm>
            <a:custGeom>
              <a:avLst/>
              <a:gdLst/>
              <a:ahLst/>
              <a:cxnLst/>
              <a:rect l="l" t="t" r="r" b="b"/>
              <a:pathLst>
                <a:path w="22402800" h="676656">
                  <a:moveTo>
                    <a:pt x="0" y="0"/>
                  </a:moveTo>
                  <a:lnTo>
                    <a:pt x="22402800" y="0"/>
                  </a:lnTo>
                  <a:lnTo>
                    <a:pt x="22402800" y="676656"/>
                  </a:lnTo>
                  <a:lnTo>
                    <a:pt x="0" y="676656"/>
                  </a:lnTo>
                  <a:close/>
                </a:path>
              </a:pathLst>
            </a:custGeom>
            <a:solidFill>
              <a:srgbClr val="EEF4FB"/>
            </a:solidFill>
          </p:spPr>
          <p:txBody>
            <a:bodyPr/>
            <a:lstStyle/>
            <a:p>
              <a:endParaRPr lang="en-US"/>
            </a:p>
          </p:txBody>
        </p:sp>
      </p:grpSp>
      <p:grpSp>
        <p:nvGrpSpPr>
          <p:cNvPr id="185" name="Group 185"/>
          <p:cNvGrpSpPr/>
          <p:nvPr/>
        </p:nvGrpSpPr>
        <p:grpSpPr>
          <a:xfrm>
            <a:off x="864108" y="8257032"/>
            <a:ext cx="4718304" cy="507492"/>
            <a:chOff x="0" y="0"/>
            <a:chExt cx="6291072" cy="676656"/>
          </a:xfrm>
        </p:grpSpPr>
        <p:sp>
          <p:nvSpPr>
            <p:cNvPr id="186" name="Freeform 186"/>
            <p:cNvSpPr/>
            <p:nvPr/>
          </p:nvSpPr>
          <p:spPr>
            <a:xfrm>
              <a:off x="0" y="0"/>
              <a:ext cx="6291072" cy="676656"/>
            </a:xfrm>
            <a:custGeom>
              <a:avLst/>
              <a:gdLst/>
              <a:ahLst/>
              <a:cxnLst/>
              <a:rect l="l" t="t" r="r" b="b"/>
              <a:pathLst>
                <a:path w="6291072" h="676656">
                  <a:moveTo>
                    <a:pt x="0" y="0"/>
                  </a:moveTo>
                  <a:lnTo>
                    <a:pt x="6291072" y="0"/>
                  </a:lnTo>
                  <a:lnTo>
                    <a:pt x="6291072" y="676656"/>
                  </a:lnTo>
                  <a:lnTo>
                    <a:pt x="0" y="676656"/>
                  </a:lnTo>
                  <a:close/>
                </a:path>
              </a:pathLst>
            </a:custGeom>
            <a:blipFill>
              <a:blip r:embed="rId3">
                <a:alphaModFix amt="0"/>
              </a:blip>
              <a:stretch>
                <a:fillRect t="-131158" b="-131158"/>
              </a:stretch>
            </a:blipFill>
          </p:spPr>
          <p:txBody>
            <a:bodyPr/>
            <a:lstStyle/>
            <a:p>
              <a:endParaRPr lang="en-US"/>
            </a:p>
          </p:txBody>
        </p:sp>
        <p:sp>
          <p:nvSpPr>
            <p:cNvPr id="187" name="TextBox 187"/>
            <p:cNvSpPr txBox="1"/>
            <p:nvPr/>
          </p:nvSpPr>
          <p:spPr>
            <a:xfrm>
              <a:off x="0" y="-38100"/>
              <a:ext cx="6291072" cy="714756"/>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Debt / equity ($B)</a:t>
              </a:r>
            </a:p>
          </p:txBody>
        </p:sp>
      </p:grpSp>
      <p:grpSp>
        <p:nvGrpSpPr>
          <p:cNvPr id="188" name="Group 188"/>
          <p:cNvGrpSpPr/>
          <p:nvPr/>
        </p:nvGrpSpPr>
        <p:grpSpPr>
          <a:xfrm>
            <a:off x="5801868" y="8257032"/>
            <a:ext cx="1975104" cy="507492"/>
            <a:chOff x="0" y="0"/>
            <a:chExt cx="2633472" cy="676656"/>
          </a:xfrm>
        </p:grpSpPr>
        <p:sp>
          <p:nvSpPr>
            <p:cNvPr id="189" name="Freeform 189"/>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90" name="TextBox 190"/>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191" name="Group 191"/>
          <p:cNvGrpSpPr/>
          <p:nvPr/>
        </p:nvGrpSpPr>
        <p:grpSpPr>
          <a:xfrm>
            <a:off x="7996428" y="8257032"/>
            <a:ext cx="1975104" cy="507492"/>
            <a:chOff x="0" y="0"/>
            <a:chExt cx="2633472" cy="676656"/>
          </a:xfrm>
        </p:grpSpPr>
        <p:sp>
          <p:nvSpPr>
            <p:cNvPr id="192" name="Freeform 192"/>
            <p:cNvSpPr/>
            <p:nvPr/>
          </p:nvSpPr>
          <p:spPr>
            <a:xfrm>
              <a:off x="0" y="0"/>
              <a:ext cx="2633472" cy="676656"/>
            </a:xfrm>
            <a:custGeom>
              <a:avLst/>
              <a:gdLst/>
              <a:ahLst/>
              <a:cxnLst/>
              <a:rect l="l" t="t" r="r" b="b"/>
              <a:pathLst>
                <a:path w="2633472" h="676656">
                  <a:moveTo>
                    <a:pt x="0" y="0"/>
                  </a:moveTo>
                  <a:lnTo>
                    <a:pt x="2633472" y="0"/>
                  </a:lnTo>
                  <a:lnTo>
                    <a:pt x="2633472" y="676656"/>
                  </a:lnTo>
                  <a:lnTo>
                    <a:pt x="0" y="676656"/>
                  </a:lnTo>
                  <a:close/>
                </a:path>
              </a:pathLst>
            </a:custGeom>
            <a:blipFill>
              <a:blip r:embed="rId3">
                <a:alphaModFix amt="0"/>
              </a:blip>
              <a:stretch>
                <a:fillRect t="-25833" b="-25833"/>
              </a:stretch>
            </a:blipFill>
          </p:spPr>
          <p:txBody>
            <a:bodyPr/>
            <a:lstStyle/>
            <a:p>
              <a:endParaRPr lang="en-US"/>
            </a:p>
          </p:txBody>
        </p:sp>
        <p:sp>
          <p:nvSpPr>
            <p:cNvPr id="193" name="TextBox 193"/>
            <p:cNvSpPr txBox="1"/>
            <p:nvPr/>
          </p:nvSpPr>
          <p:spPr>
            <a:xfrm>
              <a:off x="0" y="-38100"/>
              <a:ext cx="263347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194" name="Group 194"/>
          <p:cNvGrpSpPr/>
          <p:nvPr/>
        </p:nvGrpSpPr>
        <p:grpSpPr>
          <a:xfrm>
            <a:off x="10190988" y="8257032"/>
            <a:ext cx="3072384" cy="507492"/>
            <a:chOff x="0" y="0"/>
            <a:chExt cx="4096512" cy="676656"/>
          </a:xfrm>
        </p:grpSpPr>
        <p:sp>
          <p:nvSpPr>
            <p:cNvPr id="195" name="Freeform 195"/>
            <p:cNvSpPr/>
            <p:nvPr/>
          </p:nvSpPr>
          <p:spPr>
            <a:xfrm>
              <a:off x="0" y="0"/>
              <a:ext cx="4096512" cy="676656"/>
            </a:xfrm>
            <a:custGeom>
              <a:avLst/>
              <a:gdLst/>
              <a:ahLst/>
              <a:cxnLst/>
              <a:rect l="l" t="t" r="r" b="b"/>
              <a:pathLst>
                <a:path w="4096512" h="676656">
                  <a:moveTo>
                    <a:pt x="0" y="0"/>
                  </a:moveTo>
                  <a:lnTo>
                    <a:pt x="4096512" y="0"/>
                  </a:lnTo>
                  <a:lnTo>
                    <a:pt x="4096512" y="676656"/>
                  </a:lnTo>
                  <a:lnTo>
                    <a:pt x="0" y="676656"/>
                  </a:lnTo>
                  <a:close/>
                </a:path>
              </a:pathLst>
            </a:custGeom>
            <a:blipFill>
              <a:blip r:embed="rId3">
                <a:alphaModFix amt="0"/>
              </a:blip>
              <a:stretch>
                <a:fillRect t="-67963" b="-67963"/>
              </a:stretch>
            </a:blipFill>
          </p:spPr>
          <p:txBody>
            <a:bodyPr/>
            <a:lstStyle/>
            <a:p>
              <a:endParaRPr lang="en-US"/>
            </a:p>
          </p:txBody>
        </p:sp>
        <p:sp>
          <p:nvSpPr>
            <p:cNvPr id="196" name="TextBox 196"/>
            <p:cNvSpPr txBox="1"/>
            <p:nvPr/>
          </p:nvSpPr>
          <p:spPr>
            <a:xfrm>
              <a:off x="0" y="-38100"/>
              <a:ext cx="4096512" cy="714756"/>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~95–96 / ~20.5 (CHTR 16.1)</a:t>
              </a:r>
            </a:p>
          </p:txBody>
        </p:sp>
      </p:grpSp>
      <p:grpSp>
        <p:nvGrpSpPr>
          <p:cNvPr id="197" name="Group 197"/>
          <p:cNvGrpSpPr/>
          <p:nvPr/>
        </p:nvGrpSpPr>
        <p:grpSpPr>
          <a:xfrm>
            <a:off x="13482828" y="8257032"/>
            <a:ext cx="3963924" cy="507492"/>
            <a:chOff x="0" y="0"/>
            <a:chExt cx="5285232" cy="676656"/>
          </a:xfrm>
        </p:grpSpPr>
        <p:sp>
          <p:nvSpPr>
            <p:cNvPr id="198" name="Freeform 198"/>
            <p:cNvSpPr/>
            <p:nvPr/>
          </p:nvSpPr>
          <p:spPr>
            <a:xfrm>
              <a:off x="0" y="0"/>
              <a:ext cx="5285232" cy="676656"/>
            </a:xfrm>
            <a:custGeom>
              <a:avLst/>
              <a:gdLst/>
              <a:ahLst/>
              <a:cxnLst/>
              <a:rect l="l" t="t" r="r" b="b"/>
              <a:pathLst>
                <a:path w="5285232" h="676656">
                  <a:moveTo>
                    <a:pt x="0" y="0"/>
                  </a:moveTo>
                  <a:lnTo>
                    <a:pt x="5285232" y="0"/>
                  </a:lnTo>
                  <a:lnTo>
                    <a:pt x="5285232" y="676656"/>
                  </a:lnTo>
                  <a:lnTo>
                    <a:pt x="0" y="676656"/>
                  </a:lnTo>
                  <a:close/>
                </a:path>
              </a:pathLst>
            </a:custGeom>
            <a:blipFill>
              <a:blip r:embed="rId3">
                <a:alphaModFix amt="0"/>
              </a:blip>
              <a:stretch>
                <a:fillRect t="-102193" b="-102193"/>
              </a:stretch>
            </a:blipFill>
          </p:spPr>
          <p:txBody>
            <a:bodyPr/>
            <a:lstStyle/>
            <a:p>
              <a:endParaRPr lang="en-US"/>
            </a:p>
          </p:txBody>
        </p:sp>
        <p:sp>
          <p:nvSpPr>
            <p:cNvPr id="199" name="TextBox 199"/>
            <p:cNvSpPr txBox="1"/>
            <p:nvPr/>
          </p:nvSpPr>
          <p:spPr>
            <a:xfrm>
              <a:off x="0" y="-38100"/>
              <a:ext cx="5285232" cy="714756"/>
            </a:xfrm>
            <a:prstGeom prst="rect">
              <a:avLst/>
            </a:prstGeom>
          </p:spPr>
          <p:txBody>
            <a:bodyPr lIns="0" tIns="0" rIns="0" bIns="0" rtlCol="0" anchor="ctr"/>
            <a:lstStyle/>
            <a:p>
              <a:pPr algn="l">
                <a:lnSpc>
                  <a:spcPts val="1709"/>
                </a:lnSpc>
              </a:pPr>
              <a:r>
                <a:rPr lang="en-US" sz="1425">
                  <a:solidFill>
                    <a:srgbClr val="0099D8"/>
                  </a:solidFill>
                  <a:latin typeface="Calibri"/>
                  <a:ea typeface="Calibri (MS)"/>
                  <a:cs typeface="Calibri"/>
                  <a:sym typeface="Calibri (MS)"/>
                </a:rPr>
                <a:t>4.15x at 3/31/26; interest ~$5.0B</a:t>
              </a:r>
            </a:p>
          </p:txBody>
        </p:sp>
      </p:grpSp>
      <p:grpSp>
        <p:nvGrpSpPr>
          <p:cNvPr id="200" name="Group 200"/>
          <p:cNvGrpSpPr/>
          <p:nvPr/>
        </p:nvGrpSpPr>
        <p:grpSpPr>
          <a:xfrm>
            <a:off x="754380" y="8778240"/>
            <a:ext cx="16802100" cy="411480"/>
            <a:chOff x="0" y="0"/>
            <a:chExt cx="22402800" cy="548640"/>
          </a:xfrm>
        </p:grpSpPr>
        <p:sp>
          <p:nvSpPr>
            <p:cNvPr id="201" name="Freeform 201"/>
            <p:cNvSpPr/>
            <p:nvPr/>
          </p:nvSpPr>
          <p:spPr>
            <a:xfrm>
              <a:off x="0" y="0"/>
              <a:ext cx="22402800" cy="548640"/>
            </a:xfrm>
            <a:custGeom>
              <a:avLst/>
              <a:gdLst/>
              <a:ahLst/>
              <a:cxnLst/>
              <a:rect l="l" t="t" r="r" b="b"/>
              <a:pathLst>
                <a:path w="22402800" h="548640">
                  <a:moveTo>
                    <a:pt x="0" y="0"/>
                  </a:moveTo>
                  <a:lnTo>
                    <a:pt x="22402800" y="0"/>
                  </a:lnTo>
                  <a:lnTo>
                    <a:pt x="22402800" y="548640"/>
                  </a:lnTo>
                  <a:lnTo>
                    <a:pt x="0" y="548640"/>
                  </a:lnTo>
                  <a:close/>
                </a:path>
              </a:pathLst>
            </a:custGeom>
            <a:blipFill>
              <a:blip r:embed="rId3">
                <a:alphaModFix amt="0"/>
              </a:blip>
              <a:stretch>
                <a:fillRect t="-745639" b="-745639"/>
              </a:stretch>
            </a:blipFill>
          </p:spPr>
          <p:txBody>
            <a:bodyPr/>
            <a:lstStyle/>
            <a:p>
              <a:endParaRPr lang="en-US"/>
            </a:p>
          </p:txBody>
        </p:sp>
        <p:sp>
          <p:nvSpPr>
            <p:cNvPr id="202" name="TextBox 202"/>
            <p:cNvSpPr txBox="1"/>
            <p:nvPr/>
          </p:nvSpPr>
          <p:spPr>
            <a:xfrm>
              <a:off x="0" y="-28575"/>
              <a:ext cx="22402800" cy="577215"/>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*FY2023 EBITDA/NI/FCF/capex not comparable (CCO Holdings vs. Charter consolidated). **Old customer methodology, Q4 2025 restatement added all mobile lines incl. mobile-only; do not mix bases.</a:t>
              </a:r>
            </a:p>
          </p:txBody>
        </p:sp>
      </p:grpSp>
      <p:grpSp>
        <p:nvGrpSpPr>
          <p:cNvPr id="203" name="Group 203"/>
          <p:cNvGrpSpPr/>
          <p:nvPr/>
        </p:nvGrpSpPr>
        <p:grpSpPr>
          <a:xfrm>
            <a:off x="754380" y="9189720"/>
            <a:ext cx="16733520" cy="411480"/>
            <a:chOff x="0" y="0"/>
            <a:chExt cx="22311360" cy="548640"/>
          </a:xfrm>
        </p:grpSpPr>
        <p:sp>
          <p:nvSpPr>
            <p:cNvPr id="204" name="Freeform 204"/>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205" name="TextBox 205"/>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206" name="Group 206"/>
          <p:cNvGrpSpPr/>
          <p:nvPr/>
        </p:nvGrpSpPr>
        <p:grpSpPr>
          <a:xfrm>
            <a:off x="17076420" y="9669780"/>
            <a:ext cx="960120" cy="411480"/>
            <a:chOff x="0" y="0"/>
            <a:chExt cx="1280160" cy="548640"/>
          </a:xfrm>
        </p:grpSpPr>
        <p:sp>
          <p:nvSpPr>
            <p:cNvPr id="207" name="Freeform 207"/>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08" name="TextBox 208"/>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37</a:t>
              </a:r>
            </a:p>
          </p:txBody>
        </p:sp>
      </p:grpSp>
      <p:grpSp>
        <p:nvGrpSpPr>
          <p:cNvPr id="209" name="Group 209"/>
          <p:cNvGrpSpPr/>
          <p:nvPr/>
        </p:nvGrpSpPr>
        <p:grpSpPr>
          <a:xfrm>
            <a:off x="754380" y="9669780"/>
            <a:ext cx="16047720" cy="411480"/>
            <a:chOff x="0" y="0"/>
            <a:chExt cx="21396960" cy="548640"/>
          </a:xfrm>
        </p:grpSpPr>
        <p:sp>
          <p:nvSpPr>
            <p:cNvPr id="210" name="Freeform 210"/>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211" name="TextBox 211"/>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A27  ·  REFERENCE, THE QUARTER THAT CRYSTALLIZED THE BEAR CASE</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Q1 2026: The Quarter That Crystallized the Bear Case</a:t>
            </a:r>
          </a:p>
        </p:txBody>
      </p:sp>
      <p:grpSp>
        <p:nvGrpSpPr>
          <p:cNvPr id="6" name="Group 6"/>
          <p:cNvGrpSpPr/>
          <p:nvPr/>
        </p:nvGrpSpPr>
        <p:grpSpPr>
          <a:xfrm>
            <a:off x="754380" y="2674620"/>
            <a:ext cx="8229600" cy="493776"/>
            <a:chOff x="0" y="0"/>
            <a:chExt cx="10972800" cy="658368"/>
          </a:xfrm>
        </p:grpSpPr>
        <p:sp>
          <p:nvSpPr>
            <p:cNvPr id="7" name="Freeform 7"/>
            <p:cNvSpPr/>
            <p:nvPr/>
          </p:nvSpPr>
          <p:spPr>
            <a:xfrm>
              <a:off x="0" y="0"/>
              <a:ext cx="10972800" cy="658368"/>
            </a:xfrm>
            <a:custGeom>
              <a:avLst/>
              <a:gdLst/>
              <a:ahLst/>
              <a:cxnLst/>
              <a:rect l="l" t="t" r="r" b="b"/>
              <a:pathLst>
                <a:path w="10972800" h="658368">
                  <a:moveTo>
                    <a:pt x="0" y="0"/>
                  </a:moveTo>
                  <a:lnTo>
                    <a:pt x="10972800" y="0"/>
                  </a:lnTo>
                  <a:lnTo>
                    <a:pt x="10972800" y="658368"/>
                  </a:lnTo>
                  <a:lnTo>
                    <a:pt x="0" y="658368"/>
                  </a:lnTo>
                  <a:close/>
                </a:path>
              </a:pathLst>
            </a:custGeom>
            <a:solidFill>
              <a:srgbClr val="003057"/>
            </a:solidFill>
          </p:spPr>
          <p:txBody>
            <a:bodyPr/>
            <a:lstStyle/>
            <a:p>
              <a:endParaRPr lang="en-US"/>
            </a:p>
          </p:txBody>
        </p:sp>
      </p:grpSp>
      <p:grpSp>
        <p:nvGrpSpPr>
          <p:cNvPr id="8" name="Group 8"/>
          <p:cNvGrpSpPr/>
          <p:nvPr/>
        </p:nvGrpSpPr>
        <p:grpSpPr>
          <a:xfrm>
            <a:off x="836676" y="2674620"/>
            <a:ext cx="2167128" cy="493776"/>
            <a:chOff x="0" y="0"/>
            <a:chExt cx="2889504" cy="658368"/>
          </a:xfrm>
        </p:grpSpPr>
        <p:sp>
          <p:nvSpPr>
            <p:cNvPr id="9" name="Freeform 9"/>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10" name="TextBox 10"/>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Customers (000s)</a:t>
              </a:r>
            </a:p>
          </p:txBody>
        </p:sp>
      </p:grpSp>
      <p:grpSp>
        <p:nvGrpSpPr>
          <p:cNvPr id="11" name="Group 11"/>
          <p:cNvGrpSpPr/>
          <p:nvPr/>
        </p:nvGrpSpPr>
        <p:grpSpPr>
          <a:xfrm>
            <a:off x="3168396" y="2674620"/>
            <a:ext cx="1207008" cy="493776"/>
            <a:chOff x="0" y="0"/>
            <a:chExt cx="1609344" cy="658368"/>
          </a:xfrm>
        </p:grpSpPr>
        <p:sp>
          <p:nvSpPr>
            <p:cNvPr id="12" name="Freeform 12"/>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3" name="TextBox 13"/>
            <p:cNvSpPr txBox="1"/>
            <p:nvPr/>
          </p:nvSpPr>
          <p:spPr>
            <a:xfrm>
              <a:off x="0" y="-28575"/>
              <a:ext cx="160934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Mar 31, 2026</a:t>
              </a:r>
            </a:p>
          </p:txBody>
        </p:sp>
      </p:grpSp>
      <p:grpSp>
        <p:nvGrpSpPr>
          <p:cNvPr id="14" name="Group 14"/>
          <p:cNvGrpSpPr/>
          <p:nvPr/>
        </p:nvGrpSpPr>
        <p:grpSpPr>
          <a:xfrm>
            <a:off x="4539996" y="2674620"/>
            <a:ext cx="1207008" cy="493776"/>
            <a:chOff x="0" y="0"/>
            <a:chExt cx="1609344" cy="658368"/>
          </a:xfrm>
        </p:grpSpPr>
        <p:sp>
          <p:nvSpPr>
            <p:cNvPr id="15" name="Freeform 15"/>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6" name="TextBox 16"/>
            <p:cNvSpPr txBox="1"/>
            <p:nvPr/>
          </p:nvSpPr>
          <p:spPr>
            <a:xfrm>
              <a:off x="0" y="-28575"/>
              <a:ext cx="160934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Dec 31, 2025</a:t>
              </a:r>
            </a:p>
          </p:txBody>
        </p:sp>
      </p:grpSp>
      <p:grpSp>
        <p:nvGrpSpPr>
          <p:cNvPr id="17" name="Group 17"/>
          <p:cNvGrpSpPr/>
          <p:nvPr/>
        </p:nvGrpSpPr>
        <p:grpSpPr>
          <a:xfrm>
            <a:off x="5911596" y="2674620"/>
            <a:ext cx="1207008" cy="493776"/>
            <a:chOff x="0" y="0"/>
            <a:chExt cx="1609344" cy="658368"/>
          </a:xfrm>
        </p:grpSpPr>
        <p:sp>
          <p:nvSpPr>
            <p:cNvPr id="18" name="Freeform 18"/>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9" name="TextBox 19"/>
            <p:cNvSpPr txBox="1"/>
            <p:nvPr/>
          </p:nvSpPr>
          <p:spPr>
            <a:xfrm>
              <a:off x="0" y="-28575"/>
              <a:ext cx="160934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Mar 31, 2025</a:t>
              </a:r>
            </a:p>
          </p:txBody>
        </p:sp>
      </p:grpSp>
      <p:grpSp>
        <p:nvGrpSpPr>
          <p:cNvPr id="20" name="Group 20"/>
          <p:cNvGrpSpPr/>
          <p:nvPr/>
        </p:nvGrpSpPr>
        <p:grpSpPr>
          <a:xfrm>
            <a:off x="7283196" y="2674620"/>
            <a:ext cx="1618488" cy="493776"/>
            <a:chOff x="0" y="0"/>
            <a:chExt cx="2157984" cy="658368"/>
          </a:xfrm>
        </p:grpSpPr>
        <p:sp>
          <p:nvSpPr>
            <p:cNvPr id="21" name="Freeform 21"/>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22" name="TextBox 22"/>
            <p:cNvSpPr txBox="1"/>
            <p:nvPr/>
          </p:nvSpPr>
          <p:spPr>
            <a:xfrm>
              <a:off x="0" y="-28575"/>
              <a:ext cx="215798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Note</a:t>
              </a:r>
            </a:p>
          </p:txBody>
        </p:sp>
      </p:grpSp>
      <p:grpSp>
        <p:nvGrpSpPr>
          <p:cNvPr id="23" name="Group 23"/>
          <p:cNvGrpSpPr/>
          <p:nvPr/>
        </p:nvGrpSpPr>
        <p:grpSpPr>
          <a:xfrm>
            <a:off x="754380" y="3168396"/>
            <a:ext cx="8229600" cy="493776"/>
            <a:chOff x="0" y="0"/>
            <a:chExt cx="10972800" cy="658368"/>
          </a:xfrm>
        </p:grpSpPr>
        <p:sp>
          <p:nvSpPr>
            <p:cNvPr id="24" name="Freeform 24"/>
            <p:cNvSpPr/>
            <p:nvPr/>
          </p:nvSpPr>
          <p:spPr>
            <a:xfrm>
              <a:off x="0" y="0"/>
              <a:ext cx="10972800" cy="658368"/>
            </a:xfrm>
            <a:custGeom>
              <a:avLst/>
              <a:gdLst/>
              <a:ahLst/>
              <a:cxnLst/>
              <a:rect l="l" t="t" r="r" b="b"/>
              <a:pathLst>
                <a:path w="10972800" h="658368">
                  <a:moveTo>
                    <a:pt x="0" y="0"/>
                  </a:moveTo>
                  <a:lnTo>
                    <a:pt x="10972800" y="0"/>
                  </a:lnTo>
                  <a:lnTo>
                    <a:pt x="10972800" y="658368"/>
                  </a:lnTo>
                  <a:lnTo>
                    <a:pt x="0" y="658368"/>
                  </a:lnTo>
                  <a:close/>
                </a:path>
              </a:pathLst>
            </a:custGeom>
            <a:solidFill>
              <a:srgbClr val="EEF4FB"/>
            </a:solidFill>
          </p:spPr>
          <p:txBody>
            <a:bodyPr/>
            <a:lstStyle/>
            <a:p>
              <a:endParaRPr lang="en-US"/>
            </a:p>
          </p:txBody>
        </p:sp>
      </p:grpSp>
      <p:grpSp>
        <p:nvGrpSpPr>
          <p:cNvPr id="25" name="Group 25"/>
          <p:cNvGrpSpPr/>
          <p:nvPr/>
        </p:nvGrpSpPr>
        <p:grpSpPr>
          <a:xfrm>
            <a:off x="836676" y="3168396"/>
            <a:ext cx="2167128" cy="493776"/>
            <a:chOff x="0" y="0"/>
            <a:chExt cx="2889504" cy="658368"/>
          </a:xfrm>
        </p:grpSpPr>
        <p:sp>
          <p:nvSpPr>
            <p:cNvPr id="26" name="Freeform 26"/>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27" name="TextBox 27"/>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Customer relationships</a:t>
              </a:r>
            </a:p>
          </p:txBody>
        </p:sp>
      </p:grpSp>
      <p:grpSp>
        <p:nvGrpSpPr>
          <p:cNvPr id="28" name="Group 28"/>
          <p:cNvGrpSpPr/>
          <p:nvPr/>
        </p:nvGrpSpPr>
        <p:grpSpPr>
          <a:xfrm>
            <a:off x="3168396" y="3168396"/>
            <a:ext cx="1207008" cy="493776"/>
            <a:chOff x="0" y="0"/>
            <a:chExt cx="1609344" cy="658368"/>
          </a:xfrm>
        </p:grpSpPr>
        <p:sp>
          <p:nvSpPr>
            <p:cNvPr id="29" name="Freeform 29"/>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30" name="TextBox 30"/>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31,683</a:t>
              </a:r>
            </a:p>
          </p:txBody>
        </p:sp>
      </p:grpSp>
      <p:grpSp>
        <p:nvGrpSpPr>
          <p:cNvPr id="31" name="Group 31"/>
          <p:cNvGrpSpPr/>
          <p:nvPr/>
        </p:nvGrpSpPr>
        <p:grpSpPr>
          <a:xfrm>
            <a:off x="4539996" y="3168396"/>
            <a:ext cx="1207008" cy="493776"/>
            <a:chOff x="0" y="0"/>
            <a:chExt cx="1609344" cy="658368"/>
          </a:xfrm>
        </p:grpSpPr>
        <p:sp>
          <p:nvSpPr>
            <p:cNvPr id="32" name="Freeform 32"/>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33" name="TextBox 33"/>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31,846</a:t>
              </a:r>
            </a:p>
          </p:txBody>
        </p:sp>
      </p:grpSp>
      <p:grpSp>
        <p:nvGrpSpPr>
          <p:cNvPr id="34" name="Group 34"/>
          <p:cNvGrpSpPr/>
          <p:nvPr/>
        </p:nvGrpSpPr>
        <p:grpSpPr>
          <a:xfrm>
            <a:off x="5911596" y="3168396"/>
            <a:ext cx="1207008" cy="493776"/>
            <a:chOff x="0" y="0"/>
            <a:chExt cx="1609344" cy="658368"/>
          </a:xfrm>
        </p:grpSpPr>
        <p:sp>
          <p:nvSpPr>
            <p:cNvPr id="35" name="Freeform 35"/>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36" name="TextBox 36"/>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32,160</a:t>
              </a:r>
            </a:p>
          </p:txBody>
        </p:sp>
      </p:grpSp>
      <p:grpSp>
        <p:nvGrpSpPr>
          <p:cNvPr id="37" name="Group 37"/>
          <p:cNvGrpSpPr/>
          <p:nvPr/>
        </p:nvGrpSpPr>
        <p:grpSpPr>
          <a:xfrm>
            <a:off x="7283196" y="3168396"/>
            <a:ext cx="1618488" cy="493776"/>
            <a:chOff x="0" y="0"/>
            <a:chExt cx="2157984" cy="658368"/>
          </a:xfrm>
        </p:grpSpPr>
        <p:sp>
          <p:nvSpPr>
            <p:cNvPr id="38" name="Freeform 38"/>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39" name="TextBox 39"/>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−163 sequential</a:t>
              </a:r>
            </a:p>
          </p:txBody>
        </p:sp>
      </p:grpSp>
      <p:grpSp>
        <p:nvGrpSpPr>
          <p:cNvPr id="40" name="Group 40"/>
          <p:cNvGrpSpPr/>
          <p:nvPr/>
        </p:nvGrpSpPr>
        <p:grpSpPr>
          <a:xfrm>
            <a:off x="836676" y="3662172"/>
            <a:ext cx="2167128" cy="493776"/>
            <a:chOff x="0" y="0"/>
            <a:chExt cx="2889504" cy="658368"/>
          </a:xfrm>
        </p:grpSpPr>
        <p:sp>
          <p:nvSpPr>
            <p:cNvPr id="41" name="Freeform 41"/>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42" name="TextBox 42"/>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Internet</a:t>
              </a:r>
            </a:p>
          </p:txBody>
        </p:sp>
      </p:grpSp>
      <p:grpSp>
        <p:nvGrpSpPr>
          <p:cNvPr id="43" name="Group 43"/>
          <p:cNvGrpSpPr/>
          <p:nvPr/>
        </p:nvGrpSpPr>
        <p:grpSpPr>
          <a:xfrm>
            <a:off x="3168396" y="3662172"/>
            <a:ext cx="1207008" cy="493776"/>
            <a:chOff x="0" y="0"/>
            <a:chExt cx="1609344" cy="658368"/>
          </a:xfrm>
        </p:grpSpPr>
        <p:sp>
          <p:nvSpPr>
            <p:cNvPr id="44" name="Freeform 44"/>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45" name="TextBox 45"/>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29,560</a:t>
              </a:r>
            </a:p>
          </p:txBody>
        </p:sp>
      </p:grpSp>
      <p:grpSp>
        <p:nvGrpSpPr>
          <p:cNvPr id="46" name="Group 46"/>
          <p:cNvGrpSpPr/>
          <p:nvPr/>
        </p:nvGrpSpPr>
        <p:grpSpPr>
          <a:xfrm>
            <a:off x="4539996" y="3662172"/>
            <a:ext cx="1207008" cy="493776"/>
            <a:chOff x="0" y="0"/>
            <a:chExt cx="1609344" cy="658368"/>
          </a:xfrm>
        </p:grpSpPr>
        <p:sp>
          <p:nvSpPr>
            <p:cNvPr id="47" name="Freeform 47"/>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48" name="TextBox 48"/>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29,680</a:t>
              </a:r>
            </a:p>
          </p:txBody>
        </p:sp>
      </p:grpSp>
      <p:grpSp>
        <p:nvGrpSpPr>
          <p:cNvPr id="49" name="Group 49"/>
          <p:cNvGrpSpPr/>
          <p:nvPr/>
        </p:nvGrpSpPr>
        <p:grpSpPr>
          <a:xfrm>
            <a:off x="5911596" y="3662172"/>
            <a:ext cx="1207008" cy="493776"/>
            <a:chOff x="0" y="0"/>
            <a:chExt cx="1609344" cy="658368"/>
          </a:xfrm>
        </p:grpSpPr>
        <p:sp>
          <p:nvSpPr>
            <p:cNvPr id="50" name="Freeform 50"/>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51" name="TextBox 51"/>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30,024</a:t>
              </a:r>
            </a:p>
          </p:txBody>
        </p:sp>
      </p:grpSp>
      <p:grpSp>
        <p:nvGrpSpPr>
          <p:cNvPr id="52" name="Group 52"/>
          <p:cNvGrpSpPr/>
          <p:nvPr/>
        </p:nvGrpSpPr>
        <p:grpSpPr>
          <a:xfrm>
            <a:off x="7283196" y="3662172"/>
            <a:ext cx="1618488" cy="493776"/>
            <a:chOff x="0" y="0"/>
            <a:chExt cx="2157984" cy="658368"/>
          </a:xfrm>
        </p:grpSpPr>
        <p:sp>
          <p:nvSpPr>
            <p:cNvPr id="53" name="Freeform 53"/>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54" name="TextBox 54"/>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−120k qtr; −464k YoY</a:t>
              </a:r>
            </a:p>
          </p:txBody>
        </p:sp>
      </p:grpSp>
      <p:grpSp>
        <p:nvGrpSpPr>
          <p:cNvPr id="55" name="Group 55"/>
          <p:cNvGrpSpPr/>
          <p:nvPr/>
        </p:nvGrpSpPr>
        <p:grpSpPr>
          <a:xfrm>
            <a:off x="754380" y="4155948"/>
            <a:ext cx="8229600" cy="493776"/>
            <a:chOff x="0" y="0"/>
            <a:chExt cx="10972800" cy="658368"/>
          </a:xfrm>
        </p:grpSpPr>
        <p:sp>
          <p:nvSpPr>
            <p:cNvPr id="56" name="Freeform 56"/>
            <p:cNvSpPr/>
            <p:nvPr/>
          </p:nvSpPr>
          <p:spPr>
            <a:xfrm>
              <a:off x="0" y="0"/>
              <a:ext cx="10972800" cy="658368"/>
            </a:xfrm>
            <a:custGeom>
              <a:avLst/>
              <a:gdLst/>
              <a:ahLst/>
              <a:cxnLst/>
              <a:rect l="l" t="t" r="r" b="b"/>
              <a:pathLst>
                <a:path w="10972800" h="658368">
                  <a:moveTo>
                    <a:pt x="0" y="0"/>
                  </a:moveTo>
                  <a:lnTo>
                    <a:pt x="10972800" y="0"/>
                  </a:lnTo>
                  <a:lnTo>
                    <a:pt x="10972800" y="658368"/>
                  </a:lnTo>
                  <a:lnTo>
                    <a:pt x="0" y="658368"/>
                  </a:lnTo>
                  <a:close/>
                </a:path>
              </a:pathLst>
            </a:custGeom>
            <a:solidFill>
              <a:srgbClr val="EEF4FB"/>
            </a:solidFill>
          </p:spPr>
          <p:txBody>
            <a:bodyPr/>
            <a:lstStyle/>
            <a:p>
              <a:endParaRPr lang="en-US"/>
            </a:p>
          </p:txBody>
        </p:sp>
      </p:grpSp>
      <p:grpSp>
        <p:nvGrpSpPr>
          <p:cNvPr id="57" name="Group 57"/>
          <p:cNvGrpSpPr/>
          <p:nvPr/>
        </p:nvGrpSpPr>
        <p:grpSpPr>
          <a:xfrm>
            <a:off x="836676" y="4155948"/>
            <a:ext cx="2167128" cy="493776"/>
            <a:chOff x="0" y="0"/>
            <a:chExt cx="2889504" cy="658368"/>
          </a:xfrm>
        </p:grpSpPr>
        <p:sp>
          <p:nvSpPr>
            <p:cNvPr id="58" name="Freeform 58"/>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59" name="TextBox 59"/>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Mobile lines</a:t>
              </a:r>
            </a:p>
          </p:txBody>
        </p:sp>
      </p:grpSp>
      <p:grpSp>
        <p:nvGrpSpPr>
          <p:cNvPr id="60" name="Group 60"/>
          <p:cNvGrpSpPr/>
          <p:nvPr/>
        </p:nvGrpSpPr>
        <p:grpSpPr>
          <a:xfrm>
            <a:off x="3168396" y="4155948"/>
            <a:ext cx="1207008" cy="493776"/>
            <a:chOff x="0" y="0"/>
            <a:chExt cx="1609344" cy="658368"/>
          </a:xfrm>
        </p:grpSpPr>
        <p:sp>
          <p:nvSpPr>
            <p:cNvPr id="61" name="Freeform 61"/>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62" name="TextBox 62"/>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12,134</a:t>
              </a:r>
            </a:p>
          </p:txBody>
        </p:sp>
      </p:grpSp>
      <p:grpSp>
        <p:nvGrpSpPr>
          <p:cNvPr id="63" name="Group 63"/>
          <p:cNvGrpSpPr/>
          <p:nvPr/>
        </p:nvGrpSpPr>
        <p:grpSpPr>
          <a:xfrm>
            <a:off x="4539996" y="4155948"/>
            <a:ext cx="1207008" cy="493776"/>
            <a:chOff x="0" y="0"/>
            <a:chExt cx="1609344" cy="658368"/>
          </a:xfrm>
        </p:grpSpPr>
        <p:sp>
          <p:nvSpPr>
            <p:cNvPr id="64" name="Freeform 64"/>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65" name="TextBox 65"/>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11,766</a:t>
              </a:r>
            </a:p>
          </p:txBody>
        </p:sp>
      </p:grpSp>
      <p:grpSp>
        <p:nvGrpSpPr>
          <p:cNvPr id="66" name="Group 66"/>
          <p:cNvGrpSpPr/>
          <p:nvPr/>
        </p:nvGrpSpPr>
        <p:grpSpPr>
          <a:xfrm>
            <a:off x="5911596" y="4155948"/>
            <a:ext cx="1207008" cy="493776"/>
            <a:chOff x="0" y="0"/>
            <a:chExt cx="1609344" cy="658368"/>
          </a:xfrm>
        </p:grpSpPr>
        <p:sp>
          <p:nvSpPr>
            <p:cNvPr id="67" name="Freeform 67"/>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68" name="TextBox 68"/>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10,365</a:t>
              </a:r>
            </a:p>
          </p:txBody>
        </p:sp>
      </p:grpSp>
      <p:grpSp>
        <p:nvGrpSpPr>
          <p:cNvPr id="69" name="Group 69"/>
          <p:cNvGrpSpPr/>
          <p:nvPr/>
        </p:nvGrpSpPr>
        <p:grpSpPr>
          <a:xfrm>
            <a:off x="7283196" y="4155948"/>
            <a:ext cx="1618488" cy="493776"/>
            <a:chOff x="0" y="0"/>
            <a:chExt cx="2157984" cy="658368"/>
          </a:xfrm>
        </p:grpSpPr>
        <p:sp>
          <p:nvSpPr>
            <p:cNvPr id="70" name="Freeform 70"/>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71" name="TextBox 71"/>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+368k qtr</a:t>
              </a:r>
            </a:p>
          </p:txBody>
        </p:sp>
      </p:grpSp>
      <p:grpSp>
        <p:nvGrpSpPr>
          <p:cNvPr id="72" name="Group 72"/>
          <p:cNvGrpSpPr/>
          <p:nvPr/>
        </p:nvGrpSpPr>
        <p:grpSpPr>
          <a:xfrm>
            <a:off x="836676" y="4649724"/>
            <a:ext cx="2167128" cy="493776"/>
            <a:chOff x="0" y="0"/>
            <a:chExt cx="2889504" cy="658368"/>
          </a:xfrm>
        </p:grpSpPr>
        <p:sp>
          <p:nvSpPr>
            <p:cNvPr id="73" name="Freeform 73"/>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74" name="TextBox 74"/>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Video</a:t>
              </a:r>
            </a:p>
          </p:txBody>
        </p:sp>
      </p:grpSp>
      <p:grpSp>
        <p:nvGrpSpPr>
          <p:cNvPr id="75" name="Group 75"/>
          <p:cNvGrpSpPr/>
          <p:nvPr/>
        </p:nvGrpSpPr>
        <p:grpSpPr>
          <a:xfrm>
            <a:off x="3168396" y="4649724"/>
            <a:ext cx="1207008" cy="493776"/>
            <a:chOff x="0" y="0"/>
            <a:chExt cx="1609344" cy="658368"/>
          </a:xfrm>
        </p:grpSpPr>
        <p:sp>
          <p:nvSpPr>
            <p:cNvPr id="76" name="Freeform 76"/>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77" name="TextBox 77"/>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12,545</a:t>
              </a:r>
            </a:p>
          </p:txBody>
        </p:sp>
      </p:grpSp>
      <p:grpSp>
        <p:nvGrpSpPr>
          <p:cNvPr id="78" name="Group 78"/>
          <p:cNvGrpSpPr/>
          <p:nvPr/>
        </p:nvGrpSpPr>
        <p:grpSpPr>
          <a:xfrm>
            <a:off x="4539996" y="4649724"/>
            <a:ext cx="1207008" cy="493776"/>
            <a:chOff x="0" y="0"/>
            <a:chExt cx="1609344" cy="658368"/>
          </a:xfrm>
        </p:grpSpPr>
        <p:sp>
          <p:nvSpPr>
            <p:cNvPr id="79" name="Freeform 79"/>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80" name="TextBox 80"/>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12,605</a:t>
              </a:r>
            </a:p>
          </p:txBody>
        </p:sp>
      </p:grpSp>
      <p:grpSp>
        <p:nvGrpSpPr>
          <p:cNvPr id="81" name="Group 81"/>
          <p:cNvGrpSpPr/>
          <p:nvPr/>
        </p:nvGrpSpPr>
        <p:grpSpPr>
          <a:xfrm>
            <a:off x="5911596" y="4649724"/>
            <a:ext cx="1207008" cy="493776"/>
            <a:chOff x="0" y="0"/>
            <a:chExt cx="1609344" cy="658368"/>
          </a:xfrm>
        </p:grpSpPr>
        <p:sp>
          <p:nvSpPr>
            <p:cNvPr id="82" name="Freeform 82"/>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83" name="TextBox 83"/>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12,711</a:t>
              </a:r>
            </a:p>
          </p:txBody>
        </p:sp>
      </p:grpSp>
      <p:grpSp>
        <p:nvGrpSpPr>
          <p:cNvPr id="84" name="Group 84"/>
          <p:cNvGrpSpPr/>
          <p:nvPr/>
        </p:nvGrpSpPr>
        <p:grpSpPr>
          <a:xfrm>
            <a:off x="7283196" y="4649724"/>
            <a:ext cx="1618488" cy="493776"/>
            <a:chOff x="0" y="0"/>
            <a:chExt cx="2157984" cy="658368"/>
          </a:xfrm>
        </p:grpSpPr>
        <p:sp>
          <p:nvSpPr>
            <p:cNvPr id="85" name="Freeform 85"/>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86" name="TextBox 86"/>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−60k; moderating</a:t>
              </a:r>
            </a:p>
          </p:txBody>
        </p:sp>
      </p:grpSp>
      <p:grpSp>
        <p:nvGrpSpPr>
          <p:cNvPr id="87" name="Group 87"/>
          <p:cNvGrpSpPr/>
          <p:nvPr/>
        </p:nvGrpSpPr>
        <p:grpSpPr>
          <a:xfrm>
            <a:off x="754380" y="5143500"/>
            <a:ext cx="8229600" cy="493776"/>
            <a:chOff x="0" y="0"/>
            <a:chExt cx="10972800" cy="658368"/>
          </a:xfrm>
        </p:grpSpPr>
        <p:sp>
          <p:nvSpPr>
            <p:cNvPr id="88" name="Freeform 88"/>
            <p:cNvSpPr/>
            <p:nvPr/>
          </p:nvSpPr>
          <p:spPr>
            <a:xfrm>
              <a:off x="0" y="0"/>
              <a:ext cx="10972800" cy="658368"/>
            </a:xfrm>
            <a:custGeom>
              <a:avLst/>
              <a:gdLst/>
              <a:ahLst/>
              <a:cxnLst/>
              <a:rect l="l" t="t" r="r" b="b"/>
              <a:pathLst>
                <a:path w="10972800" h="658368">
                  <a:moveTo>
                    <a:pt x="0" y="0"/>
                  </a:moveTo>
                  <a:lnTo>
                    <a:pt x="10972800" y="0"/>
                  </a:lnTo>
                  <a:lnTo>
                    <a:pt x="10972800" y="658368"/>
                  </a:lnTo>
                  <a:lnTo>
                    <a:pt x="0" y="658368"/>
                  </a:lnTo>
                  <a:close/>
                </a:path>
              </a:pathLst>
            </a:custGeom>
            <a:solidFill>
              <a:srgbClr val="EEF4FB"/>
            </a:solidFill>
          </p:spPr>
          <p:txBody>
            <a:bodyPr/>
            <a:lstStyle/>
            <a:p>
              <a:endParaRPr lang="en-US"/>
            </a:p>
          </p:txBody>
        </p:sp>
      </p:grpSp>
      <p:grpSp>
        <p:nvGrpSpPr>
          <p:cNvPr id="89" name="Group 89"/>
          <p:cNvGrpSpPr/>
          <p:nvPr/>
        </p:nvGrpSpPr>
        <p:grpSpPr>
          <a:xfrm>
            <a:off x="836676" y="5143500"/>
            <a:ext cx="2167128" cy="493776"/>
            <a:chOff x="0" y="0"/>
            <a:chExt cx="2889504" cy="658368"/>
          </a:xfrm>
        </p:grpSpPr>
        <p:sp>
          <p:nvSpPr>
            <p:cNvPr id="90" name="Freeform 90"/>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91" name="TextBox 91"/>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Voice</a:t>
              </a:r>
            </a:p>
          </p:txBody>
        </p:sp>
      </p:grpSp>
      <p:grpSp>
        <p:nvGrpSpPr>
          <p:cNvPr id="92" name="Group 92"/>
          <p:cNvGrpSpPr/>
          <p:nvPr/>
        </p:nvGrpSpPr>
        <p:grpSpPr>
          <a:xfrm>
            <a:off x="3168396" y="5143500"/>
            <a:ext cx="1207008" cy="493776"/>
            <a:chOff x="0" y="0"/>
            <a:chExt cx="1609344" cy="658368"/>
          </a:xfrm>
        </p:grpSpPr>
        <p:sp>
          <p:nvSpPr>
            <p:cNvPr id="93" name="Freeform 93"/>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94" name="TextBox 94"/>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5,872</a:t>
              </a:r>
            </a:p>
          </p:txBody>
        </p:sp>
      </p:grpSp>
      <p:grpSp>
        <p:nvGrpSpPr>
          <p:cNvPr id="95" name="Group 95"/>
          <p:cNvGrpSpPr/>
          <p:nvPr/>
        </p:nvGrpSpPr>
        <p:grpSpPr>
          <a:xfrm>
            <a:off x="4539996" y="5143500"/>
            <a:ext cx="1207008" cy="493776"/>
            <a:chOff x="0" y="0"/>
            <a:chExt cx="1609344" cy="658368"/>
          </a:xfrm>
        </p:grpSpPr>
        <p:sp>
          <p:nvSpPr>
            <p:cNvPr id="96" name="Freeform 96"/>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97" name="TextBox 97"/>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6,046</a:t>
              </a:r>
            </a:p>
          </p:txBody>
        </p:sp>
      </p:grpSp>
      <p:grpSp>
        <p:nvGrpSpPr>
          <p:cNvPr id="98" name="Group 98"/>
          <p:cNvGrpSpPr/>
          <p:nvPr/>
        </p:nvGrpSpPr>
        <p:grpSpPr>
          <a:xfrm>
            <a:off x="5911596" y="5143500"/>
            <a:ext cx="1207008" cy="493776"/>
            <a:chOff x="0" y="0"/>
            <a:chExt cx="1609344" cy="658368"/>
          </a:xfrm>
        </p:grpSpPr>
        <p:sp>
          <p:nvSpPr>
            <p:cNvPr id="99" name="Freeform 99"/>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00" name="TextBox 100"/>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6,606</a:t>
              </a:r>
            </a:p>
          </p:txBody>
        </p:sp>
      </p:grpSp>
      <p:grpSp>
        <p:nvGrpSpPr>
          <p:cNvPr id="101" name="Group 101"/>
          <p:cNvGrpSpPr/>
          <p:nvPr/>
        </p:nvGrpSpPr>
        <p:grpSpPr>
          <a:xfrm>
            <a:off x="7283196" y="5143500"/>
            <a:ext cx="1618488" cy="493776"/>
            <a:chOff x="0" y="0"/>
            <a:chExt cx="2157984" cy="658368"/>
          </a:xfrm>
        </p:grpSpPr>
        <p:sp>
          <p:nvSpPr>
            <p:cNvPr id="102" name="Freeform 102"/>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103" name="TextBox 103"/>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−174k</a:t>
              </a:r>
            </a:p>
          </p:txBody>
        </p:sp>
      </p:grpSp>
      <p:grpSp>
        <p:nvGrpSpPr>
          <p:cNvPr id="104" name="Group 104"/>
          <p:cNvGrpSpPr/>
          <p:nvPr/>
        </p:nvGrpSpPr>
        <p:grpSpPr>
          <a:xfrm>
            <a:off x="836676" y="5637276"/>
            <a:ext cx="2167128" cy="493776"/>
            <a:chOff x="0" y="0"/>
            <a:chExt cx="2889504" cy="658368"/>
          </a:xfrm>
        </p:grpSpPr>
        <p:sp>
          <p:nvSpPr>
            <p:cNvPr id="105" name="Freeform 105"/>
            <p:cNvSpPr/>
            <p:nvPr/>
          </p:nvSpPr>
          <p:spPr>
            <a:xfrm>
              <a:off x="0" y="0"/>
              <a:ext cx="2889504" cy="658368"/>
            </a:xfrm>
            <a:custGeom>
              <a:avLst/>
              <a:gdLst/>
              <a:ahLst/>
              <a:cxnLst/>
              <a:rect l="l" t="t" r="r" b="b"/>
              <a:pathLst>
                <a:path w="2889504" h="658368">
                  <a:moveTo>
                    <a:pt x="0" y="0"/>
                  </a:moveTo>
                  <a:lnTo>
                    <a:pt x="2889504" y="0"/>
                  </a:lnTo>
                  <a:lnTo>
                    <a:pt x="2889504" y="658368"/>
                  </a:lnTo>
                  <a:lnTo>
                    <a:pt x="0" y="658368"/>
                  </a:lnTo>
                  <a:close/>
                </a:path>
              </a:pathLst>
            </a:custGeom>
            <a:blipFill>
              <a:blip r:embed="rId3">
                <a:alphaModFix amt="0"/>
              </a:blip>
              <a:stretch>
                <a:fillRect t="-35517" b="-35517"/>
              </a:stretch>
            </a:blipFill>
          </p:spPr>
          <p:txBody>
            <a:bodyPr/>
            <a:lstStyle/>
            <a:p>
              <a:endParaRPr lang="en-US"/>
            </a:p>
          </p:txBody>
        </p:sp>
        <p:sp>
          <p:nvSpPr>
            <p:cNvPr id="106" name="TextBox 106"/>
            <p:cNvSpPr txBox="1"/>
            <p:nvPr/>
          </p:nvSpPr>
          <p:spPr>
            <a:xfrm>
              <a:off x="0" y="-28575"/>
              <a:ext cx="288950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Residential ARPU</a:t>
              </a:r>
            </a:p>
          </p:txBody>
        </p:sp>
      </p:grpSp>
      <p:grpSp>
        <p:nvGrpSpPr>
          <p:cNvPr id="107" name="Group 107"/>
          <p:cNvGrpSpPr/>
          <p:nvPr/>
        </p:nvGrpSpPr>
        <p:grpSpPr>
          <a:xfrm>
            <a:off x="3168396" y="5637276"/>
            <a:ext cx="1207008" cy="493776"/>
            <a:chOff x="0" y="0"/>
            <a:chExt cx="1609344" cy="658368"/>
          </a:xfrm>
        </p:grpSpPr>
        <p:sp>
          <p:nvSpPr>
            <p:cNvPr id="108" name="Freeform 108"/>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09" name="TextBox 109"/>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$118.44</a:t>
              </a:r>
            </a:p>
          </p:txBody>
        </p:sp>
      </p:grpSp>
      <p:grpSp>
        <p:nvGrpSpPr>
          <p:cNvPr id="110" name="Group 110"/>
          <p:cNvGrpSpPr/>
          <p:nvPr/>
        </p:nvGrpSpPr>
        <p:grpSpPr>
          <a:xfrm>
            <a:off x="4539996" y="5637276"/>
            <a:ext cx="1207008" cy="493776"/>
            <a:chOff x="0" y="0"/>
            <a:chExt cx="1609344" cy="658368"/>
          </a:xfrm>
        </p:grpSpPr>
        <p:sp>
          <p:nvSpPr>
            <p:cNvPr id="111" name="Freeform 111"/>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12" name="TextBox 112"/>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$119.05</a:t>
              </a:r>
            </a:p>
          </p:txBody>
        </p:sp>
      </p:grpSp>
      <p:grpSp>
        <p:nvGrpSpPr>
          <p:cNvPr id="113" name="Group 113"/>
          <p:cNvGrpSpPr/>
          <p:nvPr/>
        </p:nvGrpSpPr>
        <p:grpSpPr>
          <a:xfrm>
            <a:off x="5911596" y="5637276"/>
            <a:ext cx="1207008" cy="493776"/>
            <a:chOff x="0" y="0"/>
            <a:chExt cx="1609344" cy="658368"/>
          </a:xfrm>
        </p:grpSpPr>
        <p:sp>
          <p:nvSpPr>
            <p:cNvPr id="114" name="Freeform 114"/>
            <p:cNvSpPr/>
            <p:nvPr/>
          </p:nvSpPr>
          <p:spPr>
            <a:xfrm>
              <a:off x="0" y="0"/>
              <a:ext cx="1609344" cy="658368"/>
            </a:xfrm>
            <a:custGeom>
              <a:avLst/>
              <a:gdLst/>
              <a:ahLst/>
              <a:cxnLst/>
              <a:rect l="l" t="t" r="r" b="b"/>
              <a:pathLst>
                <a:path w="1609344" h="658368">
                  <a:moveTo>
                    <a:pt x="0" y="0"/>
                  </a:moveTo>
                  <a:lnTo>
                    <a:pt x="1609344" y="0"/>
                  </a:lnTo>
                  <a:lnTo>
                    <a:pt x="1609344" y="658368"/>
                  </a:lnTo>
                  <a:lnTo>
                    <a:pt x="0" y="658368"/>
                  </a:lnTo>
                  <a:close/>
                </a:path>
              </a:pathLst>
            </a:custGeom>
            <a:blipFill>
              <a:blip r:embed="rId3">
                <a:alphaModFix amt="0"/>
              </a:blip>
              <a:stretch>
                <a:fillRect l="-2487" r="-2487"/>
              </a:stretch>
            </a:blipFill>
          </p:spPr>
          <p:txBody>
            <a:bodyPr/>
            <a:lstStyle/>
            <a:p>
              <a:endParaRPr lang="en-US"/>
            </a:p>
          </p:txBody>
        </p:sp>
        <p:sp>
          <p:nvSpPr>
            <p:cNvPr id="115" name="TextBox 115"/>
            <p:cNvSpPr txBox="1"/>
            <p:nvPr/>
          </p:nvSpPr>
          <p:spPr>
            <a:xfrm>
              <a:off x="0" y="-28575"/>
              <a:ext cx="160934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$120.07</a:t>
              </a:r>
            </a:p>
          </p:txBody>
        </p:sp>
      </p:grpSp>
      <p:grpSp>
        <p:nvGrpSpPr>
          <p:cNvPr id="116" name="Group 116"/>
          <p:cNvGrpSpPr/>
          <p:nvPr/>
        </p:nvGrpSpPr>
        <p:grpSpPr>
          <a:xfrm>
            <a:off x="7283196" y="5637276"/>
            <a:ext cx="1618488" cy="493776"/>
            <a:chOff x="0" y="0"/>
            <a:chExt cx="2157984" cy="658368"/>
          </a:xfrm>
        </p:grpSpPr>
        <p:sp>
          <p:nvSpPr>
            <p:cNvPr id="117" name="Freeform 117"/>
            <p:cNvSpPr/>
            <p:nvPr/>
          </p:nvSpPr>
          <p:spPr>
            <a:xfrm>
              <a:off x="0" y="0"/>
              <a:ext cx="2157984" cy="658368"/>
            </a:xfrm>
            <a:custGeom>
              <a:avLst/>
              <a:gdLst/>
              <a:ahLst/>
              <a:cxnLst/>
              <a:rect l="l" t="t" r="r" b="b"/>
              <a:pathLst>
                <a:path w="2157984" h="658368">
                  <a:moveTo>
                    <a:pt x="0" y="0"/>
                  </a:moveTo>
                  <a:lnTo>
                    <a:pt x="2157984" y="0"/>
                  </a:lnTo>
                  <a:lnTo>
                    <a:pt x="2157984" y="658368"/>
                  </a:lnTo>
                  <a:lnTo>
                    <a:pt x="0" y="658368"/>
                  </a:lnTo>
                  <a:close/>
                </a:path>
              </a:pathLst>
            </a:custGeom>
            <a:blipFill>
              <a:blip r:embed="rId3">
                <a:alphaModFix amt="0"/>
              </a:blip>
              <a:stretch>
                <a:fillRect t="-13867" b="-13867"/>
              </a:stretch>
            </a:blipFill>
          </p:spPr>
          <p:txBody>
            <a:bodyPr/>
            <a:lstStyle/>
            <a:p>
              <a:endParaRPr lang="en-US"/>
            </a:p>
          </p:txBody>
        </p:sp>
        <p:sp>
          <p:nvSpPr>
            <p:cNvPr id="118" name="TextBox 118"/>
            <p:cNvSpPr txBox="1"/>
            <p:nvPr/>
          </p:nvSpPr>
          <p:spPr>
            <a:xfrm>
              <a:off x="0" y="-28575"/>
              <a:ext cx="215798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Lower-promo strategy</a:t>
              </a:r>
            </a:p>
          </p:txBody>
        </p:sp>
      </p:grpSp>
      <p:grpSp>
        <p:nvGrpSpPr>
          <p:cNvPr id="119" name="Group 119"/>
          <p:cNvGrpSpPr/>
          <p:nvPr/>
        </p:nvGrpSpPr>
        <p:grpSpPr>
          <a:xfrm>
            <a:off x="9395460" y="2674620"/>
            <a:ext cx="8161020" cy="493776"/>
            <a:chOff x="0" y="0"/>
            <a:chExt cx="10881360" cy="658368"/>
          </a:xfrm>
        </p:grpSpPr>
        <p:sp>
          <p:nvSpPr>
            <p:cNvPr id="120" name="Freeform 120"/>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003057"/>
            </a:solidFill>
          </p:spPr>
          <p:txBody>
            <a:bodyPr/>
            <a:lstStyle/>
            <a:p>
              <a:endParaRPr lang="en-US"/>
            </a:p>
          </p:txBody>
        </p:sp>
      </p:grpSp>
      <p:grpSp>
        <p:nvGrpSpPr>
          <p:cNvPr id="121" name="Group 121"/>
          <p:cNvGrpSpPr/>
          <p:nvPr/>
        </p:nvGrpSpPr>
        <p:grpSpPr>
          <a:xfrm>
            <a:off x="9477756" y="2674620"/>
            <a:ext cx="1961388" cy="493776"/>
            <a:chOff x="0" y="0"/>
            <a:chExt cx="2615184" cy="658368"/>
          </a:xfrm>
        </p:grpSpPr>
        <p:sp>
          <p:nvSpPr>
            <p:cNvPr id="122" name="Freeform 122"/>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23" name="TextBox 123"/>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P&amp;L ($M)</a:t>
              </a:r>
            </a:p>
          </p:txBody>
        </p:sp>
      </p:grpSp>
      <p:grpSp>
        <p:nvGrpSpPr>
          <p:cNvPr id="124" name="Group 124"/>
          <p:cNvGrpSpPr/>
          <p:nvPr/>
        </p:nvGrpSpPr>
        <p:grpSpPr>
          <a:xfrm>
            <a:off x="11603736" y="2674620"/>
            <a:ext cx="1138428" cy="493776"/>
            <a:chOff x="0" y="0"/>
            <a:chExt cx="1517904" cy="658368"/>
          </a:xfrm>
        </p:grpSpPr>
        <p:sp>
          <p:nvSpPr>
            <p:cNvPr id="125" name="Freeform 125"/>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26" name="TextBox 126"/>
            <p:cNvSpPr txBox="1"/>
            <p:nvPr/>
          </p:nvSpPr>
          <p:spPr>
            <a:xfrm>
              <a:off x="0" y="-28575"/>
              <a:ext cx="151790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Q1 2026</a:t>
              </a:r>
            </a:p>
          </p:txBody>
        </p:sp>
      </p:grpSp>
      <p:grpSp>
        <p:nvGrpSpPr>
          <p:cNvPr id="127" name="Group 127"/>
          <p:cNvGrpSpPr/>
          <p:nvPr/>
        </p:nvGrpSpPr>
        <p:grpSpPr>
          <a:xfrm>
            <a:off x="12906756" y="2674620"/>
            <a:ext cx="1138428" cy="493776"/>
            <a:chOff x="0" y="0"/>
            <a:chExt cx="1517904" cy="658368"/>
          </a:xfrm>
        </p:grpSpPr>
        <p:sp>
          <p:nvSpPr>
            <p:cNvPr id="128" name="Freeform 128"/>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29" name="TextBox 129"/>
            <p:cNvSpPr txBox="1"/>
            <p:nvPr/>
          </p:nvSpPr>
          <p:spPr>
            <a:xfrm>
              <a:off x="0" y="-28575"/>
              <a:ext cx="151790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Q1 2025</a:t>
              </a:r>
            </a:p>
          </p:txBody>
        </p:sp>
      </p:grpSp>
      <p:grpSp>
        <p:nvGrpSpPr>
          <p:cNvPr id="130" name="Group 130"/>
          <p:cNvGrpSpPr/>
          <p:nvPr/>
        </p:nvGrpSpPr>
        <p:grpSpPr>
          <a:xfrm>
            <a:off x="14209776" y="2674620"/>
            <a:ext cx="1069848" cy="493776"/>
            <a:chOff x="0" y="0"/>
            <a:chExt cx="1426464" cy="658368"/>
          </a:xfrm>
        </p:grpSpPr>
        <p:sp>
          <p:nvSpPr>
            <p:cNvPr id="131" name="Freeform 131"/>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132" name="TextBox 132"/>
            <p:cNvSpPr txBox="1"/>
            <p:nvPr/>
          </p:nvSpPr>
          <p:spPr>
            <a:xfrm>
              <a:off x="0" y="-28575"/>
              <a:ext cx="142646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Change</a:t>
              </a:r>
            </a:p>
          </p:txBody>
        </p:sp>
      </p:grpSp>
      <p:grpSp>
        <p:nvGrpSpPr>
          <p:cNvPr id="133" name="Group 133"/>
          <p:cNvGrpSpPr/>
          <p:nvPr/>
        </p:nvGrpSpPr>
        <p:grpSpPr>
          <a:xfrm>
            <a:off x="15444216" y="2674620"/>
            <a:ext cx="2029968" cy="493776"/>
            <a:chOff x="0" y="0"/>
            <a:chExt cx="2706624" cy="658368"/>
          </a:xfrm>
        </p:grpSpPr>
        <p:sp>
          <p:nvSpPr>
            <p:cNvPr id="134" name="Freeform 134"/>
            <p:cNvSpPr/>
            <p:nvPr/>
          </p:nvSpPr>
          <p:spPr>
            <a:xfrm>
              <a:off x="0" y="0"/>
              <a:ext cx="2706624" cy="658368"/>
            </a:xfrm>
            <a:custGeom>
              <a:avLst/>
              <a:gdLst/>
              <a:ahLst/>
              <a:cxnLst/>
              <a:rect l="l" t="t" r="r" b="b"/>
              <a:pathLst>
                <a:path w="2706624" h="658368">
                  <a:moveTo>
                    <a:pt x="0" y="0"/>
                  </a:moveTo>
                  <a:lnTo>
                    <a:pt x="2706624" y="0"/>
                  </a:lnTo>
                  <a:lnTo>
                    <a:pt x="2706624" y="658368"/>
                  </a:lnTo>
                  <a:lnTo>
                    <a:pt x="0" y="658368"/>
                  </a:lnTo>
                  <a:close/>
                </a:path>
              </a:pathLst>
            </a:custGeom>
            <a:blipFill>
              <a:blip r:embed="rId3">
                <a:alphaModFix amt="0"/>
              </a:blip>
              <a:stretch>
                <a:fillRect t="-30105" b="-30105"/>
              </a:stretch>
            </a:blipFill>
          </p:spPr>
          <p:txBody>
            <a:bodyPr/>
            <a:lstStyle/>
            <a:p>
              <a:endParaRPr lang="en-US"/>
            </a:p>
          </p:txBody>
        </p:sp>
        <p:sp>
          <p:nvSpPr>
            <p:cNvPr id="135" name="TextBox 135"/>
            <p:cNvSpPr txBox="1"/>
            <p:nvPr/>
          </p:nvSpPr>
          <p:spPr>
            <a:xfrm>
              <a:off x="0" y="-28575"/>
              <a:ext cx="2706624" cy="686943"/>
            </a:xfrm>
            <a:prstGeom prst="rect">
              <a:avLst/>
            </a:prstGeom>
          </p:spPr>
          <p:txBody>
            <a:bodyPr lIns="0" tIns="0" rIns="0" bIns="0" rtlCol="0" anchor="ctr"/>
            <a:lstStyle/>
            <a:p>
              <a:pPr algn="l">
                <a:lnSpc>
                  <a:spcPts val="1620"/>
                </a:lnSpc>
              </a:pPr>
              <a:r>
                <a:rPr lang="en-US" sz="1350" b="1">
                  <a:solidFill>
                    <a:srgbClr val="FCFBF7"/>
                  </a:solidFill>
                  <a:latin typeface="Calibri"/>
                  <a:ea typeface="Calibri (MS) Bold"/>
                  <a:cs typeface="Calibri"/>
                  <a:sym typeface="Calibri (MS) Bold"/>
                </a:rPr>
                <a:t>Note</a:t>
              </a:r>
            </a:p>
          </p:txBody>
        </p:sp>
      </p:grpSp>
      <p:grpSp>
        <p:nvGrpSpPr>
          <p:cNvPr id="136" name="Group 136"/>
          <p:cNvGrpSpPr/>
          <p:nvPr/>
        </p:nvGrpSpPr>
        <p:grpSpPr>
          <a:xfrm>
            <a:off x="9395460" y="3168396"/>
            <a:ext cx="8161020" cy="493776"/>
            <a:chOff x="0" y="0"/>
            <a:chExt cx="10881360" cy="658368"/>
          </a:xfrm>
        </p:grpSpPr>
        <p:sp>
          <p:nvSpPr>
            <p:cNvPr id="137" name="Freeform 137"/>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138" name="Group 138"/>
          <p:cNvGrpSpPr/>
          <p:nvPr/>
        </p:nvGrpSpPr>
        <p:grpSpPr>
          <a:xfrm>
            <a:off x="9477756" y="3168396"/>
            <a:ext cx="1961388" cy="493776"/>
            <a:chOff x="0" y="0"/>
            <a:chExt cx="2615184" cy="658368"/>
          </a:xfrm>
        </p:grpSpPr>
        <p:sp>
          <p:nvSpPr>
            <p:cNvPr id="139" name="Freeform 139"/>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40" name="TextBox 140"/>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Total revenue</a:t>
              </a:r>
            </a:p>
          </p:txBody>
        </p:sp>
      </p:grpSp>
      <p:grpSp>
        <p:nvGrpSpPr>
          <p:cNvPr id="141" name="Group 141"/>
          <p:cNvGrpSpPr/>
          <p:nvPr/>
        </p:nvGrpSpPr>
        <p:grpSpPr>
          <a:xfrm>
            <a:off x="11603736" y="3168396"/>
            <a:ext cx="1138428" cy="493776"/>
            <a:chOff x="0" y="0"/>
            <a:chExt cx="1517904" cy="658368"/>
          </a:xfrm>
        </p:grpSpPr>
        <p:sp>
          <p:nvSpPr>
            <p:cNvPr id="142" name="Freeform 142"/>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43" name="TextBox 143"/>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13,597</a:t>
              </a:r>
            </a:p>
          </p:txBody>
        </p:sp>
      </p:grpSp>
      <p:grpSp>
        <p:nvGrpSpPr>
          <p:cNvPr id="144" name="Group 144"/>
          <p:cNvGrpSpPr/>
          <p:nvPr/>
        </p:nvGrpSpPr>
        <p:grpSpPr>
          <a:xfrm>
            <a:off x="12906756" y="3168396"/>
            <a:ext cx="1138428" cy="493776"/>
            <a:chOff x="0" y="0"/>
            <a:chExt cx="1517904" cy="658368"/>
          </a:xfrm>
        </p:grpSpPr>
        <p:sp>
          <p:nvSpPr>
            <p:cNvPr id="145" name="Freeform 145"/>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46" name="TextBox 146"/>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13,735</a:t>
              </a:r>
            </a:p>
          </p:txBody>
        </p:sp>
      </p:grpSp>
      <p:grpSp>
        <p:nvGrpSpPr>
          <p:cNvPr id="147" name="Group 147"/>
          <p:cNvGrpSpPr/>
          <p:nvPr/>
        </p:nvGrpSpPr>
        <p:grpSpPr>
          <a:xfrm>
            <a:off x="14209776" y="3168396"/>
            <a:ext cx="1069848" cy="493776"/>
            <a:chOff x="0" y="0"/>
            <a:chExt cx="1426464" cy="658368"/>
          </a:xfrm>
        </p:grpSpPr>
        <p:sp>
          <p:nvSpPr>
            <p:cNvPr id="148" name="Freeform 148"/>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149" name="TextBox 149"/>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−1.0%</a:t>
              </a:r>
            </a:p>
          </p:txBody>
        </p:sp>
      </p:grpSp>
      <p:grpSp>
        <p:nvGrpSpPr>
          <p:cNvPr id="150" name="Group 150"/>
          <p:cNvGrpSpPr/>
          <p:nvPr/>
        </p:nvGrpSpPr>
        <p:grpSpPr>
          <a:xfrm>
            <a:off x="9477756" y="3662172"/>
            <a:ext cx="1961388" cy="493776"/>
            <a:chOff x="0" y="0"/>
            <a:chExt cx="2615184" cy="658368"/>
          </a:xfrm>
        </p:grpSpPr>
        <p:sp>
          <p:nvSpPr>
            <p:cNvPr id="151" name="Freeform 151"/>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52" name="TextBox 152"/>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Internet revenue</a:t>
              </a:r>
            </a:p>
          </p:txBody>
        </p:sp>
      </p:grpSp>
      <p:grpSp>
        <p:nvGrpSpPr>
          <p:cNvPr id="153" name="Group 153"/>
          <p:cNvGrpSpPr/>
          <p:nvPr/>
        </p:nvGrpSpPr>
        <p:grpSpPr>
          <a:xfrm>
            <a:off x="11603736" y="3662172"/>
            <a:ext cx="1138428" cy="493776"/>
            <a:chOff x="0" y="0"/>
            <a:chExt cx="1517904" cy="658368"/>
          </a:xfrm>
        </p:grpSpPr>
        <p:sp>
          <p:nvSpPr>
            <p:cNvPr id="154" name="Freeform 154"/>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55" name="TextBox 155"/>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5,852</a:t>
              </a:r>
            </a:p>
          </p:txBody>
        </p:sp>
      </p:grpSp>
      <p:grpSp>
        <p:nvGrpSpPr>
          <p:cNvPr id="156" name="Group 156"/>
          <p:cNvGrpSpPr/>
          <p:nvPr/>
        </p:nvGrpSpPr>
        <p:grpSpPr>
          <a:xfrm>
            <a:off x="12906756" y="3662172"/>
            <a:ext cx="1138428" cy="493776"/>
            <a:chOff x="0" y="0"/>
            <a:chExt cx="1517904" cy="658368"/>
          </a:xfrm>
        </p:grpSpPr>
        <p:sp>
          <p:nvSpPr>
            <p:cNvPr id="157" name="Freeform 157"/>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58" name="TextBox 158"/>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5,930</a:t>
              </a:r>
            </a:p>
          </p:txBody>
        </p:sp>
      </p:grpSp>
      <p:grpSp>
        <p:nvGrpSpPr>
          <p:cNvPr id="159" name="Group 159"/>
          <p:cNvGrpSpPr/>
          <p:nvPr/>
        </p:nvGrpSpPr>
        <p:grpSpPr>
          <a:xfrm>
            <a:off x="14209776" y="3662172"/>
            <a:ext cx="1069848" cy="493776"/>
            <a:chOff x="0" y="0"/>
            <a:chExt cx="1426464" cy="658368"/>
          </a:xfrm>
        </p:grpSpPr>
        <p:sp>
          <p:nvSpPr>
            <p:cNvPr id="160" name="Freeform 160"/>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161" name="TextBox 161"/>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−1.3%</a:t>
              </a:r>
            </a:p>
          </p:txBody>
        </p:sp>
      </p:grpSp>
      <p:grpSp>
        <p:nvGrpSpPr>
          <p:cNvPr id="162" name="Group 162"/>
          <p:cNvGrpSpPr/>
          <p:nvPr/>
        </p:nvGrpSpPr>
        <p:grpSpPr>
          <a:xfrm>
            <a:off x="15444216" y="3662172"/>
            <a:ext cx="2029968" cy="493776"/>
            <a:chOff x="0" y="0"/>
            <a:chExt cx="2706624" cy="658368"/>
          </a:xfrm>
        </p:grpSpPr>
        <p:sp>
          <p:nvSpPr>
            <p:cNvPr id="163" name="Freeform 163"/>
            <p:cNvSpPr/>
            <p:nvPr/>
          </p:nvSpPr>
          <p:spPr>
            <a:xfrm>
              <a:off x="0" y="0"/>
              <a:ext cx="2706624" cy="658368"/>
            </a:xfrm>
            <a:custGeom>
              <a:avLst/>
              <a:gdLst/>
              <a:ahLst/>
              <a:cxnLst/>
              <a:rect l="l" t="t" r="r" b="b"/>
              <a:pathLst>
                <a:path w="2706624" h="658368">
                  <a:moveTo>
                    <a:pt x="0" y="0"/>
                  </a:moveTo>
                  <a:lnTo>
                    <a:pt x="2706624" y="0"/>
                  </a:lnTo>
                  <a:lnTo>
                    <a:pt x="2706624" y="658368"/>
                  </a:lnTo>
                  <a:lnTo>
                    <a:pt x="0" y="658368"/>
                  </a:lnTo>
                  <a:close/>
                </a:path>
              </a:pathLst>
            </a:custGeom>
            <a:blipFill>
              <a:blip r:embed="rId3">
                <a:alphaModFix amt="0"/>
              </a:blip>
              <a:stretch>
                <a:fillRect t="-30105" b="-30105"/>
              </a:stretch>
            </a:blipFill>
          </p:spPr>
          <p:txBody>
            <a:bodyPr/>
            <a:lstStyle/>
            <a:p>
              <a:endParaRPr lang="en-US"/>
            </a:p>
          </p:txBody>
        </p:sp>
        <p:sp>
          <p:nvSpPr>
            <p:cNvPr id="164" name="TextBox 164"/>
            <p:cNvSpPr txBox="1"/>
            <p:nvPr/>
          </p:nvSpPr>
          <p:spPr>
            <a:xfrm>
              <a:off x="0" y="-28575"/>
              <a:ext cx="270662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Revenue now falling</a:t>
              </a:r>
            </a:p>
          </p:txBody>
        </p:sp>
      </p:grpSp>
      <p:grpSp>
        <p:nvGrpSpPr>
          <p:cNvPr id="165" name="Group 165"/>
          <p:cNvGrpSpPr/>
          <p:nvPr/>
        </p:nvGrpSpPr>
        <p:grpSpPr>
          <a:xfrm>
            <a:off x="9395460" y="4155948"/>
            <a:ext cx="8161020" cy="493776"/>
            <a:chOff x="0" y="0"/>
            <a:chExt cx="10881360" cy="658368"/>
          </a:xfrm>
        </p:grpSpPr>
        <p:sp>
          <p:nvSpPr>
            <p:cNvPr id="166" name="Freeform 166"/>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167" name="Group 167"/>
          <p:cNvGrpSpPr/>
          <p:nvPr/>
        </p:nvGrpSpPr>
        <p:grpSpPr>
          <a:xfrm>
            <a:off x="9477756" y="4155948"/>
            <a:ext cx="1961388" cy="493776"/>
            <a:chOff x="0" y="0"/>
            <a:chExt cx="2615184" cy="658368"/>
          </a:xfrm>
        </p:grpSpPr>
        <p:sp>
          <p:nvSpPr>
            <p:cNvPr id="168" name="Freeform 168"/>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69" name="TextBox 169"/>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Mobile service</a:t>
              </a:r>
            </a:p>
          </p:txBody>
        </p:sp>
      </p:grpSp>
      <p:grpSp>
        <p:nvGrpSpPr>
          <p:cNvPr id="170" name="Group 170"/>
          <p:cNvGrpSpPr/>
          <p:nvPr/>
        </p:nvGrpSpPr>
        <p:grpSpPr>
          <a:xfrm>
            <a:off x="11603736" y="4155948"/>
            <a:ext cx="1138428" cy="493776"/>
            <a:chOff x="0" y="0"/>
            <a:chExt cx="1517904" cy="658368"/>
          </a:xfrm>
        </p:grpSpPr>
        <p:sp>
          <p:nvSpPr>
            <p:cNvPr id="171" name="Freeform 171"/>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72" name="TextBox 172"/>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1,052</a:t>
              </a:r>
            </a:p>
          </p:txBody>
        </p:sp>
      </p:grpSp>
      <p:grpSp>
        <p:nvGrpSpPr>
          <p:cNvPr id="173" name="Group 173"/>
          <p:cNvGrpSpPr/>
          <p:nvPr/>
        </p:nvGrpSpPr>
        <p:grpSpPr>
          <a:xfrm>
            <a:off x="12906756" y="4155948"/>
            <a:ext cx="1138428" cy="493776"/>
            <a:chOff x="0" y="0"/>
            <a:chExt cx="1517904" cy="658368"/>
          </a:xfrm>
        </p:grpSpPr>
        <p:sp>
          <p:nvSpPr>
            <p:cNvPr id="174" name="Freeform 174"/>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75" name="TextBox 175"/>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914</a:t>
              </a:r>
            </a:p>
          </p:txBody>
        </p:sp>
      </p:grpSp>
      <p:grpSp>
        <p:nvGrpSpPr>
          <p:cNvPr id="176" name="Group 176"/>
          <p:cNvGrpSpPr/>
          <p:nvPr/>
        </p:nvGrpSpPr>
        <p:grpSpPr>
          <a:xfrm>
            <a:off x="14209776" y="4155948"/>
            <a:ext cx="1069848" cy="493776"/>
            <a:chOff x="0" y="0"/>
            <a:chExt cx="1426464" cy="658368"/>
          </a:xfrm>
        </p:grpSpPr>
        <p:sp>
          <p:nvSpPr>
            <p:cNvPr id="177" name="Freeform 177"/>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178" name="TextBox 178"/>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+15.1%</a:t>
              </a:r>
            </a:p>
          </p:txBody>
        </p:sp>
      </p:grpSp>
      <p:grpSp>
        <p:nvGrpSpPr>
          <p:cNvPr id="179" name="Group 179"/>
          <p:cNvGrpSpPr/>
          <p:nvPr/>
        </p:nvGrpSpPr>
        <p:grpSpPr>
          <a:xfrm>
            <a:off x="9477756" y="4649724"/>
            <a:ext cx="1961388" cy="493776"/>
            <a:chOff x="0" y="0"/>
            <a:chExt cx="2615184" cy="658368"/>
          </a:xfrm>
        </p:grpSpPr>
        <p:sp>
          <p:nvSpPr>
            <p:cNvPr id="180" name="Freeform 180"/>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81" name="TextBox 181"/>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Video</a:t>
              </a:r>
            </a:p>
          </p:txBody>
        </p:sp>
      </p:grpSp>
      <p:grpSp>
        <p:nvGrpSpPr>
          <p:cNvPr id="182" name="Group 182"/>
          <p:cNvGrpSpPr/>
          <p:nvPr/>
        </p:nvGrpSpPr>
        <p:grpSpPr>
          <a:xfrm>
            <a:off x="11603736" y="4649724"/>
            <a:ext cx="1138428" cy="493776"/>
            <a:chOff x="0" y="0"/>
            <a:chExt cx="1517904" cy="658368"/>
          </a:xfrm>
        </p:grpSpPr>
        <p:sp>
          <p:nvSpPr>
            <p:cNvPr id="183" name="Freeform 183"/>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84" name="TextBox 184"/>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3,252</a:t>
              </a:r>
            </a:p>
          </p:txBody>
        </p:sp>
      </p:grpSp>
      <p:grpSp>
        <p:nvGrpSpPr>
          <p:cNvPr id="185" name="Group 185"/>
          <p:cNvGrpSpPr/>
          <p:nvPr/>
        </p:nvGrpSpPr>
        <p:grpSpPr>
          <a:xfrm>
            <a:off x="12906756" y="4649724"/>
            <a:ext cx="1138428" cy="493776"/>
            <a:chOff x="0" y="0"/>
            <a:chExt cx="1517904" cy="658368"/>
          </a:xfrm>
        </p:grpSpPr>
        <p:sp>
          <p:nvSpPr>
            <p:cNvPr id="186" name="Freeform 186"/>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87" name="TextBox 187"/>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3,580</a:t>
              </a:r>
            </a:p>
          </p:txBody>
        </p:sp>
      </p:grpSp>
      <p:grpSp>
        <p:nvGrpSpPr>
          <p:cNvPr id="188" name="Group 188"/>
          <p:cNvGrpSpPr/>
          <p:nvPr/>
        </p:nvGrpSpPr>
        <p:grpSpPr>
          <a:xfrm>
            <a:off x="14209776" y="4649724"/>
            <a:ext cx="1069848" cy="493776"/>
            <a:chOff x="0" y="0"/>
            <a:chExt cx="1426464" cy="658368"/>
          </a:xfrm>
        </p:grpSpPr>
        <p:sp>
          <p:nvSpPr>
            <p:cNvPr id="189" name="Freeform 189"/>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190" name="TextBox 190"/>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−9.2%</a:t>
              </a:r>
            </a:p>
          </p:txBody>
        </p:sp>
      </p:grpSp>
      <p:grpSp>
        <p:nvGrpSpPr>
          <p:cNvPr id="191" name="Group 191"/>
          <p:cNvGrpSpPr/>
          <p:nvPr/>
        </p:nvGrpSpPr>
        <p:grpSpPr>
          <a:xfrm>
            <a:off x="9395460" y="5143500"/>
            <a:ext cx="8161020" cy="493776"/>
            <a:chOff x="0" y="0"/>
            <a:chExt cx="10881360" cy="658368"/>
          </a:xfrm>
        </p:grpSpPr>
        <p:sp>
          <p:nvSpPr>
            <p:cNvPr id="192" name="Freeform 192"/>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193" name="Group 193"/>
          <p:cNvGrpSpPr/>
          <p:nvPr/>
        </p:nvGrpSpPr>
        <p:grpSpPr>
          <a:xfrm>
            <a:off x="9477756" y="5143500"/>
            <a:ext cx="1961388" cy="493776"/>
            <a:chOff x="0" y="0"/>
            <a:chExt cx="2615184" cy="658368"/>
          </a:xfrm>
        </p:grpSpPr>
        <p:sp>
          <p:nvSpPr>
            <p:cNvPr id="194" name="Freeform 194"/>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195" name="TextBox 195"/>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Adjusted EBITDA</a:t>
              </a:r>
            </a:p>
          </p:txBody>
        </p:sp>
      </p:grpSp>
      <p:grpSp>
        <p:nvGrpSpPr>
          <p:cNvPr id="196" name="Group 196"/>
          <p:cNvGrpSpPr/>
          <p:nvPr/>
        </p:nvGrpSpPr>
        <p:grpSpPr>
          <a:xfrm>
            <a:off x="11603736" y="5143500"/>
            <a:ext cx="1138428" cy="493776"/>
            <a:chOff x="0" y="0"/>
            <a:chExt cx="1517904" cy="658368"/>
          </a:xfrm>
        </p:grpSpPr>
        <p:sp>
          <p:nvSpPr>
            <p:cNvPr id="197" name="Freeform 197"/>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198" name="TextBox 198"/>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5,637</a:t>
              </a:r>
            </a:p>
          </p:txBody>
        </p:sp>
      </p:grpSp>
      <p:grpSp>
        <p:nvGrpSpPr>
          <p:cNvPr id="199" name="Group 199"/>
          <p:cNvGrpSpPr/>
          <p:nvPr/>
        </p:nvGrpSpPr>
        <p:grpSpPr>
          <a:xfrm>
            <a:off x="12906756" y="5143500"/>
            <a:ext cx="1138428" cy="493776"/>
            <a:chOff x="0" y="0"/>
            <a:chExt cx="1517904" cy="658368"/>
          </a:xfrm>
        </p:grpSpPr>
        <p:sp>
          <p:nvSpPr>
            <p:cNvPr id="200" name="Freeform 200"/>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201" name="TextBox 201"/>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5,763</a:t>
              </a:r>
            </a:p>
          </p:txBody>
        </p:sp>
      </p:grpSp>
      <p:grpSp>
        <p:nvGrpSpPr>
          <p:cNvPr id="202" name="Group 202"/>
          <p:cNvGrpSpPr/>
          <p:nvPr/>
        </p:nvGrpSpPr>
        <p:grpSpPr>
          <a:xfrm>
            <a:off x="14209776" y="5143500"/>
            <a:ext cx="1069848" cy="493776"/>
            <a:chOff x="0" y="0"/>
            <a:chExt cx="1426464" cy="658368"/>
          </a:xfrm>
        </p:grpSpPr>
        <p:sp>
          <p:nvSpPr>
            <p:cNvPr id="203" name="Freeform 203"/>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204" name="TextBox 204"/>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−2.2%</a:t>
              </a:r>
            </a:p>
          </p:txBody>
        </p:sp>
      </p:grpSp>
      <p:grpSp>
        <p:nvGrpSpPr>
          <p:cNvPr id="205" name="Group 205"/>
          <p:cNvGrpSpPr/>
          <p:nvPr/>
        </p:nvGrpSpPr>
        <p:grpSpPr>
          <a:xfrm>
            <a:off x="15444216" y="5143500"/>
            <a:ext cx="2029968" cy="493776"/>
            <a:chOff x="0" y="0"/>
            <a:chExt cx="2706624" cy="658368"/>
          </a:xfrm>
        </p:grpSpPr>
        <p:sp>
          <p:nvSpPr>
            <p:cNvPr id="206" name="Freeform 206"/>
            <p:cNvSpPr/>
            <p:nvPr/>
          </p:nvSpPr>
          <p:spPr>
            <a:xfrm>
              <a:off x="0" y="0"/>
              <a:ext cx="2706624" cy="658368"/>
            </a:xfrm>
            <a:custGeom>
              <a:avLst/>
              <a:gdLst/>
              <a:ahLst/>
              <a:cxnLst/>
              <a:rect l="l" t="t" r="r" b="b"/>
              <a:pathLst>
                <a:path w="2706624" h="658368">
                  <a:moveTo>
                    <a:pt x="0" y="0"/>
                  </a:moveTo>
                  <a:lnTo>
                    <a:pt x="2706624" y="0"/>
                  </a:lnTo>
                  <a:lnTo>
                    <a:pt x="2706624" y="658368"/>
                  </a:lnTo>
                  <a:lnTo>
                    <a:pt x="0" y="658368"/>
                  </a:lnTo>
                  <a:close/>
                </a:path>
              </a:pathLst>
            </a:custGeom>
            <a:blipFill>
              <a:blip r:embed="rId3">
                <a:alphaModFix amt="0"/>
              </a:blip>
              <a:stretch>
                <a:fillRect t="-30105" b="-30105"/>
              </a:stretch>
            </a:blipFill>
          </p:spPr>
          <p:txBody>
            <a:bodyPr/>
            <a:lstStyle/>
            <a:p>
              <a:endParaRPr lang="en-US"/>
            </a:p>
          </p:txBody>
        </p:sp>
        <p:sp>
          <p:nvSpPr>
            <p:cNvPr id="207" name="TextBox 207"/>
            <p:cNvSpPr txBox="1"/>
            <p:nvPr/>
          </p:nvSpPr>
          <p:spPr>
            <a:xfrm>
              <a:off x="0" y="-28575"/>
              <a:ext cx="270662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Reversal from flat</a:t>
              </a:r>
            </a:p>
          </p:txBody>
        </p:sp>
      </p:grpSp>
      <p:grpSp>
        <p:nvGrpSpPr>
          <p:cNvPr id="208" name="Group 208"/>
          <p:cNvGrpSpPr/>
          <p:nvPr/>
        </p:nvGrpSpPr>
        <p:grpSpPr>
          <a:xfrm>
            <a:off x="9477756" y="5637276"/>
            <a:ext cx="1961388" cy="493776"/>
            <a:chOff x="0" y="0"/>
            <a:chExt cx="2615184" cy="658368"/>
          </a:xfrm>
        </p:grpSpPr>
        <p:sp>
          <p:nvSpPr>
            <p:cNvPr id="209" name="Freeform 209"/>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210" name="TextBox 210"/>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Capex</a:t>
              </a:r>
            </a:p>
          </p:txBody>
        </p:sp>
      </p:grpSp>
      <p:grpSp>
        <p:nvGrpSpPr>
          <p:cNvPr id="211" name="Group 211"/>
          <p:cNvGrpSpPr/>
          <p:nvPr/>
        </p:nvGrpSpPr>
        <p:grpSpPr>
          <a:xfrm>
            <a:off x="11603736" y="5637276"/>
            <a:ext cx="1138428" cy="493776"/>
            <a:chOff x="0" y="0"/>
            <a:chExt cx="1517904" cy="658368"/>
          </a:xfrm>
        </p:grpSpPr>
        <p:sp>
          <p:nvSpPr>
            <p:cNvPr id="212" name="Freeform 212"/>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213" name="TextBox 213"/>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2,855</a:t>
              </a:r>
            </a:p>
          </p:txBody>
        </p:sp>
      </p:grpSp>
      <p:grpSp>
        <p:nvGrpSpPr>
          <p:cNvPr id="214" name="Group 214"/>
          <p:cNvGrpSpPr/>
          <p:nvPr/>
        </p:nvGrpSpPr>
        <p:grpSpPr>
          <a:xfrm>
            <a:off x="12906756" y="5637276"/>
            <a:ext cx="1138428" cy="493776"/>
            <a:chOff x="0" y="0"/>
            <a:chExt cx="1517904" cy="658368"/>
          </a:xfrm>
        </p:grpSpPr>
        <p:sp>
          <p:nvSpPr>
            <p:cNvPr id="215" name="Freeform 215"/>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216" name="TextBox 216"/>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2,399</a:t>
              </a:r>
            </a:p>
          </p:txBody>
        </p:sp>
      </p:grpSp>
      <p:grpSp>
        <p:nvGrpSpPr>
          <p:cNvPr id="217" name="Group 217"/>
          <p:cNvGrpSpPr/>
          <p:nvPr/>
        </p:nvGrpSpPr>
        <p:grpSpPr>
          <a:xfrm>
            <a:off x="14209776" y="5637276"/>
            <a:ext cx="1069848" cy="493776"/>
            <a:chOff x="0" y="0"/>
            <a:chExt cx="1426464" cy="658368"/>
          </a:xfrm>
        </p:grpSpPr>
        <p:sp>
          <p:nvSpPr>
            <p:cNvPr id="218" name="Freeform 218"/>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219" name="TextBox 219"/>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+19%</a:t>
              </a:r>
            </a:p>
          </p:txBody>
        </p:sp>
      </p:grpSp>
      <p:grpSp>
        <p:nvGrpSpPr>
          <p:cNvPr id="220" name="Group 220"/>
          <p:cNvGrpSpPr/>
          <p:nvPr/>
        </p:nvGrpSpPr>
        <p:grpSpPr>
          <a:xfrm>
            <a:off x="15444216" y="5637276"/>
            <a:ext cx="2029968" cy="493776"/>
            <a:chOff x="0" y="0"/>
            <a:chExt cx="2706624" cy="658368"/>
          </a:xfrm>
        </p:grpSpPr>
        <p:sp>
          <p:nvSpPr>
            <p:cNvPr id="221" name="Freeform 221"/>
            <p:cNvSpPr/>
            <p:nvPr/>
          </p:nvSpPr>
          <p:spPr>
            <a:xfrm>
              <a:off x="0" y="0"/>
              <a:ext cx="2706624" cy="658368"/>
            </a:xfrm>
            <a:custGeom>
              <a:avLst/>
              <a:gdLst/>
              <a:ahLst/>
              <a:cxnLst/>
              <a:rect l="l" t="t" r="r" b="b"/>
              <a:pathLst>
                <a:path w="2706624" h="658368">
                  <a:moveTo>
                    <a:pt x="0" y="0"/>
                  </a:moveTo>
                  <a:lnTo>
                    <a:pt x="2706624" y="0"/>
                  </a:lnTo>
                  <a:lnTo>
                    <a:pt x="2706624" y="658368"/>
                  </a:lnTo>
                  <a:lnTo>
                    <a:pt x="0" y="658368"/>
                  </a:lnTo>
                  <a:close/>
                </a:path>
              </a:pathLst>
            </a:custGeom>
            <a:blipFill>
              <a:blip r:embed="rId3">
                <a:alphaModFix amt="0"/>
              </a:blip>
              <a:stretch>
                <a:fillRect t="-30105" b="-30105"/>
              </a:stretch>
            </a:blipFill>
          </p:spPr>
          <p:txBody>
            <a:bodyPr/>
            <a:lstStyle/>
            <a:p>
              <a:endParaRPr lang="en-US"/>
            </a:p>
          </p:txBody>
        </p:sp>
        <p:sp>
          <p:nvSpPr>
            <p:cNvPr id="222" name="TextBox 222"/>
            <p:cNvSpPr txBox="1"/>
            <p:nvPr/>
          </p:nvSpPr>
          <p:spPr>
            <a:xfrm>
              <a:off x="0" y="-28575"/>
              <a:ext cx="270662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CPE +41%; upgrade +71%</a:t>
              </a:r>
            </a:p>
          </p:txBody>
        </p:sp>
      </p:grpSp>
      <p:grpSp>
        <p:nvGrpSpPr>
          <p:cNvPr id="223" name="Group 223"/>
          <p:cNvGrpSpPr/>
          <p:nvPr/>
        </p:nvGrpSpPr>
        <p:grpSpPr>
          <a:xfrm>
            <a:off x="9395460" y="6131052"/>
            <a:ext cx="8161020" cy="493776"/>
            <a:chOff x="0" y="0"/>
            <a:chExt cx="10881360" cy="658368"/>
          </a:xfrm>
        </p:grpSpPr>
        <p:sp>
          <p:nvSpPr>
            <p:cNvPr id="224" name="Freeform 224"/>
            <p:cNvSpPr/>
            <p:nvPr/>
          </p:nvSpPr>
          <p:spPr>
            <a:xfrm>
              <a:off x="0" y="0"/>
              <a:ext cx="10881360" cy="658368"/>
            </a:xfrm>
            <a:custGeom>
              <a:avLst/>
              <a:gdLst/>
              <a:ahLst/>
              <a:cxnLst/>
              <a:rect l="l" t="t" r="r" b="b"/>
              <a:pathLst>
                <a:path w="10881360" h="658368">
                  <a:moveTo>
                    <a:pt x="0" y="0"/>
                  </a:moveTo>
                  <a:lnTo>
                    <a:pt x="10881360" y="0"/>
                  </a:lnTo>
                  <a:lnTo>
                    <a:pt x="10881360" y="658368"/>
                  </a:lnTo>
                  <a:lnTo>
                    <a:pt x="0" y="658368"/>
                  </a:lnTo>
                  <a:close/>
                </a:path>
              </a:pathLst>
            </a:custGeom>
            <a:solidFill>
              <a:srgbClr val="EEF4FB"/>
            </a:solidFill>
          </p:spPr>
          <p:txBody>
            <a:bodyPr/>
            <a:lstStyle/>
            <a:p>
              <a:endParaRPr lang="en-US"/>
            </a:p>
          </p:txBody>
        </p:sp>
      </p:grpSp>
      <p:grpSp>
        <p:nvGrpSpPr>
          <p:cNvPr id="225" name="Group 225"/>
          <p:cNvGrpSpPr/>
          <p:nvPr/>
        </p:nvGrpSpPr>
        <p:grpSpPr>
          <a:xfrm>
            <a:off x="9477756" y="6131052"/>
            <a:ext cx="1961388" cy="493776"/>
            <a:chOff x="0" y="0"/>
            <a:chExt cx="2615184" cy="658368"/>
          </a:xfrm>
        </p:grpSpPr>
        <p:sp>
          <p:nvSpPr>
            <p:cNvPr id="226" name="Freeform 226"/>
            <p:cNvSpPr/>
            <p:nvPr/>
          </p:nvSpPr>
          <p:spPr>
            <a:xfrm>
              <a:off x="0" y="0"/>
              <a:ext cx="2615184" cy="658368"/>
            </a:xfrm>
            <a:custGeom>
              <a:avLst/>
              <a:gdLst/>
              <a:ahLst/>
              <a:cxnLst/>
              <a:rect l="l" t="t" r="r" b="b"/>
              <a:pathLst>
                <a:path w="2615184" h="658368">
                  <a:moveTo>
                    <a:pt x="0" y="0"/>
                  </a:moveTo>
                  <a:lnTo>
                    <a:pt x="2615184" y="0"/>
                  </a:lnTo>
                  <a:lnTo>
                    <a:pt x="2615184" y="658368"/>
                  </a:lnTo>
                  <a:lnTo>
                    <a:pt x="0" y="658368"/>
                  </a:lnTo>
                  <a:close/>
                </a:path>
              </a:pathLst>
            </a:custGeom>
            <a:blipFill>
              <a:blip r:embed="rId3">
                <a:alphaModFix amt="0"/>
              </a:blip>
              <a:stretch>
                <a:fillRect t="-27398" b="-27398"/>
              </a:stretch>
            </a:blipFill>
          </p:spPr>
          <p:txBody>
            <a:bodyPr/>
            <a:lstStyle/>
            <a:p>
              <a:endParaRPr lang="en-US"/>
            </a:p>
          </p:txBody>
        </p:sp>
        <p:sp>
          <p:nvSpPr>
            <p:cNvPr id="227" name="TextBox 227"/>
            <p:cNvSpPr txBox="1"/>
            <p:nvPr/>
          </p:nvSpPr>
          <p:spPr>
            <a:xfrm>
              <a:off x="0" y="-28575"/>
              <a:ext cx="2615184" cy="686943"/>
            </a:xfrm>
            <a:prstGeom prst="rect">
              <a:avLst/>
            </a:prstGeom>
          </p:spPr>
          <p:txBody>
            <a:bodyPr lIns="0" tIns="0" rIns="0" bIns="0" rtlCol="0" anchor="ctr"/>
            <a:lstStyle/>
            <a:p>
              <a:pPr algn="l">
                <a:lnSpc>
                  <a:spcPts val="1620"/>
                </a:lnSpc>
              </a:pPr>
              <a:r>
                <a:rPr lang="en-US" sz="1350" b="1">
                  <a:solidFill>
                    <a:srgbClr val="171A1F"/>
                  </a:solidFill>
                  <a:latin typeface="Calibri"/>
                  <a:ea typeface="Calibri (MS) Bold"/>
                  <a:cs typeface="Calibri"/>
                  <a:sym typeface="Calibri (MS) Bold"/>
                </a:rPr>
                <a:t>Free cash flow</a:t>
              </a:r>
            </a:p>
          </p:txBody>
        </p:sp>
      </p:grpSp>
      <p:grpSp>
        <p:nvGrpSpPr>
          <p:cNvPr id="228" name="Group 228"/>
          <p:cNvGrpSpPr/>
          <p:nvPr/>
        </p:nvGrpSpPr>
        <p:grpSpPr>
          <a:xfrm>
            <a:off x="11603736" y="6131052"/>
            <a:ext cx="1138428" cy="493776"/>
            <a:chOff x="0" y="0"/>
            <a:chExt cx="1517904" cy="658368"/>
          </a:xfrm>
        </p:grpSpPr>
        <p:sp>
          <p:nvSpPr>
            <p:cNvPr id="229" name="Freeform 229"/>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230" name="TextBox 230"/>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1,372</a:t>
              </a:r>
            </a:p>
          </p:txBody>
        </p:sp>
      </p:grpSp>
      <p:grpSp>
        <p:nvGrpSpPr>
          <p:cNvPr id="231" name="Group 231"/>
          <p:cNvGrpSpPr/>
          <p:nvPr/>
        </p:nvGrpSpPr>
        <p:grpSpPr>
          <a:xfrm>
            <a:off x="12906756" y="6131052"/>
            <a:ext cx="1138428" cy="493776"/>
            <a:chOff x="0" y="0"/>
            <a:chExt cx="1517904" cy="658368"/>
          </a:xfrm>
        </p:grpSpPr>
        <p:sp>
          <p:nvSpPr>
            <p:cNvPr id="232" name="Freeform 232"/>
            <p:cNvSpPr/>
            <p:nvPr/>
          </p:nvSpPr>
          <p:spPr>
            <a:xfrm>
              <a:off x="0" y="0"/>
              <a:ext cx="1517904" cy="658368"/>
            </a:xfrm>
            <a:custGeom>
              <a:avLst/>
              <a:gdLst/>
              <a:ahLst/>
              <a:cxnLst/>
              <a:rect l="l" t="t" r="r" b="b"/>
              <a:pathLst>
                <a:path w="1517904" h="658368">
                  <a:moveTo>
                    <a:pt x="0" y="0"/>
                  </a:moveTo>
                  <a:lnTo>
                    <a:pt x="1517904" y="0"/>
                  </a:lnTo>
                  <a:lnTo>
                    <a:pt x="1517904" y="658368"/>
                  </a:lnTo>
                  <a:lnTo>
                    <a:pt x="0" y="658368"/>
                  </a:lnTo>
                  <a:close/>
                </a:path>
              </a:pathLst>
            </a:custGeom>
            <a:blipFill>
              <a:blip r:embed="rId3">
                <a:alphaModFix amt="0"/>
              </a:blip>
              <a:stretch>
                <a:fillRect l="-5649" r="-5649"/>
              </a:stretch>
            </a:blipFill>
          </p:spPr>
          <p:txBody>
            <a:bodyPr/>
            <a:lstStyle/>
            <a:p>
              <a:endParaRPr lang="en-US"/>
            </a:p>
          </p:txBody>
        </p:sp>
        <p:sp>
          <p:nvSpPr>
            <p:cNvPr id="233" name="TextBox 233"/>
            <p:cNvSpPr txBox="1"/>
            <p:nvPr/>
          </p:nvSpPr>
          <p:spPr>
            <a:xfrm>
              <a:off x="0" y="-28575"/>
              <a:ext cx="151790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1,564</a:t>
              </a:r>
            </a:p>
          </p:txBody>
        </p:sp>
      </p:grpSp>
      <p:grpSp>
        <p:nvGrpSpPr>
          <p:cNvPr id="234" name="Group 234"/>
          <p:cNvGrpSpPr/>
          <p:nvPr/>
        </p:nvGrpSpPr>
        <p:grpSpPr>
          <a:xfrm>
            <a:off x="14209776" y="6131052"/>
            <a:ext cx="1069848" cy="493776"/>
            <a:chOff x="0" y="0"/>
            <a:chExt cx="1426464" cy="658368"/>
          </a:xfrm>
        </p:grpSpPr>
        <p:sp>
          <p:nvSpPr>
            <p:cNvPr id="235" name="Freeform 235"/>
            <p:cNvSpPr/>
            <p:nvPr/>
          </p:nvSpPr>
          <p:spPr>
            <a:xfrm>
              <a:off x="0" y="0"/>
              <a:ext cx="1426464" cy="658368"/>
            </a:xfrm>
            <a:custGeom>
              <a:avLst/>
              <a:gdLst/>
              <a:ahLst/>
              <a:cxnLst/>
              <a:rect l="l" t="t" r="r" b="b"/>
              <a:pathLst>
                <a:path w="1426464" h="658368">
                  <a:moveTo>
                    <a:pt x="0" y="0"/>
                  </a:moveTo>
                  <a:lnTo>
                    <a:pt x="1426464" y="0"/>
                  </a:lnTo>
                  <a:lnTo>
                    <a:pt x="1426464" y="658368"/>
                  </a:lnTo>
                  <a:lnTo>
                    <a:pt x="0" y="658368"/>
                  </a:lnTo>
                  <a:close/>
                </a:path>
              </a:pathLst>
            </a:custGeom>
            <a:blipFill>
              <a:blip r:embed="rId3">
                <a:alphaModFix amt="0"/>
              </a:blip>
              <a:stretch>
                <a:fillRect l="-9217" r="-9217"/>
              </a:stretch>
            </a:blipFill>
          </p:spPr>
          <p:txBody>
            <a:bodyPr/>
            <a:lstStyle/>
            <a:p>
              <a:endParaRPr lang="en-US"/>
            </a:p>
          </p:txBody>
        </p:sp>
        <p:sp>
          <p:nvSpPr>
            <p:cNvPr id="236" name="TextBox 236"/>
            <p:cNvSpPr txBox="1"/>
            <p:nvPr/>
          </p:nvSpPr>
          <p:spPr>
            <a:xfrm>
              <a:off x="0" y="-28575"/>
              <a:ext cx="1426464" cy="686943"/>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−12%</a:t>
              </a:r>
            </a:p>
          </p:txBody>
        </p:sp>
      </p:grpSp>
      <p:grpSp>
        <p:nvGrpSpPr>
          <p:cNvPr id="237" name="Group 237"/>
          <p:cNvGrpSpPr/>
          <p:nvPr/>
        </p:nvGrpSpPr>
        <p:grpSpPr>
          <a:xfrm>
            <a:off x="744855" y="6848475"/>
            <a:ext cx="16821150" cy="1939290"/>
            <a:chOff x="0" y="0"/>
            <a:chExt cx="22428200" cy="2585720"/>
          </a:xfrm>
        </p:grpSpPr>
        <p:sp>
          <p:nvSpPr>
            <p:cNvPr id="238" name="Freeform 238"/>
            <p:cNvSpPr/>
            <p:nvPr/>
          </p:nvSpPr>
          <p:spPr>
            <a:xfrm>
              <a:off x="0" y="0"/>
              <a:ext cx="22428200" cy="2585720"/>
            </a:xfrm>
            <a:custGeom>
              <a:avLst/>
              <a:gdLst/>
              <a:ahLst/>
              <a:cxnLst/>
              <a:rect l="l" t="t" r="r" b="b"/>
              <a:pathLst>
                <a:path w="22428200" h="2585720">
                  <a:moveTo>
                    <a:pt x="0" y="147701"/>
                  </a:moveTo>
                  <a:cubicBezTo>
                    <a:pt x="0" y="66167"/>
                    <a:pt x="66167" y="0"/>
                    <a:pt x="147701" y="0"/>
                  </a:cubicBezTo>
                  <a:lnTo>
                    <a:pt x="22280499" y="0"/>
                  </a:lnTo>
                  <a:cubicBezTo>
                    <a:pt x="22362161" y="0"/>
                    <a:pt x="22428200" y="66167"/>
                    <a:pt x="22428200" y="147701"/>
                  </a:cubicBezTo>
                  <a:lnTo>
                    <a:pt x="22428200" y="2438019"/>
                  </a:lnTo>
                  <a:cubicBezTo>
                    <a:pt x="22428200" y="2519680"/>
                    <a:pt x="22362033" y="2585720"/>
                    <a:pt x="22280499" y="2585720"/>
                  </a:cubicBezTo>
                  <a:lnTo>
                    <a:pt x="147701" y="2585720"/>
                  </a:lnTo>
                  <a:cubicBezTo>
                    <a:pt x="66167" y="2585720"/>
                    <a:pt x="0" y="2519553"/>
                    <a:pt x="0" y="2438019"/>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39" name="Group 239"/>
          <p:cNvGrpSpPr/>
          <p:nvPr/>
        </p:nvGrpSpPr>
        <p:grpSpPr>
          <a:xfrm>
            <a:off x="1165860" y="6995160"/>
            <a:ext cx="16047720" cy="1645920"/>
            <a:chOff x="0" y="0"/>
            <a:chExt cx="21396960" cy="2194560"/>
          </a:xfrm>
        </p:grpSpPr>
        <p:sp>
          <p:nvSpPr>
            <p:cNvPr id="240" name="Freeform 240"/>
            <p:cNvSpPr/>
            <p:nvPr/>
          </p:nvSpPr>
          <p:spPr>
            <a:xfrm>
              <a:off x="0" y="0"/>
              <a:ext cx="21396961" cy="2194560"/>
            </a:xfrm>
            <a:custGeom>
              <a:avLst/>
              <a:gdLst/>
              <a:ahLst/>
              <a:cxnLst/>
              <a:rect l="l" t="t" r="r" b="b"/>
              <a:pathLst>
                <a:path w="21396961" h="2194560">
                  <a:moveTo>
                    <a:pt x="0" y="0"/>
                  </a:moveTo>
                  <a:lnTo>
                    <a:pt x="21396961" y="0"/>
                  </a:lnTo>
                  <a:lnTo>
                    <a:pt x="21396961" y="2194560"/>
                  </a:lnTo>
                  <a:lnTo>
                    <a:pt x="0" y="2194560"/>
                  </a:lnTo>
                  <a:close/>
                </a:path>
              </a:pathLst>
            </a:custGeom>
            <a:blipFill>
              <a:blip r:embed="rId3">
                <a:alphaModFix amt="0"/>
              </a:blip>
              <a:stretch>
                <a:fillRect t="-139979" b="-139979"/>
              </a:stretch>
            </a:blipFill>
          </p:spPr>
          <p:txBody>
            <a:bodyPr/>
            <a:lstStyle/>
            <a:p>
              <a:endParaRPr lang="en-US"/>
            </a:p>
          </p:txBody>
        </p:sp>
        <p:sp>
          <p:nvSpPr>
            <p:cNvPr id="241" name="TextBox 241"/>
            <p:cNvSpPr txBox="1"/>
            <p:nvPr/>
          </p:nvSpPr>
          <p:spPr>
            <a:xfrm>
              <a:off x="0" y="-19050"/>
              <a:ext cx="21396960" cy="2213610"/>
            </a:xfrm>
            <a:prstGeom prst="rect">
              <a:avLst/>
            </a:prstGeom>
          </p:spPr>
          <p:txBody>
            <a:bodyPr lIns="0" tIns="0" rIns="0" bIns="0" rtlCol="0" anchor="ctr"/>
            <a:lstStyle/>
            <a:p>
              <a:pPr algn="l">
                <a:lnSpc>
                  <a:spcPts val="1889"/>
                </a:lnSpc>
              </a:pPr>
              <a:r>
                <a:rPr lang="en-US" sz="1575" b="1">
                  <a:solidFill>
                    <a:srgbClr val="0B1F3A"/>
                  </a:solidFill>
                  <a:latin typeface="Calibri"/>
                  <a:ea typeface="Calibri (MS) Bold"/>
                  <a:cs typeface="Calibri"/>
                  <a:sym typeface="Calibri (MS) Bold"/>
                </a:rPr>
                <a:t>Bottom line of the quarter: </a:t>
              </a:r>
              <a:r>
                <a:rPr lang="en-US" sz="1575">
                  <a:solidFill>
                    <a:srgbClr val="5B6672"/>
                  </a:solidFill>
                  <a:latin typeface="Calibri"/>
                  <a:ea typeface="Calibri (MS)"/>
                  <a:cs typeface="Calibri"/>
                  <a:sym typeface="Calibri (MS)"/>
                </a:rPr>
                <a:t>the profit engine kept shrinking, EBITDA turned negative YoY, capex and FCF moved the wrong way, even as mobile grew and video/voice losses moderated. Leverage 4.15x; ~4.3M shares / ~$1.0B repurchased in the quarter. Management: competitive environment “continued to challenge Internet customer growth”; principal competitors FWA and fiber overbuilders; housing slowdown = fewer moves.</a:t>
              </a:r>
            </a:p>
          </p:txBody>
        </p:sp>
      </p:grpSp>
      <p:grpSp>
        <p:nvGrpSpPr>
          <p:cNvPr id="242" name="Group 242"/>
          <p:cNvGrpSpPr/>
          <p:nvPr/>
        </p:nvGrpSpPr>
        <p:grpSpPr>
          <a:xfrm>
            <a:off x="754380" y="8805672"/>
            <a:ext cx="16733520" cy="356616"/>
            <a:chOff x="0" y="0"/>
            <a:chExt cx="22311360" cy="475488"/>
          </a:xfrm>
        </p:grpSpPr>
        <p:sp>
          <p:nvSpPr>
            <p:cNvPr id="243" name="Freeform 243"/>
            <p:cNvSpPr/>
            <p:nvPr/>
          </p:nvSpPr>
          <p:spPr>
            <a:xfrm>
              <a:off x="0" y="0"/>
              <a:ext cx="22311361" cy="475488"/>
            </a:xfrm>
            <a:custGeom>
              <a:avLst/>
              <a:gdLst/>
              <a:ahLst/>
              <a:cxnLst/>
              <a:rect l="l" t="t" r="r" b="b"/>
              <a:pathLst>
                <a:path w="22311361" h="475488">
                  <a:moveTo>
                    <a:pt x="0" y="0"/>
                  </a:moveTo>
                  <a:lnTo>
                    <a:pt x="22311361" y="0"/>
                  </a:lnTo>
                  <a:lnTo>
                    <a:pt x="22311361" y="475488"/>
                  </a:lnTo>
                  <a:lnTo>
                    <a:pt x="0" y="475488"/>
                  </a:lnTo>
                  <a:close/>
                </a:path>
              </a:pathLst>
            </a:custGeom>
            <a:blipFill>
              <a:blip r:embed="rId3">
                <a:alphaModFix amt="0"/>
              </a:blip>
              <a:stretch>
                <a:fillRect t="-864297" b="-864297"/>
              </a:stretch>
            </a:blipFill>
          </p:spPr>
          <p:txBody>
            <a:bodyPr/>
            <a:lstStyle/>
            <a:p>
              <a:endParaRPr lang="en-US"/>
            </a:p>
          </p:txBody>
        </p:sp>
        <p:sp>
          <p:nvSpPr>
            <p:cNvPr id="244" name="TextBox 244"/>
            <p:cNvSpPr txBox="1"/>
            <p:nvPr/>
          </p:nvSpPr>
          <p:spPr>
            <a:xfrm>
              <a:off x="0" y="-28575"/>
              <a:ext cx="22311360" cy="504063"/>
            </a:xfrm>
            <a:prstGeom prst="rect">
              <a:avLst/>
            </a:prstGeom>
          </p:spPr>
          <p:txBody>
            <a:bodyPr lIns="0" tIns="0" rIns="0" bIns="0" rtlCol="0" anchor="ctr"/>
            <a:lstStyle/>
            <a:p>
              <a:pPr algn="l">
                <a:lnSpc>
                  <a:spcPts val="1530"/>
                </a:lnSpc>
              </a:pPr>
              <a:r>
                <a:rPr lang="en-US" sz="1275" i="1">
                  <a:solidFill>
                    <a:srgbClr val="66717D"/>
                  </a:solidFill>
                  <a:latin typeface="Calibri"/>
                  <a:ea typeface="Calibri (MS) Italics"/>
                  <a:cs typeface="Calibri"/>
                  <a:sym typeface="Calibri (MS) Italics"/>
                </a:rPr>
                <a:t>Source: Q1 2026 10-Q (filed Apr 24, 2026) and Ex99.1 earnings release.</a:t>
              </a:r>
            </a:p>
          </p:txBody>
        </p:sp>
      </p:grpSp>
      <p:grpSp>
        <p:nvGrpSpPr>
          <p:cNvPr id="245" name="Group 245"/>
          <p:cNvGrpSpPr/>
          <p:nvPr/>
        </p:nvGrpSpPr>
        <p:grpSpPr>
          <a:xfrm>
            <a:off x="754380" y="9189720"/>
            <a:ext cx="16733520" cy="411480"/>
            <a:chOff x="0" y="0"/>
            <a:chExt cx="22311360" cy="548640"/>
          </a:xfrm>
        </p:grpSpPr>
        <p:sp>
          <p:nvSpPr>
            <p:cNvPr id="246" name="Freeform 24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247" name="TextBox 24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248" name="Group 248"/>
          <p:cNvGrpSpPr/>
          <p:nvPr/>
        </p:nvGrpSpPr>
        <p:grpSpPr>
          <a:xfrm>
            <a:off x="17076420" y="9669780"/>
            <a:ext cx="960120" cy="411480"/>
            <a:chOff x="0" y="0"/>
            <a:chExt cx="1280160" cy="548640"/>
          </a:xfrm>
        </p:grpSpPr>
        <p:sp>
          <p:nvSpPr>
            <p:cNvPr id="249" name="Freeform 24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250" name="TextBox 25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38</a:t>
              </a:r>
            </a:p>
          </p:txBody>
        </p:sp>
      </p:grpSp>
      <p:grpSp>
        <p:nvGrpSpPr>
          <p:cNvPr id="251" name="Group 251"/>
          <p:cNvGrpSpPr/>
          <p:nvPr/>
        </p:nvGrpSpPr>
        <p:grpSpPr>
          <a:xfrm>
            <a:off x="754380" y="9669780"/>
            <a:ext cx="16047720" cy="411480"/>
            <a:chOff x="0" y="0"/>
            <a:chExt cx="21396960" cy="548640"/>
          </a:xfrm>
        </p:grpSpPr>
        <p:sp>
          <p:nvSpPr>
            <p:cNvPr id="252" name="Freeform 25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253" name="TextBox 25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A28  ·  SOURCES AND DATA PROVENANCE</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Every Figure Traces to a Dated Filing or Is Labeled Analysis</a:t>
            </a:r>
          </a:p>
        </p:txBody>
      </p:sp>
      <p:grpSp>
        <p:nvGrpSpPr>
          <p:cNvPr id="6" name="Group 6"/>
          <p:cNvGrpSpPr/>
          <p:nvPr/>
        </p:nvGrpSpPr>
        <p:grpSpPr>
          <a:xfrm>
            <a:off x="754380" y="2537460"/>
            <a:ext cx="16802100" cy="480060"/>
            <a:chOff x="0" y="0"/>
            <a:chExt cx="22402800" cy="640080"/>
          </a:xfrm>
        </p:grpSpPr>
        <p:sp>
          <p:nvSpPr>
            <p:cNvPr id="7" name="Freeform 7"/>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003057"/>
            </a:solidFill>
          </p:spPr>
          <p:txBody>
            <a:bodyPr/>
            <a:lstStyle/>
            <a:p>
              <a:endParaRPr lang="en-US"/>
            </a:p>
          </p:txBody>
        </p:sp>
      </p:grpSp>
      <p:grpSp>
        <p:nvGrpSpPr>
          <p:cNvPr id="8" name="Group 8"/>
          <p:cNvGrpSpPr/>
          <p:nvPr/>
        </p:nvGrpSpPr>
        <p:grpSpPr>
          <a:xfrm>
            <a:off x="864108" y="2537460"/>
            <a:ext cx="6089904" cy="480060"/>
            <a:chOff x="0" y="0"/>
            <a:chExt cx="8119872" cy="640080"/>
          </a:xfrm>
        </p:grpSpPr>
        <p:sp>
          <p:nvSpPr>
            <p:cNvPr id="9" name="Freeform 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10" name="TextBox 10"/>
            <p:cNvSpPr txBox="1"/>
            <p:nvPr/>
          </p:nvSpPr>
          <p:spPr>
            <a:xfrm>
              <a:off x="0" y="-38100"/>
              <a:ext cx="8119872" cy="678180"/>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Source</a:t>
              </a:r>
            </a:p>
          </p:txBody>
        </p:sp>
      </p:grpSp>
      <p:grpSp>
        <p:nvGrpSpPr>
          <p:cNvPr id="11" name="Group 11"/>
          <p:cNvGrpSpPr/>
          <p:nvPr/>
        </p:nvGrpSpPr>
        <p:grpSpPr>
          <a:xfrm>
            <a:off x="7173468" y="2537460"/>
            <a:ext cx="7461504" cy="480060"/>
            <a:chOff x="0" y="0"/>
            <a:chExt cx="9948672" cy="640080"/>
          </a:xfrm>
        </p:grpSpPr>
        <p:sp>
          <p:nvSpPr>
            <p:cNvPr id="12" name="Freeform 1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13" name="TextBox 13"/>
            <p:cNvSpPr txBox="1"/>
            <p:nvPr/>
          </p:nvSpPr>
          <p:spPr>
            <a:xfrm>
              <a:off x="0" y="-38100"/>
              <a:ext cx="9948672" cy="678180"/>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What it backs</a:t>
              </a:r>
            </a:p>
          </p:txBody>
        </p:sp>
      </p:grpSp>
      <p:grpSp>
        <p:nvGrpSpPr>
          <p:cNvPr id="14" name="Group 14"/>
          <p:cNvGrpSpPr/>
          <p:nvPr/>
        </p:nvGrpSpPr>
        <p:grpSpPr>
          <a:xfrm>
            <a:off x="14854428" y="2537460"/>
            <a:ext cx="2592324" cy="480060"/>
            <a:chOff x="0" y="0"/>
            <a:chExt cx="3456432" cy="640080"/>
          </a:xfrm>
        </p:grpSpPr>
        <p:sp>
          <p:nvSpPr>
            <p:cNvPr id="15" name="Freeform 1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16" name="TextBox 16"/>
            <p:cNvSpPr txBox="1"/>
            <p:nvPr/>
          </p:nvSpPr>
          <p:spPr>
            <a:xfrm>
              <a:off x="0" y="-38100"/>
              <a:ext cx="3456432" cy="678180"/>
            </a:xfrm>
            <a:prstGeom prst="rect">
              <a:avLst/>
            </a:prstGeom>
          </p:spPr>
          <p:txBody>
            <a:bodyPr lIns="0" tIns="0" rIns="0" bIns="0" rtlCol="0" anchor="ctr"/>
            <a:lstStyle/>
            <a:p>
              <a:pPr algn="l">
                <a:lnSpc>
                  <a:spcPts val="1800"/>
                </a:lnSpc>
              </a:pPr>
              <a:r>
                <a:rPr lang="en-US" sz="1500" b="1">
                  <a:solidFill>
                    <a:srgbClr val="FCFBF7"/>
                  </a:solidFill>
                  <a:latin typeface="Calibri"/>
                  <a:ea typeface="Calibri (MS) Bold"/>
                  <a:cs typeface="Calibri"/>
                  <a:sym typeface="Calibri (MS) Bold"/>
                </a:rPr>
                <a:t>Dated</a:t>
              </a:r>
            </a:p>
          </p:txBody>
        </p:sp>
      </p:grpSp>
      <p:grpSp>
        <p:nvGrpSpPr>
          <p:cNvPr id="17" name="Group 17"/>
          <p:cNvGrpSpPr/>
          <p:nvPr/>
        </p:nvGrpSpPr>
        <p:grpSpPr>
          <a:xfrm>
            <a:off x="754380" y="3017520"/>
            <a:ext cx="16802100" cy="480060"/>
            <a:chOff x="0" y="0"/>
            <a:chExt cx="22402800" cy="640080"/>
          </a:xfrm>
        </p:grpSpPr>
        <p:sp>
          <p:nvSpPr>
            <p:cNvPr id="18" name="Freeform 1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19" name="Group 19"/>
          <p:cNvGrpSpPr/>
          <p:nvPr/>
        </p:nvGrpSpPr>
        <p:grpSpPr>
          <a:xfrm>
            <a:off x="864108" y="3017520"/>
            <a:ext cx="6089904" cy="480060"/>
            <a:chOff x="0" y="0"/>
            <a:chExt cx="8119872" cy="640080"/>
          </a:xfrm>
        </p:grpSpPr>
        <p:sp>
          <p:nvSpPr>
            <p:cNvPr id="20" name="Freeform 2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21" name="TextBox 2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Form 10-K, FY2025 (acc. 0001091667-26-000017)</a:t>
              </a:r>
            </a:p>
          </p:txBody>
        </p:sp>
      </p:grpSp>
      <p:grpSp>
        <p:nvGrpSpPr>
          <p:cNvPr id="22" name="Group 22"/>
          <p:cNvGrpSpPr/>
          <p:nvPr/>
        </p:nvGrpSpPr>
        <p:grpSpPr>
          <a:xfrm>
            <a:off x="7173468" y="3017520"/>
            <a:ext cx="7461504" cy="480060"/>
            <a:chOff x="0" y="0"/>
            <a:chExt cx="9948672" cy="640080"/>
          </a:xfrm>
        </p:grpSpPr>
        <p:sp>
          <p:nvSpPr>
            <p:cNvPr id="23" name="Freeform 2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24" name="TextBox 2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FY2024–25 financials, restated customers, overlap (AT&amp;T ~27%, Verizon ~16%), capex, buybacks, Cox terms, rural program</a:t>
              </a:r>
            </a:p>
          </p:txBody>
        </p:sp>
      </p:grpSp>
      <p:grpSp>
        <p:nvGrpSpPr>
          <p:cNvPr id="25" name="Group 25"/>
          <p:cNvGrpSpPr/>
          <p:nvPr/>
        </p:nvGrpSpPr>
        <p:grpSpPr>
          <a:xfrm>
            <a:off x="14854428" y="3017520"/>
            <a:ext cx="2592324" cy="480060"/>
            <a:chOff x="0" y="0"/>
            <a:chExt cx="3456432" cy="640080"/>
          </a:xfrm>
        </p:grpSpPr>
        <p:sp>
          <p:nvSpPr>
            <p:cNvPr id="26" name="Freeform 2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27" name="TextBox 2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Filed Jan 30, 2026</a:t>
              </a:r>
            </a:p>
          </p:txBody>
        </p:sp>
      </p:grpSp>
      <p:grpSp>
        <p:nvGrpSpPr>
          <p:cNvPr id="28" name="Group 28"/>
          <p:cNvGrpSpPr/>
          <p:nvPr/>
        </p:nvGrpSpPr>
        <p:grpSpPr>
          <a:xfrm>
            <a:off x="864108" y="3497580"/>
            <a:ext cx="6089904" cy="480060"/>
            <a:chOff x="0" y="0"/>
            <a:chExt cx="8119872" cy="640080"/>
          </a:xfrm>
        </p:grpSpPr>
        <p:sp>
          <p:nvSpPr>
            <p:cNvPr id="29" name="Freeform 2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30" name="TextBox 30"/>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Form 10-K, FY2024 (acc. 0001091667-25-000034)</a:t>
              </a:r>
            </a:p>
          </p:txBody>
        </p:sp>
      </p:grpSp>
      <p:grpSp>
        <p:nvGrpSpPr>
          <p:cNvPr id="31" name="Group 31"/>
          <p:cNvGrpSpPr/>
          <p:nvPr/>
        </p:nvGrpSpPr>
        <p:grpSpPr>
          <a:xfrm>
            <a:off x="7173468" y="3497580"/>
            <a:ext cx="7461504" cy="480060"/>
            <a:chOff x="0" y="0"/>
            <a:chExt cx="9948672" cy="640080"/>
          </a:xfrm>
        </p:grpSpPr>
        <p:sp>
          <p:nvSpPr>
            <p:cNvPr id="32" name="Freeform 3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33" name="TextBox 33"/>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FY2023 revenue by line; old customer basis</a:t>
              </a:r>
            </a:p>
          </p:txBody>
        </p:sp>
      </p:grpSp>
      <p:grpSp>
        <p:nvGrpSpPr>
          <p:cNvPr id="34" name="Group 34"/>
          <p:cNvGrpSpPr/>
          <p:nvPr/>
        </p:nvGrpSpPr>
        <p:grpSpPr>
          <a:xfrm>
            <a:off x="14854428" y="3497580"/>
            <a:ext cx="2592324" cy="480060"/>
            <a:chOff x="0" y="0"/>
            <a:chExt cx="3456432" cy="640080"/>
          </a:xfrm>
        </p:grpSpPr>
        <p:sp>
          <p:nvSpPr>
            <p:cNvPr id="35" name="Freeform 3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36" name="TextBox 36"/>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2025</a:t>
              </a:r>
            </a:p>
          </p:txBody>
        </p:sp>
      </p:grpSp>
      <p:grpSp>
        <p:nvGrpSpPr>
          <p:cNvPr id="37" name="Group 37"/>
          <p:cNvGrpSpPr/>
          <p:nvPr/>
        </p:nvGrpSpPr>
        <p:grpSpPr>
          <a:xfrm>
            <a:off x="754380" y="3977640"/>
            <a:ext cx="16802100" cy="480060"/>
            <a:chOff x="0" y="0"/>
            <a:chExt cx="22402800" cy="640080"/>
          </a:xfrm>
        </p:grpSpPr>
        <p:sp>
          <p:nvSpPr>
            <p:cNvPr id="38" name="Freeform 3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39" name="Group 39"/>
          <p:cNvGrpSpPr/>
          <p:nvPr/>
        </p:nvGrpSpPr>
        <p:grpSpPr>
          <a:xfrm>
            <a:off x="864108" y="3977640"/>
            <a:ext cx="6089904" cy="480060"/>
            <a:chOff x="0" y="0"/>
            <a:chExt cx="8119872" cy="640080"/>
          </a:xfrm>
        </p:grpSpPr>
        <p:sp>
          <p:nvSpPr>
            <p:cNvPr id="40" name="Freeform 4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41" name="TextBox 4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Form 10-Q, Q1 2026 (acc. 0001091667-26-000028)</a:t>
              </a:r>
            </a:p>
          </p:txBody>
        </p:sp>
      </p:grpSp>
      <p:grpSp>
        <p:nvGrpSpPr>
          <p:cNvPr id="42" name="Group 42"/>
          <p:cNvGrpSpPr/>
          <p:nvPr/>
        </p:nvGrpSpPr>
        <p:grpSpPr>
          <a:xfrm>
            <a:off x="7173468" y="3977640"/>
            <a:ext cx="7461504" cy="480060"/>
            <a:chOff x="0" y="0"/>
            <a:chExt cx="9948672" cy="640080"/>
          </a:xfrm>
        </p:grpSpPr>
        <p:sp>
          <p:nvSpPr>
            <p:cNvPr id="43" name="Freeform 4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44" name="TextBox 4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Q1 2026 customers, P&amp;L, capex, FCF, leverage 4.15x, repurchases</a:t>
              </a:r>
            </a:p>
          </p:txBody>
        </p:sp>
      </p:grpSp>
      <p:grpSp>
        <p:nvGrpSpPr>
          <p:cNvPr id="45" name="Group 45"/>
          <p:cNvGrpSpPr/>
          <p:nvPr/>
        </p:nvGrpSpPr>
        <p:grpSpPr>
          <a:xfrm>
            <a:off x="14854428" y="3977640"/>
            <a:ext cx="2592324" cy="480060"/>
            <a:chOff x="0" y="0"/>
            <a:chExt cx="3456432" cy="640080"/>
          </a:xfrm>
        </p:grpSpPr>
        <p:sp>
          <p:nvSpPr>
            <p:cNvPr id="46" name="Freeform 4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47" name="TextBox 4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Filed Apr 24, 2026</a:t>
              </a:r>
            </a:p>
          </p:txBody>
        </p:sp>
      </p:grpSp>
      <p:grpSp>
        <p:nvGrpSpPr>
          <p:cNvPr id="48" name="Group 48"/>
          <p:cNvGrpSpPr/>
          <p:nvPr/>
        </p:nvGrpSpPr>
        <p:grpSpPr>
          <a:xfrm>
            <a:off x="864108" y="4457700"/>
            <a:ext cx="6089904" cy="480060"/>
            <a:chOff x="0" y="0"/>
            <a:chExt cx="8119872" cy="640080"/>
          </a:xfrm>
        </p:grpSpPr>
        <p:sp>
          <p:nvSpPr>
            <p:cNvPr id="49" name="Freeform 4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50" name="TextBox 50"/>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8-K + Ex99.1, FY2025 and Q1 2026 earnings releases; IR results presentation</a:t>
              </a:r>
            </a:p>
          </p:txBody>
        </p:sp>
      </p:grpSp>
      <p:grpSp>
        <p:nvGrpSpPr>
          <p:cNvPr id="51" name="Group 51"/>
          <p:cNvGrpSpPr/>
          <p:nvPr/>
        </p:nvGrpSpPr>
        <p:grpSpPr>
          <a:xfrm>
            <a:off x="7173468" y="4457700"/>
            <a:ext cx="7461504" cy="480060"/>
            <a:chOff x="0" y="0"/>
            <a:chExt cx="9948672" cy="640080"/>
          </a:xfrm>
        </p:grpSpPr>
        <p:sp>
          <p:nvSpPr>
            <p:cNvPr id="52" name="Freeform 5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53" name="TextBox 53"/>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Quarterly trending, Internet revenue, mobile lines, video/voice</a:t>
              </a:r>
            </a:p>
          </p:txBody>
        </p:sp>
      </p:grpSp>
      <p:grpSp>
        <p:nvGrpSpPr>
          <p:cNvPr id="54" name="Group 54"/>
          <p:cNvGrpSpPr/>
          <p:nvPr/>
        </p:nvGrpSpPr>
        <p:grpSpPr>
          <a:xfrm>
            <a:off x="14854428" y="4457700"/>
            <a:ext cx="2592324" cy="480060"/>
            <a:chOff x="0" y="0"/>
            <a:chExt cx="3456432" cy="640080"/>
          </a:xfrm>
        </p:grpSpPr>
        <p:sp>
          <p:nvSpPr>
            <p:cNvPr id="55" name="Freeform 5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56" name="TextBox 56"/>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Jan 30 and Apr 24, 2026</a:t>
              </a:r>
            </a:p>
          </p:txBody>
        </p:sp>
      </p:grpSp>
      <p:grpSp>
        <p:nvGrpSpPr>
          <p:cNvPr id="57" name="Group 57"/>
          <p:cNvGrpSpPr/>
          <p:nvPr/>
        </p:nvGrpSpPr>
        <p:grpSpPr>
          <a:xfrm>
            <a:off x="754380" y="4937760"/>
            <a:ext cx="16802100" cy="480060"/>
            <a:chOff x="0" y="0"/>
            <a:chExt cx="22402800" cy="640080"/>
          </a:xfrm>
        </p:grpSpPr>
        <p:sp>
          <p:nvSpPr>
            <p:cNvPr id="58" name="Freeform 5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59" name="Group 59"/>
          <p:cNvGrpSpPr/>
          <p:nvPr/>
        </p:nvGrpSpPr>
        <p:grpSpPr>
          <a:xfrm>
            <a:off x="864108" y="4937760"/>
            <a:ext cx="6089904" cy="480060"/>
            <a:chOff x="0" y="0"/>
            <a:chExt cx="8119872" cy="640080"/>
          </a:xfrm>
        </p:grpSpPr>
        <p:sp>
          <p:nvSpPr>
            <p:cNvPr id="60" name="Freeform 6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61" name="TextBox 6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Trending schedules (FY2025; Q1 2026), MarketScreener extracts (IR PDFs 404)</a:t>
              </a:r>
            </a:p>
          </p:txBody>
        </p:sp>
      </p:grpSp>
      <p:grpSp>
        <p:nvGrpSpPr>
          <p:cNvPr id="62" name="Group 62"/>
          <p:cNvGrpSpPr/>
          <p:nvPr/>
        </p:nvGrpSpPr>
        <p:grpSpPr>
          <a:xfrm>
            <a:off x="7173468" y="4937760"/>
            <a:ext cx="7461504" cy="480060"/>
            <a:chOff x="0" y="0"/>
            <a:chExt cx="9948672" cy="640080"/>
          </a:xfrm>
        </p:grpSpPr>
        <p:sp>
          <p:nvSpPr>
            <p:cNvPr id="63" name="Freeform 6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64" name="TextBox 6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Quarterly series 2024Q1–2026Q2</a:t>
              </a:r>
            </a:p>
          </p:txBody>
        </p:sp>
      </p:grpSp>
      <p:grpSp>
        <p:nvGrpSpPr>
          <p:cNvPr id="65" name="Group 65"/>
          <p:cNvGrpSpPr/>
          <p:nvPr/>
        </p:nvGrpSpPr>
        <p:grpSpPr>
          <a:xfrm>
            <a:off x="14854428" y="4937760"/>
            <a:ext cx="2592324" cy="480060"/>
            <a:chOff x="0" y="0"/>
            <a:chExt cx="3456432" cy="640080"/>
          </a:xfrm>
        </p:grpSpPr>
        <p:sp>
          <p:nvSpPr>
            <p:cNvPr id="66" name="Freeform 6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67" name="TextBox 6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2026</a:t>
              </a:r>
            </a:p>
          </p:txBody>
        </p:sp>
      </p:grpSp>
      <p:grpSp>
        <p:nvGrpSpPr>
          <p:cNvPr id="68" name="Group 68"/>
          <p:cNvGrpSpPr/>
          <p:nvPr/>
        </p:nvGrpSpPr>
        <p:grpSpPr>
          <a:xfrm>
            <a:off x="864108" y="5417820"/>
            <a:ext cx="6089904" cy="480060"/>
            <a:chOff x="0" y="0"/>
            <a:chExt cx="8119872" cy="640080"/>
          </a:xfrm>
        </p:grpSpPr>
        <p:sp>
          <p:nvSpPr>
            <p:cNvPr id="69" name="Freeform 6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70" name="TextBox 70"/>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Q2 2026 release (later public fact, labeled *)</a:t>
              </a:r>
            </a:p>
          </p:txBody>
        </p:sp>
      </p:grpSp>
      <p:grpSp>
        <p:nvGrpSpPr>
          <p:cNvPr id="71" name="Group 71"/>
          <p:cNvGrpSpPr/>
          <p:nvPr/>
        </p:nvGrpSpPr>
        <p:grpSpPr>
          <a:xfrm>
            <a:off x="7173468" y="5417820"/>
            <a:ext cx="7461504" cy="480060"/>
            <a:chOff x="0" y="0"/>
            <a:chExt cx="9948672" cy="640080"/>
          </a:xfrm>
        </p:grpSpPr>
        <p:sp>
          <p:nvSpPr>
            <p:cNvPr id="72" name="Freeform 7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73" name="TextBox 73"/>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−172k Internet; $5,776M Internet revenue; Jul 24 return</a:t>
              </a:r>
            </a:p>
          </p:txBody>
        </p:sp>
      </p:grpSp>
      <p:grpSp>
        <p:nvGrpSpPr>
          <p:cNvPr id="74" name="Group 74"/>
          <p:cNvGrpSpPr/>
          <p:nvPr/>
        </p:nvGrpSpPr>
        <p:grpSpPr>
          <a:xfrm>
            <a:off x="14854428" y="5417820"/>
            <a:ext cx="2592324" cy="480060"/>
            <a:chOff x="0" y="0"/>
            <a:chExt cx="3456432" cy="640080"/>
          </a:xfrm>
        </p:grpSpPr>
        <p:sp>
          <p:nvSpPr>
            <p:cNvPr id="75" name="Freeform 7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76" name="TextBox 76"/>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Jul 24, 2026</a:t>
              </a:r>
            </a:p>
          </p:txBody>
        </p:sp>
      </p:grpSp>
      <p:grpSp>
        <p:nvGrpSpPr>
          <p:cNvPr id="77" name="Group 77"/>
          <p:cNvGrpSpPr/>
          <p:nvPr/>
        </p:nvGrpSpPr>
        <p:grpSpPr>
          <a:xfrm>
            <a:off x="754380" y="5897880"/>
            <a:ext cx="16802100" cy="480060"/>
            <a:chOff x="0" y="0"/>
            <a:chExt cx="22402800" cy="640080"/>
          </a:xfrm>
        </p:grpSpPr>
        <p:sp>
          <p:nvSpPr>
            <p:cNvPr id="78" name="Freeform 7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79" name="Group 79"/>
          <p:cNvGrpSpPr/>
          <p:nvPr/>
        </p:nvGrpSpPr>
        <p:grpSpPr>
          <a:xfrm>
            <a:off x="864108" y="5897880"/>
            <a:ext cx="6089904" cy="480060"/>
            <a:chOff x="0" y="0"/>
            <a:chExt cx="8119872" cy="640080"/>
          </a:xfrm>
        </p:grpSpPr>
        <p:sp>
          <p:nvSpPr>
            <p:cNvPr id="80" name="Freeform 8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81" name="TextBox 8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Cox announcement press release and presentation</a:t>
              </a:r>
            </a:p>
          </p:txBody>
        </p:sp>
      </p:grpSp>
      <p:grpSp>
        <p:nvGrpSpPr>
          <p:cNvPr id="82" name="Group 82"/>
          <p:cNvGrpSpPr/>
          <p:nvPr/>
        </p:nvGrpSpPr>
        <p:grpSpPr>
          <a:xfrm>
            <a:off x="7173468" y="5897880"/>
            <a:ext cx="7461504" cy="480060"/>
            <a:chOff x="0" y="0"/>
            <a:chExt cx="9948672" cy="640080"/>
          </a:xfrm>
        </p:grpSpPr>
        <p:sp>
          <p:nvSpPr>
            <p:cNvPr id="83" name="Freeform 8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84" name="TextBox 8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Transaction structure</a:t>
              </a:r>
            </a:p>
          </p:txBody>
        </p:sp>
      </p:grpSp>
      <p:grpSp>
        <p:nvGrpSpPr>
          <p:cNvPr id="85" name="Group 85"/>
          <p:cNvGrpSpPr/>
          <p:nvPr/>
        </p:nvGrpSpPr>
        <p:grpSpPr>
          <a:xfrm>
            <a:off x="14854428" y="5897880"/>
            <a:ext cx="2592324" cy="480060"/>
            <a:chOff x="0" y="0"/>
            <a:chExt cx="3456432" cy="640080"/>
          </a:xfrm>
        </p:grpSpPr>
        <p:sp>
          <p:nvSpPr>
            <p:cNvPr id="86" name="Freeform 8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87" name="TextBox 8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May 16, 2025</a:t>
              </a:r>
            </a:p>
          </p:txBody>
        </p:sp>
      </p:grpSp>
      <p:grpSp>
        <p:nvGrpSpPr>
          <p:cNvPr id="88" name="Group 88"/>
          <p:cNvGrpSpPr/>
          <p:nvPr/>
        </p:nvGrpSpPr>
        <p:grpSpPr>
          <a:xfrm>
            <a:off x="864108" y="6377940"/>
            <a:ext cx="6089904" cy="480060"/>
            <a:chOff x="0" y="0"/>
            <a:chExt cx="8119872" cy="640080"/>
          </a:xfrm>
        </p:grpSpPr>
        <p:sp>
          <p:nvSpPr>
            <p:cNvPr id="89" name="Freeform 8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90" name="TextBox 90"/>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Yahoo Finance daily closes; contemporaneous reporting (CMCSA Apr 24)</a:t>
              </a:r>
            </a:p>
          </p:txBody>
        </p:sp>
      </p:grpSp>
      <p:grpSp>
        <p:nvGrpSpPr>
          <p:cNvPr id="91" name="Group 91"/>
          <p:cNvGrpSpPr/>
          <p:nvPr/>
        </p:nvGrpSpPr>
        <p:grpSpPr>
          <a:xfrm>
            <a:off x="7173468" y="6377940"/>
            <a:ext cx="7461504" cy="480060"/>
            <a:chOff x="0" y="0"/>
            <a:chExt cx="9948672" cy="640080"/>
          </a:xfrm>
        </p:grpSpPr>
        <p:sp>
          <p:nvSpPr>
            <p:cNvPr id="92" name="Freeform 9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93" name="TextBox 93"/>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Event study returns; price path, analysis, not a filing</a:t>
              </a:r>
            </a:p>
          </p:txBody>
        </p:sp>
      </p:grpSp>
      <p:grpSp>
        <p:nvGrpSpPr>
          <p:cNvPr id="94" name="Group 94"/>
          <p:cNvGrpSpPr/>
          <p:nvPr/>
        </p:nvGrpSpPr>
        <p:grpSpPr>
          <a:xfrm>
            <a:off x="14854428" y="6377940"/>
            <a:ext cx="2592324" cy="480060"/>
            <a:chOff x="0" y="0"/>
            <a:chExt cx="3456432" cy="640080"/>
          </a:xfrm>
        </p:grpSpPr>
        <p:sp>
          <p:nvSpPr>
            <p:cNvPr id="95" name="Freeform 9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96" name="TextBox 96"/>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Various</a:t>
              </a:r>
            </a:p>
          </p:txBody>
        </p:sp>
      </p:grpSp>
      <p:grpSp>
        <p:nvGrpSpPr>
          <p:cNvPr id="97" name="Group 97"/>
          <p:cNvGrpSpPr/>
          <p:nvPr/>
        </p:nvGrpSpPr>
        <p:grpSpPr>
          <a:xfrm>
            <a:off x="754380" y="6858000"/>
            <a:ext cx="16802100" cy="480060"/>
            <a:chOff x="0" y="0"/>
            <a:chExt cx="22402800" cy="640080"/>
          </a:xfrm>
        </p:grpSpPr>
        <p:sp>
          <p:nvSpPr>
            <p:cNvPr id="98" name="Freeform 9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99" name="Group 99"/>
          <p:cNvGrpSpPr/>
          <p:nvPr/>
        </p:nvGrpSpPr>
        <p:grpSpPr>
          <a:xfrm>
            <a:off x="864108" y="6858000"/>
            <a:ext cx="6089904" cy="480060"/>
            <a:chOff x="0" y="0"/>
            <a:chExt cx="8119872" cy="640080"/>
          </a:xfrm>
        </p:grpSpPr>
        <p:sp>
          <p:nvSpPr>
            <p:cNvPr id="100" name="Freeform 10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101" name="TextBox 10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Published multiples (Devyara, TIKR, ValueSense); Visible Alpha / Reuters consensus</a:t>
              </a:r>
            </a:p>
          </p:txBody>
        </p:sp>
      </p:grpSp>
      <p:grpSp>
        <p:nvGrpSpPr>
          <p:cNvPr id="102" name="Group 102"/>
          <p:cNvGrpSpPr/>
          <p:nvPr/>
        </p:nvGrpSpPr>
        <p:grpSpPr>
          <a:xfrm>
            <a:off x="7173468" y="6858000"/>
            <a:ext cx="7461504" cy="480060"/>
            <a:chOff x="0" y="0"/>
            <a:chExt cx="9948672" cy="640080"/>
          </a:xfrm>
        </p:grpSpPr>
        <p:sp>
          <p:nvSpPr>
            <p:cNvPr id="103" name="Freeform 10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104" name="TextBox 10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EV/EBITDA comparison; Q2 2025 consensus, analysis, not a filing</a:t>
              </a:r>
            </a:p>
          </p:txBody>
        </p:sp>
      </p:grpSp>
      <p:grpSp>
        <p:nvGrpSpPr>
          <p:cNvPr id="105" name="Group 105"/>
          <p:cNvGrpSpPr/>
          <p:nvPr/>
        </p:nvGrpSpPr>
        <p:grpSpPr>
          <a:xfrm>
            <a:off x="14854428" y="6858000"/>
            <a:ext cx="2592324" cy="480060"/>
            <a:chOff x="0" y="0"/>
            <a:chExt cx="3456432" cy="640080"/>
          </a:xfrm>
        </p:grpSpPr>
        <p:sp>
          <p:nvSpPr>
            <p:cNvPr id="106" name="Freeform 10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107" name="TextBox 10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Apr–Jul 2026</a:t>
              </a:r>
            </a:p>
          </p:txBody>
        </p:sp>
      </p:grpSp>
      <p:grpSp>
        <p:nvGrpSpPr>
          <p:cNvPr id="108" name="Group 108"/>
          <p:cNvGrpSpPr/>
          <p:nvPr/>
        </p:nvGrpSpPr>
        <p:grpSpPr>
          <a:xfrm>
            <a:off x="864108" y="7338060"/>
            <a:ext cx="6089904" cy="480060"/>
            <a:chOff x="0" y="0"/>
            <a:chExt cx="8119872" cy="640080"/>
          </a:xfrm>
        </p:grpSpPr>
        <p:sp>
          <p:nvSpPr>
            <p:cNvPr id="109" name="Freeform 109"/>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110" name="TextBox 110"/>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FCC Broadband Data Collection (public)</a:t>
              </a:r>
            </a:p>
          </p:txBody>
        </p:sp>
      </p:grpSp>
      <p:grpSp>
        <p:nvGrpSpPr>
          <p:cNvPr id="111" name="Group 111"/>
          <p:cNvGrpSpPr/>
          <p:nvPr/>
        </p:nvGrpSpPr>
        <p:grpSpPr>
          <a:xfrm>
            <a:off x="7173468" y="7338060"/>
            <a:ext cx="7461504" cy="480060"/>
            <a:chOff x="0" y="0"/>
            <a:chExt cx="9948672" cy="640080"/>
          </a:xfrm>
        </p:grpSpPr>
        <p:sp>
          <p:nvSpPr>
            <p:cNvPr id="112" name="Freeform 112"/>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113" name="TextBox 113"/>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Competitor serviceability by location (Rec 1 build)</a:t>
              </a:r>
            </a:p>
          </p:txBody>
        </p:sp>
      </p:grpSp>
      <p:grpSp>
        <p:nvGrpSpPr>
          <p:cNvPr id="114" name="Group 114"/>
          <p:cNvGrpSpPr/>
          <p:nvPr/>
        </p:nvGrpSpPr>
        <p:grpSpPr>
          <a:xfrm>
            <a:off x="14854428" y="7338060"/>
            <a:ext cx="2592324" cy="480060"/>
            <a:chOff x="0" y="0"/>
            <a:chExt cx="3456432" cy="640080"/>
          </a:xfrm>
        </p:grpSpPr>
        <p:sp>
          <p:nvSpPr>
            <p:cNvPr id="115" name="Freeform 115"/>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116" name="TextBox 116"/>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Semiannual</a:t>
              </a:r>
            </a:p>
          </p:txBody>
        </p:sp>
      </p:grpSp>
      <p:grpSp>
        <p:nvGrpSpPr>
          <p:cNvPr id="117" name="Group 117"/>
          <p:cNvGrpSpPr/>
          <p:nvPr/>
        </p:nvGrpSpPr>
        <p:grpSpPr>
          <a:xfrm>
            <a:off x="754380" y="7818120"/>
            <a:ext cx="16802100" cy="480060"/>
            <a:chOff x="0" y="0"/>
            <a:chExt cx="22402800" cy="640080"/>
          </a:xfrm>
        </p:grpSpPr>
        <p:sp>
          <p:nvSpPr>
            <p:cNvPr id="118" name="Freeform 118"/>
            <p:cNvSpPr/>
            <p:nvPr/>
          </p:nvSpPr>
          <p:spPr>
            <a:xfrm>
              <a:off x="0" y="0"/>
              <a:ext cx="22402800" cy="640080"/>
            </a:xfrm>
            <a:custGeom>
              <a:avLst/>
              <a:gdLst/>
              <a:ahLst/>
              <a:cxnLst/>
              <a:rect l="l" t="t" r="r" b="b"/>
              <a:pathLst>
                <a:path w="22402800" h="640080">
                  <a:moveTo>
                    <a:pt x="0" y="0"/>
                  </a:moveTo>
                  <a:lnTo>
                    <a:pt x="22402800" y="0"/>
                  </a:lnTo>
                  <a:lnTo>
                    <a:pt x="22402800" y="640080"/>
                  </a:lnTo>
                  <a:lnTo>
                    <a:pt x="0" y="640080"/>
                  </a:lnTo>
                  <a:close/>
                </a:path>
              </a:pathLst>
            </a:custGeom>
            <a:solidFill>
              <a:srgbClr val="EEF4FB"/>
            </a:solidFill>
          </p:spPr>
          <p:txBody>
            <a:bodyPr/>
            <a:lstStyle/>
            <a:p>
              <a:endParaRPr lang="en-US"/>
            </a:p>
          </p:txBody>
        </p:sp>
      </p:grpSp>
      <p:grpSp>
        <p:nvGrpSpPr>
          <p:cNvPr id="119" name="Group 119"/>
          <p:cNvGrpSpPr/>
          <p:nvPr/>
        </p:nvGrpSpPr>
        <p:grpSpPr>
          <a:xfrm>
            <a:off x="864108" y="7818120"/>
            <a:ext cx="6089904" cy="480060"/>
            <a:chOff x="0" y="0"/>
            <a:chExt cx="8119872" cy="640080"/>
          </a:xfrm>
        </p:grpSpPr>
        <p:sp>
          <p:nvSpPr>
            <p:cNvPr id="120" name="Freeform 120"/>
            <p:cNvSpPr/>
            <p:nvPr/>
          </p:nvSpPr>
          <p:spPr>
            <a:xfrm>
              <a:off x="0" y="0"/>
              <a:ext cx="8119872" cy="640080"/>
            </a:xfrm>
            <a:custGeom>
              <a:avLst/>
              <a:gdLst/>
              <a:ahLst/>
              <a:cxnLst/>
              <a:rect l="l" t="t" r="r" b="b"/>
              <a:pathLst>
                <a:path w="8119872" h="640080">
                  <a:moveTo>
                    <a:pt x="0" y="0"/>
                  </a:moveTo>
                  <a:lnTo>
                    <a:pt x="8119872" y="0"/>
                  </a:lnTo>
                  <a:lnTo>
                    <a:pt x="8119872" y="640080"/>
                  </a:lnTo>
                  <a:lnTo>
                    <a:pt x="0" y="640080"/>
                  </a:lnTo>
                  <a:close/>
                </a:path>
              </a:pathLst>
            </a:custGeom>
            <a:blipFill>
              <a:blip r:embed="rId3">
                <a:alphaModFix amt="0"/>
              </a:blip>
              <a:stretch>
                <a:fillRect t="-197181" b="-197181"/>
              </a:stretch>
            </a:blipFill>
          </p:spPr>
          <p:txBody>
            <a:bodyPr/>
            <a:lstStyle/>
            <a:p>
              <a:endParaRPr lang="en-US"/>
            </a:p>
          </p:txBody>
        </p:sp>
        <p:sp>
          <p:nvSpPr>
            <p:cNvPr id="121" name="TextBox 121"/>
            <p:cNvSpPr txBox="1"/>
            <p:nvPr/>
          </p:nvSpPr>
          <p:spPr>
            <a:xfrm>
              <a:off x="0" y="-28575"/>
              <a:ext cx="8119872" cy="668655"/>
            </a:xfrm>
            <a:prstGeom prst="rect">
              <a:avLst/>
            </a:prstGeom>
          </p:spPr>
          <p:txBody>
            <a:bodyPr lIns="0" tIns="0" rIns="0" bIns="0" rtlCol="0" anchor="ctr"/>
            <a:lstStyle/>
            <a:p>
              <a:pPr algn="l">
                <a:lnSpc>
                  <a:spcPts val="1530"/>
                </a:lnSpc>
              </a:pPr>
              <a:r>
                <a:rPr lang="en-US" sz="1275" b="1">
                  <a:solidFill>
                    <a:srgbClr val="171A1F"/>
                  </a:solidFill>
                  <a:latin typeface="Calibri"/>
                  <a:ea typeface="Calibri (MS) Bold"/>
                  <a:cs typeface="Calibri"/>
                  <a:sym typeface="Calibri (MS) Bold"/>
                </a:rPr>
                <a:t>Team analyses: event study, issue-tree charts, MBB financial-analyses workbook (blue = assumption)</a:t>
              </a:r>
            </a:p>
          </p:txBody>
        </p:sp>
      </p:grpSp>
      <p:grpSp>
        <p:nvGrpSpPr>
          <p:cNvPr id="122" name="Group 122"/>
          <p:cNvGrpSpPr/>
          <p:nvPr/>
        </p:nvGrpSpPr>
        <p:grpSpPr>
          <a:xfrm>
            <a:off x="7173468" y="7818120"/>
            <a:ext cx="7461504" cy="480060"/>
            <a:chOff x="0" y="0"/>
            <a:chExt cx="9948672" cy="640080"/>
          </a:xfrm>
        </p:grpSpPr>
        <p:sp>
          <p:nvSpPr>
            <p:cNvPr id="123" name="Freeform 123"/>
            <p:cNvSpPr/>
            <p:nvPr/>
          </p:nvSpPr>
          <p:spPr>
            <a:xfrm>
              <a:off x="0" y="0"/>
              <a:ext cx="9948672" cy="640080"/>
            </a:xfrm>
            <a:custGeom>
              <a:avLst/>
              <a:gdLst/>
              <a:ahLst/>
              <a:cxnLst/>
              <a:rect l="l" t="t" r="r" b="b"/>
              <a:pathLst>
                <a:path w="9948672" h="640080">
                  <a:moveTo>
                    <a:pt x="0" y="0"/>
                  </a:moveTo>
                  <a:lnTo>
                    <a:pt x="9948672" y="0"/>
                  </a:lnTo>
                  <a:lnTo>
                    <a:pt x="9948672" y="640080"/>
                  </a:lnTo>
                  <a:lnTo>
                    <a:pt x="0" y="640080"/>
                  </a:lnTo>
                  <a:close/>
                </a:path>
              </a:pathLst>
            </a:custGeom>
            <a:blipFill>
              <a:blip r:embed="rId3">
                <a:alphaModFix amt="0"/>
              </a:blip>
              <a:stretch>
                <a:fillRect t="-252853" b="-252853"/>
              </a:stretch>
            </a:blipFill>
          </p:spPr>
          <p:txBody>
            <a:bodyPr/>
            <a:lstStyle/>
            <a:p>
              <a:endParaRPr lang="en-US"/>
            </a:p>
          </p:txBody>
        </p:sp>
        <p:sp>
          <p:nvSpPr>
            <p:cNvPr id="124" name="TextBox 124"/>
            <p:cNvSpPr txBox="1"/>
            <p:nvPr/>
          </p:nvSpPr>
          <p:spPr>
            <a:xfrm>
              <a:off x="0" y="-28575"/>
              <a:ext cx="994867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Derived bridges, correlations, sizing ranges</a:t>
              </a:r>
            </a:p>
          </p:txBody>
        </p:sp>
      </p:grpSp>
      <p:grpSp>
        <p:nvGrpSpPr>
          <p:cNvPr id="125" name="Group 125"/>
          <p:cNvGrpSpPr/>
          <p:nvPr/>
        </p:nvGrpSpPr>
        <p:grpSpPr>
          <a:xfrm>
            <a:off x="14854428" y="7818120"/>
            <a:ext cx="2592324" cy="480060"/>
            <a:chOff x="0" y="0"/>
            <a:chExt cx="3456432" cy="640080"/>
          </a:xfrm>
        </p:grpSpPr>
        <p:sp>
          <p:nvSpPr>
            <p:cNvPr id="126" name="Freeform 126"/>
            <p:cNvSpPr/>
            <p:nvPr/>
          </p:nvSpPr>
          <p:spPr>
            <a:xfrm>
              <a:off x="0" y="0"/>
              <a:ext cx="3456432" cy="640080"/>
            </a:xfrm>
            <a:custGeom>
              <a:avLst/>
              <a:gdLst/>
              <a:ahLst/>
              <a:cxnLst/>
              <a:rect l="l" t="t" r="r" b="b"/>
              <a:pathLst>
                <a:path w="3456432" h="640080">
                  <a:moveTo>
                    <a:pt x="0" y="0"/>
                  </a:moveTo>
                  <a:lnTo>
                    <a:pt x="3456432" y="0"/>
                  </a:lnTo>
                  <a:lnTo>
                    <a:pt x="3456432" y="640080"/>
                  </a:lnTo>
                  <a:lnTo>
                    <a:pt x="0" y="640080"/>
                  </a:lnTo>
                  <a:close/>
                </a:path>
              </a:pathLst>
            </a:custGeom>
            <a:blipFill>
              <a:blip r:embed="rId3">
                <a:alphaModFix amt="0"/>
              </a:blip>
              <a:stretch>
                <a:fillRect t="-55219" b="-55219"/>
              </a:stretch>
            </a:blipFill>
          </p:spPr>
          <p:txBody>
            <a:bodyPr/>
            <a:lstStyle/>
            <a:p>
              <a:endParaRPr lang="en-US"/>
            </a:p>
          </p:txBody>
        </p:sp>
        <p:sp>
          <p:nvSpPr>
            <p:cNvPr id="127" name="TextBox 127"/>
            <p:cNvSpPr txBox="1"/>
            <p:nvPr/>
          </p:nvSpPr>
          <p:spPr>
            <a:xfrm>
              <a:off x="0" y="-28575"/>
              <a:ext cx="3456432" cy="66865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Sept 2026</a:t>
              </a:r>
            </a:p>
          </p:txBody>
        </p:sp>
      </p:grpSp>
      <p:grpSp>
        <p:nvGrpSpPr>
          <p:cNvPr id="128" name="Group 128"/>
          <p:cNvGrpSpPr/>
          <p:nvPr/>
        </p:nvGrpSpPr>
        <p:grpSpPr>
          <a:xfrm>
            <a:off x="754380" y="8394192"/>
            <a:ext cx="16802100" cy="617220"/>
            <a:chOff x="0" y="0"/>
            <a:chExt cx="22402800" cy="822960"/>
          </a:xfrm>
        </p:grpSpPr>
        <p:sp>
          <p:nvSpPr>
            <p:cNvPr id="129" name="Freeform 129"/>
            <p:cNvSpPr/>
            <p:nvPr/>
          </p:nvSpPr>
          <p:spPr>
            <a:xfrm>
              <a:off x="0" y="0"/>
              <a:ext cx="22402800" cy="822960"/>
            </a:xfrm>
            <a:custGeom>
              <a:avLst/>
              <a:gdLst/>
              <a:ahLst/>
              <a:cxnLst/>
              <a:rect l="l" t="t" r="r" b="b"/>
              <a:pathLst>
                <a:path w="22402800" h="822960">
                  <a:moveTo>
                    <a:pt x="0" y="0"/>
                  </a:moveTo>
                  <a:lnTo>
                    <a:pt x="22402800" y="0"/>
                  </a:lnTo>
                  <a:lnTo>
                    <a:pt x="22402800" y="822960"/>
                  </a:lnTo>
                  <a:lnTo>
                    <a:pt x="0" y="822960"/>
                  </a:lnTo>
                  <a:close/>
                </a:path>
              </a:pathLst>
            </a:custGeom>
            <a:blipFill>
              <a:blip r:embed="rId3">
                <a:alphaModFix amt="0"/>
              </a:blip>
              <a:stretch>
                <a:fillRect t="-480426" b="-480426"/>
              </a:stretch>
            </a:blipFill>
          </p:spPr>
          <p:txBody>
            <a:bodyPr/>
            <a:lstStyle/>
            <a:p>
              <a:endParaRPr lang="en-US"/>
            </a:p>
          </p:txBody>
        </p:sp>
        <p:sp>
          <p:nvSpPr>
            <p:cNvPr id="130" name="TextBox 130"/>
            <p:cNvSpPr txBox="1"/>
            <p:nvPr/>
          </p:nvSpPr>
          <p:spPr>
            <a:xfrm>
              <a:off x="0" y="-28575"/>
              <a:ext cx="22402800" cy="851535"/>
            </a:xfrm>
            <a:prstGeom prst="rect">
              <a:avLst/>
            </a:prstGeom>
          </p:spPr>
          <p:txBody>
            <a:bodyPr lIns="0" tIns="0" rIns="0" bIns="0" rtlCol="0" anchor="ctr"/>
            <a:lstStyle/>
            <a:p>
              <a:pPr algn="l">
                <a:lnSpc>
                  <a:spcPts val="1620"/>
                </a:lnSpc>
              </a:pPr>
              <a:r>
                <a:rPr lang="en-US" sz="1350" i="1">
                  <a:solidFill>
                    <a:srgbClr val="66717D"/>
                  </a:solidFill>
                  <a:latin typeface="Calibri"/>
                  <a:ea typeface="Calibri (MS) Italics"/>
                  <a:cs typeface="Calibri"/>
                  <a:sym typeface="Calibri (MS) Italics"/>
                </a:rPr>
                <a:t>Rules applied: do not mix pre- and post-Q4 2025 customer bases; class framing (undervalued, buyback-not-working, Starlink/Kuiper) treated as hypotheses tested against filings, not as facts. Repository: github.com/KyleConger/Foundation-Consulting-Case.</a:t>
              </a:r>
            </a:p>
          </p:txBody>
        </p:sp>
      </p:grpSp>
      <p:grpSp>
        <p:nvGrpSpPr>
          <p:cNvPr id="131" name="Group 131"/>
          <p:cNvGrpSpPr/>
          <p:nvPr/>
        </p:nvGrpSpPr>
        <p:grpSpPr>
          <a:xfrm>
            <a:off x="754380" y="9189720"/>
            <a:ext cx="16733520" cy="411480"/>
            <a:chOff x="0" y="0"/>
            <a:chExt cx="22311360" cy="548640"/>
          </a:xfrm>
        </p:grpSpPr>
        <p:sp>
          <p:nvSpPr>
            <p:cNvPr id="132" name="Freeform 132"/>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33" name="TextBox 133"/>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(p.9)</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34" name="Group 134"/>
          <p:cNvGrpSpPr/>
          <p:nvPr/>
        </p:nvGrpSpPr>
        <p:grpSpPr>
          <a:xfrm>
            <a:off x="17076420" y="9669780"/>
            <a:ext cx="960120" cy="411480"/>
            <a:chOff x="0" y="0"/>
            <a:chExt cx="1280160" cy="548640"/>
          </a:xfrm>
        </p:grpSpPr>
        <p:sp>
          <p:nvSpPr>
            <p:cNvPr id="135" name="Freeform 135"/>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36" name="TextBox 136"/>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39</a:t>
              </a:r>
            </a:p>
          </p:txBody>
        </p:sp>
      </p:grpSp>
      <p:grpSp>
        <p:nvGrpSpPr>
          <p:cNvPr id="137" name="Group 137"/>
          <p:cNvGrpSpPr/>
          <p:nvPr/>
        </p:nvGrpSpPr>
        <p:grpSpPr>
          <a:xfrm>
            <a:off x="754380" y="9669780"/>
            <a:ext cx="16047720" cy="411480"/>
            <a:chOff x="0" y="0"/>
            <a:chExt cx="21396960" cy="548640"/>
          </a:xfrm>
        </p:grpSpPr>
        <p:sp>
          <p:nvSpPr>
            <p:cNvPr id="138" name="Freeform 138"/>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39" name="TextBox 139"/>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A29  ·  AI-USE DOCUMENTATION (PER COURSE GUIDANCE)</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How AI Was Used, and What the Team Owned</a:t>
            </a:r>
          </a:p>
        </p:txBody>
      </p:sp>
      <p:grpSp>
        <p:nvGrpSpPr>
          <p:cNvPr id="6" name="Group 6"/>
          <p:cNvGrpSpPr/>
          <p:nvPr/>
        </p:nvGrpSpPr>
        <p:grpSpPr>
          <a:xfrm>
            <a:off x="754380" y="2674620"/>
            <a:ext cx="16802100" cy="685800"/>
            <a:chOff x="0" y="0"/>
            <a:chExt cx="22402800" cy="914400"/>
          </a:xfrm>
        </p:grpSpPr>
        <p:sp>
          <p:nvSpPr>
            <p:cNvPr id="7" name="Freeform 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003057"/>
            </a:solidFill>
          </p:spPr>
          <p:txBody>
            <a:bodyPr/>
            <a:lstStyle/>
            <a:p>
              <a:endParaRPr lang="en-US"/>
            </a:p>
          </p:txBody>
        </p:sp>
      </p:grpSp>
      <p:grpSp>
        <p:nvGrpSpPr>
          <p:cNvPr id="8" name="Group 8"/>
          <p:cNvGrpSpPr/>
          <p:nvPr/>
        </p:nvGrpSpPr>
        <p:grpSpPr>
          <a:xfrm>
            <a:off x="864108" y="2674620"/>
            <a:ext cx="1837944" cy="685800"/>
            <a:chOff x="0" y="0"/>
            <a:chExt cx="2450592" cy="914400"/>
          </a:xfrm>
        </p:grpSpPr>
        <p:sp>
          <p:nvSpPr>
            <p:cNvPr id="9" name="Freeform 9"/>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10" name="TextBox 10"/>
            <p:cNvSpPr txBox="1"/>
            <p:nvPr/>
          </p:nvSpPr>
          <p:spPr>
            <a:xfrm>
              <a:off x="0" y="-19050"/>
              <a:ext cx="24505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Step</a:t>
              </a:r>
            </a:p>
          </p:txBody>
        </p:sp>
      </p:grpSp>
      <p:grpSp>
        <p:nvGrpSpPr>
          <p:cNvPr id="11" name="Group 11"/>
          <p:cNvGrpSpPr/>
          <p:nvPr/>
        </p:nvGrpSpPr>
        <p:grpSpPr>
          <a:xfrm>
            <a:off x="2921508" y="2674620"/>
            <a:ext cx="1975104" cy="685800"/>
            <a:chOff x="0" y="0"/>
            <a:chExt cx="2633472" cy="914400"/>
          </a:xfrm>
        </p:grpSpPr>
        <p:sp>
          <p:nvSpPr>
            <p:cNvPr id="12" name="Freeform 12"/>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13" name="TextBox 13"/>
            <p:cNvSpPr txBox="1"/>
            <p:nvPr/>
          </p:nvSpPr>
          <p:spPr>
            <a:xfrm>
              <a:off x="0" y="-19050"/>
              <a:ext cx="263347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AI role</a:t>
              </a:r>
            </a:p>
          </p:txBody>
        </p:sp>
      </p:grpSp>
      <p:grpSp>
        <p:nvGrpSpPr>
          <p:cNvPr id="14" name="Group 14"/>
          <p:cNvGrpSpPr/>
          <p:nvPr/>
        </p:nvGrpSpPr>
        <p:grpSpPr>
          <a:xfrm>
            <a:off x="5116068" y="2674620"/>
            <a:ext cx="6638544" cy="685800"/>
            <a:chOff x="0" y="0"/>
            <a:chExt cx="8851392" cy="914400"/>
          </a:xfrm>
        </p:grpSpPr>
        <p:sp>
          <p:nvSpPr>
            <p:cNvPr id="15" name="Freeform 15"/>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16" name="TextBox 16"/>
            <p:cNvSpPr txBox="1"/>
            <p:nvPr/>
          </p:nvSpPr>
          <p:spPr>
            <a:xfrm>
              <a:off x="0" y="-19050"/>
              <a:ext cx="88513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How it was used on Charter</a:t>
              </a:r>
            </a:p>
          </p:txBody>
        </p:sp>
      </p:grpSp>
      <p:grpSp>
        <p:nvGrpSpPr>
          <p:cNvPr id="17" name="Group 17"/>
          <p:cNvGrpSpPr/>
          <p:nvPr/>
        </p:nvGrpSpPr>
        <p:grpSpPr>
          <a:xfrm>
            <a:off x="11974068" y="2674620"/>
            <a:ext cx="5472684" cy="685800"/>
            <a:chOff x="0" y="0"/>
            <a:chExt cx="7296912" cy="914400"/>
          </a:xfrm>
        </p:grpSpPr>
        <p:sp>
          <p:nvSpPr>
            <p:cNvPr id="18" name="Freeform 18"/>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19" name="TextBox 19"/>
            <p:cNvSpPr txBox="1"/>
            <p:nvPr/>
          </p:nvSpPr>
          <p:spPr>
            <a:xfrm>
              <a:off x="0" y="-19050"/>
              <a:ext cx="729691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Human ownership / verification</a:t>
              </a:r>
            </a:p>
          </p:txBody>
        </p:sp>
      </p:grpSp>
      <p:grpSp>
        <p:nvGrpSpPr>
          <p:cNvPr id="20" name="Group 20"/>
          <p:cNvGrpSpPr/>
          <p:nvPr/>
        </p:nvGrpSpPr>
        <p:grpSpPr>
          <a:xfrm>
            <a:off x="754380" y="3360420"/>
            <a:ext cx="16802100" cy="685800"/>
            <a:chOff x="0" y="0"/>
            <a:chExt cx="22402800" cy="914400"/>
          </a:xfrm>
        </p:grpSpPr>
        <p:sp>
          <p:nvSpPr>
            <p:cNvPr id="21" name="Freeform 21"/>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22" name="Group 22"/>
          <p:cNvGrpSpPr/>
          <p:nvPr/>
        </p:nvGrpSpPr>
        <p:grpSpPr>
          <a:xfrm>
            <a:off x="864108" y="3360420"/>
            <a:ext cx="1837944" cy="685800"/>
            <a:chOff x="0" y="0"/>
            <a:chExt cx="2450592" cy="914400"/>
          </a:xfrm>
        </p:grpSpPr>
        <p:sp>
          <p:nvSpPr>
            <p:cNvPr id="23" name="Freeform 23"/>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24" name="TextBox 24"/>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Define</a:t>
              </a:r>
            </a:p>
          </p:txBody>
        </p:sp>
      </p:grpSp>
      <p:grpSp>
        <p:nvGrpSpPr>
          <p:cNvPr id="25" name="Group 25"/>
          <p:cNvGrpSpPr/>
          <p:nvPr/>
        </p:nvGrpSpPr>
        <p:grpSpPr>
          <a:xfrm>
            <a:off x="2921508" y="3360420"/>
            <a:ext cx="1975104" cy="685800"/>
            <a:chOff x="0" y="0"/>
            <a:chExt cx="2633472" cy="914400"/>
          </a:xfrm>
        </p:grpSpPr>
        <p:sp>
          <p:nvSpPr>
            <p:cNvPr id="26" name="Freeform 26"/>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27" name="TextBox 27"/>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Thought partner</a:t>
              </a:r>
            </a:p>
          </p:txBody>
        </p:sp>
      </p:grpSp>
      <p:grpSp>
        <p:nvGrpSpPr>
          <p:cNvPr id="28" name="Group 28"/>
          <p:cNvGrpSpPr/>
          <p:nvPr/>
        </p:nvGrpSpPr>
        <p:grpSpPr>
          <a:xfrm>
            <a:off x="5116068" y="3360420"/>
            <a:ext cx="6638544" cy="685800"/>
            <a:chOff x="0" y="0"/>
            <a:chExt cx="8851392" cy="914400"/>
          </a:xfrm>
        </p:grpSpPr>
        <p:sp>
          <p:nvSpPr>
            <p:cNvPr id="29" name="Freeform 29"/>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30" name="TextBox 30"/>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Challenged the first framing (opex) and exposed the symptom-vs-fundamentals split</a:t>
              </a:r>
            </a:p>
          </p:txBody>
        </p:sp>
      </p:grpSp>
      <p:grpSp>
        <p:nvGrpSpPr>
          <p:cNvPr id="31" name="Group 31"/>
          <p:cNvGrpSpPr/>
          <p:nvPr/>
        </p:nvGrpSpPr>
        <p:grpSpPr>
          <a:xfrm>
            <a:off x="11974068" y="3360420"/>
            <a:ext cx="5472684" cy="685800"/>
            <a:chOff x="0" y="0"/>
            <a:chExt cx="7296912" cy="914400"/>
          </a:xfrm>
        </p:grpSpPr>
        <p:sp>
          <p:nvSpPr>
            <p:cNvPr id="32" name="Freeform 32"/>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33" name="TextBox 33"/>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chose the problem statement</a:t>
              </a:r>
            </a:p>
          </p:txBody>
        </p:sp>
      </p:grpSp>
      <p:grpSp>
        <p:nvGrpSpPr>
          <p:cNvPr id="34" name="Group 34"/>
          <p:cNvGrpSpPr/>
          <p:nvPr/>
        </p:nvGrpSpPr>
        <p:grpSpPr>
          <a:xfrm>
            <a:off x="864108" y="4046220"/>
            <a:ext cx="1837944" cy="685800"/>
            <a:chOff x="0" y="0"/>
            <a:chExt cx="2450592" cy="914400"/>
          </a:xfrm>
        </p:grpSpPr>
        <p:sp>
          <p:nvSpPr>
            <p:cNvPr id="35" name="Freeform 35"/>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36" name="TextBox 36"/>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Disaggregate</a:t>
              </a:r>
            </a:p>
          </p:txBody>
        </p:sp>
      </p:grpSp>
      <p:grpSp>
        <p:nvGrpSpPr>
          <p:cNvPr id="37" name="Group 37"/>
          <p:cNvGrpSpPr/>
          <p:nvPr/>
        </p:nvGrpSpPr>
        <p:grpSpPr>
          <a:xfrm>
            <a:off x="2921508" y="4046220"/>
            <a:ext cx="1975104" cy="685800"/>
            <a:chOff x="0" y="0"/>
            <a:chExt cx="2633472" cy="914400"/>
          </a:xfrm>
        </p:grpSpPr>
        <p:sp>
          <p:nvSpPr>
            <p:cNvPr id="38" name="Freeform 38"/>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39" name="TextBox 39"/>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Thought partner</a:t>
              </a:r>
            </a:p>
          </p:txBody>
        </p:sp>
      </p:grpSp>
      <p:grpSp>
        <p:nvGrpSpPr>
          <p:cNvPr id="40" name="Group 40"/>
          <p:cNvGrpSpPr/>
          <p:nvPr/>
        </p:nvGrpSpPr>
        <p:grpSpPr>
          <a:xfrm>
            <a:off x="5116068" y="4046220"/>
            <a:ext cx="6638544" cy="685800"/>
            <a:chOff x="0" y="0"/>
            <a:chExt cx="8851392" cy="914400"/>
          </a:xfrm>
        </p:grpSpPr>
        <p:sp>
          <p:nvSpPr>
            <p:cNvPr id="41" name="Freeform 41"/>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42" name="TextBox 42"/>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Proposed issue-tree branches and falsification tests (H1–H3)</a:t>
              </a:r>
            </a:p>
          </p:txBody>
        </p:sp>
      </p:grpSp>
      <p:grpSp>
        <p:nvGrpSpPr>
          <p:cNvPr id="43" name="Group 43"/>
          <p:cNvGrpSpPr/>
          <p:nvPr/>
        </p:nvGrpSpPr>
        <p:grpSpPr>
          <a:xfrm>
            <a:off x="11974068" y="4046220"/>
            <a:ext cx="5472684" cy="685800"/>
            <a:chOff x="0" y="0"/>
            <a:chExt cx="7296912" cy="914400"/>
          </a:xfrm>
        </p:grpSpPr>
        <p:sp>
          <p:nvSpPr>
            <p:cNvPr id="44" name="Freeform 44"/>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45" name="TextBox 45"/>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chose branches and killed hypotheses</a:t>
              </a:r>
            </a:p>
          </p:txBody>
        </p:sp>
      </p:grpSp>
      <p:grpSp>
        <p:nvGrpSpPr>
          <p:cNvPr id="46" name="Group 46"/>
          <p:cNvGrpSpPr/>
          <p:nvPr/>
        </p:nvGrpSpPr>
        <p:grpSpPr>
          <a:xfrm>
            <a:off x="754380" y="4732020"/>
            <a:ext cx="16802100" cy="685800"/>
            <a:chOff x="0" y="0"/>
            <a:chExt cx="22402800" cy="914400"/>
          </a:xfrm>
        </p:grpSpPr>
        <p:sp>
          <p:nvSpPr>
            <p:cNvPr id="47" name="Freeform 4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48" name="Group 48"/>
          <p:cNvGrpSpPr/>
          <p:nvPr/>
        </p:nvGrpSpPr>
        <p:grpSpPr>
          <a:xfrm>
            <a:off x="864108" y="4732020"/>
            <a:ext cx="1837944" cy="685800"/>
            <a:chOff x="0" y="0"/>
            <a:chExt cx="2450592" cy="914400"/>
          </a:xfrm>
        </p:grpSpPr>
        <p:sp>
          <p:nvSpPr>
            <p:cNvPr id="49" name="Freeform 49"/>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50" name="TextBox 50"/>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Prioritize</a:t>
              </a:r>
            </a:p>
          </p:txBody>
        </p:sp>
      </p:grpSp>
      <p:grpSp>
        <p:nvGrpSpPr>
          <p:cNvPr id="51" name="Group 51"/>
          <p:cNvGrpSpPr/>
          <p:nvPr/>
        </p:nvGrpSpPr>
        <p:grpSpPr>
          <a:xfrm>
            <a:off x="2921508" y="4732020"/>
            <a:ext cx="1975104" cy="685800"/>
            <a:chOff x="0" y="0"/>
            <a:chExt cx="2633472" cy="914400"/>
          </a:xfrm>
        </p:grpSpPr>
        <p:sp>
          <p:nvSpPr>
            <p:cNvPr id="52" name="Freeform 52"/>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53" name="TextBox 53"/>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a:t>
              </a:r>
            </a:p>
          </p:txBody>
        </p:sp>
      </p:grpSp>
      <p:grpSp>
        <p:nvGrpSpPr>
          <p:cNvPr id="54" name="Group 54"/>
          <p:cNvGrpSpPr/>
          <p:nvPr/>
        </p:nvGrpSpPr>
        <p:grpSpPr>
          <a:xfrm>
            <a:off x="5116068" y="4732020"/>
            <a:ext cx="6638544" cy="685800"/>
            <a:chOff x="0" y="0"/>
            <a:chExt cx="8851392" cy="914400"/>
          </a:xfrm>
        </p:grpSpPr>
        <p:sp>
          <p:nvSpPr>
            <p:cNvPr id="55" name="Freeform 55"/>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56" name="TextBox 56"/>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57" name="Group 57"/>
          <p:cNvGrpSpPr/>
          <p:nvPr/>
        </p:nvGrpSpPr>
        <p:grpSpPr>
          <a:xfrm>
            <a:off x="11974068" y="4732020"/>
            <a:ext cx="5472684" cy="685800"/>
            <a:chOff x="0" y="0"/>
            <a:chExt cx="7296912" cy="914400"/>
          </a:xfrm>
        </p:grpSpPr>
        <p:sp>
          <p:nvSpPr>
            <p:cNvPr id="58" name="Freeform 58"/>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59" name="TextBox 59"/>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selected attribution as the decisive unknown</a:t>
              </a:r>
            </a:p>
          </p:txBody>
        </p:sp>
      </p:grpSp>
      <p:grpSp>
        <p:nvGrpSpPr>
          <p:cNvPr id="60" name="Group 60"/>
          <p:cNvGrpSpPr/>
          <p:nvPr/>
        </p:nvGrpSpPr>
        <p:grpSpPr>
          <a:xfrm>
            <a:off x="864108" y="5417820"/>
            <a:ext cx="1837944" cy="685800"/>
            <a:chOff x="0" y="0"/>
            <a:chExt cx="2450592" cy="914400"/>
          </a:xfrm>
        </p:grpSpPr>
        <p:sp>
          <p:nvSpPr>
            <p:cNvPr id="61" name="Freeform 61"/>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62" name="TextBox 62"/>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Work-plan</a:t>
              </a:r>
            </a:p>
          </p:txBody>
        </p:sp>
      </p:grpSp>
      <p:grpSp>
        <p:nvGrpSpPr>
          <p:cNvPr id="63" name="Group 63"/>
          <p:cNvGrpSpPr/>
          <p:nvPr/>
        </p:nvGrpSpPr>
        <p:grpSpPr>
          <a:xfrm>
            <a:off x="2921508" y="5417820"/>
            <a:ext cx="1975104" cy="685800"/>
            <a:chOff x="0" y="0"/>
            <a:chExt cx="2633472" cy="914400"/>
          </a:xfrm>
        </p:grpSpPr>
        <p:sp>
          <p:nvSpPr>
            <p:cNvPr id="64" name="Freeform 64"/>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65" name="TextBox 65"/>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Virtual expert</a:t>
              </a:r>
            </a:p>
          </p:txBody>
        </p:sp>
      </p:grpSp>
      <p:grpSp>
        <p:nvGrpSpPr>
          <p:cNvPr id="66" name="Group 66"/>
          <p:cNvGrpSpPr/>
          <p:nvPr/>
        </p:nvGrpSpPr>
        <p:grpSpPr>
          <a:xfrm>
            <a:off x="5116068" y="5417820"/>
            <a:ext cx="6638544" cy="685800"/>
            <a:chOff x="0" y="0"/>
            <a:chExt cx="8851392" cy="914400"/>
          </a:xfrm>
        </p:grpSpPr>
        <p:sp>
          <p:nvSpPr>
            <p:cNvPr id="67" name="Freeform 67"/>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68" name="TextBox 68"/>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Sequenced analyses, data needs, and the Q+1…Q+5 calendar</a:t>
              </a:r>
            </a:p>
          </p:txBody>
        </p:sp>
      </p:grpSp>
      <p:grpSp>
        <p:nvGrpSpPr>
          <p:cNvPr id="69" name="Group 69"/>
          <p:cNvGrpSpPr/>
          <p:nvPr/>
        </p:nvGrpSpPr>
        <p:grpSpPr>
          <a:xfrm>
            <a:off x="11974068" y="5417820"/>
            <a:ext cx="5472684" cy="685800"/>
            <a:chOff x="0" y="0"/>
            <a:chExt cx="7296912" cy="914400"/>
          </a:xfrm>
        </p:grpSpPr>
        <p:sp>
          <p:nvSpPr>
            <p:cNvPr id="70" name="Freeform 70"/>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71" name="TextBox 71"/>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set owners and dates</a:t>
              </a:r>
            </a:p>
          </p:txBody>
        </p:sp>
      </p:grpSp>
      <p:grpSp>
        <p:nvGrpSpPr>
          <p:cNvPr id="72" name="Group 72"/>
          <p:cNvGrpSpPr/>
          <p:nvPr/>
        </p:nvGrpSpPr>
        <p:grpSpPr>
          <a:xfrm>
            <a:off x="754380" y="6103620"/>
            <a:ext cx="16802100" cy="685800"/>
            <a:chOff x="0" y="0"/>
            <a:chExt cx="22402800" cy="914400"/>
          </a:xfrm>
        </p:grpSpPr>
        <p:sp>
          <p:nvSpPr>
            <p:cNvPr id="73" name="Freeform 73"/>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74" name="Group 74"/>
          <p:cNvGrpSpPr/>
          <p:nvPr/>
        </p:nvGrpSpPr>
        <p:grpSpPr>
          <a:xfrm>
            <a:off x="864108" y="6103620"/>
            <a:ext cx="1837944" cy="685800"/>
            <a:chOff x="0" y="0"/>
            <a:chExt cx="2450592" cy="914400"/>
          </a:xfrm>
        </p:grpSpPr>
        <p:sp>
          <p:nvSpPr>
            <p:cNvPr id="75" name="Freeform 75"/>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76" name="TextBox 76"/>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Analyze</a:t>
              </a:r>
            </a:p>
          </p:txBody>
        </p:sp>
      </p:grpSp>
      <p:grpSp>
        <p:nvGrpSpPr>
          <p:cNvPr id="77" name="Group 77"/>
          <p:cNvGrpSpPr/>
          <p:nvPr/>
        </p:nvGrpSpPr>
        <p:grpSpPr>
          <a:xfrm>
            <a:off x="2921508" y="6103620"/>
            <a:ext cx="1975104" cy="685800"/>
            <a:chOff x="0" y="0"/>
            <a:chExt cx="2633472" cy="914400"/>
          </a:xfrm>
        </p:grpSpPr>
        <p:sp>
          <p:nvSpPr>
            <p:cNvPr id="78" name="Freeform 78"/>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79" name="TextBox 79"/>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Virtual expert</a:t>
              </a:r>
            </a:p>
          </p:txBody>
        </p:sp>
      </p:grpSp>
      <p:grpSp>
        <p:nvGrpSpPr>
          <p:cNvPr id="80" name="Group 80"/>
          <p:cNvGrpSpPr/>
          <p:nvPr/>
        </p:nvGrpSpPr>
        <p:grpSpPr>
          <a:xfrm>
            <a:off x="5116068" y="6103620"/>
            <a:ext cx="6638544" cy="685800"/>
            <a:chOff x="0" y="0"/>
            <a:chExt cx="8851392" cy="914400"/>
          </a:xfrm>
        </p:grpSpPr>
        <p:sp>
          <p:nvSpPr>
            <p:cNvPr id="81" name="Freeform 81"/>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82" name="TextBox 82"/>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Event study, rate×volume bridge, correlation, sizing ranges, scenario economics gates</a:t>
              </a:r>
            </a:p>
          </p:txBody>
        </p:sp>
      </p:grpSp>
      <p:grpSp>
        <p:nvGrpSpPr>
          <p:cNvPr id="83" name="Group 83"/>
          <p:cNvGrpSpPr/>
          <p:nvPr/>
        </p:nvGrpSpPr>
        <p:grpSpPr>
          <a:xfrm>
            <a:off x="11974068" y="6103620"/>
            <a:ext cx="5472684" cy="685800"/>
            <a:chOff x="0" y="0"/>
            <a:chExt cx="7296912" cy="914400"/>
          </a:xfrm>
        </p:grpSpPr>
        <p:sp>
          <p:nvSpPr>
            <p:cNvPr id="84" name="Freeform 84"/>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85" name="TextBox 85"/>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Every figure re-checked against 10-K / 10-Q / Ex99.1; blue = assumption</a:t>
              </a:r>
            </a:p>
          </p:txBody>
        </p:sp>
      </p:grpSp>
      <p:grpSp>
        <p:nvGrpSpPr>
          <p:cNvPr id="86" name="Group 86"/>
          <p:cNvGrpSpPr/>
          <p:nvPr/>
        </p:nvGrpSpPr>
        <p:grpSpPr>
          <a:xfrm>
            <a:off x="864108" y="6789420"/>
            <a:ext cx="1837944" cy="685800"/>
            <a:chOff x="0" y="0"/>
            <a:chExt cx="2450592" cy="914400"/>
          </a:xfrm>
        </p:grpSpPr>
        <p:sp>
          <p:nvSpPr>
            <p:cNvPr id="87" name="Freeform 87"/>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88" name="TextBox 88"/>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Synthesize</a:t>
              </a:r>
            </a:p>
          </p:txBody>
        </p:sp>
      </p:grpSp>
      <p:grpSp>
        <p:nvGrpSpPr>
          <p:cNvPr id="89" name="Group 89"/>
          <p:cNvGrpSpPr/>
          <p:nvPr/>
        </p:nvGrpSpPr>
        <p:grpSpPr>
          <a:xfrm>
            <a:off x="2921508" y="6789420"/>
            <a:ext cx="1975104" cy="685800"/>
            <a:chOff x="0" y="0"/>
            <a:chExt cx="2633472" cy="914400"/>
          </a:xfrm>
        </p:grpSpPr>
        <p:sp>
          <p:nvSpPr>
            <p:cNvPr id="90" name="Freeform 90"/>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91" name="TextBox 91"/>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a:t>
              </a:r>
            </a:p>
          </p:txBody>
        </p:sp>
      </p:grpSp>
      <p:grpSp>
        <p:nvGrpSpPr>
          <p:cNvPr id="92" name="Group 92"/>
          <p:cNvGrpSpPr/>
          <p:nvPr/>
        </p:nvGrpSpPr>
        <p:grpSpPr>
          <a:xfrm>
            <a:off x="5116068" y="6789420"/>
            <a:ext cx="6638544" cy="685800"/>
            <a:chOff x="0" y="0"/>
            <a:chExt cx="8851392" cy="914400"/>
          </a:xfrm>
        </p:grpSpPr>
        <p:sp>
          <p:nvSpPr>
            <p:cNvPr id="93" name="Freeform 9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94" name="TextBox 94"/>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a:t>
              </a:r>
            </a:p>
          </p:txBody>
        </p:sp>
      </p:grpSp>
      <p:grpSp>
        <p:nvGrpSpPr>
          <p:cNvPr id="95" name="Group 95"/>
          <p:cNvGrpSpPr/>
          <p:nvPr/>
        </p:nvGrpSpPr>
        <p:grpSpPr>
          <a:xfrm>
            <a:off x="11974068" y="6789420"/>
            <a:ext cx="5472684" cy="685800"/>
            <a:chOff x="0" y="0"/>
            <a:chExt cx="7296912" cy="914400"/>
          </a:xfrm>
        </p:grpSpPr>
        <p:sp>
          <p:nvSpPr>
            <p:cNvPr id="96" name="Freeform 96"/>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97" name="TextBox 97"/>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owns trade-offs and the three recommendations</a:t>
              </a:r>
            </a:p>
          </p:txBody>
        </p:sp>
      </p:grpSp>
      <p:grpSp>
        <p:nvGrpSpPr>
          <p:cNvPr id="98" name="Group 98"/>
          <p:cNvGrpSpPr/>
          <p:nvPr/>
        </p:nvGrpSpPr>
        <p:grpSpPr>
          <a:xfrm>
            <a:off x="754380" y="7475220"/>
            <a:ext cx="16802100" cy="685800"/>
            <a:chOff x="0" y="0"/>
            <a:chExt cx="22402800" cy="914400"/>
          </a:xfrm>
        </p:grpSpPr>
        <p:sp>
          <p:nvSpPr>
            <p:cNvPr id="99" name="Freeform 99"/>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100" name="Group 100"/>
          <p:cNvGrpSpPr/>
          <p:nvPr/>
        </p:nvGrpSpPr>
        <p:grpSpPr>
          <a:xfrm>
            <a:off x="864108" y="7475220"/>
            <a:ext cx="1837944" cy="685800"/>
            <a:chOff x="0" y="0"/>
            <a:chExt cx="2450592" cy="914400"/>
          </a:xfrm>
        </p:grpSpPr>
        <p:sp>
          <p:nvSpPr>
            <p:cNvPr id="101" name="Freeform 101"/>
            <p:cNvSpPr/>
            <p:nvPr/>
          </p:nvSpPr>
          <p:spPr>
            <a:xfrm>
              <a:off x="0" y="0"/>
              <a:ext cx="2450592" cy="914400"/>
            </a:xfrm>
            <a:custGeom>
              <a:avLst/>
              <a:gdLst/>
              <a:ahLst/>
              <a:cxnLst/>
              <a:rect l="l" t="t" r="r" b="b"/>
              <a:pathLst>
                <a:path w="2450592" h="914400">
                  <a:moveTo>
                    <a:pt x="0" y="0"/>
                  </a:moveTo>
                  <a:lnTo>
                    <a:pt x="2450592" y="0"/>
                  </a:lnTo>
                  <a:lnTo>
                    <a:pt x="2450592" y="914400"/>
                  </a:lnTo>
                  <a:lnTo>
                    <a:pt x="0" y="914400"/>
                  </a:lnTo>
                  <a:close/>
                </a:path>
              </a:pathLst>
            </a:custGeom>
            <a:blipFill>
              <a:blip r:embed="rId3">
                <a:alphaModFix amt="0"/>
              </a:blip>
              <a:stretch>
                <a:fillRect t="-2219" b="-2219"/>
              </a:stretch>
            </a:blipFill>
          </p:spPr>
          <p:txBody>
            <a:bodyPr/>
            <a:lstStyle/>
            <a:p>
              <a:endParaRPr lang="en-US"/>
            </a:p>
          </p:txBody>
        </p:sp>
        <p:sp>
          <p:nvSpPr>
            <p:cNvPr id="102" name="TextBox 102"/>
            <p:cNvSpPr txBox="1"/>
            <p:nvPr/>
          </p:nvSpPr>
          <p:spPr>
            <a:xfrm>
              <a:off x="0" y="-38100"/>
              <a:ext cx="2450592" cy="952500"/>
            </a:xfrm>
            <a:prstGeom prst="rect">
              <a:avLst/>
            </a:prstGeom>
          </p:spPr>
          <p:txBody>
            <a:bodyPr lIns="0" tIns="0" rIns="0" bIns="0" rtlCol="0" anchor="ctr"/>
            <a:lstStyle/>
            <a:p>
              <a:pPr algn="l">
                <a:lnSpc>
                  <a:spcPts val="1709"/>
                </a:lnSpc>
              </a:pPr>
              <a:r>
                <a:rPr lang="en-US" sz="1425" b="1">
                  <a:solidFill>
                    <a:srgbClr val="171A1F"/>
                  </a:solidFill>
                  <a:latin typeface="Calibri"/>
                  <a:ea typeface="Calibri (MS) Bold"/>
                  <a:cs typeface="Calibri"/>
                  <a:sym typeface="Calibri (MS) Bold"/>
                </a:rPr>
                <a:t>Communicate</a:t>
              </a:r>
            </a:p>
          </p:txBody>
        </p:sp>
      </p:grpSp>
      <p:grpSp>
        <p:nvGrpSpPr>
          <p:cNvPr id="103" name="Group 103"/>
          <p:cNvGrpSpPr/>
          <p:nvPr/>
        </p:nvGrpSpPr>
        <p:grpSpPr>
          <a:xfrm>
            <a:off x="2921508" y="7475220"/>
            <a:ext cx="1975104" cy="685800"/>
            <a:chOff x="0" y="0"/>
            <a:chExt cx="2633472" cy="914400"/>
          </a:xfrm>
        </p:grpSpPr>
        <p:sp>
          <p:nvSpPr>
            <p:cNvPr id="104" name="Freeform 104"/>
            <p:cNvSpPr/>
            <p:nvPr/>
          </p:nvSpPr>
          <p:spPr>
            <a:xfrm>
              <a:off x="0" y="0"/>
              <a:ext cx="2633472" cy="914400"/>
            </a:xfrm>
            <a:custGeom>
              <a:avLst/>
              <a:gdLst/>
              <a:ahLst/>
              <a:cxnLst/>
              <a:rect l="l" t="t" r="r" b="b"/>
              <a:pathLst>
                <a:path w="2633472" h="914400">
                  <a:moveTo>
                    <a:pt x="0" y="0"/>
                  </a:moveTo>
                  <a:lnTo>
                    <a:pt x="2633472" y="0"/>
                  </a:lnTo>
                  <a:lnTo>
                    <a:pt x="2633472" y="914400"/>
                  </a:lnTo>
                  <a:lnTo>
                    <a:pt x="0" y="914400"/>
                  </a:lnTo>
                  <a:close/>
                </a:path>
              </a:pathLst>
            </a:custGeom>
            <a:blipFill>
              <a:blip r:embed="rId3">
                <a:alphaModFix amt="0"/>
              </a:blip>
              <a:stretch>
                <a:fillRect t="-6116" b="-6116"/>
              </a:stretch>
            </a:blipFill>
          </p:spPr>
          <p:txBody>
            <a:bodyPr/>
            <a:lstStyle/>
            <a:p>
              <a:endParaRPr lang="en-US"/>
            </a:p>
          </p:txBody>
        </p:sp>
        <p:sp>
          <p:nvSpPr>
            <p:cNvPr id="105" name="TextBox 105"/>
            <p:cNvSpPr txBox="1"/>
            <p:nvPr/>
          </p:nvSpPr>
          <p:spPr>
            <a:xfrm>
              <a:off x="0" y="-38100"/>
              <a:ext cx="263347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Virtual expert</a:t>
              </a:r>
            </a:p>
          </p:txBody>
        </p:sp>
      </p:grpSp>
      <p:grpSp>
        <p:nvGrpSpPr>
          <p:cNvPr id="106" name="Group 106"/>
          <p:cNvGrpSpPr/>
          <p:nvPr/>
        </p:nvGrpSpPr>
        <p:grpSpPr>
          <a:xfrm>
            <a:off x="5116068" y="7475220"/>
            <a:ext cx="6638544" cy="685800"/>
            <a:chOff x="0" y="0"/>
            <a:chExt cx="8851392" cy="914400"/>
          </a:xfrm>
        </p:grpSpPr>
        <p:sp>
          <p:nvSpPr>
            <p:cNvPr id="107" name="Freeform 107"/>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108" name="TextBox 108"/>
            <p:cNvSpPr txBox="1"/>
            <p:nvPr/>
          </p:nvSpPr>
          <p:spPr>
            <a:xfrm>
              <a:off x="0" y="-38100"/>
              <a:ext cx="885139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Client-ready exhibits, takeaway titles, Q&amp;A prep, pre-mortem draft</a:t>
              </a:r>
            </a:p>
          </p:txBody>
        </p:sp>
      </p:grpSp>
      <p:grpSp>
        <p:nvGrpSpPr>
          <p:cNvPr id="109" name="Group 109"/>
          <p:cNvGrpSpPr/>
          <p:nvPr/>
        </p:nvGrpSpPr>
        <p:grpSpPr>
          <a:xfrm>
            <a:off x="11974068" y="7475220"/>
            <a:ext cx="5472684" cy="685800"/>
            <a:chOff x="0" y="0"/>
            <a:chExt cx="7296912" cy="914400"/>
          </a:xfrm>
        </p:grpSpPr>
        <p:sp>
          <p:nvSpPr>
            <p:cNvPr id="110" name="Freeform 110"/>
            <p:cNvSpPr/>
            <p:nvPr/>
          </p:nvSpPr>
          <p:spPr>
            <a:xfrm>
              <a:off x="0" y="0"/>
              <a:ext cx="7296912" cy="914400"/>
            </a:xfrm>
            <a:custGeom>
              <a:avLst/>
              <a:gdLst/>
              <a:ahLst/>
              <a:cxnLst/>
              <a:rect l="l" t="t" r="r" b="b"/>
              <a:pathLst>
                <a:path w="7296912" h="914400">
                  <a:moveTo>
                    <a:pt x="0" y="0"/>
                  </a:moveTo>
                  <a:lnTo>
                    <a:pt x="7296912" y="0"/>
                  </a:lnTo>
                  <a:lnTo>
                    <a:pt x="7296912" y="914400"/>
                  </a:lnTo>
                  <a:lnTo>
                    <a:pt x="0" y="914400"/>
                  </a:lnTo>
                  <a:close/>
                </a:path>
              </a:pathLst>
            </a:custGeom>
            <a:blipFill>
              <a:blip r:embed="rId3">
                <a:alphaModFix amt="0"/>
              </a:blip>
              <a:stretch>
                <a:fillRect t="-105490" b="-105490"/>
              </a:stretch>
            </a:blipFill>
          </p:spPr>
          <p:txBody>
            <a:bodyPr/>
            <a:lstStyle/>
            <a:p>
              <a:endParaRPr lang="en-US"/>
            </a:p>
          </p:txBody>
        </p:sp>
        <p:sp>
          <p:nvSpPr>
            <p:cNvPr id="111" name="TextBox 111"/>
            <p:cNvSpPr txBox="1"/>
            <p:nvPr/>
          </p:nvSpPr>
          <p:spPr>
            <a:xfrm>
              <a:off x="0" y="-38100"/>
              <a:ext cx="7296912" cy="952500"/>
            </a:xfrm>
            <a:prstGeom prst="rect">
              <a:avLst/>
            </a:prstGeom>
          </p:spPr>
          <p:txBody>
            <a:bodyPr lIns="0" tIns="0" rIns="0" bIns="0" rtlCol="0" anchor="ctr"/>
            <a:lstStyle/>
            <a:p>
              <a:pPr algn="l">
                <a:lnSpc>
                  <a:spcPts val="1709"/>
                </a:lnSpc>
              </a:pPr>
              <a:r>
                <a:rPr lang="en-US" sz="1425">
                  <a:solidFill>
                    <a:srgbClr val="66717D"/>
                  </a:solidFill>
                  <a:latin typeface="Calibri"/>
                  <a:ea typeface="Calibri (MS)"/>
                  <a:cs typeface="Calibri"/>
                  <a:sym typeface="Calibri (MS)"/>
                </a:rPr>
                <a:t>Team reviewed every slide; dry-run against the CEO script</a:t>
              </a:r>
            </a:p>
          </p:txBody>
        </p:sp>
      </p:grpSp>
      <p:grpSp>
        <p:nvGrpSpPr>
          <p:cNvPr id="112" name="Group 112"/>
          <p:cNvGrpSpPr/>
          <p:nvPr/>
        </p:nvGrpSpPr>
        <p:grpSpPr>
          <a:xfrm>
            <a:off x="754380" y="8298180"/>
            <a:ext cx="16802100" cy="754380"/>
            <a:chOff x="0" y="0"/>
            <a:chExt cx="22402800" cy="1005840"/>
          </a:xfrm>
        </p:grpSpPr>
        <p:sp>
          <p:nvSpPr>
            <p:cNvPr id="113" name="Freeform 113"/>
            <p:cNvSpPr/>
            <p:nvPr/>
          </p:nvSpPr>
          <p:spPr>
            <a:xfrm>
              <a:off x="0" y="0"/>
              <a:ext cx="22402800" cy="1005840"/>
            </a:xfrm>
            <a:custGeom>
              <a:avLst/>
              <a:gdLst/>
              <a:ahLst/>
              <a:cxnLst/>
              <a:rect l="l" t="t" r="r" b="b"/>
              <a:pathLst>
                <a:path w="22402800" h="1005840">
                  <a:moveTo>
                    <a:pt x="0" y="0"/>
                  </a:moveTo>
                  <a:lnTo>
                    <a:pt x="22402800" y="0"/>
                  </a:lnTo>
                  <a:lnTo>
                    <a:pt x="22402800" y="1005840"/>
                  </a:lnTo>
                  <a:lnTo>
                    <a:pt x="0" y="1005840"/>
                  </a:lnTo>
                  <a:close/>
                </a:path>
              </a:pathLst>
            </a:custGeom>
            <a:blipFill>
              <a:blip r:embed="rId3">
                <a:alphaModFix amt="0"/>
              </a:blip>
              <a:stretch>
                <a:fillRect t="-383984" b="-383984"/>
              </a:stretch>
            </a:blipFill>
          </p:spPr>
          <p:txBody>
            <a:bodyPr/>
            <a:lstStyle/>
            <a:p>
              <a:endParaRPr lang="en-US"/>
            </a:p>
          </p:txBody>
        </p:sp>
        <p:sp>
          <p:nvSpPr>
            <p:cNvPr id="114" name="TextBox 114"/>
            <p:cNvSpPr txBox="1"/>
            <p:nvPr/>
          </p:nvSpPr>
          <p:spPr>
            <a:xfrm>
              <a:off x="0" y="-38100"/>
              <a:ext cx="22402800" cy="1043940"/>
            </a:xfrm>
            <a:prstGeom prst="rect">
              <a:avLst/>
            </a:prstGeom>
          </p:spPr>
          <p:txBody>
            <a:bodyPr lIns="0" tIns="0" rIns="0" bIns="0" rtlCol="0" anchor="ctr"/>
            <a:lstStyle/>
            <a:p>
              <a:pPr algn="l">
                <a:lnSpc>
                  <a:spcPts val="1709"/>
                </a:lnSpc>
              </a:pPr>
              <a:r>
                <a:rPr lang="en-US" sz="1425" i="1">
                  <a:solidFill>
                    <a:srgbClr val="66717D"/>
                  </a:solidFill>
                  <a:latin typeface="Calibri"/>
                  <a:ea typeface="Calibri (MS) Italics"/>
                  <a:cs typeface="Calibri"/>
                  <a:sym typeface="Calibri (MS) Italics"/>
                </a:rPr>
                <a:t>Prompt controls used throughout: role, context, task, constraints, format, examples. Tools: Claude (analysis, exhibits, deck generation), Cursor canvases (charts), Excel (workbook). Repository of prompts, canvases, and workbooks: github.com/KyleConger/Foundation-Consulting-Case.</a:t>
              </a:r>
            </a:p>
          </p:txBody>
        </p:sp>
      </p:grpSp>
      <p:grpSp>
        <p:nvGrpSpPr>
          <p:cNvPr id="115" name="Group 115"/>
          <p:cNvGrpSpPr/>
          <p:nvPr/>
        </p:nvGrpSpPr>
        <p:grpSpPr>
          <a:xfrm>
            <a:off x="754380" y="9189720"/>
            <a:ext cx="16733520" cy="411480"/>
            <a:chOff x="0" y="0"/>
            <a:chExt cx="22311360" cy="548640"/>
          </a:xfrm>
        </p:grpSpPr>
        <p:sp>
          <p:nvSpPr>
            <p:cNvPr id="116" name="Freeform 116"/>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17" name="TextBox 117"/>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(p.11)</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18" name="Group 118"/>
          <p:cNvGrpSpPr/>
          <p:nvPr/>
        </p:nvGrpSpPr>
        <p:grpSpPr>
          <a:xfrm>
            <a:off x="17076420" y="9669780"/>
            <a:ext cx="960120" cy="411480"/>
            <a:chOff x="0" y="0"/>
            <a:chExt cx="1280160" cy="548640"/>
          </a:xfrm>
        </p:grpSpPr>
        <p:sp>
          <p:nvSpPr>
            <p:cNvPr id="119" name="Freeform 119"/>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20" name="TextBox 120"/>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40</a:t>
              </a:r>
            </a:p>
          </p:txBody>
        </p:sp>
      </p:grpSp>
      <p:grpSp>
        <p:nvGrpSpPr>
          <p:cNvPr id="121" name="Group 121"/>
          <p:cNvGrpSpPr/>
          <p:nvPr/>
        </p:nvGrpSpPr>
        <p:grpSpPr>
          <a:xfrm>
            <a:off x="754380" y="9669780"/>
            <a:ext cx="16047720" cy="411480"/>
            <a:chOff x="0" y="0"/>
            <a:chExt cx="21396960" cy="548640"/>
          </a:xfrm>
        </p:grpSpPr>
        <p:sp>
          <p:nvSpPr>
            <p:cNvPr id="122" name="Freeform 122"/>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23" name="TextBox 123"/>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440180"/>
          </a:xfrm>
          <a:prstGeom prst="rect">
            <a:avLst/>
          </a:prstGeom>
          <a:noFill/>
        </p:spPr>
        <p:txBody>
          <a:bodyPr wrap="square" lIns="0" tIns="0" rIns="0" bIns="0" anchor="t"/>
          <a:lstStyle/>
          <a:p>
            <a:pPr algn="l">
              <a:lnSpc>
                <a:spcPct val="100000"/>
              </a:lnSpc>
            </a:pPr>
            <a:r>
              <a:rPr sz="3300" b="1">
                <a:solidFill>
                  <a:srgbClr val="0B1F3A"/>
                </a:solidFill>
                <a:latin typeface="Calibri"/>
              </a:rPr>
              <a:t>Charter leads residential locations in 19 states; Comcast leads in 27, including DC — availability, not subscribers</a:t>
            </a:r>
          </a:p>
        </p:txBody>
      </p:sp>
      <p:sp>
        <p:nvSpPr>
          <p:cNvPr id="4" name="TextBox 3"/>
          <p:cNvSpPr txBox="1"/>
          <p:nvPr/>
        </p:nvSpPr>
        <p:spPr>
          <a:xfrm>
            <a:off x="754380" y="9040273"/>
            <a:ext cx="16664940" cy="438912"/>
          </a:xfrm>
          <a:prstGeom prst="rect">
            <a:avLst/>
          </a:prstGeom>
          <a:noFill/>
        </p:spPr>
        <p:txBody>
          <a:bodyPr wrap="square" lIns="0" tIns="0" rIns="0" bIns="0" anchor="t"/>
          <a:lstStyle/>
          <a:p>
            <a:pPr algn="l">
              <a:lnSpc>
                <a:spcPct val="100000"/>
              </a:lnSpc>
            </a:pPr>
            <a:r>
              <a:rPr sz="1350">
                <a:solidFill>
                  <a:srgbClr val="8A94A0"/>
                </a:solidFill>
                <a:latin typeface="Calibri"/>
              </a:rPr>
              <a:t>Source: FCC Broadband Data Collection, National Broadband Map — residential location availability as of 31 Dec 2025 (D25, file rev. 15 Sep 2026). Not subscriber share.</a:t>
            </a:r>
          </a:p>
        </p:txBody>
      </p:sp>
      <p:sp>
        <p:nvSpPr>
          <p:cNvPr id="7" name="Rectangle 6"/>
          <p:cNvSpPr/>
          <p:nvPr/>
        </p:nvSpPr>
        <p:spPr>
          <a:xfrm>
            <a:off x="754380" y="2537460"/>
            <a:ext cx="4008501" cy="25374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973836" y="2715768"/>
            <a:ext cx="3569589" cy="850392"/>
          </a:xfrm>
          <a:prstGeom prst="rect">
            <a:avLst/>
          </a:prstGeom>
          <a:noFill/>
        </p:spPr>
        <p:txBody>
          <a:bodyPr wrap="square" lIns="0" tIns="0" rIns="0" bIns="0" anchor="t"/>
          <a:lstStyle/>
          <a:p>
            <a:pPr algn="l">
              <a:lnSpc>
                <a:spcPct val="100000"/>
              </a:lnSpc>
            </a:pPr>
            <a:r>
              <a:rPr sz="4800" b="1">
                <a:solidFill>
                  <a:srgbClr val="0072CE"/>
                </a:solidFill>
                <a:latin typeface="Calibri"/>
              </a:rPr>
              <a:t>19</a:t>
            </a:r>
          </a:p>
        </p:txBody>
      </p:sp>
      <p:sp>
        <p:nvSpPr>
          <p:cNvPr id="9" name="TextBox 8"/>
          <p:cNvSpPr txBox="1"/>
          <p:nvPr/>
        </p:nvSpPr>
        <p:spPr>
          <a:xfrm>
            <a:off x="973836" y="3593592"/>
            <a:ext cx="3569589" cy="576072"/>
          </a:xfrm>
          <a:prstGeom prst="rect">
            <a:avLst/>
          </a:prstGeom>
          <a:noFill/>
        </p:spPr>
        <p:txBody>
          <a:bodyPr wrap="square" lIns="0" tIns="0" rIns="0" bIns="0" anchor="t"/>
          <a:lstStyle/>
          <a:p>
            <a:pPr algn="l">
              <a:lnSpc>
                <a:spcPct val="100000"/>
              </a:lnSpc>
            </a:pPr>
            <a:r>
              <a:rPr sz="1950" b="1">
                <a:solidFill>
                  <a:srgbClr val="0B1F3A"/>
                </a:solidFill>
                <a:latin typeface="Calibri"/>
              </a:rPr>
              <a:t>States Charter leads</a:t>
            </a:r>
          </a:p>
        </p:txBody>
      </p:sp>
      <p:sp>
        <p:nvSpPr>
          <p:cNvPr id="10" name="TextBox 9"/>
          <p:cNvSpPr txBox="1"/>
          <p:nvPr/>
        </p:nvSpPr>
        <p:spPr>
          <a:xfrm>
            <a:off x="973836" y="4224528"/>
            <a:ext cx="3569589" cy="685800"/>
          </a:xfrm>
          <a:prstGeom prst="rect">
            <a:avLst/>
          </a:prstGeom>
          <a:noFill/>
        </p:spPr>
        <p:txBody>
          <a:bodyPr wrap="square" lIns="0" tIns="0" rIns="0" bIns="0" anchor="t"/>
          <a:lstStyle/>
          <a:p>
            <a:pPr>
              <a:lnSpc>
                <a:spcPct val="105000"/>
              </a:lnSpc>
              <a:spcAft>
                <a:spcPts val="300"/>
              </a:spcAft>
            </a:pPr>
            <a:r>
              <a:rPr sz="1650">
                <a:solidFill>
                  <a:srgbClr val="5B6672"/>
                </a:solidFill>
                <a:latin typeface="Calibri"/>
              </a:rPr>
              <a:t>More residential locations</a:t>
            </a:r>
          </a:p>
          <a:p>
            <a:pPr>
              <a:lnSpc>
                <a:spcPct val="105000"/>
              </a:lnSpc>
              <a:spcAft>
                <a:spcPts val="300"/>
              </a:spcAft>
            </a:pPr>
            <a:r>
              <a:rPr sz="1650">
                <a:solidFill>
                  <a:srgbClr val="5B6672"/>
                </a:solidFill>
                <a:latin typeface="Calibri"/>
              </a:rPr>
              <a:t>than Comcast</a:t>
            </a:r>
          </a:p>
        </p:txBody>
      </p:sp>
      <p:sp>
        <p:nvSpPr>
          <p:cNvPr id="11" name="Rectangle 10"/>
          <p:cNvSpPr/>
          <p:nvPr/>
        </p:nvSpPr>
        <p:spPr>
          <a:xfrm>
            <a:off x="5009769" y="2537460"/>
            <a:ext cx="4008501" cy="25374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5229225" y="2715768"/>
            <a:ext cx="3569589" cy="850392"/>
          </a:xfrm>
          <a:prstGeom prst="rect">
            <a:avLst/>
          </a:prstGeom>
          <a:noFill/>
        </p:spPr>
        <p:txBody>
          <a:bodyPr wrap="square" lIns="0" tIns="0" rIns="0" bIns="0" anchor="t"/>
          <a:lstStyle/>
          <a:p>
            <a:pPr algn="l">
              <a:lnSpc>
                <a:spcPct val="100000"/>
              </a:lnSpc>
            </a:pPr>
            <a:r>
              <a:rPr sz="4800" b="1">
                <a:solidFill>
                  <a:srgbClr val="0B1F3A"/>
                </a:solidFill>
                <a:latin typeface="Calibri"/>
              </a:rPr>
              <a:t>27</a:t>
            </a:r>
          </a:p>
        </p:txBody>
      </p:sp>
      <p:sp>
        <p:nvSpPr>
          <p:cNvPr id="13" name="TextBox 12"/>
          <p:cNvSpPr txBox="1"/>
          <p:nvPr/>
        </p:nvSpPr>
        <p:spPr>
          <a:xfrm>
            <a:off x="5229225" y="3593592"/>
            <a:ext cx="3569589" cy="576072"/>
          </a:xfrm>
          <a:prstGeom prst="rect">
            <a:avLst/>
          </a:prstGeom>
          <a:noFill/>
        </p:spPr>
        <p:txBody>
          <a:bodyPr wrap="square" lIns="0" tIns="0" rIns="0" bIns="0" anchor="t"/>
          <a:lstStyle/>
          <a:p>
            <a:pPr algn="l">
              <a:lnSpc>
                <a:spcPct val="100000"/>
              </a:lnSpc>
            </a:pPr>
            <a:r>
              <a:rPr sz="1950" b="1">
                <a:solidFill>
                  <a:srgbClr val="0B1F3A"/>
                </a:solidFill>
                <a:latin typeface="Calibri"/>
              </a:rPr>
              <a:t>Jurisdictions Comcast leads</a:t>
            </a:r>
          </a:p>
        </p:txBody>
      </p:sp>
      <p:sp>
        <p:nvSpPr>
          <p:cNvPr id="14" name="TextBox 13"/>
          <p:cNvSpPr txBox="1"/>
          <p:nvPr/>
        </p:nvSpPr>
        <p:spPr>
          <a:xfrm>
            <a:off x="5229225" y="4224528"/>
            <a:ext cx="3569589" cy="685800"/>
          </a:xfrm>
          <a:prstGeom prst="rect">
            <a:avLst/>
          </a:prstGeom>
          <a:noFill/>
        </p:spPr>
        <p:txBody>
          <a:bodyPr wrap="square" lIns="0" tIns="0" rIns="0" bIns="0" anchor="t"/>
          <a:lstStyle/>
          <a:p>
            <a:pPr>
              <a:lnSpc>
                <a:spcPct val="105000"/>
              </a:lnSpc>
              <a:spcAft>
                <a:spcPts val="300"/>
              </a:spcAft>
            </a:pPr>
            <a:r>
              <a:rPr sz="1650">
                <a:solidFill>
                  <a:srgbClr val="5B6672"/>
                </a:solidFill>
                <a:latin typeface="Calibri"/>
              </a:rPr>
              <a:t>26 states plus the</a:t>
            </a:r>
          </a:p>
          <a:p>
            <a:pPr>
              <a:lnSpc>
                <a:spcPct val="105000"/>
              </a:lnSpc>
              <a:spcAft>
                <a:spcPts val="300"/>
              </a:spcAft>
            </a:pPr>
            <a:r>
              <a:rPr sz="1650">
                <a:solidFill>
                  <a:srgbClr val="5B6672"/>
                </a:solidFill>
                <a:latin typeface="Calibri"/>
              </a:rPr>
              <a:t>District of Columbia</a:t>
            </a:r>
          </a:p>
        </p:txBody>
      </p:sp>
      <p:sp>
        <p:nvSpPr>
          <p:cNvPr id="15" name="Rectangle 14"/>
          <p:cNvSpPr/>
          <p:nvPr/>
        </p:nvSpPr>
        <p:spPr>
          <a:xfrm>
            <a:off x="9265158" y="2537460"/>
            <a:ext cx="4008501" cy="25374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9484614" y="2715768"/>
            <a:ext cx="3569589" cy="850392"/>
          </a:xfrm>
          <a:prstGeom prst="rect">
            <a:avLst/>
          </a:prstGeom>
          <a:noFill/>
        </p:spPr>
        <p:txBody>
          <a:bodyPr wrap="square" lIns="0" tIns="0" rIns="0" bIns="0" anchor="t"/>
          <a:lstStyle/>
          <a:p>
            <a:pPr algn="l">
              <a:lnSpc>
                <a:spcPct val="100000"/>
              </a:lnSpc>
            </a:pPr>
            <a:r>
              <a:rPr sz="4800" b="1">
                <a:solidFill>
                  <a:srgbClr val="5B6672"/>
                </a:solidFill>
                <a:latin typeface="Calibri"/>
              </a:rPr>
              <a:t>5</a:t>
            </a:r>
          </a:p>
        </p:txBody>
      </p:sp>
      <p:sp>
        <p:nvSpPr>
          <p:cNvPr id="17" name="TextBox 16"/>
          <p:cNvSpPr txBox="1"/>
          <p:nvPr/>
        </p:nvSpPr>
        <p:spPr>
          <a:xfrm>
            <a:off x="9484614" y="3593592"/>
            <a:ext cx="3569589" cy="576072"/>
          </a:xfrm>
          <a:prstGeom prst="rect">
            <a:avLst/>
          </a:prstGeom>
          <a:noFill/>
        </p:spPr>
        <p:txBody>
          <a:bodyPr wrap="square" lIns="0" tIns="0" rIns="0" bIns="0" anchor="t"/>
          <a:lstStyle/>
          <a:p>
            <a:pPr algn="l">
              <a:lnSpc>
                <a:spcPct val="100000"/>
              </a:lnSpc>
            </a:pPr>
            <a:r>
              <a:rPr sz="1950" b="1">
                <a:solidFill>
                  <a:srgbClr val="0B1F3A"/>
                </a:solidFill>
                <a:latin typeface="Calibri"/>
              </a:rPr>
              <a:t>States neither is present</a:t>
            </a:r>
          </a:p>
        </p:txBody>
      </p:sp>
      <p:sp>
        <p:nvSpPr>
          <p:cNvPr id="18" name="TextBox 17"/>
          <p:cNvSpPr txBox="1"/>
          <p:nvPr/>
        </p:nvSpPr>
        <p:spPr>
          <a:xfrm>
            <a:off x="9484614" y="4224528"/>
            <a:ext cx="3569589" cy="685800"/>
          </a:xfrm>
          <a:prstGeom prst="rect">
            <a:avLst/>
          </a:prstGeom>
          <a:noFill/>
        </p:spPr>
        <p:txBody>
          <a:bodyPr wrap="square" lIns="0" tIns="0" rIns="0" bIns="0" anchor="t"/>
          <a:lstStyle/>
          <a:p>
            <a:pPr>
              <a:lnSpc>
                <a:spcPct val="105000"/>
              </a:lnSpc>
              <a:spcAft>
                <a:spcPts val="300"/>
              </a:spcAft>
            </a:pPr>
            <a:r>
              <a:rPr sz="1650">
                <a:solidFill>
                  <a:srgbClr val="5B6672"/>
                </a:solidFill>
                <a:latin typeface="Calibri"/>
              </a:rPr>
              <a:t>AK, IA, ND, OK, SD</a:t>
            </a:r>
          </a:p>
        </p:txBody>
      </p:sp>
      <p:sp>
        <p:nvSpPr>
          <p:cNvPr id="19" name="Rectangle 18"/>
          <p:cNvSpPr/>
          <p:nvPr/>
        </p:nvSpPr>
        <p:spPr>
          <a:xfrm>
            <a:off x="13520547" y="2537460"/>
            <a:ext cx="4008501" cy="25374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13740003" y="2715768"/>
            <a:ext cx="3569589" cy="850392"/>
          </a:xfrm>
          <a:prstGeom prst="rect">
            <a:avLst/>
          </a:prstGeom>
          <a:noFill/>
        </p:spPr>
        <p:txBody>
          <a:bodyPr wrap="square" lIns="0" tIns="0" rIns="0" bIns="0" anchor="t"/>
          <a:lstStyle/>
          <a:p>
            <a:pPr algn="l">
              <a:lnSpc>
                <a:spcPct val="100000"/>
              </a:lnSpc>
            </a:pPr>
            <a:r>
              <a:rPr sz="4800" b="1">
                <a:solidFill>
                  <a:srgbClr val="5B6672"/>
                </a:solidFill>
                <a:latin typeface="Calibri"/>
              </a:rPr>
              <a:t>0</a:t>
            </a:r>
          </a:p>
        </p:txBody>
      </p:sp>
      <p:sp>
        <p:nvSpPr>
          <p:cNvPr id="21" name="TextBox 20"/>
          <p:cNvSpPr txBox="1"/>
          <p:nvPr/>
        </p:nvSpPr>
        <p:spPr>
          <a:xfrm>
            <a:off x="13740003" y="3593592"/>
            <a:ext cx="3569589" cy="576072"/>
          </a:xfrm>
          <a:prstGeom prst="rect">
            <a:avLst/>
          </a:prstGeom>
          <a:noFill/>
        </p:spPr>
        <p:txBody>
          <a:bodyPr wrap="square" lIns="0" tIns="0" rIns="0" bIns="0" anchor="t"/>
          <a:lstStyle/>
          <a:p>
            <a:pPr algn="l">
              <a:lnSpc>
                <a:spcPct val="100000"/>
              </a:lnSpc>
            </a:pPr>
            <a:r>
              <a:rPr sz="1950" b="1">
                <a:solidFill>
                  <a:srgbClr val="0B1F3A"/>
                </a:solidFill>
                <a:latin typeface="Calibri"/>
              </a:rPr>
              <a:t>Ties</a:t>
            </a:r>
          </a:p>
        </p:txBody>
      </p:sp>
      <p:sp>
        <p:nvSpPr>
          <p:cNvPr id="22" name="TextBox 21"/>
          <p:cNvSpPr txBox="1"/>
          <p:nvPr/>
        </p:nvSpPr>
        <p:spPr>
          <a:xfrm>
            <a:off x="13740003" y="4224528"/>
            <a:ext cx="3569589" cy="685800"/>
          </a:xfrm>
          <a:prstGeom prst="rect">
            <a:avLst/>
          </a:prstGeom>
          <a:noFill/>
        </p:spPr>
        <p:txBody>
          <a:bodyPr wrap="square" lIns="0" tIns="0" rIns="0" bIns="0" anchor="t"/>
          <a:lstStyle/>
          <a:p>
            <a:pPr>
              <a:lnSpc>
                <a:spcPct val="105000"/>
              </a:lnSpc>
              <a:spcAft>
                <a:spcPts val="300"/>
              </a:spcAft>
            </a:pPr>
            <a:r>
              <a:rPr sz="1650">
                <a:solidFill>
                  <a:srgbClr val="5B6672"/>
                </a:solidFill>
                <a:latin typeface="Calibri"/>
              </a:rPr>
              <a:t>Strictly larger share;</a:t>
            </a:r>
          </a:p>
          <a:p>
            <a:pPr>
              <a:lnSpc>
                <a:spcPct val="105000"/>
              </a:lnSpc>
              <a:spcAft>
                <a:spcPts val="300"/>
              </a:spcAft>
            </a:pPr>
            <a:r>
              <a:rPr sz="1650">
                <a:solidFill>
                  <a:srgbClr val="5B6672"/>
                </a:solidFill>
                <a:latin typeface="Calibri"/>
              </a:rPr>
              <a:t>no state is equal</a:t>
            </a:r>
          </a:p>
        </p:txBody>
      </p:sp>
      <p:sp>
        <p:nvSpPr>
          <p:cNvPr id="23" name="Rectangle 22"/>
          <p:cNvSpPr/>
          <p:nvPr/>
        </p:nvSpPr>
        <p:spPr>
          <a:xfrm>
            <a:off x="754380" y="5294376"/>
            <a:ext cx="16774668" cy="1069848"/>
          </a:xfrm>
          <a:prstGeom prst="rect">
            <a:avLst/>
          </a:prstGeom>
          <a:solidFill>
            <a:srgbClr val="0B1F3A"/>
          </a:solidFill>
          <a:ln w="12700">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1028700" y="5431536"/>
            <a:ext cx="16253460" cy="795528"/>
          </a:xfrm>
          <a:prstGeom prst="rect">
            <a:avLst/>
          </a:prstGeom>
          <a:noFill/>
        </p:spPr>
        <p:txBody>
          <a:bodyPr wrap="square" lIns="0" tIns="0" rIns="0" bIns="0" anchor="ctr"/>
          <a:lstStyle/>
          <a:p>
            <a:pPr>
              <a:lnSpc>
                <a:spcPct val="105000"/>
              </a:lnSpc>
              <a:spcAft>
                <a:spcPts val="300"/>
              </a:spcAft>
            </a:pPr>
            <a:r>
              <a:rPr sz="1650" b="1">
                <a:solidFill>
                  <a:srgbClr val="0072CE"/>
                </a:solidFill>
                <a:latin typeface="Calibri"/>
              </a:rPr>
              <a:t>NEITHER PRESENT   </a:t>
            </a:r>
            <a:r>
              <a:rPr sz="2100" b="1">
                <a:solidFill>
                  <a:srgbClr val="FFFFFF"/>
                </a:solidFill>
                <a:latin typeface="Calibri"/>
              </a:rPr>
              <a:t>Alaska, Iowa, North Dakota, Oklahoma, and South Dakota. </a:t>
            </a:r>
            <a:r>
              <a:rPr sz="2100">
                <a:solidFill>
                  <a:srgbClr val="DCE9F7"/>
                </a:solidFill>
                <a:latin typeface="Calibri"/>
              </a:rPr>
              <a:t>Neither operator reports a positive residential footprint.</a:t>
            </a:r>
          </a:p>
        </p:txBody>
      </p:sp>
      <p:sp>
        <p:nvSpPr>
          <p:cNvPr id="25" name="Rectangle 24"/>
          <p:cNvSpPr/>
          <p:nvPr/>
        </p:nvSpPr>
        <p:spPr>
          <a:xfrm>
            <a:off x="754380" y="6583680"/>
            <a:ext cx="16774668" cy="2359152"/>
          </a:xfrm>
          <a:prstGeom prst="rect">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028700" y="6748272"/>
            <a:ext cx="16253460" cy="2057400"/>
          </a:xfrm>
          <a:prstGeom prst="rect">
            <a:avLst/>
          </a:prstGeom>
          <a:noFill/>
        </p:spPr>
        <p:txBody>
          <a:bodyPr wrap="square" lIns="0" tIns="0" rIns="0" bIns="0" anchor="t"/>
          <a:lstStyle/>
          <a:p>
            <a:pPr>
              <a:lnSpc>
                <a:spcPct val="105000"/>
              </a:lnSpc>
              <a:spcAft>
                <a:spcPts val="300"/>
              </a:spcAft>
            </a:pPr>
            <a:r>
              <a:rPr sz="1650" b="1">
                <a:solidFill>
                  <a:srgbClr val="0072CE"/>
                </a:solidFill>
                <a:latin typeface="Calibri"/>
              </a:rPr>
              <a:t>WHAT THIS COUNTS</a:t>
            </a:r>
          </a:p>
          <a:p>
            <a:pPr>
              <a:lnSpc>
                <a:spcPct val="105000"/>
              </a:lnSpc>
              <a:spcAft>
                <a:spcPts val="300"/>
              </a:spcAft>
            </a:pPr>
            <a:r>
              <a:rPr sz="1950">
                <a:solidFill>
                  <a:srgbClr val="5B6672"/>
                </a:solidFill>
                <a:latin typeface="Calibri"/>
              </a:rPr>
              <a:t>FCC BDC residential location availability as of 31 December 2025 (D25). Estimated units = the share of residential Broadband Serviceable Locations where the operator reports fixed broadband, times that state’s residential fabric units.</a:t>
            </a:r>
          </a:p>
          <a:p>
            <a:pPr>
              <a:lnSpc>
                <a:spcPct val="105000"/>
              </a:lnSpc>
              <a:spcAft>
                <a:spcPts val="300"/>
              </a:spcAft>
            </a:pPr>
            <a:r>
              <a:rPr sz="1950">
                <a:solidFill>
                  <a:srgbClr val="5B6672"/>
                </a:solidFill>
                <a:latin typeface="Calibri"/>
              </a:rPr>
              <a:t>A location the provider can serve is not a subscriber. This is not Form 477 subscriptions and not a 10-K state mix. Charter is present in 42 states + DC; Comcast in 41 states + DC. Affiliates are not rolled in.</a:t>
            </a:r>
          </a:p>
        </p:txBody>
      </p:sp>
      <p:grpSp>
        <p:nvGrpSpPr>
          <p:cNvPr id="27" name="Group 143">
            <a:extLst>
              <a:ext uri="{FF2B5EF4-FFF2-40B4-BE49-F238E27FC236}">
                <a16:creationId xmlns:a16="http://schemas.microsoft.com/office/drawing/2014/main" id="{98C4395D-8C97-2438-45A7-1B7681CF5C3D}"/>
              </a:ext>
            </a:extLst>
          </p:cNvPr>
          <p:cNvGrpSpPr/>
          <p:nvPr/>
        </p:nvGrpSpPr>
        <p:grpSpPr>
          <a:xfrm>
            <a:off x="754380" y="9168289"/>
            <a:ext cx="16733521" cy="432911"/>
            <a:chOff x="0" y="-28575"/>
            <a:chExt cx="22311361" cy="577215"/>
          </a:xfrm>
        </p:grpSpPr>
        <p:sp>
          <p:nvSpPr>
            <p:cNvPr id="28" name="Freeform 144">
              <a:extLst>
                <a:ext uri="{FF2B5EF4-FFF2-40B4-BE49-F238E27FC236}">
                  <a16:creationId xmlns:a16="http://schemas.microsoft.com/office/drawing/2014/main" id="{8EF9E752-3F5E-BC9C-900E-53ECC4E53F53}"/>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9" name="TextBox 145">
              <a:extLst>
                <a:ext uri="{FF2B5EF4-FFF2-40B4-BE49-F238E27FC236}">
                  <a16:creationId xmlns:a16="http://schemas.microsoft.com/office/drawing/2014/main" id="{69F899A6-D7BA-5D14-927A-0713E7614413}"/>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30" name="Group 149">
            <a:extLst>
              <a:ext uri="{FF2B5EF4-FFF2-40B4-BE49-F238E27FC236}">
                <a16:creationId xmlns:a16="http://schemas.microsoft.com/office/drawing/2014/main" id="{093FD997-A12F-1C38-3BAF-9771E44F1086}"/>
              </a:ext>
            </a:extLst>
          </p:cNvPr>
          <p:cNvGrpSpPr/>
          <p:nvPr/>
        </p:nvGrpSpPr>
        <p:grpSpPr>
          <a:xfrm>
            <a:off x="754380" y="9648349"/>
            <a:ext cx="16047721" cy="432911"/>
            <a:chOff x="0" y="-28575"/>
            <a:chExt cx="21396961" cy="577215"/>
          </a:xfrm>
        </p:grpSpPr>
        <p:sp>
          <p:nvSpPr>
            <p:cNvPr id="31" name="Freeform 150">
              <a:extLst>
                <a:ext uri="{FF2B5EF4-FFF2-40B4-BE49-F238E27FC236}">
                  <a16:creationId xmlns:a16="http://schemas.microsoft.com/office/drawing/2014/main" id="{26E3FFB5-FBEA-1861-6E61-3B26AFFD3ED8}"/>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32" name="TextBox 151">
              <a:extLst>
                <a:ext uri="{FF2B5EF4-FFF2-40B4-BE49-F238E27FC236}">
                  <a16:creationId xmlns:a16="http://schemas.microsoft.com/office/drawing/2014/main" id="{3AC7BC28-8A02-CA36-C9F2-D4670367BA54}"/>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33" name="Group 2">
            <a:extLst>
              <a:ext uri="{FF2B5EF4-FFF2-40B4-BE49-F238E27FC236}">
                <a16:creationId xmlns:a16="http://schemas.microsoft.com/office/drawing/2014/main" id="{68D9FF14-1E0B-4C27-5F71-C75BEC5850F6}"/>
              </a:ext>
            </a:extLst>
          </p:cNvPr>
          <p:cNvGrpSpPr/>
          <p:nvPr/>
        </p:nvGrpSpPr>
        <p:grpSpPr>
          <a:xfrm>
            <a:off x="754380" y="417481"/>
            <a:ext cx="11795760" cy="432911"/>
            <a:chOff x="0" y="-28575"/>
            <a:chExt cx="15727680" cy="577215"/>
          </a:xfrm>
        </p:grpSpPr>
        <p:sp>
          <p:nvSpPr>
            <p:cNvPr id="34" name="Freeform 3">
              <a:extLst>
                <a:ext uri="{FF2B5EF4-FFF2-40B4-BE49-F238E27FC236}">
                  <a16:creationId xmlns:a16="http://schemas.microsoft.com/office/drawing/2014/main" id="{7D189107-D588-8623-B964-626A879DD7C8}"/>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35" name="TextBox 4">
              <a:extLst>
                <a:ext uri="{FF2B5EF4-FFF2-40B4-BE49-F238E27FC236}">
                  <a16:creationId xmlns:a16="http://schemas.microsoft.com/office/drawing/2014/main" id="{E1F2BF58-E35E-104B-95F6-2753E55ECE62}"/>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A30  ·  RECOMMENDATION 3, EH&amp;B Background Information</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440180"/>
          </a:xfrm>
          <a:prstGeom prst="rect">
            <a:avLst/>
          </a:prstGeom>
          <a:noFill/>
        </p:spPr>
        <p:txBody>
          <a:bodyPr wrap="square" lIns="0" tIns="0" rIns="0" bIns="0" anchor="t"/>
          <a:lstStyle/>
          <a:p>
            <a:pPr algn="l">
              <a:lnSpc>
                <a:spcPct val="100000"/>
              </a:lnSpc>
            </a:pPr>
            <a:r>
              <a:rPr sz="3300" b="1">
                <a:solidFill>
                  <a:srgbClr val="0B1F3A"/>
                </a:solidFill>
                <a:latin typeface="Calibri"/>
              </a:rPr>
              <a:t>New York is Charter’s largest location lead at 5.54 million units; Pennsylvania is Comcast’s at 4.36 million</a:t>
            </a:r>
          </a:p>
        </p:txBody>
      </p:sp>
      <p:sp>
        <p:nvSpPr>
          <p:cNvPr id="4" name="TextBox 3"/>
          <p:cNvSpPr txBox="1"/>
          <p:nvPr/>
        </p:nvSpPr>
        <p:spPr>
          <a:xfrm>
            <a:off x="754380" y="8880253"/>
            <a:ext cx="16664940" cy="438912"/>
          </a:xfrm>
          <a:prstGeom prst="rect">
            <a:avLst/>
          </a:prstGeom>
          <a:noFill/>
        </p:spPr>
        <p:txBody>
          <a:bodyPr wrap="square" lIns="0" tIns="0" rIns="0" bIns="0" anchor="t"/>
          <a:lstStyle/>
          <a:p>
            <a:pPr algn="l">
              <a:lnSpc>
                <a:spcPct val="100000"/>
              </a:lnSpc>
            </a:pPr>
            <a:r>
              <a:rPr sz="1350">
                <a:solidFill>
                  <a:srgbClr val="8A94A0"/>
                </a:solidFill>
                <a:latin typeface="Calibri"/>
              </a:rPr>
              <a:t>Source: FCC Broadband Data Collection, National Broadband Map — residential location availability as of 31 Dec 2025 (D25, file rev. 15 Sep 2026). Not subscriber share.</a:t>
            </a:r>
          </a:p>
        </p:txBody>
      </p:sp>
      <p:sp>
        <p:nvSpPr>
          <p:cNvPr id="7" name="TextBox 6"/>
          <p:cNvSpPr txBox="1"/>
          <p:nvPr/>
        </p:nvSpPr>
        <p:spPr>
          <a:xfrm>
            <a:off x="754380" y="2250281"/>
            <a:ext cx="16774668" cy="438912"/>
          </a:xfrm>
          <a:prstGeom prst="rect">
            <a:avLst/>
          </a:prstGeom>
          <a:noFill/>
        </p:spPr>
        <p:txBody>
          <a:bodyPr wrap="square" lIns="0" tIns="0" rIns="0" bIns="0" anchor="t"/>
          <a:lstStyle/>
          <a:p>
            <a:pPr algn="l">
              <a:lnSpc>
                <a:spcPct val="100000"/>
              </a:lnSpc>
            </a:pPr>
            <a:r>
              <a:rPr>
                <a:solidFill>
                  <a:srgbClr val="5B6672"/>
                </a:solidFill>
                <a:latin typeface="Calibri"/>
              </a:rPr>
              <a:t>Lead size = Charter estimated residential locations minus Comcast, in millions. Blue is the largest lead on each side. Both axes run from zero to 7. Not subscribers.</a:t>
            </a:r>
          </a:p>
        </p:txBody>
      </p:sp>
      <p:sp>
        <p:nvSpPr>
          <p:cNvPr id="8" name="TextBox 7"/>
          <p:cNvSpPr txBox="1"/>
          <p:nvPr/>
        </p:nvSpPr>
        <p:spPr>
          <a:xfrm>
            <a:off x="754380" y="2744057"/>
            <a:ext cx="8229600" cy="384048"/>
          </a:xfrm>
          <a:prstGeom prst="rect">
            <a:avLst/>
          </a:prstGeom>
          <a:noFill/>
        </p:spPr>
        <p:txBody>
          <a:bodyPr wrap="square" lIns="0" tIns="0" rIns="0" bIns="0" anchor="t"/>
          <a:lstStyle/>
          <a:p>
            <a:pPr algn="l">
              <a:lnSpc>
                <a:spcPct val="100000"/>
              </a:lnSpc>
            </a:pPr>
            <a:r>
              <a:rPr sz="1650" b="1">
                <a:solidFill>
                  <a:srgbClr val="0072CE"/>
                </a:solidFill>
                <a:latin typeface="Calibri"/>
              </a:rPr>
              <a:t>CHARTER LOCATION LEAD</a:t>
            </a:r>
          </a:p>
        </p:txBody>
      </p:sp>
      <p:sp>
        <p:nvSpPr>
          <p:cNvPr id="9" name="TextBox 8"/>
          <p:cNvSpPr txBox="1"/>
          <p:nvPr/>
        </p:nvSpPr>
        <p:spPr>
          <a:xfrm>
            <a:off x="9395460" y="2744057"/>
            <a:ext cx="8229600" cy="384048"/>
          </a:xfrm>
          <a:prstGeom prst="rect">
            <a:avLst/>
          </a:prstGeom>
          <a:noFill/>
        </p:spPr>
        <p:txBody>
          <a:bodyPr wrap="square" lIns="0" tIns="0" rIns="0" bIns="0" anchor="t"/>
          <a:lstStyle/>
          <a:p>
            <a:pPr algn="l">
              <a:lnSpc>
                <a:spcPct val="100000"/>
              </a:lnSpc>
            </a:pPr>
            <a:r>
              <a:rPr sz="1650" b="1">
                <a:solidFill>
                  <a:srgbClr val="5B6672"/>
                </a:solidFill>
                <a:latin typeface="Calibri"/>
              </a:rPr>
              <a:t>COMCAST LOCATION LEAD</a:t>
            </a:r>
          </a:p>
        </p:txBody>
      </p:sp>
      <p:graphicFrame>
        <p:nvGraphicFramePr>
          <p:cNvPr id="10" name="Chart 9"/>
          <p:cNvGraphicFramePr>
            <a:graphicFrameLocks noGrp="1"/>
          </p:cNvGraphicFramePr>
          <p:nvPr>
            <p:extLst>
              <p:ext uri="{D42A27DB-BD31-4B8C-83A1-F6EECF244321}">
                <p14:modId xmlns:p14="http://schemas.microsoft.com/office/powerpoint/2010/main" val="2611954128"/>
              </p:ext>
            </p:extLst>
          </p:nvPr>
        </p:nvGraphicFramePr>
        <p:xfrm>
          <a:off x="480060" y="3155537"/>
          <a:ext cx="8572500" cy="56509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a:graphicFrameLocks noGrp="1"/>
          </p:cNvGraphicFramePr>
          <p:nvPr>
            <p:extLst>
              <p:ext uri="{D42A27DB-BD31-4B8C-83A1-F6EECF244321}">
                <p14:modId xmlns:p14="http://schemas.microsoft.com/office/powerpoint/2010/main" val="1568086201"/>
              </p:ext>
            </p:extLst>
          </p:nvPr>
        </p:nvGraphicFramePr>
        <p:xfrm>
          <a:off x="9258300" y="3155537"/>
          <a:ext cx="8572500" cy="5650992"/>
        </p:xfrm>
        <a:graphic>
          <a:graphicData uri="http://schemas.openxmlformats.org/drawingml/2006/chart">
            <c:chart xmlns:c="http://schemas.openxmlformats.org/drawingml/2006/chart" xmlns:r="http://schemas.openxmlformats.org/officeDocument/2006/relationships" r:id="rId3"/>
          </a:graphicData>
        </a:graphic>
      </p:graphicFrame>
      <p:grpSp>
        <p:nvGrpSpPr>
          <p:cNvPr id="12" name="Group 143">
            <a:extLst>
              <a:ext uri="{FF2B5EF4-FFF2-40B4-BE49-F238E27FC236}">
                <a16:creationId xmlns:a16="http://schemas.microsoft.com/office/drawing/2014/main" id="{28FF7C88-C4E7-F518-1223-3B850EEE05ED}"/>
              </a:ext>
            </a:extLst>
          </p:cNvPr>
          <p:cNvGrpSpPr/>
          <p:nvPr/>
        </p:nvGrpSpPr>
        <p:grpSpPr>
          <a:xfrm>
            <a:off x="754380" y="9168289"/>
            <a:ext cx="16733521" cy="432911"/>
            <a:chOff x="0" y="-28575"/>
            <a:chExt cx="22311361" cy="577215"/>
          </a:xfrm>
        </p:grpSpPr>
        <p:sp>
          <p:nvSpPr>
            <p:cNvPr id="13" name="Freeform 144">
              <a:extLst>
                <a:ext uri="{FF2B5EF4-FFF2-40B4-BE49-F238E27FC236}">
                  <a16:creationId xmlns:a16="http://schemas.microsoft.com/office/drawing/2014/main" id="{DF7E4C66-491B-3D15-DFAF-34E4A29318F9}"/>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4">
                <a:alphaModFix amt="0"/>
              </a:blip>
              <a:stretch>
                <a:fillRect t="-742391" b="-742391"/>
              </a:stretch>
            </a:blipFill>
          </p:spPr>
          <p:txBody>
            <a:bodyPr/>
            <a:lstStyle/>
            <a:p>
              <a:endParaRPr lang="en-US"/>
            </a:p>
          </p:txBody>
        </p:sp>
        <p:sp>
          <p:nvSpPr>
            <p:cNvPr id="14" name="TextBox 145">
              <a:extLst>
                <a:ext uri="{FF2B5EF4-FFF2-40B4-BE49-F238E27FC236}">
                  <a16:creationId xmlns:a16="http://schemas.microsoft.com/office/drawing/2014/main" id="{B5756BA6-91B9-DB48-8F31-A97F9EC90119}"/>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5"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6" action="ppaction://hlinksldjump"/>
                </a:rPr>
                <a:t>Appendix index  (p.12)</a:t>
              </a:r>
            </a:p>
          </p:txBody>
        </p:sp>
      </p:grpSp>
      <p:grpSp>
        <p:nvGrpSpPr>
          <p:cNvPr id="15" name="Group 149">
            <a:extLst>
              <a:ext uri="{FF2B5EF4-FFF2-40B4-BE49-F238E27FC236}">
                <a16:creationId xmlns:a16="http://schemas.microsoft.com/office/drawing/2014/main" id="{3A2FC196-54A6-877F-B0C3-F7D8D0797F2E}"/>
              </a:ext>
            </a:extLst>
          </p:cNvPr>
          <p:cNvGrpSpPr/>
          <p:nvPr/>
        </p:nvGrpSpPr>
        <p:grpSpPr>
          <a:xfrm>
            <a:off x="754380" y="9648349"/>
            <a:ext cx="16047721" cy="432911"/>
            <a:chOff x="0" y="-28575"/>
            <a:chExt cx="21396961" cy="577215"/>
          </a:xfrm>
        </p:grpSpPr>
        <p:sp>
          <p:nvSpPr>
            <p:cNvPr id="16" name="Freeform 150">
              <a:extLst>
                <a:ext uri="{FF2B5EF4-FFF2-40B4-BE49-F238E27FC236}">
                  <a16:creationId xmlns:a16="http://schemas.microsoft.com/office/drawing/2014/main" id="{567F3364-8FAF-5A8D-D698-E8BB8278C3FE}"/>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4">
                <a:alphaModFix amt="0"/>
              </a:blip>
              <a:stretch>
                <a:fillRect t="-709916" b="-709916"/>
              </a:stretch>
            </a:blipFill>
          </p:spPr>
          <p:txBody>
            <a:bodyPr/>
            <a:lstStyle/>
            <a:p>
              <a:endParaRPr lang="en-US"/>
            </a:p>
          </p:txBody>
        </p:sp>
        <p:sp>
          <p:nvSpPr>
            <p:cNvPr id="17" name="TextBox 151">
              <a:extLst>
                <a:ext uri="{FF2B5EF4-FFF2-40B4-BE49-F238E27FC236}">
                  <a16:creationId xmlns:a16="http://schemas.microsoft.com/office/drawing/2014/main" id="{42C222E7-E4AE-9EC1-CAFC-5C2D3B7F7AD8}"/>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8" name="Group 2">
            <a:extLst>
              <a:ext uri="{FF2B5EF4-FFF2-40B4-BE49-F238E27FC236}">
                <a16:creationId xmlns:a16="http://schemas.microsoft.com/office/drawing/2014/main" id="{82FC2199-2F02-47F9-D3A1-8F8C0259635E}"/>
              </a:ext>
            </a:extLst>
          </p:cNvPr>
          <p:cNvGrpSpPr/>
          <p:nvPr/>
        </p:nvGrpSpPr>
        <p:grpSpPr>
          <a:xfrm>
            <a:off x="754380" y="417481"/>
            <a:ext cx="11795760" cy="432911"/>
            <a:chOff x="0" y="-28575"/>
            <a:chExt cx="15727680" cy="577215"/>
          </a:xfrm>
        </p:grpSpPr>
        <p:sp>
          <p:nvSpPr>
            <p:cNvPr id="19" name="Freeform 3">
              <a:extLst>
                <a:ext uri="{FF2B5EF4-FFF2-40B4-BE49-F238E27FC236}">
                  <a16:creationId xmlns:a16="http://schemas.microsoft.com/office/drawing/2014/main" id="{001F612D-3D06-0F32-35DB-B09A63036840}"/>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4">
                <a:alphaModFix amt="0"/>
              </a:blip>
              <a:stretch>
                <a:fillRect t="-508571" b="-508571"/>
              </a:stretch>
            </a:blipFill>
          </p:spPr>
          <p:txBody>
            <a:bodyPr/>
            <a:lstStyle/>
            <a:p>
              <a:endParaRPr lang="en-US"/>
            </a:p>
          </p:txBody>
        </p:sp>
        <p:sp>
          <p:nvSpPr>
            <p:cNvPr id="20" name="TextBox 4">
              <a:extLst>
                <a:ext uri="{FF2B5EF4-FFF2-40B4-BE49-F238E27FC236}">
                  <a16:creationId xmlns:a16="http://schemas.microsoft.com/office/drawing/2014/main" id="{7DF6286B-E2C9-526D-C6D8-CAE61980EE06}"/>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A31  ·  RECOMMENDATION 3, EH&amp;B Background Information</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440180"/>
          </a:xfrm>
          <a:prstGeom prst="rect">
            <a:avLst/>
          </a:prstGeom>
          <a:noFill/>
        </p:spPr>
        <p:txBody>
          <a:bodyPr wrap="square" lIns="0" tIns="0" rIns="0" bIns="0" anchor="t"/>
          <a:lstStyle/>
          <a:p>
            <a:pPr algn="l">
              <a:lnSpc>
                <a:spcPct val="100000"/>
              </a:lnSpc>
            </a:pPr>
            <a:r>
              <a:rPr sz="3300" b="1">
                <a:solidFill>
                  <a:srgbClr val="0B1F3A"/>
                </a:solidFill>
                <a:latin typeface="Calibri"/>
              </a:rPr>
              <a:t>New York: Charter 5.58M locations (60.2%) vs Comcast 44k; Pennsylvania: Comcast 4.53M (71.3%) vs Charter 176k</a:t>
            </a:r>
          </a:p>
        </p:txBody>
      </p:sp>
      <p:sp>
        <p:nvSpPr>
          <p:cNvPr id="4" name="TextBox 3"/>
          <p:cNvSpPr txBox="1"/>
          <p:nvPr/>
        </p:nvSpPr>
        <p:spPr>
          <a:xfrm>
            <a:off x="754380" y="8750808"/>
            <a:ext cx="16664940" cy="438912"/>
          </a:xfrm>
          <a:prstGeom prst="rect">
            <a:avLst/>
          </a:prstGeom>
          <a:noFill/>
        </p:spPr>
        <p:txBody>
          <a:bodyPr wrap="square" lIns="0" tIns="0" rIns="0" bIns="0" anchor="t"/>
          <a:lstStyle/>
          <a:p>
            <a:pPr algn="l">
              <a:lnSpc>
                <a:spcPct val="100000"/>
              </a:lnSpc>
            </a:pPr>
            <a:r>
              <a:rPr sz="1350">
                <a:solidFill>
                  <a:srgbClr val="8A94A0"/>
                </a:solidFill>
                <a:latin typeface="Calibri"/>
              </a:rPr>
              <a:t>Source: FCC Broadband Data Collection, National Broadband Map — residential location availability as of 31 Dec 2025 (D25, file rev. 15 Sep 2026). Not subscriber share.</a:t>
            </a:r>
          </a:p>
        </p:txBody>
      </p:sp>
      <p:sp>
        <p:nvSpPr>
          <p:cNvPr id="7" name="TextBox 6"/>
          <p:cNvSpPr txBox="1"/>
          <p:nvPr/>
        </p:nvSpPr>
        <p:spPr>
          <a:xfrm>
            <a:off x="754380" y="2112264"/>
            <a:ext cx="16733520" cy="356616"/>
          </a:xfrm>
          <a:prstGeom prst="rect">
            <a:avLst/>
          </a:prstGeom>
          <a:noFill/>
        </p:spPr>
        <p:txBody>
          <a:bodyPr wrap="square" lIns="0" tIns="0" rIns="0" bIns="0" anchor="t"/>
          <a:lstStyle/>
          <a:p>
            <a:pPr algn="l">
              <a:lnSpc>
                <a:spcPct val="100000"/>
              </a:lnSpc>
            </a:pPr>
            <a:r>
              <a:rPr sz="1650" b="1">
                <a:solidFill>
                  <a:srgbClr val="0072CE"/>
                </a:solidFill>
                <a:latin typeface="Calibri"/>
              </a:rPr>
              <a:t>FIVE LARGEST CHARTER LEADS</a:t>
            </a:r>
          </a:p>
        </p:txBody>
      </p:sp>
      <p:graphicFrame>
        <p:nvGraphicFramePr>
          <p:cNvPr id="8" name="Table 7"/>
          <p:cNvGraphicFramePr>
            <a:graphicFrameLocks noGrp="1"/>
          </p:cNvGraphicFramePr>
          <p:nvPr>
            <p:extLst>
              <p:ext uri="{D42A27DB-BD31-4B8C-83A1-F6EECF244321}">
                <p14:modId xmlns:p14="http://schemas.microsoft.com/office/powerpoint/2010/main" val="1783377805"/>
              </p:ext>
            </p:extLst>
          </p:nvPr>
        </p:nvGraphicFramePr>
        <p:xfrm>
          <a:off x="754380" y="2496312"/>
          <a:ext cx="16774668" cy="2537460"/>
        </p:xfrm>
        <a:graphic>
          <a:graphicData uri="http://schemas.openxmlformats.org/drawingml/2006/table">
            <a:tbl>
              <a:tblPr firstRow="1" bandRow="1">
                <a:tableStyleId>{5C22544A-7EE6-4342-B048-85BDC9FD1C3A}</a:tableStyleId>
              </a:tblPr>
              <a:tblGrid>
                <a:gridCol w="294894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9888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98882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gridCol w="2510028">
                  <a:extLst>
                    <a:ext uri="{9D8B030D-6E8A-4147-A177-3AD203B41FA5}">
                      <a16:colId xmlns:a16="http://schemas.microsoft.com/office/drawing/2014/main" val="20006"/>
                    </a:ext>
                  </a:extLst>
                </a:gridCol>
              </a:tblGrid>
              <a:tr h="422910">
                <a:tc>
                  <a:txBody>
                    <a:bodyPr/>
                    <a:lstStyle/>
                    <a:p>
                      <a:pPr algn="l"/>
                      <a:r>
                        <a:rPr sz="1500" b="1" i="0">
                          <a:solidFill>
                            <a:srgbClr val="FFFFFF"/>
                          </a:solidFill>
                          <a:latin typeface="Calibri"/>
                        </a:rPr>
                        <a:t>State</a:t>
                      </a:r>
                    </a:p>
                  </a:txBody>
                  <a:tcPr marL="109728" marR="82296" marT="27432" marB="27432" anchor="ctr">
                    <a:solidFill>
                      <a:srgbClr val="0B1F3A"/>
                    </a:solidFill>
                  </a:tcPr>
                </a:tc>
                <a:tc>
                  <a:txBody>
                    <a:bodyPr/>
                    <a:lstStyle/>
                    <a:p>
                      <a:pPr algn="r"/>
                      <a:r>
                        <a:rPr sz="1500" b="1" i="0">
                          <a:solidFill>
                            <a:srgbClr val="FFFFFF"/>
                          </a:solidFill>
                          <a:latin typeface="Calibri"/>
                        </a:rPr>
                        <a:t>Charter locations</a:t>
                      </a:r>
                    </a:p>
                  </a:txBody>
                  <a:tcPr marL="109728" marR="82296" marT="27432" marB="27432" anchor="ctr">
                    <a:solidFill>
                      <a:srgbClr val="0B1F3A"/>
                    </a:solidFill>
                  </a:tcPr>
                </a:tc>
                <a:tc>
                  <a:txBody>
                    <a:bodyPr/>
                    <a:lstStyle/>
                    <a:p>
                      <a:pPr algn="r"/>
                      <a:r>
                        <a:rPr sz="1500" b="1" i="0">
                          <a:solidFill>
                            <a:srgbClr val="FFFFFF"/>
                          </a:solidFill>
                          <a:latin typeface="Calibri"/>
                        </a:rPr>
                        <a:t>Share of fabric</a:t>
                      </a:r>
                    </a:p>
                  </a:txBody>
                  <a:tcPr marL="109728" marR="82296" marT="27432" marB="27432" anchor="ctr">
                    <a:solidFill>
                      <a:srgbClr val="0B1F3A"/>
                    </a:solidFill>
                  </a:tcPr>
                </a:tc>
                <a:tc>
                  <a:txBody>
                    <a:bodyPr/>
                    <a:lstStyle/>
                    <a:p>
                      <a:pPr algn="r"/>
                      <a:r>
                        <a:rPr sz="1500" b="1" i="0">
                          <a:solidFill>
                            <a:srgbClr val="FFFFFF"/>
                          </a:solidFill>
                          <a:latin typeface="Calibri"/>
                        </a:rPr>
                        <a:t>Comcast locations</a:t>
                      </a:r>
                    </a:p>
                  </a:txBody>
                  <a:tcPr marL="109728" marR="82296" marT="27432" marB="27432" anchor="ctr">
                    <a:solidFill>
                      <a:srgbClr val="0B1F3A"/>
                    </a:solidFill>
                  </a:tcPr>
                </a:tc>
                <a:tc>
                  <a:txBody>
                    <a:bodyPr/>
                    <a:lstStyle/>
                    <a:p>
                      <a:pPr algn="r"/>
                      <a:r>
                        <a:rPr sz="1500" b="1" i="0">
                          <a:solidFill>
                            <a:srgbClr val="FFFFFF"/>
                          </a:solidFill>
                          <a:latin typeface="Calibri"/>
                        </a:rPr>
                        <a:t>Share of fabric</a:t>
                      </a:r>
                    </a:p>
                  </a:txBody>
                  <a:tcPr marL="109728" marR="82296" marT="27432" marB="27432" anchor="ctr">
                    <a:solidFill>
                      <a:srgbClr val="0B1F3A"/>
                    </a:solidFill>
                  </a:tcPr>
                </a:tc>
                <a:tc>
                  <a:txBody>
                    <a:bodyPr/>
                    <a:lstStyle/>
                    <a:p>
                      <a:pPr algn="r"/>
                      <a:r>
                        <a:rPr sz="1500" b="1" i="0">
                          <a:solidFill>
                            <a:srgbClr val="FFFFFF"/>
                          </a:solidFill>
                          <a:latin typeface="Calibri"/>
                        </a:rPr>
                        <a:t>Margin (CH − CM)</a:t>
                      </a:r>
                    </a:p>
                  </a:txBody>
                  <a:tcPr marL="109728" marR="82296" marT="27432" marB="27432" anchor="ctr">
                    <a:solidFill>
                      <a:srgbClr val="0B1F3A"/>
                    </a:solidFill>
                  </a:tcPr>
                </a:tc>
                <a:tc>
                  <a:txBody>
                    <a:bodyPr/>
                    <a:lstStyle/>
                    <a:p>
                      <a:pPr algn="r"/>
                      <a:r>
                        <a:rPr sz="1500" b="1" i="0">
                          <a:solidFill>
                            <a:srgbClr val="FFFFFF"/>
                          </a:solidFill>
                          <a:latin typeface="Calibri"/>
                        </a:rPr>
                        <a:t>State fabric</a:t>
                      </a:r>
                    </a:p>
                  </a:txBody>
                  <a:tcPr marL="109728" marR="82296" marT="27432" marB="27432" anchor="ctr">
                    <a:solidFill>
                      <a:srgbClr val="0B1F3A"/>
                    </a:solidFill>
                  </a:tcPr>
                </a:tc>
                <a:extLst>
                  <a:ext uri="{0D108BD9-81ED-4DB2-BD59-A6C34878D82A}">
                    <a16:rowId xmlns:a16="http://schemas.microsoft.com/office/drawing/2014/main" val="10000"/>
                  </a:ext>
                </a:extLst>
              </a:tr>
              <a:tr h="422910">
                <a:tc>
                  <a:txBody>
                    <a:bodyPr/>
                    <a:lstStyle/>
                    <a:p>
                      <a:pPr algn="l"/>
                      <a:r>
                        <a:rPr sz="1800" b="1" i="0">
                          <a:solidFill>
                            <a:srgbClr val="0B1F3A"/>
                          </a:solidFill>
                          <a:latin typeface="Calibri"/>
                        </a:rPr>
                        <a:t>New York (NY)</a:t>
                      </a:r>
                    </a:p>
                  </a:txBody>
                  <a:tcPr marL="109728" marR="82296" marT="27432" marB="27432" anchor="ctr">
                    <a:solidFill>
                      <a:srgbClr val="F2F6FB"/>
                    </a:solidFill>
                  </a:tcPr>
                </a:tc>
                <a:tc>
                  <a:txBody>
                    <a:bodyPr/>
                    <a:lstStyle/>
                    <a:p>
                      <a:pPr algn="r"/>
                      <a:r>
                        <a:rPr sz="1800" b="0" i="0">
                          <a:solidFill>
                            <a:srgbClr val="0B1F3A"/>
                          </a:solidFill>
                          <a:latin typeface="Calibri"/>
                        </a:rPr>
                        <a:t>5.58M</a:t>
                      </a:r>
                    </a:p>
                  </a:txBody>
                  <a:tcPr marL="109728" marR="82296" marT="27432" marB="27432" anchor="ctr">
                    <a:solidFill>
                      <a:srgbClr val="F2F6FB"/>
                    </a:solidFill>
                  </a:tcPr>
                </a:tc>
                <a:tc>
                  <a:txBody>
                    <a:bodyPr/>
                    <a:lstStyle/>
                    <a:p>
                      <a:pPr algn="r"/>
                      <a:r>
                        <a:rPr sz="1800" b="0" i="0">
                          <a:solidFill>
                            <a:srgbClr val="0B1F3A"/>
                          </a:solidFill>
                          <a:latin typeface="Calibri"/>
                        </a:rPr>
                        <a:t>60.2%</a:t>
                      </a:r>
                    </a:p>
                  </a:txBody>
                  <a:tcPr marL="109728" marR="82296" marT="27432" marB="27432" anchor="ctr">
                    <a:solidFill>
                      <a:srgbClr val="F2F6FB"/>
                    </a:solidFill>
                  </a:tcPr>
                </a:tc>
                <a:tc>
                  <a:txBody>
                    <a:bodyPr/>
                    <a:lstStyle/>
                    <a:p>
                      <a:pPr algn="r"/>
                      <a:r>
                        <a:rPr sz="1800" b="0" i="0">
                          <a:solidFill>
                            <a:srgbClr val="0B1F3A"/>
                          </a:solidFill>
                          <a:latin typeface="Calibri"/>
                        </a:rPr>
                        <a:t>44k</a:t>
                      </a:r>
                    </a:p>
                  </a:txBody>
                  <a:tcPr marL="109728" marR="82296" marT="27432" marB="27432" anchor="ctr">
                    <a:solidFill>
                      <a:srgbClr val="F2F6FB"/>
                    </a:solidFill>
                  </a:tcPr>
                </a:tc>
                <a:tc>
                  <a:txBody>
                    <a:bodyPr/>
                    <a:lstStyle/>
                    <a:p>
                      <a:pPr algn="r"/>
                      <a:r>
                        <a:rPr sz="1800" b="0" i="0">
                          <a:solidFill>
                            <a:srgbClr val="0B1F3A"/>
                          </a:solidFill>
                          <a:latin typeface="Calibri"/>
                        </a:rPr>
                        <a:t>0.5%</a:t>
                      </a:r>
                    </a:p>
                  </a:txBody>
                  <a:tcPr marL="109728" marR="82296" marT="27432" marB="27432" anchor="ctr">
                    <a:solidFill>
                      <a:srgbClr val="F2F6FB"/>
                    </a:solidFill>
                  </a:tcPr>
                </a:tc>
                <a:tc>
                  <a:txBody>
                    <a:bodyPr/>
                    <a:lstStyle/>
                    <a:p>
                      <a:pPr algn="r"/>
                      <a:r>
                        <a:rPr sz="1800" b="1" i="0">
                          <a:solidFill>
                            <a:srgbClr val="0072CE"/>
                          </a:solidFill>
                          <a:latin typeface="Calibri"/>
                        </a:rPr>
                        <a:t>+5.54M</a:t>
                      </a:r>
                    </a:p>
                  </a:txBody>
                  <a:tcPr marL="109728" marR="82296" marT="27432" marB="27432" anchor="ctr">
                    <a:solidFill>
                      <a:srgbClr val="F2F6FB"/>
                    </a:solidFill>
                  </a:tcPr>
                </a:tc>
                <a:tc>
                  <a:txBody>
                    <a:bodyPr/>
                    <a:lstStyle/>
                    <a:p>
                      <a:pPr algn="r"/>
                      <a:r>
                        <a:rPr sz="1800" b="0" i="0">
                          <a:solidFill>
                            <a:srgbClr val="0B1F3A"/>
                          </a:solidFill>
                          <a:latin typeface="Calibri"/>
                        </a:rPr>
                        <a:t>9.27M</a:t>
                      </a:r>
                    </a:p>
                  </a:txBody>
                  <a:tcPr marL="109728" marR="82296" marT="27432" marB="27432" anchor="ctr">
                    <a:solidFill>
                      <a:srgbClr val="F2F6FB"/>
                    </a:solidFill>
                  </a:tcPr>
                </a:tc>
                <a:extLst>
                  <a:ext uri="{0D108BD9-81ED-4DB2-BD59-A6C34878D82A}">
                    <a16:rowId xmlns:a16="http://schemas.microsoft.com/office/drawing/2014/main" val="10001"/>
                  </a:ext>
                </a:extLst>
              </a:tr>
              <a:tr h="422910">
                <a:tc>
                  <a:txBody>
                    <a:bodyPr/>
                    <a:lstStyle/>
                    <a:p>
                      <a:pPr algn="l"/>
                      <a:r>
                        <a:rPr sz="1800" b="0" i="0">
                          <a:solidFill>
                            <a:srgbClr val="0B1F3A"/>
                          </a:solidFill>
                          <a:latin typeface="Calibri"/>
                        </a:rPr>
                        <a:t>Ohio (OH)</a:t>
                      </a:r>
                    </a:p>
                  </a:txBody>
                  <a:tcPr marL="109728" marR="82296" marT="27432" marB="27432" anchor="ctr">
                    <a:solidFill>
                      <a:srgbClr val="FFFFFF"/>
                    </a:solidFill>
                  </a:tcPr>
                </a:tc>
                <a:tc>
                  <a:txBody>
                    <a:bodyPr/>
                    <a:lstStyle/>
                    <a:p>
                      <a:pPr algn="r"/>
                      <a:r>
                        <a:rPr sz="1800" b="0" i="0">
                          <a:solidFill>
                            <a:srgbClr val="0B1F3A"/>
                          </a:solidFill>
                          <a:latin typeface="Calibri"/>
                        </a:rPr>
                        <a:t>4.51M</a:t>
                      </a:r>
                    </a:p>
                  </a:txBody>
                  <a:tcPr marL="109728" marR="82296" marT="27432" marB="27432" anchor="ctr">
                    <a:solidFill>
                      <a:srgbClr val="FFFFFF"/>
                    </a:solidFill>
                  </a:tcPr>
                </a:tc>
                <a:tc>
                  <a:txBody>
                    <a:bodyPr/>
                    <a:lstStyle/>
                    <a:p>
                      <a:pPr algn="r"/>
                      <a:r>
                        <a:rPr sz="1800" b="0" i="0">
                          <a:solidFill>
                            <a:srgbClr val="0B1F3A"/>
                          </a:solidFill>
                          <a:latin typeface="Calibri"/>
                        </a:rPr>
                        <a:t>77.3%</a:t>
                      </a:r>
                    </a:p>
                  </a:txBody>
                  <a:tcPr marL="109728" marR="82296" marT="27432" marB="27432" anchor="ctr">
                    <a:solidFill>
                      <a:srgbClr val="FFFFFF"/>
                    </a:solidFill>
                  </a:tcPr>
                </a:tc>
                <a:tc>
                  <a:txBody>
                    <a:bodyPr/>
                    <a:lstStyle/>
                    <a:p>
                      <a:pPr algn="r"/>
                      <a:r>
                        <a:rPr sz="1800" b="0" i="0">
                          <a:solidFill>
                            <a:srgbClr val="0B1F3A"/>
                          </a:solidFill>
                          <a:latin typeface="Calibri"/>
                        </a:rPr>
                        <a:t>97k</a:t>
                      </a:r>
                    </a:p>
                  </a:txBody>
                  <a:tcPr marL="109728" marR="82296" marT="27432" marB="27432" anchor="ctr">
                    <a:solidFill>
                      <a:srgbClr val="FFFFFF"/>
                    </a:solidFill>
                  </a:tcPr>
                </a:tc>
                <a:tc>
                  <a:txBody>
                    <a:bodyPr/>
                    <a:lstStyle/>
                    <a:p>
                      <a:pPr algn="r"/>
                      <a:r>
                        <a:rPr sz="1800" b="0" i="0">
                          <a:solidFill>
                            <a:srgbClr val="0B1F3A"/>
                          </a:solidFill>
                          <a:latin typeface="Calibri"/>
                        </a:rPr>
                        <a:t>1.7%</a:t>
                      </a:r>
                    </a:p>
                  </a:txBody>
                  <a:tcPr marL="109728" marR="82296" marT="27432" marB="27432" anchor="ctr">
                    <a:solidFill>
                      <a:srgbClr val="FFFFFF"/>
                    </a:solidFill>
                  </a:tcPr>
                </a:tc>
                <a:tc>
                  <a:txBody>
                    <a:bodyPr/>
                    <a:lstStyle/>
                    <a:p>
                      <a:pPr algn="r"/>
                      <a:r>
                        <a:rPr sz="1800" b="0" i="0">
                          <a:solidFill>
                            <a:srgbClr val="0B1F3A"/>
                          </a:solidFill>
                          <a:latin typeface="Calibri"/>
                        </a:rPr>
                        <a:t>+4.41M</a:t>
                      </a:r>
                    </a:p>
                  </a:txBody>
                  <a:tcPr marL="109728" marR="82296" marT="27432" marB="27432" anchor="ctr">
                    <a:solidFill>
                      <a:srgbClr val="FFFFFF"/>
                    </a:solidFill>
                  </a:tcPr>
                </a:tc>
                <a:tc>
                  <a:txBody>
                    <a:bodyPr/>
                    <a:lstStyle/>
                    <a:p>
                      <a:pPr algn="r"/>
                      <a:r>
                        <a:rPr sz="1800" b="0" i="0">
                          <a:solidFill>
                            <a:srgbClr val="0B1F3A"/>
                          </a:solidFill>
                          <a:latin typeface="Calibri"/>
                        </a:rPr>
                        <a:t>5.83M</a:t>
                      </a:r>
                    </a:p>
                  </a:txBody>
                  <a:tcPr marL="109728" marR="82296" marT="27432" marB="27432" anchor="ctr">
                    <a:solidFill>
                      <a:srgbClr val="FFFFFF"/>
                    </a:solidFill>
                  </a:tcPr>
                </a:tc>
                <a:extLst>
                  <a:ext uri="{0D108BD9-81ED-4DB2-BD59-A6C34878D82A}">
                    <a16:rowId xmlns:a16="http://schemas.microsoft.com/office/drawing/2014/main" val="10002"/>
                  </a:ext>
                </a:extLst>
              </a:tr>
              <a:tr h="422910">
                <a:tc>
                  <a:txBody>
                    <a:bodyPr/>
                    <a:lstStyle/>
                    <a:p>
                      <a:pPr algn="l"/>
                      <a:r>
                        <a:rPr sz="1800" b="0" i="0">
                          <a:solidFill>
                            <a:srgbClr val="0B1F3A"/>
                          </a:solidFill>
                          <a:latin typeface="Calibri"/>
                        </a:rPr>
                        <a:t>North Carolina (NC)</a:t>
                      </a:r>
                    </a:p>
                  </a:txBody>
                  <a:tcPr marL="109728" marR="82296" marT="27432" marB="27432" anchor="ctr">
                    <a:solidFill>
                      <a:srgbClr val="F2F6FB"/>
                    </a:solidFill>
                  </a:tcPr>
                </a:tc>
                <a:tc>
                  <a:txBody>
                    <a:bodyPr/>
                    <a:lstStyle/>
                    <a:p>
                      <a:pPr algn="r"/>
                      <a:r>
                        <a:rPr sz="1800" b="0" i="0">
                          <a:solidFill>
                            <a:srgbClr val="0B1F3A"/>
                          </a:solidFill>
                          <a:latin typeface="Calibri"/>
                        </a:rPr>
                        <a:t>4.37M</a:t>
                      </a:r>
                    </a:p>
                  </a:txBody>
                  <a:tcPr marL="109728" marR="82296" marT="27432" marB="27432" anchor="ctr">
                    <a:solidFill>
                      <a:srgbClr val="F2F6FB"/>
                    </a:solidFill>
                  </a:tcPr>
                </a:tc>
                <a:tc>
                  <a:txBody>
                    <a:bodyPr/>
                    <a:lstStyle/>
                    <a:p>
                      <a:pPr algn="r"/>
                      <a:r>
                        <a:rPr sz="1800" b="0" i="0">
                          <a:solidFill>
                            <a:srgbClr val="0B1F3A"/>
                          </a:solidFill>
                          <a:latin typeface="Calibri"/>
                        </a:rPr>
                        <a:t>79.0%</a:t>
                      </a:r>
                    </a:p>
                  </a:txBody>
                  <a:tcPr marL="109728" marR="82296" marT="27432" marB="27432" anchor="ctr">
                    <a:solidFill>
                      <a:srgbClr val="F2F6FB"/>
                    </a:solidFill>
                  </a:tcPr>
                </a:tc>
                <a:tc>
                  <a:txBody>
                    <a:bodyPr/>
                    <a:lstStyle/>
                    <a:p>
                      <a:pPr algn="r"/>
                      <a:r>
                        <a:rPr sz="1800" b="0" i="0">
                          <a:solidFill>
                            <a:srgbClr val="0B1F3A"/>
                          </a:solidFill>
                          <a:latin typeface="Calibri"/>
                        </a:rPr>
                        <a:t>2,211</a:t>
                      </a:r>
                    </a:p>
                  </a:txBody>
                  <a:tcPr marL="109728" marR="82296" marT="27432" marB="27432" anchor="ctr">
                    <a:solidFill>
                      <a:srgbClr val="F2F6FB"/>
                    </a:solidFill>
                  </a:tcPr>
                </a:tc>
                <a:tc>
                  <a:txBody>
                    <a:bodyPr/>
                    <a:lstStyle/>
                    <a:p>
                      <a:pPr algn="r"/>
                      <a:r>
                        <a:rPr sz="1800" b="0" i="0">
                          <a:solidFill>
                            <a:srgbClr val="0B1F3A"/>
                          </a:solidFill>
                          <a:latin typeface="Calibri"/>
                        </a:rPr>
                        <a:t>&lt;0.1%</a:t>
                      </a:r>
                    </a:p>
                  </a:txBody>
                  <a:tcPr marL="109728" marR="82296" marT="27432" marB="27432" anchor="ctr">
                    <a:solidFill>
                      <a:srgbClr val="F2F6FB"/>
                    </a:solidFill>
                  </a:tcPr>
                </a:tc>
                <a:tc>
                  <a:txBody>
                    <a:bodyPr/>
                    <a:lstStyle/>
                    <a:p>
                      <a:pPr algn="r"/>
                      <a:r>
                        <a:rPr sz="1800" b="0" i="0">
                          <a:solidFill>
                            <a:srgbClr val="0B1F3A"/>
                          </a:solidFill>
                          <a:latin typeface="Calibri"/>
                        </a:rPr>
                        <a:t>+4.36M</a:t>
                      </a:r>
                    </a:p>
                  </a:txBody>
                  <a:tcPr marL="109728" marR="82296" marT="27432" marB="27432" anchor="ctr">
                    <a:solidFill>
                      <a:srgbClr val="F2F6FB"/>
                    </a:solidFill>
                  </a:tcPr>
                </a:tc>
                <a:tc>
                  <a:txBody>
                    <a:bodyPr/>
                    <a:lstStyle/>
                    <a:p>
                      <a:pPr algn="r"/>
                      <a:r>
                        <a:rPr sz="1800" b="0" i="0">
                          <a:solidFill>
                            <a:srgbClr val="0B1F3A"/>
                          </a:solidFill>
                          <a:latin typeface="Calibri"/>
                        </a:rPr>
                        <a:t>5.53M</a:t>
                      </a:r>
                    </a:p>
                  </a:txBody>
                  <a:tcPr marL="109728" marR="82296" marT="27432" marB="27432" anchor="ctr">
                    <a:solidFill>
                      <a:srgbClr val="F2F6FB"/>
                    </a:solidFill>
                  </a:tcPr>
                </a:tc>
                <a:extLst>
                  <a:ext uri="{0D108BD9-81ED-4DB2-BD59-A6C34878D82A}">
                    <a16:rowId xmlns:a16="http://schemas.microsoft.com/office/drawing/2014/main" val="10003"/>
                  </a:ext>
                </a:extLst>
              </a:tr>
              <a:tr h="422910">
                <a:tc>
                  <a:txBody>
                    <a:bodyPr/>
                    <a:lstStyle/>
                    <a:p>
                      <a:pPr algn="l"/>
                      <a:r>
                        <a:rPr sz="1800" b="0" i="0">
                          <a:solidFill>
                            <a:srgbClr val="0B1F3A"/>
                          </a:solidFill>
                          <a:latin typeface="Calibri"/>
                        </a:rPr>
                        <a:t>Texas (TX)</a:t>
                      </a:r>
                    </a:p>
                  </a:txBody>
                  <a:tcPr marL="109728" marR="82296" marT="27432" marB="27432" anchor="ctr">
                    <a:solidFill>
                      <a:srgbClr val="FFFFFF"/>
                    </a:solidFill>
                  </a:tcPr>
                </a:tc>
                <a:tc>
                  <a:txBody>
                    <a:bodyPr/>
                    <a:lstStyle/>
                    <a:p>
                      <a:pPr algn="r"/>
                      <a:r>
                        <a:rPr sz="1800" b="0" i="0">
                          <a:solidFill>
                            <a:srgbClr val="0B1F3A"/>
                          </a:solidFill>
                          <a:latin typeface="Calibri"/>
                        </a:rPr>
                        <a:t>6.81M</a:t>
                      </a:r>
                    </a:p>
                  </a:txBody>
                  <a:tcPr marL="109728" marR="82296" marT="27432" marB="27432" anchor="ctr">
                    <a:solidFill>
                      <a:srgbClr val="FFFFFF"/>
                    </a:solidFill>
                  </a:tcPr>
                </a:tc>
                <a:tc>
                  <a:txBody>
                    <a:bodyPr/>
                    <a:lstStyle/>
                    <a:p>
                      <a:pPr algn="r"/>
                      <a:r>
                        <a:rPr sz="1800" b="0" i="0">
                          <a:solidFill>
                            <a:srgbClr val="0B1F3A"/>
                          </a:solidFill>
                          <a:latin typeface="Calibri"/>
                        </a:rPr>
                        <a:t>48.8%</a:t>
                      </a:r>
                    </a:p>
                  </a:txBody>
                  <a:tcPr marL="109728" marR="82296" marT="27432" marB="27432" anchor="ctr">
                    <a:solidFill>
                      <a:srgbClr val="FFFFFF"/>
                    </a:solidFill>
                  </a:tcPr>
                </a:tc>
                <a:tc>
                  <a:txBody>
                    <a:bodyPr/>
                    <a:lstStyle/>
                    <a:p>
                      <a:pPr algn="r"/>
                      <a:r>
                        <a:rPr sz="1800" b="0" i="0">
                          <a:solidFill>
                            <a:srgbClr val="0B1F3A"/>
                          </a:solidFill>
                          <a:latin typeface="Calibri"/>
                        </a:rPr>
                        <a:t>3.05M</a:t>
                      </a:r>
                    </a:p>
                  </a:txBody>
                  <a:tcPr marL="109728" marR="82296" marT="27432" marB="27432" anchor="ctr">
                    <a:solidFill>
                      <a:srgbClr val="FFFFFF"/>
                    </a:solidFill>
                  </a:tcPr>
                </a:tc>
                <a:tc>
                  <a:txBody>
                    <a:bodyPr/>
                    <a:lstStyle/>
                    <a:p>
                      <a:pPr algn="r"/>
                      <a:r>
                        <a:rPr sz="1800" b="0" i="0">
                          <a:solidFill>
                            <a:srgbClr val="0B1F3A"/>
                          </a:solidFill>
                          <a:latin typeface="Calibri"/>
                        </a:rPr>
                        <a:t>21.8%</a:t>
                      </a:r>
                    </a:p>
                  </a:txBody>
                  <a:tcPr marL="109728" marR="82296" marT="27432" marB="27432" anchor="ctr">
                    <a:solidFill>
                      <a:srgbClr val="FFFFFF"/>
                    </a:solidFill>
                  </a:tcPr>
                </a:tc>
                <a:tc>
                  <a:txBody>
                    <a:bodyPr/>
                    <a:lstStyle/>
                    <a:p>
                      <a:pPr algn="r"/>
                      <a:r>
                        <a:rPr sz="1800" b="0" i="0">
                          <a:solidFill>
                            <a:srgbClr val="0B1F3A"/>
                          </a:solidFill>
                          <a:latin typeface="Calibri"/>
                        </a:rPr>
                        <a:t>+3.76M</a:t>
                      </a:r>
                    </a:p>
                  </a:txBody>
                  <a:tcPr marL="109728" marR="82296" marT="27432" marB="27432" anchor="ctr">
                    <a:solidFill>
                      <a:srgbClr val="FFFFFF"/>
                    </a:solidFill>
                  </a:tcPr>
                </a:tc>
                <a:tc>
                  <a:txBody>
                    <a:bodyPr/>
                    <a:lstStyle/>
                    <a:p>
                      <a:pPr algn="r"/>
                      <a:r>
                        <a:rPr sz="1800" b="0" i="0">
                          <a:solidFill>
                            <a:srgbClr val="0B1F3A"/>
                          </a:solidFill>
                          <a:latin typeface="Calibri"/>
                        </a:rPr>
                        <a:t>13.95M</a:t>
                      </a:r>
                    </a:p>
                  </a:txBody>
                  <a:tcPr marL="109728" marR="82296" marT="27432" marB="27432" anchor="ctr">
                    <a:solidFill>
                      <a:srgbClr val="FFFFFF"/>
                    </a:solidFill>
                  </a:tcPr>
                </a:tc>
                <a:extLst>
                  <a:ext uri="{0D108BD9-81ED-4DB2-BD59-A6C34878D82A}">
                    <a16:rowId xmlns:a16="http://schemas.microsoft.com/office/drawing/2014/main" val="10004"/>
                  </a:ext>
                </a:extLst>
              </a:tr>
              <a:tr h="422910">
                <a:tc>
                  <a:txBody>
                    <a:bodyPr/>
                    <a:lstStyle/>
                    <a:p>
                      <a:pPr algn="l"/>
                      <a:r>
                        <a:rPr sz="1800" b="0" i="0">
                          <a:solidFill>
                            <a:srgbClr val="0B1F3A"/>
                          </a:solidFill>
                          <a:latin typeface="Calibri"/>
                        </a:rPr>
                        <a:t>Wisconsin (WI)</a:t>
                      </a:r>
                    </a:p>
                  </a:txBody>
                  <a:tcPr marL="109728" marR="82296" marT="27432" marB="27432" anchor="ctr">
                    <a:solidFill>
                      <a:srgbClr val="F2F6FB"/>
                    </a:solidFill>
                  </a:tcPr>
                </a:tc>
                <a:tc>
                  <a:txBody>
                    <a:bodyPr/>
                    <a:lstStyle/>
                    <a:p>
                      <a:pPr algn="r"/>
                      <a:r>
                        <a:rPr sz="1800" b="0" i="0">
                          <a:solidFill>
                            <a:srgbClr val="0B1F3A"/>
                          </a:solidFill>
                          <a:latin typeface="Calibri"/>
                        </a:rPr>
                        <a:t>2.35M</a:t>
                      </a:r>
                    </a:p>
                  </a:txBody>
                  <a:tcPr marL="109728" marR="82296" marT="27432" marB="27432" anchor="ctr">
                    <a:solidFill>
                      <a:srgbClr val="F2F6FB"/>
                    </a:solidFill>
                  </a:tcPr>
                </a:tc>
                <a:tc>
                  <a:txBody>
                    <a:bodyPr/>
                    <a:lstStyle/>
                    <a:p>
                      <a:pPr algn="r"/>
                      <a:r>
                        <a:rPr sz="1800" b="0" i="0">
                          <a:solidFill>
                            <a:srgbClr val="0B1F3A"/>
                          </a:solidFill>
                          <a:latin typeface="Calibri"/>
                        </a:rPr>
                        <a:t>74.5%</a:t>
                      </a:r>
                    </a:p>
                  </a:txBody>
                  <a:tcPr marL="109728" marR="82296" marT="27432" marB="27432" anchor="ctr">
                    <a:solidFill>
                      <a:srgbClr val="F2F6FB"/>
                    </a:solidFill>
                  </a:tcPr>
                </a:tc>
                <a:tc>
                  <a:txBody>
                    <a:bodyPr/>
                    <a:lstStyle/>
                    <a:p>
                      <a:pPr algn="r"/>
                      <a:r>
                        <a:rPr sz="1800" b="0" i="0">
                          <a:solidFill>
                            <a:srgbClr val="0B1F3A"/>
                          </a:solidFill>
                          <a:latin typeface="Calibri"/>
                        </a:rPr>
                        <a:t>39k</a:t>
                      </a:r>
                    </a:p>
                  </a:txBody>
                  <a:tcPr marL="109728" marR="82296" marT="27432" marB="27432" anchor="ctr">
                    <a:solidFill>
                      <a:srgbClr val="F2F6FB"/>
                    </a:solidFill>
                  </a:tcPr>
                </a:tc>
                <a:tc>
                  <a:txBody>
                    <a:bodyPr/>
                    <a:lstStyle/>
                    <a:p>
                      <a:pPr algn="r"/>
                      <a:r>
                        <a:rPr sz="1800" b="0" i="0">
                          <a:solidFill>
                            <a:srgbClr val="0B1F3A"/>
                          </a:solidFill>
                          <a:latin typeface="Calibri"/>
                        </a:rPr>
                        <a:t>1.2%</a:t>
                      </a:r>
                    </a:p>
                  </a:txBody>
                  <a:tcPr marL="109728" marR="82296" marT="27432" marB="27432" anchor="ctr">
                    <a:solidFill>
                      <a:srgbClr val="F2F6FB"/>
                    </a:solidFill>
                  </a:tcPr>
                </a:tc>
                <a:tc>
                  <a:txBody>
                    <a:bodyPr/>
                    <a:lstStyle/>
                    <a:p>
                      <a:pPr algn="r"/>
                      <a:r>
                        <a:rPr sz="1800" b="0" i="0">
                          <a:solidFill>
                            <a:srgbClr val="0B1F3A"/>
                          </a:solidFill>
                          <a:latin typeface="Calibri"/>
                        </a:rPr>
                        <a:t>+2.31M</a:t>
                      </a:r>
                    </a:p>
                  </a:txBody>
                  <a:tcPr marL="109728" marR="82296" marT="27432" marB="27432" anchor="ctr">
                    <a:solidFill>
                      <a:srgbClr val="F2F6FB"/>
                    </a:solidFill>
                  </a:tcPr>
                </a:tc>
                <a:tc>
                  <a:txBody>
                    <a:bodyPr/>
                    <a:lstStyle/>
                    <a:p>
                      <a:pPr algn="r"/>
                      <a:r>
                        <a:rPr sz="1800" b="0" i="0">
                          <a:solidFill>
                            <a:srgbClr val="0B1F3A"/>
                          </a:solidFill>
                          <a:latin typeface="Calibri"/>
                        </a:rPr>
                        <a:t>3.15M</a:t>
                      </a:r>
                    </a:p>
                  </a:txBody>
                  <a:tcPr marL="109728" marR="82296" marT="27432" marB="27432" anchor="ctr">
                    <a:solidFill>
                      <a:srgbClr val="F2F6FB"/>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754380" y="5212080"/>
            <a:ext cx="16733520" cy="356616"/>
          </a:xfrm>
          <a:prstGeom prst="rect">
            <a:avLst/>
          </a:prstGeom>
          <a:noFill/>
        </p:spPr>
        <p:txBody>
          <a:bodyPr wrap="square" lIns="0" tIns="0" rIns="0" bIns="0" anchor="t"/>
          <a:lstStyle/>
          <a:p>
            <a:pPr algn="l">
              <a:lnSpc>
                <a:spcPct val="100000"/>
              </a:lnSpc>
            </a:pPr>
            <a:r>
              <a:rPr sz="1650" b="1">
                <a:solidFill>
                  <a:srgbClr val="5B6672"/>
                </a:solidFill>
                <a:latin typeface="Calibri"/>
              </a:rPr>
              <a:t>FIVE LARGEST COMCAST LEADS</a:t>
            </a:r>
          </a:p>
        </p:txBody>
      </p:sp>
      <p:graphicFrame>
        <p:nvGraphicFramePr>
          <p:cNvPr id="10" name="Table 9"/>
          <p:cNvGraphicFramePr>
            <a:graphicFrameLocks noGrp="1"/>
          </p:cNvGraphicFramePr>
          <p:nvPr>
            <p:extLst>
              <p:ext uri="{D42A27DB-BD31-4B8C-83A1-F6EECF244321}">
                <p14:modId xmlns:p14="http://schemas.microsoft.com/office/powerpoint/2010/main" val="3774027492"/>
              </p:ext>
            </p:extLst>
          </p:nvPr>
        </p:nvGraphicFramePr>
        <p:xfrm>
          <a:off x="754380" y="5596128"/>
          <a:ext cx="16774668" cy="2537460"/>
        </p:xfrm>
        <a:graphic>
          <a:graphicData uri="http://schemas.openxmlformats.org/drawingml/2006/table">
            <a:tbl>
              <a:tblPr firstRow="1" bandRow="1">
                <a:tableStyleId>{5C22544A-7EE6-4342-B048-85BDC9FD1C3A}</a:tableStyleId>
              </a:tblPr>
              <a:tblGrid>
                <a:gridCol w="294894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9888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98882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gridCol w="2510028">
                  <a:extLst>
                    <a:ext uri="{9D8B030D-6E8A-4147-A177-3AD203B41FA5}">
                      <a16:colId xmlns:a16="http://schemas.microsoft.com/office/drawing/2014/main" val="20006"/>
                    </a:ext>
                  </a:extLst>
                </a:gridCol>
              </a:tblGrid>
              <a:tr h="422910">
                <a:tc>
                  <a:txBody>
                    <a:bodyPr/>
                    <a:lstStyle/>
                    <a:p>
                      <a:pPr algn="l"/>
                      <a:r>
                        <a:rPr sz="1500" b="1" i="0">
                          <a:solidFill>
                            <a:srgbClr val="FFFFFF"/>
                          </a:solidFill>
                          <a:latin typeface="Calibri"/>
                        </a:rPr>
                        <a:t>State</a:t>
                      </a:r>
                    </a:p>
                  </a:txBody>
                  <a:tcPr marL="109728" marR="82296" marT="27432" marB="27432" anchor="ctr">
                    <a:solidFill>
                      <a:srgbClr val="0B1F3A"/>
                    </a:solidFill>
                  </a:tcPr>
                </a:tc>
                <a:tc>
                  <a:txBody>
                    <a:bodyPr/>
                    <a:lstStyle/>
                    <a:p>
                      <a:pPr algn="r"/>
                      <a:r>
                        <a:rPr sz="1500" b="1" i="0">
                          <a:solidFill>
                            <a:srgbClr val="FFFFFF"/>
                          </a:solidFill>
                          <a:latin typeface="Calibri"/>
                        </a:rPr>
                        <a:t>Charter locations</a:t>
                      </a:r>
                    </a:p>
                  </a:txBody>
                  <a:tcPr marL="109728" marR="82296" marT="27432" marB="27432" anchor="ctr">
                    <a:solidFill>
                      <a:srgbClr val="0B1F3A"/>
                    </a:solidFill>
                  </a:tcPr>
                </a:tc>
                <a:tc>
                  <a:txBody>
                    <a:bodyPr/>
                    <a:lstStyle/>
                    <a:p>
                      <a:pPr algn="r"/>
                      <a:r>
                        <a:rPr sz="1500" b="1" i="0">
                          <a:solidFill>
                            <a:srgbClr val="FFFFFF"/>
                          </a:solidFill>
                          <a:latin typeface="Calibri"/>
                        </a:rPr>
                        <a:t>Share of fabric</a:t>
                      </a:r>
                    </a:p>
                  </a:txBody>
                  <a:tcPr marL="109728" marR="82296" marT="27432" marB="27432" anchor="ctr">
                    <a:solidFill>
                      <a:srgbClr val="0B1F3A"/>
                    </a:solidFill>
                  </a:tcPr>
                </a:tc>
                <a:tc>
                  <a:txBody>
                    <a:bodyPr/>
                    <a:lstStyle/>
                    <a:p>
                      <a:pPr algn="r"/>
                      <a:r>
                        <a:rPr sz="1500" b="1" i="0">
                          <a:solidFill>
                            <a:srgbClr val="FFFFFF"/>
                          </a:solidFill>
                          <a:latin typeface="Calibri"/>
                        </a:rPr>
                        <a:t>Comcast locations</a:t>
                      </a:r>
                    </a:p>
                  </a:txBody>
                  <a:tcPr marL="109728" marR="82296" marT="27432" marB="27432" anchor="ctr">
                    <a:solidFill>
                      <a:srgbClr val="0B1F3A"/>
                    </a:solidFill>
                  </a:tcPr>
                </a:tc>
                <a:tc>
                  <a:txBody>
                    <a:bodyPr/>
                    <a:lstStyle/>
                    <a:p>
                      <a:pPr algn="r"/>
                      <a:r>
                        <a:rPr sz="1500" b="1" i="0">
                          <a:solidFill>
                            <a:srgbClr val="FFFFFF"/>
                          </a:solidFill>
                          <a:latin typeface="Calibri"/>
                        </a:rPr>
                        <a:t>Share of fabric</a:t>
                      </a:r>
                    </a:p>
                  </a:txBody>
                  <a:tcPr marL="109728" marR="82296" marT="27432" marB="27432" anchor="ctr">
                    <a:solidFill>
                      <a:srgbClr val="0B1F3A"/>
                    </a:solidFill>
                  </a:tcPr>
                </a:tc>
                <a:tc>
                  <a:txBody>
                    <a:bodyPr/>
                    <a:lstStyle/>
                    <a:p>
                      <a:pPr algn="r"/>
                      <a:r>
                        <a:rPr sz="1500" b="1" i="0">
                          <a:solidFill>
                            <a:srgbClr val="FFFFFF"/>
                          </a:solidFill>
                          <a:latin typeface="Calibri"/>
                        </a:rPr>
                        <a:t>Margin (CH − CM)</a:t>
                      </a:r>
                    </a:p>
                  </a:txBody>
                  <a:tcPr marL="109728" marR="82296" marT="27432" marB="27432" anchor="ctr">
                    <a:solidFill>
                      <a:srgbClr val="0B1F3A"/>
                    </a:solidFill>
                  </a:tcPr>
                </a:tc>
                <a:tc>
                  <a:txBody>
                    <a:bodyPr/>
                    <a:lstStyle/>
                    <a:p>
                      <a:pPr algn="r"/>
                      <a:r>
                        <a:rPr sz="1500" b="1" i="0">
                          <a:solidFill>
                            <a:srgbClr val="FFFFFF"/>
                          </a:solidFill>
                          <a:latin typeface="Calibri"/>
                        </a:rPr>
                        <a:t>State fabric</a:t>
                      </a:r>
                    </a:p>
                  </a:txBody>
                  <a:tcPr marL="109728" marR="82296" marT="27432" marB="27432" anchor="ctr">
                    <a:solidFill>
                      <a:srgbClr val="0B1F3A"/>
                    </a:solidFill>
                  </a:tcPr>
                </a:tc>
                <a:extLst>
                  <a:ext uri="{0D108BD9-81ED-4DB2-BD59-A6C34878D82A}">
                    <a16:rowId xmlns:a16="http://schemas.microsoft.com/office/drawing/2014/main" val="10000"/>
                  </a:ext>
                </a:extLst>
              </a:tr>
              <a:tr h="422910">
                <a:tc>
                  <a:txBody>
                    <a:bodyPr/>
                    <a:lstStyle/>
                    <a:p>
                      <a:pPr algn="l"/>
                      <a:r>
                        <a:rPr sz="1800" b="1" i="0">
                          <a:solidFill>
                            <a:srgbClr val="0B1F3A"/>
                          </a:solidFill>
                          <a:latin typeface="Calibri"/>
                        </a:rPr>
                        <a:t>Pennsylvania (PA)</a:t>
                      </a:r>
                    </a:p>
                  </a:txBody>
                  <a:tcPr marL="109728" marR="82296" marT="27432" marB="27432" anchor="ctr">
                    <a:solidFill>
                      <a:srgbClr val="F2F6FB"/>
                    </a:solidFill>
                  </a:tcPr>
                </a:tc>
                <a:tc>
                  <a:txBody>
                    <a:bodyPr/>
                    <a:lstStyle/>
                    <a:p>
                      <a:pPr algn="r"/>
                      <a:r>
                        <a:rPr sz="1800" b="0" i="0">
                          <a:solidFill>
                            <a:srgbClr val="0B1F3A"/>
                          </a:solidFill>
                          <a:latin typeface="Calibri"/>
                        </a:rPr>
                        <a:t>176k</a:t>
                      </a:r>
                    </a:p>
                  </a:txBody>
                  <a:tcPr marL="109728" marR="82296" marT="27432" marB="27432" anchor="ctr">
                    <a:solidFill>
                      <a:srgbClr val="F2F6FB"/>
                    </a:solidFill>
                  </a:tcPr>
                </a:tc>
                <a:tc>
                  <a:txBody>
                    <a:bodyPr/>
                    <a:lstStyle/>
                    <a:p>
                      <a:pPr algn="r"/>
                      <a:r>
                        <a:rPr sz="1800" b="0" i="0">
                          <a:solidFill>
                            <a:srgbClr val="0B1F3A"/>
                          </a:solidFill>
                          <a:latin typeface="Calibri"/>
                        </a:rPr>
                        <a:t>2.8%</a:t>
                      </a:r>
                    </a:p>
                  </a:txBody>
                  <a:tcPr marL="109728" marR="82296" marT="27432" marB="27432" anchor="ctr">
                    <a:solidFill>
                      <a:srgbClr val="F2F6FB"/>
                    </a:solidFill>
                  </a:tcPr>
                </a:tc>
                <a:tc>
                  <a:txBody>
                    <a:bodyPr/>
                    <a:lstStyle/>
                    <a:p>
                      <a:pPr algn="r"/>
                      <a:r>
                        <a:rPr sz="1800" b="0" i="0">
                          <a:solidFill>
                            <a:srgbClr val="0B1F3A"/>
                          </a:solidFill>
                          <a:latin typeface="Calibri"/>
                        </a:rPr>
                        <a:t>4.53M</a:t>
                      </a:r>
                    </a:p>
                  </a:txBody>
                  <a:tcPr marL="109728" marR="82296" marT="27432" marB="27432" anchor="ctr">
                    <a:solidFill>
                      <a:srgbClr val="F2F6FB"/>
                    </a:solidFill>
                  </a:tcPr>
                </a:tc>
                <a:tc>
                  <a:txBody>
                    <a:bodyPr/>
                    <a:lstStyle/>
                    <a:p>
                      <a:pPr algn="r"/>
                      <a:r>
                        <a:rPr sz="1800" b="0" i="0">
                          <a:solidFill>
                            <a:srgbClr val="0B1F3A"/>
                          </a:solidFill>
                          <a:latin typeface="Calibri"/>
                        </a:rPr>
                        <a:t>71.3%</a:t>
                      </a:r>
                    </a:p>
                  </a:txBody>
                  <a:tcPr marL="109728" marR="82296" marT="27432" marB="27432" anchor="ctr">
                    <a:solidFill>
                      <a:srgbClr val="F2F6FB"/>
                    </a:solidFill>
                  </a:tcPr>
                </a:tc>
                <a:tc>
                  <a:txBody>
                    <a:bodyPr/>
                    <a:lstStyle/>
                    <a:p>
                      <a:pPr algn="r"/>
                      <a:r>
                        <a:rPr sz="1800" b="1" i="0">
                          <a:solidFill>
                            <a:srgbClr val="0072CE"/>
                          </a:solidFill>
                          <a:latin typeface="Calibri"/>
                        </a:rPr>
                        <a:t>−4.36M</a:t>
                      </a:r>
                    </a:p>
                  </a:txBody>
                  <a:tcPr marL="109728" marR="82296" marT="27432" marB="27432" anchor="ctr">
                    <a:solidFill>
                      <a:srgbClr val="F2F6FB"/>
                    </a:solidFill>
                  </a:tcPr>
                </a:tc>
                <a:tc>
                  <a:txBody>
                    <a:bodyPr/>
                    <a:lstStyle/>
                    <a:p>
                      <a:pPr algn="r"/>
                      <a:r>
                        <a:rPr sz="1800" b="0" i="0">
                          <a:solidFill>
                            <a:srgbClr val="0B1F3A"/>
                          </a:solidFill>
                          <a:latin typeface="Calibri"/>
                        </a:rPr>
                        <a:t>6.36M</a:t>
                      </a:r>
                    </a:p>
                  </a:txBody>
                  <a:tcPr marL="109728" marR="82296" marT="27432" marB="27432" anchor="ctr">
                    <a:solidFill>
                      <a:srgbClr val="F2F6FB"/>
                    </a:solidFill>
                  </a:tcPr>
                </a:tc>
                <a:extLst>
                  <a:ext uri="{0D108BD9-81ED-4DB2-BD59-A6C34878D82A}">
                    <a16:rowId xmlns:a16="http://schemas.microsoft.com/office/drawing/2014/main" val="10001"/>
                  </a:ext>
                </a:extLst>
              </a:tr>
              <a:tr h="422910">
                <a:tc>
                  <a:txBody>
                    <a:bodyPr/>
                    <a:lstStyle/>
                    <a:p>
                      <a:pPr algn="l"/>
                      <a:r>
                        <a:rPr sz="1800" b="0" i="0">
                          <a:solidFill>
                            <a:srgbClr val="0B1F3A"/>
                          </a:solidFill>
                          <a:latin typeface="Calibri"/>
                        </a:rPr>
                        <a:t>Illinois (IL)</a:t>
                      </a:r>
                    </a:p>
                  </a:txBody>
                  <a:tcPr marL="109728" marR="82296" marT="27432" marB="27432" anchor="ctr">
                    <a:solidFill>
                      <a:srgbClr val="FFFFFF"/>
                    </a:solidFill>
                  </a:tcPr>
                </a:tc>
                <a:tc>
                  <a:txBody>
                    <a:bodyPr/>
                    <a:lstStyle/>
                    <a:p>
                      <a:pPr algn="r"/>
                      <a:r>
                        <a:rPr sz="1800" b="0" i="0">
                          <a:solidFill>
                            <a:srgbClr val="0B1F3A"/>
                          </a:solidFill>
                          <a:latin typeface="Calibri"/>
                        </a:rPr>
                        <a:t>298k</a:t>
                      </a:r>
                    </a:p>
                  </a:txBody>
                  <a:tcPr marL="109728" marR="82296" marT="27432" marB="27432" anchor="ctr">
                    <a:solidFill>
                      <a:srgbClr val="FFFFFF"/>
                    </a:solidFill>
                  </a:tcPr>
                </a:tc>
                <a:tc>
                  <a:txBody>
                    <a:bodyPr/>
                    <a:lstStyle/>
                    <a:p>
                      <a:pPr algn="r"/>
                      <a:r>
                        <a:rPr sz="1800" b="0" i="0">
                          <a:solidFill>
                            <a:srgbClr val="0B1F3A"/>
                          </a:solidFill>
                          <a:latin typeface="Calibri"/>
                        </a:rPr>
                        <a:t>4.9%</a:t>
                      </a:r>
                    </a:p>
                  </a:txBody>
                  <a:tcPr marL="109728" marR="82296" marT="27432" marB="27432" anchor="ctr">
                    <a:solidFill>
                      <a:srgbClr val="FFFFFF"/>
                    </a:solidFill>
                  </a:tcPr>
                </a:tc>
                <a:tc>
                  <a:txBody>
                    <a:bodyPr/>
                    <a:lstStyle/>
                    <a:p>
                      <a:pPr algn="r"/>
                      <a:r>
                        <a:rPr sz="1800" b="0" i="0">
                          <a:solidFill>
                            <a:srgbClr val="0B1F3A"/>
                          </a:solidFill>
                          <a:latin typeface="Calibri"/>
                        </a:rPr>
                        <a:t>4.56M</a:t>
                      </a:r>
                    </a:p>
                  </a:txBody>
                  <a:tcPr marL="109728" marR="82296" marT="27432" marB="27432" anchor="ctr">
                    <a:solidFill>
                      <a:srgbClr val="FFFFFF"/>
                    </a:solidFill>
                  </a:tcPr>
                </a:tc>
                <a:tc>
                  <a:txBody>
                    <a:bodyPr/>
                    <a:lstStyle/>
                    <a:p>
                      <a:pPr algn="r"/>
                      <a:r>
                        <a:rPr sz="1800" b="0" i="0">
                          <a:solidFill>
                            <a:srgbClr val="0B1F3A"/>
                          </a:solidFill>
                          <a:latin typeface="Calibri"/>
                        </a:rPr>
                        <a:t>75.4%</a:t>
                      </a:r>
                    </a:p>
                  </a:txBody>
                  <a:tcPr marL="109728" marR="82296" marT="27432" marB="27432" anchor="ctr">
                    <a:solidFill>
                      <a:srgbClr val="FFFFFF"/>
                    </a:solidFill>
                  </a:tcPr>
                </a:tc>
                <a:tc>
                  <a:txBody>
                    <a:bodyPr/>
                    <a:lstStyle/>
                    <a:p>
                      <a:pPr algn="r"/>
                      <a:r>
                        <a:rPr sz="1800" b="0" i="0">
                          <a:solidFill>
                            <a:srgbClr val="0B1F3A"/>
                          </a:solidFill>
                          <a:latin typeface="Calibri"/>
                        </a:rPr>
                        <a:t>−4.27M</a:t>
                      </a:r>
                    </a:p>
                  </a:txBody>
                  <a:tcPr marL="109728" marR="82296" marT="27432" marB="27432" anchor="ctr">
                    <a:solidFill>
                      <a:srgbClr val="FFFFFF"/>
                    </a:solidFill>
                  </a:tcPr>
                </a:tc>
                <a:tc>
                  <a:txBody>
                    <a:bodyPr/>
                    <a:lstStyle/>
                    <a:p>
                      <a:pPr algn="r"/>
                      <a:r>
                        <a:rPr sz="1800" b="0" i="0">
                          <a:solidFill>
                            <a:srgbClr val="0B1F3A"/>
                          </a:solidFill>
                          <a:latin typeface="Calibri"/>
                        </a:rPr>
                        <a:t>6.06M</a:t>
                      </a:r>
                    </a:p>
                  </a:txBody>
                  <a:tcPr marL="109728" marR="82296" marT="27432" marB="27432" anchor="ctr">
                    <a:solidFill>
                      <a:srgbClr val="FFFFFF"/>
                    </a:solidFill>
                  </a:tcPr>
                </a:tc>
                <a:extLst>
                  <a:ext uri="{0D108BD9-81ED-4DB2-BD59-A6C34878D82A}">
                    <a16:rowId xmlns:a16="http://schemas.microsoft.com/office/drawing/2014/main" val="10002"/>
                  </a:ext>
                </a:extLst>
              </a:tr>
              <a:tr h="422910">
                <a:tc>
                  <a:txBody>
                    <a:bodyPr/>
                    <a:lstStyle/>
                    <a:p>
                      <a:pPr algn="l"/>
                      <a:r>
                        <a:rPr sz="1800" b="0" i="0">
                          <a:solidFill>
                            <a:srgbClr val="0B1F3A"/>
                          </a:solidFill>
                          <a:latin typeface="Calibri"/>
                        </a:rPr>
                        <a:t>Maryland (MD)</a:t>
                      </a:r>
                    </a:p>
                  </a:txBody>
                  <a:tcPr marL="109728" marR="82296" marT="27432" marB="27432" anchor="ctr">
                    <a:solidFill>
                      <a:srgbClr val="F2F6FB"/>
                    </a:solidFill>
                  </a:tcPr>
                </a:tc>
                <a:tc>
                  <a:txBody>
                    <a:bodyPr/>
                    <a:lstStyle/>
                    <a:p>
                      <a:pPr algn="r"/>
                      <a:r>
                        <a:rPr sz="1800" b="0" i="0">
                          <a:solidFill>
                            <a:srgbClr val="0B1F3A"/>
                          </a:solidFill>
                          <a:latin typeface="Calibri"/>
                        </a:rPr>
                        <a:t>4,407</a:t>
                      </a:r>
                    </a:p>
                  </a:txBody>
                  <a:tcPr marL="109728" marR="82296" marT="27432" marB="27432" anchor="ctr">
                    <a:solidFill>
                      <a:srgbClr val="F2F6FB"/>
                    </a:solidFill>
                  </a:tcPr>
                </a:tc>
                <a:tc>
                  <a:txBody>
                    <a:bodyPr/>
                    <a:lstStyle/>
                    <a:p>
                      <a:pPr algn="r"/>
                      <a:r>
                        <a:rPr sz="1800" b="0" i="0">
                          <a:solidFill>
                            <a:srgbClr val="0B1F3A"/>
                          </a:solidFill>
                          <a:latin typeface="Calibri"/>
                        </a:rPr>
                        <a:t>0.2%</a:t>
                      </a:r>
                    </a:p>
                  </a:txBody>
                  <a:tcPr marL="109728" marR="82296" marT="27432" marB="27432" anchor="ctr">
                    <a:solidFill>
                      <a:srgbClr val="F2F6FB"/>
                    </a:solidFill>
                  </a:tcPr>
                </a:tc>
                <a:tc>
                  <a:txBody>
                    <a:bodyPr/>
                    <a:lstStyle/>
                    <a:p>
                      <a:pPr algn="r"/>
                      <a:r>
                        <a:rPr sz="1800" b="0" i="0">
                          <a:solidFill>
                            <a:srgbClr val="0B1F3A"/>
                          </a:solidFill>
                          <a:latin typeface="Calibri"/>
                        </a:rPr>
                        <a:t>2.46M</a:t>
                      </a:r>
                    </a:p>
                  </a:txBody>
                  <a:tcPr marL="109728" marR="82296" marT="27432" marB="27432" anchor="ctr">
                    <a:solidFill>
                      <a:srgbClr val="F2F6FB"/>
                    </a:solidFill>
                  </a:tcPr>
                </a:tc>
                <a:tc>
                  <a:txBody>
                    <a:bodyPr/>
                    <a:lstStyle/>
                    <a:p>
                      <a:pPr algn="r"/>
                      <a:r>
                        <a:rPr sz="1800" b="0" i="0">
                          <a:solidFill>
                            <a:srgbClr val="0B1F3A"/>
                          </a:solidFill>
                          <a:latin typeface="Calibri"/>
                        </a:rPr>
                        <a:t>89.4%</a:t>
                      </a:r>
                    </a:p>
                  </a:txBody>
                  <a:tcPr marL="109728" marR="82296" marT="27432" marB="27432" anchor="ctr">
                    <a:solidFill>
                      <a:srgbClr val="F2F6FB"/>
                    </a:solidFill>
                  </a:tcPr>
                </a:tc>
                <a:tc>
                  <a:txBody>
                    <a:bodyPr/>
                    <a:lstStyle/>
                    <a:p>
                      <a:pPr algn="r"/>
                      <a:r>
                        <a:rPr sz="1800" b="0" i="0">
                          <a:solidFill>
                            <a:srgbClr val="0B1F3A"/>
                          </a:solidFill>
                          <a:latin typeface="Calibri"/>
                        </a:rPr>
                        <a:t>−2.46M</a:t>
                      </a:r>
                    </a:p>
                  </a:txBody>
                  <a:tcPr marL="109728" marR="82296" marT="27432" marB="27432" anchor="ctr">
                    <a:solidFill>
                      <a:srgbClr val="F2F6FB"/>
                    </a:solidFill>
                  </a:tcPr>
                </a:tc>
                <a:tc>
                  <a:txBody>
                    <a:bodyPr/>
                    <a:lstStyle/>
                    <a:p>
                      <a:pPr algn="r"/>
                      <a:r>
                        <a:rPr sz="1800" b="0" i="0">
                          <a:solidFill>
                            <a:srgbClr val="0B1F3A"/>
                          </a:solidFill>
                          <a:latin typeface="Calibri"/>
                        </a:rPr>
                        <a:t>2.75M</a:t>
                      </a:r>
                    </a:p>
                  </a:txBody>
                  <a:tcPr marL="109728" marR="82296" marT="27432" marB="27432" anchor="ctr">
                    <a:solidFill>
                      <a:srgbClr val="F2F6FB"/>
                    </a:solidFill>
                  </a:tcPr>
                </a:tc>
                <a:extLst>
                  <a:ext uri="{0D108BD9-81ED-4DB2-BD59-A6C34878D82A}">
                    <a16:rowId xmlns:a16="http://schemas.microsoft.com/office/drawing/2014/main" val="10003"/>
                  </a:ext>
                </a:extLst>
              </a:tr>
              <a:tr h="422910">
                <a:tc>
                  <a:txBody>
                    <a:bodyPr/>
                    <a:lstStyle/>
                    <a:p>
                      <a:pPr algn="l"/>
                      <a:r>
                        <a:rPr sz="1800" b="0" i="0">
                          <a:solidFill>
                            <a:srgbClr val="0B1F3A"/>
                          </a:solidFill>
                          <a:latin typeface="Calibri"/>
                        </a:rPr>
                        <a:t>Massachusetts (MA)</a:t>
                      </a:r>
                    </a:p>
                  </a:txBody>
                  <a:tcPr marL="109728" marR="82296" marT="27432" marB="27432" anchor="ctr">
                    <a:solidFill>
                      <a:srgbClr val="FFFFFF"/>
                    </a:solidFill>
                  </a:tcPr>
                </a:tc>
                <a:tc>
                  <a:txBody>
                    <a:bodyPr/>
                    <a:lstStyle/>
                    <a:p>
                      <a:pPr algn="r"/>
                      <a:r>
                        <a:rPr sz="1800" b="0" i="0">
                          <a:solidFill>
                            <a:srgbClr val="0B1F3A"/>
                          </a:solidFill>
                          <a:latin typeface="Calibri"/>
                        </a:rPr>
                        <a:t>412k</a:t>
                      </a:r>
                    </a:p>
                  </a:txBody>
                  <a:tcPr marL="109728" marR="82296" marT="27432" marB="27432" anchor="ctr">
                    <a:solidFill>
                      <a:srgbClr val="FFFFFF"/>
                    </a:solidFill>
                  </a:tcPr>
                </a:tc>
                <a:tc>
                  <a:txBody>
                    <a:bodyPr/>
                    <a:lstStyle/>
                    <a:p>
                      <a:pPr algn="r"/>
                      <a:r>
                        <a:rPr sz="1800" b="0" i="0">
                          <a:solidFill>
                            <a:srgbClr val="0B1F3A"/>
                          </a:solidFill>
                          <a:latin typeface="Calibri"/>
                        </a:rPr>
                        <a:t>12.4%</a:t>
                      </a:r>
                    </a:p>
                  </a:txBody>
                  <a:tcPr marL="109728" marR="82296" marT="27432" marB="27432" anchor="ctr">
                    <a:solidFill>
                      <a:srgbClr val="FFFFFF"/>
                    </a:solidFill>
                  </a:tcPr>
                </a:tc>
                <a:tc>
                  <a:txBody>
                    <a:bodyPr/>
                    <a:lstStyle/>
                    <a:p>
                      <a:pPr algn="r"/>
                      <a:r>
                        <a:rPr sz="1800" b="0" i="0">
                          <a:solidFill>
                            <a:srgbClr val="0B1F3A"/>
                          </a:solidFill>
                          <a:latin typeface="Calibri"/>
                        </a:rPr>
                        <a:t>2.86M</a:t>
                      </a:r>
                    </a:p>
                  </a:txBody>
                  <a:tcPr marL="109728" marR="82296" marT="27432" marB="27432" anchor="ctr">
                    <a:solidFill>
                      <a:srgbClr val="FFFFFF"/>
                    </a:solidFill>
                  </a:tcPr>
                </a:tc>
                <a:tc>
                  <a:txBody>
                    <a:bodyPr/>
                    <a:lstStyle/>
                    <a:p>
                      <a:pPr algn="r"/>
                      <a:r>
                        <a:rPr sz="1800" b="0" i="0">
                          <a:solidFill>
                            <a:srgbClr val="0B1F3A"/>
                          </a:solidFill>
                          <a:latin typeface="Calibri"/>
                        </a:rPr>
                        <a:t>85.9%</a:t>
                      </a:r>
                    </a:p>
                  </a:txBody>
                  <a:tcPr marL="109728" marR="82296" marT="27432" marB="27432" anchor="ctr">
                    <a:solidFill>
                      <a:srgbClr val="FFFFFF"/>
                    </a:solidFill>
                  </a:tcPr>
                </a:tc>
                <a:tc>
                  <a:txBody>
                    <a:bodyPr/>
                    <a:lstStyle/>
                    <a:p>
                      <a:pPr algn="r"/>
                      <a:r>
                        <a:rPr sz="1800" b="0" i="0">
                          <a:solidFill>
                            <a:srgbClr val="0B1F3A"/>
                          </a:solidFill>
                          <a:latin typeface="Calibri"/>
                        </a:rPr>
                        <a:t>−2.45M</a:t>
                      </a:r>
                    </a:p>
                  </a:txBody>
                  <a:tcPr marL="109728" marR="82296" marT="27432" marB="27432" anchor="ctr">
                    <a:solidFill>
                      <a:srgbClr val="FFFFFF"/>
                    </a:solidFill>
                  </a:tcPr>
                </a:tc>
                <a:tc>
                  <a:txBody>
                    <a:bodyPr/>
                    <a:lstStyle/>
                    <a:p>
                      <a:pPr algn="r"/>
                      <a:r>
                        <a:rPr sz="1800" b="0" i="0">
                          <a:solidFill>
                            <a:srgbClr val="0B1F3A"/>
                          </a:solidFill>
                          <a:latin typeface="Calibri"/>
                        </a:rPr>
                        <a:t>3.33M</a:t>
                      </a:r>
                    </a:p>
                  </a:txBody>
                  <a:tcPr marL="109728" marR="82296" marT="27432" marB="27432" anchor="ctr">
                    <a:solidFill>
                      <a:srgbClr val="FFFFFF"/>
                    </a:solidFill>
                  </a:tcPr>
                </a:tc>
                <a:extLst>
                  <a:ext uri="{0D108BD9-81ED-4DB2-BD59-A6C34878D82A}">
                    <a16:rowId xmlns:a16="http://schemas.microsoft.com/office/drawing/2014/main" val="10004"/>
                  </a:ext>
                </a:extLst>
              </a:tr>
              <a:tr h="422910">
                <a:tc>
                  <a:txBody>
                    <a:bodyPr/>
                    <a:lstStyle/>
                    <a:p>
                      <a:pPr algn="l"/>
                      <a:r>
                        <a:rPr sz="1800" b="0" i="0">
                          <a:solidFill>
                            <a:srgbClr val="0B1F3A"/>
                          </a:solidFill>
                          <a:latin typeface="Calibri"/>
                        </a:rPr>
                        <a:t>Washington (WA)</a:t>
                      </a:r>
                    </a:p>
                  </a:txBody>
                  <a:tcPr marL="109728" marR="82296" marT="27432" marB="27432" anchor="ctr">
                    <a:solidFill>
                      <a:srgbClr val="F2F6FB"/>
                    </a:solidFill>
                  </a:tcPr>
                </a:tc>
                <a:tc>
                  <a:txBody>
                    <a:bodyPr/>
                    <a:lstStyle/>
                    <a:p>
                      <a:pPr algn="r"/>
                      <a:r>
                        <a:rPr sz="1800" b="0" i="0">
                          <a:solidFill>
                            <a:srgbClr val="0B1F3A"/>
                          </a:solidFill>
                          <a:latin typeface="Calibri"/>
                        </a:rPr>
                        <a:t>317k</a:t>
                      </a:r>
                    </a:p>
                  </a:txBody>
                  <a:tcPr marL="109728" marR="82296" marT="27432" marB="27432" anchor="ctr">
                    <a:solidFill>
                      <a:srgbClr val="F2F6FB"/>
                    </a:solidFill>
                  </a:tcPr>
                </a:tc>
                <a:tc>
                  <a:txBody>
                    <a:bodyPr/>
                    <a:lstStyle/>
                    <a:p>
                      <a:pPr algn="r"/>
                      <a:r>
                        <a:rPr sz="1800" b="0" i="0">
                          <a:solidFill>
                            <a:srgbClr val="0B1F3A"/>
                          </a:solidFill>
                          <a:latin typeface="Calibri"/>
                        </a:rPr>
                        <a:t>8.6%</a:t>
                      </a:r>
                    </a:p>
                  </a:txBody>
                  <a:tcPr marL="109728" marR="82296" marT="27432" marB="27432" anchor="ctr">
                    <a:solidFill>
                      <a:srgbClr val="F2F6FB"/>
                    </a:solidFill>
                  </a:tcPr>
                </a:tc>
                <a:tc>
                  <a:txBody>
                    <a:bodyPr/>
                    <a:lstStyle/>
                    <a:p>
                      <a:pPr algn="r"/>
                      <a:r>
                        <a:rPr sz="1800" b="0" i="0">
                          <a:solidFill>
                            <a:srgbClr val="0B1F3A"/>
                          </a:solidFill>
                          <a:latin typeface="Calibri"/>
                        </a:rPr>
                        <a:t>2.67M</a:t>
                      </a:r>
                    </a:p>
                  </a:txBody>
                  <a:tcPr marL="109728" marR="82296" marT="27432" marB="27432" anchor="ctr">
                    <a:solidFill>
                      <a:srgbClr val="F2F6FB"/>
                    </a:solidFill>
                  </a:tcPr>
                </a:tc>
                <a:tc>
                  <a:txBody>
                    <a:bodyPr/>
                    <a:lstStyle/>
                    <a:p>
                      <a:pPr algn="r"/>
                      <a:r>
                        <a:rPr sz="1800" b="0" i="0">
                          <a:solidFill>
                            <a:srgbClr val="0B1F3A"/>
                          </a:solidFill>
                          <a:latin typeface="Calibri"/>
                        </a:rPr>
                        <a:t>72.4%</a:t>
                      </a:r>
                    </a:p>
                  </a:txBody>
                  <a:tcPr marL="109728" marR="82296" marT="27432" marB="27432" anchor="ctr">
                    <a:solidFill>
                      <a:srgbClr val="F2F6FB"/>
                    </a:solidFill>
                  </a:tcPr>
                </a:tc>
                <a:tc>
                  <a:txBody>
                    <a:bodyPr/>
                    <a:lstStyle/>
                    <a:p>
                      <a:pPr algn="r"/>
                      <a:r>
                        <a:rPr sz="1800" b="0" i="0">
                          <a:solidFill>
                            <a:srgbClr val="0B1F3A"/>
                          </a:solidFill>
                          <a:latin typeface="Calibri"/>
                        </a:rPr>
                        <a:t>−2.35M</a:t>
                      </a:r>
                    </a:p>
                  </a:txBody>
                  <a:tcPr marL="109728" marR="82296" marT="27432" marB="27432" anchor="ctr">
                    <a:solidFill>
                      <a:srgbClr val="F2F6FB"/>
                    </a:solidFill>
                  </a:tcPr>
                </a:tc>
                <a:tc>
                  <a:txBody>
                    <a:bodyPr/>
                    <a:lstStyle/>
                    <a:p>
                      <a:pPr algn="r"/>
                      <a:r>
                        <a:rPr sz="1800" b="0" i="0">
                          <a:solidFill>
                            <a:srgbClr val="0B1F3A"/>
                          </a:solidFill>
                          <a:latin typeface="Calibri"/>
                        </a:rPr>
                        <a:t>3.68M</a:t>
                      </a:r>
                    </a:p>
                  </a:txBody>
                  <a:tcPr marL="109728" marR="82296" marT="27432" marB="27432" anchor="ctr">
                    <a:solidFill>
                      <a:srgbClr val="F2F6FB"/>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54380" y="8257032"/>
            <a:ext cx="16774668" cy="438912"/>
          </a:xfrm>
          <a:prstGeom prst="rect">
            <a:avLst/>
          </a:prstGeom>
          <a:noFill/>
        </p:spPr>
        <p:txBody>
          <a:bodyPr wrap="square" lIns="0" tIns="0" rIns="0" bIns="0" anchor="t"/>
          <a:lstStyle/>
          <a:p>
            <a:pPr algn="l">
              <a:lnSpc>
                <a:spcPct val="100000"/>
              </a:lnSpc>
            </a:pPr>
            <a:r>
              <a:rPr>
                <a:solidFill>
                  <a:srgbClr val="5B6672"/>
                </a:solidFill>
                <a:latin typeface="Calibri"/>
              </a:rPr>
              <a:t>Margin = Charter locations minus Comcast locations. Share is the percent of that state’s residential fabric units.</a:t>
            </a:r>
          </a:p>
        </p:txBody>
      </p:sp>
      <p:grpSp>
        <p:nvGrpSpPr>
          <p:cNvPr id="12" name="Group 143">
            <a:extLst>
              <a:ext uri="{FF2B5EF4-FFF2-40B4-BE49-F238E27FC236}">
                <a16:creationId xmlns:a16="http://schemas.microsoft.com/office/drawing/2014/main" id="{4B9D9016-2C08-E275-4D35-EDAC68B821CA}"/>
              </a:ext>
            </a:extLst>
          </p:cNvPr>
          <p:cNvGrpSpPr/>
          <p:nvPr/>
        </p:nvGrpSpPr>
        <p:grpSpPr>
          <a:xfrm>
            <a:off x="754380" y="9168289"/>
            <a:ext cx="16733521" cy="432911"/>
            <a:chOff x="0" y="-28575"/>
            <a:chExt cx="22311361" cy="577215"/>
          </a:xfrm>
        </p:grpSpPr>
        <p:sp>
          <p:nvSpPr>
            <p:cNvPr id="13" name="Freeform 144">
              <a:extLst>
                <a:ext uri="{FF2B5EF4-FFF2-40B4-BE49-F238E27FC236}">
                  <a16:creationId xmlns:a16="http://schemas.microsoft.com/office/drawing/2014/main" id="{D39C2B45-0858-541C-EE97-5BBD05840A8F}"/>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14" name="TextBox 145">
              <a:extLst>
                <a:ext uri="{FF2B5EF4-FFF2-40B4-BE49-F238E27FC236}">
                  <a16:creationId xmlns:a16="http://schemas.microsoft.com/office/drawing/2014/main" id="{07E5E79A-946E-6BE1-9777-4EE1B14A478A}"/>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15" name="Group 149">
            <a:extLst>
              <a:ext uri="{FF2B5EF4-FFF2-40B4-BE49-F238E27FC236}">
                <a16:creationId xmlns:a16="http://schemas.microsoft.com/office/drawing/2014/main" id="{95D3EBBC-8B5A-CF76-803B-2B7C7F20CC1E}"/>
              </a:ext>
            </a:extLst>
          </p:cNvPr>
          <p:cNvGrpSpPr/>
          <p:nvPr/>
        </p:nvGrpSpPr>
        <p:grpSpPr>
          <a:xfrm>
            <a:off x="754380" y="9648349"/>
            <a:ext cx="16047721" cy="432911"/>
            <a:chOff x="0" y="-28575"/>
            <a:chExt cx="21396961" cy="577215"/>
          </a:xfrm>
        </p:grpSpPr>
        <p:sp>
          <p:nvSpPr>
            <p:cNvPr id="16" name="Freeform 150">
              <a:extLst>
                <a:ext uri="{FF2B5EF4-FFF2-40B4-BE49-F238E27FC236}">
                  <a16:creationId xmlns:a16="http://schemas.microsoft.com/office/drawing/2014/main" id="{93396B42-8FFA-05C1-3624-1BB9F431290C}"/>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17" name="TextBox 151">
              <a:extLst>
                <a:ext uri="{FF2B5EF4-FFF2-40B4-BE49-F238E27FC236}">
                  <a16:creationId xmlns:a16="http://schemas.microsoft.com/office/drawing/2014/main" id="{AAC27D0B-ACB0-C23F-F887-6EB23C54E7C6}"/>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8" name="Group 2">
            <a:extLst>
              <a:ext uri="{FF2B5EF4-FFF2-40B4-BE49-F238E27FC236}">
                <a16:creationId xmlns:a16="http://schemas.microsoft.com/office/drawing/2014/main" id="{8343C7AD-4CB6-E8EF-B4E7-16DC1D726CA9}"/>
              </a:ext>
            </a:extLst>
          </p:cNvPr>
          <p:cNvGrpSpPr/>
          <p:nvPr/>
        </p:nvGrpSpPr>
        <p:grpSpPr>
          <a:xfrm>
            <a:off x="754380" y="417481"/>
            <a:ext cx="11795760" cy="432911"/>
            <a:chOff x="0" y="-28575"/>
            <a:chExt cx="15727680" cy="577215"/>
          </a:xfrm>
        </p:grpSpPr>
        <p:sp>
          <p:nvSpPr>
            <p:cNvPr id="19" name="Freeform 3">
              <a:extLst>
                <a:ext uri="{FF2B5EF4-FFF2-40B4-BE49-F238E27FC236}">
                  <a16:creationId xmlns:a16="http://schemas.microsoft.com/office/drawing/2014/main" id="{E1E6B6C7-5C4E-D2DA-3C0D-4112D6898123}"/>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20" name="TextBox 4">
              <a:extLst>
                <a:ext uri="{FF2B5EF4-FFF2-40B4-BE49-F238E27FC236}">
                  <a16:creationId xmlns:a16="http://schemas.microsoft.com/office/drawing/2014/main" id="{D83B563C-BE90-3C46-3629-B48F458DF203}"/>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A32  ·  RECOMMENDATION 3, EH&amp;B Background Information</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Large firms employ 54.1% of U.S. payroll workers; firms under 500 hold 45.9%</a:t>
            </a:r>
          </a:p>
        </p:txBody>
      </p:sp>
      <p:sp>
        <p:nvSpPr>
          <p:cNvPr id="4" name="TextBox 3"/>
          <p:cNvSpPr txBox="1"/>
          <p:nvPr/>
        </p:nvSpPr>
        <p:spPr>
          <a:xfrm>
            <a:off x="754380" y="8468773"/>
            <a:ext cx="16733520" cy="411480"/>
          </a:xfrm>
          <a:prstGeom prst="rect">
            <a:avLst/>
          </a:prstGeom>
          <a:noFill/>
        </p:spPr>
        <p:txBody>
          <a:bodyPr wrap="square" lIns="0" tIns="0" rIns="0" bIns="0" anchor="t"/>
          <a:lstStyle/>
          <a:p>
            <a:r>
              <a:rPr sz="1350">
                <a:solidFill>
                  <a:srgbClr val="8A94A0"/>
                </a:solidFill>
                <a:latin typeface="Calibri"/>
              </a:rPr>
              <a:t>Source: U.S. Census Bureau, Statistics of U.S. Businesses (SUSB) 2022, U.S. all-industry enterprise size. https://www.census.gov/data/datasets/2022/econ/susb/2022-susb.html</a:t>
            </a:r>
          </a:p>
        </p:txBody>
      </p:sp>
      <p:sp>
        <p:nvSpPr>
          <p:cNvPr id="7" name="Rounded Rectangle 6"/>
          <p:cNvSpPr/>
          <p:nvPr/>
        </p:nvSpPr>
        <p:spPr>
          <a:xfrm>
            <a:off x="754380" y="2002536"/>
            <a:ext cx="8195310" cy="4114800"/>
          </a:xfrm>
          <a:prstGeom prst="roundRect">
            <a:avLst>
              <a:gd name="adj" fmla="val 5714"/>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9292590" y="2002536"/>
            <a:ext cx="8195310" cy="4114800"/>
          </a:xfrm>
          <a:prstGeom prst="roundRect">
            <a:avLst>
              <a:gd name="adj" fmla="val 5714"/>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028700" y="2345436"/>
            <a:ext cx="7646670" cy="411480"/>
          </a:xfrm>
          <a:prstGeom prst="rect">
            <a:avLst/>
          </a:prstGeom>
          <a:noFill/>
        </p:spPr>
        <p:txBody>
          <a:bodyPr wrap="square" lIns="0" tIns="0" rIns="0" bIns="0" anchor="b"/>
          <a:lstStyle/>
          <a:p>
            <a:r>
              <a:rPr sz="1650" b="1">
                <a:solidFill>
                  <a:srgbClr val="0072CE"/>
                </a:solidFill>
                <a:latin typeface="Calibri"/>
              </a:rPr>
              <a:t>FIRMS WITH 500 OR MORE</a:t>
            </a:r>
          </a:p>
        </p:txBody>
      </p:sp>
      <p:sp>
        <p:nvSpPr>
          <p:cNvPr id="10" name="TextBox 9"/>
          <p:cNvSpPr txBox="1"/>
          <p:nvPr/>
        </p:nvSpPr>
        <p:spPr>
          <a:xfrm>
            <a:off x="1028700" y="2894076"/>
            <a:ext cx="7646670" cy="1097280"/>
          </a:xfrm>
          <a:prstGeom prst="rect">
            <a:avLst/>
          </a:prstGeom>
          <a:noFill/>
        </p:spPr>
        <p:txBody>
          <a:bodyPr wrap="square" lIns="0" tIns="0" rIns="0" bIns="0" anchor="t"/>
          <a:lstStyle/>
          <a:p>
            <a:r>
              <a:rPr sz="6000" b="1">
                <a:solidFill>
                  <a:srgbClr val="0072CE"/>
                </a:solidFill>
                <a:latin typeface="Calibri"/>
              </a:rPr>
              <a:t>54.1%</a:t>
            </a:r>
          </a:p>
        </p:txBody>
      </p:sp>
      <p:sp>
        <p:nvSpPr>
          <p:cNvPr id="11" name="TextBox 10"/>
          <p:cNvSpPr txBox="1"/>
          <p:nvPr/>
        </p:nvSpPr>
        <p:spPr>
          <a:xfrm>
            <a:off x="1028700" y="4197096"/>
            <a:ext cx="7646670" cy="548640"/>
          </a:xfrm>
          <a:prstGeom prst="rect">
            <a:avLst/>
          </a:prstGeom>
          <a:noFill/>
        </p:spPr>
        <p:txBody>
          <a:bodyPr wrap="square" lIns="0" tIns="0" rIns="0" bIns="0" anchor="t"/>
          <a:lstStyle/>
          <a:p>
            <a:r>
              <a:rPr sz="2100">
                <a:solidFill>
                  <a:srgbClr val="5B6672"/>
                </a:solidFill>
                <a:latin typeface="Calibri"/>
              </a:rPr>
              <a:t>Share of U.S. SUSB employment</a:t>
            </a:r>
          </a:p>
        </p:txBody>
      </p:sp>
      <p:sp>
        <p:nvSpPr>
          <p:cNvPr id="12" name="TextBox 11"/>
          <p:cNvSpPr txBox="1"/>
          <p:nvPr/>
        </p:nvSpPr>
        <p:spPr>
          <a:xfrm>
            <a:off x="1028700" y="4882896"/>
            <a:ext cx="7646670" cy="617220"/>
          </a:xfrm>
          <a:prstGeom prst="rect">
            <a:avLst/>
          </a:prstGeom>
          <a:noFill/>
        </p:spPr>
        <p:txBody>
          <a:bodyPr wrap="square" lIns="0" tIns="0" rIns="0" bIns="0" anchor="t"/>
          <a:lstStyle/>
          <a:p>
            <a:r>
              <a:rPr sz="2400" b="1">
                <a:solidFill>
                  <a:srgbClr val="0B1F3A"/>
                </a:solidFill>
                <a:latin typeface="Calibri"/>
              </a:rPr>
              <a:t>73,497,851 workers</a:t>
            </a:r>
          </a:p>
        </p:txBody>
      </p:sp>
      <p:sp>
        <p:nvSpPr>
          <p:cNvPr id="13" name="TextBox 12"/>
          <p:cNvSpPr txBox="1"/>
          <p:nvPr/>
        </p:nvSpPr>
        <p:spPr>
          <a:xfrm>
            <a:off x="9566910" y="2345436"/>
            <a:ext cx="7646670" cy="411480"/>
          </a:xfrm>
          <a:prstGeom prst="rect">
            <a:avLst/>
          </a:prstGeom>
          <a:noFill/>
        </p:spPr>
        <p:txBody>
          <a:bodyPr wrap="square" lIns="0" tIns="0" rIns="0" bIns="0" anchor="b"/>
          <a:lstStyle/>
          <a:p>
            <a:r>
              <a:rPr sz="1650" b="1">
                <a:solidFill>
                  <a:srgbClr val="0072CE"/>
                </a:solidFill>
                <a:latin typeface="Calibri"/>
              </a:rPr>
              <a:t>FIRMS UNDER 500</a:t>
            </a:r>
          </a:p>
        </p:txBody>
      </p:sp>
      <p:sp>
        <p:nvSpPr>
          <p:cNvPr id="14" name="TextBox 13"/>
          <p:cNvSpPr txBox="1"/>
          <p:nvPr/>
        </p:nvSpPr>
        <p:spPr>
          <a:xfrm>
            <a:off x="9566910" y="2894076"/>
            <a:ext cx="7646670" cy="1097280"/>
          </a:xfrm>
          <a:prstGeom prst="rect">
            <a:avLst/>
          </a:prstGeom>
          <a:noFill/>
        </p:spPr>
        <p:txBody>
          <a:bodyPr wrap="square" lIns="0" tIns="0" rIns="0" bIns="0" anchor="t"/>
          <a:lstStyle/>
          <a:p>
            <a:r>
              <a:rPr sz="6000" b="1">
                <a:solidFill>
                  <a:srgbClr val="0B1F3A"/>
                </a:solidFill>
                <a:latin typeface="Calibri"/>
              </a:rPr>
              <a:t>45.9%</a:t>
            </a:r>
          </a:p>
        </p:txBody>
      </p:sp>
      <p:sp>
        <p:nvSpPr>
          <p:cNvPr id="15" name="TextBox 14"/>
          <p:cNvSpPr txBox="1"/>
          <p:nvPr/>
        </p:nvSpPr>
        <p:spPr>
          <a:xfrm>
            <a:off x="9566910" y="4197096"/>
            <a:ext cx="7646670" cy="548640"/>
          </a:xfrm>
          <a:prstGeom prst="rect">
            <a:avLst/>
          </a:prstGeom>
          <a:noFill/>
        </p:spPr>
        <p:txBody>
          <a:bodyPr wrap="square" lIns="0" tIns="0" rIns="0" bIns="0" anchor="t"/>
          <a:lstStyle/>
          <a:p>
            <a:r>
              <a:rPr sz="2100">
                <a:solidFill>
                  <a:srgbClr val="5B6672"/>
                </a:solidFill>
                <a:latin typeface="Calibri"/>
              </a:rPr>
              <a:t>Share of U.S. SUSB employment</a:t>
            </a:r>
          </a:p>
        </p:txBody>
      </p:sp>
      <p:sp>
        <p:nvSpPr>
          <p:cNvPr id="16" name="TextBox 15"/>
          <p:cNvSpPr txBox="1"/>
          <p:nvPr/>
        </p:nvSpPr>
        <p:spPr>
          <a:xfrm>
            <a:off x="9566910" y="4882896"/>
            <a:ext cx="7646670" cy="617220"/>
          </a:xfrm>
          <a:prstGeom prst="rect">
            <a:avLst/>
          </a:prstGeom>
          <a:noFill/>
        </p:spPr>
        <p:txBody>
          <a:bodyPr wrap="square" lIns="0" tIns="0" rIns="0" bIns="0" anchor="t"/>
          <a:lstStyle/>
          <a:p>
            <a:r>
              <a:rPr sz="2400" b="1">
                <a:solidFill>
                  <a:srgbClr val="0B1F3A"/>
                </a:solidFill>
                <a:latin typeface="Calibri"/>
              </a:rPr>
              <a:t>62,250,556 workers</a:t>
            </a:r>
          </a:p>
        </p:txBody>
      </p:sp>
      <p:sp>
        <p:nvSpPr>
          <p:cNvPr id="17" name="Rounded Rectangle 16"/>
          <p:cNvSpPr/>
          <p:nvPr/>
        </p:nvSpPr>
        <p:spPr>
          <a:xfrm>
            <a:off x="754380" y="6391656"/>
            <a:ext cx="16733520" cy="1952292"/>
          </a:xfrm>
          <a:prstGeom prst="roundRect">
            <a:avLst>
              <a:gd name="adj" fmla="val 5714"/>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028700" y="6597396"/>
            <a:ext cx="16184880" cy="1609392"/>
          </a:xfrm>
          <a:prstGeom prst="rect">
            <a:avLst/>
          </a:prstGeom>
          <a:noFill/>
        </p:spPr>
        <p:txBody>
          <a:bodyPr wrap="square" lIns="0" tIns="0" rIns="0" bIns="0" anchor="ctr"/>
          <a:lstStyle/>
          <a:p>
            <a:r>
              <a:rPr sz="1950" b="1">
                <a:solidFill>
                  <a:srgbClr val="0B1F3A"/>
                </a:solidFill>
                <a:latin typeface="Calibri"/>
              </a:rPr>
              <a:t>SUSB 2022 total  </a:t>
            </a:r>
            <a:r>
              <a:rPr sz="1950">
                <a:solidFill>
                  <a:srgbClr val="5B6672"/>
                </a:solidFill>
                <a:latin typeface="Calibri"/>
              </a:rPr>
              <a:t>135,748,407 payroll workers.  Primary cut is the SBA threshold: enterprises with fewer than 500 employees.</a:t>
            </a:r>
          </a:p>
          <a:p>
            <a:r>
              <a:rPr>
                <a:solidFill>
                  <a:srgbClr val="5B6672"/>
                </a:solidFill>
                <a:latin typeface="Calibri"/>
              </a:rPr>
              <a:t>Mid-March payroll employment at employer establishments, classified by enterprise size, not establishment size. Excludes nonemployers, most government, and most of agriculture.</a:t>
            </a:r>
          </a:p>
        </p:txBody>
      </p:sp>
      <p:grpSp>
        <p:nvGrpSpPr>
          <p:cNvPr id="25" name="Group 143">
            <a:extLst>
              <a:ext uri="{FF2B5EF4-FFF2-40B4-BE49-F238E27FC236}">
                <a16:creationId xmlns:a16="http://schemas.microsoft.com/office/drawing/2014/main" id="{109E622F-751D-BA54-B485-59A87D2F8C99}"/>
              </a:ext>
            </a:extLst>
          </p:cNvPr>
          <p:cNvGrpSpPr/>
          <p:nvPr/>
        </p:nvGrpSpPr>
        <p:grpSpPr>
          <a:xfrm>
            <a:off x="754380" y="9168289"/>
            <a:ext cx="16733521" cy="432911"/>
            <a:chOff x="0" y="-28575"/>
            <a:chExt cx="22311361" cy="577215"/>
          </a:xfrm>
        </p:grpSpPr>
        <p:sp>
          <p:nvSpPr>
            <p:cNvPr id="26" name="Freeform 144">
              <a:extLst>
                <a:ext uri="{FF2B5EF4-FFF2-40B4-BE49-F238E27FC236}">
                  <a16:creationId xmlns:a16="http://schemas.microsoft.com/office/drawing/2014/main" id="{618BFE0D-BED1-FA7D-14AC-C514B67C841E}"/>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7" name="TextBox 145">
              <a:extLst>
                <a:ext uri="{FF2B5EF4-FFF2-40B4-BE49-F238E27FC236}">
                  <a16:creationId xmlns:a16="http://schemas.microsoft.com/office/drawing/2014/main" id="{86106D1C-F773-CCE6-661C-D689BCD4A1C7}"/>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28" name="Group 149">
            <a:extLst>
              <a:ext uri="{FF2B5EF4-FFF2-40B4-BE49-F238E27FC236}">
                <a16:creationId xmlns:a16="http://schemas.microsoft.com/office/drawing/2014/main" id="{A9EB99C2-E4FF-263F-F19C-71C0957F925B}"/>
              </a:ext>
            </a:extLst>
          </p:cNvPr>
          <p:cNvGrpSpPr/>
          <p:nvPr/>
        </p:nvGrpSpPr>
        <p:grpSpPr>
          <a:xfrm>
            <a:off x="754380" y="9648349"/>
            <a:ext cx="16047721" cy="432911"/>
            <a:chOff x="0" y="-28575"/>
            <a:chExt cx="21396961" cy="577215"/>
          </a:xfrm>
        </p:grpSpPr>
        <p:sp>
          <p:nvSpPr>
            <p:cNvPr id="29" name="Freeform 150">
              <a:extLst>
                <a:ext uri="{FF2B5EF4-FFF2-40B4-BE49-F238E27FC236}">
                  <a16:creationId xmlns:a16="http://schemas.microsoft.com/office/drawing/2014/main" id="{4A2C7480-CB50-4E17-9389-33CA6CAD484D}"/>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30" name="TextBox 151">
              <a:extLst>
                <a:ext uri="{FF2B5EF4-FFF2-40B4-BE49-F238E27FC236}">
                  <a16:creationId xmlns:a16="http://schemas.microsoft.com/office/drawing/2014/main" id="{811F2BF7-F8CA-D0E0-7279-C666648171B1}"/>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34" name="Group 2">
            <a:extLst>
              <a:ext uri="{FF2B5EF4-FFF2-40B4-BE49-F238E27FC236}">
                <a16:creationId xmlns:a16="http://schemas.microsoft.com/office/drawing/2014/main" id="{B6E7E44A-4044-20DA-44BD-94FB15611CBD}"/>
              </a:ext>
            </a:extLst>
          </p:cNvPr>
          <p:cNvGrpSpPr/>
          <p:nvPr/>
        </p:nvGrpSpPr>
        <p:grpSpPr>
          <a:xfrm>
            <a:off x="754380" y="417481"/>
            <a:ext cx="11795760" cy="432911"/>
            <a:chOff x="0" y="-28575"/>
            <a:chExt cx="15727680" cy="577215"/>
          </a:xfrm>
        </p:grpSpPr>
        <p:sp>
          <p:nvSpPr>
            <p:cNvPr id="35" name="Freeform 3">
              <a:extLst>
                <a:ext uri="{FF2B5EF4-FFF2-40B4-BE49-F238E27FC236}">
                  <a16:creationId xmlns:a16="http://schemas.microsoft.com/office/drawing/2014/main" id="{80AF5472-7E84-AFBD-6002-9AEC52053CF6}"/>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36" name="TextBox 4">
              <a:extLst>
                <a:ext uri="{FF2B5EF4-FFF2-40B4-BE49-F238E27FC236}">
                  <a16:creationId xmlns:a16="http://schemas.microsoft.com/office/drawing/2014/main" id="{D92716B4-FA5E-9A8B-BCFC-31A16D9BA2CB}"/>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A33  ·  RECOMMENDATION 3, EH&amp;B Background Information</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Small-firm share spans 26.7 points, from 66.3% in Montana to 39.6% in Florida</a:t>
            </a:r>
          </a:p>
        </p:txBody>
      </p:sp>
      <p:sp>
        <p:nvSpPr>
          <p:cNvPr id="4" name="TextBox 3"/>
          <p:cNvSpPr txBox="1"/>
          <p:nvPr/>
        </p:nvSpPr>
        <p:spPr>
          <a:xfrm>
            <a:off x="754380" y="8606400"/>
            <a:ext cx="16733520" cy="411480"/>
          </a:xfrm>
          <a:prstGeom prst="rect">
            <a:avLst/>
          </a:prstGeom>
          <a:noFill/>
        </p:spPr>
        <p:txBody>
          <a:bodyPr wrap="square" lIns="0" tIns="0" rIns="0" bIns="0" anchor="t"/>
          <a:lstStyle/>
          <a:p>
            <a:r>
              <a:rPr sz="1350">
                <a:solidFill>
                  <a:srgbClr val="8A94A0"/>
                </a:solidFill>
                <a:latin typeface="Calibri"/>
              </a:rPr>
              <a:t>Source: U.S. Census Bureau, SUSB 2022, 50 states and D.C. Highest and lowest 5 of 51. Montana base 398,871 jobs; Florida base 9,628,867. https://www.census.gov/data/datasets/2022/econ/susb/2022-susb.html</a:t>
            </a:r>
          </a:p>
        </p:txBody>
      </p:sp>
      <p:sp>
        <p:nvSpPr>
          <p:cNvPr id="7" name="TextBox 6"/>
          <p:cNvSpPr txBox="1"/>
          <p:nvPr/>
        </p:nvSpPr>
        <p:spPr>
          <a:xfrm>
            <a:off x="3909060" y="2359152"/>
            <a:ext cx="10355580" cy="274320"/>
          </a:xfrm>
          <a:prstGeom prst="rect">
            <a:avLst/>
          </a:prstGeom>
          <a:noFill/>
        </p:spPr>
        <p:txBody>
          <a:bodyPr wrap="square" lIns="0" tIns="0" rIns="0" bIns="0" anchor="b"/>
          <a:lstStyle/>
          <a:p>
            <a:r>
              <a:rPr sz="1500" b="1">
                <a:solidFill>
                  <a:srgbClr val="8A94A0"/>
                </a:solidFill>
                <a:latin typeface="Calibri"/>
              </a:rPr>
              <a:t>Share at firms under 500</a:t>
            </a:r>
          </a:p>
        </p:txBody>
      </p:sp>
      <p:sp>
        <p:nvSpPr>
          <p:cNvPr id="8" name="TextBox 7"/>
          <p:cNvSpPr txBox="1"/>
          <p:nvPr/>
        </p:nvSpPr>
        <p:spPr>
          <a:xfrm>
            <a:off x="15430500" y="2359152"/>
            <a:ext cx="2057400" cy="274320"/>
          </a:xfrm>
          <a:prstGeom prst="rect">
            <a:avLst/>
          </a:prstGeom>
          <a:noFill/>
        </p:spPr>
        <p:txBody>
          <a:bodyPr wrap="square" lIns="0" tIns="0" rIns="0" bIns="0" anchor="b"/>
          <a:lstStyle/>
          <a:p>
            <a:pPr algn="r"/>
            <a:r>
              <a:rPr sz="1500" b="1">
                <a:solidFill>
                  <a:srgbClr val="8A94A0"/>
                </a:solidFill>
                <a:latin typeface="Calibri"/>
              </a:rPr>
              <a:t>Employment</a:t>
            </a:r>
          </a:p>
        </p:txBody>
      </p:sp>
      <p:sp>
        <p:nvSpPr>
          <p:cNvPr id="9" name="TextBox 8"/>
          <p:cNvSpPr txBox="1"/>
          <p:nvPr/>
        </p:nvSpPr>
        <p:spPr>
          <a:xfrm>
            <a:off x="754380" y="2659152"/>
            <a:ext cx="3017520" cy="274320"/>
          </a:xfrm>
          <a:prstGeom prst="rect">
            <a:avLst/>
          </a:prstGeom>
          <a:noFill/>
        </p:spPr>
        <p:txBody>
          <a:bodyPr wrap="square" lIns="0" tIns="0" rIns="0" bIns="0" anchor="b"/>
          <a:lstStyle/>
          <a:p>
            <a:pPr algn="r"/>
            <a:r>
              <a:rPr sz="1500" b="1">
                <a:solidFill>
                  <a:srgbClr val="0072CE"/>
                </a:solidFill>
                <a:latin typeface="Calibri"/>
              </a:rPr>
              <a:t>HIGHEST 5</a:t>
            </a:r>
          </a:p>
        </p:txBody>
      </p:sp>
      <p:sp>
        <p:nvSpPr>
          <p:cNvPr id="10" name="TextBox 9"/>
          <p:cNvSpPr txBox="1"/>
          <p:nvPr/>
        </p:nvSpPr>
        <p:spPr>
          <a:xfrm>
            <a:off x="754380" y="2947188"/>
            <a:ext cx="3017520" cy="425196"/>
          </a:xfrm>
          <a:prstGeom prst="rect">
            <a:avLst/>
          </a:prstGeom>
          <a:noFill/>
        </p:spPr>
        <p:txBody>
          <a:bodyPr wrap="square" lIns="0" tIns="0" rIns="0" bIns="0" anchor="ctr"/>
          <a:lstStyle/>
          <a:p>
            <a:pPr algn="r"/>
            <a:r>
              <a:rPr sz="1950" b="1">
                <a:solidFill>
                  <a:srgbClr val="0072CE"/>
                </a:solidFill>
                <a:latin typeface="Calibri"/>
              </a:rPr>
              <a:t>Montana</a:t>
            </a:r>
          </a:p>
        </p:txBody>
      </p:sp>
      <p:sp>
        <p:nvSpPr>
          <p:cNvPr id="11" name="Rectangle 10"/>
          <p:cNvSpPr/>
          <p:nvPr/>
        </p:nvSpPr>
        <p:spPr>
          <a:xfrm>
            <a:off x="3909060" y="3050058"/>
            <a:ext cx="6865749" cy="21945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14401800" y="2947188"/>
            <a:ext cx="960120" cy="425196"/>
          </a:xfrm>
          <a:prstGeom prst="rect">
            <a:avLst/>
          </a:prstGeom>
          <a:noFill/>
        </p:spPr>
        <p:txBody>
          <a:bodyPr wrap="square" lIns="0" tIns="0" rIns="0" bIns="0" anchor="ctr"/>
          <a:lstStyle/>
          <a:p>
            <a:pPr algn="r"/>
            <a:r>
              <a:rPr b="1">
                <a:solidFill>
                  <a:srgbClr val="0072CE"/>
                </a:solidFill>
                <a:latin typeface="Calibri"/>
              </a:rPr>
              <a:t>66.3%</a:t>
            </a:r>
          </a:p>
        </p:txBody>
      </p:sp>
      <p:sp>
        <p:nvSpPr>
          <p:cNvPr id="13" name="TextBox 12"/>
          <p:cNvSpPr txBox="1"/>
          <p:nvPr/>
        </p:nvSpPr>
        <p:spPr>
          <a:xfrm>
            <a:off x="15430500" y="2947188"/>
            <a:ext cx="2057400" cy="425196"/>
          </a:xfrm>
          <a:prstGeom prst="rect">
            <a:avLst/>
          </a:prstGeom>
          <a:noFill/>
        </p:spPr>
        <p:txBody>
          <a:bodyPr wrap="square" lIns="0" tIns="0" rIns="0" bIns="0" anchor="ctr"/>
          <a:lstStyle/>
          <a:p>
            <a:pPr algn="r"/>
            <a:r>
              <a:rPr>
                <a:solidFill>
                  <a:srgbClr val="5B6672"/>
                </a:solidFill>
                <a:latin typeface="Calibri"/>
              </a:rPr>
              <a:t>398,871</a:t>
            </a:r>
          </a:p>
        </p:txBody>
      </p:sp>
      <p:sp>
        <p:nvSpPr>
          <p:cNvPr id="14" name="TextBox 13"/>
          <p:cNvSpPr txBox="1"/>
          <p:nvPr/>
        </p:nvSpPr>
        <p:spPr>
          <a:xfrm>
            <a:off x="754380" y="3372384"/>
            <a:ext cx="3017520" cy="425196"/>
          </a:xfrm>
          <a:prstGeom prst="rect">
            <a:avLst/>
          </a:prstGeom>
          <a:noFill/>
        </p:spPr>
        <p:txBody>
          <a:bodyPr wrap="square" lIns="0" tIns="0" rIns="0" bIns="0" anchor="ctr"/>
          <a:lstStyle/>
          <a:p>
            <a:pPr algn="r"/>
            <a:r>
              <a:rPr sz="1950">
                <a:solidFill>
                  <a:srgbClr val="0B1F3A"/>
                </a:solidFill>
                <a:latin typeface="Calibri"/>
              </a:rPr>
              <a:t>Wyoming</a:t>
            </a:r>
          </a:p>
        </p:txBody>
      </p:sp>
      <p:sp>
        <p:nvSpPr>
          <p:cNvPr id="15" name="Rectangle 14"/>
          <p:cNvSpPr/>
          <p:nvPr/>
        </p:nvSpPr>
        <p:spPr>
          <a:xfrm>
            <a:off x="3909061" y="3475254"/>
            <a:ext cx="6751838"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401800" y="3372384"/>
            <a:ext cx="960120" cy="425196"/>
          </a:xfrm>
          <a:prstGeom prst="rect">
            <a:avLst/>
          </a:prstGeom>
          <a:noFill/>
        </p:spPr>
        <p:txBody>
          <a:bodyPr wrap="square" lIns="0" tIns="0" rIns="0" bIns="0" anchor="ctr"/>
          <a:lstStyle/>
          <a:p>
            <a:pPr algn="r"/>
            <a:r>
              <a:rPr>
                <a:solidFill>
                  <a:srgbClr val="0B1F3A"/>
                </a:solidFill>
                <a:latin typeface="Calibri"/>
              </a:rPr>
              <a:t>65.2%</a:t>
            </a:r>
          </a:p>
        </p:txBody>
      </p:sp>
      <p:sp>
        <p:nvSpPr>
          <p:cNvPr id="17" name="TextBox 16"/>
          <p:cNvSpPr txBox="1"/>
          <p:nvPr/>
        </p:nvSpPr>
        <p:spPr>
          <a:xfrm>
            <a:off x="15430500" y="3372384"/>
            <a:ext cx="2057400" cy="425196"/>
          </a:xfrm>
          <a:prstGeom prst="rect">
            <a:avLst/>
          </a:prstGeom>
          <a:noFill/>
        </p:spPr>
        <p:txBody>
          <a:bodyPr wrap="square" lIns="0" tIns="0" rIns="0" bIns="0" anchor="ctr"/>
          <a:lstStyle/>
          <a:p>
            <a:pPr algn="r"/>
            <a:r>
              <a:rPr>
                <a:solidFill>
                  <a:srgbClr val="5B6672"/>
                </a:solidFill>
                <a:latin typeface="Calibri"/>
              </a:rPr>
              <a:t>208,024</a:t>
            </a:r>
          </a:p>
        </p:txBody>
      </p:sp>
      <p:sp>
        <p:nvSpPr>
          <p:cNvPr id="18" name="TextBox 17"/>
          <p:cNvSpPr txBox="1"/>
          <p:nvPr/>
        </p:nvSpPr>
        <p:spPr>
          <a:xfrm>
            <a:off x="754380" y="3797580"/>
            <a:ext cx="3017520" cy="425196"/>
          </a:xfrm>
          <a:prstGeom prst="rect">
            <a:avLst/>
          </a:prstGeom>
          <a:noFill/>
        </p:spPr>
        <p:txBody>
          <a:bodyPr wrap="square" lIns="0" tIns="0" rIns="0" bIns="0" anchor="ctr"/>
          <a:lstStyle/>
          <a:p>
            <a:pPr algn="r"/>
            <a:r>
              <a:rPr sz="1950">
                <a:solidFill>
                  <a:srgbClr val="0B1F3A"/>
                </a:solidFill>
                <a:latin typeface="Calibri"/>
              </a:rPr>
              <a:t>Vermont</a:t>
            </a:r>
          </a:p>
        </p:txBody>
      </p:sp>
      <p:sp>
        <p:nvSpPr>
          <p:cNvPr id="19" name="Rectangle 18"/>
          <p:cNvSpPr/>
          <p:nvPr/>
        </p:nvSpPr>
        <p:spPr>
          <a:xfrm>
            <a:off x="3909060" y="3900450"/>
            <a:ext cx="6430815"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14401800" y="3797580"/>
            <a:ext cx="960120" cy="425196"/>
          </a:xfrm>
          <a:prstGeom prst="rect">
            <a:avLst/>
          </a:prstGeom>
          <a:noFill/>
        </p:spPr>
        <p:txBody>
          <a:bodyPr wrap="square" lIns="0" tIns="0" rIns="0" bIns="0" anchor="ctr"/>
          <a:lstStyle/>
          <a:p>
            <a:pPr algn="r"/>
            <a:r>
              <a:rPr>
                <a:solidFill>
                  <a:srgbClr val="0B1F3A"/>
                </a:solidFill>
                <a:latin typeface="Calibri"/>
              </a:rPr>
              <a:t>62.1%</a:t>
            </a:r>
          </a:p>
        </p:txBody>
      </p:sp>
      <p:sp>
        <p:nvSpPr>
          <p:cNvPr id="21" name="TextBox 20"/>
          <p:cNvSpPr txBox="1"/>
          <p:nvPr/>
        </p:nvSpPr>
        <p:spPr>
          <a:xfrm>
            <a:off x="15430500" y="3797580"/>
            <a:ext cx="2057400" cy="425196"/>
          </a:xfrm>
          <a:prstGeom prst="rect">
            <a:avLst/>
          </a:prstGeom>
          <a:noFill/>
        </p:spPr>
        <p:txBody>
          <a:bodyPr wrap="square" lIns="0" tIns="0" rIns="0" bIns="0" anchor="ctr"/>
          <a:lstStyle/>
          <a:p>
            <a:pPr algn="r"/>
            <a:r>
              <a:rPr>
                <a:solidFill>
                  <a:srgbClr val="5B6672"/>
                </a:solidFill>
                <a:latin typeface="Calibri"/>
              </a:rPr>
              <a:t>254,471</a:t>
            </a:r>
          </a:p>
        </p:txBody>
      </p:sp>
      <p:sp>
        <p:nvSpPr>
          <p:cNvPr id="22" name="TextBox 21"/>
          <p:cNvSpPr txBox="1"/>
          <p:nvPr/>
        </p:nvSpPr>
        <p:spPr>
          <a:xfrm>
            <a:off x="754380" y="4222776"/>
            <a:ext cx="3017520" cy="425196"/>
          </a:xfrm>
          <a:prstGeom prst="rect">
            <a:avLst/>
          </a:prstGeom>
          <a:noFill/>
        </p:spPr>
        <p:txBody>
          <a:bodyPr wrap="square" lIns="0" tIns="0" rIns="0" bIns="0" anchor="ctr"/>
          <a:lstStyle/>
          <a:p>
            <a:pPr algn="r"/>
            <a:r>
              <a:rPr sz="1950">
                <a:solidFill>
                  <a:srgbClr val="0B1F3A"/>
                </a:solidFill>
                <a:latin typeface="Calibri"/>
              </a:rPr>
              <a:t>South Dakota</a:t>
            </a:r>
          </a:p>
        </p:txBody>
      </p:sp>
      <p:sp>
        <p:nvSpPr>
          <p:cNvPr id="23" name="Rectangle 22"/>
          <p:cNvSpPr/>
          <p:nvPr/>
        </p:nvSpPr>
        <p:spPr>
          <a:xfrm>
            <a:off x="3909060" y="4325646"/>
            <a:ext cx="6006237"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14401800" y="4222776"/>
            <a:ext cx="960120" cy="425196"/>
          </a:xfrm>
          <a:prstGeom prst="rect">
            <a:avLst/>
          </a:prstGeom>
          <a:noFill/>
        </p:spPr>
        <p:txBody>
          <a:bodyPr wrap="square" lIns="0" tIns="0" rIns="0" bIns="0" anchor="ctr"/>
          <a:lstStyle/>
          <a:p>
            <a:pPr algn="r"/>
            <a:r>
              <a:rPr>
                <a:solidFill>
                  <a:srgbClr val="0B1F3A"/>
                </a:solidFill>
                <a:latin typeface="Calibri"/>
              </a:rPr>
              <a:t>58.0%</a:t>
            </a:r>
          </a:p>
        </p:txBody>
      </p:sp>
      <p:sp>
        <p:nvSpPr>
          <p:cNvPr id="25" name="TextBox 24"/>
          <p:cNvSpPr txBox="1"/>
          <p:nvPr/>
        </p:nvSpPr>
        <p:spPr>
          <a:xfrm>
            <a:off x="15430500" y="4222776"/>
            <a:ext cx="2057400" cy="425196"/>
          </a:xfrm>
          <a:prstGeom prst="rect">
            <a:avLst/>
          </a:prstGeom>
          <a:noFill/>
        </p:spPr>
        <p:txBody>
          <a:bodyPr wrap="square" lIns="0" tIns="0" rIns="0" bIns="0" anchor="ctr"/>
          <a:lstStyle/>
          <a:p>
            <a:pPr algn="r"/>
            <a:r>
              <a:rPr>
                <a:solidFill>
                  <a:srgbClr val="5B6672"/>
                </a:solidFill>
                <a:latin typeface="Calibri"/>
              </a:rPr>
              <a:t>373,863</a:t>
            </a:r>
          </a:p>
        </p:txBody>
      </p:sp>
      <p:sp>
        <p:nvSpPr>
          <p:cNvPr id="26" name="TextBox 25"/>
          <p:cNvSpPr txBox="1"/>
          <p:nvPr/>
        </p:nvSpPr>
        <p:spPr>
          <a:xfrm>
            <a:off x="754380" y="4647972"/>
            <a:ext cx="3017520" cy="425196"/>
          </a:xfrm>
          <a:prstGeom prst="rect">
            <a:avLst/>
          </a:prstGeom>
          <a:noFill/>
        </p:spPr>
        <p:txBody>
          <a:bodyPr wrap="square" lIns="0" tIns="0" rIns="0" bIns="0" anchor="ctr"/>
          <a:lstStyle/>
          <a:p>
            <a:pPr algn="r"/>
            <a:r>
              <a:rPr sz="1950">
                <a:solidFill>
                  <a:srgbClr val="0B1F3A"/>
                </a:solidFill>
                <a:latin typeface="Calibri"/>
              </a:rPr>
              <a:t>North Dakota</a:t>
            </a:r>
          </a:p>
        </p:txBody>
      </p:sp>
      <p:sp>
        <p:nvSpPr>
          <p:cNvPr id="27" name="Rectangle 26"/>
          <p:cNvSpPr/>
          <p:nvPr/>
        </p:nvSpPr>
        <p:spPr>
          <a:xfrm>
            <a:off x="3909061" y="4750842"/>
            <a:ext cx="5964815"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14401800" y="4647972"/>
            <a:ext cx="960120" cy="425196"/>
          </a:xfrm>
          <a:prstGeom prst="rect">
            <a:avLst/>
          </a:prstGeom>
          <a:noFill/>
        </p:spPr>
        <p:txBody>
          <a:bodyPr wrap="square" lIns="0" tIns="0" rIns="0" bIns="0" anchor="ctr"/>
          <a:lstStyle/>
          <a:p>
            <a:pPr algn="r"/>
            <a:r>
              <a:rPr>
                <a:solidFill>
                  <a:srgbClr val="0B1F3A"/>
                </a:solidFill>
                <a:latin typeface="Calibri"/>
              </a:rPr>
              <a:t>57.6%</a:t>
            </a:r>
          </a:p>
        </p:txBody>
      </p:sp>
      <p:sp>
        <p:nvSpPr>
          <p:cNvPr id="29" name="TextBox 28"/>
          <p:cNvSpPr txBox="1"/>
          <p:nvPr/>
        </p:nvSpPr>
        <p:spPr>
          <a:xfrm>
            <a:off x="15430500" y="4647972"/>
            <a:ext cx="2057400" cy="425196"/>
          </a:xfrm>
          <a:prstGeom prst="rect">
            <a:avLst/>
          </a:prstGeom>
          <a:noFill/>
        </p:spPr>
        <p:txBody>
          <a:bodyPr wrap="square" lIns="0" tIns="0" rIns="0" bIns="0" anchor="ctr"/>
          <a:lstStyle/>
          <a:p>
            <a:pPr algn="r"/>
            <a:r>
              <a:rPr>
                <a:solidFill>
                  <a:srgbClr val="5B6672"/>
                </a:solidFill>
                <a:latin typeface="Calibri"/>
              </a:rPr>
              <a:t>342,345</a:t>
            </a:r>
          </a:p>
        </p:txBody>
      </p:sp>
      <p:sp>
        <p:nvSpPr>
          <p:cNvPr id="30" name="TextBox 29"/>
          <p:cNvSpPr txBox="1"/>
          <p:nvPr/>
        </p:nvSpPr>
        <p:spPr>
          <a:xfrm>
            <a:off x="8771999" y="5114316"/>
            <a:ext cx="2743200" cy="384048"/>
          </a:xfrm>
          <a:prstGeom prst="rect">
            <a:avLst/>
          </a:prstGeom>
          <a:noFill/>
        </p:spPr>
        <p:txBody>
          <a:bodyPr wrap="square" lIns="0" tIns="0" rIns="0" bIns="0" anchor="ctr"/>
          <a:lstStyle/>
          <a:p>
            <a:r>
              <a:rPr sz="1650" b="1">
                <a:solidFill>
                  <a:srgbClr val="5B6672"/>
                </a:solidFill>
                <a:latin typeface="Calibri"/>
              </a:rPr>
              <a:t>U.S. 45.9%</a:t>
            </a:r>
          </a:p>
        </p:txBody>
      </p:sp>
      <p:sp>
        <p:nvSpPr>
          <p:cNvPr id="31" name="TextBox 30"/>
          <p:cNvSpPr txBox="1"/>
          <p:nvPr/>
        </p:nvSpPr>
        <p:spPr>
          <a:xfrm>
            <a:off x="754380" y="5498364"/>
            <a:ext cx="3017520" cy="274320"/>
          </a:xfrm>
          <a:prstGeom prst="rect">
            <a:avLst/>
          </a:prstGeom>
          <a:noFill/>
        </p:spPr>
        <p:txBody>
          <a:bodyPr wrap="square" lIns="0" tIns="0" rIns="0" bIns="0" anchor="b"/>
          <a:lstStyle/>
          <a:p>
            <a:pPr algn="r"/>
            <a:r>
              <a:rPr sz="1500" b="1">
                <a:solidFill>
                  <a:srgbClr val="0072CE"/>
                </a:solidFill>
                <a:latin typeface="Calibri"/>
              </a:rPr>
              <a:t>LOWEST 5</a:t>
            </a:r>
          </a:p>
        </p:txBody>
      </p:sp>
      <p:sp>
        <p:nvSpPr>
          <p:cNvPr id="32" name="TextBox 31"/>
          <p:cNvSpPr txBox="1"/>
          <p:nvPr/>
        </p:nvSpPr>
        <p:spPr>
          <a:xfrm>
            <a:off x="754380" y="5786400"/>
            <a:ext cx="3017520" cy="425196"/>
          </a:xfrm>
          <a:prstGeom prst="rect">
            <a:avLst/>
          </a:prstGeom>
          <a:noFill/>
        </p:spPr>
        <p:txBody>
          <a:bodyPr wrap="square" lIns="0" tIns="0" rIns="0" bIns="0" anchor="ctr"/>
          <a:lstStyle/>
          <a:p>
            <a:pPr algn="r"/>
            <a:r>
              <a:rPr sz="1950">
                <a:solidFill>
                  <a:srgbClr val="0B1F3A"/>
                </a:solidFill>
                <a:latin typeface="Calibri"/>
              </a:rPr>
              <a:t>Kentucky</a:t>
            </a:r>
          </a:p>
        </p:txBody>
      </p:sp>
      <p:sp>
        <p:nvSpPr>
          <p:cNvPr id="33" name="Rectangle 32"/>
          <p:cNvSpPr/>
          <p:nvPr/>
        </p:nvSpPr>
        <p:spPr>
          <a:xfrm>
            <a:off x="3909061" y="5889270"/>
            <a:ext cx="4411478"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14401800" y="5786400"/>
            <a:ext cx="960120" cy="425196"/>
          </a:xfrm>
          <a:prstGeom prst="rect">
            <a:avLst/>
          </a:prstGeom>
          <a:noFill/>
        </p:spPr>
        <p:txBody>
          <a:bodyPr wrap="square" lIns="0" tIns="0" rIns="0" bIns="0" anchor="ctr"/>
          <a:lstStyle/>
          <a:p>
            <a:pPr algn="r"/>
            <a:r>
              <a:rPr>
                <a:solidFill>
                  <a:srgbClr val="0B1F3A"/>
                </a:solidFill>
                <a:latin typeface="Calibri"/>
              </a:rPr>
              <a:t>42.6%</a:t>
            </a:r>
          </a:p>
        </p:txBody>
      </p:sp>
      <p:sp>
        <p:nvSpPr>
          <p:cNvPr id="35" name="TextBox 34"/>
          <p:cNvSpPr txBox="1"/>
          <p:nvPr/>
        </p:nvSpPr>
        <p:spPr>
          <a:xfrm>
            <a:off x="15430500" y="5786400"/>
            <a:ext cx="2057400" cy="425196"/>
          </a:xfrm>
          <a:prstGeom prst="rect">
            <a:avLst/>
          </a:prstGeom>
          <a:noFill/>
        </p:spPr>
        <p:txBody>
          <a:bodyPr wrap="square" lIns="0" tIns="0" rIns="0" bIns="0" anchor="ctr"/>
          <a:lstStyle/>
          <a:p>
            <a:pPr algn="r"/>
            <a:r>
              <a:rPr>
                <a:solidFill>
                  <a:srgbClr val="5B6672"/>
                </a:solidFill>
                <a:latin typeface="Calibri"/>
              </a:rPr>
              <a:t>1,667,694</a:t>
            </a:r>
          </a:p>
        </p:txBody>
      </p:sp>
      <p:sp>
        <p:nvSpPr>
          <p:cNvPr id="36" name="TextBox 35"/>
          <p:cNvSpPr txBox="1"/>
          <p:nvPr/>
        </p:nvSpPr>
        <p:spPr>
          <a:xfrm>
            <a:off x="754380" y="6211596"/>
            <a:ext cx="3017520" cy="425196"/>
          </a:xfrm>
          <a:prstGeom prst="rect">
            <a:avLst/>
          </a:prstGeom>
          <a:noFill/>
        </p:spPr>
        <p:txBody>
          <a:bodyPr wrap="square" lIns="0" tIns="0" rIns="0" bIns="0" anchor="ctr"/>
          <a:lstStyle/>
          <a:p>
            <a:pPr algn="r"/>
            <a:r>
              <a:rPr sz="1950">
                <a:solidFill>
                  <a:srgbClr val="0B1F3A"/>
                </a:solidFill>
                <a:latin typeface="Calibri"/>
              </a:rPr>
              <a:t>Arizona</a:t>
            </a:r>
          </a:p>
        </p:txBody>
      </p:sp>
      <p:sp>
        <p:nvSpPr>
          <p:cNvPr id="37" name="Rectangle 36"/>
          <p:cNvSpPr/>
          <p:nvPr/>
        </p:nvSpPr>
        <p:spPr>
          <a:xfrm>
            <a:off x="3909061" y="6314466"/>
            <a:ext cx="4411478"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4401800" y="6211596"/>
            <a:ext cx="960120" cy="425196"/>
          </a:xfrm>
          <a:prstGeom prst="rect">
            <a:avLst/>
          </a:prstGeom>
          <a:noFill/>
        </p:spPr>
        <p:txBody>
          <a:bodyPr wrap="square" lIns="0" tIns="0" rIns="0" bIns="0" anchor="ctr"/>
          <a:lstStyle/>
          <a:p>
            <a:pPr algn="r"/>
            <a:r>
              <a:rPr>
                <a:solidFill>
                  <a:srgbClr val="0B1F3A"/>
                </a:solidFill>
                <a:latin typeface="Calibri"/>
              </a:rPr>
              <a:t>42.6%</a:t>
            </a:r>
          </a:p>
        </p:txBody>
      </p:sp>
      <p:sp>
        <p:nvSpPr>
          <p:cNvPr id="39" name="TextBox 38"/>
          <p:cNvSpPr txBox="1"/>
          <p:nvPr/>
        </p:nvSpPr>
        <p:spPr>
          <a:xfrm>
            <a:off x="15430500" y="6211596"/>
            <a:ext cx="2057400" cy="425196"/>
          </a:xfrm>
          <a:prstGeom prst="rect">
            <a:avLst/>
          </a:prstGeom>
          <a:noFill/>
        </p:spPr>
        <p:txBody>
          <a:bodyPr wrap="square" lIns="0" tIns="0" rIns="0" bIns="0" anchor="ctr"/>
          <a:lstStyle/>
          <a:p>
            <a:pPr algn="r"/>
            <a:r>
              <a:rPr>
                <a:solidFill>
                  <a:srgbClr val="5B6672"/>
                </a:solidFill>
                <a:latin typeface="Calibri"/>
              </a:rPr>
              <a:t>2,787,701</a:t>
            </a:r>
          </a:p>
        </p:txBody>
      </p:sp>
      <p:sp>
        <p:nvSpPr>
          <p:cNvPr id="40" name="TextBox 39"/>
          <p:cNvSpPr txBox="1"/>
          <p:nvPr/>
        </p:nvSpPr>
        <p:spPr>
          <a:xfrm>
            <a:off x="754380" y="6636792"/>
            <a:ext cx="3017520" cy="425196"/>
          </a:xfrm>
          <a:prstGeom prst="rect">
            <a:avLst/>
          </a:prstGeom>
          <a:noFill/>
        </p:spPr>
        <p:txBody>
          <a:bodyPr wrap="square" lIns="0" tIns="0" rIns="0" bIns="0" anchor="ctr"/>
          <a:lstStyle/>
          <a:p>
            <a:pPr algn="r"/>
            <a:r>
              <a:rPr sz="1950">
                <a:solidFill>
                  <a:srgbClr val="0B1F3A"/>
                </a:solidFill>
                <a:latin typeface="Calibri"/>
              </a:rPr>
              <a:t>Georgia</a:t>
            </a:r>
          </a:p>
        </p:txBody>
      </p:sp>
      <p:sp>
        <p:nvSpPr>
          <p:cNvPr id="41" name="Rectangle 40"/>
          <p:cNvSpPr/>
          <p:nvPr/>
        </p:nvSpPr>
        <p:spPr>
          <a:xfrm>
            <a:off x="3909061" y="6739662"/>
            <a:ext cx="4401122"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14401800" y="6636792"/>
            <a:ext cx="960120" cy="425196"/>
          </a:xfrm>
          <a:prstGeom prst="rect">
            <a:avLst/>
          </a:prstGeom>
          <a:noFill/>
        </p:spPr>
        <p:txBody>
          <a:bodyPr wrap="square" lIns="0" tIns="0" rIns="0" bIns="0" anchor="ctr"/>
          <a:lstStyle/>
          <a:p>
            <a:pPr algn="r"/>
            <a:r>
              <a:rPr>
                <a:solidFill>
                  <a:srgbClr val="0B1F3A"/>
                </a:solidFill>
                <a:latin typeface="Calibri"/>
              </a:rPr>
              <a:t>42.5%</a:t>
            </a:r>
          </a:p>
        </p:txBody>
      </p:sp>
      <p:sp>
        <p:nvSpPr>
          <p:cNvPr id="43" name="TextBox 42"/>
          <p:cNvSpPr txBox="1"/>
          <p:nvPr/>
        </p:nvSpPr>
        <p:spPr>
          <a:xfrm>
            <a:off x="15430500" y="6636792"/>
            <a:ext cx="2057400" cy="425196"/>
          </a:xfrm>
          <a:prstGeom prst="rect">
            <a:avLst/>
          </a:prstGeom>
          <a:noFill/>
        </p:spPr>
        <p:txBody>
          <a:bodyPr wrap="square" lIns="0" tIns="0" rIns="0" bIns="0" anchor="ctr"/>
          <a:lstStyle/>
          <a:p>
            <a:pPr algn="r"/>
            <a:r>
              <a:rPr>
                <a:solidFill>
                  <a:srgbClr val="5B6672"/>
                </a:solidFill>
                <a:latin typeface="Calibri"/>
              </a:rPr>
              <a:t>4,249,362</a:t>
            </a:r>
          </a:p>
        </p:txBody>
      </p:sp>
      <p:sp>
        <p:nvSpPr>
          <p:cNvPr id="44" name="TextBox 43"/>
          <p:cNvSpPr txBox="1"/>
          <p:nvPr/>
        </p:nvSpPr>
        <p:spPr>
          <a:xfrm>
            <a:off x="754380" y="7061988"/>
            <a:ext cx="3017520" cy="425196"/>
          </a:xfrm>
          <a:prstGeom prst="rect">
            <a:avLst/>
          </a:prstGeom>
          <a:noFill/>
        </p:spPr>
        <p:txBody>
          <a:bodyPr wrap="square" lIns="0" tIns="0" rIns="0" bIns="0" anchor="ctr"/>
          <a:lstStyle/>
          <a:p>
            <a:pPr algn="r"/>
            <a:r>
              <a:rPr sz="1950">
                <a:solidFill>
                  <a:srgbClr val="0B1F3A"/>
                </a:solidFill>
                <a:latin typeface="Calibri"/>
              </a:rPr>
              <a:t>Tennessee</a:t>
            </a:r>
          </a:p>
        </p:txBody>
      </p:sp>
      <p:sp>
        <p:nvSpPr>
          <p:cNvPr id="45" name="Rectangle 44"/>
          <p:cNvSpPr/>
          <p:nvPr/>
        </p:nvSpPr>
        <p:spPr>
          <a:xfrm>
            <a:off x="3909060" y="7164858"/>
            <a:ext cx="4297566" cy="219456"/>
          </a:xfrm>
          <a:prstGeom prst="rect">
            <a:avLst/>
          </a:prstGeom>
          <a:solidFill>
            <a:srgbClr val="B7C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4401800" y="7061988"/>
            <a:ext cx="960120" cy="425196"/>
          </a:xfrm>
          <a:prstGeom prst="rect">
            <a:avLst/>
          </a:prstGeom>
          <a:noFill/>
        </p:spPr>
        <p:txBody>
          <a:bodyPr wrap="square" lIns="0" tIns="0" rIns="0" bIns="0" anchor="ctr"/>
          <a:lstStyle/>
          <a:p>
            <a:pPr algn="r"/>
            <a:r>
              <a:rPr>
                <a:solidFill>
                  <a:srgbClr val="0B1F3A"/>
                </a:solidFill>
                <a:latin typeface="Calibri"/>
              </a:rPr>
              <a:t>41.5%</a:t>
            </a:r>
          </a:p>
        </p:txBody>
      </p:sp>
      <p:sp>
        <p:nvSpPr>
          <p:cNvPr id="47" name="TextBox 46"/>
          <p:cNvSpPr txBox="1"/>
          <p:nvPr/>
        </p:nvSpPr>
        <p:spPr>
          <a:xfrm>
            <a:off x="15430500" y="7061988"/>
            <a:ext cx="2057400" cy="425196"/>
          </a:xfrm>
          <a:prstGeom prst="rect">
            <a:avLst/>
          </a:prstGeom>
          <a:noFill/>
        </p:spPr>
        <p:txBody>
          <a:bodyPr wrap="square" lIns="0" tIns="0" rIns="0" bIns="0" anchor="ctr"/>
          <a:lstStyle/>
          <a:p>
            <a:pPr algn="r"/>
            <a:r>
              <a:rPr>
                <a:solidFill>
                  <a:srgbClr val="5B6672"/>
                </a:solidFill>
                <a:latin typeface="Calibri"/>
              </a:rPr>
              <a:t>2,846,881</a:t>
            </a:r>
          </a:p>
        </p:txBody>
      </p:sp>
      <p:sp>
        <p:nvSpPr>
          <p:cNvPr id="48" name="TextBox 47"/>
          <p:cNvSpPr txBox="1"/>
          <p:nvPr/>
        </p:nvSpPr>
        <p:spPr>
          <a:xfrm>
            <a:off x="754380" y="7487184"/>
            <a:ext cx="3017520" cy="425196"/>
          </a:xfrm>
          <a:prstGeom prst="rect">
            <a:avLst/>
          </a:prstGeom>
          <a:noFill/>
        </p:spPr>
        <p:txBody>
          <a:bodyPr wrap="square" lIns="0" tIns="0" rIns="0" bIns="0" anchor="ctr"/>
          <a:lstStyle/>
          <a:p>
            <a:pPr algn="r"/>
            <a:r>
              <a:rPr sz="1950" b="1">
                <a:solidFill>
                  <a:srgbClr val="0072CE"/>
                </a:solidFill>
                <a:latin typeface="Calibri"/>
              </a:rPr>
              <a:t>Florida</a:t>
            </a:r>
          </a:p>
        </p:txBody>
      </p:sp>
      <p:sp>
        <p:nvSpPr>
          <p:cNvPr id="49" name="Rectangle 48"/>
          <p:cNvSpPr/>
          <p:nvPr/>
        </p:nvSpPr>
        <p:spPr>
          <a:xfrm>
            <a:off x="3909061" y="7590054"/>
            <a:ext cx="4100810" cy="21945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4401800" y="7487184"/>
            <a:ext cx="960120" cy="425196"/>
          </a:xfrm>
          <a:prstGeom prst="rect">
            <a:avLst/>
          </a:prstGeom>
          <a:noFill/>
        </p:spPr>
        <p:txBody>
          <a:bodyPr wrap="square" lIns="0" tIns="0" rIns="0" bIns="0" anchor="ctr"/>
          <a:lstStyle/>
          <a:p>
            <a:pPr algn="r"/>
            <a:r>
              <a:rPr b="1">
                <a:solidFill>
                  <a:srgbClr val="0072CE"/>
                </a:solidFill>
                <a:latin typeface="Calibri"/>
              </a:rPr>
              <a:t>39.6%</a:t>
            </a:r>
          </a:p>
        </p:txBody>
      </p:sp>
      <p:sp>
        <p:nvSpPr>
          <p:cNvPr id="51" name="TextBox 50"/>
          <p:cNvSpPr txBox="1"/>
          <p:nvPr/>
        </p:nvSpPr>
        <p:spPr>
          <a:xfrm>
            <a:off x="15430500" y="7487184"/>
            <a:ext cx="2057400" cy="425196"/>
          </a:xfrm>
          <a:prstGeom prst="rect">
            <a:avLst/>
          </a:prstGeom>
          <a:noFill/>
        </p:spPr>
        <p:txBody>
          <a:bodyPr wrap="square" lIns="0" tIns="0" rIns="0" bIns="0" anchor="ctr"/>
          <a:lstStyle/>
          <a:p>
            <a:pPr algn="r"/>
            <a:r>
              <a:rPr>
                <a:solidFill>
                  <a:srgbClr val="5B6672"/>
                </a:solidFill>
                <a:latin typeface="Calibri"/>
              </a:rPr>
              <a:t>9,628,867</a:t>
            </a:r>
          </a:p>
        </p:txBody>
      </p:sp>
      <p:sp>
        <p:nvSpPr>
          <p:cNvPr id="52" name="Rectangle 51"/>
          <p:cNvSpPr/>
          <p:nvPr/>
        </p:nvSpPr>
        <p:spPr>
          <a:xfrm>
            <a:off x="3909061" y="3050058"/>
            <a:ext cx="14288" cy="475945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3566160" y="7946670"/>
            <a:ext cx="685800" cy="246888"/>
          </a:xfrm>
          <a:prstGeom prst="rect">
            <a:avLst/>
          </a:prstGeom>
          <a:noFill/>
        </p:spPr>
        <p:txBody>
          <a:bodyPr wrap="square" lIns="0" tIns="0" rIns="0" bIns="0" anchor="t"/>
          <a:lstStyle/>
          <a:p>
            <a:pPr algn="ctr"/>
            <a:r>
              <a:rPr sz="1350">
                <a:solidFill>
                  <a:srgbClr val="8A94A0"/>
                </a:solidFill>
                <a:latin typeface="Calibri"/>
              </a:rPr>
              <a:t>0</a:t>
            </a:r>
          </a:p>
        </p:txBody>
      </p:sp>
      <p:sp>
        <p:nvSpPr>
          <p:cNvPr id="54" name="TextBox 53"/>
          <p:cNvSpPr txBox="1"/>
          <p:nvPr/>
        </p:nvSpPr>
        <p:spPr>
          <a:xfrm>
            <a:off x="6155055" y="7946670"/>
            <a:ext cx="685800" cy="246888"/>
          </a:xfrm>
          <a:prstGeom prst="rect">
            <a:avLst/>
          </a:prstGeom>
          <a:noFill/>
        </p:spPr>
        <p:txBody>
          <a:bodyPr wrap="square" lIns="0" tIns="0" rIns="0" bIns="0" anchor="t"/>
          <a:lstStyle/>
          <a:p>
            <a:pPr algn="ctr"/>
            <a:r>
              <a:rPr sz="1350">
                <a:solidFill>
                  <a:srgbClr val="8A94A0"/>
                </a:solidFill>
                <a:latin typeface="Calibri"/>
              </a:rPr>
              <a:t>25</a:t>
            </a:r>
          </a:p>
        </p:txBody>
      </p:sp>
      <p:sp>
        <p:nvSpPr>
          <p:cNvPr id="55" name="TextBox 54"/>
          <p:cNvSpPr txBox="1"/>
          <p:nvPr/>
        </p:nvSpPr>
        <p:spPr>
          <a:xfrm>
            <a:off x="8743950" y="7946670"/>
            <a:ext cx="685800" cy="246888"/>
          </a:xfrm>
          <a:prstGeom prst="rect">
            <a:avLst/>
          </a:prstGeom>
          <a:noFill/>
        </p:spPr>
        <p:txBody>
          <a:bodyPr wrap="square" lIns="0" tIns="0" rIns="0" bIns="0" anchor="t"/>
          <a:lstStyle/>
          <a:p>
            <a:pPr algn="ctr"/>
            <a:r>
              <a:rPr sz="1350">
                <a:solidFill>
                  <a:srgbClr val="8A94A0"/>
                </a:solidFill>
                <a:latin typeface="Calibri"/>
              </a:rPr>
              <a:t>50</a:t>
            </a:r>
          </a:p>
        </p:txBody>
      </p:sp>
      <p:sp>
        <p:nvSpPr>
          <p:cNvPr id="56" name="TextBox 55"/>
          <p:cNvSpPr txBox="1"/>
          <p:nvPr/>
        </p:nvSpPr>
        <p:spPr>
          <a:xfrm>
            <a:off x="11332845" y="7946670"/>
            <a:ext cx="685800" cy="246888"/>
          </a:xfrm>
          <a:prstGeom prst="rect">
            <a:avLst/>
          </a:prstGeom>
          <a:noFill/>
        </p:spPr>
        <p:txBody>
          <a:bodyPr wrap="square" lIns="0" tIns="0" rIns="0" bIns="0" anchor="t"/>
          <a:lstStyle/>
          <a:p>
            <a:pPr algn="ctr"/>
            <a:r>
              <a:rPr sz="1350">
                <a:solidFill>
                  <a:srgbClr val="8A94A0"/>
                </a:solidFill>
                <a:latin typeface="Calibri"/>
              </a:rPr>
              <a:t>75</a:t>
            </a:r>
          </a:p>
        </p:txBody>
      </p:sp>
      <p:sp>
        <p:nvSpPr>
          <p:cNvPr id="57" name="TextBox 56"/>
          <p:cNvSpPr txBox="1"/>
          <p:nvPr/>
        </p:nvSpPr>
        <p:spPr>
          <a:xfrm>
            <a:off x="13921740" y="7946670"/>
            <a:ext cx="685800" cy="246888"/>
          </a:xfrm>
          <a:prstGeom prst="rect">
            <a:avLst/>
          </a:prstGeom>
          <a:noFill/>
        </p:spPr>
        <p:txBody>
          <a:bodyPr wrap="square" lIns="0" tIns="0" rIns="0" bIns="0" anchor="t"/>
          <a:lstStyle/>
          <a:p>
            <a:pPr algn="ctr"/>
            <a:r>
              <a:rPr sz="1350">
                <a:solidFill>
                  <a:srgbClr val="8A94A0"/>
                </a:solidFill>
                <a:latin typeface="Calibri"/>
              </a:rPr>
              <a:t>100</a:t>
            </a:r>
          </a:p>
        </p:txBody>
      </p:sp>
      <p:cxnSp>
        <p:nvCxnSpPr>
          <p:cNvPr id="58" name="Connector 57"/>
          <p:cNvCxnSpPr/>
          <p:nvPr/>
        </p:nvCxnSpPr>
        <p:spPr>
          <a:xfrm>
            <a:off x="8662271" y="3050058"/>
            <a:ext cx="0" cy="4759452"/>
          </a:xfrm>
          <a:prstGeom prst="line">
            <a:avLst/>
          </a:prstGeom>
          <a:ln w="15875">
            <a:solidFill>
              <a:srgbClr val="5B6672"/>
            </a:solidFill>
            <a:prstDash val="dash"/>
          </a:ln>
        </p:spPr>
        <p:style>
          <a:lnRef idx="2">
            <a:schemeClr val="accent1"/>
          </a:lnRef>
          <a:fillRef idx="0">
            <a:schemeClr val="accent1"/>
          </a:fillRef>
          <a:effectRef idx="1">
            <a:schemeClr val="accent1"/>
          </a:effectRef>
          <a:fontRef idx="minor">
            <a:schemeClr val="tx1"/>
          </a:fontRef>
        </p:style>
      </p:cxnSp>
      <p:grpSp>
        <p:nvGrpSpPr>
          <p:cNvPr id="59" name="Group 143">
            <a:extLst>
              <a:ext uri="{FF2B5EF4-FFF2-40B4-BE49-F238E27FC236}">
                <a16:creationId xmlns:a16="http://schemas.microsoft.com/office/drawing/2014/main" id="{93CC26FF-D606-1D4E-ADD8-F0C9B8E9B6AE}"/>
              </a:ext>
            </a:extLst>
          </p:cNvPr>
          <p:cNvGrpSpPr/>
          <p:nvPr/>
        </p:nvGrpSpPr>
        <p:grpSpPr>
          <a:xfrm>
            <a:off x="754380" y="9168289"/>
            <a:ext cx="16733521" cy="432911"/>
            <a:chOff x="0" y="-28575"/>
            <a:chExt cx="22311361" cy="577215"/>
          </a:xfrm>
        </p:grpSpPr>
        <p:sp>
          <p:nvSpPr>
            <p:cNvPr id="60" name="Freeform 144">
              <a:extLst>
                <a:ext uri="{FF2B5EF4-FFF2-40B4-BE49-F238E27FC236}">
                  <a16:creationId xmlns:a16="http://schemas.microsoft.com/office/drawing/2014/main" id="{992EA183-3096-561B-4BC3-DCCEDF465C0B}"/>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61" name="TextBox 145">
              <a:extLst>
                <a:ext uri="{FF2B5EF4-FFF2-40B4-BE49-F238E27FC236}">
                  <a16:creationId xmlns:a16="http://schemas.microsoft.com/office/drawing/2014/main" id="{D6713391-68B1-3CB5-2FBB-18CEFAF74C98}"/>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62" name="Group 149">
            <a:extLst>
              <a:ext uri="{FF2B5EF4-FFF2-40B4-BE49-F238E27FC236}">
                <a16:creationId xmlns:a16="http://schemas.microsoft.com/office/drawing/2014/main" id="{04F6B0DE-AF2C-36B2-110C-274346F7582A}"/>
              </a:ext>
            </a:extLst>
          </p:cNvPr>
          <p:cNvGrpSpPr/>
          <p:nvPr/>
        </p:nvGrpSpPr>
        <p:grpSpPr>
          <a:xfrm>
            <a:off x="754380" y="9648349"/>
            <a:ext cx="16047721" cy="432911"/>
            <a:chOff x="0" y="-28575"/>
            <a:chExt cx="21396961" cy="577215"/>
          </a:xfrm>
        </p:grpSpPr>
        <p:sp>
          <p:nvSpPr>
            <p:cNvPr id="63" name="Freeform 150">
              <a:extLst>
                <a:ext uri="{FF2B5EF4-FFF2-40B4-BE49-F238E27FC236}">
                  <a16:creationId xmlns:a16="http://schemas.microsoft.com/office/drawing/2014/main" id="{FF6E837C-DE75-317C-A832-73CCAE5639C8}"/>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64" name="TextBox 151">
              <a:extLst>
                <a:ext uri="{FF2B5EF4-FFF2-40B4-BE49-F238E27FC236}">
                  <a16:creationId xmlns:a16="http://schemas.microsoft.com/office/drawing/2014/main" id="{9001BA64-1882-5C86-471E-F61DF34236F3}"/>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65" name="Group 2">
            <a:extLst>
              <a:ext uri="{FF2B5EF4-FFF2-40B4-BE49-F238E27FC236}">
                <a16:creationId xmlns:a16="http://schemas.microsoft.com/office/drawing/2014/main" id="{0033ED84-7AC7-0C94-E4BB-AE2FADF4ED77}"/>
              </a:ext>
            </a:extLst>
          </p:cNvPr>
          <p:cNvGrpSpPr/>
          <p:nvPr/>
        </p:nvGrpSpPr>
        <p:grpSpPr>
          <a:xfrm>
            <a:off x="754380" y="417481"/>
            <a:ext cx="11795760" cy="432911"/>
            <a:chOff x="0" y="-28575"/>
            <a:chExt cx="15727680" cy="577215"/>
          </a:xfrm>
        </p:grpSpPr>
        <p:sp>
          <p:nvSpPr>
            <p:cNvPr id="66" name="Freeform 3">
              <a:extLst>
                <a:ext uri="{FF2B5EF4-FFF2-40B4-BE49-F238E27FC236}">
                  <a16:creationId xmlns:a16="http://schemas.microsoft.com/office/drawing/2014/main" id="{A3315ECE-01F6-CFA2-B820-349F2B8BA829}"/>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67" name="TextBox 4">
              <a:extLst>
                <a:ext uri="{FF2B5EF4-FFF2-40B4-BE49-F238E27FC236}">
                  <a16:creationId xmlns:a16="http://schemas.microsoft.com/office/drawing/2014/main" id="{5810CE0A-A038-67B7-37D2-5C9656D35C52}"/>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A34  ·  RECOMMENDATION 3, EH&amp;B Background Information</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The median metro small-firm share is 49.8%, 3.9 points above the U.S. 45.9%</a:t>
            </a:r>
          </a:p>
        </p:txBody>
      </p:sp>
      <p:sp>
        <p:nvSpPr>
          <p:cNvPr id="4" name="TextBox 3"/>
          <p:cNvSpPr txBox="1"/>
          <p:nvPr/>
        </p:nvSpPr>
        <p:spPr>
          <a:xfrm>
            <a:off x="754380" y="8485145"/>
            <a:ext cx="16733520" cy="411480"/>
          </a:xfrm>
          <a:prstGeom prst="rect">
            <a:avLst/>
          </a:prstGeom>
          <a:noFill/>
        </p:spPr>
        <p:txBody>
          <a:bodyPr wrap="square" lIns="0" tIns="0" rIns="0" bIns="0" anchor="t"/>
          <a:lstStyle/>
          <a:p>
            <a:r>
              <a:rPr sz="1350">
                <a:solidFill>
                  <a:srgbClr val="8A94A0"/>
                </a:solidFill>
                <a:latin typeface="Calibri"/>
              </a:rPr>
              <a:t>Source: U.S. Census Bureau, SUSB 2022, median of 387 metropolitan statistical areas (MSA file revised 2025-07-22). https://www.census.gov/data/datasets/2022/econ/susb/2022-susb.html</a:t>
            </a:r>
          </a:p>
        </p:txBody>
      </p:sp>
      <p:sp>
        <p:nvSpPr>
          <p:cNvPr id="7" name="Rounded Rectangle 6"/>
          <p:cNvSpPr/>
          <p:nvPr/>
        </p:nvSpPr>
        <p:spPr>
          <a:xfrm>
            <a:off x="754380" y="1893499"/>
            <a:ext cx="8195310" cy="4114800"/>
          </a:xfrm>
          <a:prstGeom prst="roundRect">
            <a:avLst>
              <a:gd name="adj" fmla="val 5714"/>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9292590" y="1893499"/>
            <a:ext cx="8195310" cy="4114800"/>
          </a:xfrm>
          <a:prstGeom prst="roundRect">
            <a:avLst>
              <a:gd name="adj" fmla="val 5714"/>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028700" y="2236399"/>
            <a:ext cx="7646670" cy="411480"/>
          </a:xfrm>
          <a:prstGeom prst="rect">
            <a:avLst/>
          </a:prstGeom>
          <a:noFill/>
        </p:spPr>
        <p:txBody>
          <a:bodyPr wrap="square" lIns="0" tIns="0" rIns="0" bIns="0" anchor="b"/>
          <a:lstStyle/>
          <a:p>
            <a:r>
              <a:rPr sz="1650" b="1">
                <a:solidFill>
                  <a:srgbClr val="0072CE"/>
                </a:solidFill>
                <a:latin typeface="Calibri"/>
              </a:rPr>
              <a:t>METRO MEDIAN</a:t>
            </a:r>
          </a:p>
        </p:txBody>
      </p:sp>
      <p:sp>
        <p:nvSpPr>
          <p:cNvPr id="10" name="TextBox 9"/>
          <p:cNvSpPr txBox="1"/>
          <p:nvPr/>
        </p:nvSpPr>
        <p:spPr>
          <a:xfrm>
            <a:off x="1028700" y="2785039"/>
            <a:ext cx="7646670" cy="1097280"/>
          </a:xfrm>
          <a:prstGeom prst="rect">
            <a:avLst/>
          </a:prstGeom>
          <a:noFill/>
        </p:spPr>
        <p:txBody>
          <a:bodyPr wrap="square" lIns="0" tIns="0" rIns="0" bIns="0" anchor="t"/>
          <a:lstStyle/>
          <a:p>
            <a:r>
              <a:rPr sz="6000" b="1">
                <a:solidFill>
                  <a:srgbClr val="0072CE"/>
                </a:solidFill>
                <a:latin typeface="Calibri"/>
              </a:rPr>
              <a:t>49.8%</a:t>
            </a:r>
          </a:p>
        </p:txBody>
      </p:sp>
      <p:sp>
        <p:nvSpPr>
          <p:cNvPr id="11" name="TextBox 10"/>
          <p:cNvSpPr txBox="1"/>
          <p:nvPr/>
        </p:nvSpPr>
        <p:spPr>
          <a:xfrm>
            <a:off x="1028700" y="4088059"/>
            <a:ext cx="7646670" cy="548640"/>
          </a:xfrm>
          <a:prstGeom prst="rect">
            <a:avLst/>
          </a:prstGeom>
          <a:noFill/>
        </p:spPr>
        <p:txBody>
          <a:bodyPr wrap="square" lIns="0" tIns="0" rIns="0" bIns="0" anchor="t"/>
          <a:lstStyle/>
          <a:p>
            <a:r>
              <a:rPr sz="2100">
                <a:solidFill>
                  <a:srgbClr val="5B6672"/>
                </a:solidFill>
                <a:latin typeface="Calibri"/>
              </a:rPr>
              <a:t>Share of employment at firms under 500</a:t>
            </a:r>
          </a:p>
        </p:txBody>
      </p:sp>
      <p:sp>
        <p:nvSpPr>
          <p:cNvPr id="12" name="TextBox 11"/>
          <p:cNvSpPr txBox="1"/>
          <p:nvPr/>
        </p:nvSpPr>
        <p:spPr>
          <a:xfrm>
            <a:off x="1028700" y="4773859"/>
            <a:ext cx="7646670" cy="685800"/>
          </a:xfrm>
          <a:prstGeom prst="rect">
            <a:avLst/>
          </a:prstGeom>
          <a:noFill/>
        </p:spPr>
        <p:txBody>
          <a:bodyPr wrap="square" lIns="0" tIns="0" rIns="0" bIns="0" anchor="t"/>
          <a:lstStyle/>
          <a:p>
            <a:r>
              <a:rPr sz="2100" b="1">
                <a:solidFill>
                  <a:srgbClr val="0B1F3A"/>
                </a:solidFill>
                <a:latin typeface="Calibri"/>
              </a:rPr>
              <a:t>Median of 387 metropolitan areas</a:t>
            </a:r>
          </a:p>
        </p:txBody>
      </p:sp>
      <p:sp>
        <p:nvSpPr>
          <p:cNvPr id="13" name="TextBox 12"/>
          <p:cNvSpPr txBox="1"/>
          <p:nvPr/>
        </p:nvSpPr>
        <p:spPr>
          <a:xfrm>
            <a:off x="9566910" y="2236399"/>
            <a:ext cx="7646670" cy="411480"/>
          </a:xfrm>
          <a:prstGeom prst="rect">
            <a:avLst/>
          </a:prstGeom>
          <a:noFill/>
        </p:spPr>
        <p:txBody>
          <a:bodyPr wrap="square" lIns="0" tIns="0" rIns="0" bIns="0" anchor="b"/>
          <a:lstStyle/>
          <a:p>
            <a:r>
              <a:rPr sz="1650" b="1">
                <a:solidFill>
                  <a:srgbClr val="0072CE"/>
                </a:solidFill>
                <a:latin typeface="Calibri"/>
              </a:rPr>
              <a:t>UNITED STATES</a:t>
            </a:r>
          </a:p>
        </p:txBody>
      </p:sp>
      <p:sp>
        <p:nvSpPr>
          <p:cNvPr id="14" name="TextBox 13"/>
          <p:cNvSpPr txBox="1"/>
          <p:nvPr/>
        </p:nvSpPr>
        <p:spPr>
          <a:xfrm>
            <a:off x="9566910" y="2785039"/>
            <a:ext cx="7646670" cy="1097280"/>
          </a:xfrm>
          <a:prstGeom prst="rect">
            <a:avLst/>
          </a:prstGeom>
          <a:noFill/>
        </p:spPr>
        <p:txBody>
          <a:bodyPr wrap="square" lIns="0" tIns="0" rIns="0" bIns="0" anchor="t"/>
          <a:lstStyle/>
          <a:p>
            <a:r>
              <a:rPr sz="6000" b="1">
                <a:solidFill>
                  <a:srgbClr val="0B1F3A"/>
                </a:solidFill>
                <a:latin typeface="Calibri"/>
              </a:rPr>
              <a:t>45.9%</a:t>
            </a:r>
          </a:p>
        </p:txBody>
      </p:sp>
      <p:sp>
        <p:nvSpPr>
          <p:cNvPr id="15" name="TextBox 14"/>
          <p:cNvSpPr txBox="1"/>
          <p:nvPr/>
        </p:nvSpPr>
        <p:spPr>
          <a:xfrm>
            <a:off x="9566910" y="4088059"/>
            <a:ext cx="7646670" cy="548640"/>
          </a:xfrm>
          <a:prstGeom prst="rect">
            <a:avLst/>
          </a:prstGeom>
          <a:noFill/>
        </p:spPr>
        <p:txBody>
          <a:bodyPr wrap="square" lIns="0" tIns="0" rIns="0" bIns="0" anchor="t"/>
          <a:lstStyle/>
          <a:p>
            <a:r>
              <a:rPr sz="2100">
                <a:solidFill>
                  <a:srgbClr val="5B6672"/>
                </a:solidFill>
                <a:latin typeface="Calibri"/>
              </a:rPr>
              <a:t>Share of employment at firms under 500</a:t>
            </a:r>
          </a:p>
        </p:txBody>
      </p:sp>
      <p:sp>
        <p:nvSpPr>
          <p:cNvPr id="16" name="TextBox 15"/>
          <p:cNvSpPr txBox="1"/>
          <p:nvPr/>
        </p:nvSpPr>
        <p:spPr>
          <a:xfrm>
            <a:off x="9566910" y="4773859"/>
            <a:ext cx="7646670" cy="685800"/>
          </a:xfrm>
          <a:prstGeom prst="rect">
            <a:avLst/>
          </a:prstGeom>
          <a:noFill/>
        </p:spPr>
        <p:txBody>
          <a:bodyPr wrap="square" lIns="0" tIns="0" rIns="0" bIns="0" anchor="t"/>
          <a:lstStyle/>
          <a:p>
            <a:r>
              <a:rPr sz="2100" b="1">
                <a:solidFill>
                  <a:srgbClr val="0B1F3A"/>
                </a:solidFill>
                <a:latin typeface="Calibri"/>
              </a:rPr>
              <a:t>Includes employment outside metros</a:t>
            </a:r>
          </a:p>
        </p:txBody>
      </p:sp>
      <p:sp>
        <p:nvSpPr>
          <p:cNvPr id="17" name="Rounded Rectangle 16"/>
          <p:cNvSpPr/>
          <p:nvPr/>
        </p:nvSpPr>
        <p:spPr>
          <a:xfrm>
            <a:off x="754380" y="6282619"/>
            <a:ext cx="16733520" cy="1952292"/>
          </a:xfrm>
          <a:prstGeom prst="roundRect">
            <a:avLst>
              <a:gd name="adj" fmla="val 5714"/>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028700" y="6488359"/>
            <a:ext cx="16184880" cy="1609392"/>
          </a:xfrm>
          <a:prstGeom prst="rect">
            <a:avLst/>
          </a:prstGeom>
          <a:noFill/>
        </p:spPr>
        <p:txBody>
          <a:bodyPr wrap="square" lIns="0" tIns="0" rIns="0" bIns="0" anchor="ctr"/>
          <a:lstStyle/>
          <a:p>
            <a:r>
              <a:rPr sz="2100" b="1">
                <a:solidFill>
                  <a:srgbClr val="0B1F3A"/>
                </a:solidFill>
                <a:latin typeface="Calibri"/>
              </a:rPr>
              <a:t>49.8% − 45.9% = 3.9 points.  </a:t>
            </a:r>
            <a:r>
              <a:rPr sz="2100">
                <a:solidFill>
                  <a:srgbClr val="5B6672"/>
                </a:solidFill>
                <a:latin typeface="Calibri"/>
              </a:rPr>
              <a:t>Both figures are SUSB 2022 shares at enterprises with fewer than 500 employees, shown to 1 decimal.</a:t>
            </a:r>
          </a:p>
          <a:p>
            <a:r>
              <a:rPr sz="1950">
                <a:solidFill>
                  <a:srgbClr val="5B6672"/>
                </a:solidFill>
                <a:latin typeface="Calibri"/>
              </a:rPr>
              <a:t>Micro areas are excluded. The national share is not a metro median: it includes non-metro employment.</a:t>
            </a:r>
          </a:p>
        </p:txBody>
      </p:sp>
      <p:grpSp>
        <p:nvGrpSpPr>
          <p:cNvPr id="19" name="Group 143">
            <a:extLst>
              <a:ext uri="{FF2B5EF4-FFF2-40B4-BE49-F238E27FC236}">
                <a16:creationId xmlns:a16="http://schemas.microsoft.com/office/drawing/2014/main" id="{81103182-22AC-C334-EC2B-A051C0FE586E}"/>
              </a:ext>
            </a:extLst>
          </p:cNvPr>
          <p:cNvGrpSpPr/>
          <p:nvPr/>
        </p:nvGrpSpPr>
        <p:grpSpPr>
          <a:xfrm>
            <a:off x="754380" y="9168289"/>
            <a:ext cx="16733521" cy="432911"/>
            <a:chOff x="0" y="-28575"/>
            <a:chExt cx="22311361" cy="577215"/>
          </a:xfrm>
        </p:grpSpPr>
        <p:sp>
          <p:nvSpPr>
            <p:cNvPr id="20" name="Freeform 144">
              <a:extLst>
                <a:ext uri="{FF2B5EF4-FFF2-40B4-BE49-F238E27FC236}">
                  <a16:creationId xmlns:a16="http://schemas.microsoft.com/office/drawing/2014/main" id="{ED312711-1510-F933-8E7F-4323BF63B642}"/>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1" name="TextBox 145">
              <a:extLst>
                <a:ext uri="{FF2B5EF4-FFF2-40B4-BE49-F238E27FC236}">
                  <a16:creationId xmlns:a16="http://schemas.microsoft.com/office/drawing/2014/main" id="{248D77A6-DAD8-1A7A-3DA0-CE5C5294E626}"/>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22" name="Group 149">
            <a:extLst>
              <a:ext uri="{FF2B5EF4-FFF2-40B4-BE49-F238E27FC236}">
                <a16:creationId xmlns:a16="http://schemas.microsoft.com/office/drawing/2014/main" id="{23ABF5D9-FD5B-5682-0B03-897F0A6FDFC4}"/>
              </a:ext>
            </a:extLst>
          </p:cNvPr>
          <p:cNvGrpSpPr/>
          <p:nvPr/>
        </p:nvGrpSpPr>
        <p:grpSpPr>
          <a:xfrm>
            <a:off x="754380" y="9648349"/>
            <a:ext cx="16047721" cy="432911"/>
            <a:chOff x="0" y="-28575"/>
            <a:chExt cx="21396961" cy="577215"/>
          </a:xfrm>
        </p:grpSpPr>
        <p:sp>
          <p:nvSpPr>
            <p:cNvPr id="23" name="Freeform 150">
              <a:extLst>
                <a:ext uri="{FF2B5EF4-FFF2-40B4-BE49-F238E27FC236}">
                  <a16:creationId xmlns:a16="http://schemas.microsoft.com/office/drawing/2014/main" id="{EE129D12-4023-E45B-3C86-6A02F98EA163}"/>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24" name="TextBox 151">
              <a:extLst>
                <a:ext uri="{FF2B5EF4-FFF2-40B4-BE49-F238E27FC236}">
                  <a16:creationId xmlns:a16="http://schemas.microsoft.com/office/drawing/2014/main" id="{737FA1FC-6F88-1FE7-23C3-1DD0A2ED107E}"/>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25" name="Group 2">
            <a:extLst>
              <a:ext uri="{FF2B5EF4-FFF2-40B4-BE49-F238E27FC236}">
                <a16:creationId xmlns:a16="http://schemas.microsoft.com/office/drawing/2014/main" id="{AA2F9E65-FC6D-41AA-B393-3671D072538D}"/>
              </a:ext>
            </a:extLst>
          </p:cNvPr>
          <p:cNvGrpSpPr/>
          <p:nvPr/>
        </p:nvGrpSpPr>
        <p:grpSpPr>
          <a:xfrm>
            <a:off x="754380" y="417481"/>
            <a:ext cx="11795760" cy="432911"/>
            <a:chOff x="0" y="-28575"/>
            <a:chExt cx="15727680" cy="577215"/>
          </a:xfrm>
        </p:grpSpPr>
        <p:sp>
          <p:nvSpPr>
            <p:cNvPr id="26" name="Freeform 3">
              <a:extLst>
                <a:ext uri="{FF2B5EF4-FFF2-40B4-BE49-F238E27FC236}">
                  <a16:creationId xmlns:a16="http://schemas.microsoft.com/office/drawing/2014/main" id="{77C4BB9F-945F-0194-D910-B9AC143A6918}"/>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27" name="TextBox 4">
              <a:extLst>
                <a:ext uri="{FF2B5EF4-FFF2-40B4-BE49-F238E27FC236}">
                  <a16:creationId xmlns:a16="http://schemas.microsoft.com/office/drawing/2014/main" id="{2C0F7DEE-933E-706D-108D-FD1A376733DC}"/>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A35  ·  RECOMMENDATION 3, EH&amp;B Background Information</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768096"/>
            <a:ext cx="16802100" cy="507831"/>
          </a:xfrm>
          <a:prstGeom prst="rect">
            <a:avLst/>
          </a:prstGeom>
          <a:noFill/>
        </p:spPr>
        <p:txBody>
          <a:bodyPr wrap="square" lIns="0" tIns="0" rIns="0" bIns="0" anchor="t">
            <a:spAutoFit/>
          </a:bodyPr>
          <a:lstStyle/>
          <a:p>
            <a:r>
              <a:rPr sz="3300" b="1">
                <a:solidFill>
                  <a:srgbClr val="0B1F3A"/>
                </a:solidFill>
                <a:latin typeface="Calibri"/>
              </a:rPr>
              <a:t>77.5% of firms with 500+ employees had any WFH workers — vs 35.8% of firms under 500</a:t>
            </a:r>
          </a:p>
        </p:txBody>
      </p:sp>
      <p:sp>
        <p:nvSpPr>
          <p:cNvPr id="4" name="TextBox 3"/>
          <p:cNvSpPr txBox="1"/>
          <p:nvPr/>
        </p:nvSpPr>
        <p:spPr>
          <a:xfrm>
            <a:off x="754380" y="8905529"/>
            <a:ext cx="16664940" cy="207749"/>
          </a:xfrm>
          <a:prstGeom prst="rect">
            <a:avLst/>
          </a:prstGeom>
          <a:noFill/>
        </p:spPr>
        <p:txBody>
          <a:bodyPr wrap="square" lIns="0" tIns="0" rIns="0" bIns="0" anchor="t">
            <a:spAutoFit/>
          </a:bodyPr>
          <a:lstStyle/>
          <a:p>
            <a:r>
              <a:rPr sz="1350" i="1">
                <a:solidFill>
                  <a:srgbClr val="8A94A0"/>
                </a:solidFill>
                <a:latin typeface="Calibri"/>
              </a:rPr>
              <a:t>Source: U.S. Census Bureau, ABS 2023 table AB2300CSCB04. Share of firms with any work-from-home employees. Funded by the U.S. Census Bureau.</a:t>
            </a:r>
          </a:p>
        </p:txBody>
      </p:sp>
      <p:graphicFrame>
        <p:nvGraphicFramePr>
          <p:cNvPr id="7" name="Chart 6"/>
          <p:cNvGraphicFramePr>
            <a:graphicFrameLocks noGrp="1"/>
          </p:cNvGraphicFramePr>
          <p:nvPr>
            <p:extLst>
              <p:ext uri="{D42A27DB-BD31-4B8C-83A1-F6EECF244321}">
                <p14:modId xmlns:p14="http://schemas.microsoft.com/office/powerpoint/2010/main" val="1704737895"/>
              </p:ext>
            </p:extLst>
          </p:nvPr>
        </p:nvGraphicFramePr>
        <p:xfrm>
          <a:off x="754380" y="2537460"/>
          <a:ext cx="11178540" cy="6240780"/>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12412980" y="2441448"/>
            <a:ext cx="5143500" cy="6473952"/>
          </a:xfrm>
          <a:prstGeom prst="roundRect">
            <a:avLst>
              <a:gd name="adj" fmla="val 2133"/>
            </a:avLst>
          </a:prstGeom>
          <a:solidFill>
            <a:srgbClr val="F2F6FB"/>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2728448" y="2688336"/>
            <a:ext cx="4553712" cy="4416594"/>
          </a:xfrm>
          <a:prstGeom prst="rect">
            <a:avLst/>
          </a:prstGeom>
          <a:noFill/>
        </p:spPr>
        <p:txBody>
          <a:bodyPr wrap="square" lIns="0" tIns="0" rIns="0" bIns="0" anchor="t">
            <a:spAutoFit/>
          </a:bodyPr>
          <a:lstStyle/>
          <a:p>
            <a:pPr>
              <a:spcAft>
                <a:spcPts val="1500"/>
              </a:spcAft>
            </a:pPr>
            <a:r>
              <a:rPr sz="1500" b="1">
                <a:solidFill>
                  <a:srgbClr val="0072CE"/>
                </a:solidFill>
                <a:latin typeface="Calibri"/>
              </a:rPr>
              <a:t>READ</a:t>
            </a:r>
          </a:p>
          <a:p>
            <a:pPr>
              <a:spcAft>
                <a:spcPts val="1500"/>
              </a:spcAft>
            </a:pPr>
            <a:r>
              <a:rPr sz="2400" b="1">
                <a:solidFill>
                  <a:srgbClr val="0B1F3A"/>
                </a:solidFill>
                <a:latin typeface="Calibri"/>
              </a:rPr>
              <a:t>Firms, not workers</a:t>
            </a:r>
          </a:p>
          <a:p>
            <a:pPr>
              <a:spcAft>
                <a:spcPts val="1500"/>
              </a:spcAft>
            </a:pPr>
            <a:r>
              <a:rPr>
                <a:solidFill>
                  <a:srgbClr val="5B6672"/>
                </a:solidFill>
                <a:latin typeface="Calibri"/>
              </a:rPr>
              <a:t>35.8% of firms under 500 employees had any employees who worked from home. 77.5% of firms with 500 or more employees did. The blue bar is firms with 500+.</a:t>
            </a:r>
          </a:p>
          <a:p>
            <a:pPr>
              <a:spcAft>
                <a:spcPts val="1500"/>
              </a:spcAft>
            </a:pPr>
            <a:r>
              <a:rPr>
                <a:solidFill>
                  <a:srgbClr val="5B6672"/>
                </a:solidFill>
                <a:latin typeface="Calibri"/>
              </a:rPr>
              <a:t>A firm is counted if it reported any work-from-home employees (ABS 2023, bins under 500 and 500+). The bar is the share of firms, not the share of workers who work from home.</a:t>
            </a:r>
          </a:p>
          <a:p>
            <a:pPr>
              <a:spcAft>
                <a:spcPts val="1500"/>
              </a:spcAft>
            </a:pPr>
            <a:r>
              <a:rPr>
                <a:solidFill>
                  <a:srgbClr val="5B6672"/>
                </a:solidFill>
                <a:latin typeface="Calibri"/>
              </a:rPr>
              <a:t>ACS and ATUS publish worker rates. They do not publish this firm-size cut, so this slide stays on the firm question only.</a:t>
            </a:r>
          </a:p>
        </p:txBody>
      </p:sp>
      <p:grpSp>
        <p:nvGrpSpPr>
          <p:cNvPr id="10" name="Group 143">
            <a:extLst>
              <a:ext uri="{FF2B5EF4-FFF2-40B4-BE49-F238E27FC236}">
                <a16:creationId xmlns:a16="http://schemas.microsoft.com/office/drawing/2014/main" id="{93ED42E4-6973-293A-CA76-C27F2D2D2C1B}"/>
              </a:ext>
            </a:extLst>
          </p:cNvPr>
          <p:cNvGrpSpPr/>
          <p:nvPr/>
        </p:nvGrpSpPr>
        <p:grpSpPr>
          <a:xfrm>
            <a:off x="754380" y="9168289"/>
            <a:ext cx="16733521" cy="432911"/>
            <a:chOff x="0" y="-28575"/>
            <a:chExt cx="22311361" cy="577215"/>
          </a:xfrm>
        </p:grpSpPr>
        <p:sp>
          <p:nvSpPr>
            <p:cNvPr id="11" name="Freeform 144">
              <a:extLst>
                <a:ext uri="{FF2B5EF4-FFF2-40B4-BE49-F238E27FC236}">
                  <a16:creationId xmlns:a16="http://schemas.microsoft.com/office/drawing/2014/main" id="{0F1EE20F-A2B5-A7CF-163E-B95D705378DF}"/>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2" name="TextBox 145">
              <a:extLst>
                <a:ext uri="{FF2B5EF4-FFF2-40B4-BE49-F238E27FC236}">
                  <a16:creationId xmlns:a16="http://schemas.microsoft.com/office/drawing/2014/main" id="{6A708977-8C65-9C03-0AE4-0056A47BA3EC}"/>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3" name="Group 149">
            <a:extLst>
              <a:ext uri="{FF2B5EF4-FFF2-40B4-BE49-F238E27FC236}">
                <a16:creationId xmlns:a16="http://schemas.microsoft.com/office/drawing/2014/main" id="{2F02F15E-3AB6-C994-4400-8FBFB4CDBC4F}"/>
              </a:ext>
            </a:extLst>
          </p:cNvPr>
          <p:cNvGrpSpPr/>
          <p:nvPr/>
        </p:nvGrpSpPr>
        <p:grpSpPr>
          <a:xfrm>
            <a:off x="754380" y="9648349"/>
            <a:ext cx="16047721" cy="432911"/>
            <a:chOff x="0" y="-28575"/>
            <a:chExt cx="21396961" cy="577215"/>
          </a:xfrm>
        </p:grpSpPr>
        <p:sp>
          <p:nvSpPr>
            <p:cNvPr id="14" name="Freeform 150">
              <a:extLst>
                <a:ext uri="{FF2B5EF4-FFF2-40B4-BE49-F238E27FC236}">
                  <a16:creationId xmlns:a16="http://schemas.microsoft.com/office/drawing/2014/main" id="{09430C9A-74C1-080F-042B-62B0EA340772}"/>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5" name="TextBox 151">
              <a:extLst>
                <a:ext uri="{FF2B5EF4-FFF2-40B4-BE49-F238E27FC236}">
                  <a16:creationId xmlns:a16="http://schemas.microsoft.com/office/drawing/2014/main" id="{1DFF07A4-5256-3D81-52ED-B2439D554447}"/>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6" name="Group 2">
            <a:extLst>
              <a:ext uri="{FF2B5EF4-FFF2-40B4-BE49-F238E27FC236}">
                <a16:creationId xmlns:a16="http://schemas.microsoft.com/office/drawing/2014/main" id="{FD9B63FF-EDD1-D6FF-6538-9F55F01CA9D1}"/>
              </a:ext>
            </a:extLst>
          </p:cNvPr>
          <p:cNvGrpSpPr/>
          <p:nvPr/>
        </p:nvGrpSpPr>
        <p:grpSpPr>
          <a:xfrm>
            <a:off x="754380" y="417481"/>
            <a:ext cx="11795760" cy="432911"/>
            <a:chOff x="0" y="-28575"/>
            <a:chExt cx="15727680" cy="577215"/>
          </a:xfrm>
        </p:grpSpPr>
        <p:sp>
          <p:nvSpPr>
            <p:cNvPr id="17" name="Freeform 3">
              <a:extLst>
                <a:ext uri="{FF2B5EF4-FFF2-40B4-BE49-F238E27FC236}">
                  <a16:creationId xmlns:a16="http://schemas.microsoft.com/office/drawing/2014/main" id="{8BBC50F4-1BD1-5457-7926-E4481366762C}"/>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18" name="TextBox 4">
              <a:extLst>
                <a:ext uri="{FF2B5EF4-FFF2-40B4-BE49-F238E27FC236}">
                  <a16:creationId xmlns:a16="http://schemas.microsoft.com/office/drawing/2014/main" id="{375F82A5-7A38-73AF-E3E0-3D3CDA3FEB3B}"/>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A36  ·  RECOMMENDATION 3, EH&amp;B Background Information</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768096"/>
            <a:ext cx="16802100" cy="507831"/>
          </a:xfrm>
          <a:prstGeom prst="rect">
            <a:avLst/>
          </a:prstGeom>
          <a:noFill/>
        </p:spPr>
        <p:txBody>
          <a:bodyPr wrap="square" lIns="0" tIns="0" rIns="0" bIns="0" anchor="t">
            <a:spAutoFit/>
          </a:bodyPr>
          <a:lstStyle/>
          <a:p>
            <a:r>
              <a:rPr sz="3300" b="1">
                <a:solidFill>
                  <a:srgbClr val="0B1F3A"/>
                </a:solidFill>
                <a:latin typeface="Calibri"/>
              </a:rPr>
              <a:t>Usually-WFH spans 16.7 points across states — D.C. 22.9% vs Mississippi 6.2%</a:t>
            </a:r>
          </a:p>
        </p:txBody>
      </p:sp>
      <p:sp>
        <p:nvSpPr>
          <p:cNvPr id="4" name="TextBox 3"/>
          <p:cNvSpPr txBox="1"/>
          <p:nvPr/>
        </p:nvSpPr>
        <p:spPr>
          <a:xfrm>
            <a:off x="754380" y="8987824"/>
            <a:ext cx="16664940" cy="207749"/>
          </a:xfrm>
          <a:prstGeom prst="rect">
            <a:avLst/>
          </a:prstGeom>
          <a:noFill/>
        </p:spPr>
        <p:txBody>
          <a:bodyPr wrap="square" lIns="0" tIns="0" rIns="0" bIns="0" anchor="t">
            <a:spAutoFit/>
          </a:bodyPr>
          <a:lstStyle/>
          <a:p>
            <a:r>
              <a:rPr sz="1350" i="1">
                <a:solidFill>
                  <a:srgbClr val="8A94A0"/>
                </a:solidFill>
                <a:latin typeface="Calibri"/>
              </a:rPr>
              <a:t>Source: U.S. Census Bureau, ACS 2024 1-year table B08301. Usually worked from home among workers 16+. Funded by the U.S. Census Bureau.</a:t>
            </a:r>
          </a:p>
        </p:txBody>
      </p:sp>
      <p:graphicFrame>
        <p:nvGraphicFramePr>
          <p:cNvPr id="7" name="Chart 6"/>
          <p:cNvGraphicFramePr>
            <a:graphicFrameLocks noGrp="1"/>
          </p:cNvGraphicFramePr>
          <p:nvPr>
            <p:extLst>
              <p:ext uri="{D42A27DB-BD31-4B8C-83A1-F6EECF244321}">
                <p14:modId xmlns:p14="http://schemas.microsoft.com/office/powerpoint/2010/main" val="3416142505"/>
              </p:ext>
            </p:extLst>
          </p:nvPr>
        </p:nvGraphicFramePr>
        <p:xfrm>
          <a:off x="548641" y="2441448"/>
          <a:ext cx="11590019" cy="6473952"/>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12412980" y="2441448"/>
            <a:ext cx="5143500" cy="6473952"/>
          </a:xfrm>
          <a:prstGeom prst="roundRect">
            <a:avLst>
              <a:gd name="adj" fmla="val 2133"/>
            </a:avLst>
          </a:prstGeom>
          <a:solidFill>
            <a:srgbClr val="F2F6FB"/>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2728448" y="2688337"/>
            <a:ext cx="4553712" cy="4339650"/>
          </a:xfrm>
          <a:prstGeom prst="rect">
            <a:avLst/>
          </a:prstGeom>
          <a:noFill/>
        </p:spPr>
        <p:txBody>
          <a:bodyPr wrap="square" lIns="0" tIns="0" rIns="0" bIns="0" anchor="t">
            <a:spAutoFit/>
          </a:bodyPr>
          <a:lstStyle/>
          <a:p>
            <a:pPr>
              <a:spcAft>
                <a:spcPts val="1200"/>
              </a:spcAft>
            </a:pPr>
            <a:r>
              <a:rPr sz="1500" b="1">
                <a:solidFill>
                  <a:srgbClr val="0072CE"/>
                </a:solidFill>
                <a:latin typeface="Calibri"/>
              </a:rPr>
              <a:t>READ</a:t>
            </a:r>
          </a:p>
          <a:p>
            <a:pPr>
              <a:spcAft>
                <a:spcPts val="900"/>
              </a:spcAft>
            </a:pPr>
            <a:r>
              <a:rPr sz="4200" b="1">
                <a:solidFill>
                  <a:srgbClr val="0B1F3A"/>
                </a:solidFill>
                <a:latin typeface="Calibri"/>
              </a:rPr>
              <a:t>13.3%</a:t>
            </a:r>
          </a:p>
          <a:p>
            <a:pPr>
              <a:spcAft>
                <a:spcPts val="1200"/>
              </a:spcAft>
            </a:pPr>
            <a:r>
              <a:rPr b="1">
                <a:solidFill>
                  <a:srgbClr val="0B1F3A"/>
                </a:solidFill>
                <a:latin typeface="Calibri"/>
              </a:rPr>
              <a:t>U.S. workers who usually worked from home</a:t>
            </a:r>
          </a:p>
          <a:p>
            <a:pPr>
              <a:spcAft>
                <a:spcPts val="1200"/>
              </a:spcAft>
            </a:pPr>
            <a:r>
              <a:rPr>
                <a:solidFill>
                  <a:srgbClr val="5B6672"/>
                </a:solidFill>
                <a:latin typeface="Calibri"/>
              </a:rPr>
              <a:t>22.0 million of 165.4 million workers age 16+.</a:t>
            </a:r>
          </a:p>
          <a:p>
            <a:pPr>
              <a:spcAft>
                <a:spcPts val="900"/>
              </a:spcAft>
            </a:pPr>
            <a:r>
              <a:rPr>
                <a:solidFill>
                  <a:srgbClr val="5B6672"/>
                </a:solidFill>
                <a:latin typeface="Calibri"/>
              </a:rPr>
              <a:t>D.C. is 22.9% (388,136 workers). Mississippi is 6.2% (1,302,251 workers). Blue bars are the five highest states; gray bars are the five lowest.</a:t>
            </a:r>
          </a:p>
          <a:p>
            <a:pPr>
              <a:spcAft>
                <a:spcPts val="900"/>
              </a:spcAft>
            </a:pPr>
            <a:r>
              <a:rPr>
                <a:solidFill>
                  <a:srgbClr val="5B6672"/>
                </a:solidFill>
                <a:latin typeface="Calibri"/>
              </a:rPr>
              <a:t>This slide answers the ACS journey-to-work question: the usual commute was worked from home. ATUS (any work at home on a day worked) and ABS (share of firms) are separate questions on the next slides.</a:t>
            </a:r>
          </a:p>
        </p:txBody>
      </p:sp>
      <p:grpSp>
        <p:nvGrpSpPr>
          <p:cNvPr id="10" name="Group 143">
            <a:extLst>
              <a:ext uri="{FF2B5EF4-FFF2-40B4-BE49-F238E27FC236}">
                <a16:creationId xmlns:a16="http://schemas.microsoft.com/office/drawing/2014/main" id="{C51ACB10-923F-B286-7AFA-894070034A64}"/>
              </a:ext>
            </a:extLst>
          </p:cNvPr>
          <p:cNvGrpSpPr/>
          <p:nvPr/>
        </p:nvGrpSpPr>
        <p:grpSpPr>
          <a:xfrm>
            <a:off x="754380" y="9168289"/>
            <a:ext cx="16733521" cy="432911"/>
            <a:chOff x="0" y="-28575"/>
            <a:chExt cx="22311361" cy="577215"/>
          </a:xfrm>
        </p:grpSpPr>
        <p:sp>
          <p:nvSpPr>
            <p:cNvPr id="11" name="Freeform 144">
              <a:extLst>
                <a:ext uri="{FF2B5EF4-FFF2-40B4-BE49-F238E27FC236}">
                  <a16:creationId xmlns:a16="http://schemas.microsoft.com/office/drawing/2014/main" id="{5BED02E4-EEB4-7CE6-B8B5-87A8AA95C148}"/>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2" name="TextBox 145">
              <a:extLst>
                <a:ext uri="{FF2B5EF4-FFF2-40B4-BE49-F238E27FC236}">
                  <a16:creationId xmlns:a16="http://schemas.microsoft.com/office/drawing/2014/main" id="{520F4F93-2A78-513E-29BC-05B04043D905}"/>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3" name="Group 149">
            <a:extLst>
              <a:ext uri="{FF2B5EF4-FFF2-40B4-BE49-F238E27FC236}">
                <a16:creationId xmlns:a16="http://schemas.microsoft.com/office/drawing/2014/main" id="{11578EDC-46BA-E2EC-E9E3-AB0E921E3282}"/>
              </a:ext>
            </a:extLst>
          </p:cNvPr>
          <p:cNvGrpSpPr/>
          <p:nvPr/>
        </p:nvGrpSpPr>
        <p:grpSpPr>
          <a:xfrm>
            <a:off x="754380" y="9648349"/>
            <a:ext cx="16047721" cy="432911"/>
            <a:chOff x="0" y="-28575"/>
            <a:chExt cx="21396961" cy="577215"/>
          </a:xfrm>
        </p:grpSpPr>
        <p:sp>
          <p:nvSpPr>
            <p:cNvPr id="14" name="Freeform 150">
              <a:extLst>
                <a:ext uri="{FF2B5EF4-FFF2-40B4-BE49-F238E27FC236}">
                  <a16:creationId xmlns:a16="http://schemas.microsoft.com/office/drawing/2014/main" id="{30CB9E90-2DEE-8B89-A6A1-F2974FCAE6A1}"/>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5" name="TextBox 151">
              <a:extLst>
                <a:ext uri="{FF2B5EF4-FFF2-40B4-BE49-F238E27FC236}">
                  <a16:creationId xmlns:a16="http://schemas.microsoft.com/office/drawing/2014/main" id="{C9264878-8444-BB6F-60A7-B034E02DE97D}"/>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6" name="Group 2">
            <a:extLst>
              <a:ext uri="{FF2B5EF4-FFF2-40B4-BE49-F238E27FC236}">
                <a16:creationId xmlns:a16="http://schemas.microsoft.com/office/drawing/2014/main" id="{F66CFFAB-F4DF-F519-F233-A160E03C2298}"/>
              </a:ext>
            </a:extLst>
          </p:cNvPr>
          <p:cNvGrpSpPr/>
          <p:nvPr/>
        </p:nvGrpSpPr>
        <p:grpSpPr>
          <a:xfrm>
            <a:off x="754380" y="417481"/>
            <a:ext cx="11795760" cy="432911"/>
            <a:chOff x="0" y="-28575"/>
            <a:chExt cx="15727680" cy="577215"/>
          </a:xfrm>
        </p:grpSpPr>
        <p:sp>
          <p:nvSpPr>
            <p:cNvPr id="17" name="Freeform 3">
              <a:extLst>
                <a:ext uri="{FF2B5EF4-FFF2-40B4-BE49-F238E27FC236}">
                  <a16:creationId xmlns:a16="http://schemas.microsoft.com/office/drawing/2014/main" id="{C9666699-8D2E-6D38-486D-0A0FD6640BA7}"/>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18" name="TextBox 4">
              <a:extLst>
                <a:ext uri="{FF2B5EF4-FFF2-40B4-BE49-F238E27FC236}">
                  <a16:creationId xmlns:a16="http://schemas.microsoft.com/office/drawing/2014/main" id="{4CB4BBC2-BC6E-46B5-C89C-E6D6FD885907}"/>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A37  ·  RECOMMENDATION 3, EH&amp;B Background Information</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768096"/>
            <a:ext cx="16802100" cy="1015663"/>
          </a:xfrm>
          <a:prstGeom prst="rect">
            <a:avLst/>
          </a:prstGeom>
          <a:noFill/>
        </p:spPr>
        <p:txBody>
          <a:bodyPr wrap="square" lIns="0" tIns="0" rIns="0" bIns="0" anchor="t">
            <a:spAutoFit/>
          </a:bodyPr>
          <a:lstStyle/>
          <a:p>
            <a:r>
              <a:rPr sz="3300" b="1">
                <a:solidFill>
                  <a:srgbClr val="0B1F3A"/>
                </a:solidFill>
                <a:latin typeface="Calibri"/>
              </a:rPr>
              <a:t>Seniority proxies: management 48.1% and top earners 51.0% work at home on days worked — vs 10.5% in service jobs</a:t>
            </a:r>
          </a:p>
        </p:txBody>
      </p:sp>
      <p:sp>
        <p:nvSpPr>
          <p:cNvPr id="4" name="TextBox 3"/>
          <p:cNvSpPr txBox="1"/>
          <p:nvPr/>
        </p:nvSpPr>
        <p:spPr>
          <a:xfrm>
            <a:off x="754380" y="8987824"/>
            <a:ext cx="16664940" cy="207749"/>
          </a:xfrm>
          <a:prstGeom prst="rect">
            <a:avLst/>
          </a:prstGeom>
          <a:noFill/>
        </p:spPr>
        <p:txBody>
          <a:bodyPr wrap="square" lIns="0" tIns="0" rIns="0" bIns="0" anchor="t">
            <a:spAutoFit/>
          </a:bodyPr>
          <a:lstStyle/>
          <a:p>
            <a:r>
              <a:rPr sz="1350" i="1">
                <a:solidFill>
                  <a:srgbClr val="8A94A0"/>
                </a:solidFill>
                <a:latin typeface="Calibri"/>
              </a:rPr>
              <a:t>Source: U.S. Bureau of Labor Statistics, ATUS 2024 Tables 6 and 7. Any work at home on days worked, persons 15+. Funded by the U.S. BLS.</a:t>
            </a:r>
          </a:p>
        </p:txBody>
      </p:sp>
      <p:graphicFrame>
        <p:nvGraphicFramePr>
          <p:cNvPr id="7" name="Chart 6"/>
          <p:cNvGraphicFramePr>
            <a:graphicFrameLocks noGrp="1"/>
          </p:cNvGraphicFramePr>
          <p:nvPr>
            <p:extLst>
              <p:ext uri="{D42A27DB-BD31-4B8C-83A1-F6EECF244321}">
                <p14:modId xmlns:p14="http://schemas.microsoft.com/office/powerpoint/2010/main" val="1374476162"/>
              </p:ext>
            </p:extLst>
          </p:nvPr>
        </p:nvGraphicFramePr>
        <p:xfrm>
          <a:off x="548641" y="2441448"/>
          <a:ext cx="11590019" cy="6473952"/>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12412980" y="2441448"/>
            <a:ext cx="5143500" cy="6473952"/>
          </a:xfrm>
          <a:prstGeom prst="roundRect">
            <a:avLst>
              <a:gd name="adj" fmla="val 2133"/>
            </a:avLst>
          </a:prstGeom>
          <a:solidFill>
            <a:srgbClr val="F2F6FB"/>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2728448" y="2688337"/>
            <a:ext cx="4553712" cy="4370427"/>
          </a:xfrm>
          <a:prstGeom prst="rect">
            <a:avLst/>
          </a:prstGeom>
          <a:noFill/>
        </p:spPr>
        <p:txBody>
          <a:bodyPr wrap="square" lIns="0" tIns="0" rIns="0" bIns="0" anchor="t">
            <a:spAutoFit/>
          </a:bodyPr>
          <a:lstStyle/>
          <a:p>
            <a:pPr>
              <a:spcAft>
                <a:spcPts val="1500"/>
              </a:spcAft>
            </a:pPr>
            <a:r>
              <a:rPr sz="1500" b="1">
                <a:solidFill>
                  <a:srgbClr val="0072CE"/>
                </a:solidFill>
                <a:latin typeface="Calibri"/>
              </a:rPr>
              <a:t>READ</a:t>
            </a:r>
          </a:p>
          <a:p>
            <a:pPr>
              <a:spcAft>
                <a:spcPts val="1500"/>
              </a:spcAft>
            </a:pPr>
            <a:r>
              <a:rPr sz="2100" b="1">
                <a:solidFill>
                  <a:srgbClr val="0B1F3A"/>
                </a:solidFill>
                <a:latin typeface="Calibri"/>
              </a:rPr>
              <a:t>A different question from ACS</a:t>
            </a:r>
          </a:p>
          <a:p>
            <a:pPr>
              <a:spcAft>
                <a:spcPts val="1500"/>
              </a:spcAft>
            </a:pPr>
            <a:r>
              <a:rPr>
                <a:solidFill>
                  <a:srgbClr val="5B6672"/>
                </a:solidFill>
                <a:latin typeface="Calibri"/>
              </a:rPr>
              <a:t>ATUS overall: 32.5% of employed people who worked that day did any work at home. Persons 15+. Blue bars are management and the top earnings quartile.</a:t>
            </a:r>
          </a:p>
          <a:p>
            <a:pPr>
              <a:spcAft>
                <a:spcPts val="1500"/>
              </a:spcAft>
            </a:pPr>
            <a:r>
              <a:rPr>
                <a:solidFill>
                  <a:srgbClr val="5B6672"/>
                </a:solidFill>
                <a:latin typeface="Calibri"/>
              </a:rPr>
              <a:t>Occupation and earnings stand in for seniority. ATUS does not publish a job-level cut such as VP versus individual contributor.</a:t>
            </a:r>
          </a:p>
          <a:p>
            <a:pPr>
              <a:spcAft>
                <a:spcPts val="1500"/>
              </a:spcAft>
            </a:pPr>
            <a:r>
              <a:rPr>
                <a:solidFill>
                  <a:srgbClr val="5B6672"/>
                </a:solidFill>
                <a:latin typeface="Calibri"/>
              </a:rPr>
              <a:t>The bottom earnings quartile on this chart is 13.3%. That is the ATUS day-worked rate for that group. The ACS usual-WFH rate is also 13.3%, and it answers a different question.</a:t>
            </a:r>
          </a:p>
        </p:txBody>
      </p:sp>
      <p:grpSp>
        <p:nvGrpSpPr>
          <p:cNvPr id="10" name="Group 143">
            <a:extLst>
              <a:ext uri="{FF2B5EF4-FFF2-40B4-BE49-F238E27FC236}">
                <a16:creationId xmlns:a16="http://schemas.microsoft.com/office/drawing/2014/main" id="{417413E8-7688-47A4-E802-45C649FA5E29}"/>
              </a:ext>
            </a:extLst>
          </p:cNvPr>
          <p:cNvGrpSpPr/>
          <p:nvPr/>
        </p:nvGrpSpPr>
        <p:grpSpPr>
          <a:xfrm>
            <a:off x="754380" y="9168289"/>
            <a:ext cx="16733521" cy="432911"/>
            <a:chOff x="0" y="-28575"/>
            <a:chExt cx="22311361" cy="577215"/>
          </a:xfrm>
        </p:grpSpPr>
        <p:sp>
          <p:nvSpPr>
            <p:cNvPr id="11" name="Freeform 144">
              <a:extLst>
                <a:ext uri="{FF2B5EF4-FFF2-40B4-BE49-F238E27FC236}">
                  <a16:creationId xmlns:a16="http://schemas.microsoft.com/office/drawing/2014/main" id="{2FC62CF0-5A64-8149-5E4B-81EBFFDD5F50}"/>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2" name="TextBox 145">
              <a:extLst>
                <a:ext uri="{FF2B5EF4-FFF2-40B4-BE49-F238E27FC236}">
                  <a16:creationId xmlns:a16="http://schemas.microsoft.com/office/drawing/2014/main" id="{EE4B9C7C-3FEB-6755-E1F2-FEBF7D48F96D}"/>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3" name="Group 149">
            <a:extLst>
              <a:ext uri="{FF2B5EF4-FFF2-40B4-BE49-F238E27FC236}">
                <a16:creationId xmlns:a16="http://schemas.microsoft.com/office/drawing/2014/main" id="{F14B4C4F-6232-6AFE-00AF-0B5E3CB25B94}"/>
              </a:ext>
            </a:extLst>
          </p:cNvPr>
          <p:cNvGrpSpPr/>
          <p:nvPr/>
        </p:nvGrpSpPr>
        <p:grpSpPr>
          <a:xfrm>
            <a:off x="754380" y="9648349"/>
            <a:ext cx="16047721" cy="432911"/>
            <a:chOff x="0" y="-28575"/>
            <a:chExt cx="21396961" cy="577215"/>
          </a:xfrm>
        </p:grpSpPr>
        <p:sp>
          <p:nvSpPr>
            <p:cNvPr id="14" name="Freeform 150">
              <a:extLst>
                <a:ext uri="{FF2B5EF4-FFF2-40B4-BE49-F238E27FC236}">
                  <a16:creationId xmlns:a16="http://schemas.microsoft.com/office/drawing/2014/main" id="{496804FA-F7BC-D4C0-6822-A5B0AB46F936}"/>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5" name="TextBox 151">
              <a:extLst>
                <a:ext uri="{FF2B5EF4-FFF2-40B4-BE49-F238E27FC236}">
                  <a16:creationId xmlns:a16="http://schemas.microsoft.com/office/drawing/2014/main" id="{F2EB02A4-0FAA-CF40-22D3-A00EBDD59295}"/>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6" name="Group 2">
            <a:extLst>
              <a:ext uri="{FF2B5EF4-FFF2-40B4-BE49-F238E27FC236}">
                <a16:creationId xmlns:a16="http://schemas.microsoft.com/office/drawing/2014/main" id="{12F9C6AF-A2D5-7033-1EFC-30FE37AB26D8}"/>
              </a:ext>
            </a:extLst>
          </p:cNvPr>
          <p:cNvGrpSpPr/>
          <p:nvPr/>
        </p:nvGrpSpPr>
        <p:grpSpPr>
          <a:xfrm>
            <a:off x="754380" y="417481"/>
            <a:ext cx="11795760" cy="432911"/>
            <a:chOff x="0" y="-28575"/>
            <a:chExt cx="15727680" cy="577215"/>
          </a:xfrm>
        </p:grpSpPr>
        <p:sp>
          <p:nvSpPr>
            <p:cNvPr id="17" name="Freeform 3">
              <a:extLst>
                <a:ext uri="{FF2B5EF4-FFF2-40B4-BE49-F238E27FC236}">
                  <a16:creationId xmlns:a16="http://schemas.microsoft.com/office/drawing/2014/main" id="{1771FCCF-8EF4-0050-CE4D-56465870D669}"/>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18" name="TextBox 4">
              <a:extLst>
                <a:ext uri="{FF2B5EF4-FFF2-40B4-BE49-F238E27FC236}">
                  <a16:creationId xmlns:a16="http://schemas.microsoft.com/office/drawing/2014/main" id="{EA4966C7-66F6-6DED-AFF9-278B629B0524}"/>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A38  ·  RECOMMENDATION 3, EH&amp;B Background Information</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Residential Internet was 42.7% of Q2 2026 company revenue, ahead of video at 23.3%</a:t>
            </a:r>
          </a:p>
        </p:txBody>
      </p:sp>
      <p:sp>
        <p:nvSpPr>
          <p:cNvPr id="4" name="TextBox 3"/>
          <p:cNvSpPr txBox="1"/>
          <p:nvPr/>
        </p:nvSpPr>
        <p:spPr>
          <a:xfrm>
            <a:off x="754380" y="8599932"/>
            <a:ext cx="16733520" cy="480060"/>
          </a:xfrm>
          <a:prstGeom prst="rect">
            <a:avLst/>
          </a:prstGeom>
          <a:noFill/>
        </p:spPr>
        <p:txBody>
          <a:bodyPr wrap="square" lIns="0" tIns="0" rIns="0" bIns="0" anchor="t"/>
          <a:lstStyle/>
          <a:p>
            <a:r>
              <a:rPr sz="1350">
                <a:solidFill>
                  <a:srgbClr val="8A94A0"/>
                </a:solidFill>
                <a:latin typeface="Calibri"/>
              </a:rPr>
              <a:t>Source: Ex99.1 Q2 2026, Q1 2026, and FY2025. Shares recomputed. Q2 2026 is a later public fact. Residential Internet revenue, $ millions. Analysis, not a launch recommendation.</a:t>
            </a:r>
          </a:p>
        </p:txBody>
      </p:sp>
      <p:graphicFrame>
        <p:nvGraphicFramePr>
          <p:cNvPr id="7" name="Chart 6"/>
          <p:cNvGraphicFramePr>
            <a:graphicFrameLocks noGrp="1"/>
          </p:cNvGraphicFramePr>
          <p:nvPr>
            <p:extLst>
              <p:ext uri="{D42A27DB-BD31-4B8C-83A1-F6EECF244321}">
                <p14:modId xmlns:p14="http://schemas.microsoft.com/office/powerpoint/2010/main" val="2391208803"/>
              </p:ext>
            </p:extLst>
          </p:nvPr>
        </p:nvGraphicFramePr>
        <p:xfrm>
          <a:off x="754380" y="1988820"/>
          <a:ext cx="11247120" cy="630936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p:cNvSpPr/>
          <p:nvPr/>
        </p:nvSpPr>
        <p:spPr>
          <a:xfrm>
            <a:off x="12412980" y="1988820"/>
            <a:ext cx="5143500" cy="63093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2755880" y="2198820"/>
            <a:ext cx="4457700" cy="360000"/>
          </a:xfrm>
          <a:prstGeom prst="rect">
            <a:avLst/>
          </a:prstGeom>
          <a:noFill/>
        </p:spPr>
        <p:txBody>
          <a:bodyPr wrap="square" lIns="0" tIns="0" rIns="0" bIns="0" anchor="t"/>
          <a:lstStyle/>
          <a:p>
            <a:r>
              <a:rPr sz="1500" b="1">
                <a:solidFill>
                  <a:srgbClr val="0072CE"/>
                </a:solidFill>
                <a:latin typeface="Calibri"/>
              </a:rPr>
              <a:t>READ</a:t>
            </a:r>
          </a:p>
        </p:txBody>
      </p:sp>
      <p:sp>
        <p:nvSpPr>
          <p:cNvPr id="10" name="TextBox 9"/>
          <p:cNvSpPr txBox="1"/>
          <p:nvPr/>
        </p:nvSpPr>
        <p:spPr>
          <a:xfrm>
            <a:off x="12755880" y="2588820"/>
            <a:ext cx="4457700" cy="2250000"/>
          </a:xfrm>
          <a:prstGeom prst="rect">
            <a:avLst/>
          </a:prstGeom>
          <a:noFill/>
        </p:spPr>
        <p:txBody>
          <a:bodyPr wrap="square" lIns="0" tIns="0" rIns="0" bIns="0" anchor="t"/>
          <a:lstStyle/>
          <a:p>
            <a:r>
              <a:rPr sz="1950" b="1">
                <a:solidFill>
                  <a:srgbClr val="0B1F3A"/>
                </a:solidFill>
                <a:latin typeface="Calibri"/>
              </a:rPr>
              <a:t>Same ratio, three periods</a:t>
            </a:r>
          </a:p>
          <a:p>
            <a:r>
              <a:rPr>
                <a:solidFill>
                  <a:srgbClr val="5B6672"/>
                </a:solidFill>
                <a:latin typeface="Calibri"/>
              </a:rPr>
              <a:t>Q1 2026 was 43.0% — $5,852 million of $13,597 million.</a:t>
            </a:r>
          </a:p>
          <a:p>
            <a:r>
              <a:rPr>
                <a:solidFill>
                  <a:srgbClr val="5B6672"/>
                </a:solidFill>
                <a:latin typeface="Calibri"/>
              </a:rPr>
              <a:t>FY2025 was 43.4% — $23,765 million of $54,774 million.</a:t>
            </a:r>
          </a:p>
          <a:p>
            <a:r>
              <a:rPr>
                <a:solidFill>
                  <a:srgbClr val="5B6672"/>
                </a:solidFill>
                <a:latin typeface="Calibri"/>
              </a:rPr>
              <a:t>Q2 is the exhibit: $5,776 million of $13,526 million.</a:t>
            </a:r>
          </a:p>
        </p:txBody>
      </p:sp>
      <p:sp>
        <p:nvSpPr>
          <p:cNvPr id="11" name="TextBox 10"/>
          <p:cNvSpPr txBox="1"/>
          <p:nvPr/>
        </p:nvSpPr>
        <p:spPr>
          <a:xfrm>
            <a:off x="12755880" y="5138820"/>
            <a:ext cx="4457700" cy="3000000"/>
          </a:xfrm>
          <a:prstGeom prst="rect">
            <a:avLst/>
          </a:prstGeom>
          <a:noFill/>
        </p:spPr>
        <p:txBody>
          <a:bodyPr wrap="square" lIns="0" tIns="0" rIns="0" bIns="0" anchor="t"/>
          <a:lstStyle/>
          <a:p>
            <a:r>
              <a:rPr sz="1950" b="1">
                <a:solidFill>
                  <a:srgbClr val="0B1F3A"/>
                </a:solidFill>
                <a:latin typeface="Calibri"/>
              </a:rPr>
              <a:t>What the bars include</a:t>
            </a:r>
          </a:p>
          <a:p>
            <a:r>
              <a:rPr>
                <a:solidFill>
                  <a:srgbClr val="5B6672"/>
                </a:solidFill>
                <a:latin typeface="Calibri"/>
              </a:rPr>
              <a:t>Internet is 55.8% of residential revenue ($10,351 million). Commercial, advertising, and other stay in the bars so 42.7% is a company share. Mobile service excludes device sales.</a:t>
            </a:r>
          </a:p>
          <a:p>
            <a:endParaRPr>
              <a:solidFill>
                <a:srgbClr val="5B6672"/>
              </a:solidFill>
              <a:latin typeface="Calibri"/>
            </a:endParaRPr>
          </a:p>
          <a:p>
            <a:r>
              <a:rPr sz="1950" b="1">
                <a:solidFill>
                  <a:srgbClr val="0B1F3A"/>
                </a:solidFill>
                <a:latin typeface="Calibri"/>
              </a:rPr>
              <a:t>Already on the product</a:t>
            </a:r>
          </a:p>
          <a:p>
            <a:r>
              <a:rPr>
                <a:solidFill>
                  <a:srgbClr val="5B6672"/>
                </a:solidFill>
                <a:latin typeface="Calibri"/>
              </a:rPr>
              <a:t>93.4% of residential relationships already take Internet — 27,358 thousand of 29,276 thousand at 30 Jun 2026. The 1,918 thousand without it are a stock remainder.</a:t>
            </a:r>
          </a:p>
        </p:txBody>
      </p:sp>
      <p:grpSp>
        <p:nvGrpSpPr>
          <p:cNvPr id="12" name="Group 143">
            <a:extLst>
              <a:ext uri="{FF2B5EF4-FFF2-40B4-BE49-F238E27FC236}">
                <a16:creationId xmlns:a16="http://schemas.microsoft.com/office/drawing/2014/main" id="{EE6CD543-16F5-E469-D54D-CBB83DA5418A}"/>
              </a:ext>
            </a:extLst>
          </p:cNvPr>
          <p:cNvGrpSpPr/>
          <p:nvPr/>
        </p:nvGrpSpPr>
        <p:grpSpPr>
          <a:xfrm>
            <a:off x="754380" y="9168289"/>
            <a:ext cx="16733521" cy="432911"/>
            <a:chOff x="0" y="-28575"/>
            <a:chExt cx="22311361" cy="577215"/>
          </a:xfrm>
        </p:grpSpPr>
        <p:sp>
          <p:nvSpPr>
            <p:cNvPr id="13" name="Freeform 144">
              <a:extLst>
                <a:ext uri="{FF2B5EF4-FFF2-40B4-BE49-F238E27FC236}">
                  <a16:creationId xmlns:a16="http://schemas.microsoft.com/office/drawing/2014/main" id="{383DDB7B-A888-C3CA-7CAC-2F67D5B554B3}"/>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4" name="TextBox 145">
              <a:extLst>
                <a:ext uri="{FF2B5EF4-FFF2-40B4-BE49-F238E27FC236}">
                  <a16:creationId xmlns:a16="http://schemas.microsoft.com/office/drawing/2014/main" id="{0C3A61C2-93AE-6DB2-5675-F90FF02F894B}"/>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5" name="Group 149">
            <a:extLst>
              <a:ext uri="{FF2B5EF4-FFF2-40B4-BE49-F238E27FC236}">
                <a16:creationId xmlns:a16="http://schemas.microsoft.com/office/drawing/2014/main" id="{5325219B-471C-AC9B-734E-844A5BB9B478}"/>
              </a:ext>
            </a:extLst>
          </p:cNvPr>
          <p:cNvGrpSpPr/>
          <p:nvPr/>
        </p:nvGrpSpPr>
        <p:grpSpPr>
          <a:xfrm>
            <a:off x="754380" y="9648349"/>
            <a:ext cx="16047721" cy="432911"/>
            <a:chOff x="0" y="-28575"/>
            <a:chExt cx="21396961" cy="577215"/>
          </a:xfrm>
        </p:grpSpPr>
        <p:sp>
          <p:nvSpPr>
            <p:cNvPr id="16" name="Freeform 150">
              <a:extLst>
                <a:ext uri="{FF2B5EF4-FFF2-40B4-BE49-F238E27FC236}">
                  <a16:creationId xmlns:a16="http://schemas.microsoft.com/office/drawing/2014/main" id="{B7804CC4-B578-33C8-2492-FCEBFAA8A415}"/>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7" name="TextBox 151">
              <a:extLst>
                <a:ext uri="{FF2B5EF4-FFF2-40B4-BE49-F238E27FC236}">
                  <a16:creationId xmlns:a16="http://schemas.microsoft.com/office/drawing/2014/main" id="{9DB87DD8-C3CB-24CE-74D4-EBF6014FF212}"/>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8" name="Group 2">
            <a:extLst>
              <a:ext uri="{FF2B5EF4-FFF2-40B4-BE49-F238E27FC236}">
                <a16:creationId xmlns:a16="http://schemas.microsoft.com/office/drawing/2014/main" id="{D33D8D78-C8AE-3DD0-92DD-5CB8BC1568C1}"/>
              </a:ext>
            </a:extLst>
          </p:cNvPr>
          <p:cNvGrpSpPr/>
          <p:nvPr/>
        </p:nvGrpSpPr>
        <p:grpSpPr>
          <a:xfrm>
            <a:off x="754380" y="417481"/>
            <a:ext cx="11795760" cy="432911"/>
            <a:chOff x="0" y="-28575"/>
            <a:chExt cx="15727680" cy="577215"/>
          </a:xfrm>
        </p:grpSpPr>
        <p:sp>
          <p:nvSpPr>
            <p:cNvPr id="19" name="Freeform 3">
              <a:extLst>
                <a:ext uri="{FF2B5EF4-FFF2-40B4-BE49-F238E27FC236}">
                  <a16:creationId xmlns:a16="http://schemas.microsoft.com/office/drawing/2014/main" id="{D220B50E-EFBD-B116-6068-C5E46C45DEAD}"/>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20" name="TextBox 4">
              <a:extLst>
                <a:ext uri="{FF2B5EF4-FFF2-40B4-BE49-F238E27FC236}">
                  <a16:creationId xmlns:a16="http://schemas.microsoft.com/office/drawing/2014/main" id="{9E766281-516F-125B-C116-D9807781976F}"/>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A39  ·  PRODUCT MIX</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Residential Internet net adds stayed negative for 10 straight quarters, to −166,000 in Q2 2026</a:t>
            </a:r>
          </a:p>
        </p:txBody>
      </p:sp>
      <p:sp>
        <p:nvSpPr>
          <p:cNvPr id="4" name="TextBox 3"/>
          <p:cNvSpPr txBox="1"/>
          <p:nvPr/>
        </p:nvSpPr>
        <p:spPr>
          <a:xfrm>
            <a:off x="754380" y="8599932"/>
            <a:ext cx="16733520" cy="480060"/>
          </a:xfrm>
          <a:prstGeom prst="rect">
            <a:avLst/>
          </a:prstGeom>
          <a:noFill/>
        </p:spPr>
        <p:txBody>
          <a:bodyPr wrap="square" lIns="0" tIns="0" rIns="0" bIns="0" anchor="t"/>
          <a:lstStyle/>
          <a:p>
            <a:r>
              <a:rPr sz="1350">
                <a:solidFill>
                  <a:srgbClr val="8A94A0"/>
                </a:solidFill>
                <a:latin typeface="Calibri"/>
              </a:rPr>
              <a:t>Source: Ex99.1 operating statistics, 2024Q4–2026Q2; Q1 2026 trending schedule for 2024Q1–2024Q3. Thousands of residential customers. *Q2 2026 is a later public fact. Bars from zero; scale to −220.</a:t>
            </a:r>
          </a:p>
        </p:txBody>
      </p:sp>
      <p:graphicFrame>
        <p:nvGraphicFramePr>
          <p:cNvPr id="7" name="Chart 6"/>
          <p:cNvGraphicFramePr>
            <a:graphicFrameLocks noGrp="1"/>
          </p:cNvGraphicFramePr>
          <p:nvPr>
            <p:extLst>
              <p:ext uri="{D42A27DB-BD31-4B8C-83A1-F6EECF244321}">
                <p14:modId xmlns:p14="http://schemas.microsoft.com/office/powerpoint/2010/main" val="3022500466"/>
              </p:ext>
            </p:extLst>
          </p:nvPr>
        </p:nvGraphicFramePr>
        <p:xfrm>
          <a:off x="754380" y="1988820"/>
          <a:ext cx="11247120" cy="630936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p:cNvSpPr/>
          <p:nvPr/>
        </p:nvSpPr>
        <p:spPr>
          <a:xfrm>
            <a:off x="12412980" y="1988820"/>
            <a:ext cx="5143500" cy="6309360"/>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2755880" y="2198820"/>
            <a:ext cx="4457700" cy="360000"/>
          </a:xfrm>
          <a:prstGeom prst="rect">
            <a:avLst/>
          </a:prstGeom>
          <a:noFill/>
        </p:spPr>
        <p:txBody>
          <a:bodyPr wrap="square" lIns="0" tIns="0" rIns="0" bIns="0" anchor="t"/>
          <a:lstStyle/>
          <a:p>
            <a:r>
              <a:rPr sz="1500" b="1">
                <a:solidFill>
                  <a:srgbClr val="0072CE"/>
                </a:solidFill>
                <a:latin typeface="Calibri"/>
              </a:rPr>
              <a:t>READ</a:t>
            </a:r>
          </a:p>
        </p:txBody>
      </p:sp>
      <p:sp>
        <p:nvSpPr>
          <p:cNvPr id="10" name="TextBox 9"/>
          <p:cNvSpPr txBox="1"/>
          <p:nvPr/>
        </p:nvSpPr>
        <p:spPr>
          <a:xfrm>
            <a:off x="12755880" y="2618820"/>
            <a:ext cx="4457700" cy="5400000"/>
          </a:xfrm>
          <a:prstGeom prst="rect">
            <a:avLst/>
          </a:prstGeom>
          <a:noFill/>
        </p:spPr>
        <p:txBody>
          <a:bodyPr wrap="square" lIns="0" tIns="0" rIns="0" bIns="0" anchor="t"/>
          <a:lstStyle/>
          <a:p>
            <a:r>
              <a:rPr sz="1950" b="1">
                <a:solidFill>
                  <a:srgbClr val="0B1F3A"/>
                </a:solidFill>
                <a:latin typeface="Calibri"/>
              </a:rPr>
              <a:t>Q2 2026: −166,000 residential</a:t>
            </a:r>
          </a:p>
          <a:p>
            <a:r>
              <a:rPr sz="1950" b="1">
                <a:solidFill>
                  <a:srgbClr val="0B1F3A"/>
                </a:solidFill>
                <a:latin typeface="Calibri"/>
              </a:rPr>
              <a:t>Q1 2026: −117,000 residential</a:t>
            </a:r>
          </a:p>
          <a:p>
            <a:endParaRPr sz="1950" b="1">
              <a:solidFill>
                <a:srgbClr val="0B1F3A"/>
              </a:solidFill>
              <a:latin typeface="Calibri"/>
            </a:endParaRPr>
          </a:p>
          <a:p>
            <a:r>
              <a:rPr>
                <a:solidFill>
                  <a:srgbClr val="5B6672"/>
                </a:solidFill>
                <a:latin typeface="Calibri"/>
              </a:rPr>
              <a:t>Total Internet is a different print: −172,000 in Q2 and −120,000 in Q1, the residential loss plus small business.</a:t>
            </a:r>
          </a:p>
          <a:p>
            <a:endParaRPr>
              <a:solidFill>
                <a:srgbClr val="5B6672"/>
              </a:solidFill>
              <a:latin typeface="Calibri"/>
            </a:endParaRPr>
          </a:p>
          <a:p>
            <a:r>
              <a:rPr>
                <a:solidFill>
                  <a:srgbClr val="5B6672"/>
                </a:solidFill>
                <a:latin typeface="Calibri"/>
              </a:rPr>
              <a:t>Ten-quarter sum: −1,186 thousand residential Internet customers. Mobile added 4,585 thousand lines in the same quarters. A line is a different unit.</a:t>
            </a:r>
          </a:p>
          <a:p>
            <a:endParaRPr>
              <a:solidFill>
                <a:srgbClr val="5B6672"/>
              </a:solidFill>
              <a:latin typeface="Calibri"/>
            </a:endParaRPr>
          </a:p>
          <a:p>
            <a:r>
              <a:rPr>
                <a:solidFill>
                  <a:srgbClr val="5B6672"/>
                </a:solidFill>
                <a:latin typeface="Calibri"/>
              </a:rPr>
              <a:t>Voice stays off this chart. The filing does not print a voice net-add line.</a:t>
            </a:r>
          </a:p>
        </p:txBody>
      </p:sp>
      <p:grpSp>
        <p:nvGrpSpPr>
          <p:cNvPr id="11" name="Group 143">
            <a:extLst>
              <a:ext uri="{FF2B5EF4-FFF2-40B4-BE49-F238E27FC236}">
                <a16:creationId xmlns:a16="http://schemas.microsoft.com/office/drawing/2014/main" id="{6F54E91B-E006-9D06-AF14-05D0B67A5357}"/>
              </a:ext>
            </a:extLst>
          </p:cNvPr>
          <p:cNvGrpSpPr/>
          <p:nvPr/>
        </p:nvGrpSpPr>
        <p:grpSpPr>
          <a:xfrm>
            <a:off x="754380" y="9168289"/>
            <a:ext cx="16733521" cy="432911"/>
            <a:chOff x="0" y="-28575"/>
            <a:chExt cx="22311361" cy="577215"/>
          </a:xfrm>
        </p:grpSpPr>
        <p:sp>
          <p:nvSpPr>
            <p:cNvPr id="12" name="Freeform 144">
              <a:extLst>
                <a:ext uri="{FF2B5EF4-FFF2-40B4-BE49-F238E27FC236}">
                  <a16:creationId xmlns:a16="http://schemas.microsoft.com/office/drawing/2014/main" id="{C81DC700-AE09-7B1B-B4B1-00E105B7CF88}"/>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3" name="TextBox 145">
              <a:extLst>
                <a:ext uri="{FF2B5EF4-FFF2-40B4-BE49-F238E27FC236}">
                  <a16:creationId xmlns:a16="http://schemas.microsoft.com/office/drawing/2014/main" id="{BF635E67-0305-CFA5-C7F3-0409AA3202CD}"/>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14" name="Group 149">
            <a:extLst>
              <a:ext uri="{FF2B5EF4-FFF2-40B4-BE49-F238E27FC236}">
                <a16:creationId xmlns:a16="http://schemas.microsoft.com/office/drawing/2014/main" id="{8B325E51-45CF-7B60-F0DB-7A843D438987}"/>
              </a:ext>
            </a:extLst>
          </p:cNvPr>
          <p:cNvGrpSpPr/>
          <p:nvPr/>
        </p:nvGrpSpPr>
        <p:grpSpPr>
          <a:xfrm>
            <a:off x="754380" y="9648349"/>
            <a:ext cx="16047721" cy="432911"/>
            <a:chOff x="0" y="-28575"/>
            <a:chExt cx="21396961" cy="577215"/>
          </a:xfrm>
        </p:grpSpPr>
        <p:sp>
          <p:nvSpPr>
            <p:cNvPr id="15" name="Freeform 150">
              <a:extLst>
                <a:ext uri="{FF2B5EF4-FFF2-40B4-BE49-F238E27FC236}">
                  <a16:creationId xmlns:a16="http://schemas.microsoft.com/office/drawing/2014/main" id="{CEE736CD-F6CA-689E-1418-6562A568DAAF}"/>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6" name="TextBox 151">
              <a:extLst>
                <a:ext uri="{FF2B5EF4-FFF2-40B4-BE49-F238E27FC236}">
                  <a16:creationId xmlns:a16="http://schemas.microsoft.com/office/drawing/2014/main" id="{B65D3252-647B-60AC-910B-CE6012047707}"/>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7" name="Group 2">
            <a:extLst>
              <a:ext uri="{FF2B5EF4-FFF2-40B4-BE49-F238E27FC236}">
                <a16:creationId xmlns:a16="http://schemas.microsoft.com/office/drawing/2014/main" id="{036D2A9C-1F3B-97B3-367C-F7C9F3185482}"/>
              </a:ext>
            </a:extLst>
          </p:cNvPr>
          <p:cNvGrpSpPr/>
          <p:nvPr/>
        </p:nvGrpSpPr>
        <p:grpSpPr>
          <a:xfrm>
            <a:off x="754380" y="417481"/>
            <a:ext cx="11795760" cy="432911"/>
            <a:chOff x="0" y="-28575"/>
            <a:chExt cx="15727680" cy="577215"/>
          </a:xfrm>
        </p:grpSpPr>
        <p:sp>
          <p:nvSpPr>
            <p:cNvPr id="18" name="Freeform 3">
              <a:extLst>
                <a:ext uri="{FF2B5EF4-FFF2-40B4-BE49-F238E27FC236}">
                  <a16:creationId xmlns:a16="http://schemas.microsoft.com/office/drawing/2014/main" id="{C97ED502-5BD1-0EF7-87F8-E0412D02BB1E}"/>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19" name="TextBox 4">
              <a:extLst>
                <a:ext uri="{FF2B5EF4-FFF2-40B4-BE49-F238E27FC236}">
                  <a16:creationId xmlns:a16="http://schemas.microsoft.com/office/drawing/2014/main" id="{69F06812-4A51-40A9-8FDB-E06DE886E6B9}"/>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A40  ·  PRODUCT TRENDS</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rgbClr val="0B1F3A"/>
                </a:solidFill>
                <a:latin typeface="Calibri"/>
              </a:rPr>
              <a:t>Principal is $93.8 billion at 4.18x, and no contribution per Internet PSU is published</a:t>
            </a:r>
          </a:p>
        </p:txBody>
      </p:sp>
      <p:sp>
        <p:nvSpPr>
          <p:cNvPr id="4" name="TextBox 3"/>
          <p:cNvSpPr txBox="1"/>
          <p:nvPr/>
        </p:nvSpPr>
        <p:spPr>
          <a:xfrm>
            <a:off x="754380" y="8685524"/>
            <a:ext cx="16733520" cy="480060"/>
          </a:xfrm>
          <a:prstGeom prst="rect">
            <a:avLst/>
          </a:prstGeom>
          <a:noFill/>
        </p:spPr>
        <p:txBody>
          <a:bodyPr wrap="square" lIns="0" tIns="0" rIns="0" bIns="0" anchor="t"/>
          <a:lstStyle/>
          <a:p>
            <a:r>
              <a:rPr sz="1350">
                <a:solidFill>
                  <a:srgbClr val="8A94A0"/>
                </a:solidFill>
                <a:latin typeface="Calibri"/>
              </a:rPr>
              <a:t>Source: Q2 2026 Ex99.1 (principal, cash, passings, blended bill); Q2 2026 10-Q (4.18x); FY2025 10-K note 15 and the income statement. Blank rows are withheld. 30 Jun 2026 where dated.</a:t>
            </a:r>
          </a:p>
        </p:txBody>
      </p:sp>
      <p:sp>
        <p:nvSpPr>
          <p:cNvPr id="7" name="TextBox 6"/>
          <p:cNvSpPr txBox="1"/>
          <p:nvPr/>
        </p:nvSpPr>
        <p:spPr>
          <a:xfrm>
            <a:off x="754380" y="1414579"/>
            <a:ext cx="16733520" cy="1143793"/>
          </a:xfrm>
          <a:prstGeom prst="rect">
            <a:avLst/>
          </a:prstGeom>
          <a:noFill/>
        </p:spPr>
        <p:txBody>
          <a:bodyPr wrap="square" lIns="0" tIns="0" rIns="0" bIns="0" anchor="t"/>
          <a:lstStyle/>
          <a:p>
            <a:r>
              <a:rPr sz="2400" b="1">
                <a:solidFill>
                  <a:schemeClr val="tx2"/>
                </a:solidFill>
                <a:latin typeface="Calibri"/>
              </a:rPr>
              <a:t>Mixed units. $117.52 is quarterly residential revenue ÷ 3 ÷ average relationships: a blended bill. Q1 was $118.44 and Q2 2025 was $119.70, same definition. Internet ARPU is unpublished. Passings include business sites. Programming is a video cost. </a:t>
            </a:r>
          </a:p>
        </p:txBody>
      </p:sp>
      <p:graphicFrame>
        <p:nvGraphicFramePr>
          <p:cNvPr id="8" name="Table 7"/>
          <p:cNvGraphicFramePr>
            <a:graphicFrameLocks noGrp="1"/>
          </p:cNvGraphicFramePr>
          <p:nvPr>
            <p:extLst>
              <p:ext uri="{D42A27DB-BD31-4B8C-83A1-F6EECF244321}">
                <p14:modId xmlns:p14="http://schemas.microsoft.com/office/powerpoint/2010/main" val="647417186"/>
              </p:ext>
            </p:extLst>
          </p:nvPr>
        </p:nvGraphicFramePr>
        <p:xfrm>
          <a:off x="754380" y="2618372"/>
          <a:ext cx="16733520" cy="6578400"/>
        </p:xfrm>
        <a:graphic>
          <a:graphicData uri="http://schemas.openxmlformats.org/drawingml/2006/table">
            <a:tbl>
              <a:tblPr firstRow="1" bandRow="1">
                <a:tableStyleId>{5C22544A-7EE6-4342-B048-85BDC9FD1C3A}</a:tableStyleId>
              </a:tblPr>
              <a:tblGrid>
                <a:gridCol w="6600000">
                  <a:extLst>
                    <a:ext uri="{9D8B030D-6E8A-4147-A177-3AD203B41FA5}">
                      <a16:colId xmlns:a16="http://schemas.microsoft.com/office/drawing/2014/main" val="20000"/>
                    </a:ext>
                  </a:extLst>
                </a:gridCol>
                <a:gridCol w="2550000">
                  <a:extLst>
                    <a:ext uri="{9D8B030D-6E8A-4147-A177-3AD203B41FA5}">
                      <a16:colId xmlns:a16="http://schemas.microsoft.com/office/drawing/2014/main" val="20001"/>
                    </a:ext>
                  </a:extLst>
                </a:gridCol>
                <a:gridCol w="3600000">
                  <a:extLst>
                    <a:ext uri="{9D8B030D-6E8A-4147-A177-3AD203B41FA5}">
                      <a16:colId xmlns:a16="http://schemas.microsoft.com/office/drawing/2014/main" val="20002"/>
                    </a:ext>
                  </a:extLst>
                </a:gridCol>
                <a:gridCol w="2175000">
                  <a:extLst>
                    <a:ext uri="{9D8B030D-6E8A-4147-A177-3AD203B41FA5}">
                      <a16:colId xmlns:a16="http://schemas.microsoft.com/office/drawing/2014/main" val="20003"/>
                    </a:ext>
                  </a:extLst>
                </a:gridCol>
                <a:gridCol w="1808520">
                  <a:extLst>
                    <a:ext uri="{9D8B030D-6E8A-4147-A177-3AD203B41FA5}">
                      <a16:colId xmlns:a16="http://schemas.microsoft.com/office/drawing/2014/main" val="20004"/>
                    </a:ext>
                  </a:extLst>
                </a:gridCol>
              </a:tblGrid>
              <a:tr h="333731">
                <a:tc>
                  <a:txBody>
                    <a:bodyPr/>
                    <a:lstStyle/>
                    <a:p>
                      <a:pPr algn="l"/>
                      <a:r>
                        <a:rPr sz="2400" b="1" i="0">
                          <a:solidFill>
                            <a:srgbClr val="FFFFFF"/>
                          </a:solidFill>
                          <a:latin typeface="Calibri"/>
                        </a:rPr>
                        <a:t>Item</a:t>
                      </a:r>
                    </a:p>
                  </a:txBody>
                  <a:tcPr marL="120000" marR="90000" marT="42000" marB="42000" anchor="ctr">
                    <a:solidFill>
                      <a:srgbClr val="0B1F3A"/>
                    </a:solidFill>
                  </a:tcPr>
                </a:tc>
                <a:tc>
                  <a:txBody>
                    <a:bodyPr/>
                    <a:lstStyle/>
                    <a:p>
                      <a:pPr algn="r"/>
                      <a:r>
                        <a:rPr sz="2400" b="1" i="0">
                          <a:solidFill>
                            <a:srgbClr val="FFFFFF"/>
                          </a:solidFill>
                          <a:latin typeface="Calibri"/>
                        </a:rPr>
                        <a:t>Value</a:t>
                      </a:r>
                    </a:p>
                  </a:txBody>
                  <a:tcPr marL="120000" marR="90000" marT="42000" marB="42000" anchor="ctr">
                    <a:solidFill>
                      <a:srgbClr val="0B1F3A"/>
                    </a:solidFill>
                  </a:tcPr>
                </a:tc>
                <a:tc>
                  <a:txBody>
                    <a:bodyPr/>
                    <a:lstStyle/>
                    <a:p>
                      <a:pPr algn="l"/>
                      <a:r>
                        <a:rPr sz="2400" b="1" i="0">
                          <a:solidFill>
                            <a:srgbClr val="FFFFFF"/>
                          </a:solidFill>
                          <a:latin typeface="Calibri"/>
                        </a:rPr>
                        <a:t>Unit</a:t>
                      </a:r>
                    </a:p>
                  </a:txBody>
                  <a:tcPr marL="120000" marR="90000" marT="42000" marB="42000" anchor="ctr">
                    <a:solidFill>
                      <a:srgbClr val="0B1F3A"/>
                    </a:solidFill>
                  </a:tcPr>
                </a:tc>
                <a:tc>
                  <a:txBody>
                    <a:bodyPr/>
                    <a:lstStyle/>
                    <a:p>
                      <a:pPr algn="l"/>
                      <a:r>
                        <a:rPr sz="2400" b="1" i="0">
                          <a:solidFill>
                            <a:srgbClr val="FFFFFF"/>
                          </a:solidFill>
                          <a:latin typeface="Calibri"/>
                        </a:rPr>
                        <a:t>Period</a:t>
                      </a:r>
                    </a:p>
                  </a:txBody>
                  <a:tcPr marL="120000" marR="90000" marT="42000" marB="42000" anchor="ctr">
                    <a:solidFill>
                      <a:srgbClr val="0B1F3A"/>
                    </a:solidFill>
                  </a:tcPr>
                </a:tc>
                <a:tc>
                  <a:txBody>
                    <a:bodyPr/>
                    <a:lstStyle/>
                    <a:p>
                      <a:pPr algn="l"/>
                      <a:r>
                        <a:rPr sz="2400" b="1" i="0">
                          <a:solidFill>
                            <a:srgbClr val="FFFFFF"/>
                          </a:solidFill>
                          <a:latin typeface="Calibri"/>
                        </a:rPr>
                        <a:t>Tag</a:t>
                      </a:r>
                    </a:p>
                  </a:txBody>
                  <a:tcPr marL="120000" marR="90000" marT="42000" marB="42000" anchor="ctr">
                    <a:solidFill>
                      <a:srgbClr val="0B1F3A"/>
                    </a:solidFill>
                  </a:tcPr>
                </a:tc>
                <a:extLst>
                  <a:ext uri="{0D108BD9-81ED-4DB2-BD59-A6C34878D82A}">
                    <a16:rowId xmlns:a16="http://schemas.microsoft.com/office/drawing/2014/main" val="10000"/>
                  </a:ext>
                </a:extLst>
              </a:tr>
              <a:tr h="333731">
                <a:tc>
                  <a:txBody>
                    <a:bodyPr/>
                    <a:lstStyle/>
                    <a:p>
                      <a:pPr algn="l"/>
                      <a:r>
                        <a:rPr sz="2400" b="1" i="0">
                          <a:solidFill>
                            <a:srgbClr val="0B1F3A"/>
                          </a:solidFill>
                          <a:latin typeface="Calibri"/>
                        </a:rPr>
                        <a:t>Monthly residential revenue per residential customer</a:t>
                      </a:r>
                    </a:p>
                  </a:txBody>
                  <a:tcPr marL="120000" marR="90000" marT="42000" marB="42000" anchor="ctr">
                    <a:solidFill>
                      <a:srgbClr val="FFFFFF"/>
                    </a:solidFill>
                  </a:tcPr>
                </a:tc>
                <a:tc>
                  <a:txBody>
                    <a:bodyPr/>
                    <a:lstStyle/>
                    <a:p>
                      <a:pPr algn="r"/>
                      <a:r>
                        <a:rPr sz="2400" b="1" i="0">
                          <a:solidFill>
                            <a:srgbClr val="0B1F3A"/>
                          </a:solidFill>
                          <a:latin typeface="Calibri"/>
                        </a:rPr>
                        <a:t>$117.52</a:t>
                      </a:r>
                    </a:p>
                  </a:txBody>
                  <a:tcPr marL="120000" marR="90000" marT="42000" marB="42000" anchor="ctr">
                    <a:solidFill>
                      <a:srgbClr val="FFFFFF"/>
                    </a:solidFill>
                  </a:tcPr>
                </a:tc>
                <a:tc>
                  <a:txBody>
                    <a:bodyPr/>
                    <a:lstStyle/>
                    <a:p>
                      <a:pPr algn="l"/>
                      <a:r>
                        <a:rPr sz="2400" b="0" i="0">
                          <a:solidFill>
                            <a:srgbClr val="5B6672"/>
                          </a:solidFill>
                          <a:latin typeface="Calibri"/>
                        </a:rPr>
                        <a:t>$ / month, blended bill</a:t>
                      </a:r>
                    </a:p>
                  </a:txBody>
                  <a:tcPr marL="120000" marR="90000" marT="42000" marB="42000" anchor="ctr">
                    <a:solidFill>
                      <a:srgbClr val="FFFFFF"/>
                    </a:solidFill>
                  </a:tcPr>
                </a:tc>
                <a:tc>
                  <a:txBody>
                    <a:bodyPr/>
                    <a:lstStyle/>
                    <a:p>
                      <a:pPr algn="l"/>
                      <a:r>
                        <a:rPr sz="2400" b="0" i="0">
                          <a:solidFill>
                            <a:srgbClr val="5B6672"/>
                          </a:solidFill>
                          <a:latin typeface="Calibri"/>
                        </a:rPr>
                        <a:t>Q2 2026</a:t>
                      </a:r>
                    </a:p>
                  </a:txBody>
                  <a:tcPr marL="120000" marR="90000" marT="42000" marB="42000" anchor="ctr">
                    <a:solidFill>
                      <a:srgbClr val="FFFFFF"/>
                    </a:solidFill>
                  </a:tcPr>
                </a:tc>
                <a:tc>
                  <a:txBody>
                    <a:bodyPr/>
                    <a:lstStyle/>
                    <a:p>
                      <a:pPr algn="l"/>
                      <a:r>
                        <a:rPr sz="2400" b="0" i="0">
                          <a:solidFill>
                            <a:srgbClr val="5B6672"/>
                          </a:solidFill>
                          <a:latin typeface="Calibri"/>
                        </a:rPr>
                        <a:t>RETRIEVED</a:t>
                      </a:r>
                    </a:p>
                  </a:txBody>
                  <a:tcPr marL="120000" marR="90000" marT="42000" marB="42000" anchor="ctr">
                    <a:solidFill>
                      <a:srgbClr val="FFFFFF"/>
                    </a:solidFill>
                  </a:tcPr>
                </a:tc>
                <a:extLst>
                  <a:ext uri="{0D108BD9-81ED-4DB2-BD59-A6C34878D82A}">
                    <a16:rowId xmlns:a16="http://schemas.microsoft.com/office/drawing/2014/main" val="10001"/>
                  </a:ext>
                </a:extLst>
              </a:tr>
              <a:tr h="333731">
                <a:tc>
                  <a:txBody>
                    <a:bodyPr/>
                    <a:lstStyle/>
                    <a:p>
                      <a:pPr algn="l"/>
                      <a:r>
                        <a:rPr sz="2400" b="0" i="0">
                          <a:solidFill>
                            <a:srgbClr val="0B1F3A"/>
                          </a:solidFill>
                          <a:latin typeface="Calibri"/>
                        </a:rPr>
                        <a:t>Internet ARPU</a:t>
                      </a:r>
                    </a:p>
                  </a:txBody>
                  <a:tcPr marL="120000" marR="90000" marT="42000" marB="42000" anchor="ctr">
                    <a:solidFill>
                      <a:srgbClr val="F2F6FB"/>
                    </a:solidFill>
                  </a:tcPr>
                </a:tc>
                <a:tc>
                  <a:txBody>
                    <a:bodyPr/>
                    <a:lstStyle/>
                    <a:p>
                      <a:pPr algn="r"/>
                      <a:r>
                        <a:rPr sz="2400" b="0" i="0">
                          <a:solidFill>
                            <a:srgbClr val="8A94A0"/>
                          </a:solidFill>
                          <a:latin typeface="Calibri"/>
                        </a:rPr>
                        <a:t>—</a:t>
                      </a:r>
                    </a:p>
                  </a:txBody>
                  <a:tcPr marL="120000" marR="90000" marT="42000" marB="42000" anchor="ctr">
                    <a:solidFill>
                      <a:srgbClr val="F2F6FB"/>
                    </a:solidFill>
                  </a:tcPr>
                </a:tc>
                <a:tc>
                  <a:txBody>
                    <a:bodyPr/>
                    <a:lstStyle/>
                    <a:p>
                      <a:pPr algn="l"/>
                      <a:r>
                        <a:rPr sz="2400" b="0" i="0">
                          <a:solidFill>
                            <a:srgbClr val="8A94A0"/>
                          </a:solidFill>
                          <a:latin typeface="Calibri"/>
                        </a:rPr>
                        <a:t>$ / month</a:t>
                      </a:r>
                    </a:p>
                  </a:txBody>
                  <a:tcPr marL="120000" marR="90000" marT="42000" marB="42000" anchor="ctr">
                    <a:solidFill>
                      <a:srgbClr val="F2F6FB"/>
                    </a:solidFill>
                  </a:tcPr>
                </a:tc>
                <a:tc>
                  <a:txBody>
                    <a:bodyPr/>
                    <a:lstStyle/>
                    <a:p>
                      <a:pPr algn="l"/>
                      <a:r>
                        <a:rPr sz="2400" b="0" i="0">
                          <a:solidFill>
                            <a:srgbClr val="8A94A0"/>
                          </a:solidFill>
                          <a:latin typeface="Calibri"/>
                        </a:rPr>
                        <a:t>—</a:t>
                      </a:r>
                    </a:p>
                  </a:txBody>
                  <a:tcPr marL="120000" marR="90000" marT="42000" marB="42000" anchor="ctr">
                    <a:solidFill>
                      <a:srgbClr val="F2F6FB"/>
                    </a:solidFill>
                  </a:tcPr>
                </a:tc>
                <a:tc>
                  <a:txBody>
                    <a:bodyPr/>
                    <a:lstStyle/>
                    <a:p>
                      <a:pPr algn="l"/>
                      <a:r>
                        <a:rPr sz="2400" b="0" i="0">
                          <a:solidFill>
                            <a:srgbClr val="8A94A0"/>
                          </a:solidFill>
                          <a:latin typeface="Calibri"/>
                        </a:rPr>
                        <a:t>NOT IN FILING</a:t>
                      </a:r>
                    </a:p>
                  </a:txBody>
                  <a:tcPr marL="120000" marR="90000" marT="42000" marB="42000" anchor="ctr">
                    <a:solidFill>
                      <a:srgbClr val="F2F6FB"/>
                    </a:solidFill>
                  </a:tcPr>
                </a:tc>
                <a:extLst>
                  <a:ext uri="{0D108BD9-81ED-4DB2-BD59-A6C34878D82A}">
                    <a16:rowId xmlns:a16="http://schemas.microsoft.com/office/drawing/2014/main" val="10002"/>
                  </a:ext>
                </a:extLst>
              </a:tr>
              <a:tr h="333731">
                <a:tc>
                  <a:txBody>
                    <a:bodyPr/>
                    <a:lstStyle/>
                    <a:p>
                      <a:pPr algn="l"/>
                      <a:r>
                        <a:rPr sz="2400" b="1" i="0">
                          <a:solidFill>
                            <a:srgbClr val="0B1F3A"/>
                          </a:solidFill>
                          <a:latin typeface="Calibri"/>
                        </a:rPr>
                        <a:t>Video programming costs</a:t>
                      </a:r>
                    </a:p>
                  </a:txBody>
                  <a:tcPr marL="120000" marR="90000" marT="42000" marB="42000" anchor="ctr">
                    <a:solidFill>
                      <a:srgbClr val="FFFFFF"/>
                    </a:solidFill>
                  </a:tcPr>
                </a:tc>
                <a:tc>
                  <a:txBody>
                    <a:bodyPr/>
                    <a:lstStyle/>
                    <a:p>
                      <a:pPr algn="r"/>
                      <a:r>
                        <a:rPr sz="2400" b="1" i="0">
                          <a:solidFill>
                            <a:srgbClr val="0B1F3A"/>
                          </a:solidFill>
                          <a:latin typeface="Calibri"/>
                        </a:rPr>
                        <a:t>8,822</a:t>
                      </a:r>
                    </a:p>
                  </a:txBody>
                  <a:tcPr marL="120000" marR="90000" marT="42000" marB="42000" anchor="ctr">
                    <a:solidFill>
                      <a:srgbClr val="FFFFFF"/>
                    </a:solidFill>
                  </a:tcPr>
                </a:tc>
                <a:tc>
                  <a:txBody>
                    <a:bodyPr/>
                    <a:lstStyle/>
                    <a:p>
                      <a:pPr algn="l"/>
                      <a:r>
                        <a:rPr sz="2400" b="0" i="0">
                          <a:solidFill>
                            <a:srgbClr val="5B6672"/>
                          </a:solidFill>
                          <a:latin typeface="Calibri"/>
                        </a:rPr>
                        <a:t>$ millions</a:t>
                      </a:r>
                    </a:p>
                  </a:txBody>
                  <a:tcPr marL="120000" marR="90000" marT="42000" marB="42000" anchor="ctr">
                    <a:solidFill>
                      <a:srgbClr val="FFFFFF"/>
                    </a:solidFill>
                  </a:tcPr>
                </a:tc>
                <a:tc>
                  <a:txBody>
                    <a:bodyPr/>
                    <a:lstStyle/>
                    <a:p>
                      <a:pPr algn="l"/>
                      <a:r>
                        <a:rPr sz="2400" b="0" i="0">
                          <a:solidFill>
                            <a:srgbClr val="5B6672"/>
                          </a:solidFill>
                          <a:latin typeface="Calibri"/>
                        </a:rPr>
                        <a:t>FY2025</a:t>
                      </a:r>
                    </a:p>
                  </a:txBody>
                  <a:tcPr marL="120000" marR="90000" marT="42000" marB="42000" anchor="ctr">
                    <a:solidFill>
                      <a:srgbClr val="FFFFFF"/>
                    </a:solidFill>
                  </a:tcPr>
                </a:tc>
                <a:tc>
                  <a:txBody>
                    <a:bodyPr/>
                    <a:lstStyle/>
                    <a:p>
                      <a:pPr algn="l"/>
                      <a:r>
                        <a:rPr sz="2400" b="0" i="0">
                          <a:solidFill>
                            <a:srgbClr val="5B6672"/>
                          </a:solidFill>
                          <a:latin typeface="Calibri"/>
                        </a:rPr>
                        <a:t>RETRIEVED</a:t>
                      </a:r>
                    </a:p>
                  </a:txBody>
                  <a:tcPr marL="120000" marR="90000" marT="42000" marB="42000" anchor="ctr">
                    <a:solidFill>
                      <a:srgbClr val="FFFFFF"/>
                    </a:solidFill>
                  </a:tcPr>
                </a:tc>
                <a:extLst>
                  <a:ext uri="{0D108BD9-81ED-4DB2-BD59-A6C34878D82A}">
                    <a16:rowId xmlns:a16="http://schemas.microsoft.com/office/drawing/2014/main" val="10003"/>
                  </a:ext>
                </a:extLst>
              </a:tr>
              <a:tr h="333731">
                <a:tc>
                  <a:txBody>
                    <a:bodyPr/>
                    <a:lstStyle/>
                    <a:p>
                      <a:pPr algn="l"/>
                      <a:r>
                        <a:rPr sz="2400" b="1" i="0">
                          <a:solidFill>
                            <a:srgbClr val="0B1F3A"/>
                          </a:solidFill>
                          <a:latin typeface="Calibri"/>
                        </a:rPr>
                        <a:t>Video programming costs</a:t>
                      </a:r>
                    </a:p>
                  </a:txBody>
                  <a:tcPr marL="120000" marR="90000" marT="42000" marB="42000" anchor="ctr">
                    <a:solidFill>
                      <a:srgbClr val="F2F6FB"/>
                    </a:solidFill>
                  </a:tcPr>
                </a:tc>
                <a:tc>
                  <a:txBody>
                    <a:bodyPr/>
                    <a:lstStyle/>
                    <a:p>
                      <a:pPr algn="r"/>
                      <a:r>
                        <a:rPr sz="2400" b="1" i="0">
                          <a:solidFill>
                            <a:srgbClr val="0B1F3A"/>
                          </a:solidFill>
                          <a:latin typeface="Calibri"/>
                        </a:rPr>
                        <a:t>9,653</a:t>
                      </a:r>
                    </a:p>
                  </a:txBody>
                  <a:tcPr marL="120000" marR="90000" marT="42000" marB="42000" anchor="ctr">
                    <a:solidFill>
                      <a:srgbClr val="F2F6FB"/>
                    </a:solidFill>
                  </a:tcPr>
                </a:tc>
                <a:tc>
                  <a:txBody>
                    <a:bodyPr/>
                    <a:lstStyle/>
                    <a:p>
                      <a:pPr algn="l"/>
                      <a:r>
                        <a:rPr sz="2400" b="0" i="0">
                          <a:solidFill>
                            <a:srgbClr val="5B6672"/>
                          </a:solidFill>
                          <a:latin typeface="Calibri"/>
                        </a:rPr>
                        <a:t>$ millions</a:t>
                      </a:r>
                    </a:p>
                  </a:txBody>
                  <a:tcPr marL="120000" marR="90000" marT="42000" marB="42000" anchor="ctr">
                    <a:solidFill>
                      <a:srgbClr val="F2F6FB"/>
                    </a:solidFill>
                  </a:tcPr>
                </a:tc>
                <a:tc>
                  <a:txBody>
                    <a:bodyPr/>
                    <a:lstStyle/>
                    <a:p>
                      <a:pPr algn="l"/>
                      <a:r>
                        <a:rPr sz="2400" b="0" i="0">
                          <a:solidFill>
                            <a:srgbClr val="5B6672"/>
                          </a:solidFill>
                          <a:latin typeface="Calibri"/>
                        </a:rPr>
                        <a:t>FY2024</a:t>
                      </a:r>
                    </a:p>
                  </a:txBody>
                  <a:tcPr marL="120000" marR="90000" marT="42000" marB="42000" anchor="ctr">
                    <a:solidFill>
                      <a:srgbClr val="F2F6FB"/>
                    </a:solidFill>
                  </a:tcPr>
                </a:tc>
                <a:tc>
                  <a:txBody>
                    <a:bodyPr/>
                    <a:lstStyle/>
                    <a:p>
                      <a:pPr algn="l"/>
                      <a:r>
                        <a:rPr sz="2400" b="0" i="0">
                          <a:solidFill>
                            <a:srgbClr val="5B6672"/>
                          </a:solidFill>
                          <a:latin typeface="Calibri"/>
                        </a:rPr>
                        <a:t>RETRIEVED</a:t>
                      </a:r>
                    </a:p>
                  </a:txBody>
                  <a:tcPr marL="120000" marR="90000" marT="42000" marB="42000" anchor="ctr">
                    <a:solidFill>
                      <a:srgbClr val="F2F6FB"/>
                    </a:solidFill>
                  </a:tcPr>
                </a:tc>
                <a:extLst>
                  <a:ext uri="{0D108BD9-81ED-4DB2-BD59-A6C34878D82A}">
                    <a16:rowId xmlns:a16="http://schemas.microsoft.com/office/drawing/2014/main" val="10004"/>
                  </a:ext>
                </a:extLst>
              </a:tr>
              <a:tr h="333731">
                <a:tc>
                  <a:txBody>
                    <a:bodyPr/>
                    <a:lstStyle/>
                    <a:p>
                      <a:pPr algn="l"/>
                      <a:r>
                        <a:rPr sz="2400" b="0" i="0">
                          <a:solidFill>
                            <a:srgbClr val="0B1F3A"/>
                          </a:solidFill>
                          <a:latin typeface="Calibri"/>
                        </a:rPr>
                        <a:t>Programming share of operating costs</a:t>
                      </a:r>
                    </a:p>
                  </a:txBody>
                  <a:tcPr marL="120000" marR="90000" marT="42000" marB="42000" anchor="ctr">
                    <a:solidFill>
                      <a:srgbClr val="FFFFFF"/>
                    </a:solidFill>
                  </a:tcPr>
                </a:tc>
                <a:tc>
                  <a:txBody>
                    <a:bodyPr/>
                    <a:lstStyle/>
                    <a:p>
                      <a:pPr algn="r"/>
                      <a:r>
                        <a:rPr sz="2400" b="0" i="0">
                          <a:solidFill>
                            <a:srgbClr val="0B1F3A"/>
                          </a:solidFill>
                          <a:latin typeface="Calibri"/>
                        </a:rPr>
                        <a:t>26.9%</a:t>
                      </a:r>
                    </a:p>
                  </a:txBody>
                  <a:tcPr marL="120000" marR="90000" marT="42000" marB="42000" anchor="ctr">
                    <a:solidFill>
                      <a:srgbClr val="FFFFFF"/>
                    </a:solidFill>
                  </a:tcPr>
                </a:tc>
                <a:tc>
                  <a:txBody>
                    <a:bodyPr/>
                    <a:lstStyle/>
                    <a:p>
                      <a:pPr algn="l"/>
                      <a:r>
                        <a:rPr sz="2400" b="0" i="0">
                          <a:solidFill>
                            <a:srgbClr val="5B6672"/>
                          </a:solidFill>
                          <a:latin typeface="Calibri"/>
                        </a:rPr>
                        <a:t>of $32,739 million opex</a:t>
                      </a:r>
                    </a:p>
                  </a:txBody>
                  <a:tcPr marL="120000" marR="90000" marT="42000" marB="42000" anchor="ctr">
                    <a:solidFill>
                      <a:srgbClr val="FFFFFF"/>
                    </a:solidFill>
                  </a:tcPr>
                </a:tc>
                <a:tc>
                  <a:txBody>
                    <a:bodyPr/>
                    <a:lstStyle/>
                    <a:p>
                      <a:pPr algn="l"/>
                      <a:r>
                        <a:rPr sz="2400" b="0" i="0">
                          <a:solidFill>
                            <a:srgbClr val="5B6672"/>
                          </a:solidFill>
                          <a:latin typeface="Calibri"/>
                        </a:rPr>
                        <a:t>FY2025</a:t>
                      </a:r>
                    </a:p>
                  </a:txBody>
                  <a:tcPr marL="120000" marR="90000" marT="42000" marB="42000" anchor="ctr">
                    <a:solidFill>
                      <a:srgbClr val="FFFFFF"/>
                    </a:solidFill>
                  </a:tcPr>
                </a:tc>
                <a:tc>
                  <a:txBody>
                    <a:bodyPr/>
                    <a:lstStyle/>
                    <a:p>
                      <a:pPr algn="l"/>
                      <a:r>
                        <a:rPr sz="2400" b="0" i="0">
                          <a:solidFill>
                            <a:srgbClr val="5B6672"/>
                          </a:solidFill>
                          <a:latin typeface="Calibri"/>
                        </a:rPr>
                        <a:t>DERIVED</a:t>
                      </a:r>
                    </a:p>
                  </a:txBody>
                  <a:tcPr marL="120000" marR="90000" marT="42000" marB="42000" anchor="ctr">
                    <a:solidFill>
                      <a:srgbClr val="FFFFFF"/>
                    </a:solidFill>
                  </a:tcPr>
                </a:tc>
                <a:extLst>
                  <a:ext uri="{0D108BD9-81ED-4DB2-BD59-A6C34878D82A}">
                    <a16:rowId xmlns:a16="http://schemas.microsoft.com/office/drawing/2014/main" val="10005"/>
                  </a:ext>
                </a:extLst>
              </a:tr>
              <a:tr h="333731">
                <a:tc>
                  <a:txBody>
                    <a:bodyPr/>
                    <a:lstStyle/>
                    <a:p>
                      <a:pPr algn="l"/>
                      <a:r>
                        <a:rPr sz="2400" b="0" i="0">
                          <a:solidFill>
                            <a:srgbClr val="0B1F3A"/>
                          </a:solidFill>
                          <a:latin typeface="Calibri"/>
                        </a:rPr>
                        <a:t>Programming share of operating costs</a:t>
                      </a:r>
                    </a:p>
                  </a:txBody>
                  <a:tcPr marL="120000" marR="90000" marT="42000" marB="42000" anchor="ctr">
                    <a:solidFill>
                      <a:srgbClr val="F2F6FB"/>
                    </a:solidFill>
                  </a:tcPr>
                </a:tc>
                <a:tc>
                  <a:txBody>
                    <a:bodyPr/>
                    <a:lstStyle/>
                    <a:p>
                      <a:pPr algn="r"/>
                      <a:r>
                        <a:rPr sz="2400" b="0" i="0">
                          <a:solidFill>
                            <a:srgbClr val="0B1F3A"/>
                          </a:solidFill>
                          <a:latin typeface="Calibri"/>
                        </a:rPr>
                        <a:t>29.1%</a:t>
                      </a:r>
                    </a:p>
                  </a:txBody>
                  <a:tcPr marL="120000" marR="90000" marT="42000" marB="42000" anchor="ctr">
                    <a:solidFill>
                      <a:srgbClr val="F2F6FB"/>
                    </a:solidFill>
                  </a:tcPr>
                </a:tc>
                <a:tc>
                  <a:txBody>
                    <a:bodyPr/>
                    <a:lstStyle/>
                    <a:p>
                      <a:pPr algn="l"/>
                      <a:r>
                        <a:rPr sz="2400" b="0" i="0">
                          <a:solidFill>
                            <a:srgbClr val="5B6672"/>
                          </a:solidFill>
                          <a:latin typeface="Calibri"/>
                        </a:rPr>
                        <a:t>of $33,167 million opex</a:t>
                      </a:r>
                    </a:p>
                  </a:txBody>
                  <a:tcPr marL="120000" marR="90000" marT="42000" marB="42000" anchor="ctr">
                    <a:solidFill>
                      <a:srgbClr val="F2F6FB"/>
                    </a:solidFill>
                  </a:tcPr>
                </a:tc>
                <a:tc>
                  <a:txBody>
                    <a:bodyPr/>
                    <a:lstStyle/>
                    <a:p>
                      <a:pPr algn="l"/>
                      <a:r>
                        <a:rPr sz="2400" b="0" i="0">
                          <a:solidFill>
                            <a:srgbClr val="5B6672"/>
                          </a:solidFill>
                          <a:latin typeface="Calibri"/>
                        </a:rPr>
                        <a:t>FY2024</a:t>
                      </a:r>
                    </a:p>
                  </a:txBody>
                  <a:tcPr marL="120000" marR="90000" marT="42000" marB="42000" anchor="ctr">
                    <a:solidFill>
                      <a:srgbClr val="F2F6FB"/>
                    </a:solidFill>
                  </a:tcPr>
                </a:tc>
                <a:tc>
                  <a:txBody>
                    <a:bodyPr/>
                    <a:lstStyle/>
                    <a:p>
                      <a:pPr algn="l"/>
                      <a:r>
                        <a:rPr sz="2400" b="0" i="0">
                          <a:solidFill>
                            <a:srgbClr val="5B6672"/>
                          </a:solidFill>
                          <a:latin typeface="Calibri"/>
                        </a:rPr>
                        <a:t>DERIVED</a:t>
                      </a:r>
                    </a:p>
                  </a:txBody>
                  <a:tcPr marL="120000" marR="90000" marT="42000" marB="42000" anchor="ctr">
                    <a:solidFill>
                      <a:srgbClr val="F2F6FB"/>
                    </a:solidFill>
                  </a:tcPr>
                </a:tc>
                <a:extLst>
                  <a:ext uri="{0D108BD9-81ED-4DB2-BD59-A6C34878D82A}">
                    <a16:rowId xmlns:a16="http://schemas.microsoft.com/office/drawing/2014/main" val="10006"/>
                  </a:ext>
                </a:extLst>
              </a:tr>
              <a:tr h="333731">
                <a:tc>
                  <a:txBody>
                    <a:bodyPr/>
                    <a:lstStyle/>
                    <a:p>
                      <a:pPr algn="l"/>
                      <a:r>
                        <a:rPr sz="2400" b="0" i="0">
                          <a:solidFill>
                            <a:srgbClr val="0B1F3A"/>
                          </a:solidFill>
                          <a:latin typeface="Calibri"/>
                        </a:rPr>
                        <a:t>Interest expense, net</a:t>
                      </a:r>
                    </a:p>
                  </a:txBody>
                  <a:tcPr marL="120000" marR="90000" marT="42000" marB="42000" anchor="ctr">
                    <a:solidFill>
                      <a:srgbClr val="FFFFFF"/>
                    </a:solidFill>
                  </a:tcPr>
                </a:tc>
                <a:tc>
                  <a:txBody>
                    <a:bodyPr/>
                    <a:lstStyle/>
                    <a:p>
                      <a:pPr algn="r"/>
                      <a:r>
                        <a:rPr sz="2400" b="0" i="0">
                          <a:solidFill>
                            <a:srgbClr val="0B1F3A"/>
                          </a:solidFill>
                          <a:latin typeface="Calibri"/>
                        </a:rPr>
                        <a:t>5,042</a:t>
                      </a:r>
                    </a:p>
                  </a:txBody>
                  <a:tcPr marL="120000" marR="90000" marT="42000" marB="42000" anchor="ctr">
                    <a:solidFill>
                      <a:srgbClr val="FFFFFF"/>
                    </a:solidFill>
                  </a:tcPr>
                </a:tc>
                <a:tc>
                  <a:txBody>
                    <a:bodyPr/>
                    <a:lstStyle/>
                    <a:p>
                      <a:pPr algn="l"/>
                      <a:r>
                        <a:rPr sz="2400" b="0" i="0">
                          <a:solidFill>
                            <a:srgbClr val="5B6672"/>
                          </a:solidFill>
                          <a:latin typeface="Calibri"/>
                        </a:rPr>
                        <a:t>$ millions</a:t>
                      </a:r>
                    </a:p>
                  </a:txBody>
                  <a:tcPr marL="120000" marR="90000" marT="42000" marB="42000" anchor="ctr">
                    <a:solidFill>
                      <a:srgbClr val="FFFFFF"/>
                    </a:solidFill>
                  </a:tcPr>
                </a:tc>
                <a:tc>
                  <a:txBody>
                    <a:bodyPr/>
                    <a:lstStyle/>
                    <a:p>
                      <a:pPr algn="l"/>
                      <a:r>
                        <a:rPr sz="2400" b="0" i="0">
                          <a:solidFill>
                            <a:srgbClr val="5B6672"/>
                          </a:solidFill>
                          <a:latin typeface="Calibri"/>
                        </a:rPr>
                        <a:t>FY2025</a:t>
                      </a:r>
                    </a:p>
                  </a:txBody>
                  <a:tcPr marL="120000" marR="90000" marT="42000" marB="42000" anchor="ctr">
                    <a:solidFill>
                      <a:srgbClr val="FFFFFF"/>
                    </a:solidFill>
                  </a:tcPr>
                </a:tc>
                <a:tc>
                  <a:txBody>
                    <a:bodyPr/>
                    <a:lstStyle/>
                    <a:p>
                      <a:pPr algn="l"/>
                      <a:r>
                        <a:rPr sz="2400" b="0" i="0">
                          <a:solidFill>
                            <a:srgbClr val="5B6672"/>
                          </a:solidFill>
                          <a:latin typeface="Calibri"/>
                        </a:rPr>
                        <a:t>RETRIEVED</a:t>
                      </a:r>
                    </a:p>
                  </a:txBody>
                  <a:tcPr marL="120000" marR="90000" marT="42000" marB="42000" anchor="ctr">
                    <a:solidFill>
                      <a:srgbClr val="FFFFFF"/>
                    </a:solidFill>
                  </a:tcPr>
                </a:tc>
                <a:extLst>
                  <a:ext uri="{0D108BD9-81ED-4DB2-BD59-A6C34878D82A}">
                    <a16:rowId xmlns:a16="http://schemas.microsoft.com/office/drawing/2014/main" val="10007"/>
                  </a:ext>
                </a:extLst>
              </a:tr>
              <a:tr h="333731">
                <a:tc>
                  <a:txBody>
                    <a:bodyPr/>
                    <a:lstStyle/>
                    <a:p>
                      <a:pPr algn="l"/>
                      <a:r>
                        <a:rPr sz="2400" b="1" i="0">
                          <a:solidFill>
                            <a:srgbClr val="0B1F3A"/>
                          </a:solidFill>
                          <a:latin typeface="Calibri"/>
                        </a:rPr>
                        <a:t>Principal amount of debt</a:t>
                      </a:r>
                    </a:p>
                  </a:txBody>
                  <a:tcPr marL="120000" marR="90000" marT="42000" marB="42000" anchor="ctr">
                    <a:solidFill>
                      <a:srgbClr val="F2F6FB"/>
                    </a:solidFill>
                  </a:tcPr>
                </a:tc>
                <a:tc>
                  <a:txBody>
                    <a:bodyPr/>
                    <a:lstStyle/>
                    <a:p>
                      <a:pPr algn="r"/>
                      <a:r>
                        <a:rPr sz="2400" b="1" i="0">
                          <a:solidFill>
                            <a:srgbClr val="0072CE"/>
                          </a:solidFill>
                          <a:latin typeface="Calibri"/>
                        </a:rPr>
                        <a:t>$93.8 billion</a:t>
                      </a:r>
                    </a:p>
                  </a:txBody>
                  <a:tcPr marL="120000" marR="90000" marT="42000" marB="42000" anchor="ctr">
                    <a:solidFill>
                      <a:srgbClr val="F2F6FB"/>
                    </a:solidFill>
                  </a:tcPr>
                </a:tc>
                <a:tc>
                  <a:txBody>
                    <a:bodyPr/>
                    <a:lstStyle/>
                    <a:p>
                      <a:pPr algn="l"/>
                      <a:r>
                        <a:rPr sz="2400" b="0" i="0">
                          <a:solidFill>
                            <a:srgbClr val="5B6672"/>
                          </a:solidFill>
                          <a:latin typeface="Calibri"/>
                        </a:rPr>
                        <a:t>$ billions</a:t>
                      </a:r>
                    </a:p>
                  </a:txBody>
                  <a:tcPr marL="120000" marR="90000" marT="42000" marB="42000" anchor="ctr">
                    <a:solidFill>
                      <a:srgbClr val="F2F6FB"/>
                    </a:solidFill>
                  </a:tcPr>
                </a:tc>
                <a:tc>
                  <a:txBody>
                    <a:bodyPr/>
                    <a:lstStyle/>
                    <a:p>
                      <a:pPr algn="l"/>
                      <a:r>
                        <a:rPr sz="2400" b="0" i="0">
                          <a:solidFill>
                            <a:srgbClr val="5B6672"/>
                          </a:solidFill>
                          <a:latin typeface="Calibri"/>
                        </a:rPr>
                        <a:t>30 Jun 2026</a:t>
                      </a:r>
                    </a:p>
                  </a:txBody>
                  <a:tcPr marL="120000" marR="90000" marT="42000" marB="42000" anchor="ctr">
                    <a:solidFill>
                      <a:srgbClr val="F2F6FB"/>
                    </a:solidFill>
                  </a:tcPr>
                </a:tc>
                <a:tc>
                  <a:txBody>
                    <a:bodyPr/>
                    <a:lstStyle/>
                    <a:p>
                      <a:pPr algn="l"/>
                      <a:r>
                        <a:rPr sz="2400" b="0" i="0">
                          <a:solidFill>
                            <a:srgbClr val="5B6672"/>
                          </a:solidFill>
                          <a:latin typeface="Calibri"/>
                        </a:rPr>
                        <a:t>RETRIEVED</a:t>
                      </a:r>
                    </a:p>
                  </a:txBody>
                  <a:tcPr marL="120000" marR="90000" marT="42000" marB="42000" anchor="ctr">
                    <a:solidFill>
                      <a:srgbClr val="F2F6FB"/>
                    </a:solidFill>
                  </a:tcPr>
                </a:tc>
                <a:extLst>
                  <a:ext uri="{0D108BD9-81ED-4DB2-BD59-A6C34878D82A}">
                    <a16:rowId xmlns:a16="http://schemas.microsoft.com/office/drawing/2014/main" val="10008"/>
                  </a:ext>
                </a:extLst>
              </a:tr>
              <a:tr h="333731">
                <a:tc>
                  <a:txBody>
                    <a:bodyPr/>
                    <a:lstStyle/>
                    <a:p>
                      <a:pPr algn="l"/>
                      <a:r>
                        <a:rPr sz="2400" b="1" i="0">
                          <a:solidFill>
                            <a:srgbClr val="0B1F3A"/>
                          </a:solidFill>
                          <a:latin typeface="Calibri"/>
                        </a:rPr>
                        <a:t>Net debt / LTM Adjusted EBITDA</a:t>
                      </a:r>
                    </a:p>
                  </a:txBody>
                  <a:tcPr marL="120000" marR="90000" marT="42000" marB="42000" anchor="ctr">
                    <a:solidFill>
                      <a:srgbClr val="FFFFFF"/>
                    </a:solidFill>
                  </a:tcPr>
                </a:tc>
                <a:tc>
                  <a:txBody>
                    <a:bodyPr/>
                    <a:lstStyle/>
                    <a:p>
                      <a:pPr algn="r"/>
                      <a:r>
                        <a:rPr sz="2400" b="1" i="0">
                          <a:solidFill>
                            <a:srgbClr val="0072CE"/>
                          </a:solidFill>
                          <a:latin typeface="Calibri"/>
                        </a:rPr>
                        <a:t>4.18x</a:t>
                      </a:r>
                    </a:p>
                  </a:txBody>
                  <a:tcPr marL="120000" marR="90000" marT="42000" marB="42000" anchor="ctr">
                    <a:solidFill>
                      <a:srgbClr val="FFFFFF"/>
                    </a:solidFill>
                  </a:tcPr>
                </a:tc>
                <a:tc>
                  <a:txBody>
                    <a:bodyPr/>
                    <a:lstStyle/>
                    <a:p>
                      <a:pPr algn="l"/>
                      <a:r>
                        <a:rPr sz="2400" b="0" i="0">
                          <a:solidFill>
                            <a:srgbClr val="5B6672"/>
                          </a:solidFill>
                          <a:latin typeface="Calibri"/>
                        </a:rPr>
                        <a:t>times</a:t>
                      </a:r>
                    </a:p>
                  </a:txBody>
                  <a:tcPr marL="120000" marR="90000" marT="42000" marB="42000" anchor="ctr">
                    <a:solidFill>
                      <a:srgbClr val="FFFFFF"/>
                    </a:solidFill>
                  </a:tcPr>
                </a:tc>
                <a:tc>
                  <a:txBody>
                    <a:bodyPr/>
                    <a:lstStyle/>
                    <a:p>
                      <a:pPr algn="l"/>
                      <a:r>
                        <a:rPr sz="2400" b="0" i="0">
                          <a:solidFill>
                            <a:srgbClr val="5B6672"/>
                          </a:solidFill>
                          <a:latin typeface="Calibri"/>
                        </a:rPr>
                        <a:t>30 Jun 2026</a:t>
                      </a:r>
                    </a:p>
                  </a:txBody>
                  <a:tcPr marL="120000" marR="90000" marT="42000" marB="42000" anchor="ctr">
                    <a:solidFill>
                      <a:srgbClr val="FFFFFF"/>
                    </a:solidFill>
                  </a:tcPr>
                </a:tc>
                <a:tc>
                  <a:txBody>
                    <a:bodyPr/>
                    <a:lstStyle/>
                    <a:p>
                      <a:pPr algn="l"/>
                      <a:r>
                        <a:rPr sz="2400" b="0" i="0">
                          <a:solidFill>
                            <a:srgbClr val="5B6672"/>
                          </a:solidFill>
                          <a:latin typeface="Calibri"/>
                        </a:rPr>
                        <a:t>RETRIEVED</a:t>
                      </a:r>
                    </a:p>
                  </a:txBody>
                  <a:tcPr marL="120000" marR="90000" marT="42000" marB="42000" anchor="ctr">
                    <a:solidFill>
                      <a:srgbClr val="FFFFFF"/>
                    </a:solidFill>
                  </a:tcPr>
                </a:tc>
                <a:extLst>
                  <a:ext uri="{0D108BD9-81ED-4DB2-BD59-A6C34878D82A}">
                    <a16:rowId xmlns:a16="http://schemas.microsoft.com/office/drawing/2014/main" val="10009"/>
                  </a:ext>
                </a:extLst>
              </a:tr>
              <a:tr h="333731">
                <a:tc>
                  <a:txBody>
                    <a:bodyPr/>
                    <a:lstStyle/>
                    <a:p>
                      <a:pPr algn="l"/>
                      <a:r>
                        <a:rPr sz="2400" b="0" i="0">
                          <a:solidFill>
                            <a:srgbClr val="0B1F3A"/>
                          </a:solidFill>
                          <a:latin typeface="Calibri"/>
                        </a:rPr>
                        <a:t>Cash and cash equivalents</a:t>
                      </a:r>
                    </a:p>
                  </a:txBody>
                  <a:tcPr marL="120000" marR="90000" marT="42000" marB="42000" anchor="ctr">
                    <a:solidFill>
                      <a:srgbClr val="F2F6FB"/>
                    </a:solidFill>
                  </a:tcPr>
                </a:tc>
                <a:tc>
                  <a:txBody>
                    <a:bodyPr/>
                    <a:lstStyle/>
                    <a:p>
                      <a:pPr algn="r"/>
                      <a:r>
                        <a:rPr sz="2400" b="0" i="0">
                          <a:solidFill>
                            <a:srgbClr val="0B1F3A"/>
                          </a:solidFill>
                          <a:latin typeface="Calibri"/>
                        </a:rPr>
                        <a:t>509</a:t>
                      </a:r>
                    </a:p>
                  </a:txBody>
                  <a:tcPr marL="120000" marR="90000" marT="42000" marB="42000" anchor="ctr">
                    <a:solidFill>
                      <a:srgbClr val="F2F6FB"/>
                    </a:solidFill>
                  </a:tcPr>
                </a:tc>
                <a:tc>
                  <a:txBody>
                    <a:bodyPr/>
                    <a:lstStyle/>
                    <a:p>
                      <a:pPr algn="l"/>
                      <a:r>
                        <a:rPr sz="2400" b="0" i="0">
                          <a:solidFill>
                            <a:srgbClr val="5B6672"/>
                          </a:solidFill>
                          <a:latin typeface="Calibri"/>
                        </a:rPr>
                        <a:t>$ millions</a:t>
                      </a:r>
                    </a:p>
                  </a:txBody>
                  <a:tcPr marL="120000" marR="90000" marT="42000" marB="42000" anchor="ctr">
                    <a:solidFill>
                      <a:srgbClr val="F2F6FB"/>
                    </a:solidFill>
                  </a:tcPr>
                </a:tc>
                <a:tc>
                  <a:txBody>
                    <a:bodyPr/>
                    <a:lstStyle/>
                    <a:p>
                      <a:pPr algn="l"/>
                      <a:r>
                        <a:rPr sz="2400" b="0" i="0">
                          <a:solidFill>
                            <a:srgbClr val="5B6672"/>
                          </a:solidFill>
                          <a:latin typeface="Calibri"/>
                        </a:rPr>
                        <a:t>30 Jun 2026</a:t>
                      </a:r>
                    </a:p>
                  </a:txBody>
                  <a:tcPr marL="120000" marR="90000" marT="42000" marB="42000" anchor="ctr">
                    <a:solidFill>
                      <a:srgbClr val="F2F6FB"/>
                    </a:solidFill>
                  </a:tcPr>
                </a:tc>
                <a:tc>
                  <a:txBody>
                    <a:bodyPr/>
                    <a:lstStyle/>
                    <a:p>
                      <a:pPr algn="l"/>
                      <a:r>
                        <a:rPr sz="2400" b="0" i="0">
                          <a:solidFill>
                            <a:srgbClr val="5B6672"/>
                          </a:solidFill>
                          <a:latin typeface="Calibri"/>
                        </a:rPr>
                        <a:t>RETRIEVED</a:t>
                      </a:r>
                    </a:p>
                  </a:txBody>
                  <a:tcPr marL="120000" marR="90000" marT="42000" marB="42000" anchor="ctr">
                    <a:solidFill>
                      <a:srgbClr val="F2F6FB"/>
                    </a:solidFill>
                  </a:tcPr>
                </a:tc>
                <a:extLst>
                  <a:ext uri="{0D108BD9-81ED-4DB2-BD59-A6C34878D82A}">
                    <a16:rowId xmlns:a16="http://schemas.microsoft.com/office/drawing/2014/main" val="10010"/>
                  </a:ext>
                </a:extLst>
              </a:tr>
              <a:tr h="333731">
                <a:tc>
                  <a:txBody>
                    <a:bodyPr/>
                    <a:lstStyle/>
                    <a:p>
                      <a:pPr algn="l"/>
                      <a:r>
                        <a:rPr sz="2400" b="1" i="0">
                          <a:solidFill>
                            <a:srgbClr val="0B1F3A"/>
                          </a:solidFill>
                          <a:latin typeface="Calibri"/>
                        </a:rPr>
                        <a:t>Estimated passings</a:t>
                      </a:r>
                    </a:p>
                  </a:txBody>
                  <a:tcPr marL="120000" marR="90000" marT="42000" marB="42000" anchor="ctr">
                    <a:solidFill>
                      <a:srgbClr val="FFFFFF"/>
                    </a:solidFill>
                  </a:tcPr>
                </a:tc>
                <a:tc>
                  <a:txBody>
                    <a:bodyPr/>
                    <a:lstStyle/>
                    <a:p>
                      <a:pPr algn="r"/>
                      <a:r>
                        <a:rPr sz="2400" b="1" i="0">
                          <a:solidFill>
                            <a:srgbClr val="0B1F3A"/>
                          </a:solidFill>
                          <a:latin typeface="Calibri"/>
                        </a:rPr>
                        <a:t>58,981</a:t>
                      </a:r>
                    </a:p>
                  </a:txBody>
                  <a:tcPr marL="120000" marR="90000" marT="42000" marB="42000" anchor="ctr">
                    <a:solidFill>
                      <a:srgbClr val="FFFFFF"/>
                    </a:solidFill>
                  </a:tcPr>
                </a:tc>
                <a:tc>
                  <a:txBody>
                    <a:bodyPr/>
                    <a:lstStyle/>
                    <a:p>
                      <a:pPr algn="l"/>
                      <a:r>
                        <a:rPr sz="2400" b="0" i="0">
                          <a:solidFill>
                            <a:srgbClr val="5B6672"/>
                          </a:solidFill>
                          <a:latin typeface="Calibri"/>
                        </a:rPr>
                        <a:t>thousands</a:t>
                      </a:r>
                    </a:p>
                  </a:txBody>
                  <a:tcPr marL="120000" marR="90000" marT="42000" marB="42000" anchor="ctr">
                    <a:solidFill>
                      <a:srgbClr val="FFFFFF"/>
                    </a:solidFill>
                  </a:tcPr>
                </a:tc>
                <a:tc>
                  <a:txBody>
                    <a:bodyPr/>
                    <a:lstStyle/>
                    <a:p>
                      <a:pPr algn="l"/>
                      <a:r>
                        <a:rPr sz="2400" b="0" i="0">
                          <a:solidFill>
                            <a:srgbClr val="5B6672"/>
                          </a:solidFill>
                          <a:latin typeface="Calibri"/>
                        </a:rPr>
                        <a:t>30 Jun 2026</a:t>
                      </a:r>
                    </a:p>
                  </a:txBody>
                  <a:tcPr marL="120000" marR="90000" marT="42000" marB="42000" anchor="ctr">
                    <a:solidFill>
                      <a:srgbClr val="FFFFFF"/>
                    </a:solidFill>
                  </a:tcPr>
                </a:tc>
                <a:tc>
                  <a:txBody>
                    <a:bodyPr/>
                    <a:lstStyle/>
                    <a:p>
                      <a:pPr algn="l"/>
                      <a:r>
                        <a:rPr sz="2400" b="0" i="0">
                          <a:solidFill>
                            <a:srgbClr val="5B6672"/>
                          </a:solidFill>
                          <a:latin typeface="Calibri"/>
                        </a:rPr>
                        <a:t>RETRIEVED</a:t>
                      </a:r>
                    </a:p>
                  </a:txBody>
                  <a:tcPr marL="120000" marR="90000" marT="42000" marB="42000" anchor="ctr">
                    <a:solidFill>
                      <a:srgbClr val="FFFFFF"/>
                    </a:solidFill>
                  </a:tcPr>
                </a:tc>
                <a:extLst>
                  <a:ext uri="{0D108BD9-81ED-4DB2-BD59-A6C34878D82A}">
                    <a16:rowId xmlns:a16="http://schemas.microsoft.com/office/drawing/2014/main" val="10011"/>
                  </a:ext>
                </a:extLst>
              </a:tr>
              <a:tr h="333731">
                <a:tc>
                  <a:txBody>
                    <a:bodyPr/>
                    <a:lstStyle/>
                    <a:p>
                      <a:pPr algn="l"/>
                      <a:r>
                        <a:rPr sz="2400" b="1" i="0">
                          <a:solidFill>
                            <a:srgbClr val="0B1F3A"/>
                          </a:solidFill>
                          <a:latin typeface="Calibri"/>
                        </a:rPr>
                        <a:t>Customer-relationship penetration of passings</a:t>
                      </a:r>
                    </a:p>
                  </a:txBody>
                  <a:tcPr marL="120000" marR="90000" marT="42000" marB="42000" anchor="ctr">
                    <a:solidFill>
                      <a:srgbClr val="F2F6FB"/>
                    </a:solidFill>
                  </a:tcPr>
                </a:tc>
                <a:tc>
                  <a:txBody>
                    <a:bodyPr/>
                    <a:lstStyle/>
                    <a:p>
                      <a:pPr algn="r"/>
                      <a:r>
                        <a:rPr sz="2400" b="1" i="0">
                          <a:solidFill>
                            <a:srgbClr val="0B1F3A"/>
                          </a:solidFill>
                          <a:latin typeface="Calibri"/>
                        </a:rPr>
                        <a:t>53.4%</a:t>
                      </a:r>
                    </a:p>
                  </a:txBody>
                  <a:tcPr marL="120000" marR="90000" marT="42000" marB="42000" anchor="ctr">
                    <a:solidFill>
                      <a:srgbClr val="F2F6FB"/>
                    </a:solidFill>
                  </a:tcPr>
                </a:tc>
                <a:tc>
                  <a:txBody>
                    <a:bodyPr/>
                    <a:lstStyle/>
                    <a:p>
                      <a:pPr algn="l"/>
                      <a:r>
                        <a:rPr sz="2400" b="0" i="0">
                          <a:solidFill>
                            <a:srgbClr val="5B6672"/>
                          </a:solidFill>
                          <a:latin typeface="Calibri"/>
                        </a:rPr>
                        <a:t>incl. SMB (31,499 / 58,981)</a:t>
                      </a:r>
                    </a:p>
                  </a:txBody>
                  <a:tcPr marL="120000" marR="90000" marT="42000" marB="42000" anchor="ctr">
                    <a:solidFill>
                      <a:srgbClr val="F2F6FB"/>
                    </a:solidFill>
                  </a:tcPr>
                </a:tc>
                <a:tc>
                  <a:txBody>
                    <a:bodyPr/>
                    <a:lstStyle/>
                    <a:p>
                      <a:pPr algn="l"/>
                      <a:r>
                        <a:rPr sz="2400" b="0" i="0">
                          <a:solidFill>
                            <a:srgbClr val="5B6672"/>
                          </a:solidFill>
                          <a:latin typeface="Calibri"/>
                        </a:rPr>
                        <a:t>30 Jun 2026</a:t>
                      </a:r>
                    </a:p>
                  </a:txBody>
                  <a:tcPr marL="120000" marR="90000" marT="42000" marB="42000" anchor="ctr">
                    <a:solidFill>
                      <a:srgbClr val="F2F6FB"/>
                    </a:solidFill>
                  </a:tcPr>
                </a:tc>
                <a:tc>
                  <a:txBody>
                    <a:bodyPr/>
                    <a:lstStyle/>
                    <a:p>
                      <a:pPr algn="l"/>
                      <a:r>
                        <a:rPr sz="2400" b="0" i="0">
                          <a:solidFill>
                            <a:srgbClr val="5B6672"/>
                          </a:solidFill>
                          <a:latin typeface="Calibri"/>
                        </a:rPr>
                        <a:t>RETRIEVED</a:t>
                      </a:r>
                    </a:p>
                  </a:txBody>
                  <a:tcPr marL="120000" marR="90000" marT="42000" marB="42000" anchor="ctr">
                    <a:solidFill>
                      <a:srgbClr val="F2F6FB"/>
                    </a:solidFill>
                  </a:tcPr>
                </a:tc>
                <a:extLst>
                  <a:ext uri="{0D108BD9-81ED-4DB2-BD59-A6C34878D82A}">
                    <a16:rowId xmlns:a16="http://schemas.microsoft.com/office/drawing/2014/main" val="10012"/>
                  </a:ext>
                </a:extLst>
              </a:tr>
            </a:tbl>
          </a:graphicData>
        </a:graphic>
      </p:graphicFrame>
      <p:grpSp>
        <p:nvGrpSpPr>
          <p:cNvPr id="9" name="Group 143">
            <a:extLst>
              <a:ext uri="{FF2B5EF4-FFF2-40B4-BE49-F238E27FC236}">
                <a16:creationId xmlns:a16="http://schemas.microsoft.com/office/drawing/2014/main" id="{B5E23665-819E-3B5B-846C-71A5D7F83CF1}"/>
              </a:ext>
            </a:extLst>
          </p:cNvPr>
          <p:cNvGrpSpPr/>
          <p:nvPr/>
        </p:nvGrpSpPr>
        <p:grpSpPr>
          <a:xfrm>
            <a:off x="754380" y="9168289"/>
            <a:ext cx="16733521" cy="432911"/>
            <a:chOff x="0" y="-28575"/>
            <a:chExt cx="22311361" cy="577215"/>
          </a:xfrm>
        </p:grpSpPr>
        <p:sp>
          <p:nvSpPr>
            <p:cNvPr id="10" name="Freeform 144">
              <a:extLst>
                <a:ext uri="{FF2B5EF4-FFF2-40B4-BE49-F238E27FC236}">
                  <a16:creationId xmlns:a16="http://schemas.microsoft.com/office/drawing/2014/main" id="{A136CEE3-6134-ADE4-1690-9CD4E806C9CD}"/>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11" name="TextBox 145">
              <a:extLst>
                <a:ext uri="{FF2B5EF4-FFF2-40B4-BE49-F238E27FC236}">
                  <a16:creationId xmlns:a16="http://schemas.microsoft.com/office/drawing/2014/main" id="{C023952B-341F-8E8F-37C8-09B30A2D5F0C}"/>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12" name="Group 149">
            <a:extLst>
              <a:ext uri="{FF2B5EF4-FFF2-40B4-BE49-F238E27FC236}">
                <a16:creationId xmlns:a16="http://schemas.microsoft.com/office/drawing/2014/main" id="{E4F744FA-C9D2-53A2-259F-DA6A4E6493DD}"/>
              </a:ext>
            </a:extLst>
          </p:cNvPr>
          <p:cNvGrpSpPr/>
          <p:nvPr/>
        </p:nvGrpSpPr>
        <p:grpSpPr>
          <a:xfrm>
            <a:off x="754380" y="9648349"/>
            <a:ext cx="16047721" cy="432911"/>
            <a:chOff x="0" y="-28575"/>
            <a:chExt cx="21396961" cy="577215"/>
          </a:xfrm>
        </p:grpSpPr>
        <p:sp>
          <p:nvSpPr>
            <p:cNvPr id="13" name="Freeform 150">
              <a:extLst>
                <a:ext uri="{FF2B5EF4-FFF2-40B4-BE49-F238E27FC236}">
                  <a16:creationId xmlns:a16="http://schemas.microsoft.com/office/drawing/2014/main" id="{611F0249-CE87-5F93-1C33-5361DA971E53}"/>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14" name="TextBox 151">
              <a:extLst>
                <a:ext uri="{FF2B5EF4-FFF2-40B4-BE49-F238E27FC236}">
                  <a16:creationId xmlns:a16="http://schemas.microsoft.com/office/drawing/2014/main" id="{D1188462-B462-8F77-24ED-863D1EBC7A56}"/>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15" name="Group 2">
            <a:extLst>
              <a:ext uri="{FF2B5EF4-FFF2-40B4-BE49-F238E27FC236}">
                <a16:creationId xmlns:a16="http://schemas.microsoft.com/office/drawing/2014/main" id="{EA8BCEE6-B99F-518B-66E9-3CBF33585B83}"/>
              </a:ext>
            </a:extLst>
          </p:cNvPr>
          <p:cNvGrpSpPr/>
          <p:nvPr/>
        </p:nvGrpSpPr>
        <p:grpSpPr>
          <a:xfrm>
            <a:off x="754380" y="417481"/>
            <a:ext cx="11795760" cy="432911"/>
            <a:chOff x="0" y="-28575"/>
            <a:chExt cx="15727680" cy="577215"/>
          </a:xfrm>
        </p:grpSpPr>
        <p:sp>
          <p:nvSpPr>
            <p:cNvPr id="16" name="Freeform 3">
              <a:extLst>
                <a:ext uri="{FF2B5EF4-FFF2-40B4-BE49-F238E27FC236}">
                  <a16:creationId xmlns:a16="http://schemas.microsoft.com/office/drawing/2014/main" id="{74838600-ECE9-51EA-6D3D-C09C9DE8819E}"/>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17" name="TextBox 4">
              <a:extLst>
                <a:ext uri="{FF2B5EF4-FFF2-40B4-BE49-F238E27FC236}">
                  <a16:creationId xmlns:a16="http://schemas.microsoft.com/office/drawing/2014/main" id="{D589B25E-034B-50FE-17C8-40CC5037D5F8}"/>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A41  ·  UNIT ECONOMICS</a:t>
              </a: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54380" y="8659368"/>
            <a:ext cx="10319004" cy="585216"/>
          </a:xfrm>
          <a:prstGeom prst="rect">
            <a:avLst/>
          </a:prstGeom>
          <a:noFill/>
        </p:spPr>
        <p:txBody>
          <a:bodyPr wrap="square" lIns="0" tIns="0" rIns="0" bIns="0" anchor="t"/>
          <a:lstStyle/>
          <a:p>
            <a:r>
              <a:rPr sz="1650" i="1">
                <a:solidFill>
                  <a:srgbClr val="8A94A0"/>
                </a:solidFill>
                <a:latin typeface="Calibri"/>
              </a:rPr>
              <a:t>Source: </a:t>
            </a:r>
            <a:r>
              <a:rPr sz="1650" i="1" err="1">
                <a:solidFill>
                  <a:srgbClr val="8A94A0"/>
                </a:solidFill>
                <a:latin typeface="Calibri"/>
              </a:rPr>
              <a:t>PlanOptica</a:t>
            </a:r>
            <a:r>
              <a:rPr sz="1650" i="1">
                <a:solidFill>
                  <a:srgbClr val="8A94A0"/>
                </a:solidFill>
                <a:latin typeface="Calibri"/>
              </a:rPr>
              <a:t> health-and-welfare broker table — Form 5500 compensation filed by plan sponsors with DOL/EBSA</a:t>
            </a:r>
            <a:r>
              <a:rPr lang="en-US" sz="1650" i="1">
                <a:solidFill>
                  <a:srgbClr val="8A94A0"/>
                </a:solidFill>
                <a:latin typeface="Calibri"/>
              </a:rPr>
              <a:t>.</a:t>
            </a:r>
          </a:p>
          <a:p>
            <a:r>
              <a:rPr lang="en-US" sz="1650" i="1">
                <a:solidFill>
                  <a:srgbClr val="8A94A0"/>
                </a:solidFill>
                <a:latin typeface="Calibri"/>
              </a:rPr>
              <a:t>Marsh includes both Marsh McLennan Agency and Mercer</a:t>
            </a:r>
          </a:p>
        </p:txBody>
      </p:sp>
      <p:grpSp>
        <p:nvGrpSpPr>
          <p:cNvPr id="59" name="Group 143">
            <a:extLst>
              <a:ext uri="{FF2B5EF4-FFF2-40B4-BE49-F238E27FC236}">
                <a16:creationId xmlns:a16="http://schemas.microsoft.com/office/drawing/2014/main" id="{2BF84C68-5306-3675-2C18-73821CC5A47E}"/>
              </a:ext>
            </a:extLst>
          </p:cNvPr>
          <p:cNvGrpSpPr/>
          <p:nvPr/>
        </p:nvGrpSpPr>
        <p:grpSpPr>
          <a:xfrm>
            <a:off x="754380" y="9168289"/>
            <a:ext cx="16733521" cy="432911"/>
            <a:chOff x="0" y="-28575"/>
            <a:chExt cx="22311361" cy="577215"/>
          </a:xfrm>
        </p:grpSpPr>
        <p:sp>
          <p:nvSpPr>
            <p:cNvPr id="60" name="Freeform 144">
              <a:extLst>
                <a:ext uri="{FF2B5EF4-FFF2-40B4-BE49-F238E27FC236}">
                  <a16:creationId xmlns:a16="http://schemas.microsoft.com/office/drawing/2014/main" id="{54E3C9D8-6900-99AE-AC51-50E24C243241}"/>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61" name="TextBox 145">
              <a:extLst>
                <a:ext uri="{FF2B5EF4-FFF2-40B4-BE49-F238E27FC236}">
                  <a16:creationId xmlns:a16="http://schemas.microsoft.com/office/drawing/2014/main" id="{2408CBEF-1803-B0BB-7C41-A0A7CC9A4095}"/>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62" name="Group 149">
            <a:extLst>
              <a:ext uri="{FF2B5EF4-FFF2-40B4-BE49-F238E27FC236}">
                <a16:creationId xmlns:a16="http://schemas.microsoft.com/office/drawing/2014/main" id="{94321997-E069-7975-6613-879EEAA82ACD}"/>
              </a:ext>
            </a:extLst>
          </p:cNvPr>
          <p:cNvGrpSpPr/>
          <p:nvPr/>
        </p:nvGrpSpPr>
        <p:grpSpPr>
          <a:xfrm>
            <a:off x="754380" y="9648349"/>
            <a:ext cx="16047721" cy="432911"/>
            <a:chOff x="0" y="-28575"/>
            <a:chExt cx="21396961" cy="577215"/>
          </a:xfrm>
        </p:grpSpPr>
        <p:sp>
          <p:nvSpPr>
            <p:cNvPr id="63" name="Freeform 150">
              <a:extLst>
                <a:ext uri="{FF2B5EF4-FFF2-40B4-BE49-F238E27FC236}">
                  <a16:creationId xmlns:a16="http://schemas.microsoft.com/office/drawing/2014/main" id="{705468EB-1D59-D33A-4DEE-E5F05B3AF1B5}"/>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64" name="TextBox 151">
              <a:extLst>
                <a:ext uri="{FF2B5EF4-FFF2-40B4-BE49-F238E27FC236}">
                  <a16:creationId xmlns:a16="http://schemas.microsoft.com/office/drawing/2014/main" id="{E87A29EC-37F2-5323-29F8-9FFF48D11925}"/>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65" name="Group 2">
            <a:extLst>
              <a:ext uri="{FF2B5EF4-FFF2-40B4-BE49-F238E27FC236}">
                <a16:creationId xmlns:a16="http://schemas.microsoft.com/office/drawing/2014/main" id="{2B928571-1776-994B-1B80-F751263B00B7}"/>
              </a:ext>
            </a:extLst>
          </p:cNvPr>
          <p:cNvGrpSpPr/>
          <p:nvPr/>
        </p:nvGrpSpPr>
        <p:grpSpPr>
          <a:xfrm>
            <a:off x="754380" y="417481"/>
            <a:ext cx="11795760" cy="432911"/>
            <a:chOff x="0" y="-28575"/>
            <a:chExt cx="15727680" cy="577215"/>
          </a:xfrm>
        </p:grpSpPr>
        <p:sp>
          <p:nvSpPr>
            <p:cNvPr id="66" name="Freeform 3">
              <a:extLst>
                <a:ext uri="{FF2B5EF4-FFF2-40B4-BE49-F238E27FC236}">
                  <a16:creationId xmlns:a16="http://schemas.microsoft.com/office/drawing/2014/main" id="{63493523-D44B-F8B7-E5A1-FC6EF738FF6B}"/>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67" name="TextBox 4">
              <a:extLst>
                <a:ext uri="{FF2B5EF4-FFF2-40B4-BE49-F238E27FC236}">
                  <a16:creationId xmlns:a16="http://schemas.microsoft.com/office/drawing/2014/main" id="{E0E56E9A-225E-1ABE-741C-5740B81C32E2}"/>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A42  ·  RECOMMENDATION 3</a:t>
              </a:r>
            </a:p>
          </p:txBody>
        </p:sp>
      </p:grpSp>
      <mc:AlternateContent xmlns:mc="http://schemas.openxmlformats.org/markup-compatibility/2006">
        <mc:Choice xmlns:cx4="http://schemas.microsoft.com/office/drawing/2016/5/10/chartex" Requires="cx4">
          <p:graphicFrame>
            <p:nvGraphicFramePr>
              <p:cNvPr id="68" name="Chart 67">
                <a:extLst>
                  <a:ext uri="{FF2B5EF4-FFF2-40B4-BE49-F238E27FC236}">
                    <a16:creationId xmlns:a16="http://schemas.microsoft.com/office/drawing/2014/main" id="{A16406CA-FAA0-2767-F7C2-2E9DE38B08FD}"/>
                  </a:ext>
                </a:extLst>
              </p:cNvPr>
              <p:cNvGraphicFramePr/>
              <p:nvPr>
                <p:extLst>
                  <p:ext uri="{D42A27DB-BD31-4B8C-83A1-F6EECF244321}">
                    <p14:modId xmlns:p14="http://schemas.microsoft.com/office/powerpoint/2010/main" val="1517475991"/>
                  </p:ext>
                </p:extLst>
              </p:nvPr>
            </p:nvGraphicFramePr>
            <p:xfrm>
              <a:off x="420624" y="2084833"/>
              <a:ext cx="8357616" cy="6117334"/>
            </p:xfrm>
            <a:graphic>
              <a:graphicData uri="http://schemas.microsoft.com/office/drawing/2014/chartex">
                <cx:chart xmlns:cx="http://schemas.microsoft.com/office/drawing/2014/chartex" xmlns:r="http://schemas.openxmlformats.org/officeDocument/2006/relationships" r:id="rId5"/>
              </a:graphicData>
            </a:graphic>
          </p:graphicFrame>
        </mc:Choice>
        <mc:Fallback>
          <p:pic>
            <p:nvPicPr>
              <p:cNvPr id="68" name="Chart 67">
                <a:extLst>
                  <a:ext uri="{FF2B5EF4-FFF2-40B4-BE49-F238E27FC236}">
                    <a16:creationId xmlns:a16="http://schemas.microsoft.com/office/drawing/2014/main" id="{A16406CA-FAA0-2767-F7C2-2E9DE38B08FD}"/>
                  </a:ext>
                </a:extLst>
              </p:cNvPr>
              <p:cNvPicPr>
                <a:picLocks noGrp="1" noRot="1" noChangeAspect="1" noMove="1" noResize="1" noEditPoints="1" noAdjustHandles="1" noChangeArrowheads="1" noChangeShapeType="1"/>
              </p:cNvPicPr>
              <p:nvPr/>
            </p:nvPicPr>
            <p:blipFill>
              <a:blip r:embed="rId6"/>
              <a:stretch>
                <a:fillRect/>
              </a:stretch>
            </p:blipFill>
            <p:spPr>
              <a:xfrm>
                <a:off x="420624" y="2084833"/>
                <a:ext cx="8357616" cy="6117334"/>
              </a:xfrm>
              <a:prstGeom prst="rect">
                <a:avLst/>
              </a:prstGeom>
            </p:spPr>
          </p:pic>
        </mc:Fallback>
      </mc:AlternateContent>
      <p:sp>
        <p:nvSpPr>
          <p:cNvPr id="72" name="Rounded Rectangle 26">
            <a:extLst>
              <a:ext uri="{FF2B5EF4-FFF2-40B4-BE49-F238E27FC236}">
                <a16:creationId xmlns:a16="http://schemas.microsoft.com/office/drawing/2014/main" id="{928FC9C1-7D55-012B-C06D-EC8A57B85B97}"/>
              </a:ext>
            </a:extLst>
          </p:cNvPr>
          <p:cNvSpPr/>
          <p:nvPr/>
        </p:nvSpPr>
        <p:spPr>
          <a:xfrm>
            <a:off x="9806940" y="2715768"/>
            <a:ext cx="7722108" cy="5184648"/>
          </a:xfrm>
          <a:prstGeom prst="roundRect">
            <a:avLst>
              <a:gd name="adj" fmla="val 8000"/>
            </a:avLst>
          </a:prstGeom>
          <a:solidFill>
            <a:srgbClr val="F2F6FB"/>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a:extLst>
              <a:ext uri="{FF2B5EF4-FFF2-40B4-BE49-F238E27FC236}">
                <a16:creationId xmlns:a16="http://schemas.microsoft.com/office/drawing/2014/main" id="{17E634C3-8616-1EAD-04DB-7B8510769D6D}"/>
              </a:ext>
            </a:extLst>
          </p:cNvPr>
          <p:cNvSpPr txBox="1"/>
          <p:nvPr/>
        </p:nvSpPr>
        <p:spPr>
          <a:xfrm>
            <a:off x="10081260" y="2935224"/>
            <a:ext cx="7173468" cy="329184"/>
          </a:xfrm>
          <a:prstGeom prst="rect">
            <a:avLst/>
          </a:prstGeom>
          <a:noFill/>
        </p:spPr>
        <p:txBody>
          <a:bodyPr wrap="square" lIns="0" tIns="0" rIns="0" bIns="0" anchor="b"/>
          <a:lstStyle/>
          <a:p>
            <a:r>
              <a:rPr sz="1650" b="1">
                <a:solidFill>
                  <a:srgbClr val="0072CE"/>
                </a:solidFill>
                <a:latin typeface="Calibri"/>
              </a:rPr>
              <a:t>INSIDE THE 44%</a:t>
            </a:r>
          </a:p>
        </p:txBody>
      </p:sp>
      <p:sp>
        <p:nvSpPr>
          <p:cNvPr id="76" name="TextBox 75">
            <a:extLst>
              <a:ext uri="{FF2B5EF4-FFF2-40B4-BE49-F238E27FC236}">
                <a16:creationId xmlns:a16="http://schemas.microsoft.com/office/drawing/2014/main" id="{B44A0B82-C02E-ABE9-8A2B-BB988C862A0E}"/>
              </a:ext>
            </a:extLst>
          </p:cNvPr>
          <p:cNvSpPr txBox="1"/>
          <p:nvPr/>
        </p:nvSpPr>
        <p:spPr>
          <a:xfrm>
            <a:off x="10081260" y="3264408"/>
            <a:ext cx="7173468" cy="301752"/>
          </a:xfrm>
          <a:prstGeom prst="rect">
            <a:avLst/>
          </a:prstGeom>
          <a:noFill/>
        </p:spPr>
        <p:txBody>
          <a:bodyPr wrap="square" lIns="0" tIns="0" rIns="0" bIns="0" anchor="t"/>
          <a:lstStyle/>
          <a:p>
            <a:r>
              <a:rPr>
                <a:solidFill>
                  <a:srgbClr val="5B6672"/>
                </a:solidFill>
                <a:latin typeface="Calibri"/>
              </a:rPr>
              <a:t>Filing-name share, descending</a:t>
            </a:r>
          </a:p>
        </p:txBody>
      </p:sp>
      <p:sp>
        <p:nvSpPr>
          <p:cNvPr id="78" name="TextBox 77">
            <a:extLst>
              <a:ext uri="{FF2B5EF4-FFF2-40B4-BE49-F238E27FC236}">
                <a16:creationId xmlns:a16="http://schemas.microsoft.com/office/drawing/2014/main" id="{09D39133-137A-F2B6-2B94-92D964349987}"/>
              </a:ext>
            </a:extLst>
          </p:cNvPr>
          <p:cNvSpPr txBox="1"/>
          <p:nvPr/>
        </p:nvSpPr>
        <p:spPr>
          <a:xfrm>
            <a:off x="10081260" y="3648457"/>
            <a:ext cx="6185916" cy="340157"/>
          </a:xfrm>
          <a:prstGeom prst="rect">
            <a:avLst/>
          </a:prstGeom>
          <a:noFill/>
        </p:spPr>
        <p:txBody>
          <a:bodyPr wrap="square" lIns="0" tIns="0" rIns="0" bIns="0" anchor="ctr"/>
          <a:lstStyle/>
          <a:p>
            <a:r>
              <a:rPr sz="1950">
                <a:solidFill>
                  <a:srgbClr val="0B1F3A"/>
                </a:solidFill>
                <a:highlight>
                  <a:srgbClr val="FFFF00"/>
                </a:highlight>
                <a:latin typeface="Calibri"/>
              </a:rPr>
              <a:t>Marsh &amp; McLennan Agency</a:t>
            </a:r>
          </a:p>
        </p:txBody>
      </p:sp>
      <p:sp>
        <p:nvSpPr>
          <p:cNvPr id="80" name="TextBox 79">
            <a:extLst>
              <a:ext uri="{FF2B5EF4-FFF2-40B4-BE49-F238E27FC236}">
                <a16:creationId xmlns:a16="http://schemas.microsoft.com/office/drawing/2014/main" id="{BDA3441F-E8D7-289D-1815-EA5F2D16BF3F}"/>
              </a:ext>
            </a:extLst>
          </p:cNvPr>
          <p:cNvSpPr txBox="1"/>
          <p:nvPr/>
        </p:nvSpPr>
        <p:spPr>
          <a:xfrm>
            <a:off x="16267176" y="3648457"/>
            <a:ext cx="987552" cy="340157"/>
          </a:xfrm>
          <a:prstGeom prst="rect">
            <a:avLst/>
          </a:prstGeom>
          <a:noFill/>
        </p:spPr>
        <p:txBody>
          <a:bodyPr wrap="square" lIns="0" tIns="0" rIns="0" bIns="0" anchor="ctr"/>
          <a:lstStyle/>
          <a:p>
            <a:pPr algn="r"/>
            <a:r>
              <a:rPr sz="1950" b="1">
                <a:solidFill>
                  <a:srgbClr val="0B1F3A"/>
                </a:solidFill>
                <a:highlight>
                  <a:srgbClr val="FFFF00"/>
                </a:highlight>
                <a:latin typeface="Calibri"/>
              </a:rPr>
              <a:t>7.1%</a:t>
            </a:r>
          </a:p>
        </p:txBody>
      </p:sp>
      <p:sp>
        <p:nvSpPr>
          <p:cNvPr id="82" name="TextBox 81">
            <a:extLst>
              <a:ext uri="{FF2B5EF4-FFF2-40B4-BE49-F238E27FC236}">
                <a16:creationId xmlns:a16="http://schemas.microsoft.com/office/drawing/2014/main" id="{CC3B301B-62D5-6422-8131-0FFF100180EB}"/>
              </a:ext>
            </a:extLst>
          </p:cNvPr>
          <p:cNvSpPr txBox="1"/>
          <p:nvPr/>
        </p:nvSpPr>
        <p:spPr>
          <a:xfrm>
            <a:off x="10081260" y="3988613"/>
            <a:ext cx="6185916" cy="340157"/>
          </a:xfrm>
          <a:prstGeom prst="rect">
            <a:avLst/>
          </a:prstGeom>
          <a:noFill/>
        </p:spPr>
        <p:txBody>
          <a:bodyPr wrap="square" lIns="0" tIns="0" rIns="0" bIns="0" anchor="ctr"/>
          <a:lstStyle/>
          <a:p>
            <a:r>
              <a:rPr sz="1950">
                <a:solidFill>
                  <a:srgbClr val="0B1F3A"/>
                </a:solidFill>
                <a:latin typeface="Calibri"/>
              </a:rPr>
              <a:t>Gallagher Benefit</a:t>
            </a:r>
          </a:p>
        </p:txBody>
      </p:sp>
      <p:sp>
        <p:nvSpPr>
          <p:cNvPr id="84" name="TextBox 83">
            <a:extLst>
              <a:ext uri="{FF2B5EF4-FFF2-40B4-BE49-F238E27FC236}">
                <a16:creationId xmlns:a16="http://schemas.microsoft.com/office/drawing/2014/main" id="{6C71FCE4-02AC-FF06-E18D-D9E2D2EB3C46}"/>
              </a:ext>
            </a:extLst>
          </p:cNvPr>
          <p:cNvSpPr txBox="1"/>
          <p:nvPr/>
        </p:nvSpPr>
        <p:spPr>
          <a:xfrm>
            <a:off x="16267176" y="3988613"/>
            <a:ext cx="987552" cy="340157"/>
          </a:xfrm>
          <a:prstGeom prst="rect">
            <a:avLst/>
          </a:prstGeom>
          <a:noFill/>
        </p:spPr>
        <p:txBody>
          <a:bodyPr wrap="square" lIns="0" tIns="0" rIns="0" bIns="0" anchor="ctr"/>
          <a:lstStyle/>
          <a:p>
            <a:pPr algn="r"/>
            <a:r>
              <a:rPr sz="1950" b="1">
                <a:solidFill>
                  <a:srgbClr val="0B1F3A"/>
                </a:solidFill>
                <a:latin typeface="Calibri"/>
              </a:rPr>
              <a:t>5.9%</a:t>
            </a:r>
          </a:p>
        </p:txBody>
      </p:sp>
      <p:sp>
        <p:nvSpPr>
          <p:cNvPr id="86" name="TextBox 85">
            <a:extLst>
              <a:ext uri="{FF2B5EF4-FFF2-40B4-BE49-F238E27FC236}">
                <a16:creationId xmlns:a16="http://schemas.microsoft.com/office/drawing/2014/main" id="{D7F84EF3-FD0F-E783-1824-5143CE762D4B}"/>
              </a:ext>
            </a:extLst>
          </p:cNvPr>
          <p:cNvSpPr txBox="1"/>
          <p:nvPr/>
        </p:nvSpPr>
        <p:spPr>
          <a:xfrm>
            <a:off x="10081260" y="4328770"/>
            <a:ext cx="6185916" cy="340157"/>
          </a:xfrm>
          <a:prstGeom prst="rect">
            <a:avLst/>
          </a:prstGeom>
          <a:noFill/>
        </p:spPr>
        <p:txBody>
          <a:bodyPr wrap="square" lIns="0" tIns="0" rIns="0" bIns="0" anchor="ctr"/>
          <a:lstStyle/>
          <a:p>
            <a:r>
              <a:rPr sz="1950">
                <a:solidFill>
                  <a:srgbClr val="0B1F3A"/>
                </a:solidFill>
                <a:latin typeface="Calibri"/>
              </a:rPr>
              <a:t>Lockton</a:t>
            </a:r>
          </a:p>
        </p:txBody>
      </p:sp>
      <p:sp>
        <p:nvSpPr>
          <p:cNvPr id="88" name="TextBox 87">
            <a:extLst>
              <a:ext uri="{FF2B5EF4-FFF2-40B4-BE49-F238E27FC236}">
                <a16:creationId xmlns:a16="http://schemas.microsoft.com/office/drawing/2014/main" id="{ED0EA922-4D51-A78A-C273-4050BC83CC08}"/>
              </a:ext>
            </a:extLst>
          </p:cNvPr>
          <p:cNvSpPr txBox="1"/>
          <p:nvPr/>
        </p:nvSpPr>
        <p:spPr>
          <a:xfrm>
            <a:off x="16267176" y="4328770"/>
            <a:ext cx="987552" cy="340157"/>
          </a:xfrm>
          <a:prstGeom prst="rect">
            <a:avLst/>
          </a:prstGeom>
          <a:noFill/>
        </p:spPr>
        <p:txBody>
          <a:bodyPr wrap="square" lIns="0" tIns="0" rIns="0" bIns="0" anchor="ctr"/>
          <a:lstStyle/>
          <a:p>
            <a:pPr algn="r"/>
            <a:r>
              <a:rPr sz="1950" b="1">
                <a:solidFill>
                  <a:srgbClr val="0B1F3A"/>
                </a:solidFill>
                <a:latin typeface="Calibri"/>
              </a:rPr>
              <a:t>5.8%</a:t>
            </a:r>
          </a:p>
        </p:txBody>
      </p:sp>
      <p:sp>
        <p:nvSpPr>
          <p:cNvPr id="90" name="TextBox 89">
            <a:extLst>
              <a:ext uri="{FF2B5EF4-FFF2-40B4-BE49-F238E27FC236}">
                <a16:creationId xmlns:a16="http://schemas.microsoft.com/office/drawing/2014/main" id="{5B6984B7-7BDB-8280-2CA8-D2B4AE3289FB}"/>
              </a:ext>
            </a:extLst>
          </p:cNvPr>
          <p:cNvSpPr txBox="1"/>
          <p:nvPr/>
        </p:nvSpPr>
        <p:spPr>
          <a:xfrm>
            <a:off x="10081260" y="4668926"/>
            <a:ext cx="6185916" cy="340157"/>
          </a:xfrm>
          <a:prstGeom prst="rect">
            <a:avLst/>
          </a:prstGeom>
          <a:noFill/>
        </p:spPr>
        <p:txBody>
          <a:bodyPr wrap="square" lIns="0" tIns="0" rIns="0" bIns="0" anchor="ctr"/>
          <a:lstStyle/>
          <a:p>
            <a:r>
              <a:rPr sz="1950">
                <a:solidFill>
                  <a:srgbClr val="0B1F3A"/>
                </a:solidFill>
                <a:highlight>
                  <a:srgbClr val="FFFF00"/>
                </a:highlight>
                <a:latin typeface="Calibri"/>
              </a:rPr>
              <a:t>Mercer Health</a:t>
            </a:r>
          </a:p>
        </p:txBody>
      </p:sp>
      <p:sp>
        <p:nvSpPr>
          <p:cNvPr id="92" name="TextBox 91">
            <a:extLst>
              <a:ext uri="{FF2B5EF4-FFF2-40B4-BE49-F238E27FC236}">
                <a16:creationId xmlns:a16="http://schemas.microsoft.com/office/drawing/2014/main" id="{E838480F-D96F-1263-23B7-46F9C44076F1}"/>
              </a:ext>
            </a:extLst>
          </p:cNvPr>
          <p:cNvSpPr txBox="1"/>
          <p:nvPr/>
        </p:nvSpPr>
        <p:spPr>
          <a:xfrm>
            <a:off x="16267176" y="4668926"/>
            <a:ext cx="987552" cy="340157"/>
          </a:xfrm>
          <a:prstGeom prst="rect">
            <a:avLst/>
          </a:prstGeom>
          <a:noFill/>
        </p:spPr>
        <p:txBody>
          <a:bodyPr wrap="square" lIns="0" tIns="0" rIns="0" bIns="0" anchor="ctr"/>
          <a:lstStyle/>
          <a:p>
            <a:pPr algn="r"/>
            <a:r>
              <a:rPr sz="1950" b="1">
                <a:solidFill>
                  <a:srgbClr val="0B1F3A"/>
                </a:solidFill>
                <a:highlight>
                  <a:srgbClr val="FFFF00"/>
                </a:highlight>
                <a:latin typeface="Calibri"/>
              </a:rPr>
              <a:t>5.0%</a:t>
            </a:r>
          </a:p>
        </p:txBody>
      </p:sp>
      <p:sp>
        <p:nvSpPr>
          <p:cNvPr id="94" name="TextBox 93">
            <a:extLst>
              <a:ext uri="{FF2B5EF4-FFF2-40B4-BE49-F238E27FC236}">
                <a16:creationId xmlns:a16="http://schemas.microsoft.com/office/drawing/2014/main" id="{C65B5C31-12D9-60E6-C4D1-06BA125954BF}"/>
              </a:ext>
            </a:extLst>
          </p:cNvPr>
          <p:cNvSpPr txBox="1"/>
          <p:nvPr/>
        </p:nvSpPr>
        <p:spPr>
          <a:xfrm>
            <a:off x="10081260" y="5009083"/>
            <a:ext cx="6185916" cy="340157"/>
          </a:xfrm>
          <a:prstGeom prst="rect">
            <a:avLst/>
          </a:prstGeom>
          <a:noFill/>
        </p:spPr>
        <p:txBody>
          <a:bodyPr wrap="square" lIns="0" tIns="0" rIns="0" bIns="0" anchor="ctr"/>
          <a:lstStyle/>
          <a:p>
            <a:r>
              <a:rPr sz="1950">
                <a:solidFill>
                  <a:srgbClr val="0B1F3A"/>
                </a:solidFill>
                <a:latin typeface="Calibri"/>
              </a:rPr>
              <a:t>USI</a:t>
            </a:r>
          </a:p>
        </p:txBody>
      </p:sp>
      <p:sp>
        <p:nvSpPr>
          <p:cNvPr id="96" name="TextBox 95">
            <a:extLst>
              <a:ext uri="{FF2B5EF4-FFF2-40B4-BE49-F238E27FC236}">
                <a16:creationId xmlns:a16="http://schemas.microsoft.com/office/drawing/2014/main" id="{E23A493A-FBC2-2C88-268B-065423D03395}"/>
              </a:ext>
            </a:extLst>
          </p:cNvPr>
          <p:cNvSpPr txBox="1"/>
          <p:nvPr/>
        </p:nvSpPr>
        <p:spPr>
          <a:xfrm>
            <a:off x="16267176" y="5009083"/>
            <a:ext cx="987552" cy="340157"/>
          </a:xfrm>
          <a:prstGeom prst="rect">
            <a:avLst/>
          </a:prstGeom>
          <a:noFill/>
        </p:spPr>
        <p:txBody>
          <a:bodyPr wrap="square" lIns="0" tIns="0" rIns="0" bIns="0" anchor="ctr"/>
          <a:lstStyle/>
          <a:p>
            <a:pPr algn="r"/>
            <a:r>
              <a:rPr sz="1950" b="1">
                <a:solidFill>
                  <a:srgbClr val="0B1F3A"/>
                </a:solidFill>
                <a:latin typeface="Calibri"/>
              </a:rPr>
              <a:t>4.3%</a:t>
            </a:r>
          </a:p>
        </p:txBody>
      </p:sp>
      <p:sp>
        <p:nvSpPr>
          <p:cNvPr id="98" name="TextBox 97">
            <a:extLst>
              <a:ext uri="{FF2B5EF4-FFF2-40B4-BE49-F238E27FC236}">
                <a16:creationId xmlns:a16="http://schemas.microsoft.com/office/drawing/2014/main" id="{BAF45007-AA7D-3131-DCF7-38A92C0A9715}"/>
              </a:ext>
            </a:extLst>
          </p:cNvPr>
          <p:cNvSpPr txBox="1"/>
          <p:nvPr/>
        </p:nvSpPr>
        <p:spPr>
          <a:xfrm>
            <a:off x="10081260" y="5349239"/>
            <a:ext cx="6185916" cy="340157"/>
          </a:xfrm>
          <a:prstGeom prst="rect">
            <a:avLst/>
          </a:prstGeom>
          <a:noFill/>
        </p:spPr>
        <p:txBody>
          <a:bodyPr wrap="square" lIns="0" tIns="0" rIns="0" bIns="0" anchor="ctr"/>
          <a:lstStyle/>
          <a:p>
            <a:r>
              <a:rPr sz="1950">
                <a:solidFill>
                  <a:srgbClr val="0B1F3A"/>
                </a:solidFill>
                <a:latin typeface="Calibri"/>
              </a:rPr>
              <a:t>WTW US</a:t>
            </a:r>
          </a:p>
        </p:txBody>
      </p:sp>
      <p:sp>
        <p:nvSpPr>
          <p:cNvPr id="100" name="TextBox 99">
            <a:extLst>
              <a:ext uri="{FF2B5EF4-FFF2-40B4-BE49-F238E27FC236}">
                <a16:creationId xmlns:a16="http://schemas.microsoft.com/office/drawing/2014/main" id="{BFFEDD44-ECA0-ADED-73BC-1B763D842CDB}"/>
              </a:ext>
            </a:extLst>
          </p:cNvPr>
          <p:cNvSpPr txBox="1"/>
          <p:nvPr/>
        </p:nvSpPr>
        <p:spPr>
          <a:xfrm>
            <a:off x="16267176" y="5349239"/>
            <a:ext cx="987552" cy="340157"/>
          </a:xfrm>
          <a:prstGeom prst="rect">
            <a:avLst/>
          </a:prstGeom>
          <a:noFill/>
        </p:spPr>
        <p:txBody>
          <a:bodyPr wrap="square" lIns="0" tIns="0" rIns="0" bIns="0" anchor="ctr"/>
          <a:lstStyle/>
          <a:p>
            <a:pPr algn="r"/>
            <a:r>
              <a:rPr sz="1950" b="1">
                <a:solidFill>
                  <a:srgbClr val="0B1F3A"/>
                </a:solidFill>
                <a:latin typeface="Calibri"/>
              </a:rPr>
              <a:t>4.3%</a:t>
            </a:r>
          </a:p>
        </p:txBody>
      </p:sp>
      <p:sp>
        <p:nvSpPr>
          <p:cNvPr id="102" name="TextBox 101">
            <a:extLst>
              <a:ext uri="{FF2B5EF4-FFF2-40B4-BE49-F238E27FC236}">
                <a16:creationId xmlns:a16="http://schemas.microsoft.com/office/drawing/2014/main" id="{F52CCD97-1FB2-E7FF-2CE8-C834D40D0423}"/>
              </a:ext>
            </a:extLst>
          </p:cNvPr>
          <p:cNvSpPr txBox="1"/>
          <p:nvPr/>
        </p:nvSpPr>
        <p:spPr>
          <a:xfrm>
            <a:off x="10081260" y="5689396"/>
            <a:ext cx="6185916" cy="340157"/>
          </a:xfrm>
          <a:prstGeom prst="rect">
            <a:avLst/>
          </a:prstGeom>
          <a:noFill/>
        </p:spPr>
        <p:txBody>
          <a:bodyPr wrap="square" lIns="0" tIns="0" rIns="0" bIns="0" anchor="ctr"/>
          <a:lstStyle/>
          <a:p>
            <a:r>
              <a:rPr sz="1950">
                <a:solidFill>
                  <a:srgbClr val="0B1F3A"/>
                </a:solidFill>
                <a:latin typeface="Calibri"/>
              </a:rPr>
              <a:t>Hub Midwest</a:t>
            </a:r>
          </a:p>
        </p:txBody>
      </p:sp>
      <p:sp>
        <p:nvSpPr>
          <p:cNvPr id="104" name="TextBox 103">
            <a:extLst>
              <a:ext uri="{FF2B5EF4-FFF2-40B4-BE49-F238E27FC236}">
                <a16:creationId xmlns:a16="http://schemas.microsoft.com/office/drawing/2014/main" id="{7C3E7705-208D-AA78-23B4-8DC94E84D8FC}"/>
              </a:ext>
            </a:extLst>
          </p:cNvPr>
          <p:cNvSpPr txBox="1"/>
          <p:nvPr/>
        </p:nvSpPr>
        <p:spPr>
          <a:xfrm>
            <a:off x="16267176" y="5689396"/>
            <a:ext cx="987552" cy="340157"/>
          </a:xfrm>
          <a:prstGeom prst="rect">
            <a:avLst/>
          </a:prstGeom>
          <a:noFill/>
        </p:spPr>
        <p:txBody>
          <a:bodyPr wrap="square" lIns="0" tIns="0" rIns="0" bIns="0" anchor="ctr"/>
          <a:lstStyle/>
          <a:p>
            <a:pPr algn="r"/>
            <a:r>
              <a:rPr sz="1950" b="1">
                <a:solidFill>
                  <a:srgbClr val="0B1F3A"/>
                </a:solidFill>
                <a:latin typeface="Calibri"/>
              </a:rPr>
              <a:t>4.1%</a:t>
            </a:r>
          </a:p>
        </p:txBody>
      </p:sp>
      <p:sp>
        <p:nvSpPr>
          <p:cNvPr id="106" name="TextBox 105">
            <a:extLst>
              <a:ext uri="{FF2B5EF4-FFF2-40B4-BE49-F238E27FC236}">
                <a16:creationId xmlns:a16="http://schemas.microsoft.com/office/drawing/2014/main" id="{CC84541F-BAE8-84E0-28F8-ADB85D7E50EE}"/>
              </a:ext>
            </a:extLst>
          </p:cNvPr>
          <p:cNvSpPr txBox="1"/>
          <p:nvPr/>
        </p:nvSpPr>
        <p:spPr>
          <a:xfrm>
            <a:off x="10081260" y="6029552"/>
            <a:ext cx="6185916" cy="340157"/>
          </a:xfrm>
          <a:prstGeom prst="rect">
            <a:avLst/>
          </a:prstGeom>
          <a:noFill/>
        </p:spPr>
        <p:txBody>
          <a:bodyPr wrap="square" lIns="0" tIns="0" rIns="0" bIns="0" anchor="ctr"/>
          <a:lstStyle/>
          <a:p>
            <a:r>
              <a:rPr sz="1950">
                <a:solidFill>
                  <a:srgbClr val="0B1F3A"/>
                </a:solidFill>
                <a:latin typeface="Calibri"/>
              </a:rPr>
              <a:t>Aon Consulting</a:t>
            </a:r>
          </a:p>
        </p:txBody>
      </p:sp>
      <p:sp>
        <p:nvSpPr>
          <p:cNvPr id="108" name="TextBox 107">
            <a:extLst>
              <a:ext uri="{FF2B5EF4-FFF2-40B4-BE49-F238E27FC236}">
                <a16:creationId xmlns:a16="http://schemas.microsoft.com/office/drawing/2014/main" id="{D15B085A-33D9-84B1-6BA7-7AF6A5161EF9}"/>
              </a:ext>
            </a:extLst>
          </p:cNvPr>
          <p:cNvSpPr txBox="1"/>
          <p:nvPr/>
        </p:nvSpPr>
        <p:spPr>
          <a:xfrm>
            <a:off x="16267176" y="6029552"/>
            <a:ext cx="987552" cy="340157"/>
          </a:xfrm>
          <a:prstGeom prst="rect">
            <a:avLst/>
          </a:prstGeom>
          <a:noFill/>
        </p:spPr>
        <p:txBody>
          <a:bodyPr wrap="square" lIns="0" tIns="0" rIns="0" bIns="0" anchor="ctr"/>
          <a:lstStyle/>
          <a:p>
            <a:pPr algn="r"/>
            <a:r>
              <a:rPr sz="1950" b="1">
                <a:solidFill>
                  <a:srgbClr val="0B1F3A"/>
                </a:solidFill>
                <a:latin typeface="Calibri"/>
              </a:rPr>
              <a:t>2.8%</a:t>
            </a:r>
          </a:p>
        </p:txBody>
      </p:sp>
      <p:sp>
        <p:nvSpPr>
          <p:cNvPr id="110" name="TextBox 109">
            <a:extLst>
              <a:ext uri="{FF2B5EF4-FFF2-40B4-BE49-F238E27FC236}">
                <a16:creationId xmlns:a16="http://schemas.microsoft.com/office/drawing/2014/main" id="{DE9F6291-71BC-672F-59C2-0E41227F507D}"/>
              </a:ext>
            </a:extLst>
          </p:cNvPr>
          <p:cNvSpPr txBox="1"/>
          <p:nvPr/>
        </p:nvSpPr>
        <p:spPr>
          <a:xfrm>
            <a:off x="10081260" y="6369709"/>
            <a:ext cx="6185916" cy="340157"/>
          </a:xfrm>
          <a:prstGeom prst="rect">
            <a:avLst/>
          </a:prstGeom>
          <a:noFill/>
        </p:spPr>
        <p:txBody>
          <a:bodyPr wrap="square" lIns="0" tIns="0" rIns="0" bIns="0" anchor="ctr"/>
          <a:lstStyle/>
          <a:p>
            <a:r>
              <a:rPr sz="1950">
                <a:solidFill>
                  <a:srgbClr val="0B1F3A"/>
                </a:solidFill>
                <a:latin typeface="Calibri"/>
              </a:rPr>
              <a:t>Alliant</a:t>
            </a:r>
          </a:p>
        </p:txBody>
      </p:sp>
      <p:sp>
        <p:nvSpPr>
          <p:cNvPr id="112" name="TextBox 111">
            <a:extLst>
              <a:ext uri="{FF2B5EF4-FFF2-40B4-BE49-F238E27FC236}">
                <a16:creationId xmlns:a16="http://schemas.microsoft.com/office/drawing/2014/main" id="{F33FF530-C454-6BF3-201D-F778F1A95B09}"/>
              </a:ext>
            </a:extLst>
          </p:cNvPr>
          <p:cNvSpPr txBox="1"/>
          <p:nvPr/>
        </p:nvSpPr>
        <p:spPr>
          <a:xfrm>
            <a:off x="16267176" y="6369709"/>
            <a:ext cx="987552" cy="340157"/>
          </a:xfrm>
          <a:prstGeom prst="rect">
            <a:avLst/>
          </a:prstGeom>
          <a:noFill/>
        </p:spPr>
        <p:txBody>
          <a:bodyPr wrap="square" lIns="0" tIns="0" rIns="0" bIns="0" anchor="ctr"/>
          <a:lstStyle/>
          <a:p>
            <a:pPr algn="r"/>
            <a:r>
              <a:rPr sz="1950" b="1">
                <a:solidFill>
                  <a:srgbClr val="0B1F3A"/>
                </a:solidFill>
                <a:latin typeface="Calibri"/>
              </a:rPr>
              <a:t>2.5%</a:t>
            </a:r>
          </a:p>
        </p:txBody>
      </p:sp>
      <p:sp>
        <p:nvSpPr>
          <p:cNvPr id="114" name="TextBox 113">
            <a:extLst>
              <a:ext uri="{FF2B5EF4-FFF2-40B4-BE49-F238E27FC236}">
                <a16:creationId xmlns:a16="http://schemas.microsoft.com/office/drawing/2014/main" id="{9682E642-936C-344F-2921-1DF51FE749BD}"/>
              </a:ext>
            </a:extLst>
          </p:cNvPr>
          <p:cNvSpPr txBox="1"/>
          <p:nvPr/>
        </p:nvSpPr>
        <p:spPr>
          <a:xfrm>
            <a:off x="10081260" y="6709865"/>
            <a:ext cx="6185916" cy="340157"/>
          </a:xfrm>
          <a:prstGeom prst="rect">
            <a:avLst/>
          </a:prstGeom>
          <a:noFill/>
        </p:spPr>
        <p:txBody>
          <a:bodyPr wrap="square" lIns="0" tIns="0" rIns="0" bIns="0" anchor="ctr"/>
          <a:lstStyle/>
          <a:p>
            <a:r>
              <a:rPr sz="1950">
                <a:solidFill>
                  <a:srgbClr val="0B1F3A"/>
                </a:solidFill>
                <a:latin typeface="Calibri"/>
              </a:rPr>
              <a:t>Brown &amp; Brown</a:t>
            </a:r>
          </a:p>
        </p:txBody>
      </p:sp>
      <p:sp>
        <p:nvSpPr>
          <p:cNvPr id="116" name="TextBox 115">
            <a:extLst>
              <a:ext uri="{FF2B5EF4-FFF2-40B4-BE49-F238E27FC236}">
                <a16:creationId xmlns:a16="http://schemas.microsoft.com/office/drawing/2014/main" id="{0DBC1E16-B562-1A57-17D1-9F94B3A52A9C}"/>
              </a:ext>
            </a:extLst>
          </p:cNvPr>
          <p:cNvSpPr txBox="1"/>
          <p:nvPr/>
        </p:nvSpPr>
        <p:spPr>
          <a:xfrm>
            <a:off x="16267176" y="6709865"/>
            <a:ext cx="987552" cy="340157"/>
          </a:xfrm>
          <a:prstGeom prst="rect">
            <a:avLst/>
          </a:prstGeom>
          <a:noFill/>
        </p:spPr>
        <p:txBody>
          <a:bodyPr wrap="square" lIns="0" tIns="0" rIns="0" bIns="0" anchor="ctr"/>
          <a:lstStyle/>
          <a:p>
            <a:pPr algn="r"/>
            <a:r>
              <a:rPr sz="1950" b="1">
                <a:solidFill>
                  <a:srgbClr val="0B1F3A"/>
                </a:solidFill>
                <a:latin typeface="Calibri"/>
              </a:rPr>
              <a:t>2.2%</a:t>
            </a:r>
          </a:p>
        </p:txBody>
      </p:sp>
      <p:sp>
        <p:nvSpPr>
          <p:cNvPr id="118" name="Rectangle 117">
            <a:extLst>
              <a:ext uri="{FF2B5EF4-FFF2-40B4-BE49-F238E27FC236}">
                <a16:creationId xmlns:a16="http://schemas.microsoft.com/office/drawing/2014/main" id="{A8BA274D-49B9-E9A0-A48C-B7384AFA15B4}"/>
              </a:ext>
            </a:extLst>
          </p:cNvPr>
          <p:cNvSpPr/>
          <p:nvPr/>
        </p:nvSpPr>
        <p:spPr>
          <a:xfrm>
            <a:off x="10081260" y="7132318"/>
            <a:ext cx="7173468" cy="16460"/>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0" name="TextBox 119">
            <a:extLst>
              <a:ext uri="{FF2B5EF4-FFF2-40B4-BE49-F238E27FC236}">
                <a16:creationId xmlns:a16="http://schemas.microsoft.com/office/drawing/2014/main" id="{29E2D66B-A26C-4449-80A0-892D2F8B03B0}"/>
              </a:ext>
            </a:extLst>
          </p:cNvPr>
          <p:cNvSpPr txBox="1"/>
          <p:nvPr/>
        </p:nvSpPr>
        <p:spPr>
          <a:xfrm>
            <a:off x="10081260" y="7214613"/>
            <a:ext cx="6185916" cy="384048"/>
          </a:xfrm>
          <a:prstGeom prst="rect">
            <a:avLst/>
          </a:prstGeom>
          <a:noFill/>
        </p:spPr>
        <p:txBody>
          <a:bodyPr wrap="square" lIns="0" tIns="0" rIns="0" bIns="0" anchor="ctr"/>
          <a:lstStyle/>
          <a:p>
            <a:r>
              <a:rPr sz="1950" b="1">
                <a:solidFill>
                  <a:srgbClr val="0B1F3A"/>
                </a:solidFill>
                <a:latin typeface="Calibri"/>
              </a:rPr>
              <a:t>Ten filing names</a:t>
            </a:r>
          </a:p>
        </p:txBody>
      </p:sp>
      <p:sp>
        <p:nvSpPr>
          <p:cNvPr id="122" name="TextBox 121">
            <a:extLst>
              <a:ext uri="{FF2B5EF4-FFF2-40B4-BE49-F238E27FC236}">
                <a16:creationId xmlns:a16="http://schemas.microsoft.com/office/drawing/2014/main" id="{AD1CFED6-DD3D-0FE8-AAD7-768331F8E09E}"/>
              </a:ext>
            </a:extLst>
          </p:cNvPr>
          <p:cNvSpPr txBox="1"/>
          <p:nvPr/>
        </p:nvSpPr>
        <p:spPr>
          <a:xfrm>
            <a:off x="16267176" y="7214613"/>
            <a:ext cx="987552" cy="384048"/>
          </a:xfrm>
          <a:prstGeom prst="rect">
            <a:avLst/>
          </a:prstGeom>
          <a:noFill/>
        </p:spPr>
        <p:txBody>
          <a:bodyPr wrap="square" lIns="0" tIns="0" rIns="0" bIns="0" anchor="ctr"/>
          <a:lstStyle/>
          <a:p>
            <a:pPr algn="r"/>
            <a:r>
              <a:rPr sz="1950" b="1">
                <a:solidFill>
                  <a:srgbClr val="0072CE"/>
                </a:solidFill>
                <a:latin typeface="Calibri"/>
              </a:rPr>
              <a:t>44.0%</a:t>
            </a:r>
          </a:p>
        </p:txBody>
      </p:sp>
      <p:sp>
        <p:nvSpPr>
          <p:cNvPr id="124" name="TextBox 123">
            <a:extLst>
              <a:ext uri="{FF2B5EF4-FFF2-40B4-BE49-F238E27FC236}">
                <a16:creationId xmlns:a16="http://schemas.microsoft.com/office/drawing/2014/main" id="{060D5954-59EA-3231-9289-3F78143B6915}"/>
              </a:ext>
            </a:extLst>
          </p:cNvPr>
          <p:cNvSpPr txBox="1"/>
          <p:nvPr/>
        </p:nvSpPr>
        <p:spPr>
          <a:xfrm>
            <a:off x="906780" y="1002792"/>
            <a:ext cx="12469855" cy="1069848"/>
          </a:xfrm>
          <a:prstGeom prst="rect">
            <a:avLst/>
          </a:prstGeom>
          <a:noFill/>
        </p:spPr>
        <p:txBody>
          <a:bodyPr wrap="square" lIns="0" tIns="0" rIns="0" bIns="0" anchor="t"/>
          <a:lstStyle/>
          <a:p>
            <a:r>
              <a:rPr sz="3300" b="1">
                <a:solidFill>
                  <a:srgbClr val="0B1F3A"/>
                </a:solidFill>
                <a:latin typeface="Calibri"/>
              </a:rPr>
              <a:t>The top 10 EH&amp;B filing names hold </a:t>
            </a:r>
            <a:r>
              <a:rPr sz="3300" b="1">
                <a:solidFill>
                  <a:srgbClr val="0072CE"/>
                </a:solidFill>
                <a:latin typeface="Calibri"/>
              </a:rPr>
              <a:t>44%</a:t>
            </a:r>
            <a:r>
              <a:rPr sz="3300" b="1">
                <a:solidFill>
                  <a:srgbClr val="0B1F3A"/>
                </a:solidFill>
                <a:latin typeface="Calibri"/>
              </a:rPr>
              <a:t> of Form 5500 compensation;</a:t>
            </a:r>
          </a:p>
          <a:p>
            <a:r>
              <a:rPr sz="3300" b="1">
                <a:solidFill>
                  <a:srgbClr val="0B1F3A"/>
                </a:solidFill>
                <a:latin typeface="Calibri"/>
              </a:rPr>
              <a:t>a 43,119-name tail holds the rest.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50392"/>
            <a:ext cx="16733520" cy="1508760"/>
          </a:xfrm>
          <a:prstGeom prst="rect">
            <a:avLst/>
          </a:prstGeom>
          <a:noFill/>
        </p:spPr>
        <p:txBody>
          <a:bodyPr wrap="square" lIns="0" tIns="0" rIns="0" bIns="0" anchor="t"/>
          <a:lstStyle/>
          <a:p>
            <a:r>
              <a:rPr sz="3300" b="1">
                <a:solidFill>
                  <a:schemeClr val="tx2"/>
                </a:solidFill>
                <a:latin typeface="Calibri"/>
              </a:rPr>
              <a:t>Brokers moved EH&amp;B from a cost to manage</a:t>
            </a:r>
            <a:r>
              <a:rPr lang="en-US" sz="3300" b="1">
                <a:solidFill>
                  <a:schemeClr val="tx2"/>
                </a:solidFill>
                <a:latin typeface="Calibri"/>
              </a:rPr>
              <a:t> </a:t>
            </a:r>
          </a:p>
          <a:p>
            <a:r>
              <a:rPr lang="en-US" sz="3300" b="1">
                <a:solidFill>
                  <a:schemeClr val="tx2"/>
                </a:solidFill>
                <a:latin typeface="Calibri"/>
              </a:rPr>
              <a:t>into an investment in whether employees can perform</a:t>
            </a:r>
          </a:p>
        </p:txBody>
      </p:sp>
      <p:sp>
        <p:nvSpPr>
          <p:cNvPr id="7" name="TextBox 6"/>
          <p:cNvSpPr txBox="1"/>
          <p:nvPr/>
        </p:nvSpPr>
        <p:spPr>
          <a:xfrm>
            <a:off x="754380" y="3518154"/>
            <a:ext cx="3998214" cy="685800"/>
          </a:xfrm>
          <a:prstGeom prst="rect">
            <a:avLst/>
          </a:prstGeom>
          <a:noFill/>
        </p:spPr>
        <p:txBody>
          <a:bodyPr wrap="square" lIns="0" tIns="0" rIns="0" bIns="0" anchor="b"/>
          <a:lstStyle/>
          <a:p>
            <a:pPr algn="ctr">
              <a:lnSpc>
                <a:spcPts val="2700"/>
              </a:lnSpc>
            </a:pPr>
            <a:r>
              <a:rPr sz="2100" b="1">
                <a:solidFill>
                  <a:srgbClr val="0B1F3A"/>
                </a:solidFill>
                <a:latin typeface="Calibri"/>
              </a:rPr>
              <a:t>Late 1990s–early 2000s</a:t>
            </a:r>
          </a:p>
        </p:txBody>
      </p:sp>
      <p:sp>
        <p:nvSpPr>
          <p:cNvPr id="8" name="Rounded Rectangle 7"/>
          <p:cNvSpPr/>
          <p:nvPr/>
        </p:nvSpPr>
        <p:spPr>
          <a:xfrm>
            <a:off x="754380" y="4642866"/>
            <a:ext cx="3998214" cy="2839212"/>
          </a:xfrm>
          <a:prstGeom prst="roundRect">
            <a:avLst>
              <a:gd name="adj" fmla="val 8000"/>
            </a:avLst>
          </a:prstGeom>
          <a:solidFill>
            <a:srgbClr val="F2F6FB"/>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973836" y="4862322"/>
            <a:ext cx="3559302" cy="2400300"/>
          </a:xfrm>
          <a:prstGeom prst="rect">
            <a:avLst/>
          </a:prstGeom>
          <a:noFill/>
        </p:spPr>
        <p:txBody>
          <a:bodyPr wrap="square" lIns="0" tIns="0" rIns="0" bIns="0" anchor="t"/>
          <a:lstStyle/>
          <a:p>
            <a:pPr>
              <a:lnSpc>
                <a:spcPts val="2700"/>
              </a:lnSpc>
            </a:pPr>
            <a:r>
              <a:rPr sz="2100">
                <a:solidFill>
                  <a:srgbClr val="5B6672"/>
                </a:solidFill>
                <a:latin typeface="Calibri"/>
              </a:rPr>
              <a:t>Advisers connected employee health to absenteeism, disability costs, and lost productivit</a:t>
            </a:r>
            <a:r>
              <a:rPr lang="en-US" sz="2100">
                <a:solidFill>
                  <a:srgbClr val="5B6672"/>
                </a:solidFill>
                <a:latin typeface="Calibri"/>
              </a:rPr>
              <a:t>y rather than only insurance</a:t>
            </a:r>
            <a:r>
              <a:rPr sz="2100">
                <a:solidFill>
                  <a:srgbClr val="5B6672"/>
                </a:solidFill>
                <a:latin typeface="Calibri"/>
              </a:rPr>
              <a:t> spend.</a:t>
            </a:r>
          </a:p>
        </p:txBody>
      </p:sp>
      <p:sp>
        <p:nvSpPr>
          <p:cNvPr id="10" name="TextBox 9"/>
          <p:cNvSpPr txBox="1"/>
          <p:nvPr/>
        </p:nvSpPr>
        <p:spPr>
          <a:xfrm>
            <a:off x="4999482" y="3518154"/>
            <a:ext cx="3998214" cy="685800"/>
          </a:xfrm>
          <a:prstGeom prst="rect">
            <a:avLst/>
          </a:prstGeom>
          <a:noFill/>
        </p:spPr>
        <p:txBody>
          <a:bodyPr wrap="square" lIns="0" tIns="0" rIns="0" bIns="0" anchor="b"/>
          <a:lstStyle/>
          <a:p>
            <a:pPr algn="ctr">
              <a:lnSpc>
                <a:spcPts val="2700"/>
              </a:lnSpc>
            </a:pPr>
            <a:r>
              <a:rPr sz="2100" b="1">
                <a:solidFill>
                  <a:srgbClr val="0B1F3A"/>
                </a:solidFill>
                <a:latin typeface="Calibri"/>
              </a:rPr>
              <a:t>Mid-to-late 2000s</a:t>
            </a:r>
          </a:p>
        </p:txBody>
      </p:sp>
      <p:sp>
        <p:nvSpPr>
          <p:cNvPr id="11" name="Rounded Rectangle 10"/>
          <p:cNvSpPr/>
          <p:nvPr/>
        </p:nvSpPr>
        <p:spPr>
          <a:xfrm>
            <a:off x="4999482" y="4642866"/>
            <a:ext cx="3998214" cy="2839212"/>
          </a:xfrm>
          <a:prstGeom prst="roundRect">
            <a:avLst>
              <a:gd name="adj" fmla="val 8000"/>
            </a:avLst>
          </a:prstGeom>
          <a:solidFill>
            <a:srgbClr val="F2F6FB"/>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5218938" y="4862322"/>
            <a:ext cx="3559302" cy="2400300"/>
          </a:xfrm>
          <a:prstGeom prst="rect">
            <a:avLst/>
          </a:prstGeom>
          <a:noFill/>
        </p:spPr>
        <p:txBody>
          <a:bodyPr wrap="square" lIns="0" tIns="0" rIns="0" bIns="0" anchor="t"/>
          <a:lstStyle/>
          <a:p>
            <a:pPr>
              <a:lnSpc>
                <a:spcPts val="2700"/>
              </a:lnSpc>
            </a:pPr>
            <a:r>
              <a:rPr sz="2100">
                <a:solidFill>
                  <a:srgbClr val="5B6672"/>
                </a:solidFill>
                <a:latin typeface="Calibri"/>
              </a:rPr>
              <a:t>Wellness, disease management, and health-data analytics treated benefits as an investment in workforce performance.</a:t>
            </a:r>
          </a:p>
        </p:txBody>
      </p:sp>
      <p:sp>
        <p:nvSpPr>
          <p:cNvPr id="13" name="TextBox 12"/>
          <p:cNvSpPr txBox="1"/>
          <p:nvPr/>
        </p:nvSpPr>
        <p:spPr>
          <a:xfrm>
            <a:off x="9244584" y="3518154"/>
            <a:ext cx="3998214" cy="685800"/>
          </a:xfrm>
          <a:prstGeom prst="rect">
            <a:avLst/>
          </a:prstGeom>
          <a:noFill/>
        </p:spPr>
        <p:txBody>
          <a:bodyPr wrap="square" lIns="0" tIns="0" rIns="0" bIns="0" anchor="b"/>
          <a:lstStyle/>
          <a:p>
            <a:pPr algn="ctr">
              <a:lnSpc>
                <a:spcPts val="2700"/>
              </a:lnSpc>
            </a:pPr>
            <a:r>
              <a:rPr sz="2100" b="1">
                <a:solidFill>
                  <a:srgbClr val="0B1F3A"/>
                </a:solidFill>
                <a:latin typeface="Calibri"/>
              </a:rPr>
              <a:t>2010s</a:t>
            </a:r>
          </a:p>
        </p:txBody>
      </p:sp>
      <p:sp>
        <p:nvSpPr>
          <p:cNvPr id="14" name="Rounded Rectangle 13"/>
          <p:cNvSpPr/>
          <p:nvPr/>
        </p:nvSpPr>
        <p:spPr>
          <a:xfrm>
            <a:off x="9244584" y="4642866"/>
            <a:ext cx="3998214" cy="2839212"/>
          </a:xfrm>
          <a:prstGeom prst="roundRect">
            <a:avLst>
              <a:gd name="adj" fmla="val 8000"/>
            </a:avLst>
          </a:prstGeom>
          <a:solidFill>
            <a:srgbClr val="F2F6FB"/>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9464040" y="4862322"/>
            <a:ext cx="3559302" cy="2400300"/>
          </a:xfrm>
          <a:prstGeom prst="rect">
            <a:avLst/>
          </a:prstGeom>
          <a:noFill/>
        </p:spPr>
        <p:txBody>
          <a:bodyPr wrap="square" lIns="0" tIns="0" rIns="0" bIns="0" anchor="t"/>
          <a:lstStyle/>
          <a:p>
            <a:pPr>
              <a:lnSpc>
                <a:spcPts val="2700"/>
              </a:lnSpc>
            </a:pPr>
            <a:r>
              <a:rPr sz="2100">
                <a:solidFill>
                  <a:srgbClr val="5B6672"/>
                </a:solidFill>
                <a:latin typeface="Calibri"/>
              </a:rPr>
              <a:t>Major brokerages positioned EH&amp;B around engagement, retention, and organizational performance. The buyer moved from benefits procurement toward HR, finance, and executives.</a:t>
            </a:r>
          </a:p>
        </p:txBody>
      </p:sp>
      <p:sp>
        <p:nvSpPr>
          <p:cNvPr id="16" name="TextBox 15"/>
          <p:cNvSpPr txBox="1"/>
          <p:nvPr/>
        </p:nvSpPr>
        <p:spPr>
          <a:xfrm>
            <a:off x="13489686" y="3518154"/>
            <a:ext cx="3998214" cy="685800"/>
          </a:xfrm>
          <a:prstGeom prst="rect">
            <a:avLst/>
          </a:prstGeom>
          <a:noFill/>
        </p:spPr>
        <p:txBody>
          <a:bodyPr wrap="square" lIns="0" tIns="0" rIns="0" bIns="0" anchor="b"/>
          <a:lstStyle/>
          <a:p>
            <a:pPr algn="ctr">
              <a:lnSpc>
                <a:spcPts val="2700"/>
              </a:lnSpc>
            </a:pPr>
            <a:r>
              <a:rPr sz="2100" b="1">
                <a:solidFill>
                  <a:srgbClr val="0B1F3A"/>
                </a:solidFill>
                <a:latin typeface="Calibri"/>
              </a:rPr>
              <a:t>2020 onward</a:t>
            </a:r>
          </a:p>
        </p:txBody>
      </p:sp>
      <p:sp>
        <p:nvSpPr>
          <p:cNvPr id="17" name="Rounded Rectangle 16"/>
          <p:cNvSpPr/>
          <p:nvPr/>
        </p:nvSpPr>
        <p:spPr>
          <a:xfrm>
            <a:off x="13489686" y="4642866"/>
            <a:ext cx="3998214" cy="2839212"/>
          </a:xfrm>
          <a:prstGeom prst="roundRect">
            <a:avLst>
              <a:gd name="adj" fmla="val 8000"/>
            </a:avLst>
          </a:prstGeom>
          <a:solidFill>
            <a:srgbClr val="F2F6FB"/>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3709142" y="4862322"/>
            <a:ext cx="3559302" cy="2400300"/>
          </a:xfrm>
          <a:prstGeom prst="rect">
            <a:avLst/>
          </a:prstGeom>
          <a:noFill/>
        </p:spPr>
        <p:txBody>
          <a:bodyPr wrap="square" lIns="0" tIns="0" rIns="0" bIns="0" anchor="t"/>
          <a:lstStyle/>
          <a:p>
            <a:pPr>
              <a:lnSpc>
                <a:spcPts val="2700"/>
              </a:lnSpc>
            </a:pPr>
            <a:r>
              <a:rPr sz="2100">
                <a:solidFill>
                  <a:srgbClr val="5B6672"/>
                </a:solidFill>
                <a:latin typeface="Calibri"/>
              </a:rPr>
              <a:t>COVID accelerated mental health, workforce resilience, and benefits as a strategic tool.</a:t>
            </a:r>
          </a:p>
        </p:txBody>
      </p:sp>
      <p:sp>
        <p:nvSpPr>
          <p:cNvPr id="19" name="Rectangle 18"/>
          <p:cNvSpPr/>
          <p:nvPr/>
        </p:nvSpPr>
        <p:spPr>
          <a:xfrm>
            <a:off x="2630043" y="4320540"/>
            <a:ext cx="12982194" cy="4114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Oval 19"/>
          <p:cNvSpPr/>
          <p:nvPr/>
        </p:nvSpPr>
        <p:spPr>
          <a:xfrm>
            <a:off x="2630043" y="4217670"/>
            <a:ext cx="246888" cy="246888"/>
          </a:xfrm>
          <a:prstGeom prst="ellipse">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6875145" y="4217670"/>
            <a:ext cx="246888" cy="246888"/>
          </a:xfrm>
          <a:prstGeom prst="ellipse">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Oval 21"/>
          <p:cNvSpPr/>
          <p:nvPr/>
        </p:nvSpPr>
        <p:spPr>
          <a:xfrm>
            <a:off x="11120247" y="4217670"/>
            <a:ext cx="246888" cy="246888"/>
          </a:xfrm>
          <a:prstGeom prst="ellipse">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Oval 22"/>
          <p:cNvSpPr/>
          <p:nvPr/>
        </p:nvSpPr>
        <p:spPr>
          <a:xfrm>
            <a:off x="15365349" y="4217670"/>
            <a:ext cx="246888" cy="246888"/>
          </a:xfrm>
          <a:prstGeom prst="ellipse">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grpSp>
        <p:nvGrpSpPr>
          <p:cNvPr id="24" name="Group 143">
            <a:extLst>
              <a:ext uri="{FF2B5EF4-FFF2-40B4-BE49-F238E27FC236}">
                <a16:creationId xmlns:a16="http://schemas.microsoft.com/office/drawing/2014/main" id="{FCCE14CA-0621-B457-9488-826B826C1798}"/>
              </a:ext>
            </a:extLst>
          </p:cNvPr>
          <p:cNvGrpSpPr/>
          <p:nvPr/>
        </p:nvGrpSpPr>
        <p:grpSpPr>
          <a:xfrm>
            <a:off x="754380" y="9168289"/>
            <a:ext cx="16733521" cy="432911"/>
            <a:chOff x="0" y="-28575"/>
            <a:chExt cx="22311361" cy="577215"/>
          </a:xfrm>
        </p:grpSpPr>
        <p:sp>
          <p:nvSpPr>
            <p:cNvPr id="25" name="Freeform 144">
              <a:extLst>
                <a:ext uri="{FF2B5EF4-FFF2-40B4-BE49-F238E27FC236}">
                  <a16:creationId xmlns:a16="http://schemas.microsoft.com/office/drawing/2014/main" id="{DCA72871-578A-5706-C7F2-E3B2EC7FC1FE}"/>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6" name="TextBox 145">
              <a:extLst>
                <a:ext uri="{FF2B5EF4-FFF2-40B4-BE49-F238E27FC236}">
                  <a16:creationId xmlns:a16="http://schemas.microsoft.com/office/drawing/2014/main" id="{374B7887-906E-F3C4-BB16-31197E6DEA24}"/>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27" name="Group 149">
            <a:extLst>
              <a:ext uri="{FF2B5EF4-FFF2-40B4-BE49-F238E27FC236}">
                <a16:creationId xmlns:a16="http://schemas.microsoft.com/office/drawing/2014/main" id="{66C76EAB-87DB-3958-AFA9-E54C34C063B0}"/>
              </a:ext>
            </a:extLst>
          </p:cNvPr>
          <p:cNvGrpSpPr/>
          <p:nvPr/>
        </p:nvGrpSpPr>
        <p:grpSpPr>
          <a:xfrm>
            <a:off x="754380" y="9648349"/>
            <a:ext cx="16047721" cy="432911"/>
            <a:chOff x="0" y="-28575"/>
            <a:chExt cx="21396961" cy="577215"/>
          </a:xfrm>
        </p:grpSpPr>
        <p:sp>
          <p:nvSpPr>
            <p:cNvPr id="28" name="Freeform 150">
              <a:extLst>
                <a:ext uri="{FF2B5EF4-FFF2-40B4-BE49-F238E27FC236}">
                  <a16:creationId xmlns:a16="http://schemas.microsoft.com/office/drawing/2014/main" id="{F9BDB593-235A-6204-647A-57B558DDF4A5}"/>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29" name="TextBox 151">
              <a:extLst>
                <a:ext uri="{FF2B5EF4-FFF2-40B4-BE49-F238E27FC236}">
                  <a16:creationId xmlns:a16="http://schemas.microsoft.com/office/drawing/2014/main" id="{21F4B86F-B6DF-2929-63B2-FD22067A578E}"/>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30" name="Group 2">
            <a:extLst>
              <a:ext uri="{FF2B5EF4-FFF2-40B4-BE49-F238E27FC236}">
                <a16:creationId xmlns:a16="http://schemas.microsoft.com/office/drawing/2014/main" id="{63F233E5-7666-0E49-FF08-CBAE5410BA63}"/>
              </a:ext>
            </a:extLst>
          </p:cNvPr>
          <p:cNvGrpSpPr/>
          <p:nvPr/>
        </p:nvGrpSpPr>
        <p:grpSpPr>
          <a:xfrm>
            <a:off x="754380" y="417481"/>
            <a:ext cx="11795760" cy="432911"/>
            <a:chOff x="0" y="-28575"/>
            <a:chExt cx="15727680" cy="577215"/>
          </a:xfrm>
        </p:grpSpPr>
        <p:sp>
          <p:nvSpPr>
            <p:cNvPr id="31" name="Freeform 3">
              <a:extLst>
                <a:ext uri="{FF2B5EF4-FFF2-40B4-BE49-F238E27FC236}">
                  <a16:creationId xmlns:a16="http://schemas.microsoft.com/office/drawing/2014/main" id="{7BB29DA0-B4C6-18A0-BBB7-171B4D9D5A03}"/>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32" name="TextBox 4">
              <a:extLst>
                <a:ext uri="{FF2B5EF4-FFF2-40B4-BE49-F238E27FC236}">
                  <a16:creationId xmlns:a16="http://schemas.microsoft.com/office/drawing/2014/main" id="{3A078F41-D72D-CA2D-E820-DB5CD1B5BC84}"/>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A43  ·  RECOMMENDATION 3</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871823"/>
            <a:ext cx="16733520" cy="1508760"/>
          </a:xfrm>
          <a:prstGeom prst="rect">
            <a:avLst/>
          </a:prstGeom>
          <a:noFill/>
        </p:spPr>
        <p:txBody>
          <a:bodyPr wrap="square" lIns="0" tIns="0" rIns="0" bIns="0" anchor="t"/>
          <a:lstStyle/>
          <a:p>
            <a:r>
              <a:rPr sz="3300" b="1">
                <a:solidFill>
                  <a:schemeClr val="tx2"/>
                </a:solidFill>
                <a:latin typeface="Calibri"/>
              </a:rPr>
              <a:t>Buyers stay for a price they can see for years;</a:t>
            </a:r>
          </a:p>
          <a:p>
            <a:r>
              <a:rPr sz="3300" b="1">
                <a:solidFill>
                  <a:schemeClr val="tx2"/>
                </a:solidFill>
                <a:latin typeface="Calibri"/>
              </a:rPr>
              <a:t>Spectrum’s quality story loses to </a:t>
            </a:r>
            <a:r>
              <a:rPr lang="en-US" sz="3300" b="1">
                <a:solidFill>
                  <a:schemeClr val="tx2"/>
                </a:solidFill>
                <a:latin typeface="Calibri"/>
              </a:rPr>
              <a:t>price</a:t>
            </a:r>
            <a:r>
              <a:rPr sz="3300" b="1">
                <a:solidFill>
                  <a:schemeClr val="tx2"/>
                </a:solidFill>
                <a:latin typeface="Calibri"/>
              </a:rPr>
              <a:t> jump</a:t>
            </a:r>
            <a:r>
              <a:rPr lang="en-US" sz="3300" b="1">
                <a:solidFill>
                  <a:schemeClr val="tx2"/>
                </a:solidFill>
                <a:latin typeface="Calibri"/>
              </a:rPr>
              <a:t>s</a:t>
            </a:r>
            <a:r>
              <a:rPr sz="3300" b="1">
                <a:solidFill>
                  <a:schemeClr val="tx2"/>
                </a:solidFill>
                <a:latin typeface="Calibri"/>
              </a:rPr>
              <a:t> after month 12</a:t>
            </a:r>
          </a:p>
        </p:txBody>
      </p:sp>
      <p:sp>
        <p:nvSpPr>
          <p:cNvPr id="4" name="TextBox 3"/>
          <p:cNvSpPr txBox="1"/>
          <p:nvPr/>
        </p:nvSpPr>
        <p:spPr>
          <a:xfrm>
            <a:off x="754380" y="8928402"/>
            <a:ext cx="16733520" cy="411480"/>
          </a:xfrm>
          <a:prstGeom prst="rect">
            <a:avLst/>
          </a:prstGeom>
          <a:noFill/>
        </p:spPr>
        <p:txBody>
          <a:bodyPr wrap="square" lIns="0" tIns="0" rIns="0" bIns="0" anchor="t"/>
          <a:lstStyle/>
          <a:p>
            <a:r>
              <a:rPr sz="1500">
                <a:solidFill>
                  <a:srgbClr val="8A94A0"/>
                </a:solidFill>
                <a:latin typeface="Calibri"/>
              </a:rPr>
              <a:t>Source: Informal interviews with third-party salespeople, 2026 — not a filing or a survey.</a:t>
            </a:r>
          </a:p>
        </p:txBody>
      </p:sp>
      <p:sp>
        <p:nvSpPr>
          <p:cNvPr id="7" name="TextBox 6"/>
          <p:cNvSpPr txBox="1"/>
          <p:nvPr/>
        </p:nvSpPr>
        <p:spPr>
          <a:xfrm>
            <a:off x="754380" y="2106263"/>
            <a:ext cx="3909060" cy="438912"/>
          </a:xfrm>
          <a:prstGeom prst="rect">
            <a:avLst/>
          </a:prstGeom>
          <a:noFill/>
        </p:spPr>
        <p:txBody>
          <a:bodyPr wrap="square" lIns="0" tIns="0" rIns="0" bIns="0" anchor="t"/>
          <a:lstStyle/>
          <a:p>
            <a:pPr>
              <a:lnSpc>
                <a:spcPts val="2400"/>
              </a:lnSpc>
            </a:pPr>
            <a:r>
              <a:rPr sz="1950" b="1">
                <a:solidFill>
                  <a:srgbClr val="0B1F3A"/>
                </a:solidFill>
                <a:latin typeface="Calibri"/>
              </a:rPr>
              <a:t>Xfinity’s offer</a:t>
            </a:r>
          </a:p>
        </p:txBody>
      </p:sp>
      <p:sp>
        <p:nvSpPr>
          <p:cNvPr id="8" name="TextBox 7"/>
          <p:cNvSpPr txBox="1"/>
          <p:nvPr/>
        </p:nvSpPr>
        <p:spPr>
          <a:xfrm>
            <a:off x="4937760" y="2106263"/>
            <a:ext cx="12550140" cy="438912"/>
          </a:xfrm>
          <a:prstGeom prst="rect">
            <a:avLst/>
          </a:prstGeom>
          <a:noFill/>
        </p:spPr>
        <p:txBody>
          <a:bodyPr wrap="square" lIns="0" tIns="0" rIns="0" bIns="0" anchor="t"/>
          <a:lstStyle/>
          <a:p>
            <a:pPr>
              <a:lnSpc>
                <a:spcPts val="2700"/>
              </a:lnSpc>
            </a:pPr>
            <a:r>
              <a:rPr sz="2100">
                <a:solidFill>
                  <a:srgbClr val="5B6672"/>
                </a:solidFill>
                <a:latin typeface="Calibri"/>
              </a:rPr>
              <a:t>Xfinity offers a </a:t>
            </a:r>
            <a:r>
              <a:rPr sz="2100" b="1">
                <a:solidFill>
                  <a:srgbClr val="0072CE"/>
                </a:solidFill>
                <a:latin typeface="Calibri"/>
              </a:rPr>
              <a:t>5-year price lock, unlimited for that period.</a:t>
            </a:r>
          </a:p>
        </p:txBody>
      </p:sp>
      <p:sp>
        <p:nvSpPr>
          <p:cNvPr id="9" name="Rectangle 8"/>
          <p:cNvSpPr/>
          <p:nvPr/>
        </p:nvSpPr>
        <p:spPr>
          <a:xfrm>
            <a:off x="754380" y="273377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754380" y="2922365"/>
            <a:ext cx="3909060" cy="1028700"/>
          </a:xfrm>
          <a:prstGeom prst="rect">
            <a:avLst/>
          </a:prstGeom>
          <a:noFill/>
        </p:spPr>
        <p:txBody>
          <a:bodyPr wrap="square" lIns="0" tIns="0" rIns="0" bIns="0" anchor="t"/>
          <a:lstStyle/>
          <a:p>
            <a:pPr>
              <a:lnSpc>
                <a:spcPts val="2400"/>
              </a:lnSpc>
            </a:pPr>
            <a:r>
              <a:rPr sz="1950" b="1">
                <a:solidFill>
                  <a:srgbClr val="0B1F3A"/>
                </a:solidFill>
                <a:latin typeface="Calibri"/>
              </a:rPr>
              <a:t>Quality vs. the jump</a:t>
            </a:r>
          </a:p>
        </p:txBody>
      </p:sp>
      <p:sp>
        <p:nvSpPr>
          <p:cNvPr id="11" name="TextBox 10"/>
          <p:cNvSpPr txBox="1"/>
          <p:nvPr/>
        </p:nvSpPr>
        <p:spPr>
          <a:xfrm>
            <a:off x="4937760" y="2922365"/>
            <a:ext cx="12550140" cy="1028700"/>
          </a:xfrm>
          <a:prstGeom prst="rect">
            <a:avLst/>
          </a:prstGeom>
          <a:noFill/>
        </p:spPr>
        <p:txBody>
          <a:bodyPr wrap="square" lIns="0" tIns="0" rIns="0" bIns="0" anchor="t"/>
          <a:lstStyle/>
          <a:p>
            <a:pPr>
              <a:lnSpc>
                <a:spcPts val="2700"/>
              </a:lnSpc>
            </a:pPr>
            <a:r>
              <a:rPr sz="2100">
                <a:solidFill>
                  <a:srgbClr val="5B6672"/>
                </a:solidFill>
                <a:latin typeface="Calibri"/>
              </a:rPr>
              <a:t>Buyers the interviewee talks to believe Spectrum’s service quality is better than Xfinity. Spectrum has fewer usage fees and mostly unlimited data. </a:t>
            </a:r>
            <a:r>
              <a:rPr sz="2100" b="1">
                <a:solidFill>
                  <a:srgbClr val="0072CE"/>
                </a:solidFill>
                <a:latin typeface="Calibri"/>
              </a:rPr>
              <a:t>Little reason to stay past 12 months, because the price jumps.</a:t>
            </a:r>
          </a:p>
        </p:txBody>
      </p:sp>
      <p:sp>
        <p:nvSpPr>
          <p:cNvPr id="12" name="Rectangle 11"/>
          <p:cNvSpPr/>
          <p:nvPr/>
        </p:nvSpPr>
        <p:spPr>
          <a:xfrm>
            <a:off x="754380" y="413966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754380" y="4328255"/>
            <a:ext cx="3909060" cy="685800"/>
          </a:xfrm>
          <a:prstGeom prst="rect">
            <a:avLst/>
          </a:prstGeom>
          <a:noFill/>
        </p:spPr>
        <p:txBody>
          <a:bodyPr wrap="square" lIns="0" tIns="0" rIns="0" bIns="0" anchor="t"/>
          <a:lstStyle/>
          <a:p>
            <a:pPr>
              <a:lnSpc>
                <a:spcPts val="2400"/>
              </a:lnSpc>
            </a:pPr>
            <a:r>
              <a:rPr sz="1950" b="1">
                <a:solidFill>
                  <a:srgbClr val="0B1F3A"/>
                </a:solidFill>
                <a:latin typeface="Calibri"/>
              </a:rPr>
              <a:t>Price sensitivity</a:t>
            </a:r>
          </a:p>
        </p:txBody>
      </p:sp>
      <p:sp>
        <p:nvSpPr>
          <p:cNvPr id="14" name="TextBox 13"/>
          <p:cNvSpPr txBox="1"/>
          <p:nvPr/>
        </p:nvSpPr>
        <p:spPr>
          <a:xfrm>
            <a:off x="4937760" y="4328255"/>
            <a:ext cx="12550140" cy="685800"/>
          </a:xfrm>
          <a:prstGeom prst="rect">
            <a:avLst/>
          </a:prstGeom>
          <a:noFill/>
        </p:spPr>
        <p:txBody>
          <a:bodyPr wrap="square" lIns="0" tIns="0" rIns="0" bIns="0" anchor="t"/>
          <a:lstStyle/>
          <a:p>
            <a:pPr>
              <a:lnSpc>
                <a:spcPts val="2700"/>
              </a:lnSpc>
            </a:pPr>
            <a:r>
              <a:rPr sz="2100">
                <a:solidFill>
                  <a:srgbClr val="5B6672"/>
                </a:solidFill>
                <a:latin typeface="Calibri"/>
              </a:rPr>
              <a:t>Buyers are extremely price sensitive and also want reliability. Charter’s weakness in this account is price raises, which give Xfinity five years to raise the cost of switching.</a:t>
            </a:r>
          </a:p>
        </p:txBody>
      </p:sp>
      <p:sp>
        <p:nvSpPr>
          <p:cNvPr id="15" name="Rectangle 14"/>
          <p:cNvSpPr/>
          <p:nvPr/>
        </p:nvSpPr>
        <p:spPr>
          <a:xfrm>
            <a:off x="754380" y="520265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754380" y="5391245"/>
            <a:ext cx="3909060" cy="685800"/>
          </a:xfrm>
          <a:prstGeom prst="rect">
            <a:avLst/>
          </a:prstGeom>
          <a:noFill/>
        </p:spPr>
        <p:txBody>
          <a:bodyPr wrap="square" lIns="0" tIns="0" rIns="0" bIns="0" anchor="t"/>
          <a:lstStyle/>
          <a:p>
            <a:pPr>
              <a:lnSpc>
                <a:spcPts val="2400"/>
              </a:lnSpc>
            </a:pPr>
            <a:r>
              <a:rPr sz="1950" b="1">
                <a:solidFill>
                  <a:srgbClr val="0B1F3A"/>
                </a:solidFill>
                <a:latin typeface="Calibri"/>
              </a:rPr>
              <a:t>What buyers ask for</a:t>
            </a:r>
          </a:p>
        </p:txBody>
      </p:sp>
      <p:sp>
        <p:nvSpPr>
          <p:cNvPr id="17" name="TextBox 16"/>
          <p:cNvSpPr txBox="1"/>
          <p:nvPr/>
        </p:nvSpPr>
        <p:spPr>
          <a:xfrm>
            <a:off x="4937760" y="5391245"/>
            <a:ext cx="12550140" cy="685800"/>
          </a:xfrm>
          <a:prstGeom prst="rect">
            <a:avLst/>
          </a:prstGeom>
          <a:noFill/>
        </p:spPr>
        <p:txBody>
          <a:bodyPr wrap="square" lIns="0" tIns="0" rIns="0" bIns="0" anchor="t"/>
          <a:lstStyle/>
          <a:p>
            <a:pPr>
              <a:lnSpc>
                <a:spcPts val="2700"/>
              </a:lnSpc>
            </a:pPr>
            <a:r>
              <a:rPr sz="2100">
                <a:solidFill>
                  <a:srgbClr val="5B6672"/>
                </a:solidFill>
                <a:latin typeface="Calibri"/>
              </a:rPr>
              <a:t>Longer price guarantees, fewer jumps off the promo price, a clearer monthly cost, and lower switching costs — transparency that holds up over time.</a:t>
            </a:r>
          </a:p>
        </p:txBody>
      </p:sp>
      <p:sp>
        <p:nvSpPr>
          <p:cNvPr id="18" name="Rectangle 17"/>
          <p:cNvSpPr/>
          <p:nvPr/>
        </p:nvSpPr>
        <p:spPr>
          <a:xfrm>
            <a:off x="754380" y="626564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754380" y="6454235"/>
            <a:ext cx="3909060" cy="685800"/>
          </a:xfrm>
          <a:prstGeom prst="rect">
            <a:avLst/>
          </a:prstGeom>
          <a:noFill/>
        </p:spPr>
        <p:txBody>
          <a:bodyPr wrap="square" lIns="0" tIns="0" rIns="0" bIns="0" anchor="t"/>
          <a:lstStyle/>
          <a:p>
            <a:pPr>
              <a:lnSpc>
                <a:spcPts val="2400"/>
              </a:lnSpc>
            </a:pPr>
            <a:r>
              <a:rPr sz="1950" b="1">
                <a:solidFill>
                  <a:srgbClr val="0B1F3A"/>
                </a:solidFill>
                <a:latin typeface="Calibri"/>
              </a:rPr>
              <a:t>Fiber is rare</a:t>
            </a:r>
          </a:p>
        </p:txBody>
      </p:sp>
      <p:sp>
        <p:nvSpPr>
          <p:cNvPr id="20" name="TextBox 19"/>
          <p:cNvSpPr txBox="1"/>
          <p:nvPr/>
        </p:nvSpPr>
        <p:spPr>
          <a:xfrm>
            <a:off x="4937760" y="6454235"/>
            <a:ext cx="12550140" cy="685800"/>
          </a:xfrm>
          <a:prstGeom prst="rect">
            <a:avLst/>
          </a:prstGeom>
          <a:noFill/>
        </p:spPr>
        <p:txBody>
          <a:bodyPr wrap="square" lIns="0" tIns="0" rIns="0" bIns="0" anchor="t"/>
          <a:lstStyle/>
          <a:p>
            <a:pPr>
              <a:lnSpc>
                <a:spcPts val="2700"/>
              </a:lnSpc>
            </a:pPr>
            <a:r>
              <a:rPr sz="2100">
                <a:solidFill>
                  <a:srgbClr val="5B6672"/>
                </a:solidFill>
                <a:latin typeface="Calibri"/>
              </a:rPr>
              <a:t>Xfinity fiber is rare and scattered. Non-fiber service, as the salesperson explains it, is shared with the next-door neighbor, which slows the line at busy hours.</a:t>
            </a:r>
          </a:p>
        </p:txBody>
      </p:sp>
      <p:sp>
        <p:nvSpPr>
          <p:cNvPr id="21" name="Rectangle 20"/>
          <p:cNvSpPr/>
          <p:nvPr/>
        </p:nvSpPr>
        <p:spPr>
          <a:xfrm>
            <a:off x="754380" y="732863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754380" y="7517225"/>
            <a:ext cx="3909060" cy="685800"/>
          </a:xfrm>
          <a:prstGeom prst="rect">
            <a:avLst/>
          </a:prstGeom>
          <a:noFill/>
        </p:spPr>
        <p:txBody>
          <a:bodyPr wrap="square" lIns="0" tIns="0" rIns="0" bIns="0" anchor="t"/>
          <a:lstStyle/>
          <a:p>
            <a:pPr>
              <a:lnSpc>
                <a:spcPts val="2400"/>
              </a:lnSpc>
            </a:pPr>
            <a:r>
              <a:rPr sz="1950" b="1">
                <a:solidFill>
                  <a:srgbClr val="0B1F3A"/>
                </a:solidFill>
                <a:latin typeface="Calibri"/>
              </a:rPr>
              <a:t>Servicing the client</a:t>
            </a:r>
          </a:p>
        </p:txBody>
      </p:sp>
      <p:sp>
        <p:nvSpPr>
          <p:cNvPr id="23" name="TextBox 22"/>
          <p:cNvSpPr txBox="1"/>
          <p:nvPr/>
        </p:nvSpPr>
        <p:spPr>
          <a:xfrm>
            <a:off x="4937760" y="7517225"/>
            <a:ext cx="12550140" cy="685800"/>
          </a:xfrm>
          <a:prstGeom prst="rect">
            <a:avLst/>
          </a:prstGeom>
          <a:noFill/>
        </p:spPr>
        <p:txBody>
          <a:bodyPr wrap="square" lIns="0" tIns="0" rIns="0" bIns="0" anchor="t"/>
          <a:lstStyle/>
          <a:p>
            <a:pPr>
              <a:lnSpc>
                <a:spcPts val="2700"/>
              </a:lnSpc>
            </a:pPr>
            <a:r>
              <a:rPr sz="2100">
                <a:solidFill>
                  <a:srgbClr val="5B6672"/>
                </a:solidFill>
                <a:latin typeface="Calibri"/>
              </a:rPr>
              <a:t>Spectrum wins by being able to service the client. Rural quality falls off more than urban quality because maintenance lags, so wildlife, storms, and corrosion hit harder.</a:t>
            </a:r>
          </a:p>
        </p:txBody>
      </p:sp>
      <p:sp>
        <p:nvSpPr>
          <p:cNvPr id="24" name="Rectangle 23"/>
          <p:cNvSpPr/>
          <p:nvPr/>
        </p:nvSpPr>
        <p:spPr>
          <a:xfrm>
            <a:off x="754380" y="8391620"/>
            <a:ext cx="1673352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TextBox 24"/>
          <p:cNvSpPr txBox="1"/>
          <p:nvPr/>
        </p:nvSpPr>
        <p:spPr>
          <a:xfrm>
            <a:off x="754380" y="8580215"/>
            <a:ext cx="3909060" cy="438912"/>
          </a:xfrm>
          <a:prstGeom prst="rect">
            <a:avLst/>
          </a:prstGeom>
          <a:noFill/>
        </p:spPr>
        <p:txBody>
          <a:bodyPr wrap="square" lIns="0" tIns="0" rIns="0" bIns="0" anchor="t"/>
          <a:lstStyle/>
          <a:p>
            <a:pPr>
              <a:lnSpc>
                <a:spcPts val="2400"/>
              </a:lnSpc>
            </a:pPr>
            <a:r>
              <a:rPr sz="1950" b="1">
                <a:solidFill>
                  <a:srgbClr val="0B1F3A"/>
                </a:solidFill>
                <a:latin typeface="Calibri"/>
              </a:rPr>
              <a:t>East Coast · interviewee’s claim</a:t>
            </a:r>
          </a:p>
        </p:txBody>
      </p:sp>
      <p:sp>
        <p:nvSpPr>
          <p:cNvPr id="26" name="TextBox 25"/>
          <p:cNvSpPr txBox="1"/>
          <p:nvPr/>
        </p:nvSpPr>
        <p:spPr>
          <a:xfrm>
            <a:off x="4937760" y="8580215"/>
            <a:ext cx="12550140" cy="438912"/>
          </a:xfrm>
          <a:prstGeom prst="rect">
            <a:avLst/>
          </a:prstGeom>
          <a:noFill/>
        </p:spPr>
        <p:txBody>
          <a:bodyPr wrap="square" lIns="0" tIns="0" rIns="0" bIns="0" anchor="t"/>
          <a:lstStyle/>
          <a:p>
            <a:pPr>
              <a:lnSpc>
                <a:spcPts val="2700"/>
              </a:lnSpc>
            </a:pPr>
            <a:r>
              <a:rPr sz="2100">
                <a:solidFill>
                  <a:srgbClr val="5B6672"/>
                </a:solidFill>
                <a:latin typeface="Calibri"/>
              </a:rPr>
              <a:t>Xfinity’s HOA and government deals helped Xfinity’s East Coast position.</a:t>
            </a:r>
          </a:p>
        </p:txBody>
      </p:sp>
      <p:grpSp>
        <p:nvGrpSpPr>
          <p:cNvPr id="27" name="Group 143">
            <a:extLst>
              <a:ext uri="{FF2B5EF4-FFF2-40B4-BE49-F238E27FC236}">
                <a16:creationId xmlns:a16="http://schemas.microsoft.com/office/drawing/2014/main" id="{AD13F9E8-39FD-9D08-30DE-E0CB32057777}"/>
              </a:ext>
            </a:extLst>
          </p:cNvPr>
          <p:cNvGrpSpPr/>
          <p:nvPr/>
        </p:nvGrpSpPr>
        <p:grpSpPr>
          <a:xfrm>
            <a:off x="754380" y="9168289"/>
            <a:ext cx="16733521" cy="432911"/>
            <a:chOff x="0" y="-28575"/>
            <a:chExt cx="22311361" cy="577215"/>
          </a:xfrm>
        </p:grpSpPr>
        <p:sp>
          <p:nvSpPr>
            <p:cNvPr id="28" name="Freeform 144">
              <a:extLst>
                <a:ext uri="{FF2B5EF4-FFF2-40B4-BE49-F238E27FC236}">
                  <a16:creationId xmlns:a16="http://schemas.microsoft.com/office/drawing/2014/main" id="{0EB831C9-9C08-B808-AE7F-CFBDEA7A4784}"/>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9" name="TextBox 145">
              <a:extLst>
                <a:ext uri="{FF2B5EF4-FFF2-40B4-BE49-F238E27FC236}">
                  <a16:creationId xmlns:a16="http://schemas.microsoft.com/office/drawing/2014/main" id="{EBA38C2C-2C7B-16EC-52C4-05A66AF4F97A}"/>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30" name="Group 149">
            <a:extLst>
              <a:ext uri="{FF2B5EF4-FFF2-40B4-BE49-F238E27FC236}">
                <a16:creationId xmlns:a16="http://schemas.microsoft.com/office/drawing/2014/main" id="{B5D68930-83F3-983B-261A-1D34C4E2C477}"/>
              </a:ext>
            </a:extLst>
          </p:cNvPr>
          <p:cNvGrpSpPr/>
          <p:nvPr/>
        </p:nvGrpSpPr>
        <p:grpSpPr>
          <a:xfrm>
            <a:off x="754380" y="9648349"/>
            <a:ext cx="16047721" cy="432911"/>
            <a:chOff x="0" y="-28575"/>
            <a:chExt cx="21396961" cy="577215"/>
          </a:xfrm>
        </p:grpSpPr>
        <p:sp>
          <p:nvSpPr>
            <p:cNvPr id="31" name="Freeform 150">
              <a:extLst>
                <a:ext uri="{FF2B5EF4-FFF2-40B4-BE49-F238E27FC236}">
                  <a16:creationId xmlns:a16="http://schemas.microsoft.com/office/drawing/2014/main" id="{8D3EE56B-108A-A070-54A5-CC86242FBE60}"/>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32" name="TextBox 151">
              <a:extLst>
                <a:ext uri="{FF2B5EF4-FFF2-40B4-BE49-F238E27FC236}">
                  <a16:creationId xmlns:a16="http://schemas.microsoft.com/office/drawing/2014/main" id="{C598766D-8672-D480-2D42-0891A6E47205}"/>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33" name="Group 2">
            <a:extLst>
              <a:ext uri="{FF2B5EF4-FFF2-40B4-BE49-F238E27FC236}">
                <a16:creationId xmlns:a16="http://schemas.microsoft.com/office/drawing/2014/main" id="{010E7C15-A992-47B0-CBE5-F659661F31B8}"/>
              </a:ext>
            </a:extLst>
          </p:cNvPr>
          <p:cNvGrpSpPr/>
          <p:nvPr/>
        </p:nvGrpSpPr>
        <p:grpSpPr>
          <a:xfrm>
            <a:off x="754380" y="417481"/>
            <a:ext cx="11795760" cy="432911"/>
            <a:chOff x="0" y="-28575"/>
            <a:chExt cx="15727680" cy="577215"/>
          </a:xfrm>
        </p:grpSpPr>
        <p:sp>
          <p:nvSpPr>
            <p:cNvPr id="34" name="Freeform 3">
              <a:extLst>
                <a:ext uri="{FF2B5EF4-FFF2-40B4-BE49-F238E27FC236}">
                  <a16:creationId xmlns:a16="http://schemas.microsoft.com/office/drawing/2014/main" id="{A0859335-878E-A649-D2E0-D73050DCC300}"/>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35" name="TextBox 4">
              <a:extLst>
                <a:ext uri="{FF2B5EF4-FFF2-40B4-BE49-F238E27FC236}">
                  <a16:creationId xmlns:a16="http://schemas.microsoft.com/office/drawing/2014/main" id="{4BDDC4AA-C143-8F1D-45BD-A37C2553FC7C}"/>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A44  ·  RECOMMENDATION 3</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6072" y="871822"/>
            <a:ext cx="17076420" cy="938689"/>
          </a:xfrm>
          <a:prstGeom prst="rect">
            <a:avLst/>
          </a:prstGeom>
          <a:noFill/>
        </p:spPr>
        <p:txBody>
          <a:bodyPr wrap="square" lIns="0" tIns="0" rIns="0" bIns="0" anchor="t"/>
          <a:lstStyle/>
          <a:p>
            <a:r>
              <a:rPr sz="2700" b="1">
                <a:solidFill>
                  <a:schemeClr val="tx2"/>
                </a:solidFill>
                <a:latin typeface="Calibri"/>
                <a:ea typeface="Calibri"/>
                <a:cs typeface="Calibri"/>
              </a:rPr>
              <a:t>Outside the banks, Fool writers split between waiting out the broadband miss and buying the cash flow</a:t>
            </a:r>
          </a:p>
          <a:p>
            <a:r>
              <a:rPr sz="2700" b="1">
                <a:solidFill>
                  <a:schemeClr val="tx2"/>
                </a:solidFill>
                <a:latin typeface="Calibri"/>
                <a:ea typeface="Calibri"/>
                <a:cs typeface="Calibri"/>
              </a:rPr>
              <a:t>Simply Wall St recycles cheap stock versus leverage</a:t>
            </a:r>
          </a:p>
        </p:txBody>
      </p:sp>
      <p:sp>
        <p:nvSpPr>
          <p:cNvPr id="4" name="Rectangle 3"/>
          <p:cNvSpPr/>
          <p:nvPr/>
        </p:nvSpPr>
        <p:spPr>
          <a:xfrm>
            <a:off x="576072" y="1810512"/>
            <a:ext cx="8449056" cy="6281928"/>
          </a:xfrm>
          <a:prstGeom prst="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ectangle 4"/>
          <p:cNvSpPr/>
          <p:nvPr/>
        </p:nvSpPr>
        <p:spPr>
          <a:xfrm>
            <a:off x="9244584" y="1810512"/>
            <a:ext cx="8449056" cy="6281928"/>
          </a:xfrm>
          <a:prstGeom prst="rect">
            <a:avLst/>
          </a:prstGeom>
          <a:solidFill>
            <a:srgbClr val="F4F7FA"/>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Rectangle 5"/>
          <p:cNvSpPr/>
          <p:nvPr/>
        </p:nvSpPr>
        <p:spPr>
          <a:xfrm>
            <a:off x="576072" y="1810512"/>
            <a:ext cx="96012" cy="628192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877824" y="2029968"/>
            <a:ext cx="7845552" cy="905256"/>
          </a:xfrm>
          <a:prstGeom prst="rect">
            <a:avLst/>
          </a:prstGeom>
          <a:noFill/>
        </p:spPr>
        <p:txBody>
          <a:bodyPr wrap="square" lIns="0" tIns="0" rIns="0" bIns="0" anchor="t"/>
          <a:lstStyle/>
          <a:p>
            <a:r>
              <a:rPr sz="2400" b="1">
                <a:solidFill>
                  <a:srgbClr val="0B1F3A"/>
                </a:solidFill>
                <a:latin typeface="Calibri"/>
                <a:ea typeface="Calibri"/>
                <a:cs typeface="Calibri"/>
              </a:rPr>
              <a:t>Motley Fool</a:t>
            </a:r>
          </a:p>
          <a:p>
            <a:r>
              <a:rPr sz="1650">
                <a:solidFill>
                  <a:srgbClr val="5B6672"/>
                </a:solidFill>
                <a:latin typeface="Calibri"/>
                <a:ea typeface="Calibri"/>
                <a:cs typeface="Calibri"/>
              </a:rPr>
              <a:t>Its own shop. These writers are not a covering desk. A Fool-hosted earnings transcript is Charter’s call, not a Fool view.</a:t>
            </a:r>
          </a:p>
        </p:txBody>
      </p:sp>
      <p:sp>
        <p:nvSpPr>
          <p:cNvPr id="8" name="TextBox 7"/>
          <p:cNvSpPr txBox="1"/>
          <p:nvPr/>
        </p:nvSpPr>
        <p:spPr>
          <a:xfrm>
            <a:off x="9546336" y="2029968"/>
            <a:ext cx="7845552" cy="905256"/>
          </a:xfrm>
          <a:prstGeom prst="rect">
            <a:avLst/>
          </a:prstGeom>
          <a:noFill/>
        </p:spPr>
        <p:txBody>
          <a:bodyPr wrap="square" lIns="0" tIns="0" rIns="0" bIns="0" anchor="t"/>
          <a:lstStyle/>
          <a:p>
            <a:r>
              <a:rPr sz="2400" b="1">
                <a:solidFill>
                  <a:srgbClr val="0B1F3A"/>
                </a:solidFill>
                <a:latin typeface="Calibri"/>
                <a:ea typeface="Calibri"/>
                <a:cs typeface="Calibri"/>
              </a:rPr>
              <a:t>Simply Wall St</a:t>
            </a:r>
          </a:p>
          <a:p>
            <a:r>
              <a:rPr sz="1650">
                <a:solidFill>
                  <a:srgbClr val="5B6672"/>
                </a:solidFill>
                <a:latin typeface="Calibri"/>
                <a:ea typeface="Calibri"/>
                <a:cs typeface="Calibri"/>
              </a:rPr>
              <a:t>Aggregator recap of media and consensus. Not original research and not a covering desk.</a:t>
            </a:r>
          </a:p>
        </p:txBody>
      </p:sp>
      <p:sp>
        <p:nvSpPr>
          <p:cNvPr id="9" name="TextBox 8"/>
          <p:cNvSpPr txBox="1"/>
          <p:nvPr/>
        </p:nvSpPr>
        <p:spPr>
          <a:xfrm>
            <a:off x="877824" y="3182112"/>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Keith Noonan</a:t>
            </a:r>
            <a:r>
              <a:rPr>
                <a:solidFill>
                  <a:srgbClr val="8A94A0"/>
                </a:solidFill>
                <a:latin typeface="Calibri"/>
                <a:ea typeface="Calibri"/>
                <a:cs typeface="Calibri"/>
              </a:rPr>
              <a:t>   24 Apr 2026   ·   </a:t>
            </a:r>
            <a:r>
              <a:rPr b="1">
                <a:solidFill>
                  <a:srgbClr val="0072CE"/>
                </a:solidFill>
                <a:latin typeface="Calibri"/>
                <a:ea typeface="Calibri"/>
                <a:cs typeface="Calibri"/>
              </a:rPr>
              <a:t>Wait</a:t>
            </a:r>
          </a:p>
        </p:txBody>
      </p:sp>
      <p:sp>
        <p:nvSpPr>
          <p:cNvPr id="10" name="TextBox 9"/>
          <p:cNvSpPr txBox="1"/>
          <p:nvPr/>
        </p:nvSpPr>
        <p:spPr>
          <a:xfrm>
            <a:off x="877824" y="3593592"/>
            <a:ext cx="7845552" cy="987552"/>
          </a:xfrm>
          <a:prstGeom prst="rect">
            <a:avLst/>
          </a:prstGeom>
          <a:noFill/>
        </p:spPr>
        <p:txBody>
          <a:bodyPr wrap="square" lIns="0" tIns="0" rIns="0" bIns="0" anchor="t"/>
          <a:lstStyle/>
          <a:p>
            <a:r>
              <a:rPr>
                <a:solidFill>
                  <a:srgbClr val="5B6672"/>
                </a:solidFill>
                <a:latin typeface="Calibri"/>
                <a:ea typeface="Calibri"/>
                <a:cs typeface="Calibri"/>
              </a:rPr>
              <a:t>After the Q1 miss, wait for turnaround signs before buying the cheaper print.</a:t>
            </a:r>
          </a:p>
        </p:txBody>
      </p:sp>
      <p:sp>
        <p:nvSpPr>
          <p:cNvPr id="11" name="Rectangle 10"/>
          <p:cNvSpPr/>
          <p:nvPr/>
        </p:nvSpPr>
        <p:spPr>
          <a:xfrm>
            <a:off x="877824" y="4663440"/>
            <a:ext cx="7845552"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877824" y="4773168"/>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James Brumley</a:t>
            </a:r>
            <a:r>
              <a:rPr>
                <a:solidFill>
                  <a:srgbClr val="8A94A0"/>
                </a:solidFill>
                <a:latin typeface="Calibri"/>
                <a:ea typeface="Calibri"/>
                <a:cs typeface="Calibri"/>
              </a:rPr>
              <a:t>   7 May 2026   ·   </a:t>
            </a:r>
            <a:r>
              <a:rPr b="1">
                <a:solidFill>
                  <a:srgbClr val="0072CE"/>
                </a:solidFill>
                <a:latin typeface="Calibri"/>
                <a:ea typeface="Calibri"/>
                <a:cs typeface="Calibri"/>
              </a:rPr>
              <a:t>Fixed wireless</a:t>
            </a:r>
          </a:p>
        </p:txBody>
      </p:sp>
      <p:sp>
        <p:nvSpPr>
          <p:cNvPr id="13" name="TextBox 12"/>
          <p:cNvSpPr txBox="1"/>
          <p:nvPr/>
        </p:nvSpPr>
        <p:spPr>
          <a:xfrm>
            <a:off x="877824" y="5184648"/>
            <a:ext cx="7845552" cy="987552"/>
          </a:xfrm>
          <a:prstGeom prst="rect">
            <a:avLst/>
          </a:prstGeom>
          <a:noFill/>
        </p:spPr>
        <p:txBody>
          <a:bodyPr wrap="square" lIns="0" tIns="0" rIns="0" bIns="0" anchor="t"/>
          <a:lstStyle/>
          <a:p>
            <a:r>
              <a:rPr>
                <a:solidFill>
                  <a:srgbClr val="5B6672"/>
                </a:solidFill>
                <a:latin typeface="Calibri"/>
                <a:ea typeface="Calibri"/>
                <a:cs typeface="Calibri"/>
              </a:rPr>
              <a:t>Broadband no longer offsets video losses. Fixed wireless at T-Mobile and Verizon is the leak, and the migration can run a long time.</a:t>
            </a:r>
          </a:p>
        </p:txBody>
      </p:sp>
      <p:sp>
        <p:nvSpPr>
          <p:cNvPr id="14" name="Rectangle 13"/>
          <p:cNvSpPr/>
          <p:nvPr/>
        </p:nvSpPr>
        <p:spPr>
          <a:xfrm>
            <a:off x="877824" y="6254496"/>
            <a:ext cx="7845552"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877824" y="6364224"/>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Brett Schafer</a:t>
            </a:r>
            <a:r>
              <a:rPr>
                <a:solidFill>
                  <a:srgbClr val="8A94A0"/>
                </a:solidFill>
                <a:latin typeface="Calibri"/>
                <a:ea typeface="Calibri"/>
                <a:cs typeface="Calibri"/>
              </a:rPr>
              <a:t>   2 Jul 2026   ·   </a:t>
            </a:r>
            <a:r>
              <a:rPr b="1">
                <a:solidFill>
                  <a:srgbClr val="0072CE"/>
                </a:solidFill>
                <a:latin typeface="Calibri"/>
                <a:ea typeface="Calibri"/>
                <a:cs typeface="Calibri"/>
              </a:rPr>
              <a:t>Buy the cash flow</a:t>
            </a:r>
          </a:p>
        </p:txBody>
      </p:sp>
      <p:sp>
        <p:nvSpPr>
          <p:cNvPr id="16" name="TextBox 15"/>
          <p:cNvSpPr txBox="1"/>
          <p:nvPr/>
        </p:nvSpPr>
        <p:spPr>
          <a:xfrm>
            <a:off x="877824" y="6775704"/>
            <a:ext cx="7845552" cy="987552"/>
          </a:xfrm>
          <a:prstGeom prst="rect">
            <a:avLst/>
          </a:prstGeom>
          <a:noFill/>
        </p:spPr>
        <p:txBody>
          <a:bodyPr wrap="square" lIns="0" tIns="0" rIns="0" bIns="0" anchor="t"/>
          <a:lstStyle/>
          <a:p>
            <a:r>
              <a:rPr>
                <a:solidFill>
                  <a:srgbClr val="5B6672"/>
                </a:solidFill>
                <a:latin typeface="Calibri"/>
                <a:ea typeface="Calibri"/>
                <a:cs typeface="Calibri"/>
              </a:rPr>
              <a:t>Would buy Charter over CoreWeave: wired broadband will not vanish overnight, and Charter is profitable at a cheaper valuation than an unprofitable AI host.</a:t>
            </a:r>
          </a:p>
        </p:txBody>
      </p:sp>
      <p:sp>
        <p:nvSpPr>
          <p:cNvPr id="17" name="TextBox 16"/>
          <p:cNvSpPr txBox="1"/>
          <p:nvPr/>
        </p:nvSpPr>
        <p:spPr>
          <a:xfrm>
            <a:off x="9546336" y="3182112"/>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CHTR stock report</a:t>
            </a:r>
            <a:r>
              <a:rPr>
                <a:solidFill>
                  <a:srgbClr val="8A94A0"/>
                </a:solidFill>
                <a:latin typeface="Calibri"/>
                <a:ea typeface="Calibri"/>
                <a:cs typeface="Calibri"/>
              </a:rPr>
              <a:t>   Retrieved 21 Sep 2026</a:t>
            </a:r>
          </a:p>
        </p:txBody>
      </p:sp>
      <p:sp>
        <p:nvSpPr>
          <p:cNvPr id="18" name="TextBox 17"/>
          <p:cNvSpPr txBox="1"/>
          <p:nvPr/>
        </p:nvSpPr>
        <p:spPr>
          <a:xfrm>
            <a:off x="9546336" y="3593592"/>
            <a:ext cx="7845552" cy="987552"/>
          </a:xfrm>
          <a:prstGeom prst="rect">
            <a:avLst/>
          </a:prstGeom>
          <a:noFill/>
        </p:spPr>
        <p:txBody>
          <a:bodyPr wrap="square" lIns="0" tIns="0" rIns="0" bIns="0" anchor="t"/>
          <a:lstStyle/>
          <a:p>
            <a:r>
              <a:rPr>
                <a:solidFill>
                  <a:srgbClr val="5B6672"/>
                </a:solidFill>
                <a:latin typeface="Calibri"/>
                <a:ea typeface="Calibri"/>
                <a:cs typeface="Calibri"/>
              </a:rPr>
              <a:t>Screens cheap (valuation 5/6) against financial health 0/6; interest is not well covered. Recycles consensus, low, and high narratives and names no covering analyst.</a:t>
            </a:r>
          </a:p>
        </p:txBody>
      </p:sp>
      <p:sp>
        <p:nvSpPr>
          <p:cNvPr id="19" name="Rectangle 18"/>
          <p:cNvSpPr/>
          <p:nvPr/>
        </p:nvSpPr>
        <p:spPr>
          <a:xfrm>
            <a:off x="9546336" y="4663440"/>
            <a:ext cx="7845552"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9546336" y="4773168"/>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Margin-pressure recap</a:t>
            </a:r>
            <a:r>
              <a:rPr>
                <a:solidFill>
                  <a:srgbClr val="8A94A0"/>
                </a:solidFill>
                <a:latin typeface="Calibri"/>
                <a:ea typeface="Calibri"/>
                <a:cs typeface="Calibri"/>
              </a:rPr>
              <a:t>   26 Jul 2026</a:t>
            </a:r>
          </a:p>
        </p:txBody>
      </p:sp>
      <p:sp>
        <p:nvSpPr>
          <p:cNvPr id="21" name="TextBox 20"/>
          <p:cNvSpPr txBox="1"/>
          <p:nvPr/>
        </p:nvSpPr>
        <p:spPr>
          <a:xfrm>
            <a:off x="9546336" y="5184648"/>
            <a:ext cx="7845552" cy="987552"/>
          </a:xfrm>
          <a:prstGeom prst="rect">
            <a:avLst/>
          </a:prstGeom>
          <a:noFill/>
        </p:spPr>
        <p:txBody>
          <a:bodyPr wrap="square" lIns="0" tIns="0" rIns="0" bIns="0" anchor="t"/>
          <a:lstStyle/>
          <a:p>
            <a:r>
              <a:rPr>
                <a:solidFill>
                  <a:srgbClr val="5B6672"/>
                </a:solidFill>
                <a:latin typeface="Calibri"/>
                <a:ea typeface="Calibri"/>
                <a:cs typeface="Calibri"/>
              </a:rPr>
              <a:t>Byline is Simply Wall St. Trailing net margin 9.1% versus 9.5% a year earlier, and a roughly 3× earnings multiple against a much larger DCF. Bulls on cheapness, bears on leverage.</a:t>
            </a:r>
          </a:p>
        </p:txBody>
      </p:sp>
      <p:sp>
        <p:nvSpPr>
          <p:cNvPr id="22" name="Rectangle 21"/>
          <p:cNvSpPr/>
          <p:nvPr/>
        </p:nvSpPr>
        <p:spPr>
          <a:xfrm>
            <a:off x="9546336" y="6254496"/>
            <a:ext cx="7845552"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9546336" y="6364224"/>
            <a:ext cx="7845552" cy="384048"/>
          </a:xfrm>
          <a:prstGeom prst="rect">
            <a:avLst/>
          </a:prstGeom>
          <a:noFill/>
        </p:spPr>
        <p:txBody>
          <a:bodyPr wrap="square" lIns="0" tIns="0" rIns="0" bIns="0" anchor="ctr"/>
          <a:lstStyle/>
          <a:p>
            <a:r>
              <a:rPr sz="1950" b="1">
                <a:solidFill>
                  <a:srgbClr val="0B1F3A"/>
                </a:solidFill>
                <a:latin typeface="Calibri"/>
                <a:ea typeface="Calibri"/>
                <a:cs typeface="Calibri"/>
              </a:rPr>
              <a:t>CFO-exit recap</a:t>
            </a:r>
            <a:r>
              <a:rPr>
                <a:solidFill>
                  <a:srgbClr val="8A94A0"/>
                </a:solidFill>
                <a:latin typeface="Calibri"/>
                <a:ea typeface="Calibri"/>
                <a:cs typeface="Calibri"/>
              </a:rPr>
              <a:t>   8 Sep 2026</a:t>
            </a:r>
          </a:p>
        </p:txBody>
      </p:sp>
      <p:sp>
        <p:nvSpPr>
          <p:cNvPr id="24" name="TextBox 23"/>
          <p:cNvSpPr txBox="1"/>
          <p:nvPr/>
        </p:nvSpPr>
        <p:spPr>
          <a:xfrm>
            <a:off x="9546336" y="6775704"/>
            <a:ext cx="7845552" cy="987552"/>
          </a:xfrm>
          <a:prstGeom prst="rect">
            <a:avLst/>
          </a:prstGeom>
          <a:noFill/>
        </p:spPr>
        <p:txBody>
          <a:bodyPr wrap="square" lIns="0" tIns="0" rIns="0" bIns="0" anchor="t"/>
          <a:lstStyle/>
          <a:p>
            <a:r>
              <a:rPr>
                <a:solidFill>
                  <a:srgbClr val="5B6672"/>
                </a:solidFill>
                <a:latin typeface="Calibri"/>
                <a:ea typeface="Calibri"/>
                <a:cs typeface="Calibri"/>
              </a:rPr>
              <a:t>Reviewed by Sasha Jovanovic, Simply Wall St staff, not a covering analyst. The CFO exit is framed as operational; the swing factor remains about $94 billion of debt and interest cover.</a:t>
            </a:r>
          </a:p>
        </p:txBody>
      </p:sp>
      <p:sp>
        <p:nvSpPr>
          <p:cNvPr id="25" name="TextBox 24"/>
          <p:cNvSpPr txBox="1"/>
          <p:nvPr/>
        </p:nvSpPr>
        <p:spPr>
          <a:xfrm>
            <a:off x="576072" y="8229600"/>
            <a:ext cx="17117568" cy="1069848"/>
          </a:xfrm>
          <a:prstGeom prst="rect">
            <a:avLst/>
          </a:prstGeom>
          <a:noFill/>
        </p:spPr>
        <p:txBody>
          <a:bodyPr wrap="square" lIns="0" tIns="0" rIns="0" bIns="0" anchor="t"/>
          <a:lstStyle/>
          <a:p>
            <a:r>
              <a:rPr lang="en-US" sz="1200">
                <a:solidFill>
                  <a:srgbClr val="8A94A0"/>
                </a:solidFill>
                <a:latin typeface="Calibri"/>
                <a:ea typeface="Calibri"/>
                <a:cs typeface="Calibri"/>
                <a:hlinkClick r:id="rId2"/>
              </a:rPr>
              <a:t>https://www.fool.com/investing/2026/04/24/why-charter-communications-stock-plummeted-today/ </a:t>
            </a:r>
            <a:r>
              <a:rPr lang="en-US" sz="1200">
                <a:solidFill>
                  <a:srgbClr val="8A94A0"/>
                </a:solidFill>
                <a:latin typeface="Calibri"/>
                <a:ea typeface="Calibri"/>
                <a:cs typeface="Calibri"/>
              </a:rPr>
              <a:t>				</a:t>
            </a:r>
            <a:r>
              <a:rPr lang="en-US" sz="1200">
                <a:solidFill>
                  <a:srgbClr val="8A94A0"/>
                </a:solidFill>
                <a:latin typeface="Calibri"/>
                <a:ea typeface="Calibri"/>
                <a:cs typeface="Calibri"/>
                <a:hlinkClick r:id="rId3"/>
              </a:rPr>
              <a:t>https://www.fool.com/investing/2026/05/07/where-are-comcast-and-charters-internet-customers/</a:t>
            </a:r>
          </a:p>
          <a:p>
            <a:r>
              <a:rPr sz="1200">
                <a:solidFill>
                  <a:srgbClr val="8A94A0"/>
                </a:solidFill>
                <a:latin typeface="Calibri"/>
                <a:ea typeface="Calibri"/>
                <a:cs typeface="Calibri"/>
                <a:hlinkClick r:id="rId4"/>
              </a:rPr>
              <a:t>https://www.fool.com/investing/2026/07/02/coreweave-is-about-to-join-the-nasdaq-100-heres-wh</a:t>
            </a:r>
            <a:r>
              <a:rPr sz="1200" u="sng">
                <a:solidFill>
                  <a:srgbClr val="8A94A0"/>
                </a:solidFill>
                <a:latin typeface="Calibri"/>
                <a:ea typeface="Calibri"/>
                <a:cs typeface="Calibri"/>
                <a:hlinkClick r:id="rId4"/>
              </a:rPr>
              <a:t>/</a:t>
            </a:r>
            <a:r>
              <a:rPr lang="en-US" sz="1200" u="sng">
                <a:solidFill>
                  <a:srgbClr val="8A94A0"/>
                </a:solidFill>
                <a:latin typeface="Calibri"/>
                <a:ea typeface="Calibri"/>
                <a:cs typeface="Calibri"/>
              </a:rPr>
              <a:t> </a:t>
            </a:r>
            <a:r>
              <a:rPr lang="en-US" sz="1200">
                <a:solidFill>
                  <a:srgbClr val="8A94A0"/>
                </a:solidFill>
                <a:latin typeface="Calibri"/>
                <a:ea typeface="Calibri"/>
                <a:cs typeface="Calibri"/>
              </a:rPr>
              <a:t> 				</a:t>
            </a:r>
            <a:r>
              <a:rPr sz="1200">
                <a:solidFill>
                  <a:srgbClr val="8A94A0"/>
                </a:solidFill>
                <a:latin typeface="Calibri"/>
                <a:ea typeface="Calibri"/>
                <a:cs typeface="Calibri"/>
                <a:hlinkClick r:id="rId5"/>
              </a:rPr>
              <a:t>https://simplywall.st/stocks/us/media/nasdaq-chtr/charter-communications</a:t>
            </a:r>
          </a:p>
          <a:p>
            <a:r>
              <a:rPr sz="1200">
                <a:solidFill>
                  <a:srgbClr val="8A94A0"/>
                </a:solidFill>
                <a:latin typeface="Calibri"/>
                <a:ea typeface="Calibri"/>
                <a:cs typeface="Calibri"/>
                <a:hlinkClick r:id="rId6"/>
              </a:rPr>
              <a:t>https://simplywall.st/stocks/us/media/nasdaq-chtr/charter-communications/news/charter-communications-chtr-stock-faces-margin-pressure-as-q</a:t>
            </a:r>
            <a:r>
              <a:rPr lang="en-US" sz="1200">
                <a:solidFill>
                  <a:srgbClr val="8A94A0"/>
                </a:solidFill>
                <a:latin typeface="Calibri"/>
                <a:ea typeface="Calibri"/>
                <a:cs typeface="Calibri"/>
                <a:hlinkClick r:id="rId6"/>
              </a:rPr>
              <a:t> </a:t>
            </a:r>
          </a:p>
          <a:p>
            <a:r>
              <a:rPr lang="en-US" sz="1200">
                <a:solidFill>
                  <a:srgbClr val="8A94A0"/>
                </a:solidFill>
                <a:latin typeface="Calibri"/>
                <a:ea typeface="Calibri"/>
                <a:cs typeface="Calibri"/>
                <a:hlinkClick r:id="rId7"/>
              </a:rPr>
              <a:t>https://simplywall.st/stocks/us/media/nasdaq-chtr/charter-communications/news/did-cfo-exit-just-shift-charter-communications-chtr-investme</a:t>
            </a:r>
          </a:p>
        </p:txBody>
      </p:sp>
      <p:grpSp>
        <p:nvGrpSpPr>
          <p:cNvPr id="27" name="Group 143">
            <a:extLst>
              <a:ext uri="{FF2B5EF4-FFF2-40B4-BE49-F238E27FC236}">
                <a16:creationId xmlns:a16="http://schemas.microsoft.com/office/drawing/2014/main" id="{E6B6773D-6617-E53D-8B95-1A05E985A251}"/>
              </a:ext>
            </a:extLst>
          </p:cNvPr>
          <p:cNvGrpSpPr/>
          <p:nvPr/>
        </p:nvGrpSpPr>
        <p:grpSpPr>
          <a:xfrm>
            <a:off x="754380" y="9168289"/>
            <a:ext cx="16733521" cy="432911"/>
            <a:chOff x="0" y="-28575"/>
            <a:chExt cx="22311361" cy="577215"/>
          </a:xfrm>
        </p:grpSpPr>
        <p:sp>
          <p:nvSpPr>
            <p:cNvPr id="28" name="Freeform 144">
              <a:extLst>
                <a:ext uri="{FF2B5EF4-FFF2-40B4-BE49-F238E27FC236}">
                  <a16:creationId xmlns:a16="http://schemas.microsoft.com/office/drawing/2014/main" id="{C9F7D872-A9F1-A63E-D92F-EE52BCDB5703}"/>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8">
                <a:alphaModFix amt="0"/>
              </a:blip>
              <a:stretch>
                <a:fillRect t="-742391" b="-742391"/>
              </a:stretch>
            </a:blipFill>
          </p:spPr>
          <p:txBody>
            <a:bodyPr/>
            <a:lstStyle/>
            <a:p>
              <a:endParaRPr lang="en-US"/>
            </a:p>
          </p:txBody>
        </p:sp>
        <p:sp>
          <p:nvSpPr>
            <p:cNvPr id="29" name="TextBox 145">
              <a:extLst>
                <a:ext uri="{FF2B5EF4-FFF2-40B4-BE49-F238E27FC236}">
                  <a16:creationId xmlns:a16="http://schemas.microsoft.com/office/drawing/2014/main" id="{B20A7393-7BB3-7B79-1DDB-2AE7D4AF5EB1}"/>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9"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10" action="ppaction://hlinksldjump"/>
                </a:rPr>
                <a:t>Appendix index  (p.12)</a:t>
              </a:r>
            </a:p>
          </p:txBody>
        </p:sp>
      </p:grpSp>
      <p:grpSp>
        <p:nvGrpSpPr>
          <p:cNvPr id="30" name="Group 149">
            <a:extLst>
              <a:ext uri="{FF2B5EF4-FFF2-40B4-BE49-F238E27FC236}">
                <a16:creationId xmlns:a16="http://schemas.microsoft.com/office/drawing/2014/main" id="{A373884E-63A8-2D72-F24F-85AB10A1CC0B}"/>
              </a:ext>
            </a:extLst>
          </p:cNvPr>
          <p:cNvGrpSpPr/>
          <p:nvPr/>
        </p:nvGrpSpPr>
        <p:grpSpPr>
          <a:xfrm>
            <a:off x="754380" y="9648349"/>
            <a:ext cx="16047721" cy="432911"/>
            <a:chOff x="0" y="-28575"/>
            <a:chExt cx="21396961" cy="577215"/>
          </a:xfrm>
        </p:grpSpPr>
        <p:sp>
          <p:nvSpPr>
            <p:cNvPr id="31" name="Freeform 150">
              <a:extLst>
                <a:ext uri="{FF2B5EF4-FFF2-40B4-BE49-F238E27FC236}">
                  <a16:creationId xmlns:a16="http://schemas.microsoft.com/office/drawing/2014/main" id="{F22EB0BC-9035-72F9-19B4-4336A827633F}"/>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8">
                <a:alphaModFix amt="0"/>
              </a:blip>
              <a:stretch>
                <a:fillRect t="-709916" b="-709916"/>
              </a:stretch>
            </a:blipFill>
          </p:spPr>
          <p:txBody>
            <a:bodyPr/>
            <a:lstStyle/>
            <a:p>
              <a:endParaRPr lang="en-US"/>
            </a:p>
          </p:txBody>
        </p:sp>
        <p:sp>
          <p:nvSpPr>
            <p:cNvPr id="32" name="TextBox 151">
              <a:extLst>
                <a:ext uri="{FF2B5EF4-FFF2-40B4-BE49-F238E27FC236}">
                  <a16:creationId xmlns:a16="http://schemas.microsoft.com/office/drawing/2014/main" id="{20D547F2-AAAA-703F-F07C-11099E8395FE}"/>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33" name="Group 2">
            <a:extLst>
              <a:ext uri="{FF2B5EF4-FFF2-40B4-BE49-F238E27FC236}">
                <a16:creationId xmlns:a16="http://schemas.microsoft.com/office/drawing/2014/main" id="{0592C87E-6A3B-4EE6-E361-2C874D3F6A88}"/>
              </a:ext>
            </a:extLst>
          </p:cNvPr>
          <p:cNvGrpSpPr/>
          <p:nvPr/>
        </p:nvGrpSpPr>
        <p:grpSpPr>
          <a:xfrm>
            <a:off x="754380" y="417481"/>
            <a:ext cx="11795760" cy="432911"/>
            <a:chOff x="0" y="-28575"/>
            <a:chExt cx="15727680" cy="577215"/>
          </a:xfrm>
        </p:grpSpPr>
        <p:sp>
          <p:nvSpPr>
            <p:cNvPr id="34" name="Freeform 3">
              <a:extLst>
                <a:ext uri="{FF2B5EF4-FFF2-40B4-BE49-F238E27FC236}">
                  <a16:creationId xmlns:a16="http://schemas.microsoft.com/office/drawing/2014/main" id="{7693BBC7-7DAA-4EE2-81B3-BEA010375500}"/>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8">
                <a:alphaModFix amt="0"/>
              </a:blip>
              <a:stretch>
                <a:fillRect t="-508571" b="-508571"/>
              </a:stretch>
            </a:blipFill>
          </p:spPr>
          <p:txBody>
            <a:bodyPr/>
            <a:lstStyle/>
            <a:p>
              <a:endParaRPr lang="en-US"/>
            </a:p>
          </p:txBody>
        </p:sp>
        <p:sp>
          <p:nvSpPr>
            <p:cNvPr id="35" name="TextBox 4">
              <a:extLst>
                <a:ext uri="{FF2B5EF4-FFF2-40B4-BE49-F238E27FC236}">
                  <a16:creationId xmlns:a16="http://schemas.microsoft.com/office/drawing/2014/main" id="{2019DFA2-B693-2E7C-561C-EC8E20F74C57}"/>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A45  ·  Sell-Side Coverage of Charter</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960120"/>
            <a:ext cx="16802100" cy="548640"/>
          </a:xfrm>
          <a:prstGeom prst="rect">
            <a:avLst/>
          </a:prstGeom>
          <a:noFill/>
        </p:spPr>
        <p:txBody>
          <a:bodyPr wrap="square" lIns="0" tIns="0" rIns="0" bIns="0"/>
          <a:lstStyle/>
          <a:p>
            <a:r>
              <a:rPr lang="en-US" sz="3000" b="1" kern="0">
                <a:solidFill>
                  <a:srgbClr val="0B1F3A"/>
                </a:solidFill>
                <a:latin typeface="Calibri"/>
              </a:rPr>
              <a:t>Four subsidy partnerships build to unserved addresses, and each figure stays as printed</a:t>
            </a:r>
          </a:p>
        </p:txBody>
      </p:sp>
      <p:sp>
        <p:nvSpPr>
          <p:cNvPr id="4" name="TextBox 3"/>
          <p:cNvSpPr txBox="1"/>
          <p:nvPr/>
        </p:nvSpPr>
        <p:spPr>
          <a:xfrm>
            <a:off x="754380" y="7263003"/>
            <a:ext cx="16733520" cy="301752"/>
          </a:xfrm>
          <a:prstGeom prst="rect">
            <a:avLst/>
          </a:prstGeom>
          <a:noFill/>
        </p:spPr>
        <p:txBody>
          <a:bodyPr wrap="square" lIns="0" tIns="0" rIns="0" bIns="0"/>
          <a:lstStyle/>
          <a:p>
            <a:r>
              <a:rPr lang="en-US" sz="1350" i="1" kern="0">
                <a:solidFill>
                  <a:srgbClr val="8A94A0"/>
                </a:solidFill>
                <a:latin typeface="Calibri"/>
              </a:rPr>
              <a:t>Source: County agreements, county releases, and Comcast announcements, retrieved 28 Sep 2026. Comcast Form 10-K for the year ended 31 Dec 2025 (partnership language; Comcast keeps the network).</a:t>
            </a:r>
          </a:p>
        </p:txBody>
      </p:sp>
      <p:sp>
        <p:nvSpPr>
          <p:cNvPr id="7" name="Rectangle 6"/>
          <p:cNvSpPr/>
          <p:nvPr/>
        </p:nvSpPr>
        <p:spPr>
          <a:xfrm>
            <a:off x="754380" y="1618488"/>
            <a:ext cx="96012" cy="658368"/>
          </a:xfrm>
          <a:prstGeom prst="rect">
            <a:avLst/>
          </a:prstGeom>
          <a:solidFill>
            <a:srgbClr val="0072CE"/>
          </a:solidFill>
          <a:ln>
            <a:noFill/>
          </a:ln>
        </p:spPr>
        <p:txBody>
          <a:bodyPr wrap="none" rtlCol="0" anchor="ctr"/>
          <a:lstStyle/>
          <a:p>
            <a:pPr algn="ctr"/>
            <a:endParaRPr sz="2700"/>
          </a:p>
        </p:txBody>
      </p:sp>
      <p:sp>
        <p:nvSpPr>
          <p:cNvPr id="8" name="Rectangle 7"/>
          <p:cNvSpPr/>
          <p:nvPr/>
        </p:nvSpPr>
        <p:spPr>
          <a:xfrm>
            <a:off x="850392" y="1618488"/>
            <a:ext cx="16706088" cy="658368"/>
          </a:xfrm>
          <a:prstGeom prst="rect">
            <a:avLst/>
          </a:prstGeom>
          <a:solidFill>
            <a:srgbClr val="F2F6FB"/>
          </a:solidFill>
          <a:ln>
            <a:noFill/>
          </a:ln>
        </p:spPr>
        <p:txBody>
          <a:bodyPr wrap="none" rtlCol="0" anchor="ctr"/>
          <a:lstStyle/>
          <a:p>
            <a:pPr algn="ctr"/>
            <a:endParaRPr sz="2700"/>
          </a:p>
        </p:txBody>
      </p:sp>
      <p:sp>
        <p:nvSpPr>
          <p:cNvPr id="9" name="TextBox 8"/>
          <p:cNvSpPr txBox="1"/>
          <p:nvPr/>
        </p:nvSpPr>
        <p:spPr>
          <a:xfrm>
            <a:off x="1042416" y="1618488"/>
            <a:ext cx="16322040" cy="658368"/>
          </a:xfrm>
          <a:prstGeom prst="rect">
            <a:avLst/>
          </a:prstGeom>
          <a:noFill/>
        </p:spPr>
        <p:txBody>
          <a:bodyPr wrap="square" lIns="0" tIns="0" rIns="0" bIns="0"/>
          <a:lstStyle/>
          <a:p>
            <a:r>
              <a:rPr lang="en-US" sz="1650" kern="0">
                <a:solidFill>
                  <a:srgbClr val="0B1F3A"/>
                </a:solidFill>
                <a:latin typeface="Calibri"/>
              </a:rPr>
              <a:t>The buyer is the county or the state. Comcast designs, builds, and keeps the network where the agreement says so. Madison’s three dollar figures stay separate. Stafford’s three home counts stay separate.</a:t>
            </a:r>
          </a:p>
        </p:txBody>
      </p:sp>
      <p:sp>
        <p:nvSpPr>
          <p:cNvPr id="10" name="Rectangle 9"/>
          <p:cNvSpPr/>
          <p:nvPr/>
        </p:nvSpPr>
        <p:spPr>
          <a:xfrm>
            <a:off x="754380" y="2414016"/>
            <a:ext cx="16802100" cy="438912"/>
          </a:xfrm>
          <a:prstGeom prst="rect">
            <a:avLst/>
          </a:prstGeom>
          <a:solidFill>
            <a:srgbClr val="0B1F3A"/>
          </a:solidFill>
          <a:ln>
            <a:noFill/>
          </a:ln>
        </p:spPr>
        <p:txBody>
          <a:bodyPr wrap="none" rtlCol="0" anchor="ctr"/>
          <a:lstStyle/>
          <a:p>
            <a:pPr algn="ctr"/>
            <a:endParaRPr sz="2700"/>
          </a:p>
        </p:txBody>
      </p:sp>
      <p:sp>
        <p:nvSpPr>
          <p:cNvPr id="11" name="TextBox 10"/>
          <p:cNvSpPr txBox="1"/>
          <p:nvPr/>
        </p:nvSpPr>
        <p:spPr>
          <a:xfrm>
            <a:off x="864108" y="2414016"/>
            <a:ext cx="3140964" cy="438912"/>
          </a:xfrm>
          <a:prstGeom prst="rect">
            <a:avLst/>
          </a:prstGeom>
          <a:noFill/>
        </p:spPr>
        <p:txBody>
          <a:bodyPr wrap="square" lIns="0" tIns="0" rIns="0" bIns="0"/>
          <a:lstStyle/>
          <a:p>
            <a:r>
              <a:rPr lang="en-US" sz="1500" b="1" kern="0">
                <a:solidFill>
                  <a:srgbClr val="FFFFFF"/>
                </a:solidFill>
                <a:latin typeface="Calibri"/>
              </a:rPr>
              <a:t>Place</a:t>
            </a:r>
          </a:p>
        </p:txBody>
      </p:sp>
      <p:sp>
        <p:nvSpPr>
          <p:cNvPr id="12" name="TextBox 11"/>
          <p:cNvSpPr txBox="1"/>
          <p:nvPr/>
        </p:nvSpPr>
        <p:spPr>
          <a:xfrm>
            <a:off x="4224528" y="2414016"/>
            <a:ext cx="5747004" cy="438912"/>
          </a:xfrm>
          <a:prstGeom prst="rect">
            <a:avLst/>
          </a:prstGeom>
          <a:noFill/>
        </p:spPr>
        <p:txBody>
          <a:bodyPr wrap="square" lIns="0" tIns="0" rIns="0" bIns="0"/>
          <a:lstStyle/>
          <a:p>
            <a:r>
              <a:rPr lang="en-US" sz="1500" b="1" kern="0">
                <a:solidFill>
                  <a:srgbClr val="FFFFFF"/>
                </a:solidFill>
                <a:latin typeface="Calibri"/>
              </a:rPr>
              <a:t>What is built</a:t>
            </a:r>
          </a:p>
        </p:txBody>
      </p:sp>
      <p:sp>
        <p:nvSpPr>
          <p:cNvPr id="13" name="TextBox 12"/>
          <p:cNvSpPr txBox="1"/>
          <p:nvPr/>
        </p:nvSpPr>
        <p:spPr>
          <a:xfrm>
            <a:off x="10190988" y="2414016"/>
            <a:ext cx="4375404" cy="438912"/>
          </a:xfrm>
          <a:prstGeom prst="rect">
            <a:avLst/>
          </a:prstGeom>
          <a:noFill/>
        </p:spPr>
        <p:txBody>
          <a:bodyPr wrap="square" lIns="0" tIns="0" rIns="0" bIns="0"/>
          <a:lstStyle/>
          <a:p>
            <a:r>
              <a:rPr lang="en-US" sz="1500" b="1" kern="0">
                <a:solidFill>
                  <a:srgbClr val="FFFFFF"/>
                </a:solidFill>
                <a:latin typeface="Calibri"/>
              </a:rPr>
              <a:t>As that source printed it</a:t>
            </a:r>
          </a:p>
        </p:txBody>
      </p:sp>
      <p:sp>
        <p:nvSpPr>
          <p:cNvPr id="14" name="TextBox 13"/>
          <p:cNvSpPr txBox="1"/>
          <p:nvPr/>
        </p:nvSpPr>
        <p:spPr>
          <a:xfrm>
            <a:off x="14785848" y="2414016"/>
            <a:ext cx="2660904" cy="438912"/>
          </a:xfrm>
          <a:prstGeom prst="rect">
            <a:avLst/>
          </a:prstGeom>
          <a:noFill/>
        </p:spPr>
        <p:txBody>
          <a:bodyPr wrap="square" lIns="0" tIns="0" rIns="0" bIns="0"/>
          <a:lstStyle/>
          <a:p>
            <a:r>
              <a:rPr lang="en-US" sz="1500" b="1" kern="0">
                <a:solidFill>
                  <a:srgbClr val="FFFFFF"/>
                </a:solidFill>
                <a:latin typeface="Calibri"/>
              </a:rPr>
              <a:t>Document</a:t>
            </a:r>
          </a:p>
        </p:txBody>
      </p:sp>
      <p:sp>
        <p:nvSpPr>
          <p:cNvPr id="15" name="Rectangle 14"/>
          <p:cNvSpPr/>
          <p:nvPr/>
        </p:nvSpPr>
        <p:spPr>
          <a:xfrm>
            <a:off x="754380" y="2852928"/>
            <a:ext cx="16802100" cy="1187196"/>
          </a:xfrm>
          <a:prstGeom prst="rect">
            <a:avLst/>
          </a:prstGeom>
          <a:solidFill>
            <a:srgbClr val="F2F6FB"/>
          </a:solidFill>
          <a:ln>
            <a:noFill/>
          </a:ln>
        </p:spPr>
        <p:txBody>
          <a:bodyPr wrap="none" rtlCol="0" anchor="ctr"/>
          <a:lstStyle/>
          <a:p>
            <a:pPr algn="ctr"/>
            <a:endParaRPr sz="2700"/>
          </a:p>
        </p:txBody>
      </p:sp>
      <p:sp>
        <p:nvSpPr>
          <p:cNvPr id="16" name="TextBox 15"/>
          <p:cNvSpPr txBox="1"/>
          <p:nvPr/>
        </p:nvSpPr>
        <p:spPr>
          <a:xfrm>
            <a:off x="864108" y="2894076"/>
            <a:ext cx="3140964" cy="1118616"/>
          </a:xfrm>
          <a:prstGeom prst="rect">
            <a:avLst/>
          </a:prstGeom>
          <a:noFill/>
        </p:spPr>
        <p:txBody>
          <a:bodyPr wrap="square" lIns="0" tIns="0" rIns="0" bIns="0"/>
          <a:lstStyle/>
          <a:p>
            <a:r>
              <a:rPr lang="en-US" sz="1650" b="1" kern="0">
                <a:solidFill>
                  <a:srgbClr val="0B1F3A"/>
                </a:solidFill>
                <a:latin typeface="Calibri"/>
              </a:rPr>
              <a:t>Madison County, MS</a:t>
            </a:r>
          </a:p>
        </p:txBody>
      </p:sp>
      <p:sp>
        <p:nvSpPr>
          <p:cNvPr id="17" name="TextBox 16"/>
          <p:cNvSpPr txBox="1"/>
          <p:nvPr/>
        </p:nvSpPr>
        <p:spPr>
          <a:xfrm>
            <a:off x="4224528" y="2894076"/>
            <a:ext cx="5747004" cy="1118616"/>
          </a:xfrm>
          <a:prstGeom prst="rect">
            <a:avLst/>
          </a:prstGeom>
          <a:noFill/>
        </p:spPr>
        <p:txBody>
          <a:bodyPr wrap="square" lIns="0" tIns="0" rIns="0" bIns="0"/>
          <a:lstStyle/>
          <a:p>
            <a:r>
              <a:rPr lang="en-US" sz="1650" kern="0">
                <a:solidFill>
                  <a:srgbClr val="5B6672"/>
                </a:solidFill>
                <a:latin typeface="Calibri"/>
              </a:rPr>
              <a:t>Fiber EPON that Comcast designs, builds, owns, and operates. HFC only beside existing plant. About 3,175 premises along 478.6 miles. At least 100/20 Mbps, capable of gigabit.</a:t>
            </a:r>
          </a:p>
        </p:txBody>
      </p:sp>
      <p:sp>
        <p:nvSpPr>
          <p:cNvPr id="18" name="TextBox 17"/>
          <p:cNvSpPr txBox="1"/>
          <p:nvPr/>
        </p:nvSpPr>
        <p:spPr>
          <a:xfrm>
            <a:off x="10190988" y="2894076"/>
            <a:ext cx="4375404" cy="1118616"/>
          </a:xfrm>
          <a:prstGeom prst="rect">
            <a:avLst/>
          </a:prstGeom>
          <a:noFill/>
        </p:spPr>
        <p:txBody>
          <a:bodyPr wrap="square" lIns="0" tIns="0" rIns="0" bIns="0"/>
          <a:lstStyle/>
          <a:p>
            <a:r>
              <a:rPr lang="en-US" sz="1650" kern="0">
                <a:solidFill>
                  <a:srgbClr val="5B6672"/>
                </a:solidFill>
                <a:latin typeface="Calibri"/>
              </a:rPr>
              <a:t>Project estimate $18,994,203. Comcast up to $4,790,292. County up to $10,000,000. Further state and federal applications contemplated. Not summed.</a:t>
            </a:r>
          </a:p>
        </p:txBody>
      </p:sp>
      <p:sp>
        <p:nvSpPr>
          <p:cNvPr id="19" name="TextBox 18"/>
          <p:cNvSpPr txBox="1"/>
          <p:nvPr/>
        </p:nvSpPr>
        <p:spPr>
          <a:xfrm>
            <a:off x="14785848" y="2894076"/>
            <a:ext cx="2660904" cy="1118616"/>
          </a:xfrm>
          <a:prstGeom prst="rect">
            <a:avLst/>
          </a:prstGeom>
          <a:noFill/>
        </p:spPr>
        <p:txBody>
          <a:bodyPr wrap="square" lIns="0" tIns="0" rIns="0" bIns="0"/>
          <a:lstStyle/>
          <a:p>
            <a:r>
              <a:rPr lang="en-US" sz="1650" kern="0">
                <a:solidFill>
                  <a:srgbClr val="5B6672"/>
                </a:solidFill>
                <a:latin typeface="Calibri"/>
              </a:rPr>
              <a:t>County agreement, effective 6 Sep 2022. Separate from a 2015 franchise the agreement cites.</a:t>
            </a:r>
          </a:p>
        </p:txBody>
      </p:sp>
      <p:sp>
        <p:nvSpPr>
          <p:cNvPr id="20" name="TextBox 19"/>
          <p:cNvSpPr txBox="1"/>
          <p:nvPr/>
        </p:nvSpPr>
        <p:spPr>
          <a:xfrm>
            <a:off x="864108" y="4081272"/>
            <a:ext cx="3140964" cy="1118616"/>
          </a:xfrm>
          <a:prstGeom prst="rect">
            <a:avLst/>
          </a:prstGeom>
          <a:noFill/>
        </p:spPr>
        <p:txBody>
          <a:bodyPr wrap="square" lIns="0" tIns="0" rIns="0" bIns="0"/>
          <a:lstStyle/>
          <a:p>
            <a:r>
              <a:rPr lang="en-US" sz="1650" b="1" kern="0">
                <a:solidFill>
                  <a:srgbClr val="0B1F3A"/>
                </a:solidFill>
                <a:latin typeface="Calibri"/>
              </a:rPr>
              <a:t>Stafford County, VA — Hartwood and Rock Hill</a:t>
            </a:r>
          </a:p>
        </p:txBody>
      </p:sp>
      <p:sp>
        <p:nvSpPr>
          <p:cNvPr id="21" name="TextBox 20"/>
          <p:cNvSpPr txBox="1"/>
          <p:nvPr/>
        </p:nvSpPr>
        <p:spPr>
          <a:xfrm>
            <a:off x="4224528" y="4081272"/>
            <a:ext cx="5747004" cy="1118616"/>
          </a:xfrm>
          <a:prstGeom prst="rect">
            <a:avLst/>
          </a:prstGeom>
          <a:noFill/>
        </p:spPr>
        <p:txBody>
          <a:bodyPr wrap="square" lIns="0" tIns="0" rIns="0" bIns="0"/>
          <a:lstStyle/>
          <a:p>
            <a:r>
              <a:rPr lang="en-US" sz="1650" kern="0">
                <a:solidFill>
                  <a:srgbClr val="5B6672"/>
                </a:solidFill>
                <a:latin typeface="Calibri"/>
              </a:rPr>
              <a:t>Extension to unserved or underserved homes. Completed in early 2024. Later county page: Xfinity speeds up to 1.2 Gbps.</a:t>
            </a:r>
          </a:p>
        </p:txBody>
      </p:sp>
      <p:sp>
        <p:nvSpPr>
          <p:cNvPr id="22" name="TextBox 21"/>
          <p:cNvSpPr txBox="1"/>
          <p:nvPr/>
        </p:nvSpPr>
        <p:spPr>
          <a:xfrm>
            <a:off x="10190988" y="4081272"/>
            <a:ext cx="4375404" cy="1118616"/>
          </a:xfrm>
          <a:prstGeom prst="rect">
            <a:avLst/>
          </a:prstGeom>
          <a:noFill/>
        </p:spPr>
        <p:txBody>
          <a:bodyPr wrap="square" lIns="0" tIns="0" rIns="0" bIns="0"/>
          <a:lstStyle/>
          <a:p>
            <a:r>
              <a:rPr lang="en-US" sz="1650" kern="0">
                <a:solidFill>
                  <a:srgbClr val="5B6672"/>
                </a:solidFill>
                <a:latin typeface="Calibri"/>
              </a:rPr>
              <a:t>$5.7 million project; $3.4 million VATI; $1.5 million county match; balance from Comcast. Homes: more than 600, more than 650, and nearly 700 — three sources, not one count.</a:t>
            </a:r>
          </a:p>
        </p:txBody>
      </p:sp>
      <p:sp>
        <p:nvSpPr>
          <p:cNvPr id="23" name="TextBox 22"/>
          <p:cNvSpPr txBox="1"/>
          <p:nvPr/>
        </p:nvSpPr>
        <p:spPr>
          <a:xfrm>
            <a:off x="14785848" y="4081272"/>
            <a:ext cx="2660904" cy="1118616"/>
          </a:xfrm>
          <a:prstGeom prst="rect">
            <a:avLst/>
          </a:prstGeom>
          <a:noFill/>
        </p:spPr>
        <p:txBody>
          <a:bodyPr wrap="square" lIns="0" tIns="0" rIns="0" bIns="0"/>
          <a:lstStyle/>
          <a:p>
            <a:r>
              <a:rPr lang="en-US" sz="1650" kern="0">
                <a:solidFill>
                  <a:srgbClr val="5B6672"/>
                </a:solidFill>
                <a:latin typeface="Calibri"/>
              </a:rPr>
              <a:t>County news 19 Jan 2022; county completion note; Comcast story.</a:t>
            </a:r>
          </a:p>
        </p:txBody>
      </p:sp>
      <p:sp>
        <p:nvSpPr>
          <p:cNvPr id="24" name="Rectangle 23"/>
          <p:cNvSpPr/>
          <p:nvPr/>
        </p:nvSpPr>
        <p:spPr>
          <a:xfrm>
            <a:off x="754380" y="5227320"/>
            <a:ext cx="16802100" cy="931545"/>
          </a:xfrm>
          <a:prstGeom prst="rect">
            <a:avLst/>
          </a:prstGeom>
          <a:solidFill>
            <a:srgbClr val="F2F6FB"/>
          </a:solidFill>
          <a:ln>
            <a:noFill/>
          </a:ln>
        </p:spPr>
        <p:txBody>
          <a:bodyPr wrap="none" rtlCol="0" anchor="ctr"/>
          <a:lstStyle/>
          <a:p>
            <a:pPr algn="ctr"/>
            <a:endParaRPr sz="2700"/>
          </a:p>
        </p:txBody>
      </p:sp>
      <p:sp>
        <p:nvSpPr>
          <p:cNvPr id="25" name="TextBox 24"/>
          <p:cNvSpPr txBox="1"/>
          <p:nvPr/>
        </p:nvSpPr>
        <p:spPr>
          <a:xfrm>
            <a:off x="864108" y="5268468"/>
            <a:ext cx="3140964" cy="862965"/>
          </a:xfrm>
          <a:prstGeom prst="rect">
            <a:avLst/>
          </a:prstGeom>
          <a:noFill/>
        </p:spPr>
        <p:txBody>
          <a:bodyPr wrap="square" lIns="0" tIns="0" rIns="0" bIns="0"/>
          <a:lstStyle/>
          <a:p>
            <a:r>
              <a:rPr lang="en-US" sz="1650" b="1" kern="0">
                <a:solidFill>
                  <a:srgbClr val="0B1F3A"/>
                </a:solidFill>
                <a:latin typeface="Calibri"/>
              </a:rPr>
              <a:t>Fort Bend County, TX — Kendleton, Needville, Thompsons, Simonton</a:t>
            </a:r>
          </a:p>
        </p:txBody>
      </p:sp>
      <p:sp>
        <p:nvSpPr>
          <p:cNvPr id="26" name="TextBox 25"/>
          <p:cNvSpPr txBox="1"/>
          <p:nvPr/>
        </p:nvSpPr>
        <p:spPr>
          <a:xfrm>
            <a:off x="4224528" y="5268468"/>
            <a:ext cx="5747004" cy="862965"/>
          </a:xfrm>
          <a:prstGeom prst="rect">
            <a:avLst/>
          </a:prstGeom>
          <a:noFill/>
        </p:spPr>
        <p:txBody>
          <a:bodyPr wrap="square" lIns="0" tIns="0" rIns="0" bIns="0"/>
          <a:lstStyle/>
          <a:p>
            <a:r>
              <a:rPr lang="en-US" sz="1650" kern="0">
                <a:solidFill>
                  <a:srgbClr val="5B6672"/>
                </a:solidFill>
                <a:latin typeface="Calibri"/>
              </a:rPr>
              <a:t>Fiber to thousands of homes and businesses, plus Xfinity and Comcast Business. Completion by the end of 2026.</a:t>
            </a:r>
          </a:p>
        </p:txBody>
      </p:sp>
      <p:sp>
        <p:nvSpPr>
          <p:cNvPr id="27" name="TextBox 26"/>
          <p:cNvSpPr txBox="1"/>
          <p:nvPr/>
        </p:nvSpPr>
        <p:spPr>
          <a:xfrm>
            <a:off x="10190988" y="5268468"/>
            <a:ext cx="4375404" cy="862965"/>
          </a:xfrm>
          <a:prstGeom prst="rect">
            <a:avLst/>
          </a:prstGeom>
          <a:noFill/>
        </p:spPr>
        <p:txBody>
          <a:bodyPr wrap="square" lIns="0" tIns="0" rIns="0" bIns="0"/>
          <a:lstStyle/>
          <a:p>
            <a:r>
              <a:rPr lang="en-US" sz="1650" kern="0">
                <a:solidFill>
                  <a:srgbClr val="5B6672"/>
                </a:solidFill>
                <a:latin typeface="Calibri"/>
              </a:rPr>
              <a:t>$18.9 million project, as Comcast states it. Supported in part by ARPA.</a:t>
            </a:r>
          </a:p>
        </p:txBody>
      </p:sp>
      <p:sp>
        <p:nvSpPr>
          <p:cNvPr id="28" name="TextBox 27"/>
          <p:cNvSpPr txBox="1"/>
          <p:nvPr/>
        </p:nvSpPr>
        <p:spPr>
          <a:xfrm>
            <a:off x="14785848" y="5268468"/>
            <a:ext cx="2660904" cy="862965"/>
          </a:xfrm>
          <a:prstGeom prst="rect">
            <a:avLst/>
          </a:prstGeom>
          <a:noFill/>
        </p:spPr>
        <p:txBody>
          <a:bodyPr wrap="square" lIns="0" tIns="0" rIns="0" bIns="0"/>
          <a:lstStyle/>
          <a:p>
            <a:r>
              <a:rPr lang="en-US" sz="1650" kern="0">
                <a:solidFill>
                  <a:srgbClr val="5B6672"/>
                </a:solidFill>
                <a:latin typeface="Calibri"/>
              </a:rPr>
              <a:t>Comcast story 3 Apr 2026, on an announcement the prior November.</a:t>
            </a:r>
          </a:p>
        </p:txBody>
      </p:sp>
      <p:sp>
        <p:nvSpPr>
          <p:cNvPr id="29" name="TextBox 28"/>
          <p:cNvSpPr txBox="1"/>
          <p:nvPr/>
        </p:nvSpPr>
        <p:spPr>
          <a:xfrm>
            <a:off x="864108" y="6200013"/>
            <a:ext cx="3140964" cy="862965"/>
          </a:xfrm>
          <a:prstGeom prst="rect">
            <a:avLst/>
          </a:prstGeom>
          <a:noFill/>
        </p:spPr>
        <p:txBody>
          <a:bodyPr wrap="square" lIns="0" tIns="0" rIns="0" bIns="0"/>
          <a:lstStyle/>
          <a:p>
            <a:r>
              <a:rPr lang="en-US" sz="1650" b="1" kern="0">
                <a:solidFill>
                  <a:srgbClr val="0B1F3A"/>
                </a:solidFill>
                <a:latin typeface="Calibri"/>
              </a:rPr>
              <a:t>Franklin County, ID — Preston, Franklin, and nearby communities</a:t>
            </a:r>
          </a:p>
        </p:txBody>
      </p:sp>
      <p:sp>
        <p:nvSpPr>
          <p:cNvPr id="30" name="TextBox 29"/>
          <p:cNvSpPr txBox="1"/>
          <p:nvPr/>
        </p:nvSpPr>
        <p:spPr>
          <a:xfrm>
            <a:off x="4224528" y="6200013"/>
            <a:ext cx="5747004" cy="862965"/>
          </a:xfrm>
          <a:prstGeom prst="rect">
            <a:avLst/>
          </a:prstGeom>
          <a:noFill/>
        </p:spPr>
        <p:txBody>
          <a:bodyPr wrap="square" lIns="0" tIns="0" rIns="0" bIns="0"/>
          <a:lstStyle/>
          <a:p>
            <a:r>
              <a:rPr lang="en-US" sz="1650" kern="0">
                <a:solidFill>
                  <a:srgbClr val="5B6672"/>
                </a:solidFill>
                <a:latin typeface="Calibri"/>
              </a:rPr>
              <a:t>Fiber so addresses can buy Xfinity Internet and Mobile and Comcast Business. Thousands of homes and businesses. Completion expected early 2026.</a:t>
            </a:r>
          </a:p>
        </p:txBody>
      </p:sp>
      <p:sp>
        <p:nvSpPr>
          <p:cNvPr id="31" name="TextBox 30"/>
          <p:cNvSpPr txBox="1"/>
          <p:nvPr/>
        </p:nvSpPr>
        <p:spPr>
          <a:xfrm>
            <a:off x="10190988" y="6200013"/>
            <a:ext cx="4375404" cy="862965"/>
          </a:xfrm>
          <a:prstGeom prst="rect">
            <a:avLst/>
          </a:prstGeom>
          <a:noFill/>
        </p:spPr>
        <p:txBody>
          <a:bodyPr wrap="square" lIns="0" tIns="0" rIns="0" bIns="0"/>
          <a:lstStyle/>
          <a:p>
            <a:r>
              <a:rPr lang="en-US" sz="1650" kern="0">
                <a:solidFill>
                  <a:srgbClr val="5B6672"/>
                </a:solidFill>
                <a:latin typeface="Calibri"/>
              </a:rPr>
              <a:t>No dollar figure in the release.</a:t>
            </a:r>
          </a:p>
        </p:txBody>
      </p:sp>
      <p:sp>
        <p:nvSpPr>
          <p:cNvPr id="32" name="TextBox 31"/>
          <p:cNvSpPr txBox="1"/>
          <p:nvPr/>
        </p:nvSpPr>
        <p:spPr>
          <a:xfrm>
            <a:off x="14785848" y="6200013"/>
            <a:ext cx="2660904" cy="862965"/>
          </a:xfrm>
          <a:prstGeom prst="rect">
            <a:avLst/>
          </a:prstGeom>
          <a:noFill/>
        </p:spPr>
        <p:txBody>
          <a:bodyPr wrap="square" lIns="0" tIns="0" rIns="0" bIns="0"/>
          <a:lstStyle/>
          <a:p>
            <a:r>
              <a:rPr lang="en-US" sz="1650" kern="0">
                <a:solidFill>
                  <a:srgbClr val="5B6672"/>
                </a:solidFill>
                <a:latin typeface="Calibri"/>
              </a:rPr>
              <a:t>Comcast announcement 28 Oct 2024. Funding counterparty: State of Idaho.</a:t>
            </a:r>
          </a:p>
        </p:txBody>
      </p:sp>
      <p:grpSp>
        <p:nvGrpSpPr>
          <p:cNvPr id="35" name="Group 143">
            <a:extLst>
              <a:ext uri="{FF2B5EF4-FFF2-40B4-BE49-F238E27FC236}">
                <a16:creationId xmlns:a16="http://schemas.microsoft.com/office/drawing/2014/main" id="{B45A0592-B5A8-670B-31FA-5369191AF467}"/>
              </a:ext>
            </a:extLst>
          </p:cNvPr>
          <p:cNvGrpSpPr/>
          <p:nvPr/>
        </p:nvGrpSpPr>
        <p:grpSpPr>
          <a:xfrm>
            <a:off x="754380" y="9168289"/>
            <a:ext cx="16733521" cy="432911"/>
            <a:chOff x="0" y="-28575"/>
            <a:chExt cx="22311361" cy="577215"/>
          </a:xfrm>
        </p:grpSpPr>
        <p:sp>
          <p:nvSpPr>
            <p:cNvPr id="36" name="Freeform 144">
              <a:extLst>
                <a:ext uri="{FF2B5EF4-FFF2-40B4-BE49-F238E27FC236}">
                  <a16:creationId xmlns:a16="http://schemas.microsoft.com/office/drawing/2014/main" id="{D65181E2-D849-1EB2-BD5B-576BB8F5C82F}"/>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37" name="TextBox 145">
              <a:extLst>
                <a:ext uri="{FF2B5EF4-FFF2-40B4-BE49-F238E27FC236}">
                  <a16:creationId xmlns:a16="http://schemas.microsoft.com/office/drawing/2014/main" id="{520E1B60-4D44-48FC-3C55-BB0AE40E54F7}"/>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Appendix index  (p.12)</a:t>
              </a:r>
            </a:p>
          </p:txBody>
        </p:sp>
      </p:grpSp>
      <p:grpSp>
        <p:nvGrpSpPr>
          <p:cNvPr id="38" name="Group 149">
            <a:extLst>
              <a:ext uri="{FF2B5EF4-FFF2-40B4-BE49-F238E27FC236}">
                <a16:creationId xmlns:a16="http://schemas.microsoft.com/office/drawing/2014/main" id="{F552EB65-3C09-7BE9-698B-48AA1EBF2044}"/>
              </a:ext>
            </a:extLst>
          </p:cNvPr>
          <p:cNvGrpSpPr/>
          <p:nvPr/>
        </p:nvGrpSpPr>
        <p:grpSpPr>
          <a:xfrm>
            <a:off x="754380" y="9648349"/>
            <a:ext cx="16047721" cy="432911"/>
            <a:chOff x="0" y="-28575"/>
            <a:chExt cx="21396961" cy="577215"/>
          </a:xfrm>
        </p:grpSpPr>
        <p:sp>
          <p:nvSpPr>
            <p:cNvPr id="39" name="Freeform 150">
              <a:extLst>
                <a:ext uri="{FF2B5EF4-FFF2-40B4-BE49-F238E27FC236}">
                  <a16:creationId xmlns:a16="http://schemas.microsoft.com/office/drawing/2014/main" id="{C859004C-2905-ECDE-2301-F5C0B1C3517A}"/>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40" name="TextBox 151">
              <a:extLst>
                <a:ext uri="{FF2B5EF4-FFF2-40B4-BE49-F238E27FC236}">
                  <a16:creationId xmlns:a16="http://schemas.microsoft.com/office/drawing/2014/main" id="{D9681945-9B41-19B5-0FBB-FF2664A76BEA}"/>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41" name="Group 2">
            <a:extLst>
              <a:ext uri="{FF2B5EF4-FFF2-40B4-BE49-F238E27FC236}">
                <a16:creationId xmlns:a16="http://schemas.microsoft.com/office/drawing/2014/main" id="{1671123B-639B-B8E7-2EAD-F60DAC135FF5}"/>
              </a:ext>
            </a:extLst>
          </p:cNvPr>
          <p:cNvGrpSpPr/>
          <p:nvPr/>
        </p:nvGrpSpPr>
        <p:grpSpPr>
          <a:xfrm>
            <a:off x="754380" y="417481"/>
            <a:ext cx="11795760" cy="432911"/>
            <a:chOff x="0" y="-28575"/>
            <a:chExt cx="15727680" cy="577215"/>
          </a:xfrm>
        </p:grpSpPr>
        <p:sp>
          <p:nvSpPr>
            <p:cNvPr id="42" name="Freeform 3">
              <a:extLst>
                <a:ext uri="{FF2B5EF4-FFF2-40B4-BE49-F238E27FC236}">
                  <a16:creationId xmlns:a16="http://schemas.microsoft.com/office/drawing/2014/main" id="{65C66231-0E58-4A9B-4431-6DA933BA242F}"/>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3" name="TextBox 4">
              <a:extLst>
                <a:ext uri="{FF2B5EF4-FFF2-40B4-BE49-F238E27FC236}">
                  <a16:creationId xmlns:a16="http://schemas.microsoft.com/office/drawing/2014/main" id="{F4FD062F-D56C-D0CC-EC5A-B9DFF3957C56}"/>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A46  COMCAST PUBLIC PARTNERSHIPS</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4380" y="1078563"/>
            <a:ext cx="16802100" cy="548640"/>
          </a:xfrm>
          <a:prstGeom prst="rect">
            <a:avLst/>
          </a:prstGeom>
          <a:noFill/>
        </p:spPr>
        <p:txBody>
          <a:bodyPr wrap="square" lIns="0" tIns="0" rIns="0" bIns="0"/>
          <a:lstStyle/>
          <a:p>
            <a:r>
              <a:rPr lang="en-US" sz="3000" b="1" kern="0">
                <a:solidFill>
                  <a:srgbClr val="0B1F3A"/>
                </a:solidFill>
                <a:latin typeface="Calibri"/>
              </a:rPr>
              <a:t>Housing authorities buy in-building connectivity; no source shows Spectrum households taken</a:t>
            </a:r>
          </a:p>
        </p:txBody>
      </p:sp>
      <p:sp>
        <p:nvSpPr>
          <p:cNvPr id="4" name="TextBox 3"/>
          <p:cNvSpPr txBox="1"/>
          <p:nvPr/>
        </p:nvSpPr>
        <p:spPr>
          <a:xfrm>
            <a:off x="754380" y="8089725"/>
            <a:ext cx="16733520" cy="301752"/>
          </a:xfrm>
          <a:prstGeom prst="rect">
            <a:avLst/>
          </a:prstGeom>
          <a:noFill/>
        </p:spPr>
        <p:txBody>
          <a:bodyPr wrap="square" lIns="0" tIns="0" rIns="0" bIns="0"/>
          <a:lstStyle/>
          <a:p>
            <a:r>
              <a:rPr lang="en-US" sz="1350" i="1" kern="0">
                <a:solidFill>
                  <a:srgbClr val="8A94A0"/>
                </a:solidFill>
                <a:latin typeface="Calibri"/>
              </a:rPr>
              <a:t>Source: St. Paul PHA news, 11 Jun 2024; Marin County agreement, 23 Jul 2024; Massachusetts Broadband Institute, 6 Aug 2025. Clark County franchise, 1 Jul 2024–30 Jun 2034. Comcast FY2025 Form 10-K. Retrieved 28 Sep 2026.</a:t>
            </a:r>
          </a:p>
        </p:txBody>
      </p:sp>
      <p:sp>
        <p:nvSpPr>
          <p:cNvPr id="7" name="Rectangle 6"/>
          <p:cNvSpPr/>
          <p:nvPr/>
        </p:nvSpPr>
        <p:spPr>
          <a:xfrm>
            <a:off x="754380" y="1736931"/>
            <a:ext cx="16802100" cy="411480"/>
          </a:xfrm>
          <a:prstGeom prst="rect">
            <a:avLst/>
          </a:prstGeom>
          <a:solidFill>
            <a:srgbClr val="0B1F3A"/>
          </a:solidFill>
          <a:ln>
            <a:noFill/>
          </a:ln>
        </p:spPr>
        <p:txBody>
          <a:bodyPr wrap="none" rtlCol="0" anchor="ctr"/>
          <a:lstStyle/>
          <a:p>
            <a:pPr algn="ctr"/>
            <a:endParaRPr sz="2700"/>
          </a:p>
        </p:txBody>
      </p:sp>
      <p:sp>
        <p:nvSpPr>
          <p:cNvPr id="8" name="TextBox 7"/>
          <p:cNvSpPr txBox="1"/>
          <p:nvPr/>
        </p:nvSpPr>
        <p:spPr>
          <a:xfrm>
            <a:off x="864108" y="1736931"/>
            <a:ext cx="3278124" cy="411480"/>
          </a:xfrm>
          <a:prstGeom prst="rect">
            <a:avLst/>
          </a:prstGeom>
          <a:noFill/>
        </p:spPr>
        <p:txBody>
          <a:bodyPr wrap="square" lIns="0" tIns="0" rIns="0" bIns="0"/>
          <a:lstStyle/>
          <a:p>
            <a:r>
              <a:rPr lang="en-US" sz="1500" b="1" kern="0">
                <a:solidFill>
                  <a:srgbClr val="FFFFFF"/>
                </a:solidFill>
                <a:latin typeface="Calibri"/>
              </a:rPr>
              <a:t>Place</a:t>
            </a:r>
          </a:p>
        </p:txBody>
      </p:sp>
      <p:sp>
        <p:nvSpPr>
          <p:cNvPr id="9" name="TextBox 8"/>
          <p:cNvSpPr txBox="1"/>
          <p:nvPr/>
        </p:nvSpPr>
        <p:spPr>
          <a:xfrm>
            <a:off x="4361688" y="1736931"/>
            <a:ext cx="3689604" cy="411480"/>
          </a:xfrm>
          <a:prstGeom prst="rect">
            <a:avLst/>
          </a:prstGeom>
          <a:noFill/>
        </p:spPr>
        <p:txBody>
          <a:bodyPr wrap="square" lIns="0" tIns="0" rIns="0" bIns="0"/>
          <a:lstStyle/>
          <a:p>
            <a:r>
              <a:rPr lang="en-US" sz="1500" b="1" kern="0">
                <a:solidFill>
                  <a:srgbClr val="FFFFFF"/>
                </a:solidFill>
                <a:latin typeface="Calibri"/>
              </a:rPr>
              <a:t>Buyer</a:t>
            </a:r>
          </a:p>
        </p:txBody>
      </p:sp>
      <p:sp>
        <p:nvSpPr>
          <p:cNvPr id="10" name="TextBox 9"/>
          <p:cNvSpPr txBox="1"/>
          <p:nvPr/>
        </p:nvSpPr>
        <p:spPr>
          <a:xfrm>
            <a:off x="8270748" y="1736931"/>
            <a:ext cx="5472684" cy="411480"/>
          </a:xfrm>
          <a:prstGeom prst="rect">
            <a:avLst/>
          </a:prstGeom>
          <a:noFill/>
        </p:spPr>
        <p:txBody>
          <a:bodyPr wrap="square" lIns="0" tIns="0" rIns="0" bIns="0"/>
          <a:lstStyle/>
          <a:p>
            <a:r>
              <a:rPr lang="en-US" sz="1500" b="1" kern="0">
                <a:solidFill>
                  <a:srgbClr val="FFFFFF"/>
                </a:solidFill>
                <a:latin typeface="Calibri"/>
              </a:rPr>
              <a:t>What is sold</a:t>
            </a:r>
          </a:p>
        </p:txBody>
      </p:sp>
      <p:sp>
        <p:nvSpPr>
          <p:cNvPr id="11" name="TextBox 10"/>
          <p:cNvSpPr txBox="1"/>
          <p:nvPr/>
        </p:nvSpPr>
        <p:spPr>
          <a:xfrm>
            <a:off x="13962888" y="1736931"/>
            <a:ext cx="3483864" cy="411480"/>
          </a:xfrm>
          <a:prstGeom prst="rect">
            <a:avLst/>
          </a:prstGeom>
          <a:noFill/>
        </p:spPr>
        <p:txBody>
          <a:bodyPr wrap="square" lIns="0" tIns="0" rIns="0" bIns="0"/>
          <a:lstStyle/>
          <a:p>
            <a:r>
              <a:rPr lang="en-US" sz="1500" b="1" kern="0">
                <a:solidFill>
                  <a:srgbClr val="FFFFFF"/>
                </a:solidFill>
                <a:latin typeface="Calibri"/>
              </a:rPr>
              <a:t>As printed</a:t>
            </a:r>
          </a:p>
        </p:txBody>
      </p:sp>
      <p:sp>
        <p:nvSpPr>
          <p:cNvPr id="12" name="Rectangle 11"/>
          <p:cNvSpPr/>
          <p:nvPr/>
        </p:nvSpPr>
        <p:spPr>
          <a:xfrm>
            <a:off x="754380" y="2148411"/>
            <a:ext cx="16802100" cy="904113"/>
          </a:xfrm>
          <a:prstGeom prst="rect">
            <a:avLst/>
          </a:prstGeom>
          <a:solidFill>
            <a:srgbClr val="F2F6FB"/>
          </a:solidFill>
          <a:ln>
            <a:noFill/>
          </a:ln>
        </p:spPr>
        <p:txBody>
          <a:bodyPr wrap="none" rtlCol="0" anchor="ctr"/>
          <a:lstStyle/>
          <a:p>
            <a:pPr algn="ctr"/>
            <a:endParaRPr sz="2700"/>
          </a:p>
        </p:txBody>
      </p:sp>
      <p:sp>
        <p:nvSpPr>
          <p:cNvPr id="13" name="TextBox 12"/>
          <p:cNvSpPr txBox="1"/>
          <p:nvPr/>
        </p:nvSpPr>
        <p:spPr>
          <a:xfrm>
            <a:off x="864108" y="2189559"/>
            <a:ext cx="3278124" cy="835533"/>
          </a:xfrm>
          <a:prstGeom prst="rect">
            <a:avLst/>
          </a:prstGeom>
          <a:noFill/>
        </p:spPr>
        <p:txBody>
          <a:bodyPr wrap="square" lIns="0" tIns="0" rIns="0" bIns="0"/>
          <a:lstStyle/>
          <a:p>
            <a:r>
              <a:rPr lang="en-US" sz="1650" b="1" kern="0">
                <a:solidFill>
                  <a:srgbClr val="0B1F3A"/>
                </a:solidFill>
                <a:latin typeface="Calibri"/>
              </a:rPr>
              <a:t>St. Paul PHA hi-rises, MN</a:t>
            </a:r>
          </a:p>
        </p:txBody>
      </p:sp>
      <p:sp>
        <p:nvSpPr>
          <p:cNvPr id="14" name="TextBox 13"/>
          <p:cNvSpPr txBox="1"/>
          <p:nvPr/>
        </p:nvSpPr>
        <p:spPr>
          <a:xfrm>
            <a:off x="4361688" y="2189559"/>
            <a:ext cx="3689604" cy="835533"/>
          </a:xfrm>
          <a:prstGeom prst="rect">
            <a:avLst/>
          </a:prstGeom>
          <a:noFill/>
        </p:spPr>
        <p:txBody>
          <a:bodyPr wrap="square" lIns="0" tIns="0" rIns="0" bIns="0"/>
          <a:lstStyle/>
          <a:p>
            <a:r>
              <a:rPr lang="en-US" sz="1650" kern="0">
                <a:solidFill>
                  <a:srgbClr val="5B6672"/>
                </a:solidFill>
                <a:latin typeface="Calibri"/>
              </a:rPr>
              <a:t>Public housing agency. First housing authority in Minnesota in this arrangement, on the PHA’s account.</a:t>
            </a:r>
          </a:p>
        </p:txBody>
      </p:sp>
      <p:sp>
        <p:nvSpPr>
          <p:cNvPr id="15" name="TextBox 14"/>
          <p:cNvSpPr txBox="1"/>
          <p:nvPr/>
        </p:nvSpPr>
        <p:spPr>
          <a:xfrm>
            <a:off x="8270748" y="2189559"/>
            <a:ext cx="5472684" cy="835533"/>
          </a:xfrm>
          <a:prstGeom prst="rect">
            <a:avLst/>
          </a:prstGeom>
          <a:noFill/>
        </p:spPr>
        <p:txBody>
          <a:bodyPr wrap="square" lIns="0" tIns="0" rIns="0" bIns="0"/>
          <a:lstStyle/>
          <a:p>
            <a:r>
              <a:rPr lang="en-US" sz="1650" kern="0">
                <a:solidFill>
                  <a:srgbClr val="5B6672"/>
                </a:solidFill>
                <a:latin typeface="Calibri"/>
              </a:rPr>
              <a:t>Pre-installed connectivity. A free modem in each unit, at no cost to the PHA or the tenant. Starts at Central and Montreal, then 14 more hi-rises.</a:t>
            </a:r>
          </a:p>
        </p:txBody>
      </p:sp>
      <p:sp>
        <p:nvSpPr>
          <p:cNvPr id="16" name="TextBox 15"/>
          <p:cNvSpPr txBox="1"/>
          <p:nvPr/>
        </p:nvSpPr>
        <p:spPr>
          <a:xfrm>
            <a:off x="13962888" y="2189559"/>
            <a:ext cx="3483864" cy="835533"/>
          </a:xfrm>
          <a:prstGeom prst="rect">
            <a:avLst/>
          </a:prstGeom>
          <a:noFill/>
        </p:spPr>
        <p:txBody>
          <a:bodyPr wrap="square" lIns="0" tIns="0" rIns="0" bIns="0"/>
          <a:lstStyle/>
          <a:p>
            <a:r>
              <a:rPr lang="en-US" sz="1650" kern="0">
                <a:solidFill>
                  <a:srgbClr val="5B6672"/>
                </a:solidFill>
                <a:latin typeface="Calibri"/>
              </a:rPr>
              <a:t>No contract dollar in the PHA account. Event 11 Jun 2024.</a:t>
            </a:r>
          </a:p>
        </p:txBody>
      </p:sp>
      <p:sp>
        <p:nvSpPr>
          <p:cNvPr id="17" name="TextBox 16"/>
          <p:cNvSpPr txBox="1"/>
          <p:nvPr/>
        </p:nvSpPr>
        <p:spPr>
          <a:xfrm>
            <a:off x="864108" y="3093672"/>
            <a:ext cx="3278124" cy="835533"/>
          </a:xfrm>
          <a:prstGeom prst="rect">
            <a:avLst/>
          </a:prstGeom>
          <a:noFill/>
        </p:spPr>
        <p:txBody>
          <a:bodyPr wrap="square" lIns="0" tIns="0" rIns="0" bIns="0"/>
          <a:lstStyle/>
          <a:p>
            <a:r>
              <a:rPr lang="en-US" sz="1650" b="1" kern="0">
                <a:solidFill>
                  <a:srgbClr val="0B1F3A"/>
                </a:solidFill>
                <a:latin typeface="Calibri"/>
              </a:rPr>
              <a:t>Marin Housing Authority, CA</a:t>
            </a:r>
          </a:p>
        </p:txBody>
      </p:sp>
      <p:sp>
        <p:nvSpPr>
          <p:cNvPr id="18" name="TextBox 17"/>
          <p:cNvSpPr txBox="1"/>
          <p:nvPr/>
        </p:nvSpPr>
        <p:spPr>
          <a:xfrm>
            <a:off x="4361688" y="3093672"/>
            <a:ext cx="3689604" cy="835533"/>
          </a:xfrm>
          <a:prstGeom prst="rect">
            <a:avLst/>
          </a:prstGeom>
          <a:noFill/>
        </p:spPr>
        <p:txBody>
          <a:bodyPr wrap="square" lIns="0" tIns="0" rIns="0" bIns="0"/>
          <a:lstStyle/>
          <a:p>
            <a:r>
              <a:rPr lang="en-US" sz="1650" kern="0">
                <a:solidFill>
                  <a:srgbClr val="5B6672"/>
                </a:solidFill>
                <a:latin typeface="Calibri"/>
              </a:rPr>
              <a:t>Housing authority. County ARPA funds pay MHA, which pays Comcast. The county is not on the Comcast contract.</a:t>
            </a:r>
          </a:p>
        </p:txBody>
      </p:sp>
      <p:sp>
        <p:nvSpPr>
          <p:cNvPr id="19" name="TextBox 18"/>
          <p:cNvSpPr txBox="1"/>
          <p:nvPr/>
        </p:nvSpPr>
        <p:spPr>
          <a:xfrm>
            <a:off x="8270748" y="3093672"/>
            <a:ext cx="5472684" cy="835533"/>
          </a:xfrm>
          <a:prstGeom prst="rect">
            <a:avLst/>
          </a:prstGeom>
          <a:noFill/>
        </p:spPr>
        <p:txBody>
          <a:bodyPr wrap="square" lIns="0" tIns="0" rIns="0" bIns="0"/>
          <a:lstStyle/>
          <a:p>
            <a:r>
              <a:rPr lang="en-US" sz="1650" kern="0">
                <a:solidFill>
                  <a:srgbClr val="5B6672"/>
                </a:solidFill>
                <a:latin typeface="Calibri"/>
              </a:rPr>
              <a:t>Broadband at Kruger Pines, Homestead Terrace, Golden Hinde, Venetia Oaks, and Casa Nova.</a:t>
            </a:r>
          </a:p>
        </p:txBody>
      </p:sp>
      <p:sp>
        <p:nvSpPr>
          <p:cNvPr id="20" name="TextBox 19"/>
          <p:cNvSpPr txBox="1"/>
          <p:nvPr/>
        </p:nvSpPr>
        <p:spPr>
          <a:xfrm>
            <a:off x="13962888" y="3093672"/>
            <a:ext cx="3483864" cy="835533"/>
          </a:xfrm>
          <a:prstGeom prst="rect">
            <a:avLst/>
          </a:prstGeom>
          <a:noFill/>
        </p:spPr>
        <p:txBody>
          <a:bodyPr wrap="square" lIns="0" tIns="0" rIns="0" bIns="0"/>
          <a:lstStyle/>
          <a:p>
            <a:r>
              <a:rPr lang="en-US" sz="1650" kern="0">
                <a:solidFill>
                  <a:srgbClr val="5B6672"/>
                </a:solidFill>
                <a:latin typeface="Calibri"/>
              </a:rPr>
              <a:t>Up to $20 per month per interested resident for two years. 23 Jul 2024.</a:t>
            </a:r>
          </a:p>
        </p:txBody>
      </p:sp>
      <p:sp>
        <p:nvSpPr>
          <p:cNvPr id="21" name="Rectangle 20"/>
          <p:cNvSpPr/>
          <p:nvPr/>
        </p:nvSpPr>
        <p:spPr>
          <a:xfrm>
            <a:off x="754380" y="3956637"/>
            <a:ext cx="16802100" cy="904113"/>
          </a:xfrm>
          <a:prstGeom prst="rect">
            <a:avLst/>
          </a:prstGeom>
          <a:solidFill>
            <a:srgbClr val="F2F6FB"/>
          </a:solidFill>
          <a:ln>
            <a:noFill/>
          </a:ln>
        </p:spPr>
        <p:txBody>
          <a:bodyPr wrap="none" rtlCol="0" anchor="ctr"/>
          <a:lstStyle/>
          <a:p>
            <a:pPr algn="ctr"/>
            <a:endParaRPr sz="2700"/>
          </a:p>
        </p:txBody>
      </p:sp>
      <p:sp>
        <p:nvSpPr>
          <p:cNvPr id="22" name="TextBox 21"/>
          <p:cNvSpPr txBox="1"/>
          <p:nvPr/>
        </p:nvSpPr>
        <p:spPr>
          <a:xfrm>
            <a:off x="864108" y="3997785"/>
            <a:ext cx="3278124" cy="835533"/>
          </a:xfrm>
          <a:prstGeom prst="rect">
            <a:avLst/>
          </a:prstGeom>
          <a:noFill/>
        </p:spPr>
        <p:txBody>
          <a:bodyPr wrap="square" lIns="0" tIns="0" rIns="0" bIns="0"/>
          <a:lstStyle/>
          <a:p>
            <a:r>
              <a:rPr lang="en-US" sz="1650" b="1" kern="0">
                <a:solidFill>
                  <a:srgbClr val="0B1F3A"/>
                </a:solidFill>
                <a:latin typeface="Calibri"/>
              </a:rPr>
              <a:t>Massachusetts Residential Retrofit — Comcast slice</a:t>
            </a:r>
          </a:p>
        </p:txBody>
      </p:sp>
      <p:sp>
        <p:nvSpPr>
          <p:cNvPr id="23" name="TextBox 22"/>
          <p:cNvSpPr txBox="1"/>
          <p:nvPr/>
        </p:nvSpPr>
        <p:spPr>
          <a:xfrm>
            <a:off x="4361688" y="3997785"/>
            <a:ext cx="3689604" cy="835533"/>
          </a:xfrm>
          <a:prstGeom prst="rect">
            <a:avLst/>
          </a:prstGeom>
          <a:noFill/>
        </p:spPr>
        <p:txBody>
          <a:bodyPr wrap="square" lIns="0" tIns="0" rIns="0" bIns="0"/>
          <a:lstStyle/>
          <a:p>
            <a:r>
              <a:rPr lang="en-US" sz="1650" kern="0">
                <a:solidFill>
                  <a:srgbClr val="5B6672"/>
                </a:solidFill>
                <a:latin typeface="Calibri"/>
              </a:rPr>
              <a:t>State grant via the Massachusetts Broadband Institute to Comcast Cable Communications.</a:t>
            </a:r>
          </a:p>
        </p:txBody>
      </p:sp>
      <p:sp>
        <p:nvSpPr>
          <p:cNvPr id="24" name="TextBox 23"/>
          <p:cNvSpPr txBox="1"/>
          <p:nvPr/>
        </p:nvSpPr>
        <p:spPr>
          <a:xfrm>
            <a:off x="8270748" y="3997785"/>
            <a:ext cx="5472684" cy="835533"/>
          </a:xfrm>
          <a:prstGeom prst="rect">
            <a:avLst/>
          </a:prstGeom>
          <a:noFill/>
        </p:spPr>
        <p:txBody>
          <a:bodyPr wrap="square" lIns="0" tIns="0" rIns="0" bIns="0"/>
          <a:lstStyle/>
          <a:p>
            <a:r>
              <a:rPr lang="en-US" sz="1650" kern="0">
                <a:solidFill>
                  <a:srgbClr val="5B6672"/>
                </a:solidFill>
                <a:latin typeface="Calibri"/>
              </a:rPr>
              <a:t>Income-eligible plans of at least 100/100 Mbps, common-area Wi-Fi, and open access to in-building wiring. Open access differs from exclusive home-run terms.</a:t>
            </a:r>
          </a:p>
        </p:txBody>
      </p:sp>
      <p:sp>
        <p:nvSpPr>
          <p:cNvPr id="25" name="TextBox 24"/>
          <p:cNvSpPr txBox="1"/>
          <p:nvPr/>
        </p:nvSpPr>
        <p:spPr>
          <a:xfrm>
            <a:off x="13962888" y="3997785"/>
            <a:ext cx="3483864" cy="835533"/>
          </a:xfrm>
          <a:prstGeom prst="rect">
            <a:avLst/>
          </a:prstGeom>
          <a:noFill/>
        </p:spPr>
        <p:txBody>
          <a:bodyPr wrap="square" lIns="0" tIns="0" rIns="0" bIns="0"/>
          <a:lstStyle/>
          <a:p>
            <a:r>
              <a:rPr lang="en-US" sz="1650" kern="0">
                <a:solidFill>
                  <a:srgbClr val="5B6672"/>
                </a:solidFill>
                <a:latin typeface="Calibri"/>
              </a:rPr>
              <a:t>$12,932,384 for 5,179 units. Release 6 Aug 2025.</a:t>
            </a:r>
          </a:p>
        </p:txBody>
      </p:sp>
      <p:sp>
        <p:nvSpPr>
          <p:cNvPr id="26" name="Rectangle 25"/>
          <p:cNvSpPr/>
          <p:nvPr/>
        </p:nvSpPr>
        <p:spPr>
          <a:xfrm>
            <a:off x="754380" y="4970478"/>
            <a:ext cx="96012" cy="986409"/>
          </a:xfrm>
          <a:prstGeom prst="rect">
            <a:avLst/>
          </a:prstGeom>
          <a:solidFill>
            <a:srgbClr val="0072CE"/>
          </a:solidFill>
          <a:ln>
            <a:noFill/>
          </a:ln>
        </p:spPr>
        <p:txBody>
          <a:bodyPr wrap="none" rtlCol="0" anchor="ctr"/>
          <a:lstStyle/>
          <a:p>
            <a:pPr algn="ctr"/>
            <a:endParaRPr sz="2700"/>
          </a:p>
        </p:txBody>
      </p:sp>
      <p:sp>
        <p:nvSpPr>
          <p:cNvPr id="27" name="Rectangle 26"/>
          <p:cNvSpPr/>
          <p:nvPr/>
        </p:nvSpPr>
        <p:spPr>
          <a:xfrm>
            <a:off x="850392" y="4970478"/>
            <a:ext cx="16706088" cy="986409"/>
          </a:xfrm>
          <a:prstGeom prst="rect">
            <a:avLst/>
          </a:prstGeom>
          <a:solidFill>
            <a:srgbClr val="F2F6FB"/>
          </a:solidFill>
          <a:ln>
            <a:noFill/>
          </a:ln>
        </p:spPr>
        <p:txBody>
          <a:bodyPr wrap="none" rtlCol="0" anchor="ctr"/>
          <a:lstStyle/>
          <a:p>
            <a:pPr algn="ctr"/>
            <a:endParaRPr sz="2700"/>
          </a:p>
        </p:txBody>
      </p:sp>
      <p:sp>
        <p:nvSpPr>
          <p:cNvPr id="28" name="TextBox 27"/>
          <p:cNvSpPr txBox="1"/>
          <p:nvPr/>
        </p:nvSpPr>
        <p:spPr>
          <a:xfrm>
            <a:off x="1042416" y="4970478"/>
            <a:ext cx="16322040" cy="986409"/>
          </a:xfrm>
          <a:prstGeom prst="rect">
            <a:avLst/>
          </a:prstGeom>
          <a:noFill/>
        </p:spPr>
        <p:txBody>
          <a:bodyPr wrap="square" lIns="0" tIns="0" rIns="0" bIns="0"/>
          <a:lstStyle/>
          <a:p>
            <a:r>
              <a:rPr lang="en-US" sz="1650" kern="0">
                <a:solidFill>
                  <a:srgbClr val="0B1F3A"/>
                </a:solidFill>
                <a:latin typeface="Calibri"/>
              </a:rPr>
              <a:t>Housing authorities on Comcast’s Massachusetts slice: Lawrence 659, Chelsea 566, Saugus 313, Melrose 155, Aquinnah Wampanoag Tribal Housing Authority 28 listed at Chilmark (Aquinnah count not printed). The four-provider award of $31,548,018 for more than 13,700 units is the state’s total. Private operators on the same award are not housing authorities.</a:t>
            </a:r>
          </a:p>
        </p:txBody>
      </p:sp>
      <p:sp>
        <p:nvSpPr>
          <p:cNvPr id="29" name="Rectangle 28"/>
          <p:cNvSpPr/>
          <p:nvPr/>
        </p:nvSpPr>
        <p:spPr>
          <a:xfrm>
            <a:off x="754380" y="6094047"/>
            <a:ext cx="5417820" cy="438912"/>
          </a:xfrm>
          <a:prstGeom prst="rect">
            <a:avLst/>
          </a:prstGeom>
          <a:solidFill>
            <a:srgbClr val="0B1F3A"/>
          </a:solidFill>
          <a:ln>
            <a:noFill/>
          </a:ln>
        </p:spPr>
        <p:txBody>
          <a:bodyPr wrap="none" rtlCol="0" anchor="ctr"/>
          <a:lstStyle/>
          <a:p>
            <a:pPr algn="ctr"/>
            <a:endParaRPr sz="2700"/>
          </a:p>
        </p:txBody>
      </p:sp>
      <p:sp>
        <p:nvSpPr>
          <p:cNvPr id="30" name="TextBox 29"/>
          <p:cNvSpPr txBox="1"/>
          <p:nvPr/>
        </p:nvSpPr>
        <p:spPr>
          <a:xfrm>
            <a:off x="891540" y="6094047"/>
            <a:ext cx="5143500" cy="438912"/>
          </a:xfrm>
          <a:prstGeom prst="rect">
            <a:avLst/>
          </a:prstGeom>
          <a:noFill/>
        </p:spPr>
        <p:txBody>
          <a:bodyPr wrap="square" lIns="0" tIns="0" rIns="0" bIns="0"/>
          <a:lstStyle/>
          <a:p>
            <a:r>
              <a:rPr lang="en-US" sz="1500" b="1" kern="0">
                <a:solidFill>
                  <a:srgbClr val="FFFFFF"/>
                </a:solidFill>
                <a:latin typeface="Calibri"/>
              </a:rPr>
              <a:t>FRANCHISE RENEWAL</a:t>
            </a:r>
          </a:p>
        </p:txBody>
      </p:sp>
      <p:sp>
        <p:nvSpPr>
          <p:cNvPr id="31" name="Rectangle 30"/>
          <p:cNvSpPr/>
          <p:nvPr/>
        </p:nvSpPr>
        <p:spPr>
          <a:xfrm>
            <a:off x="754380" y="6532959"/>
            <a:ext cx="5417820" cy="1316736"/>
          </a:xfrm>
          <a:prstGeom prst="rect">
            <a:avLst/>
          </a:prstGeom>
          <a:solidFill>
            <a:srgbClr val="F2F6FB"/>
          </a:solidFill>
          <a:ln>
            <a:noFill/>
          </a:ln>
        </p:spPr>
        <p:txBody>
          <a:bodyPr wrap="none" rtlCol="0" anchor="ctr"/>
          <a:lstStyle/>
          <a:p>
            <a:pPr algn="ctr"/>
            <a:endParaRPr sz="2700"/>
          </a:p>
        </p:txBody>
      </p:sp>
      <p:sp>
        <p:nvSpPr>
          <p:cNvPr id="32" name="TextBox 31"/>
          <p:cNvSpPr txBox="1"/>
          <p:nvPr/>
        </p:nvSpPr>
        <p:spPr>
          <a:xfrm>
            <a:off x="891540" y="6615255"/>
            <a:ext cx="5143500" cy="1152144"/>
          </a:xfrm>
          <a:prstGeom prst="rect">
            <a:avLst/>
          </a:prstGeom>
          <a:noFill/>
        </p:spPr>
        <p:txBody>
          <a:bodyPr wrap="square" lIns="0" tIns="0" rIns="0" bIns="0"/>
          <a:lstStyle/>
          <a:p>
            <a:r>
              <a:rPr lang="en-US" sz="1650" kern="0">
                <a:solidFill>
                  <a:srgbClr val="5B6672"/>
                </a:solidFill>
                <a:latin typeface="Calibri"/>
              </a:rPr>
              <a:t>Clark County, WA, and Comcast Cable Communications Management, LLC, entered a nonexclusive cable franchise effective 1 Jul 2024 through 30 Jun 2034. A right-of-way renewal, including public-access obligations.</a:t>
            </a:r>
          </a:p>
        </p:txBody>
      </p:sp>
      <p:sp>
        <p:nvSpPr>
          <p:cNvPr id="33" name="Rectangle 32"/>
          <p:cNvSpPr/>
          <p:nvPr/>
        </p:nvSpPr>
        <p:spPr>
          <a:xfrm>
            <a:off x="6446520" y="6094047"/>
            <a:ext cx="5417820" cy="438912"/>
          </a:xfrm>
          <a:prstGeom prst="rect">
            <a:avLst/>
          </a:prstGeom>
          <a:solidFill>
            <a:srgbClr val="0B1F3A"/>
          </a:solidFill>
          <a:ln>
            <a:noFill/>
          </a:ln>
        </p:spPr>
        <p:txBody>
          <a:bodyPr wrap="none" rtlCol="0" anchor="ctr"/>
          <a:lstStyle/>
          <a:p>
            <a:pPr algn="ctr"/>
            <a:endParaRPr sz="2700"/>
          </a:p>
        </p:txBody>
      </p:sp>
      <p:sp>
        <p:nvSpPr>
          <p:cNvPr id="34" name="TextBox 33"/>
          <p:cNvSpPr txBox="1"/>
          <p:nvPr/>
        </p:nvSpPr>
        <p:spPr>
          <a:xfrm>
            <a:off x="6583680" y="6094047"/>
            <a:ext cx="5143500" cy="438912"/>
          </a:xfrm>
          <a:prstGeom prst="rect">
            <a:avLst/>
          </a:prstGeom>
          <a:noFill/>
        </p:spPr>
        <p:txBody>
          <a:bodyPr wrap="square" lIns="0" tIns="0" rIns="0" bIns="0"/>
          <a:lstStyle/>
          <a:p>
            <a:r>
              <a:rPr lang="en-US" sz="1500" b="1" kern="0">
                <a:solidFill>
                  <a:srgbClr val="FFFFFF"/>
                </a:solidFill>
                <a:latin typeface="Calibri"/>
              </a:rPr>
              <a:t>NO BULK REVENUE LINE</a:t>
            </a:r>
          </a:p>
        </p:txBody>
      </p:sp>
      <p:sp>
        <p:nvSpPr>
          <p:cNvPr id="35" name="Rectangle 34"/>
          <p:cNvSpPr/>
          <p:nvPr/>
        </p:nvSpPr>
        <p:spPr>
          <a:xfrm>
            <a:off x="6446520" y="6532959"/>
            <a:ext cx="5417820" cy="1316736"/>
          </a:xfrm>
          <a:prstGeom prst="rect">
            <a:avLst/>
          </a:prstGeom>
          <a:solidFill>
            <a:srgbClr val="F2F6FB"/>
          </a:solidFill>
          <a:ln>
            <a:noFill/>
          </a:ln>
        </p:spPr>
        <p:txBody>
          <a:bodyPr wrap="none" rtlCol="0" anchor="ctr"/>
          <a:lstStyle/>
          <a:p>
            <a:pPr algn="ctr"/>
            <a:endParaRPr sz="2700"/>
          </a:p>
        </p:txBody>
      </p:sp>
      <p:sp>
        <p:nvSpPr>
          <p:cNvPr id="36" name="TextBox 35"/>
          <p:cNvSpPr txBox="1"/>
          <p:nvPr/>
        </p:nvSpPr>
        <p:spPr>
          <a:xfrm>
            <a:off x="6583680" y="6615255"/>
            <a:ext cx="5143500" cy="1152144"/>
          </a:xfrm>
          <a:prstGeom prst="rect">
            <a:avLst/>
          </a:prstGeom>
          <a:noFill/>
        </p:spPr>
        <p:txBody>
          <a:bodyPr wrap="square" lIns="0" tIns="0" rIns="0" bIns="0"/>
          <a:lstStyle/>
          <a:p>
            <a:r>
              <a:rPr lang="en-US" sz="1650" kern="0">
                <a:solidFill>
                  <a:srgbClr val="5B6672"/>
                </a:solidFill>
                <a:latin typeface="Calibri"/>
              </a:rPr>
              <a:t>The fiscal 2025 Form 10-K does not break out bulk, MDU, or community-association revenue. Franchise-fee language in that filing covers cable franchises, not HOA door fees.</a:t>
            </a:r>
          </a:p>
        </p:txBody>
      </p:sp>
      <p:sp>
        <p:nvSpPr>
          <p:cNvPr id="37" name="Rectangle 36"/>
          <p:cNvSpPr/>
          <p:nvPr/>
        </p:nvSpPr>
        <p:spPr>
          <a:xfrm>
            <a:off x="12138660" y="6094047"/>
            <a:ext cx="5417820" cy="438912"/>
          </a:xfrm>
          <a:prstGeom prst="rect">
            <a:avLst/>
          </a:prstGeom>
          <a:solidFill>
            <a:srgbClr val="0B1F3A"/>
          </a:solidFill>
          <a:ln>
            <a:noFill/>
          </a:ln>
        </p:spPr>
        <p:txBody>
          <a:bodyPr wrap="none" rtlCol="0" anchor="ctr"/>
          <a:lstStyle/>
          <a:p>
            <a:pPr algn="ctr"/>
            <a:endParaRPr sz="2700"/>
          </a:p>
        </p:txBody>
      </p:sp>
      <p:sp>
        <p:nvSpPr>
          <p:cNvPr id="38" name="TextBox 37"/>
          <p:cNvSpPr txBox="1"/>
          <p:nvPr/>
        </p:nvSpPr>
        <p:spPr>
          <a:xfrm>
            <a:off x="12275820" y="6094047"/>
            <a:ext cx="5143500" cy="438912"/>
          </a:xfrm>
          <a:prstGeom prst="rect">
            <a:avLst/>
          </a:prstGeom>
          <a:noFill/>
        </p:spPr>
        <p:txBody>
          <a:bodyPr wrap="square" lIns="0" tIns="0" rIns="0" bIns="0"/>
          <a:lstStyle/>
          <a:p>
            <a:r>
              <a:rPr lang="en-US" sz="1500" b="1" kern="0">
                <a:solidFill>
                  <a:srgbClr val="FFFFFF"/>
                </a:solidFill>
                <a:latin typeface="Calibri"/>
              </a:rPr>
              <a:t>NO HOUSEHOLD CLAIM</a:t>
            </a:r>
          </a:p>
        </p:txBody>
      </p:sp>
      <p:sp>
        <p:nvSpPr>
          <p:cNvPr id="39" name="Rectangle 38"/>
          <p:cNvSpPr/>
          <p:nvPr/>
        </p:nvSpPr>
        <p:spPr>
          <a:xfrm>
            <a:off x="12138660" y="6532959"/>
            <a:ext cx="5417820" cy="1316736"/>
          </a:xfrm>
          <a:prstGeom prst="rect">
            <a:avLst/>
          </a:prstGeom>
          <a:solidFill>
            <a:srgbClr val="F2F6FB"/>
          </a:solidFill>
          <a:ln>
            <a:noFill/>
          </a:ln>
        </p:spPr>
        <p:txBody>
          <a:bodyPr wrap="none" rtlCol="0" anchor="ctr"/>
          <a:lstStyle/>
          <a:p>
            <a:pPr algn="ctr"/>
            <a:endParaRPr sz="2700"/>
          </a:p>
        </p:txBody>
      </p:sp>
      <p:sp>
        <p:nvSpPr>
          <p:cNvPr id="40" name="TextBox 39"/>
          <p:cNvSpPr txBox="1"/>
          <p:nvPr/>
        </p:nvSpPr>
        <p:spPr>
          <a:xfrm>
            <a:off x="12275820" y="6615255"/>
            <a:ext cx="5143500" cy="1152144"/>
          </a:xfrm>
          <a:prstGeom prst="rect">
            <a:avLst/>
          </a:prstGeom>
          <a:noFill/>
        </p:spPr>
        <p:txBody>
          <a:bodyPr wrap="square" lIns="0" tIns="0" rIns="0" bIns="0"/>
          <a:lstStyle/>
          <a:p>
            <a:r>
              <a:rPr lang="en-US" sz="1650" kern="0">
                <a:solidFill>
                  <a:srgbClr val="5B6672"/>
                </a:solidFill>
                <a:latin typeface="Calibri"/>
              </a:rPr>
              <a:t>Association addresses are communities Comcast already serves. Expansion contracts are builds to addresses that lacked service. Nothing sourced says these deals take Spectrum households.</a:t>
            </a:r>
          </a:p>
        </p:txBody>
      </p:sp>
      <p:grpSp>
        <p:nvGrpSpPr>
          <p:cNvPr id="41" name="Group 143">
            <a:extLst>
              <a:ext uri="{FF2B5EF4-FFF2-40B4-BE49-F238E27FC236}">
                <a16:creationId xmlns:a16="http://schemas.microsoft.com/office/drawing/2014/main" id="{5C99BEE4-543A-317F-EC72-BCC5D70096A7}"/>
              </a:ext>
            </a:extLst>
          </p:cNvPr>
          <p:cNvGrpSpPr/>
          <p:nvPr/>
        </p:nvGrpSpPr>
        <p:grpSpPr>
          <a:xfrm>
            <a:off x="754380" y="9168289"/>
            <a:ext cx="16733521" cy="432911"/>
            <a:chOff x="0" y="-28575"/>
            <a:chExt cx="22311361" cy="577215"/>
          </a:xfrm>
        </p:grpSpPr>
        <p:sp>
          <p:nvSpPr>
            <p:cNvPr id="42" name="Freeform 144">
              <a:extLst>
                <a:ext uri="{FF2B5EF4-FFF2-40B4-BE49-F238E27FC236}">
                  <a16:creationId xmlns:a16="http://schemas.microsoft.com/office/drawing/2014/main" id="{B8F88423-0576-6596-F281-8A3330582932}"/>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43" name="TextBox 145">
              <a:extLst>
                <a:ext uri="{FF2B5EF4-FFF2-40B4-BE49-F238E27FC236}">
                  <a16:creationId xmlns:a16="http://schemas.microsoft.com/office/drawing/2014/main" id="{9755F713-BE2D-6757-0C3C-5909A91DEA55}"/>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44" name="Group 149">
            <a:extLst>
              <a:ext uri="{FF2B5EF4-FFF2-40B4-BE49-F238E27FC236}">
                <a16:creationId xmlns:a16="http://schemas.microsoft.com/office/drawing/2014/main" id="{1ECD7150-C321-2332-E88A-183E48CE7467}"/>
              </a:ext>
            </a:extLst>
          </p:cNvPr>
          <p:cNvGrpSpPr/>
          <p:nvPr/>
        </p:nvGrpSpPr>
        <p:grpSpPr>
          <a:xfrm>
            <a:off x="754380" y="9648349"/>
            <a:ext cx="16047721" cy="432911"/>
            <a:chOff x="0" y="-28575"/>
            <a:chExt cx="21396961" cy="577215"/>
          </a:xfrm>
        </p:grpSpPr>
        <p:sp>
          <p:nvSpPr>
            <p:cNvPr id="45" name="Freeform 150">
              <a:extLst>
                <a:ext uri="{FF2B5EF4-FFF2-40B4-BE49-F238E27FC236}">
                  <a16:creationId xmlns:a16="http://schemas.microsoft.com/office/drawing/2014/main" id="{80D9542B-E802-B0CA-6665-CC16F5C1BB39}"/>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46" name="TextBox 151">
              <a:extLst>
                <a:ext uri="{FF2B5EF4-FFF2-40B4-BE49-F238E27FC236}">
                  <a16:creationId xmlns:a16="http://schemas.microsoft.com/office/drawing/2014/main" id="{7C60E726-99F1-3F65-EBBD-AD77294272A0}"/>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47" name="Group 2">
            <a:extLst>
              <a:ext uri="{FF2B5EF4-FFF2-40B4-BE49-F238E27FC236}">
                <a16:creationId xmlns:a16="http://schemas.microsoft.com/office/drawing/2014/main" id="{693F991B-2315-E858-A6A5-A279A70736D2}"/>
              </a:ext>
            </a:extLst>
          </p:cNvPr>
          <p:cNvGrpSpPr/>
          <p:nvPr/>
        </p:nvGrpSpPr>
        <p:grpSpPr>
          <a:xfrm>
            <a:off x="754380" y="417481"/>
            <a:ext cx="11795760" cy="432911"/>
            <a:chOff x="0" y="-28575"/>
            <a:chExt cx="15727680" cy="577215"/>
          </a:xfrm>
        </p:grpSpPr>
        <p:sp>
          <p:nvSpPr>
            <p:cNvPr id="48" name="Freeform 3">
              <a:extLst>
                <a:ext uri="{FF2B5EF4-FFF2-40B4-BE49-F238E27FC236}">
                  <a16:creationId xmlns:a16="http://schemas.microsoft.com/office/drawing/2014/main" id="{03F72E82-DA71-D9FC-817F-93B2CA372C61}"/>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49" name="TextBox 4">
              <a:extLst>
                <a:ext uri="{FF2B5EF4-FFF2-40B4-BE49-F238E27FC236}">
                  <a16:creationId xmlns:a16="http://schemas.microsoft.com/office/drawing/2014/main" id="{295FCB75-33EC-0D0F-FDA8-9CD6616952C2}"/>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A47  ·  COMCAST HOUSING AUTHORITIES</a:t>
              </a: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txBox="1"/>
          <p:nvPr/>
        </p:nvSpPr>
        <p:spPr>
          <a:xfrm>
            <a:off x="960120" y="932688"/>
            <a:ext cx="16367760" cy="1673352"/>
          </a:xfrm>
          <a:prstGeom prst="rect">
            <a:avLst/>
          </a:prstGeom>
          <a:noFill/>
        </p:spPr>
        <p:txBody>
          <a:bodyPr wrap="square" lIns="0" tIns="0" rIns="0" bIns="0" anchor="t"/>
          <a:lstStyle/>
          <a:p>
            <a:pPr>
              <a:lnSpc>
                <a:spcPts val="5700"/>
              </a:lnSpc>
            </a:pPr>
            <a:r>
              <a:rPr sz="4800" b="1">
                <a:solidFill>
                  <a:schemeClr val="tx2"/>
                </a:solidFill>
                <a:latin typeface="Calibri"/>
              </a:rPr>
              <a:t>Residential Internet dollars fell $78 million because </a:t>
            </a:r>
            <a:br>
              <a:rPr sz="2700">
                <a:solidFill>
                  <a:schemeClr val="tx2"/>
                </a:solidFill>
              </a:rPr>
            </a:br>
            <a:r>
              <a:rPr sz="4800" b="1">
                <a:solidFill>
                  <a:schemeClr val="tx2"/>
                </a:solidFill>
                <a:latin typeface="Calibri"/>
              </a:rPr>
              <a:t>volume took $87 million and rate put back $9 million</a:t>
            </a:r>
          </a:p>
        </p:txBody>
      </p:sp>
      <p:sp>
        <p:nvSpPr>
          <p:cNvPr id="4" name="Zero baseline"/>
          <p:cNvSpPr/>
          <p:nvPr/>
        </p:nvSpPr>
        <p:spPr>
          <a:xfrm>
            <a:off x="960120" y="7150609"/>
            <a:ext cx="16367760" cy="23813"/>
          </a:xfrm>
          <a:prstGeom prst="rect">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Zero label"/>
          <p:cNvSpPr txBox="1"/>
          <p:nvPr/>
        </p:nvSpPr>
        <p:spPr>
          <a:xfrm>
            <a:off x="960120" y="6848856"/>
            <a:ext cx="411480" cy="274320"/>
          </a:xfrm>
          <a:prstGeom prst="rect">
            <a:avLst/>
          </a:prstGeom>
          <a:noFill/>
        </p:spPr>
        <p:txBody>
          <a:bodyPr wrap="square" lIns="0" tIns="0" rIns="0" bIns="0" anchor="ctr"/>
          <a:lstStyle/>
          <a:p>
            <a:r>
              <a:rPr sz="1650">
                <a:solidFill>
                  <a:srgbClr val="6A6A6A"/>
                </a:solidFill>
                <a:latin typeface="Calibri"/>
              </a:rPr>
              <a:t>0</a:t>
            </a:r>
          </a:p>
        </p:txBody>
      </p:sp>
      <p:sp>
        <p:nvSpPr>
          <p:cNvPr id="6" name="Bar volume"/>
          <p:cNvSpPr/>
          <p:nvPr/>
        </p:nvSpPr>
        <p:spPr>
          <a:xfrm>
            <a:off x="2645664" y="3621024"/>
            <a:ext cx="1755648" cy="352958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Figure volume"/>
          <p:cNvSpPr txBox="1"/>
          <p:nvPr/>
        </p:nvSpPr>
        <p:spPr>
          <a:xfrm>
            <a:off x="960120" y="2825496"/>
            <a:ext cx="5126736" cy="685800"/>
          </a:xfrm>
          <a:prstGeom prst="rect">
            <a:avLst/>
          </a:prstGeom>
          <a:noFill/>
        </p:spPr>
        <p:txBody>
          <a:bodyPr wrap="square" lIns="0" tIns="0" rIns="0" bIns="0" anchor="b"/>
          <a:lstStyle/>
          <a:p>
            <a:pPr algn="ctr"/>
            <a:r>
              <a:rPr sz="4500" b="1">
                <a:solidFill>
                  <a:schemeClr val="tx2"/>
                </a:solidFill>
                <a:latin typeface="Calibri"/>
              </a:rPr>
              <a:t>−$87 million</a:t>
            </a:r>
          </a:p>
        </p:txBody>
      </p:sp>
      <p:sp>
        <p:nvSpPr>
          <p:cNvPr id="8" name="Role volume"/>
          <p:cNvSpPr txBox="1"/>
          <p:nvPr/>
        </p:nvSpPr>
        <p:spPr>
          <a:xfrm>
            <a:off x="960120" y="7311581"/>
            <a:ext cx="5126736" cy="384048"/>
          </a:xfrm>
          <a:prstGeom prst="rect">
            <a:avLst/>
          </a:prstGeom>
          <a:noFill/>
        </p:spPr>
        <p:txBody>
          <a:bodyPr wrap="square" lIns="0" tIns="0" rIns="0" bIns="0" anchor="t"/>
          <a:lstStyle/>
          <a:p>
            <a:pPr algn="ctr"/>
            <a:r>
              <a:rPr sz="2250" b="1">
                <a:solidFill>
                  <a:schemeClr val="tx2"/>
                </a:solidFill>
                <a:latin typeface="Calibri"/>
              </a:rPr>
              <a:t>Volume</a:t>
            </a:r>
          </a:p>
        </p:txBody>
      </p:sp>
      <p:sp>
        <p:nvSpPr>
          <p:cNvPr id="9" name="Detail volume"/>
          <p:cNvSpPr txBox="1"/>
          <p:nvPr/>
        </p:nvSpPr>
        <p:spPr>
          <a:xfrm>
            <a:off x="960120" y="7695629"/>
            <a:ext cx="5126736" cy="658368"/>
          </a:xfrm>
          <a:prstGeom prst="rect">
            <a:avLst/>
          </a:prstGeom>
          <a:noFill/>
        </p:spPr>
        <p:txBody>
          <a:bodyPr wrap="square" lIns="0" tIns="0" rIns="0" bIns="0" anchor="t"/>
          <a:lstStyle/>
          <a:p>
            <a:pPr algn="ctr">
              <a:lnSpc>
                <a:spcPct val="105000"/>
              </a:lnSpc>
            </a:pPr>
            <a:r>
              <a:rPr>
                <a:solidFill>
                  <a:srgbClr val="4A4A4A"/>
                </a:solidFill>
                <a:latin typeface="Calibri"/>
              </a:rPr>
              <a:t>Decrease in average residential Internet customers.</a:t>
            </a:r>
          </a:p>
        </p:txBody>
      </p:sp>
      <p:sp>
        <p:nvSpPr>
          <p:cNvPr id="10" name="Bar rate"/>
          <p:cNvSpPr/>
          <p:nvPr/>
        </p:nvSpPr>
        <p:spPr>
          <a:xfrm>
            <a:off x="8266176" y="6785478"/>
            <a:ext cx="1755648" cy="365130"/>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Figure rate"/>
          <p:cNvSpPr txBox="1"/>
          <p:nvPr/>
        </p:nvSpPr>
        <p:spPr>
          <a:xfrm>
            <a:off x="6580632" y="5989950"/>
            <a:ext cx="5126736" cy="685800"/>
          </a:xfrm>
          <a:prstGeom prst="rect">
            <a:avLst/>
          </a:prstGeom>
          <a:noFill/>
        </p:spPr>
        <p:txBody>
          <a:bodyPr wrap="square" lIns="0" tIns="0" rIns="0" bIns="0" anchor="b"/>
          <a:lstStyle/>
          <a:p>
            <a:pPr algn="ctr"/>
            <a:r>
              <a:rPr sz="4500" b="1">
                <a:solidFill>
                  <a:srgbClr val="5C5C5C"/>
                </a:solidFill>
                <a:latin typeface="Calibri"/>
              </a:rPr>
              <a:t>+$9 million</a:t>
            </a:r>
          </a:p>
        </p:txBody>
      </p:sp>
      <p:sp>
        <p:nvSpPr>
          <p:cNvPr id="12" name="Role rate"/>
          <p:cNvSpPr txBox="1"/>
          <p:nvPr/>
        </p:nvSpPr>
        <p:spPr>
          <a:xfrm>
            <a:off x="6580632" y="7311581"/>
            <a:ext cx="5126736" cy="384048"/>
          </a:xfrm>
          <a:prstGeom prst="rect">
            <a:avLst/>
          </a:prstGeom>
          <a:noFill/>
        </p:spPr>
        <p:txBody>
          <a:bodyPr wrap="square" lIns="0" tIns="0" rIns="0" bIns="0" anchor="t"/>
          <a:lstStyle/>
          <a:p>
            <a:pPr algn="ctr"/>
            <a:r>
              <a:rPr sz="2250" b="1">
                <a:solidFill>
                  <a:srgbClr val="5C5C5C"/>
                </a:solidFill>
                <a:latin typeface="Calibri"/>
              </a:rPr>
              <a:t>Rate and product mix</a:t>
            </a:r>
          </a:p>
        </p:txBody>
      </p:sp>
      <p:sp>
        <p:nvSpPr>
          <p:cNvPr id="13" name="Detail rate"/>
          <p:cNvSpPr txBox="1"/>
          <p:nvPr/>
        </p:nvSpPr>
        <p:spPr>
          <a:xfrm>
            <a:off x="6580632" y="7695629"/>
            <a:ext cx="5126736" cy="658368"/>
          </a:xfrm>
          <a:prstGeom prst="rect">
            <a:avLst/>
          </a:prstGeom>
          <a:noFill/>
        </p:spPr>
        <p:txBody>
          <a:bodyPr wrap="square" lIns="0" tIns="0" rIns="0" bIns="0" anchor="t"/>
          <a:lstStyle/>
          <a:p>
            <a:pPr algn="ctr">
              <a:lnSpc>
                <a:spcPct val="105000"/>
              </a:lnSpc>
            </a:pPr>
            <a:r>
              <a:rPr>
                <a:solidFill>
                  <a:srgbClr val="4A4A4A"/>
                </a:solidFill>
                <a:latin typeface="Calibri"/>
              </a:rPr>
              <a:t>Promotional rate step-ups, rate adjustments, and a favorable change in bundled revenue allocation.</a:t>
            </a:r>
          </a:p>
        </p:txBody>
      </p:sp>
      <p:sp>
        <p:nvSpPr>
          <p:cNvPr id="14" name="Bar net"/>
          <p:cNvSpPr/>
          <p:nvPr/>
        </p:nvSpPr>
        <p:spPr>
          <a:xfrm>
            <a:off x="13886688" y="3986154"/>
            <a:ext cx="1755648" cy="3164454"/>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Figure net"/>
          <p:cNvSpPr txBox="1"/>
          <p:nvPr/>
        </p:nvSpPr>
        <p:spPr>
          <a:xfrm>
            <a:off x="12201144" y="3190626"/>
            <a:ext cx="5126736" cy="685800"/>
          </a:xfrm>
          <a:prstGeom prst="rect">
            <a:avLst/>
          </a:prstGeom>
          <a:noFill/>
        </p:spPr>
        <p:txBody>
          <a:bodyPr wrap="square" lIns="0" tIns="0" rIns="0" bIns="0" anchor="b"/>
          <a:lstStyle/>
          <a:p>
            <a:pPr algn="ctr"/>
            <a:r>
              <a:rPr sz="4500" b="1">
                <a:solidFill>
                  <a:srgbClr val="1A1A1A"/>
                </a:solidFill>
                <a:latin typeface="Calibri"/>
              </a:rPr>
              <a:t>−$78 million</a:t>
            </a:r>
          </a:p>
        </p:txBody>
      </p:sp>
      <p:sp>
        <p:nvSpPr>
          <p:cNvPr id="16" name="Role net"/>
          <p:cNvSpPr txBox="1"/>
          <p:nvPr/>
        </p:nvSpPr>
        <p:spPr>
          <a:xfrm>
            <a:off x="12201144" y="7311581"/>
            <a:ext cx="5126736" cy="384048"/>
          </a:xfrm>
          <a:prstGeom prst="rect">
            <a:avLst/>
          </a:prstGeom>
          <a:noFill/>
        </p:spPr>
        <p:txBody>
          <a:bodyPr wrap="square" lIns="0" tIns="0" rIns="0" bIns="0" anchor="t"/>
          <a:lstStyle/>
          <a:p>
            <a:pPr algn="ctr"/>
            <a:r>
              <a:rPr sz="2250" b="1">
                <a:solidFill>
                  <a:srgbClr val="1A1A1A"/>
                </a:solidFill>
                <a:latin typeface="Calibri"/>
              </a:rPr>
              <a:t>Net</a:t>
            </a:r>
          </a:p>
        </p:txBody>
      </p:sp>
      <p:sp>
        <p:nvSpPr>
          <p:cNvPr id="17" name="Rule"/>
          <p:cNvSpPr/>
          <p:nvPr/>
        </p:nvSpPr>
        <p:spPr>
          <a:xfrm>
            <a:off x="960120" y="8408861"/>
            <a:ext cx="16367760" cy="13716"/>
          </a:xfrm>
          <a:prstGeom prst="rect">
            <a:avLst/>
          </a:prstGeom>
          <a:solidFill>
            <a:srgbClr val="E3E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Source"/>
          <p:cNvSpPr txBox="1"/>
          <p:nvPr/>
        </p:nvSpPr>
        <p:spPr>
          <a:xfrm>
            <a:off x="960120" y="8573453"/>
            <a:ext cx="16367760" cy="658368"/>
          </a:xfrm>
          <a:prstGeom prst="rect">
            <a:avLst/>
          </a:prstGeom>
          <a:noFill/>
        </p:spPr>
        <p:txBody>
          <a:bodyPr wrap="square" lIns="0" tIns="0" rIns="0" bIns="0" anchor="t"/>
          <a:lstStyle/>
          <a:p>
            <a:pPr>
              <a:lnSpc>
                <a:spcPct val="105000"/>
              </a:lnSpc>
            </a:pPr>
            <a:r>
              <a:rPr>
                <a:solidFill>
                  <a:srgbClr val="4A4A4A"/>
                </a:solidFill>
                <a:latin typeface="Calibri"/>
              </a:rPr>
              <a:t>Charter Communications Form 10-Q for the quarter ended March 31, 2026. Management’s Discussion and Analysis, Revenues. Residential Internet revenue bridge, three months ended March 31, </a:t>
            </a:r>
            <a:r>
              <a:rPr lang="en-US">
                <a:solidFill>
                  <a:srgbClr val="4A4A4A"/>
                </a:solidFill>
                <a:latin typeface="Calibri"/>
              </a:rPr>
              <a:t>2026,</a:t>
            </a:r>
            <a:r>
              <a:rPr>
                <a:solidFill>
                  <a:srgbClr val="4A4A4A"/>
                </a:solidFill>
                <a:latin typeface="Calibri"/>
              </a:rPr>
              <a:t> compared with three months ended March 31, 2025. Dollars in millions. Internet revenue $5,852 million versus $5,930 million.</a:t>
            </a:r>
          </a:p>
        </p:txBody>
      </p:sp>
      <p:grpSp>
        <p:nvGrpSpPr>
          <p:cNvPr id="21" name="Group 143">
            <a:extLst>
              <a:ext uri="{FF2B5EF4-FFF2-40B4-BE49-F238E27FC236}">
                <a16:creationId xmlns:a16="http://schemas.microsoft.com/office/drawing/2014/main" id="{8F550900-2791-F4AE-0F4B-F6B4BDAC5682}"/>
              </a:ext>
            </a:extLst>
          </p:cNvPr>
          <p:cNvGrpSpPr/>
          <p:nvPr/>
        </p:nvGrpSpPr>
        <p:grpSpPr>
          <a:xfrm>
            <a:off x="754380" y="9168289"/>
            <a:ext cx="16733521" cy="432911"/>
            <a:chOff x="0" y="-28575"/>
            <a:chExt cx="22311361" cy="577215"/>
          </a:xfrm>
        </p:grpSpPr>
        <p:sp>
          <p:nvSpPr>
            <p:cNvPr id="22" name="Freeform 144">
              <a:extLst>
                <a:ext uri="{FF2B5EF4-FFF2-40B4-BE49-F238E27FC236}">
                  <a16:creationId xmlns:a16="http://schemas.microsoft.com/office/drawing/2014/main" id="{A4051718-5BD2-314A-9FA0-6FCB2E03F5D0}"/>
                </a:ext>
              </a:extLst>
            </p:cNvPr>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2">
                <a:alphaModFix amt="0"/>
              </a:blip>
              <a:stretch>
                <a:fillRect t="-742391" b="-742391"/>
              </a:stretch>
            </a:blipFill>
          </p:spPr>
          <p:txBody>
            <a:bodyPr/>
            <a:lstStyle/>
            <a:p>
              <a:endParaRPr lang="en-US"/>
            </a:p>
          </p:txBody>
        </p:sp>
        <p:sp>
          <p:nvSpPr>
            <p:cNvPr id="23" name="TextBox 145">
              <a:extLst>
                <a:ext uri="{FF2B5EF4-FFF2-40B4-BE49-F238E27FC236}">
                  <a16:creationId xmlns:a16="http://schemas.microsoft.com/office/drawing/2014/main" id="{DE745F50-F84E-C625-4B3D-CC639AA2C5D1}"/>
                </a:ext>
              </a:extLst>
            </p:cNvPr>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3" action="ppaction://hlinksldjump"/>
                </a:rPr>
                <a:t>←  Back to main deck  (p.8)</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4" action="ppaction://hlinksldjump"/>
                </a:rPr>
                <a:t>Appendix index  (p.12)</a:t>
              </a:r>
            </a:p>
          </p:txBody>
        </p:sp>
      </p:grpSp>
      <p:grpSp>
        <p:nvGrpSpPr>
          <p:cNvPr id="24" name="Group 149">
            <a:extLst>
              <a:ext uri="{FF2B5EF4-FFF2-40B4-BE49-F238E27FC236}">
                <a16:creationId xmlns:a16="http://schemas.microsoft.com/office/drawing/2014/main" id="{B0491656-A4B3-4430-F69F-3E1D72F9EE08}"/>
              </a:ext>
            </a:extLst>
          </p:cNvPr>
          <p:cNvGrpSpPr/>
          <p:nvPr/>
        </p:nvGrpSpPr>
        <p:grpSpPr>
          <a:xfrm>
            <a:off x="754380" y="9648349"/>
            <a:ext cx="16047721" cy="432911"/>
            <a:chOff x="0" y="-28575"/>
            <a:chExt cx="21396961" cy="577215"/>
          </a:xfrm>
        </p:grpSpPr>
        <p:sp>
          <p:nvSpPr>
            <p:cNvPr id="25" name="Freeform 150">
              <a:extLst>
                <a:ext uri="{FF2B5EF4-FFF2-40B4-BE49-F238E27FC236}">
                  <a16:creationId xmlns:a16="http://schemas.microsoft.com/office/drawing/2014/main" id="{8FC41151-4488-3B21-1DCF-0645C4C066D3}"/>
                </a:ext>
              </a:extLst>
            </p:cNvPr>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2">
                <a:alphaModFix amt="0"/>
              </a:blip>
              <a:stretch>
                <a:fillRect t="-709916" b="-709916"/>
              </a:stretch>
            </a:blipFill>
          </p:spPr>
          <p:txBody>
            <a:bodyPr/>
            <a:lstStyle/>
            <a:p>
              <a:endParaRPr lang="en-US"/>
            </a:p>
          </p:txBody>
        </p:sp>
        <p:sp>
          <p:nvSpPr>
            <p:cNvPr id="26" name="TextBox 151">
              <a:extLst>
                <a:ext uri="{FF2B5EF4-FFF2-40B4-BE49-F238E27FC236}">
                  <a16:creationId xmlns:a16="http://schemas.microsoft.com/office/drawing/2014/main" id="{BA206026-94DF-3F87-BE62-D3763C22DF0D}"/>
                </a:ext>
              </a:extLst>
            </p:cNvPr>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Appendix  ·  Changing the Trajectory  ·  Charter Communications (CHTR)</a:t>
              </a:r>
            </a:p>
          </p:txBody>
        </p:sp>
      </p:grpSp>
      <p:grpSp>
        <p:nvGrpSpPr>
          <p:cNvPr id="27" name="Group 2">
            <a:extLst>
              <a:ext uri="{FF2B5EF4-FFF2-40B4-BE49-F238E27FC236}">
                <a16:creationId xmlns:a16="http://schemas.microsoft.com/office/drawing/2014/main" id="{025CB300-4AF6-AF73-07B4-CECFAE749E37}"/>
              </a:ext>
            </a:extLst>
          </p:cNvPr>
          <p:cNvGrpSpPr/>
          <p:nvPr/>
        </p:nvGrpSpPr>
        <p:grpSpPr>
          <a:xfrm>
            <a:off x="754380" y="417481"/>
            <a:ext cx="11795760" cy="432911"/>
            <a:chOff x="0" y="-28575"/>
            <a:chExt cx="15727680" cy="577215"/>
          </a:xfrm>
        </p:grpSpPr>
        <p:sp>
          <p:nvSpPr>
            <p:cNvPr id="28" name="Freeform 3">
              <a:extLst>
                <a:ext uri="{FF2B5EF4-FFF2-40B4-BE49-F238E27FC236}">
                  <a16:creationId xmlns:a16="http://schemas.microsoft.com/office/drawing/2014/main" id="{5781F5FE-506B-39DF-1764-3C04F1C6DE59}"/>
                </a:ext>
              </a:extLst>
            </p:cNvPr>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2">
                <a:alphaModFix amt="0"/>
              </a:blip>
              <a:stretch>
                <a:fillRect t="-508571" b="-508571"/>
              </a:stretch>
            </a:blipFill>
          </p:spPr>
          <p:txBody>
            <a:bodyPr/>
            <a:lstStyle/>
            <a:p>
              <a:endParaRPr lang="en-US"/>
            </a:p>
          </p:txBody>
        </p:sp>
        <p:sp>
          <p:nvSpPr>
            <p:cNvPr id="29" name="TextBox 4">
              <a:extLst>
                <a:ext uri="{FF2B5EF4-FFF2-40B4-BE49-F238E27FC236}">
                  <a16:creationId xmlns:a16="http://schemas.microsoft.com/office/drawing/2014/main" id="{E619358D-0993-D253-BC74-89B2CBECDA8A}"/>
                </a:ext>
              </a:extLst>
            </p:cNvPr>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APPENDIX A48  ·  Residential Internet Dollar Analysis</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PM1  ·  PRE-MORTEM, METHOD (WORKING PAPER, NOT FOR THE CLIENT)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Pre-mortem Method</a:t>
            </a:r>
          </a:p>
        </p:txBody>
      </p:sp>
      <p:grpSp>
        <p:nvGrpSpPr>
          <p:cNvPr id="6" name="Group 6"/>
          <p:cNvGrpSpPr/>
          <p:nvPr/>
        </p:nvGrpSpPr>
        <p:grpSpPr>
          <a:xfrm>
            <a:off x="744855" y="2665095"/>
            <a:ext cx="5299710" cy="2899410"/>
            <a:chOff x="0" y="0"/>
            <a:chExt cx="7066280" cy="3865880"/>
          </a:xfrm>
        </p:grpSpPr>
        <p:sp>
          <p:nvSpPr>
            <p:cNvPr id="7" name="Freeform 7"/>
            <p:cNvSpPr/>
            <p:nvPr/>
          </p:nvSpPr>
          <p:spPr>
            <a:xfrm>
              <a:off x="0" y="0"/>
              <a:ext cx="7066280" cy="3865880"/>
            </a:xfrm>
            <a:custGeom>
              <a:avLst/>
              <a:gdLst/>
              <a:ahLst/>
              <a:cxnLst/>
              <a:rect l="l" t="t" r="r" b="b"/>
              <a:pathLst>
                <a:path w="7066280" h="3865880">
                  <a:moveTo>
                    <a:pt x="0" y="147320"/>
                  </a:moveTo>
                  <a:cubicBezTo>
                    <a:pt x="0" y="65913"/>
                    <a:pt x="65913" y="0"/>
                    <a:pt x="147320" y="0"/>
                  </a:cubicBezTo>
                  <a:lnTo>
                    <a:pt x="6918960" y="0"/>
                  </a:lnTo>
                  <a:cubicBezTo>
                    <a:pt x="7000367" y="0"/>
                    <a:pt x="7066280" y="65913"/>
                    <a:pt x="7066280" y="147320"/>
                  </a:cubicBezTo>
                  <a:lnTo>
                    <a:pt x="7066280" y="3718560"/>
                  </a:lnTo>
                  <a:cubicBezTo>
                    <a:pt x="7066280" y="3799967"/>
                    <a:pt x="7000367" y="3865880"/>
                    <a:pt x="6918960" y="3865880"/>
                  </a:cubicBezTo>
                  <a:lnTo>
                    <a:pt x="147320" y="3865880"/>
                  </a:lnTo>
                  <a:cubicBezTo>
                    <a:pt x="65913" y="3865880"/>
                    <a:pt x="0" y="3799967"/>
                    <a:pt x="0" y="3718560"/>
                  </a:cubicBezTo>
                  <a:close/>
                </a:path>
              </a:pathLst>
            </a:custGeom>
            <a:solidFill>
              <a:srgbClr val="EEF4FB"/>
            </a:solidFill>
            <a:ln w="19050" cap="sq">
              <a:solidFill>
                <a:srgbClr val="D8DEE6"/>
              </a:solidFill>
              <a:prstDash val="solid"/>
              <a:miter/>
            </a:ln>
          </p:spPr>
          <p:txBody>
            <a:bodyPr/>
            <a:lstStyle/>
            <a:p>
              <a:endParaRPr lang="en-US"/>
            </a:p>
          </p:txBody>
        </p:sp>
      </p:grpSp>
      <p:grpSp>
        <p:nvGrpSpPr>
          <p:cNvPr id="8" name="Group 8"/>
          <p:cNvGrpSpPr/>
          <p:nvPr/>
        </p:nvGrpSpPr>
        <p:grpSpPr>
          <a:xfrm>
            <a:off x="1097280" y="2880360"/>
            <a:ext cx="4594860" cy="480060"/>
            <a:chOff x="0" y="0"/>
            <a:chExt cx="6126480" cy="640080"/>
          </a:xfrm>
        </p:grpSpPr>
        <p:sp>
          <p:nvSpPr>
            <p:cNvPr id="9" name="Freeform 9"/>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10" name="TextBox 10"/>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1  State the direction</a:t>
              </a:r>
            </a:p>
          </p:txBody>
        </p:sp>
      </p:grpSp>
      <p:sp>
        <p:nvSpPr>
          <p:cNvPr id="11" name="TextBox 11"/>
          <p:cNvSpPr txBox="1"/>
          <p:nvPr/>
        </p:nvSpPr>
        <p:spPr>
          <a:xfrm>
            <a:off x="1097280" y="3390900"/>
            <a:ext cx="4594860" cy="1126109"/>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Three recommendations: attribution sensor plus pre-committed playbook; capital and disclosure regime (buyback redirect, re-segmentation, published triggers); EHB brokerage for the SMB base. Prize 0.3x to 0.5x; cost $3M to $6M plus redirected cash; calendar Q4 2026 to Q4 2027.</a:t>
            </a:r>
          </a:p>
        </p:txBody>
      </p:sp>
      <p:grpSp>
        <p:nvGrpSpPr>
          <p:cNvPr id="12" name="Group 12"/>
          <p:cNvGrpSpPr/>
          <p:nvPr/>
        </p:nvGrpSpPr>
        <p:grpSpPr>
          <a:xfrm>
            <a:off x="6505575" y="2665095"/>
            <a:ext cx="5299710" cy="2899410"/>
            <a:chOff x="0" y="0"/>
            <a:chExt cx="7066280" cy="3865880"/>
          </a:xfrm>
        </p:grpSpPr>
        <p:sp>
          <p:nvSpPr>
            <p:cNvPr id="13" name="Freeform 13"/>
            <p:cNvSpPr/>
            <p:nvPr/>
          </p:nvSpPr>
          <p:spPr>
            <a:xfrm>
              <a:off x="0" y="0"/>
              <a:ext cx="7066280" cy="3865880"/>
            </a:xfrm>
            <a:custGeom>
              <a:avLst/>
              <a:gdLst/>
              <a:ahLst/>
              <a:cxnLst/>
              <a:rect l="l" t="t" r="r" b="b"/>
              <a:pathLst>
                <a:path w="7066280" h="3865880">
                  <a:moveTo>
                    <a:pt x="0" y="147320"/>
                  </a:moveTo>
                  <a:cubicBezTo>
                    <a:pt x="0" y="65913"/>
                    <a:pt x="65913" y="0"/>
                    <a:pt x="147320" y="0"/>
                  </a:cubicBezTo>
                  <a:lnTo>
                    <a:pt x="6918960" y="0"/>
                  </a:lnTo>
                  <a:cubicBezTo>
                    <a:pt x="7000367" y="0"/>
                    <a:pt x="7066280" y="65913"/>
                    <a:pt x="7066280" y="147320"/>
                  </a:cubicBezTo>
                  <a:lnTo>
                    <a:pt x="7066280" y="3718560"/>
                  </a:lnTo>
                  <a:cubicBezTo>
                    <a:pt x="7066280" y="3799967"/>
                    <a:pt x="7000367" y="3865880"/>
                    <a:pt x="6918960" y="3865880"/>
                  </a:cubicBezTo>
                  <a:lnTo>
                    <a:pt x="147320" y="3865880"/>
                  </a:lnTo>
                  <a:cubicBezTo>
                    <a:pt x="65913" y="3865880"/>
                    <a:pt x="0" y="3799967"/>
                    <a:pt x="0" y="3718560"/>
                  </a:cubicBezTo>
                  <a:close/>
                </a:path>
              </a:pathLst>
            </a:custGeom>
            <a:solidFill>
              <a:srgbClr val="EEF4FB"/>
            </a:solidFill>
            <a:ln w="19050" cap="sq">
              <a:solidFill>
                <a:srgbClr val="D8DEE6"/>
              </a:solidFill>
              <a:prstDash val="solid"/>
              <a:miter/>
            </a:ln>
          </p:spPr>
          <p:txBody>
            <a:bodyPr/>
            <a:lstStyle/>
            <a:p>
              <a:endParaRPr lang="en-US"/>
            </a:p>
          </p:txBody>
        </p:sp>
      </p:grpSp>
      <p:grpSp>
        <p:nvGrpSpPr>
          <p:cNvPr id="14" name="Group 14"/>
          <p:cNvGrpSpPr/>
          <p:nvPr/>
        </p:nvGrpSpPr>
        <p:grpSpPr>
          <a:xfrm>
            <a:off x="6858000" y="2880360"/>
            <a:ext cx="4594860" cy="480060"/>
            <a:chOff x="0" y="0"/>
            <a:chExt cx="6126480" cy="640080"/>
          </a:xfrm>
        </p:grpSpPr>
        <p:sp>
          <p:nvSpPr>
            <p:cNvPr id="15" name="Freeform 15"/>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16" name="TextBox 16"/>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2  Future-cast the failure</a:t>
              </a:r>
            </a:p>
          </p:txBody>
        </p:sp>
      </p:grpSp>
      <p:sp>
        <p:nvSpPr>
          <p:cNvPr id="17" name="TextBox 17"/>
          <p:cNvSpPr txBox="1"/>
          <p:nvPr/>
        </p:nvSpPr>
        <p:spPr>
          <a:xfrm>
            <a:off x="6858000" y="3390900"/>
            <a:ext cx="4594860" cy="90703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Assume it is mid-2028, the Internet print never improved YoY and the equity did not re-rate. Each reviewer wrote two or three reasons silently before sharing, to avoid anchoring on the first voice.</a:t>
            </a:r>
          </a:p>
        </p:txBody>
      </p:sp>
      <p:grpSp>
        <p:nvGrpSpPr>
          <p:cNvPr id="18" name="Group 18"/>
          <p:cNvGrpSpPr/>
          <p:nvPr/>
        </p:nvGrpSpPr>
        <p:grpSpPr>
          <a:xfrm>
            <a:off x="12266295" y="2665095"/>
            <a:ext cx="5299710" cy="2899410"/>
            <a:chOff x="0" y="0"/>
            <a:chExt cx="7066280" cy="3865880"/>
          </a:xfrm>
        </p:grpSpPr>
        <p:sp>
          <p:nvSpPr>
            <p:cNvPr id="19" name="Freeform 19"/>
            <p:cNvSpPr/>
            <p:nvPr/>
          </p:nvSpPr>
          <p:spPr>
            <a:xfrm>
              <a:off x="0" y="0"/>
              <a:ext cx="7066280" cy="3865880"/>
            </a:xfrm>
            <a:custGeom>
              <a:avLst/>
              <a:gdLst/>
              <a:ahLst/>
              <a:cxnLst/>
              <a:rect l="l" t="t" r="r" b="b"/>
              <a:pathLst>
                <a:path w="7066280" h="3865880">
                  <a:moveTo>
                    <a:pt x="0" y="147320"/>
                  </a:moveTo>
                  <a:cubicBezTo>
                    <a:pt x="0" y="65913"/>
                    <a:pt x="65913" y="0"/>
                    <a:pt x="147320" y="0"/>
                  </a:cubicBezTo>
                  <a:lnTo>
                    <a:pt x="6918960" y="0"/>
                  </a:lnTo>
                  <a:cubicBezTo>
                    <a:pt x="7000367" y="0"/>
                    <a:pt x="7066280" y="65913"/>
                    <a:pt x="7066280" y="147320"/>
                  </a:cubicBezTo>
                  <a:lnTo>
                    <a:pt x="7066280" y="3718560"/>
                  </a:lnTo>
                  <a:cubicBezTo>
                    <a:pt x="7066280" y="3799967"/>
                    <a:pt x="7000367" y="3865880"/>
                    <a:pt x="6918960" y="3865880"/>
                  </a:cubicBezTo>
                  <a:lnTo>
                    <a:pt x="147320" y="3865880"/>
                  </a:lnTo>
                  <a:cubicBezTo>
                    <a:pt x="65913" y="3865880"/>
                    <a:pt x="0" y="3799967"/>
                    <a:pt x="0" y="3718560"/>
                  </a:cubicBezTo>
                  <a:close/>
                </a:path>
              </a:pathLst>
            </a:custGeom>
            <a:solidFill>
              <a:srgbClr val="EEF4FB"/>
            </a:solidFill>
            <a:ln w="19050" cap="sq">
              <a:solidFill>
                <a:srgbClr val="D8DEE6"/>
              </a:solidFill>
              <a:prstDash val="solid"/>
              <a:miter/>
            </a:ln>
          </p:spPr>
          <p:txBody>
            <a:bodyPr/>
            <a:lstStyle/>
            <a:p>
              <a:endParaRPr lang="en-US"/>
            </a:p>
          </p:txBody>
        </p:sp>
      </p:grpSp>
      <p:grpSp>
        <p:nvGrpSpPr>
          <p:cNvPr id="20" name="Group 20"/>
          <p:cNvGrpSpPr/>
          <p:nvPr/>
        </p:nvGrpSpPr>
        <p:grpSpPr>
          <a:xfrm>
            <a:off x="12618720" y="2880360"/>
            <a:ext cx="4594860" cy="480060"/>
            <a:chOff x="0" y="0"/>
            <a:chExt cx="6126480" cy="640080"/>
          </a:xfrm>
        </p:grpSpPr>
        <p:sp>
          <p:nvSpPr>
            <p:cNvPr id="21" name="Freeform 21"/>
            <p:cNvSpPr/>
            <p:nvPr/>
          </p:nvSpPr>
          <p:spPr>
            <a:xfrm>
              <a:off x="0" y="0"/>
              <a:ext cx="6126480" cy="640080"/>
            </a:xfrm>
            <a:custGeom>
              <a:avLst/>
              <a:gdLst/>
              <a:ahLst/>
              <a:cxnLst/>
              <a:rect l="l" t="t" r="r" b="b"/>
              <a:pathLst>
                <a:path w="6126480" h="640080">
                  <a:moveTo>
                    <a:pt x="0" y="0"/>
                  </a:moveTo>
                  <a:lnTo>
                    <a:pt x="6126480" y="0"/>
                  </a:lnTo>
                  <a:lnTo>
                    <a:pt x="6126480" y="640080"/>
                  </a:lnTo>
                  <a:lnTo>
                    <a:pt x="0" y="640080"/>
                  </a:lnTo>
                  <a:close/>
                </a:path>
              </a:pathLst>
            </a:custGeom>
            <a:blipFill>
              <a:blip r:embed="rId3">
                <a:alphaModFix amt="0"/>
              </a:blip>
              <a:stretch>
                <a:fillRect t="-136499" b="-136499"/>
              </a:stretch>
            </a:blipFill>
          </p:spPr>
          <p:txBody>
            <a:bodyPr/>
            <a:lstStyle/>
            <a:p>
              <a:endParaRPr lang="en-US"/>
            </a:p>
          </p:txBody>
        </p:sp>
        <p:sp>
          <p:nvSpPr>
            <p:cNvPr id="22" name="TextBox 22"/>
            <p:cNvSpPr txBox="1"/>
            <p:nvPr/>
          </p:nvSpPr>
          <p:spPr>
            <a:xfrm>
              <a:off x="0" y="-47625"/>
              <a:ext cx="6126480" cy="687705"/>
            </a:xfrm>
            <a:prstGeom prst="rect">
              <a:avLst/>
            </a:prstGeom>
          </p:spPr>
          <p:txBody>
            <a:bodyPr lIns="0" tIns="0" rIns="0" bIns="0" rtlCol="0" anchor="ctr"/>
            <a:lstStyle/>
            <a:p>
              <a:pPr algn="l">
                <a:lnSpc>
                  <a:spcPts val="2340"/>
                </a:lnSpc>
              </a:pPr>
              <a:r>
                <a:rPr lang="en-US" sz="1950" b="1">
                  <a:solidFill>
                    <a:srgbClr val="171A1F"/>
                  </a:solidFill>
                  <a:latin typeface="Calibri"/>
                  <a:ea typeface="Calibri (MS) Bold"/>
                  <a:cs typeface="Calibri"/>
                  <a:sym typeface="Calibri (MS) Bold"/>
                </a:rPr>
                <a:t>3  Sort and fix</a:t>
              </a:r>
            </a:p>
          </p:txBody>
        </p:sp>
      </p:grpSp>
      <p:sp>
        <p:nvSpPr>
          <p:cNvPr id="23" name="TextBox 23"/>
          <p:cNvSpPr txBox="1"/>
          <p:nvPr/>
        </p:nvSpPr>
        <p:spPr>
          <a:xfrm>
            <a:off x="12618720" y="3390900"/>
            <a:ext cx="4594860" cy="907034"/>
          </a:xfrm>
          <a:prstGeom prst="rect">
            <a:avLst/>
          </a:prstGeom>
        </p:spPr>
        <p:txBody>
          <a:bodyPr lIns="0" tIns="0" rIns="0" bIns="0" rtlCol="0" anchor="t">
            <a:spAutoFit/>
          </a:bodyPr>
          <a:lstStyle/>
          <a:p>
            <a:pPr algn="l">
              <a:lnSpc>
                <a:spcPts val="1797"/>
              </a:lnSpc>
            </a:pPr>
            <a:r>
              <a:rPr lang="en-US" sz="1449">
                <a:solidFill>
                  <a:srgbClr val="66717D"/>
                </a:solidFill>
                <a:latin typeface="Calibri"/>
                <a:ea typeface="Calibri (MS)"/>
                <a:cs typeface="Calibri"/>
                <a:sym typeface="Calibri (MS)"/>
              </a:rPr>
              <a:t>Each reason bucketed as an analysis gap (fixable before the pitch), an execution risk (needs a mitigation and owner), or a condition (outside our control, state it and what we’d do). Findings on the next slide; changes on the one after.</a:t>
            </a:r>
          </a:p>
        </p:txBody>
      </p:sp>
      <p:grpSp>
        <p:nvGrpSpPr>
          <p:cNvPr id="24" name="Group 24"/>
          <p:cNvGrpSpPr/>
          <p:nvPr/>
        </p:nvGrpSpPr>
        <p:grpSpPr>
          <a:xfrm>
            <a:off x="744855" y="5751195"/>
            <a:ext cx="16821150" cy="3105150"/>
            <a:chOff x="0" y="0"/>
            <a:chExt cx="22428200" cy="4140200"/>
          </a:xfrm>
        </p:grpSpPr>
        <p:sp>
          <p:nvSpPr>
            <p:cNvPr id="25" name="Freeform 25"/>
            <p:cNvSpPr/>
            <p:nvPr/>
          </p:nvSpPr>
          <p:spPr>
            <a:xfrm>
              <a:off x="0" y="0"/>
              <a:ext cx="22428200" cy="4140200"/>
            </a:xfrm>
            <a:custGeom>
              <a:avLst/>
              <a:gdLst/>
              <a:ahLst/>
              <a:cxnLst/>
              <a:rect l="l" t="t" r="r" b="b"/>
              <a:pathLst>
                <a:path w="22428200" h="4140200">
                  <a:moveTo>
                    <a:pt x="0" y="147193"/>
                  </a:moveTo>
                  <a:cubicBezTo>
                    <a:pt x="0" y="65913"/>
                    <a:pt x="65913" y="0"/>
                    <a:pt x="147193" y="0"/>
                  </a:cubicBezTo>
                  <a:lnTo>
                    <a:pt x="22281007" y="0"/>
                  </a:lnTo>
                  <a:cubicBezTo>
                    <a:pt x="22362288" y="0"/>
                    <a:pt x="22428200" y="65913"/>
                    <a:pt x="22428200" y="147193"/>
                  </a:cubicBezTo>
                  <a:lnTo>
                    <a:pt x="22428200" y="3993007"/>
                  </a:lnTo>
                  <a:cubicBezTo>
                    <a:pt x="22428200" y="4074287"/>
                    <a:pt x="22362288" y="4140200"/>
                    <a:pt x="22281007" y="4140200"/>
                  </a:cubicBezTo>
                  <a:lnTo>
                    <a:pt x="147193" y="4140200"/>
                  </a:lnTo>
                  <a:cubicBezTo>
                    <a:pt x="65913" y="4140200"/>
                    <a:pt x="0" y="4074287"/>
                    <a:pt x="0" y="3993007"/>
                  </a:cubicBezTo>
                  <a:close/>
                </a:path>
              </a:pathLst>
            </a:custGeom>
            <a:solidFill>
              <a:srgbClr val="FEFEFE"/>
            </a:solidFill>
            <a:ln w="19050" cap="sq">
              <a:solidFill>
                <a:srgbClr val="D8DEE6"/>
              </a:solidFill>
              <a:prstDash val="solid"/>
              <a:miter/>
            </a:ln>
          </p:spPr>
          <p:txBody>
            <a:bodyPr/>
            <a:lstStyle/>
            <a:p>
              <a:endParaRPr lang="en-US"/>
            </a:p>
          </p:txBody>
        </p:sp>
      </p:grpSp>
      <p:grpSp>
        <p:nvGrpSpPr>
          <p:cNvPr id="26" name="Group 26"/>
          <p:cNvGrpSpPr/>
          <p:nvPr/>
        </p:nvGrpSpPr>
        <p:grpSpPr>
          <a:xfrm>
            <a:off x="1165860" y="5925312"/>
            <a:ext cx="16047720" cy="356616"/>
            <a:chOff x="0" y="0"/>
            <a:chExt cx="21396960" cy="475488"/>
          </a:xfrm>
        </p:grpSpPr>
        <p:sp>
          <p:nvSpPr>
            <p:cNvPr id="27" name="Freeform 27"/>
            <p:cNvSpPr/>
            <p:nvPr/>
          </p:nvSpPr>
          <p:spPr>
            <a:xfrm>
              <a:off x="0" y="0"/>
              <a:ext cx="21396961" cy="475488"/>
            </a:xfrm>
            <a:custGeom>
              <a:avLst/>
              <a:gdLst/>
              <a:ahLst/>
              <a:cxnLst/>
              <a:rect l="l" t="t" r="r" b="b"/>
              <a:pathLst>
                <a:path w="21396961" h="475488">
                  <a:moveTo>
                    <a:pt x="0" y="0"/>
                  </a:moveTo>
                  <a:lnTo>
                    <a:pt x="21396961" y="0"/>
                  </a:lnTo>
                  <a:lnTo>
                    <a:pt x="21396961" y="475488"/>
                  </a:lnTo>
                  <a:lnTo>
                    <a:pt x="0" y="475488"/>
                  </a:lnTo>
                  <a:close/>
                </a:path>
              </a:pathLst>
            </a:custGeom>
            <a:blipFill>
              <a:blip r:embed="rId3">
                <a:alphaModFix amt="0"/>
              </a:blip>
              <a:stretch>
                <a:fillRect t="-826826" b="-826826"/>
              </a:stretch>
            </a:blipFill>
          </p:spPr>
          <p:txBody>
            <a:bodyPr/>
            <a:lstStyle/>
            <a:p>
              <a:endParaRPr lang="en-US"/>
            </a:p>
          </p:txBody>
        </p:sp>
        <p:sp>
          <p:nvSpPr>
            <p:cNvPr id="28" name="TextBox 28"/>
            <p:cNvSpPr txBox="1"/>
            <p:nvPr/>
          </p:nvSpPr>
          <p:spPr>
            <a:xfrm>
              <a:off x="0" y="-38100"/>
              <a:ext cx="21396960" cy="513588"/>
            </a:xfrm>
            <a:prstGeom prst="rect">
              <a:avLst/>
            </a:prstGeom>
          </p:spPr>
          <p:txBody>
            <a:bodyPr lIns="0" tIns="0" rIns="0" bIns="0" rtlCol="0" anchor="ctr"/>
            <a:lstStyle/>
            <a:p>
              <a:pPr algn="l">
                <a:lnSpc>
                  <a:spcPts val="1800"/>
                </a:lnSpc>
              </a:pPr>
              <a:r>
                <a:rPr lang="en-US" sz="1500" b="1" spc="225">
                  <a:solidFill>
                    <a:srgbClr val="0099D8"/>
                  </a:solidFill>
                  <a:latin typeface="Calibri"/>
                  <a:ea typeface="Calibri (MS) Bold"/>
                  <a:cs typeface="Calibri"/>
                  <a:sym typeface="Calibri (MS) Bold"/>
                </a:rPr>
                <a:t>BIAS CHECKS RUN ON THE DECK</a:t>
              </a:r>
            </a:p>
          </p:txBody>
        </p:sp>
      </p:grpSp>
      <p:grpSp>
        <p:nvGrpSpPr>
          <p:cNvPr id="29" name="Group 29"/>
          <p:cNvGrpSpPr/>
          <p:nvPr/>
        </p:nvGrpSpPr>
        <p:grpSpPr>
          <a:xfrm>
            <a:off x="1165860" y="6336792"/>
            <a:ext cx="16047720" cy="493776"/>
            <a:chOff x="0" y="0"/>
            <a:chExt cx="21396960" cy="658368"/>
          </a:xfrm>
        </p:grpSpPr>
        <p:sp>
          <p:nvSpPr>
            <p:cNvPr id="30" name="Freeform 30"/>
            <p:cNvSpPr/>
            <p:nvPr/>
          </p:nvSpPr>
          <p:spPr>
            <a:xfrm>
              <a:off x="0" y="0"/>
              <a:ext cx="21396961" cy="658368"/>
            </a:xfrm>
            <a:custGeom>
              <a:avLst/>
              <a:gdLst/>
              <a:ahLst/>
              <a:cxnLst/>
              <a:rect l="l" t="t" r="r" b="b"/>
              <a:pathLst>
                <a:path w="21396961" h="658368">
                  <a:moveTo>
                    <a:pt x="0" y="0"/>
                  </a:moveTo>
                  <a:lnTo>
                    <a:pt x="21396961" y="0"/>
                  </a:lnTo>
                  <a:lnTo>
                    <a:pt x="21396961" y="658368"/>
                  </a:lnTo>
                  <a:lnTo>
                    <a:pt x="0" y="658368"/>
                  </a:lnTo>
                  <a:close/>
                </a:path>
              </a:pathLst>
            </a:custGeom>
            <a:blipFill>
              <a:blip r:embed="rId3">
                <a:alphaModFix amt="0"/>
              </a:blip>
              <a:stretch>
                <a:fillRect t="-583263" b="-583263"/>
              </a:stretch>
            </a:blipFill>
          </p:spPr>
          <p:txBody>
            <a:bodyPr/>
            <a:lstStyle/>
            <a:p>
              <a:endParaRPr lang="en-US"/>
            </a:p>
          </p:txBody>
        </p:sp>
        <p:sp>
          <p:nvSpPr>
            <p:cNvPr id="31" name="TextBox 31"/>
            <p:cNvSpPr txBox="1"/>
            <p:nvPr/>
          </p:nvSpPr>
          <p:spPr>
            <a:xfrm>
              <a:off x="0" y="-38100"/>
              <a:ext cx="21396960" cy="696468"/>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Anchoring:  </a:t>
              </a:r>
              <a:r>
                <a:rPr lang="en-US" sz="1425">
                  <a:solidFill>
                    <a:srgbClr val="5B6672"/>
                  </a:solidFill>
                  <a:latin typeface="Calibri"/>
                  <a:ea typeface="Calibri (MS)"/>
                  <a:cs typeface="Calibri"/>
                  <a:sym typeface="Calibri (MS)"/>
                </a:rPr>
                <a:t>Subscriber loss was the first fact handed to us. Tested three alternative causes (opex, FCF, mobile) before building on it; stated what would change our mind (FCF correlation &gt; 0.5).</a:t>
              </a:r>
            </a:p>
          </p:txBody>
        </p:sp>
      </p:grpSp>
      <p:grpSp>
        <p:nvGrpSpPr>
          <p:cNvPr id="32" name="Group 32"/>
          <p:cNvGrpSpPr/>
          <p:nvPr/>
        </p:nvGrpSpPr>
        <p:grpSpPr>
          <a:xfrm>
            <a:off x="1165860" y="6830568"/>
            <a:ext cx="16047720" cy="493776"/>
            <a:chOff x="0" y="0"/>
            <a:chExt cx="21396960" cy="658368"/>
          </a:xfrm>
        </p:grpSpPr>
        <p:sp>
          <p:nvSpPr>
            <p:cNvPr id="33" name="Freeform 33"/>
            <p:cNvSpPr/>
            <p:nvPr/>
          </p:nvSpPr>
          <p:spPr>
            <a:xfrm>
              <a:off x="0" y="0"/>
              <a:ext cx="21396961" cy="658368"/>
            </a:xfrm>
            <a:custGeom>
              <a:avLst/>
              <a:gdLst/>
              <a:ahLst/>
              <a:cxnLst/>
              <a:rect l="l" t="t" r="r" b="b"/>
              <a:pathLst>
                <a:path w="21396961" h="658368">
                  <a:moveTo>
                    <a:pt x="0" y="0"/>
                  </a:moveTo>
                  <a:lnTo>
                    <a:pt x="21396961" y="0"/>
                  </a:lnTo>
                  <a:lnTo>
                    <a:pt x="21396961" y="658368"/>
                  </a:lnTo>
                  <a:lnTo>
                    <a:pt x="0" y="658368"/>
                  </a:lnTo>
                  <a:close/>
                </a:path>
              </a:pathLst>
            </a:custGeom>
            <a:blipFill>
              <a:blip r:embed="rId3">
                <a:alphaModFix amt="0"/>
              </a:blip>
              <a:stretch>
                <a:fillRect t="-583263" b="-583263"/>
              </a:stretch>
            </a:blipFill>
          </p:spPr>
          <p:txBody>
            <a:bodyPr/>
            <a:lstStyle/>
            <a:p>
              <a:endParaRPr lang="en-US"/>
            </a:p>
          </p:txBody>
        </p:sp>
        <p:sp>
          <p:nvSpPr>
            <p:cNvPr id="34" name="TextBox 34"/>
            <p:cNvSpPr txBox="1"/>
            <p:nvPr/>
          </p:nvSpPr>
          <p:spPr>
            <a:xfrm>
              <a:off x="0" y="-38100"/>
              <a:ext cx="21396960" cy="696468"/>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Availability:  </a:t>
              </a:r>
              <a:r>
                <a:rPr lang="en-US" sz="1425">
                  <a:solidFill>
                    <a:srgbClr val="5B6672"/>
                  </a:solidFill>
                  <a:latin typeface="Calibri"/>
                  <a:ea typeface="Calibri (MS)"/>
                  <a:cs typeface="Calibri"/>
                  <a:sym typeface="Calibri (MS)"/>
                </a:rPr>
                <a:t>Criteria (40/25 thresholds, kill conditions) fixed before any data is scored, not after.</a:t>
              </a:r>
            </a:p>
          </p:txBody>
        </p:sp>
      </p:grpSp>
      <p:grpSp>
        <p:nvGrpSpPr>
          <p:cNvPr id="35" name="Group 35"/>
          <p:cNvGrpSpPr/>
          <p:nvPr/>
        </p:nvGrpSpPr>
        <p:grpSpPr>
          <a:xfrm>
            <a:off x="1165860" y="7324344"/>
            <a:ext cx="16047720" cy="493776"/>
            <a:chOff x="0" y="0"/>
            <a:chExt cx="21396960" cy="658368"/>
          </a:xfrm>
        </p:grpSpPr>
        <p:sp>
          <p:nvSpPr>
            <p:cNvPr id="36" name="Freeform 36"/>
            <p:cNvSpPr/>
            <p:nvPr/>
          </p:nvSpPr>
          <p:spPr>
            <a:xfrm>
              <a:off x="0" y="0"/>
              <a:ext cx="21396961" cy="658368"/>
            </a:xfrm>
            <a:custGeom>
              <a:avLst/>
              <a:gdLst/>
              <a:ahLst/>
              <a:cxnLst/>
              <a:rect l="l" t="t" r="r" b="b"/>
              <a:pathLst>
                <a:path w="21396961" h="658368">
                  <a:moveTo>
                    <a:pt x="0" y="0"/>
                  </a:moveTo>
                  <a:lnTo>
                    <a:pt x="21396961" y="0"/>
                  </a:lnTo>
                  <a:lnTo>
                    <a:pt x="21396961" y="658368"/>
                  </a:lnTo>
                  <a:lnTo>
                    <a:pt x="0" y="658368"/>
                  </a:lnTo>
                  <a:close/>
                </a:path>
              </a:pathLst>
            </a:custGeom>
            <a:blipFill>
              <a:blip r:embed="rId3">
                <a:alphaModFix amt="0"/>
              </a:blip>
              <a:stretch>
                <a:fillRect t="-583263" b="-583263"/>
              </a:stretch>
            </a:blipFill>
          </p:spPr>
          <p:txBody>
            <a:bodyPr/>
            <a:lstStyle/>
            <a:p>
              <a:endParaRPr lang="en-US"/>
            </a:p>
          </p:txBody>
        </p:sp>
        <p:sp>
          <p:nvSpPr>
            <p:cNvPr id="37" name="TextBox 37"/>
            <p:cNvSpPr txBox="1"/>
            <p:nvPr/>
          </p:nvSpPr>
          <p:spPr>
            <a:xfrm>
              <a:off x="0" y="-38100"/>
              <a:ext cx="21396960" cy="696468"/>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Base-rate neglect:  </a:t>
              </a:r>
              <a:r>
                <a:rPr lang="en-US" sz="1425">
                  <a:solidFill>
                    <a:srgbClr val="5B6672"/>
                  </a:solidFill>
                  <a:latin typeface="Calibri"/>
                  <a:ea typeface="Calibri (MS)"/>
                  <a:cs typeface="Calibri"/>
                  <a:sym typeface="Calibri (MS)"/>
                </a:rPr>
                <a:t>Leverage compared to peers (4.15x vs. ~2.3x); FCF yield compared to sector; comparable-plan outside view: pre-committed retention programs move churn by bps, not points.</a:t>
              </a:r>
            </a:p>
          </p:txBody>
        </p:sp>
      </p:grpSp>
      <p:grpSp>
        <p:nvGrpSpPr>
          <p:cNvPr id="38" name="Group 38"/>
          <p:cNvGrpSpPr/>
          <p:nvPr/>
        </p:nvGrpSpPr>
        <p:grpSpPr>
          <a:xfrm>
            <a:off x="1165860" y="7818120"/>
            <a:ext cx="16047720" cy="493776"/>
            <a:chOff x="0" y="0"/>
            <a:chExt cx="21396960" cy="658368"/>
          </a:xfrm>
        </p:grpSpPr>
        <p:sp>
          <p:nvSpPr>
            <p:cNvPr id="39" name="Freeform 39"/>
            <p:cNvSpPr/>
            <p:nvPr/>
          </p:nvSpPr>
          <p:spPr>
            <a:xfrm>
              <a:off x="0" y="0"/>
              <a:ext cx="21396961" cy="658368"/>
            </a:xfrm>
            <a:custGeom>
              <a:avLst/>
              <a:gdLst/>
              <a:ahLst/>
              <a:cxnLst/>
              <a:rect l="l" t="t" r="r" b="b"/>
              <a:pathLst>
                <a:path w="21396961" h="658368">
                  <a:moveTo>
                    <a:pt x="0" y="0"/>
                  </a:moveTo>
                  <a:lnTo>
                    <a:pt x="21396961" y="0"/>
                  </a:lnTo>
                  <a:lnTo>
                    <a:pt x="21396961" y="658368"/>
                  </a:lnTo>
                  <a:lnTo>
                    <a:pt x="0" y="658368"/>
                  </a:lnTo>
                  <a:close/>
                </a:path>
              </a:pathLst>
            </a:custGeom>
            <a:blipFill>
              <a:blip r:embed="rId3">
                <a:alphaModFix amt="0"/>
              </a:blip>
              <a:stretch>
                <a:fillRect t="-583263" b="-583263"/>
              </a:stretch>
            </a:blipFill>
          </p:spPr>
          <p:txBody>
            <a:bodyPr/>
            <a:lstStyle/>
            <a:p>
              <a:endParaRPr lang="en-US"/>
            </a:p>
          </p:txBody>
        </p:sp>
        <p:sp>
          <p:nvSpPr>
            <p:cNvPr id="40" name="TextBox 40"/>
            <p:cNvSpPr txBox="1"/>
            <p:nvPr/>
          </p:nvSpPr>
          <p:spPr>
            <a:xfrm>
              <a:off x="0" y="-38100"/>
              <a:ext cx="21396960" cy="696468"/>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Planning fallacy:  </a:t>
              </a:r>
              <a:r>
                <a:rPr lang="en-US" sz="1425">
                  <a:solidFill>
                    <a:srgbClr val="5B6672"/>
                  </a:solidFill>
                  <a:latin typeface="Calibri"/>
                  <a:ea typeface="Calibri (MS)"/>
                  <a:cs typeface="Calibri"/>
                  <a:sym typeface="Calibri (MS)"/>
                </a:rPr>
                <a:t>Five steps at 90% ≈ 59%; dates set to be beaten; Rec 2’s market-visible moves front-loaded to Q1 2027 so something lands even if the sensor slips.</a:t>
              </a:r>
            </a:p>
          </p:txBody>
        </p:sp>
      </p:grpSp>
      <p:grpSp>
        <p:nvGrpSpPr>
          <p:cNvPr id="41" name="Group 41"/>
          <p:cNvGrpSpPr/>
          <p:nvPr/>
        </p:nvGrpSpPr>
        <p:grpSpPr>
          <a:xfrm>
            <a:off x="1165860" y="8311896"/>
            <a:ext cx="16047720" cy="493776"/>
            <a:chOff x="0" y="0"/>
            <a:chExt cx="21396960" cy="658368"/>
          </a:xfrm>
        </p:grpSpPr>
        <p:sp>
          <p:nvSpPr>
            <p:cNvPr id="42" name="Freeform 42"/>
            <p:cNvSpPr/>
            <p:nvPr/>
          </p:nvSpPr>
          <p:spPr>
            <a:xfrm>
              <a:off x="0" y="0"/>
              <a:ext cx="21396961" cy="658368"/>
            </a:xfrm>
            <a:custGeom>
              <a:avLst/>
              <a:gdLst/>
              <a:ahLst/>
              <a:cxnLst/>
              <a:rect l="l" t="t" r="r" b="b"/>
              <a:pathLst>
                <a:path w="21396961" h="658368">
                  <a:moveTo>
                    <a:pt x="0" y="0"/>
                  </a:moveTo>
                  <a:lnTo>
                    <a:pt x="21396961" y="0"/>
                  </a:lnTo>
                  <a:lnTo>
                    <a:pt x="21396961" y="658368"/>
                  </a:lnTo>
                  <a:lnTo>
                    <a:pt x="0" y="658368"/>
                  </a:lnTo>
                  <a:close/>
                </a:path>
              </a:pathLst>
            </a:custGeom>
            <a:blipFill>
              <a:blip r:embed="rId3">
                <a:alphaModFix amt="0"/>
              </a:blip>
              <a:stretch>
                <a:fillRect t="-583263" b="-583263"/>
              </a:stretch>
            </a:blipFill>
          </p:spPr>
          <p:txBody>
            <a:bodyPr/>
            <a:lstStyle/>
            <a:p>
              <a:endParaRPr lang="en-US"/>
            </a:p>
          </p:txBody>
        </p:sp>
        <p:sp>
          <p:nvSpPr>
            <p:cNvPr id="43" name="TextBox 43"/>
            <p:cNvSpPr txBox="1"/>
            <p:nvPr/>
          </p:nvSpPr>
          <p:spPr>
            <a:xfrm>
              <a:off x="0" y="-38100"/>
              <a:ext cx="21396960" cy="696468"/>
            </a:xfrm>
            <a:prstGeom prst="rect">
              <a:avLst/>
            </a:prstGeom>
          </p:spPr>
          <p:txBody>
            <a:bodyPr lIns="0" tIns="0" rIns="0" bIns="0" rtlCol="0" anchor="ctr"/>
            <a:lstStyle/>
            <a:p>
              <a:pPr algn="l">
                <a:lnSpc>
                  <a:spcPts val="1709"/>
                </a:lnSpc>
              </a:pPr>
              <a:r>
                <a:rPr lang="en-US" sz="1425" b="1">
                  <a:solidFill>
                    <a:srgbClr val="0B1F3A"/>
                  </a:solidFill>
                  <a:latin typeface="Calibri"/>
                  <a:ea typeface="Calibri (MS) Bold"/>
                  <a:cs typeface="Calibri"/>
                  <a:sym typeface="Calibri (MS) Bold"/>
                </a:rPr>
                <a:t>Overconfidence:  </a:t>
              </a:r>
              <a:r>
                <a:rPr lang="en-US" sz="1425">
                  <a:solidFill>
                    <a:srgbClr val="5B6672"/>
                  </a:solidFill>
                  <a:latin typeface="Calibri"/>
                  <a:ea typeface="Calibri (MS)"/>
                  <a:cs typeface="Calibri"/>
                  <a:sym typeface="Calibri (MS)"/>
                </a:rPr>
                <a:t>Every prize and cost is a range with a stated basis; point estimates removed from the main deck.</a:t>
              </a:r>
            </a:p>
          </p:txBody>
        </p:sp>
      </p:grpSp>
      <p:grpSp>
        <p:nvGrpSpPr>
          <p:cNvPr id="44" name="Group 44"/>
          <p:cNvGrpSpPr/>
          <p:nvPr/>
        </p:nvGrpSpPr>
        <p:grpSpPr>
          <a:xfrm>
            <a:off x="754380" y="9189720"/>
            <a:ext cx="16733520" cy="411480"/>
            <a:chOff x="0" y="0"/>
            <a:chExt cx="22311360" cy="548640"/>
          </a:xfrm>
        </p:grpSpPr>
        <p:sp>
          <p:nvSpPr>
            <p:cNvPr id="45" name="Freeform 45"/>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46" name="TextBox 46"/>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Findings (p.42)</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Back to main deck (p.11)</a:t>
              </a:r>
            </a:p>
          </p:txBody>
        </p:sp>
      </p:grpSp>
      <p:grpSp>
        <p:nvGrpSpPr>
          <p:cNvPr id="47" name="Group 47"/>
          <p:cNvGrpSpPr/>
          <p:nvPr/>
        </p:nvGrpSpPr>
        <p:grpSpPr>
          <a:xfrm>
            <a:off x="17076420" y="9669780"/>
            <a:ext cx="960120" cy="411480"/>
            <a:chOff x="0" y="0"/>
            <a:chExt cx="1280160" cy="548640"/>
          </a:xfrm>
        </p:grpSpPr>
        <p:sp>
          <p:nvSpPr>
            <p:cNvPr id="48" name="Freeform 48"/>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49" name="TextBox 49"/>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41</a:t>
              </a:r>
            </a:p>
          </p:txBody>
        </p:sp>
      </p:grpSp>
      <p:grpSp>
        <p:nvGrpSpPr>
          <p:cNvPr id="50" name="Group 50"/>
          <p:cNvGrpSpPr/>
          <p:nvPr/>
        </p:nvGrpSpPr>
        <p:grpSpPr>
          <a:xfrm>
            <a:off x="754380" y="9669780"/>
            <a:ext cx="16047720" cy="411480"/>
            <a:chOff x="0" y="0"/>
            <a:chExt cx="21396960" cy="548640"/>
          </a:xfrm>
        </p:grpSpPr>
        <p:sp>
          <p:nvSpPr>
            <p:cNvPr id="51" name="Freeform 51"/>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52" name="TextBox 52"/>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Pre-mortem working papers  ·  not part of the client presentation</a:t>
              </a: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PM2  ·  PRE-MORTEM, FINDINGS (WORKING PAPER, NOT FOR THE CLIENT)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Pre-mortem Findings: Eight Ways the Plan Fails by 2028</a:t>
            </a:r>
          </a:p>
        </p:txBody>
      </p:sp>
      <p:grpSp>
        <p:nvGrpSpPr>
          <p:cNvPr id="6" name="Group 6"/>
          <p:cNvGrpSpPr/>
          <p:nvPr/>
        </p:nvGrpSpPr>
        <p:grpSpPr>
          <a:xfrm>
            <a:off x="754380" y="2674620"/>
            <a:ext cx="16802100" cy="685800"/>
            <a:chOff x="0" y="0"/>
            <a:chExt cx="22402800" cy="914400"/>
          </a:xfrm>
        </p:grpSpPr>
        <p:sp>
          <p:nvSpPr>
            <p:cNvPr id="7" name="Freeform 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003057"/>
            </a:solidFill>
          </p:spPr>
          <p:txBody>
            <a:bodyPr/>
            <a:lstStyle/>
            <a:p>
              <a:endParaRPr lang="en-US"/>
            </a:p>
          </p:txBody>
        </p:sp>
      </p:grpSp>
      <p:grpSp>
        <p:nvGrpSpPr>
          <p:cNvPr id="8" name="Group 8"/>
          <p:cNvGrpSpPr/>
          <p:nvPr/>
        </p:nvGrpSpPr>
        <p:grpSpPr>
          <a:xfrm>
            <a:off x="864108" y="2674620"/>
            <a:ext cx="1906524" cy="685800"/>
            <a:chOff x="0" y="0"/>
            <a:chExt cx="2542032" cy="914400"/>
          </a:xfrm>
        </p:grpSpPr>
        <p:sp>
          <p:nvSpPr>
            <p:cNvPr id="9" name="Freeform 9"/>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0" name="TextBox 10"/>
            <p:cNvSpPr txBox="1"/>
            <p:nvPr/>
          </p:nvSpPr>
          <p:spPr>
            <a:xfrm>
              <a:off x="0" y="-19050"/>
              <a:ext cx="254203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Bucket</a:t>
              </a:r>
            </a:p>
          </p:txBody>
        </p:sp>
      </p:grpSp>
      <p:grpSp>
        <p:nvGrpSpPr>
          <p:cNvPr id="11" name="Group 11"/>
          <p:cNvGrpSpPr/>
          <p:nvPr/>
        </p:nvGrpSpPr>
        <p:grpSpPr>
          <a:xfrm>
            <a:off x="2990088" y="2674620"/>
            <a:ext cx="5266944" cy="685800"/>
            <a:chOff x="0" y="0"/>
            <a:chExt cx="7022592" cy="914400"/>
          </a:xfrm>
        </p:grpSpPr>
        <p:sp>
          <p:nvSpPr>
            <p:cNvPr id="12" name="Freeform 12"/>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3" name="TextBox 13"/>
            <p:cNvSpPr txBox="1"/>
            <p:nvPr/>
          </p:nvSpPr>
          <p:spPr>
            <a:xfrm>
              <a:off x="0" y="-19050"/>
              <a:ext cx="70225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Why it failed (written mid-2028)</a:t>
              </a:r>
            </a:p>
          </p:txBody>
        </p:sp>
      </p:grpSp>
      <p:grpSp>
        <p:nvGrpSpPr>
          <p:cNvPr id="14" name="Group 14"/>
          <p:cNvGrpSpPr/>
          <p:nvPr/>
        </p:nvGrpSpPr>
        <p:grpSpPr>
          <a:xfrm>
            <a:off x="8476488" y="2674620"/>
            <a:ext cx="6364224" cy="685800"/>
            <a:chOff x="0" y="0"/>
            <a:chExt cx="8485632" cy="914400"/>
          </a:xfrm>
        </p:grpSpPr>
        <p:sp>
          <p:nvSpPr>
            <p:cNvPr id="15" name="Freeform 15"/>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16" name="TextBox 16"/>
            <p:cNvSpPr txBox="1"/>
            <p:nvPr/>
          </p:nvSpPr>
          <p:spPr>
            <a:xfrm>
              <a:off x="0" y="-19050"/>
              <a:ext cx="848563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Treatment</a:t>
              </a:r>
            </a:p>
          </p:txBody>
        </p:sp>
      </p:grpSp>
      <p:grpSp>
        <p:nvGrpSpPr>
          <p:cNvPr id="17" name="Group 17"/>
          <p:cNvGrpSpPr/>
          <p:nvPr/>
        </p:nvGrpSpPr>
        <p:grpSpPr>
          <a:xfrm>
            <a:off x="15060168" y="2674620"/>
            <a:ext cx="2386584" cy="685800"/>
            <a:chOff x="0" y="0"/>
            <a:chExt cx="3182112" cy="914400"/>
          </a:xfrm>
        </p:grpSpPr>
        <p:sp>
          <p:nvSpPr>
            <p:cNvPr id="18" name="Freeform 18"/>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19" name="TextBox 19"/>
            <p:cNvSpPr txBox="1"/>
            <p:nvPr/>
          </p:nvSpPr>
          <p:spPr>
            <a:xfrm>
              <a:off x="0" y="-19050"/>
              <a:ext cx="318211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Where</a:t>
              </a:r>
            </a:p>
          </p:txBody>
        </p:sp>
      </p:grpSp>
      <p:grpSp>
        <p:nvGrpSpPr>
          <p:cNvPr id="20" name="Group 20"/>
          <p:cNvGrpSpPr/>
          <p:nvPr/>
        </p:nvGrpSpPr>
        <p:grpSpPr>
          <a:xfrm>
            <a:off x="754380" y="3360420"/>
            <a:ext cx="16802100" cy="685800"/>
            <a:chOff x="0" y="0"/>
            <a:chExt cx="22402800" cy="914400"/>
          </a:xfrm>
        </p:grpSpPr>
        <p:sp>
          <p:nvSpPr>
            <p:cNvPr id="21" name="Freeform 21"/>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22" name="Group 22"/>
          <p:cNvGrpSpPr/>
          <p:nvPr/>
        </p:nvGrpSpPr>
        <p:grpSpPr>
          <a:xfrm>
            <a:off x="864108" y="3360420"/>
            <a:ext cx="1906524" cy="685800"/>
            <a:chOff x="0" y="0"/>
            <a:chExt cx="2542032" cy="914400"/>
          </a:xfrm>
        </p:grpSpPr>
        <p:sp>
          <p:nvSpPr>
            <p:cNvPr id="23" name="Freeform 23"/>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24" name="TextBox 24"/>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ANALYSIS GAP</a:t>
              </a:r>
            </a:p>
          </p:txBody>
        </p:sp>
      </p:grpSp>
      <p:grpSp>
        <p:nvGrpSpPr>
          <p:cNvPr id="25" name="Group 25"/>
          <p:cNvGrpSpPr/>
          <p:nvPr/>
        </p:nvGrpSpPr>
        <p:grpSpPr>
          <a:xfrm>
            <a:off x="2990088" y="3360420"/>
            <a:ext cx="5266944" cy="685800"/>
            <a:chOff x="0" y="0"/>
            <a:chExt cx="7022592" cy="914400"/>
          </a:xfrm>
        </p:grpSpPr>
        <p:sp>
          <p:nvSpPr>
            <p:cNvPr id="26" name="Freeform 26"/>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27" name="TextBox 27"/>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The deck led with the journey (problem → evidence → recs) and the CEO cut us off before the answer.</a:t>
              </a:r>
            </a:p>
          </p:txBody>
        </p:sp>
      </p:grpSp>
      <p:grpSp>
        <p:nvGrpSpPr>
          <p:cNvPr id="28" name="Group 28"/>
          <p:cNvGrpSpPr/>
          <p:nvPr/>
        </p:nvGrpSpPr>
        <p:grpSpPr>
          <a:xfrm>
            <a:off x="8476488" y="3360420"/>
            <a:ext cx="6364224" cy="685800"/>
            <a:chOff x="0" y="0"/>
            <a:chExt cx="8485632" cy="914400"/>
          </a:xfrm>
        </p:grpSpPr>
        <p:sp>
          <p:nvSpPr>
            <p:cNvPr id="29" name="Freeform 29"/>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30" name="TextBox 30"/>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Rebuilt to lead with the answer (slide 2); recs are one-slide each with headline / why / risks / next steps / one number.</a:t>
              </a:r>
            </a:p>
          </p:txBody>
        </p:sp>
      </p:grpSp>
      <p:grpSp>
        <p:nvGrpSpPr>
          <p:cNvPr id="31" name="Group 31"/>
          <p:cNvGrpSpPr/>
          <p:nvPr/>
        </p:nvGrpSpPr>
        <p:grpSpPr>
          <a:xfrm>
            <a:off x="15060168" y="3360420"/>
            <a:ext cx="2386584" cy="685800"/>
            <a:chOff x="0" y="0"/>
            <a:chExt cx="3182112" cy="914400"/>
          </a:xfrm>
        </p:grpSpPr>
        <p:sp>
          <p:nvSpPr>
            <p:cNvPr id="32" name="Freeform 32"/>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33" name="TextBox 33"/>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2, 3, 5, 7</a:t>
              </a:r>
            </a:p>
          </p:txBody>
        </p:sp>
      </p:grpSp>
      <p:grpSp>
        <p:nvGrpSpPr>
          <p:cNvPr id="34" name="Group 34"/>
          <p:cNvGrpSpPr/>
          <p:nvPr/>
        </p:nvGrpSpPr>
        <p:grpSpPr>
          <a:xfrm>
            <a:off x="864108" y="4046220"/>
            <a:ext cx="1906524" cy="685800"/>
            <a:chOff x="0" y="0"/>
            <a:chExt cx="2542032" cy="914400"/>
          </a:xfrm>
        </p:grpSpPr>
        <p:sp>
          <p:nvSpPr>
            <p:cNvPr id="35" name="Freeform 35"/>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36" name="TextBox 36"/>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ANALYSIS GAP</a:t>
              </a:r>
            </a:p>
          </p:txBody>
        </p:sp>
      </p:grpSp>
      <p:grpSp>
        <p:nvGrpSpPr>
          <p:cNvPr id="37" name="Group 37"/>
          <p:cNvGrpSpPr/>
          <p:nvPr/>
        </p:nvGrpSpPr>
        <p:grpSpPr>
          <a:xfrm>
            <a:off x="2990088" y="4046220"/>
            <a:ext cx="5266944" cy="685800"/>
            <a:chOff x="0" y="0"/>
            <a:chExt cx="7022592" cy="914400"/>
          </a:xfrm>
        </p:grpSpPr>
        <p:sp>
          <p:nvSpPr>
            <p:cNvPr id="38" name="Freeform 38"/>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39" name="TextBox 39"/>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Prize and cost were point estimates (“$2.3B”, “low single-digit $M”); the CEO asked “you know that closely?” and credibility fell.</a:t>
              </a:r>
            </a:p>
          </p:txBody>
        </p:sp>
      </p:grpSp>
      <p:grpSp>
        <p:nvGrpSpPr>
          <p:cNvPr id="40" name="Group 40"/>
          <p:cNvGrpSpPr/>
          <p:nvPr/>
        </p:nvGrpSpPr>
        <p:grpSpPr>
          <a:xfrm>
            <a:off x="8476488" y="4046220"/>
            <a:ext cx="6364224" cy="685800"/>
            <a:chOff x="0" y="0"/>
            <a:chExt cx="8485632" cy="914400"/>
          </a:xfrm>
        </p:grpSpPr>
        <p:sp>
          <p:nvSpPr>
            <p:cNvPr id="41" name="Freeform 41"/>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42" name="TextBox 42"/>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Converted every number to a range with a stated basis and the assumption flagged in blue.</a:t>
              </a:r>
            </a:p>
          </p:txBody>
        </p:sp>
      </p:grpSp>
      <p:grpSp>
        <p:nvGrpSpPr>
          <p:cNvPr id="43" name="Group 43"/>
          <p:cNvGrpSpPr/>
          <p:nvPr/>
        </p:nvGrpSpPr>
        <p:grpSpPr>
          <a:xfrm>
            <a:off x="15060168" y="4046220"/>
            <a:ext cx="2386584" cy="685800"/>
            <a:chOff x="0" y="0"/>
            <a:chExt cx="3182112" cy="914400"/>
          </a:xfrm>
        </p:grpSpPr>
        <p:sp>
          <p:nvSpPr>
            <p:cNvPr id="44" name="Freeform 44"/>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45" name="TextBox 45"/>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2, 10, A19</a:t>
              </a:r>
            </a:p>
          </p:txBody>
        </p:sp>
      </p:grpSp>
      <p:grpSp>
        <p:nvGrpSpPr>
          <p:cNvPr id="46" name="Group 46"/>
          <p:cNvGrpSpPr/>
          <p:nvPr/>
        </p:nvGrpSpPr>
        <p:grpSpPr>
          <a:xfrm>
            <a:off x="754380" y="4732020"/>
            <a:ext cx="16802100" cy="685800"/>
            <a:chOff x="0" y="0"/>
            <a:chExt cx="22402800" cy="914400"/>
          </a:xfrm>
        </p:grpSpPr>
        <p:sp>
          <p:nvSpPr>
            <p:cNvPr id="47" name="Freeform 4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48" name="Group 48"/>
          <p:cNvGrpSpPr/>
          <p:nvPr/>
        </p:nvGrpSpPr>
        <p:grpSpPr>
          <a:xfrm>
            <a:off x="864108" y="4732020"/>
            <a:ext cx="1906524" cy="685800"/>
            <a:chOff x="0" y="0"/>
            <a:chExt cx="2542032" cy="914400"/>
          </a:xfrm>
        </p:grpSpPr>
        <p:sp>
          <p:nvSpPr>
            <p:cNvPr id="49" name="Freeform 49"/>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50" name="TextBox 50"/>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EXECUTION RISK</a:t>
              </a:r>
            </a:p>
          </p:txBody>
        </p:sp>
      </p:grpSp>
      <p:grpSp>
        <p:nvGrpSpPr>
          <p:cNvPr id="51" name="Group 51"/>
          <p:cNvGrpSpPr/>
          <p:nvPr/>
        </p:nvGrpSpPr>
        <p:grpSpPr>
          <a:xfrm>
            <a:off x="2990088" y="4732020"/>
            <a:ext cx="5266944" cy="685800"/>
            <a:chOff x="0" y="0"/>
            <a:chExt cx="7022592" cy="914400"/>
          </a:xfrm>
        </p:grpSpPr>
        <p:sp>
          <p:nvSpPr>
            <p:cNvPr id="52" name="Freeform 52"/>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53" name="TextBox 53"/>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Kill conditions were renegotiated once a play was live; “harvest” was never executed.</a:t>
              </a:r>
            </a:p>
          </p:txBody>
        </p:sp>
      </p:grpSp>
      <p:grpSp>
        <p:nvGrpSpPr>
          <p:cNvPr id="54" name="Group 54"/>
          <p:cNvGrpSpPr/>
          <p:nvPr/>
        </p:nvGrpSpPr>
        <p:grpSpPr>
          <a:xfrm>
            <a:off x="8476488" y="4732020"/>
            <a:ext cx="6364224" cy="685800"/>
            <a:chOff x="0" y="0"/>
            <a:chExt cx="8485632" cy="914400"/>
          </a:xfrm>
        </p:grpSpPr>
        <p:sp>
          <p:nvSpPr>
            <p:cNvPr id="55" name="Freeform 55"/>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56" name="TextBox 56"/>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Board-ratified charter before the first read; triggers and kill conditions published externally (Rec 2A) raise the cost of reneging. Owner: executive sponsor.</a:t>
              </a:r>
            </a:p>
          </p:txBody>
        </p:sp>
      </p:grpSp>
      <p:grpSp>
        <p:nvGrpSpPr>
          <p:cNvPr id="57" name="Group 57"/>
          <p:cNvGrpSpPr/>
          <p:nvPr/>
        </p:nvGrpSpPr>
        <p:grpSpPr>
          <a:xfrm>
            <a:off x="15060168" y="4732020"/>
            <a:ext cx="2386584" cy="685800"/>
            <a:chOff x="0" y="0"/>
            <a:chExt cx="3182112" cy="914400"/>
          </a:xfrm>
        </p:grpSpPr>
        <p:sp>
          <p:nvSpPr>
            <p:cNvPr id="58" name="Freeform 58"/>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59" name="TextBox 59"/>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3, 11</a:t>
              </a:r>
            </a:p>
          </p:txBody>
        </p:sp>
      </p:grpSp>
      <p:grpSp>
        <p:nvGrpSpPr>
          <p:cNvPr id="60" name="Group 60"/>
          <p:cNvGrpSpPr/>
          <p:nvPr/>
        </p:nvGrpSpPr>
        <p:grpSpPr>
          <a:xfrm>
            <a:off x="864108" y="5417820"/>
            <a:ext cx="1906524" cy="685800"/>
            <a:chOff x="0" y="0"/>
            <a:chExt cx="2542032" cy="914400"/>
          </a:xfrm>
        </p:grpSpPr>
        <p:sp>
          <p:nvSpPr>
            <p:cNvPr id="61" name="Freeform 61"/>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62" name="TextBox 62"/>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EXECUTION RISK</a:t>
              </a:r>
            </a:p>
          </p:txBody>
        </p:sp>
      </p:grpSp>
      <p:grpSp>
        <p:nvGrpSpPr>
          <p:cNvPr id="63" name="Group 63"/>
          <p:cNvGrpSpPr/>
          <p:nvPr/>
        </p:nvGrpSpPr>
        <p:grpSpPr>
          <a:xfrm>
            <a:off x="2990088" y="5417820"/>
            <a:ext cx="5266944" cy="685800"/>
            <a:chOff x="0" y="0"/>
            <a:chExt cx="7022592" cy="914400"/>
          </a:xfrm>
        </p:grpSpPr>
        <p:sp>
          <p:nvSpPr>
            <p:cNvPr id="64" name="Freeform 64"/>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65" name="TextBox 65"/>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The buyback pause was read as capitulation and the stock fell on the announcement.</a:t>
              </a:r>
            </a:p>
          </p:txBody>
        </p:sp>
      </p:grpSp>
      <p:grpSp>
        <p:nvGrpSpPr>
          <p:cNvPr id="66" name="Group 66"/>
          <p:cNvGrpSpPr/>
          <p:nvPr/>
        </p:nvGrpSpPr>
        <p:grpSpPr>
          <a:xfrm>
            <a:off x="8476488" y="5417820"/>
            <a:ext cx="6364224" cy="685800"/>
            <a:chOff x="0" y="0"/>
            <a:chExt cx="8485632" cy="914400"/>
          </a:xfrm>
        </p:grpSpPr>
        <p:sp>
          <p:nvSpPr>
            <p:cNvPr id="67" name="Freeform 67"/>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68" name="TextBox 68"/>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Announce with FY2026 results alongside the &lt;4.0x target and a reinstatement trigger (two improving prints). Owner: CFO / IR.</a:t>
              </a:r>
            </a:p>
          </p:txBody>
        </p:sp>
      </p:grpSp>
      <p:grpSp>
        <p:nvGrpSpPr>
          <p:cNvPr id="69" name="Group 69"/>
          <p:cNvGrpSpPr/>
          <p:nvPr/>
        </p:nvGrpSpPr>
        <p:grpSpPr>
          <a:xfrm>
            <a:off x="15060168" y="5417820"/>
            <a:ext cx="2386584" cy="685800"/>
            <a:chOff x="0" y="0"/>
            <a:chExt cx="3182112" cy="914400"/>
          </a:xfrm>
        </p:grpSpPr>
        <p:sp>
          <p:nvSpPr>
            <p:cNvPr id="70" name="Freeform 70"/>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71" name="TextBox 71"/>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5, 11</a:t>
              </a:r>
            </a:p>
          </p:txBody>
        </p:sp>
      </p:grpSp>
      <p:grpSp>
        <p:nvGrpSpPr>
          <p:cNvPr id="72" name="Group 72"/>
          <p:cNvGrpSpPr/>
          <p:nvPr/>
        </p:nvGrpSpPr>
        <p:grpSpPr>
          <a:xfrm>
            <a:off x="754380" y="6103620"/>
            <a:ext cx="16802100" cy="685800"/>
            <a:chOff x="0" y="0"/>
            <a:chExt cx="22402800" cy="914400"/>
          </a:xfrm>
        </p:grpSpPr>
        <p:sp>
          <p:nvSpPr>
            <p:cNvPr id="73" name="Freeform 73"/>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74" name="Group 74"/>
          <p:cNvGrpSpPr/>
          <p:nvPr/>
        </p:nvGrpSpPr>
        <p:grpSpPr>
          <a:xfrm>
            <a:off x="864108" y="6103620"/>
            <a:ext cx="1906524" cy="685800"/>
            <a:chOff x="0" y="0"/>
            <a:chExt cx="2542032" cy="914400"/>
          </a:xfrm>
        </p:grpSpPr>
        <p:sp>
          <p:nvSpPr>
            <p:cNvPr id="75" name="Freeform 75"/>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76" name="TextBox 76"/>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EXECUTION RISK</a:t>
              </a:r>
            </a:p>
          </p:txBody>
        </p:sp>
      </p:grpSp>
      <p:grpSp>
        <p:nvGrpSpPr>
          <p:cNvPr id="77" name="Group 77"/>
          <p:cNvGrpSpPr/>
          <p:nvPr/>
        </p:nvGrpSpPr>
        <p:grpSpPr>
          <a:xfrm>
            <a:off x="2990088" y="6103620"/>
            <a:ext cx="5266944" cy="685800"/>
            <a:chOff x="0" y="0"/>
            <a:chExt cx="7022592" cy="914400"/>
          </a:xfrm>
        </p:grpSpPr>
        <p:sp>
          <p:nvSpPr>
            <p:cNvPr id="78" name="Freeform 78"/>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79" name="TextBox 79"/>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Cox integration ($34.5B) consumed all management attention; the sensor was never funded.</a:t>
              </a:r>
            </a:p>
          </p:txBody>
        </p:sp>
      </p:grpSp>
      <p:grpSp>
        <p:nvGrpSpPr>
          <p:cNvPr id="80" name="Group 80"/>
          <p:cNvGrpSpPr/>
          <p:nvPr/>
        </p:nvGrpSpPr>
        <p:grpSpPr>
          <a:xfrm>
            <a:off x="8476488" y="6103620"/>
            <a:ext cx="6364224" cy="685800"/>
            <a:chOff x="0" y="0"/>
            <a:chExt cx="8485632" cy="914400"/>
          </a:xfrm>
        </p:grpSpPr>
        <p:sp>
          <p:nvSpPr>
            <p:cNvPr id="81" name="Freeform 81"/>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82" name="TextBox 82"/>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Sensor kept small ($2–4M), one sponsor, built on the combined footprint; Rec 2 moves land in Q1 2027 regardless of sensor timing. Owner: CEO (sponsor appointment).</a:t>
              </a:r>
            </a:p>
          </p:txBody>
        </p:sp>
      </p:grpSp>
      <p:grpSp>
        <p:nvGrpSpPr>
          <p:cNvPr id="83" name="Group 83"/>
          <p:cNvGrpSpPr/>
          <p:nvPr/>
        </p:nvGrpSpPr>
        <p:grpSpPr>
          <a:xfrm>
            <a:off x="15060168" y="6103620"/>
            <a:ext cx="2386584" cy="685800"/>
            <a:chOff x="0" y="0"/>
            <a:chExt cx="3182112" cy="914400"/>
          </a:xfrm>
        </p:grpSpPr>
        <p:sp>
          <p:nvSpPr>
            <p:cNvPr id="84" name="Freeform 84"/>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85" name="TextBox 85"/>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3, 10</a:t>
              </a:r>
            </a:p>
          </p:txBody>
        </p:sp>
      </p:grpSp>
      <p:grpSp>
        <p:nvGrpSpPr>
          <p:cNvPr id="86" name="Group 86"/>
          <p:cNvGrpSpPr/>
          <p:nvPr/>
        </p:nvGrpSpPr>
        <p:grpSpPr>
          <a:xfrm>
            <a:off x="864108" y="6789420"/>
            <a:ext cx="1906524" cy="685800"/>
            <a:chOff x="0" y="0"/>
            <a:chExt cx="2542032" cy="914400"/>
          </a:xfrm>
        </p:grpSpPr>
        <p:sp>
          <p:nvSpPr>
            <p:cNvPr id="87" name="Freeform 87"/>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88" name="TextBox 88"/>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CONDITION</a:t>
              </a:r>
            </a:p>
          </p:txBody>
        </p:sp>
      </p:grpSp>
      <p:grpSp>
        <p:nvGrpSpPr>
          <p:cNvPr id="89" name="Group 89"/>
          <p:cNvGrpSpPr/>
          <p:nvPr/>
        </p:nvGrpSpPr>
        <p:grpSpPr>
          <a:xfrm>
            <a:off x="2990088" y="6789420"/>
            <a:ext cx="5266944" cy="685800"/>
            <a:chOff x="0" y="0"/>
            <a:chExt cx="7022592" cy="914400"/>
          </a:xfrm>
        </p:grpSpPr>
        <p:sp>
          <p:nvSpPr>
            <p:cNvPr id="90" name="Freeform 9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91" name="TextBox 9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The read came back diffuse (Scenario 6) and the plan looked like “do nothing.”</a:t>
              </a:r>
            </a:p>
          </p:txBody>
        </p:sp>
      </p:grpSp>
      <p:grpSp>
        <p:nvGrpSpPr>
          <p:cNvPr id="92" name="Group 92"/>
          <p:cNvGrpSpPr/>
          <p:nvPr/>
        </p:nvGrpSpPr>
        <p:grpSpPr>
          <a:xfrm>
            <a:off x="8476488" y="6789420"/>
            <a:ext cx="6364224" cy="685800"/>
            <a:chOff x="0" y="0"/>
            <a:chExt cx="8485632" cy="914400"/>
          </a:xfrm>
        </p:grpSpPr>
        <p:sp>
          <p:nvSpPr>
            <p:cNvPr id="93" name="Freeform 93"/>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94" name="TextBox 94"/>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Scenario 6 is a trigger: fires Rec 2 in full plus spend-capped experiments; the null result is itself disclosure the market never had.</a:t>
              </a:r>
            </a:p>
          </p:txBody>
        </p:sp>
      </p:grpSp>
      <p:grpSp>
        <p:nvGrpSpPr>
          <p:cNvPr id="95" name="Group 95"/>
          <p:cNvGrpSpPr/>
          <p:nvPr/>
        </p:nvGrpSpPr>
        <p:grpSpPr>
          <a:xfrm>
            <a:off x="15060168" y="6789420"/>
            <a:ext cx="2386584" cy="685800"/>
            <a:chOff x="0" y="0"/>
            <a:chExt cx="3182112" cy="914400"/>
          </a:xfrm>
        </p:grpSpPr>
        <p:sp>
          <p:nvSpPr>
            <p:cNvPr id="96" name="Freeform 96"/>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97" name="TextBox 97"/>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3, 11, A15</a:t>
              </a:r>
            </a:p>
          </p:txBody>
        </p:sp>
      </p:grpSp>
      <p:grpSp>
        <p:nvGrpSpPr>
          <p:cNvPr id="98" name="Group 98"/>
          <p:cNvGrpSpPr/>
          <p:nvPr/>
        </p:nvGrpSpPr>
        <p:grpSpPr>
          <a:xfrm>
            <a:off x="754380" y="7475220"/>
            <a:ext cx="16802100" cy="685800"/>
            <a:chOff x="0" y="0"/>
            <a:chExt cx="22402800" cy="914400"/>
          </a:xfrm>
        </p:grpSpPr>
        <p:sp>
          <p:nvSpPr>
            <p:cNvPr id="99" name="Freeform 99"/>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100" name="Group 100"/>
          <p:cNvGrpSpPr/>
          <p:nvPr/>
        </p:nvGrpSpPr>
        <p:grpSpPr>
          <a:xfrm>
            <a:off x="864108" y="7475220"/>
            <a:ext cx="1906524" cy="685800"/>
            <a:chOff x="0" y="0"/>
            <a:chExt cx="2542032" cy="914400"/>
          </a:xfrm>
        </p:grpSpPr>
        <p:sp>
          <p:nvSpPr>
            <p:cNvPr id="101" name="Freeform 101"/>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02" name="TextBox 102"/>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CONDITION</a:t>
              </a:r>
            </a:p>
          </p:txBody>
        </p:sp>
      </p:grpSp>
      <p:grpSp>
        <p:nvGrpSpPr>
          <p:cNvPr id="103" name="Group 103"/>
          <p:cNvGrpSpPr/>
          <p:nvPr/>
        </p:nvGrpSpPr>
        <p:grpSpPr>
          <a:xfrm>
            <a:off x="2990088" y="7475220"/>
            <a:ext cx="5266944" cy="685800"/>
            <a:chOff x="0" y="0"/>
            <a:chExt cx="7022592" cy="914400"/>
          </a:xfrm>
        </p:grpSpPr>
        <p:sp>
          <p:nvSpPr>
            <p:cNvPr id="104" name="Freeform 104"/>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05" name="TextBox 105"/>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Gross adds stayed housing-bound; churn improved but the print did not bend.</a:t>
              </a:r>
            </a:p>
          </p:txBody>
        </p:sp>
      </p:grpSp>
      <p:grpSp>
        <p:nvGrpSpPr>
          <p:cNvPr id="106" name="Group 106"/>
          <p:cNvGrpSpPr/>
          <p:nvPr/>
        </p:nvGrpSpPr>
        <p:grpSpPr>
          <a:xfrm>
            <a:off x="8476488" y="7475220"/>
            <a:ext cx="6364224" cy="685800"/>
            <a:chOff x="0" y="0"/>
            <a:chExt cx="8485632" cy="914400"/>
          </a:xfrm>
        </p:grpSpPr>
        <p:sp>
          <p:nvSpPr>
            <p:cNvPr id="107" name="Freeform 107"/>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108" name="TextBox 108"/>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Prize stated as a range incl. 0x; Scenario 4 makes the housing share legible; Rec 2 gives the market a trajectory to price while the curve bends.</a:t>
              </a:r>
            </a:p>
          </p:txBody>
        </p:sp>
      </p:grpSp>
      <p:grpSp>
        <p:nvGrpSpPr>
          <p:cNvPr id="109" name="Group 109"/>
          <p:cNvGrpSpPr/>
          <p:nvPr/>
        </p:nvGrpSpPr>
        <p:grpSpPr>
          <a:xfrm>
            <a:off x="15060168" y="7475220"/>
            <a:ext cx="2386584" cy="685800"/>
            <a:chOff x="0" y="0"/>
            <a:chExt cx="3182112" cy="914400"/>
          </a:xfrm>
        </p:grpSpPr>
        <p:sp>
          <p:nvSpPr>
            <p:cNvPr id="110" name="Freeform 110"/>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111" name="TextBox 111"/>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Slides 10, 11</a:t>
              </a:r>
            </a:p>
          </p:txBody>
        </p:sp>
      </p:grpSp>
      <p:grpSp>
        <p:nvGrpSpPr>
          <p:cNvPr id="112" name="Group 112"/>
          <p:cNvGrpSpPr/>
          <p:nvPr/>
        </p:nvGrpSpPr>
        <p:grpSpPr>
          <a:xfrm>
            <a:off x="864108" y="8161020"/>
            <a:ext cx="1906524" cy="685800"/>
            <a:chOff x="0" y="0"/>
            <a:chExt cx="2542032" cy="914400"/>
          </a:xfrm>
        </p:grpSpPr>
        <p:sp>
          <p:nvSpPr>
            <p:cNvPr id="113" name="Freeform 113"/>
            <p:cNvSpPr/>
            <p:nvPr/>
          </p:nvSpPr>
          <p:spPr>
            <a:xfrm>
              <a:off x="0" y="0"/>
              <a:ext cx="2542032" cy="914400"/>
            </a:xfrm>
            <a:custGeom>
              <a:avLst/>
              <a:gdLst/>
              <a:ahLst/>
              <a:cxnLst/>
              <a:rect l="l" t="t" r="r" b="b"/>
              <a:pathLst>
                <a:path w="2542032" h="914400">
                  <a:moveTo>
                    <a:pt x="0" y="0"/>
                  </a:moveTo>
                  <a:lnTo>
                    <a:pt x="2542032" y="0"/>
                  </a:lnTo>
                  <a:lnTo>
                    <a:pt x="2542032" y="914400"/>
                  </a:lnTo>
                  <a:lnTo>
                    <a:pt x="0" y="914400"/>
                  </a:lnTo>
                  <a:close/>
                </a:path>
              </a:pathLst>
            </a:custGeom>
            <a:blipFill>
              <a:blip r:embed="rId3">
                <a:alphaModFix amt="0"/>
              </a:blip>
              <a:stretch>
                <a:fillRect t="-4168" b="-4168"/>
              </a:stretch>
            </a:blipFill>
          </p:spPr>
          <p:txBody>
            <a:bodyPr/>
            <a:lstStyle/>
            <a:p>
              <a:endParaRPr lang="en-US"/>
            </a:p>
          </p:txBody>
        </p:sp>
        <p:sp>
          <p:nvSpPr>
            <p:cNvPr id="114" name="TextBox 114"/>
            <p:cNvSpPr txBox="1"/>
            <p:nvPr/>
          </p:nvSpPr>
          <p:spPr>
            <a:xfrm>
              <a:off x="0" y="-28575"/>
              <a:ext cx="2542032" cy="942975"/>
            </a:xfrm>
            <a:prstGeom prst="rect">
              <a:avLst/>
            </a:prstGeom>
          </p:spPr>
          <p:txBody>
            <a:bodyPr lIns="0" tIns="0" rIns="0" bIns="0" rtlCol="0" anchor="ctr"/>
            <a:lstStyle/>
            <a:p>
              <a:pPr algn="l">
                <a:lnSpc>
                  <a:spcPts val="1530"/>
                </a:lnSpc>
              </a:pPr>
              <a:r>
                <a:rPr lang="en-US" sz="1275" b="1">
                  <a:solidFill>
                    <a:srgbClr val="0099D8"/>
                  </a:solidFill>
                  <a:latin typeface="Calibri"/>
                  <a:ea typeface="Calibri (MS) Bold"/>
                  <a:cs typeface="Calibri"/>
                  <a:sym typeface="Calibri (MS) Bold"/>
                </a:rPr>
                <a:t>CONDITION</a:t>
              </a:r>
            </a:p>
          </p:txBody>
        </p:sp>
      </p:grpSp>
      <p:grpSp>
        <p:nvGrpSpPr>
          <p:cNvPr id="115" name="Group 115"/>
          <p:cNvGrpSpPr/>
          <p:nvPr/>
        </p:nvGrpSpPr>
        <p:grpSpPr>
          <a:xfrm>
            <a:off x="2990088" y="8161020"/>
            <a:ext cx="5266944" cy="685800"/>
            <a:chOff x="0" y="0"/>
            <a:chExt cx="7022592" cy="914400"/>
          </a:xfrm>
        </p:grpSpPr>
        <p:sp>
          <p:nvSpPr>
            <p:cNvPr id="116" name="Freeform 116"/>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17" name="TextBox 117"/>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The market lens shifted to FCF once capex rolled off in 2027; our whole case was on the Internet print.</a:t>
              </a:r>
            </a:p>
          </p:txBody>
        </p:sp>
      </p:grpSp>
      <p:grpSp>
        <p:nvGrpSpPr>
          <p:cNvPr id="118" name="Group 118"/>
          <p:cNvGrpSpPr/>
          <p:nvPr/>
        </p:nvGrpSpPr>
        <p:grpSpPr>
          <a:xfrm>
            <a:off x="8476488" y="8161020"/>
            <a:ext cx="6364224" cy="685800"/>
            <a:chOff x="0" y="0"/>
            <a:chExt cx="8485632" cy="914400"/>
          </a:xfrm>
        </p:grpSpPr>
        <p:sp>
          <p:nvSpPr>
            <p:cNvPr id="119" name="Freeform 119"/>
            <p:cNvSpPr/>
            <p:nvPr/>
          </p:nvSpPr>
          <p:spPr>
            <a:xfrm>
              <a:off x="0" y="0"/>
              <a:ext cx="8485632" cy="914400"/>
            </a:xfrm>
            <a:custGeom>
              <a:avLst/>
              <a:gdLst/>
              <a:ahLst/>
              <a:cxnLst/>
              <a:rect l="l" t="t" r="r" b="b"/>
              <a:pathLst>
                <a:path w="8485632" h="914400">
                  <a:moveTo>
                    <a:pt x="0" y="0"/>
                  </a:moveTo>
                  <a:lnTo>
                    <a:pt x="8485632" y="0"/>
                  </a:lnTo>
                  <a:lnTo>
                    <a:pt x="8485632" y="914400"/>
                  </a:lnTo>
                  <a:lnTo>
                    <a:pt x="0" y="914400"/>
                  </a:lnTo>
                  <a:close/>
                </a:path>
              </a:pathLst>
            </a:custGeom>
            <a:blipFill>
              <a:blip r:embed="rId3">
                <a:alphaModFix amt="0"/>
              </a:blip>
              <a:stretch>
                <a:fillRect t="-130821" b="-130821"/>
              </a:stretch>
            </a:blipFill>
          </p:spPr>
          <p:txBody>
            <a:bodyPr/>
            <a:lstStyle/>
            <a:p>
              <a:endParaRPr lang="en-US"/>
            </a:p>
          </p:txBody>
        </p:sp>
        <p:sp>
          <p:nvSpPr>
            <p:cNvPr id="120" name="TextBox 120"/>
            <p:cNvSpPr txBox="1"/>
            <p:nvPr/>
          </p:nvSpPr>
          <p:spPr>
            <a:xfrm>
              <a:off x="0" y="-28575"/>
              <a:ext cx="848563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Stated the condition that would change our mind (FCF correlation &gt; 0.5); Rec 2B (steady-state capex guide) becomes the lead move if it does.</a:t>
              </a:r>
            </a:p>
          </p:txBody>
        </p:sp>
      </p:grpSp>
      <p:grpSp>
        <p:nvGrpSpPr>
          <p:cNvPr id="121" name="Group 121"/>
          <p:cNvGrpSpPr/>
          <p:nvPr/>
        </p:nvGrpSpPr>
        <p:grpSpPr>
          <a:xfrm>
            <a:off x="15060168" y="8161020"/>
            <a:ext cx="2386584" cy="685800"/>
            <a:chOff x="0" y="0"/>
            <a:chExt cx="3182112" cy="914400"/>
          </a:xfrm>
        </p:grpSpPr>
        <p:sp>
          <p:nvSpPr>
            <p:cNvPr id="122" name="Freeform 122"/>
            <p:cNvSpPr/>
            <p:nvPr/>
          </p:nvSpPr>
          <p:spPr>
            <a:xfrm>
              <a:off x="0" y="0"/>
              <a:ext cx="3182112" cy="914400"/>
            </a:xfrm>
            <a:custGeom>
              <a:avLst/>
              <a:gdLst/>
              <a:ahLst/>
              <a:cxnLst/>
              <a:rect l="l" t="t" r="r" b="b"/>
              <a:pathLst>
                <a:path w="3182112" h="914400">
                  <a:moveTo>
                    <a:pt x="0" y="0"/>
                  </a:moveTo>
                  <a:lnTo>
                    <a:pt x="3182112" y="0"/>
                  </a:lnTo>
                  <a:lnTo>
                    <a:pt x="3182112" y="914400"/>
                  </a:lnTo>
                  <a:lnTo>
                    <a:pt x="0" y="914400"/>
                  </a:lnTo>
                  <a:close/>
                </a:path>
              </a:pathLst>
            </a:custGeom>
            <a:blipFill>
              <a:blip r:embed="rId3">
                <a:alphaModFix amt="0"/>
              </a:blip>
              <a:stretch>
                <a:fillRect t="-17807" b="-17807"/>
              </a:stretch>
            </a:blipFill>
          </p:spPr>
          <p:txBody>
            <a:bodyPr/>
            <a:lstStyle/>
            <a:p>
              <a:endParaRPr lang="en-US"/>
            </a:p>
          </p:txBody>
        </p:sp>
        <p:sp>
          <p:nvSpPr>
            <p:cNvPr id="123" name="TextBox 123"/>
            <p:cNvSpPr txBox="1"/>
            <p:nvPr/>
          </p:nvSpPr>
          <p:spPr>
            <a:xfrm>
              <a:off x="0" y="-28575"/>
              <a:ext cx="318211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 11</a:t>
              </a:r>
            </a:p>
          </p:txBody>
        </p:sp>
      </p:grpSp>
      <p:grpSp>
        <p:nvGrpSpPr>
          <p:cNvPr id="124" name="Group 124"/>
          <p:cNvGrpSpPr/>
          <p:nvPr/>
        </p:nvGrpSpPr>
        <p:grpSpPr>
          <a:xfrm>
            <a:off x="754380" y="8846820"/>
            <a:ext cx="16802100" cy="411480"/>
            <a:chOff x="0" y="0"/>
            <a:chExt cx="22402800" cy="548640"/>
          </a:xfrm>
        </p:grpSpPr>
        <p:sp>
          <p:nvSpPr>
            <p:cNvPr id="125" name="Freeform 125"/>
            <p:cNvSpPr/>
            <p:nvPr/>
          </p:nvSpPr>
          <p:spPr>
            <a:xfrm>
              <a:off x="0" y="0"/>
              <a:ext cx="22402800" cy="548640"/>
            </a:xfrm>
            <a:custGeom>
              <a:avLst/>
              <a:gdLst/>
              <a:ahLst/>
              <a:cxnLst/>
              <a:rect l="l" t="t" r="r" b="b"/>
              <a:pathLst>
                <a:path w="22402800" h="548640">
                  <a:moveTo>
                    <a:pt x="0" y="0"/>
                  </a:moveTo>
                  <a:lnTo>
                    <a:pt x="22402800" y="0"/>
                  </a:lnTo>
                  <a:lnTo>
                    <a:pt x="22402800" y="548640"/>
                  </a:lnTo>
                  <a:lnTo>
                    <a:pt x="0" y="548640"/>
                  </a:lnTo>
                  <a:close/>
                </a:path>
              </a:pathLst>
            </a:custGeom>
            <a:blipFill>
              <a:blip r:embed="rId3">
                <a:alphaModFix amt="0"/>
              </a:blip>
              <a:stretch>
                <a:fillRect t="-745639" b="-745639"/>
              </a:stretch>
            </a:blipFill>
          </p:spPr>
          <p:txBody>
            <a:bodyPr/>
            <a:lstStyle/>
            <a:p>
              <a:endParaRPr lang="en-US"/>
            </a:p>
          </p:txBody>
        </p:sp>
        <p:sp>
          <p:nvSpPr>
            <p:cNvPr id="126" name="TextBox 126"/>
            <p:cNvSpPr txBox="1"/>
            <p:nvPr/>
          </p:nvSpPr>
          <p:spPr>
            <a:xfrm>
              <a:off x="0" y="-28575"/>
              <a:ext cx="22402800" cy="577215"/>
            </a:xfrm>
            <a:prstGeom prst="rect">
              <a:avLst/>
            </a:prstGeom>
          </p:spPr>
          <p:txBody>
            <a:bodyPr lIns="0" tIns="0" rIns="0" bIns="0" rtlCol="0" anchor="ctr"/>
            <a:lstStyle/>
            <a:p>
              <a:pPr algn="l">
                <a:lnSpc>
                  <a:spcPts val="1620"/>
                </a:lnSpc>
              </a:pPr>
              <a:r>
                <a:rPr lang="en-US" sz="1350" i="1">
                  <a:solidFill>
                    <a:srgbClr val="66717D"/>
                  </a:solidFill>
                  <a:latin typeface="Calibri"/>
                  <a:ea typeface="Calibri (MS) Italics"/>
                  <a:cs typeface="Calibri"/>
                  <a:sym typeface="Calibri (MS) Italics"/>
                </a:rPr>
                <a:t>Not treated (accepted): the team name is a placeholder; Comcast leverage (~2.3x) is an external figure the team must verify before Monday; the 'hyperscalers' term was replaced with LEO satellite everywhere.</a:t>
              </a:r>
            </a:p>
          </p:txBody>
        </p:sp>
      </p:grpSp>
      <p:grpSp>
        <p:nvGrpSpPr>
          <p:cNvPr id="127" name="Group 127"/>
          <p:cNvGrpSpPr/>
          <p:nvPr/>
        </p:nvGrpSpPr>
        <p:grpSpPr>
          <a:xfrm>
            <a:off x="754380" y="9258300"/>
            <a:ext cx="16733520" cy="411480"/>
            <a:chOff x="0" y="0"/>
            <a:chExt cx="22311360" cy="548640"/>
          </a:xfrm>
        </p:grpSpPr>
        <p:sp>
          <p:nvSpPr>
            <p:cNvPr id="128" name="Freeform 128"/>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29" name="TextBox 129"/>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Changes made (p.43)</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Back to main deck (p.11)</a:t>
              </a:r>
            </a:p>
          </p:txBody>
        </p:sp>
      </p:grpSp>
      <p:grpSp>
        <p:nvGrpSpPr>
          <p:cNvPr id="130" name="Group 130"/>
          <p:cNvGrpSpPr/>
          <p:nvPr/>
        </p:nvGrpSpPr>
        <p:grpSpPr>
          <a:xfrm>
            <a:off x="17076420" y="9669780"/>
            <a:ext cx="960120" cy="411480"/>
            <a:chOff x="0" y="0"/>
            <a:chExt cx="1280160" cy="548640"/>
          </a:xfrm>
        </p:grpSpPr>
        <p:sp>
          <p:nvSpPr>
            <p:cNvPr id="131" name="Freeform 131"/>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32" name="TextBox 132"/>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42</a:t>
              </a:r>
            </a:p>
          </p:txBody>
        </p:sp>
      </p:grpSp>
      <p:grpSp>
        <p:nvGrpSpPr>
          <p:cNvPr id="133" name="Group 133"/>
          <p:cNvGrpSpPr/>
          <p:nvPr/>
        </p:nvGrpSpPr>
        <p:grpSpPr>
          <a:xfrm>
            <a:off x="754380" y="9669780"/>
            <a:ext cx="16047720" cy="411480"/>
            <a:chOff x="0" y="0"/>
            <a:chExt cx="21396960" cy="548640"/>
          </a:xfrm>
        </p:grpSpPr>
        <p:sp>
          <p:nvSpPr>
            <p:cNvPr id="134" name="Freeform 134"/>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35" name="TextBox 135"/>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Pre-mortem working papers  ·  not part of the client presentation</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754380" y="438912"/>
            <a:ext cx="11795760" cy="411480"/>
            <a:chOff x="0" y="0"/>
            <a:chExt cx="15727680" cy="548640"/>
          </a:xfrm>
        </p:grpSpPr>
        <p:sp>
          <p:nvSpPr>
            <p:cNvPr id="3" name="Freeform 3"/>
            <p:cNvSpPr/>
            <p:nvPr/>
          </p:nvSpPr>
          <p:spPr>
            <a:xfrm>
              <a:off x="0" y="0"/>
              <a:ext cx="15727680" cy="548640"/>
            </a:xfrm>
            <a:custGeom>
              <a:avLst/>
              <a:gdLst/>
              <a:ahLst/>
              <a:cxnLst/>
              <a:rect l="l" t="t" r="r" b="b"/>
              <a:pathLst>
                <a:path w="15727680" h="548640">
                  <a:moveTo>
                    <a:pt x="0" y="0"/>
                  </a:moveTo>
                  <a:lnTo>
                    <a:pt x="15727680" y="0"/>
                  </a:lnTo>
                  <a:lnTo>
                    <a:pt x="15727680" y="548640"/>
                  </a:lnTo>
                  <a:lnTo>
                    <a:pt x="0" y="548640"/>
                  </a:lnTo>
                  <a:close/>
                </a:path>
              </a:pathLst>
            </a:custGeom>
            <a:blipFill>
              <a:blip r:embed="rId3">
                <a:alphaModFix amt="0"/>
              </a:blip>
              <a:stretch>
                <a:fillRect t="-508571" b="-508571"/>
              </a:stretch>
            </a:blipFill>
          </p:spPr>
          <p:txBody>
            <a:bodyPr/>
            <a:lstStyle/>
            <a:p>
              <a:endParaRPr lang="en-US"/>
            </a:p>
          </p:txBody>
        </p:sp>
        <p:sp>
          <p:nvSpPr>
            <p:cNvPr id="4" name="TextBox 4"/>
            <p:cNvSpPr txBox="1"/>
            <p:nvPr/>
          </p:nvSpPr>
          <p:spPr>
            <a:xfrm>
              <a:off x="0" y="-28575"/>
              <a:ext cx="15727680" cy="577215"/>
            </a:xfrm>
            <a:prstGeom prst="rect">
              <a:avLst/>
            </a:prstGeom>
          </p:spPr>
          <p:txBody>
            <a:bodyPr lIns="0" tIns="0" rIns="0" bIns="0" rtlCol="0" anchor="ctr"/>
            <a:lstStyle/>
            <a:p>
              <a:pPr algn="l">
                <a:lnSpc>
                  <a:spcPts val="1980"/>
                </a:lnSpc>
              </a:pPr>
              <a:r>
                <a:rPr lang="en-US" sz="1650" b="1" spc="299">
                  <a:solidFill>
                    <a:srgbClr val="0099D8"/>
                  </a:solidFill>
                  <a:latin typeface="Calibri"/>
                  <a:ea typeface="Calibri (MS) Bold"/>
                  <a:cs typeface="Calibri"/>
                  <a:sym typeface="Calibri (MS) Bold"/>
                </a:rPr>
                <a:t>PM3  ·  PRE-MORTEM, CHANGES MADE TO THE DECK (WORKING PAPER, NOT FOR THE CLIENT)</a:t>
              </a:r>
            </a:p>
          </p:txBody>
        </p:sp>
      </p:grpSp>
      <p:sp>
        <p:nvSpPr>
          <p:cNvPr id="5" name="TextBox 5"/>
          <p:cNvSpPr txBox="1"/>
          <p:nvPr/>
        </p:nvSpPr>
        <p:spPr>
          <a:xfrm>
            <a:off x="754380" y="783717"/>
            <a:ext cx="16733520" cy="609600"/>
          </a:xfrm>
          <a:prstGeom prst="rect">
            <a:avLst/>
          </a:prstGeom>
        </p:spPr>
        <p:txBody>
          <a:bodyPr lIns="0" tIns="0" rIns="0" bIns="0" rtlCol="0" anchor="t">
            <a:spAutoFit/>
          </a:bodyPr>
          <a:lstStyle/>
          <a:p>
            <a:pPr algn="l">
              <a:lnSpc>
                <a:spcPts val="4320"/>
              </a:lnSpc>
            </a:pPr>
            <a:r>
              <a:rPr lang="en-US" sz="3600" b="1">
                <a:solidFill>
                  <a:srgbClr val="003057"/>
                </a:solidFill>
                <a:latin typeface="Calibri"/>
                <a:ea typeface="Calibri (MS) Bold"/>
                <a:cs typeface="Calibri"/>
                <a:sym typeface="Calibri (MS) Bold"/>
              </a:rPr>
              <a:t>Ten Changes Made to the Deck</a:t>
            </a:r>
          </a:p>
        </p:txBody>
      </p:sp>
      <p:grpSp>
        <p:nvGrpSpPr>
          <p:cNvPr id="6" name="Group 6"/>
          <p:cNvGrpSpPr/>
          <p:nvPr/>
        </p:nvGrpSpPr>
        <p:grpSpPr>
          <a:xfrm>
            <a:off x="754380" y="1920240"/>
            <a:ext cx="16802100" cy="685800"/>
            <a:chOff x="0" y="0"/>
            <a:chExt cx="22402800" cy="914400"/>
          </a:xfrm>
        </p:grpSpPr>
        <p:sp>
          <p:nvSpPr>
            <p:cNvPr id="7" name="Freeform 7"/>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003057"/>
            </a:solidFill>
          </p:spPr>
          <p:txBody>
            <a:bodyPr/>
            <a:lstStyle/>
            <a:p>
              <a:endParaRPr lang="en-US"/>
            </a:p>
          </p:txBody>
        </p:sp>
      </p:grpSp>
      <p:grpSp>
        <p:nvGrpSpPr>
          <p:cNvPr id="8" name="Group 8"/>
          <p:cNvGrpSpPr/>
          <p:nvPr/>
        </p:nvGrpSpPr>
        <p:grpSpPr>
          <a:xfrm>
            <a:off x="864108" y="1920240"/>
            <a:ext cx="5266944" cy="685800"/>
            <a:chOff x="0" y="0"/>
            <a:chExt cx="7022592" cy="914400"/>
          </a:xfrm>
        </p:grpSpPr>
        <p:sp>
          <p:nvSpPr>
            <p:cNvPr id="9" name="Freeform 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0" name="TextBox 10"/>
            <p:cNvSpPr txBox="1"/>
            <p:nvPr/>
          </p:nvSpPr>
          <p:spPr>
            <a:xfrm>
              <a:off x="0" y="-19050"/>
              <a:ext cx="70225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Before (20-slide draft)</a:t>
              </a:r>
            </a:p>
          </p:txBody>
        </p:sp>
      </p:grpSp>
      <p:grpSp>
        <p:nvGrpSpPr>
          <p:cNvPr id="11" name="Group 11"/>
          <p:cNvGrpSpPr/>
          <p:nvPr/>
        </p:nvGrpSpPr>
        <p:grpSpPr>
          <a:xfrm>
            <a:off x="6350508" y="1920240"/>
            <a:ext cx="6638544" cy="685800"/>
            <a:chOff x="0" y="0"/>
            <a:chExt cx="8851392" cy="914400"/>
          </a:xfrm>
        </p:grpSpPr>
        <p:sp>
          <p:nvSpPr>
            <p:cNvPr id="12" name="Freeform 1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13" name="TextBox 13"/>
            <p:cNvSpPr txBox="1"/>
            <p:nvPr/>
          </p:nvSpPr>
          <p:spPr>
            <a:xfrm>
              <a:off x="0" y="-19050"/>
              <a:ext cx="88513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After (12 + appendix)</a:t>
              </a:r>
            </a:p>
          </p:txBody>
        </p:sp>
      </p:grpSp>
      <p:grpSp>
        <p:nvGrpSpPr>
          <p:cNvPr id="14" name="Group 14"/>
          <p:cNvGrpSpPr/>
          <p:nvPr/>
        </p:nvGrpSpPr>
        <p:grpSpPr>
          <a:xfrm>
            <a:off x="13208508" y="1920240"/>
            <a:ext cx="4238244" cy="685800"/>
            <a:chOff x="0" y="0"/>
            <a:chExt cx="5650992" cy="914400"/>
          </a:xfrm>
        </p:grpSpPr>
        <p:sp>
          <p:nvSpPr>
            <p:cNvPr id="15" name="Freeform 1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16" name="TextBox 16"/>
            <p:cNvSpPr txBox="1"/>
            <p:nvPr/>
          </p:nvSpPr>
          <p:spPr>
            <a:xfrm>
              <a:off x="0" y="-19050"/>
              <a:ext cx="5650992" cy="933450"/>
            </a:xfrm>
            <a:prstGeom prst="rect">
              <a:avLst/>
            </a:prstGeom>
          </p:spPr>
          <p:txBody>
            <a:bodyPr lIns="0" tIns="0" rIns="0" bIns="0" rtlCol="0" anchor="ctr"/>
            <a:lstStyle/>
            <a:p>
              <a:pPr algn="l">
                <a:lnSpc>
                  <a:spcPts val="1889"/>
                </a:lnSpc>
              </a:pPr>
              <a:r>
                <a:rPr lang="en-US" sz="1575" b="1">
                  <a:solidFill>
                    <a:srgbClr val="FCFBF7"/>
                  </a:solidFill>
                  <a:latin typeface="Calibri"/>
                  <a:ea typeface="Calibri (MS) Bold"/>
                  <a:cs typeface="Calibri"/>
                  <a:sym typeface="Calibri (MS) Bold"/>
                </a:rPr>
                <a:t>Rule applied</a:t>
              </a:r>
            </a:p>
          </p:txBody>
        </p:sp>
      </p:grpSp>
      <p:grpSp>
        <p:nvGrpSpPr>
          <p:cNvPr id="17" name="Group 17"/>
          <p:cNvGrpSpPr/>
          <p:nvPr/>
        </p:nvGrpSpPr>
        <p:grpSpPr>
          <a:xfrm>
            <a:off x="754380" y="2606040"/>
            <a:ext cx="16802100" cy="685800"/>
            <a:chOff x="0" y="0"/>
            <a:chExt cx="22402800" cy="914400"/>
          </a:xfrm>
        </p:grpSpPr>
        <p:sp>
          <p:nvSpPr>
            <p:cNvPr id="18" name="Freeform 1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19" name="Group 19"/>
          <p:cNvGrpSpPr/>
          <p:nvPr/>
        </p:nvGrpSpPr>
        <p:grpSpPr>
          <a:xfrm>
            <a:off x="864108" y="2606040"/>
            <a:ext cx="5266944" cy="685800"/>
            <a:chOff x="0" y="0"/>
            <a:chExt cx="7022592" cy="914400"/>
          </a:xfrm>
        </p:grpSpPr>
        <p:sp>
          <p:nvSpPr>
            <p:cNvPr id="20" name="Freeform 2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21" name="TextBox 2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Executive summary on slide 2, then five analysis slides before any recommendation</a:t>
              </a:r>
            </a:p>
          </p:txBody>
        </p:sp>
      </p:grpSp>
      <p:grpSp>
        <p:nvGrpSpPr>
          <p:cNvPr id="22" name="Group 22"/>
          <p:cNvGrpSpPr/>
          <p:nvPr/>
        </p:nvGrpSpPr>
        <p:grpSpPr>
          <a:xfrm>
            <a:off x="6350508" y="2606040"/>
            <a:ext cx="6638544" cy="685800"/>
            <a:chOff x="0" y="0"/>
            <a:chExt cx="8851392" cy="914400"/>
          </a:xfrm>
        </p:grpSpPr>
        <p:sp>
          <p:nvSpPr>
            <p:cNvPr id="23" name="Freeform 2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24" name="TextBox 24"/>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Slide 2 states the three recommendations, the prize range, the cost range, and the calendar; problem and two evidence slides follow, then recs</a:t>
              </a:r>
            </a:p>
          </p:txBody>
        </p:sp>
      </p:grpSp>
      <p:grpSp>
        <p:nvGrpSpPr>
          <p:cNvPr id="25" name="Group 25"/>
          <p:cNvGrpSpPr/>
          <p:nvPr/>
        </p:nvGrpSpPr>
        <p:grpSpPr>
          <a:xfrm>
            <a:off x="13208508" y="2606040"/>
            <a:ext cx="4238244" cy="685800"/>
            <a:chOff x="0" y="0"/>
            <a:chExt cx="5650992" cy="914400"/>
          </a:xfrm>
        </p:grpSpPr>
        <p:sp>
          <p:nvSpPr>
            <p:cNvPr id="26" name="Freeform 26"/>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27" name="TextBox 27"/>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Lead with the answer; in a live pitch the exec summary is the answer</a:t>
              </a:r>
            </a:p>
          </p:txBody>
        </p:sp>
      </p:grpSp>
      <p:grpSp>
        <p:nvGrpSpPr>
          <p:cNvPr id="28" name="Group 28"/>
          <p:cNvGrpSpPr/>
          <p:nvPr/>
        </p:nvGrpSpPr>
        <p:grpSpPr>
          <a:xfrm>
            <a:off x="864108" y="3291840"/>
            <a:ext cx="5266944" cy="685800"/>
            <a:chOff x="0" y="0"/>
            <a:chExt cx="7022592" cy="914400"/>
          </a:xfrm>
        </p:grpSpPr>
        <p:sp>
          <p:nvSpPr>
            <p:cNvPr id="29" name="Freeform 2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30" name="TextBox 30"/>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Recommendations spread over seven slides (overview, sensor, thresholds, playbook, scenarios × 2, market layer)</a:t>
              </a:r>
            </a:p>
          </p:txBody>
        </p:sp>
      </p:grpSp>
      <p:grpSp>
        <p:nvGrpSpPr>
          <p:cNvPr id="31" name="Group 31"/>
          <p:cNvGrpSpPr/>
          <p:nvPr/>
        </p:nvGrpSpPr>
        <p:grpSpPr>
          <a:xfrm>
            <a:off x="6350508" y="3291840"/>
            <a:ext cx="6638544" cy="685800"/>
            <a:chOff x="0" y="0"/>
            <a:chExt cx="8851392" cy="914400"/>
          </a:xfrm>
        </p:grpSpPr>
        <p:sp>
          <p:nvSpPr>
            <p:cNvPr id="32" name="Freeform 3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33" name="TextBox 33"/>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One slide per recommendation: headline as the recommendation, why (2–3), risks with mitigations, next steps with owners and dates, one number as a range</a:t>
              </a:r>
            </a:p>
          </p:txBody>
        </p:sp>
      </p:grpSp>
      <p:grpSp>
        <p:nvGrpSpPr>
          <p:cNvPr id="34" name="Group 34"/>
          <p:cNvGrpSpPr/>
          <p:nvPr/>
        </p:nvGrpSpPr>
        <p:grpSpPr>
          <a:xfrm>
            <a:off x="13208508" y="3291840"/>
            <a:ext cx="4238244" cy="685800"/>
            <a:chOff x="0" y="0"/>
            <a:chExt cx="5650992" cy="914400"/>
          </a:xfrm>
        </p:grpSpPr>
        <p:sp>
          <p:nvSpPr>
            <p:cNvPr id="35" name="Freeform 3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36" name="TextBox 36"/>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One slide holds the whole recommendation; refusability test (action, scope, timeframe)</a:t>
              </a:r>
            </a:p>
          </p:txBody>
        </p:sp>
      </p:grpSp>
      <p:grpSp>
        <p:nvGrpSpPr>
          <p:cNvPr id="37" name="Group 37"/>
          <p:cNvGrpSpPr/>
          <p:nvPr/>
        </p:nvGrpSpPr>
        <p:grpSpPr>
          <a:xfrm>
            <a:off x="754380" y="3977640"/>
            <a:ext cx="16802100" cy="685800"/>
            <a:chOff x="0" y="0"/>
            <a:chExt cx="22402800" cy="914400"/>
          </a:xfrm>
        </p:grpSpPr>
        <p:sp>
          <p:nvSpPr>
            <p:cNvPr id="38" name="Freeform 3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39" name="Group 39"/>
          <p:cNvGrpSpPr/>
          <p:nvPr/>
        </p:nvGrpSpPr>
        <p:grpSpPr>
          <a:xfrm>
            <a:off x="864108" y="3977640"/>
            <a:ext cx="5266944" cy="685800"/>
            <a:chOff x="0" y="0"/>
            <a:chExt cx="7022592" cy="914400"/>
          </a:xfrm>
        </p:grpSpPr>
        <p:sp>
          <p:nvSpPr>
            <p:cNvPr id="40" name="Freeform 4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41" name="TextBox 4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Titles described topics (“The attribution gap”, “Governance &amp; timeline”)</a:t>
              </a:r>
            </a:p>
          </p:txBody>
        </p:sp>
      </p:grpSp>
      <p:grpSp>
        <p:nvGrpSpPr>
          <p:cNvPr id="42" name="Group 42"/>
          <p:cNvGrpSpPr/>
          <p:nvPr/>
        </p:nvGrpSpPr>
        <p:grpSpPr>
          <a:xfrm>
            <a:off x="6350508" y="3977640"/>
            <a:ext cx="6638544" cy="685800"/>
            <a:chOff x="0" y="0"/>
            <a:chExt cx="8851392" cy="914400"/>
          </a:xfrm>
        </p:grpSpPr>
        <p:sp>
          <p:nvSpPr>
            <p:cNvPr id="43" name="Freeform 4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44" name="TextBox 44"/>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Every title carries structure + direction + magnitude and can be read as a sentence in the story</a:t>
              </a:r>
            </a:p>
          </p:txBody>
        </p:sp>
      </p:grpSp>
      <p:grpSp>
        <p:nvGrpSpPr>
          <p:cNvPr id="45" name="Group 45"/>
          <p:cNvGrpSpPr/>
          <p:nvPr/>
        </p:nvGrpSpPr>
        <p:grpSpPr>
          <a:xfrm>
            <a:off x="13208508" y="3977640"/>
            <a:ext cx="4238244" cy="685800"/>
            <a:chOff x="0" y="0"/>
            <a:chExt cx="5650992" cy="914400"/>
          </a:xfrm>
        </p:grpSpPr>
        <p:sp>
          <p:nvSpPr>
            <p:cNvPr id="46" name="Freeform 46"/>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47" name="TextBox 47"/>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Takeaway titles; read titles alone = the thread</a:t>
              </a:r>
            </a:p>
          </p:txBody>
        </p:sp>
      </p:grpSp>
      <p:grpSp>
        <p:nvGrpSpPr>
          <p:cNvPr id="48" name="Group 48"/>
          <p:cNvGrpSpPr/>
          <p:nvPr/>
        </p:nvGrpSpPr>
        <p:grpSpPr>
          <a:xfrm>
            <a:off x="864108" y="4663440"/>
            <a:ext cx="5266944" cy="685800"/>
            <a:chOff x="0" y="0"/>
            <a:chExt cx="7022592" cy="914400"/>
          </a:xfrm>
        </p:grpSpPr>
        <p:sp>
          <p:nvSpPr>
            <p:cNvPr id="49" name="Freeform 4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50" name="TextBox 50"/>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“Low single-digit $M”, “~$2.3B”, “2→5 quarters”</a:t>
              </a:r>
            </a:p>
          </p:txBody>
        </p:sp>
      </p:grpSp>
      <p:grpSp>
        <p:nvGrpSpPr>
          <p:cNvPr id="51" name="Group 51"/>
          <p:cNvGrpSpPr/>
          <p:nvPr/>
        </p:nvGrpSpPr>
        <p:grpSpPr>
          <a:xfrm>
            <a:off x="6350508" y="4663440"/>
            <a:ext cx="6638544" cy="685800"/>
            <a:chOff x="0" y="0"/>
            <a:chExt cx="8851392" cy="914400"/>
          </a:xfrm>
        </p:grpSpPr>
        <p:sp>
          <p:nvSpPr>
            <p:cNvPr id="52" name="Freeform 5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53" name="TextBox 53"/>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$2–4M / $1–2M; 0.3–0.5x (~$7–11B); Q4 2026→Q4 2027 with dated steps</a:t>
              </a:r>
            </a:p>
          </p:txBody>
        </p:sp>
      </p:grpSp>
      <p:grpSp>
        <p:nvGrpSpPr>
          <p:cNvPr id="54" name="Group 54"/>
          <p:cNvGrpSpPr/>
          <p:nvPr/>
        </p:nvGrpSpPr>
        <p:grpSpPr>
          <a:xfrm>
            <a:off x="13208508" y="4663440"/>
            <a:ext cx="4238244" cy="685800"/>
            <a:chOff x="0" y="0"/>
            <a:chExt cx="5650992" cy="914400"/>
          </a:xfrm>
        </p:grpSpPr>
        <p:sp>
          <p:nvSpPr>
            <p:cNvPr id="55" name="Freeform 5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56" name="TextBox 56"/>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Ranges with a timeframe attached</a:t>
              </a:r>
            </a:p>
          </p:txBody>
        </p:sp>
      </p:grpSp>
      <p:grpSp>
        <p:nvGrpSpPr>
          <p:cNvPr id="57" name="Group 57"/>
          <p:cNvGrpSpPr/>
          <p:nvPr/>
        </p:nvGrpSpPr>
        <p:grpSpPr>
          <a:xfrm>
            <a:off x="754380" y="5349240"/>
            <a:ext cx="16802100" cy="685800"/>
            <a:chOff x="0" y="0"/>
            <a:chExt cx="22402800" cy="914400"/>
          </a:xfrm>
        </p:grpSpPr>
        <p:sp>
          <p:nvSpPr>
            <p:cNvPr id="58" name="Freeform 5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59" name="Group 59"/>
          <p:cNvGrpSpPr/>
          <p:nvPr/>
        </p:nvGrpSpPr>
        <p:grpSpPr>
          <a:xfrm>
            <a:off x="864108" y="5349240"/>
            <a:ext cx="5266944" cy="685800"/>
            <a:chOff x="0" y="0"/>
            <a:chExt cx="7022592" cy="914400"/>
          </a:xfrm>
        </p:grpSpPr>
        <p:sp>
          <p:nvSpPr>
            <p:cNvPr id="60" name="Freeform 6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61" name="TextBox 6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Cost shown; payoff implied</a:t>
              </a:r>
            </a:p>
          </p:txBody>
        </p:sp>
      </p:grpSp>
      <p:grpSp>
        <p:nvGrpSpPr>
          <p:cNvPr id="62" name="Group 62"/>
          <p:cNvGrpSpPr/>
          <p:nvPr/>
        </p:nvGrpSpPr>
        <p:grpSpPr>
          <a:xfrm>
            <a:off x="6350508" y="5349240"/>
            <a:ext cx="6638544" cy="685800"/>
            <a:chOff x="0" y="0"/>
            <a:chExt cx="8851392" cy="914400"/>
          </a:xfrm>
        </p:grpSpPr>
        <p:sp>
          <p:nvSpPr>
            <p:cNvPr id="63" name="Freeform 6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64" name="TextBox 64"/>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“What you get” on the answer slide, each rec slide, and the actionability slide</a:t>
              </a:r>
            </a:p>
          </p:txBody>
        </p:sp>
      </p:grpSp>
      <p:grpSp>
        <p:nvGrpSpPr>
          <p:cNvPr id="65" name="Group 65"/>
          <p:cNvGrpSpPr/>
          <p:nvPr/>
        </p:nvGrpSpPr>
        <p:grpSpPr>
          <a:xfrm>
            <a:off x="13208508" y="5349240"/>
            <a:ext cx="4238244" cy="685800"/>
            <a:chOff x="0" y="0"/>
            <a:chExt cx="5650992" cy="914400"/>
          </a:xfrm>
        </p:grpSpPr>
        <p:sp>
          <p:nvSpPr>
            <p:cNvPr id="66" name="Freeform 66"/>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67" name="TextBox 67"/>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Answer the CEO’s five questions before they are asked</a:t>
              </a:r>
            </a:p>
          </p:txBody>
        </p:sp>
      </p:grpSp>
      <p:grpSp>
        <p:nvGrpSpPr>
          <p:cNvPr id="68" name="Group 68"/>
          <p:cNvGrpSpPr/>
          <p:nvPr/>
        </p:nvGrpSpPr>
        <p:grpSpPr>
          <a:xfrm>
            <a:off x="864108" y="6035040"/>
            <a:ext cx="5266944" cy="685800"/>
            <a:chOff x="0" y="0"/>
            <a:chExt cx="7022592" cy="914400"/>
          </a:xfrm>
        </p:grpSpPr>
        <p:sp>
          <p:nvSpPr>
            <p:cNvPr id="69" name="Freeform 6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70" name="TextBox 70"/>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Actionability implicit in the timeline</a:t>
              </a:r>
            </a:p>
          </p:txBody>
        </p:sp>
      </p:grpSp>
      <p:grpSp>
        <p:nvGrpSpPr>
          <p:cNvPr id="71" name="Group 71"/>
          <p:cNvGrpSpPr/>
          <p:nvPr/>
        </p:nvGrpSpPr>
        <p:grpSpPr>
          <a:xfrm>
            <a:off x="6350508" y="6035040"/>
            <a:ext cx="6638544" cy="685800"/>
            <a:chOff x="0" y="0"/>
            <a:chExt cx="8851392" cy="914400"/>
          </a:xfrm>
        </p:grpSpPr>
        <p:sp>
          <p:nvSpPr>
            <p:cNvPr id="72" name="Freeform 7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73" name="TextBox 73"/>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Capacity / capability / calendar / commitment assessed with verdicts; two ambers named</a:t>
              </a:r>
            </a:p>
          </p:txBody>
        </p:sp>
      </p:grpSp>
      <p:grpSp>
        <p:nvGrpSpPr>
          <p:cNvPr id="74" name="Group 74"/>
          <p:cNvGrpSpPr/>
          <p:nvPr/>
        </p:nvGrpSpPr>
        <p:grpSpPr>
          <a:xfrm>
            <a:off x="13208508" y="6035040"/>
            <a:ext cx="4238244" cy="685800"/>
            <a:chOff x="0" y="0"/>
            <a:chExt cx="5650992" cy="914400"/>
          </a:xfrm>
        </p:grpSpPr>
        <p:sp>
          <p:nvSpPr>
            <p:cNvPr id="75" name="Freeform 7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76" name="TextBox 76"/>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Four questions show if it can be done; plausible vs. actionable</a:t>
              </a:r>
            </a:p>
          </p:txBody>
        </p:sp>
      </p:grpSp>
      <p:grpSp>
        <p:nvGrpSpPr>
          <p:cNvPr id="77" name="Group 77"/>
          <p:cNvGrpSpPr/>
          <p:nvPr/>
        </p:nvGrpSpPr>
        <p:grpSpPr>
          <a:xfrm>
            <a:off x="754380" y="6720840"/>
            <a:ext cx="16802100" cy="685800"/>
            <a:chOff x="0" y="0"/>
            <a:chExt cx="22402800" cy="914400"/>
          </a:xfrm>
        </p:grpSpPr>
        <p:sp>
          <p:nvSpPr>
            <p:cNvPr id="78" name="Freeform 7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79" name="Group 79"/>
          <p:cNvGrpSpPr/>
          <p:nvPr/>
        </p:nvGrpSpPr>
        <p:grpSpPr>
          <a:xfrm>
            <a:off x="864108" y="6720840"/>
            <a:ext cx="5266944" cy="685800"/>
            <a:chOff x="0" y="0"/>
            <a:chExt cx="7022592" cy="914400"/>
          </a:xfrm>
        </p:grpSpPr>
        <p:sp>
          <p:nvSpPr>
            <p:cNvPr id="80" name="Freeform 8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81" name="TextBox 8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Risks listed without a failure model</a:t>
              </a:r>
            </a:p>
          </p:txBody>
        </p:sp>
      </p:grpSp>
      <p:grpSp>
        <p:nvGrpSpPr>
          <p:cNvPr id="82" name="Group 82"/>
          <p:cNvGrpSpPr/>
          <p:nvPr/>
        </p:nvGrpSpPr>
        <p:grpSpPr>
          <a:xfrm>
            <a:off x="6350508" y="6720840"/>
            <a:ext cx="6638544" cy="685800"/>
            <a:chOff x="0" y="0"/>
            <a:chExt cx="8851392" cy="914400"/>
          </a:xfrm>
        </p:grpSpPr>
        <p:sp>
          <p:nvSpPr>
            <p:cNvPr id="83" name="Freeform 8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84" name="TextBox 84"/>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Pre-mortem run; four failure modes on slide 11 with mitigation or condition; full findings here</a:t>
              </a:r>
            </a:p>
          </p:txBody>
        </p:sp>
      </p:grpSp>
      <p:grpSp>
        <p:nvGrpSpPr>
          <p:cNvPr id="85" name="Group 85"/>
          <p:cNvGrpSpPr/>
          <p:nvPr/>
        </p:nvGrpSpPr>
        <p:grpSpPr>
          <a:xfrm>
            <a:off x="13208508" y="6720840"/>
            <a:ext cx="4238244" cy="685800"/>
            <a:chOff x="0" y="0"/>
            <a:chExt cx="5650992" cy="914400"/>
          </a:xfrm>
        </p:grpSpPr>
        <p:sp>
          <p:nvSpPr>
            <p:cNvPr id="86" name="Freeform 86"/>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87" name="TextBox 87"/>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Run a pre-mortem; call out risk + mitigation over bare assumption</a:t>
              </a:r>
            </a:p>
          </p:txBody>
        </p:sp>
      </p:grpSp>
      <p:grpSp>
        <p:nvGrpSpPr>
          <p:cNvPr id="88" name="Group 88"/>
          <p:cNvGrpSpPr/>
          <p:nvPr/>
        </p:nvGrpSpPr>
        <p:grpSpPr>
          <a:xfrm>
            <a:off x="864108" y="7406640"/>
            <a:ext cx="5266944" cy="685800"/>
            <a:chOff x="0" y="0"/>
            <a:chExt cx="7022592" cy="914400"/>
          </a:xfrm>
        </p:grpSpPr>
        <p:sp>
          <p:nvSpPr>
            <p:cNvPr id="89" name="Freeform 8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90" name="TextBox 90"/>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Rate × volume shown as one of six tests</a:t>
              </a:r>
            </a:p>
          </p:txBody>
        </p:sp>
      </p:grpSp>
      <p:grpSp>
        <p:nvGrpSpPr>
          <p:cNvPr id="91" name="Group 91"/>
          <p:cNvGrpSpPr/>
          <p:nvPr/>
        </p:nvGrpSpPr>
        <p:grpSpPr>
          <a:xfrm>
            <a:off x="6350508" y="7406640"/>
            <a:ext cx="6638544" cy="685800"/>
            <a:chOff x="0" y="0"/>
            <a:chExt cx="8851392" cy="914400"/>
          </a:xfrm>
        </p:grpSpPr>
        <p:sp>
          <p:nvSpPr>
            <p:cNvPr id="92" name="Freeform 9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93" name="TextBox 93"/>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Promoted to a main slide with the sensitivity sentence; product-mix stacked bar added to appendix</a:t>
              </a:r>
            </a:p>
          </p:txBody>
        </p:sp>
      </p:grpSp>
      <p:grpSp>
        <p:nvGrpSpPr>
          <p:cNvPr id="94" name="Group 94"/>
          <p:cNvGrpSpPr/>
          <p:nvPr/>
        </p:nvGrpSpPr>
        <p:grpSpPr>
          <a:xfrm>
            <a:off x="13208508" y="7406640"/>
            <a:ext cx="4238244" cy="685800"/>
            <a:chOff x="0" y="0"/>
            <a:chExt cx="5650992" cy="914400"/>
          </a:xfrm>
        </p:grpSpPr>
        <p:sp>
          <p:nvSpPr>
            <p:cNvPr id="95" name="Freeform 9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96" name="TextBox 96"/>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Rate × volume is a top-three story; message picks the chart</a:t>
              </a:r>
            </a:p>
          </p:txBody>
        </p:sp>
      </p:grpSp>
      <p:grpSp>
        <p:nvGrpSpPr>
          <p:cNvPr id="97" name="Group 97"/>
          <p:cNvGrpSpPr/>
          <p:nvPr/>
        </p:nvGrpSpPr>
        <p:grpSpPr>
          <a:xfrm>
            <a:off x="754380" y="8092440"/>
            <a:ext cx="16802100" cy="685800"/>
            <a:chOff x="0" y="0"/>
            <a:chExt cx="22402800" cy="914400"/>
          </a:xfrm>
        </p:grpSpPr>
        <p:sp>
          <p:nvSpPr>
            <p:cNvPr id="98" name="Freeform 98"/>
            <p:cNvSpPr/>
            <p:nvPr/>
          </p:nvSpPr>
          <p:spPr>
            <a:xfrm>
              <a:off x="0" y="0"/>
              <a:ext cx="22402800" cy="914400"/>
            </a:xfrm>
            <a:custGeom>
              <a:avLst/>
              <a:gdLst/>
              <a:ahLst/>
              <a:cxnLst/>
              <a:rect l="l" t="t" r="r" b="b"/>
              <a:pathLst>
                <a:path w="22402800" h="914400">
                  <a:moveTo>
                    <a:pt x="0" y="0"/>
                  </a:moveTo>
                  <a:lnTo>
                    <a:pt x="22402800" y="0"/>
                  </a:lnTo>
                  <a:lnTo>
                    <a:pt x="22402800" y="914400"/>
                  </a:lnTo>
                  <a:lnTo>
                    <a:pt x="0" y="914400"/>
                  </a:lnTo>
                  <a:close/>
                </a:path>
              </a:pathLst>
            </a:custGeom>
            <a:solidFill>
              <a:srgbClr val="EEF4FB"/>
            </a:solidFill>
          </p:spPr>
          <p:txBody>
            <a:bodyPr/>
            <a:lstStyle/>
            <a:p>
              <a:endParaRPr lang="en-US"/>
            </a:p>
          </p:txBody>
        </p:sp>
      </p:grpSp>
      <p:grpSp>
        <p:nvGrpSpPr>
          <p:cNvPr id="99" name="Group 99"/>
          <p:cNvGrpSpPr/>
          <p:nvPr/>
        </p:nvGrpSpPr>
        <p:grpSpPr>
          <a:xfrm>
            <a:off x="864108" y="8092440"/>
            <a:ext cx="5266944" cy="685800"/>
            <a:chOff x="0" y="0"/>
            <a:chExt cx="7022592" cy="914400"/>
          </a:xfrm>
        </p:grpSpPr>
        <p:sp>
          <p:nvSpPr>
            <p:cNvPr id="100" name="Freeform 100"/>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01" name="TextBox 101"/>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No navigation</a:t>
              </a:r>
            </a:p>
          </p:txBody>
        </p:sp>
      </p:grpSp>
      <p:grpSp>
        <p:nvGrpSpPr>
          <p:cNvPr id="102" name="Group 102"/>
          <p:cNvGrpSpPr/>
          <p:nvPr/>
        </p:nvGrpSpPr>
        <p:grpSpPr>
          <a:xfrm>
            <a:off x="6350508" y="8092440"/>
            <a:ext cx="6638544" cy="685800"/>
            <a:chOff x="0" y="0"/>
            <a:chExt cx="8851392" cy="914400"/>
          </a:xfrm>
        </p:grpSpPr>
        <p:sp>
          <p:nvSpPr>
            <p:cNvPr id="103" name="Freeform 103"/>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104" name="TextBox 104"/>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Numbered slides; section tracker; hyperlinks from each main slide to its appendix exhibits; appendix index; back-links</a:t>
              </a:r>
            </a:p>
          </p:txBody>
        </p:sp>
      </p:grpSp>
      <p:grpSp>
        <p:nvGrpSpPr>
          <p:cNvPr id="105" name="Group 105"/>
          <p:cNvGrpSpPr/>
          <p:nvPr/>
        </p:nvGrpSpPr>
        <p:grpSpPr>
          <a:xfrm>
            <a:off x="13208508" y="8092440"/>
            <a:ext cx="4238244" cy="685800"/>
            <a:chOff x="0" y="0"/>
            <a:chExt cx="5650992" cy="914400"/>
          </a:xfrm>
        </p:grpSpPr>
        <p:sp>
          <p:nvSpPr>
            <p:cNvPr id="106" name="Freeform 106"/>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107" name="TextBox 107"/>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Number your slides; appendix navigation</a:t>
              </a:r>
            </a:p>
          </p:txBody>
        </p:sp>
      </p:grpSp>
      <p:grpSp>
        <p:nvGrpSpPr>
          <p:cNvPr id="108" name="Group 108"/>
          <p:cNvGrpSpPr/>
          <p:nvPr/>
        </p:nvGrpSpPr>
        <p:grpSpPr>
          <a:xfrm>
            <a:off x="864108" y="8778240"/>
            <a:ext cx="5266944" cy="685800"/>
            <a:chOff x="0" y="0"/>
            <a:chExt cx="7022592" cy="914400"/>
          </a:xfrm>
        </p:grpSpPr>
        <p:sp>
          <p:nvSpPr>
            <p:cNvPr id="109" name="Freeform 109"/>
            <p:cNvSpPr/>
            <p:nvPr/>
          </p:nvSpPr>
          <p:spPr>
            <a:xfrm>
              <a:off x="0" y="0"/>
              <a:ext cx="7022592" cy="914400"/>
            </a:xfrm>
            <a:custGeom>
              <a:avLst/>
              <a:gdLst/>
              <a:ahLst/>
              <a:cxnLst/>
              <a:rect l="l" t="t" r="r" b="b"/>
              <a:pathLst>
                <a:path w="7022592" h="914400">
                  <a:moveTo>
                    <a:pt x="0" y="0"/>
                  </a:moveTo>
                  <a:lnTo>
                    <a:pt x="7022592" y="0"/>
                  </a:lnTo>
                  <a:lnTo>
                    <a:pt x="7022592" y="914400"/>
                  </a:lnTo>
                  <a:lnTo>
                    <a:pt x="0" y="914400"/>
                  </a:lnTo>
                  <a:close/>
                </a:path>
              </a:pathLst>
            </a:custGeom>
            <a:blipFill>
              <a:blip r:embed="rId3">
                <a:alphaModFix amt="0"/>
              </a:blip>
              <a:stretch>
                <a:fillRect t="-99645" b="-99645"/>
              </a:stretch>
            </a:blipFill>
          </p:spPr>
          <p:txBody>
            <a:bodyPr/>
            <a:lstStyle/>
            <a:p>
              <a:endParaRPr lang="en-US"/>
            </a:p>
          </p:txBody>
        </p:sp>
        <p:sp>
          <p:nvSpPr>
            <p:cNvPr id="110" name="TextBox 110"/>
            <p:cNvSpPr txBox="1"/>
            <p:nvPr/>
          </p:nvSpPr>
          <p:spPr>
            <a:xfrm>
              <a:off x="0" y="-28575"/>
              <a:ext cx="70225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Two-line titles with em-dashes; two recs on the print, one on capital</a:t>
              </a:r>
            </a:p>
          </p:txBody>
        </p:sp>
      </p:grpSp>
      <p:grpSp>
        <p:nvGrpSpPr>
          <p:cNvPr id="111" name="Group 111"/>
          <p:cNvGrpSpPr/>
          <p:nvPr/>
        </p:nvGrpSpPr>
        <p:grpSpPr>
          <a:xfrm>
            <a:off x="6350508" y="8778240"/>
            <a:ext cx="6638544" cy="685800"/>
            <a:chOff x="0" y="0"/>
            <a:chExt cx="8851392" cy="914400"/>
          </a:xfrm>
        </p:grpSpPr>
        <p:sp>
          <p:nvSpPr>
            <p:cNvPr id="112" name="Freeform 112"/>
            <p:cNvSpPr/>
            <p:nvPr/>
          </p:nvSpPr>
          <p:spPr>
            <a:xfrm>
              <a:off x="0" y="0"/>
              <a:ext cx="8851392" cy="914400"/>
            </a:xfrm>
            <a:custGeom>
              <a:avLst/>
              <a:gdLst/>
              <a:ahLst/>
              <a:cxnLst/>
              <a:rect l="l" t="t" r="r" b="b"/>
              <a:pathLst>
                <a:path w="8851392" h="914400">
                  <a:moveTo>
                    <a:pt x="0" y="0"/>
                  </a:moveTo>
                  <a:lnTo>
                    <a:pt x="8851392" y="0"/>
                  </a:lnTo>
                  <a:lnTo>
                    <a:pt x="8851392" y="914400"/>
                  </a:lnTo>
                  <a:lnTo>
                    <a:pt x="0" y="914400"/>
                  </a:lnTo>
                  <a:close/>
                </a:path>
              </a:pathLst>
            </a:custGeom>
            <a:blipFill>
              <a:blip r:embed="rId3">
                <a:alphaModFix amt="0"/>
              </a:blip>
              <a:stretch>
                <a:fillRect t="-138615" b="-138615"/>
              </a:stretch>
            </a:blipFill>
          </p:spPr>
          <p:txBody>
            <a:bodyPr/>
            <a:lstStyle/>
            <a:p>
              <a:endParaRPr lang="en-US"/>
            </a:p>
          </p:txBody>
        </p:sp>
        <p:sp>
          <p:nvSpPr>
            <p:cNvPr id="113" name="TextBox 113"/>
            <p:cNvSpPr txBox="1"/>
            <p:nvPr/>
          </p:nvSpPr>
          <p:spPr>
            <a:xfrm>
              <a:off x="0" y="-28575"/>
              <a:ext cx="8851392" cy="942975"/>
            </a:xfrm>
            <a:prstGeom prst="rect">
              <a:avLst/>
            </a:prstGeom>
          </p:spPr>
          <p:txBody>
            <a:bodyPr lIns="0" tIns="0" rIns="0" bIns="0" rtlCol="0" anchor="ctr"/>
            <a:lstStyle/>
            <a:p>
              <a:pPr algn="l">
                <a:lnSpc>
                  <a:spcPts val="1530"/>
                </a:lnSpc>
              </a:pPr>
              <a:r>
                <a:rPr lang="en-US" sz="1275">
                  <a:solidFill>
                    <a:srgbClr val="66717D"/>
                  </a:solidFill>
                  <a:latin typeface="Calibri"/>
                  <a:ea typeface="Calibri (MS)"/>
                  <a:cs typeface="Calibri"/>
                  <a:sym typeface="Calibri (MS)"/>
                </a:rPr>
                <a:t>One-line title-case titles; no em-dashes; recs 1 and 2 as one system each in Sean's slide-13 format; Kyle's EHB idea as Rec 3 with a filled assumption register</a:t>
              </a:r>
            </a:p>
          </p:txBody>
        </p:sp>
      </p:grpSp>
      <p:grpSp>
        <p:nvGrpSpPr>
          <p:cNvPr id="114" name="Group 114"/>
          <p:cNvGrpSpPr/>
          <p:nvPr/>
        </p:nvGrpSpPr>
        <p:grpSpPr>
          <a:xfrm>
            <a:off x="13208508" y="8778240"/>
            <a:ext cx="4238244" cy="685800"/>
            <a:chOff x="0" y="0"/>
            <a:chExt cx="5650992" cy="914400"/>
          </a:xfrm>
        </p:grpSpPr>
        <p:sp>
          <p:nvSpPr>
            <p:cNvPr id="115" name="Freeform 115"/>
            <p:cNvSpPr/>
            <p:nvPr/>
          </p:nvSpPr>
          <p:spPr>
            <a:xfrm>
              <a:off x="0" y="0"/>
              <a:ext cx="5650992" cy="914400"/>
            </a:xfrm>
            <a:custGeom>
              <a:avLst/>
              <a:gdLst/>
              <a:ahLst/>
              <a:cxnLst/>
              <a:rect l="l" t="t" r="r" b="b"/>
              <a:pathLst>
                <a:path w="5650992" h="914400">
                  <a:moveTo>
                    <a:pt x="0" y="0"/>
                  </a:moveTo>
                  <a:lnTo>
                    <a:pt x="5650992" y="0"/>
                  </a:lnTo>
                  <a:lnTo>
                    <a:pt x="5650992" y="914400"/>
                  </a:lnTo>
                  <a:lnTo>
                    <a:pt x="0" y="914400"/>
                  </a:lnTo>
                  <a:close/>
                </a:path>
              </a:pathLst>
            </a:custGeom>
            <a:blipFill>
              <a:blip r:embed="rId3">
                <a:alphaModFix amt="0"/>
              </a:blip>
              <a:stretch>
                <a:fillRect t="-70417" b="-70417"/>
              </a:stretch>
            </a:blipFill>
          </p:spPr>
          <p:txBody>
            <a:bodyPr/>
            <a:lstStyle/>
            <a:p>
              <a:endParaRPr lang="en-US"/>
            </a:p>
          </p:txBody>
        </p:sp>
        <p:sp>
          <p:nvSpPr>
            <p:cNvPr id="116" name="TextBox 116"/>
            <p:cNvSpPr txBox="1"/>
            <p:nvPr/>
          </p:nvSpPr>
          <p:spPr>
            <a:xfrm>
              <a:off x="0" y="-28575"/>
              <a:ext cx="5650992" cy="942975"/>
            </a:xfrm>
            <a:prstGeom prst="rect">
              <a:avLst/>
            </a:prstGeom>
          </p:spPr>
          <p:txBody>
            <a:bodyPr lIns="0" tIns="0" rIns="0" bIns="0" rtlCol="0" anchor="ctr"/>
            <a:lstStyle/>
            <a:p>
              <a:pPr algn="l">
                <a:lnSpc>
                  <a:spcPts val="1530"/>
                </a:lnSpc>
              </a:pPr>
              <a:r>
                <a:rPr lang="en-US" sz="1275">
                  <a:solidFill>
                    <a:srgbClr val="0099D8"/>
                  </a:solidFill>
                  <a:latin typeface="Calibri"/>
                  <a:ea typeface="Calibri (MS)"/>
                  <a:cs typeface="Calibri"/>
                  <a:sym typeface="Calibri (MS)"/>
                </a:rPr>
                <a:t>Slide 13 format; short takeaway titles; classmate's work included</a:t>
              </a:r>
            </a:p>
          </p:txBody>
        </p:sp>
      </p:grpSp>
      <p:grpSp>
        <p:nvGrpSpPr>
          <p:cNvPr id="117" name="Group 117"/>
          <p:cNvGrpSpPr/>
          <p:nvPr/>
        </p:nvGrpSpPr>
        <p:grpSpPr>
          <a:xfrm>
            <a:off x="754380" y="9258300"/>
            <a:ext cx="16733520" cy="411480"/>
            <a:chOff x="0" y="0"/>
            <a:chExt cx="22311360" cy="548640"/>
          </a:xfrm>
        </p:grpSpPr>
        <p:sp>
          <p:nvSpPr>
            <p:cNvPr id="118" name="Freeform 118"/>
            <p:cNvSpPr/>
            <p:nvPr/>
          </p:nvSpPr>
          <p:spPr>
            <a:xfrm>
              <a:off x="0" y="0"/>
              <a:ext cx="22311361" cy="548640"/>
            </a:xfrm>
            <a:custGeom>
              <a:avLst/>
              <a:gdLst/>
              <a:ahLst/>
              <a:cxnLst/>
              <a:rect l="l" t="t" r="r" b="b"/>
              <a:pathLst>
                <a:path w="22311361" h="548640">
                  <a:moveTo>
                    <a:pt x="0" y="0"/>
                  </a:moveTo>
                  <a:lnTo>
                    <a:pt x="22311361" y="0"/>
                  </a:lnTo>
                  <a:lnTo>
                    <a:pt x="22311361" y="548640"/>
                  </a:lnTo>
                  <a:lnTo>
                    <a:pt x="0" y="548640"/>
                  </a:lnTo>
                  <a:close/>
                </a:path>
              </a:pathLst>
            </a:custGeom>
            <a:blipFill>
              <a:blip r:embed="rId3">
                <a:alphaModFix amt="0"/>
              </a:blip>
              <a:stretch>
                <a:fillRect t="-742391" b="-742391"/>
              </a:stretch>
            </a:blipFill>
          </p:spPr>
          <p:txBody>
            <a:bodyPr/>
            <a:lstStyle/>
            <a:p>
              <a:endParaRPr lang="en-US"/>
            </a:p>
          </p:txBody>
        </p:sp>
        <p:sp>
          <p:nvSpPr>
            <p:cNvPr id="119" name="TextBox 119"/>
            <p:cNvSpPr txBox="1"/>
            <p:nvPr/>
          </p:nvSpPr>
          <p:spPr>
            <a:xfrm>
              <a:off x="0" y="-28575"/>
              <a:ext cx="22311360" cy="577215"/>
            </a:xfrm>
            <a:prstGeom prst="rect">
              <a:avLst/>
            </a:prstGeom>
          </p:spPr>
          <p:txBody>
            <a:bodyPr lIns="0" tIns="0" rIns="0" bIns="0" rtlCol="0" anchor="ctr"/>
            <a:lstStyle/>
            <a:p>
              <a:pPr algn="l">
                <a:lnSpc>
                  <a:spcPts val="1620"/>
                </a:lnSpc>
              </a:pPr>
              <a:r>
                <a:rPr lang="en-US" sz="1350" u="sng">
                  <a:solidFill>
                    <a:srgbClr val="0099D8"/>
                  </a:solidFill>
                  <a:latin typeface="Calibri"/>
                  <a:ea typeface="Calibri (MS)"/>
                  <a:cs typeface="Calibri"/>
                  <a:sym typeface="Calibri (MS)"/>
                  <a:hlinkClick r:id="rId4" action="ppaction://hlinksldjump"/>
                </a:rPr>
                <a:t>← Method (p.41)</a:t>
              </a:r>
              <a:r>
                <a:rPr lang="en-US" sz="1350">
                  <a:solidFill>
                    <a:srgbClr val="0099D8"/>
                  </a:solidFill>
                  <a:latin typeface="Calibri"/>
                  <a:ea typeface="Calibri (MS)"/>
                  <a:cs typeface="Calibri"/>
                  <a:sym typeface="Calibri (MS)"/>
                </a:rPr>
                <a:t>      |      </a:t>
              </a:r>
              <a:r>
                <a:rPr lang="en-US" sz="1350" u="sng">
                  <a:solidFill>
                    <a:srgbClr val="0099D8"/>
                  </a:solidFill>
                  <a:latin typeface="Calibri"/>
                  <a:ea typeface="Calibri (MS)"/>
                  <a:cs typeface="Calibri"/>
                  <a:sym typeface="Calibri (MS)"/>
                  <a:hlinkClick r:id="rId5" action="ppaction://hlinksldjump"/>
                </a:rPr>
                <a:t>Back to main deck (p.2)</a:t>
              </a:r>
            </a:p>
          </p:txBody>
        </p:sp>
      </p:grpSp>
      <p:grpSp>
        <p:nvGrpSpPr>
          <p:cNvPr id="120" name="Group 120"/>
          <p:cNvGrpSpPr/>
          <p:nvPr/>
        </p:nvGrpSpPr>
        <p:grpSpPr>
          <a:xfrm>
            <a:off x="17076420" y="9669780"/>
            <a:ext cx="960120" cy="411480"/>
            <a:chOff x="0" y="0"/>
            <a:chExt cx="1280160" cy="548640"/>
          </a:xfrm>
        </p:grpSpPr>
        <p:sp>
          <p:nvSpPr>
            <p:cNvPr id="121" name="Freeform 121"/>
            <p:cNvSpPr/>
            <p:nvPr/>
          </p:nvSpPr>
          <p:spPr>
            <a:xfrm>
              <a:off x="0" y="0"/>
              <a:ext cx="1280160" cy="548640"/>
            </a:xfrm>
            <a:custGeom>
              <a:avLst/>
              <a:gdLst/>
              <a:ahLst/>
              <a:cxnLst/>
              <a:rect l="l" t="t" r="r" b="b"/>
              <a:pathLst>
                <a:path w="1280160" h="548640">
                  <a:moveTo>
                    <a:pt x="0" y="0"/>
                  </a:moveTo>
                  <a:lnTo>
                    <a:pt x="1280160" y="0"/>
                  </a:lnTo>
                  <a:lnTo>
                    <a:pt x="1280160" y="548640"/>
                  </a:lnTo>
                  <a:lnTo>
                    <a:pt x="0" y="548640"/>
                  </a:lnTo>
                  <a:close/>
                </a:path>
              </a:pathLst>
            </a:custGeom>
            <a:blipFill>
              <a:blip r:embed="rId3">
                <a:alphaModFix amt="0"/>
              </a:blip>
              <a:stretch>
                <a:fillRect l="-4987" r="-4987"/>
              </a:stretch>
            </a:blipFill>
          </p:spPr>
          <p:txBody>
            <a:bodyPr/>
            <a:lstStyle/>
            <a:p>
              <a:endParaRPr lang="en-US"/>
            </a:p>
          </p:txBody>
        </p:sp>
        <p:sp>
          <p:nvSpPr>
            <p:cNvPr id="122" name="TextBox 122"/>
            <p:cNvSpPr txBox="1"/>
            <p:nvPr/>
          </p:nvSpPr>
          <p:spPr>
            <a:xfrm>
              <a:off x="0" y="-38100"/>
              <a:ext cx="1280160" cy="586740"/>
            </a:xfrm>
            <a:prstGeom prst="rect">
              <a:avLst/>
            </a:prstGeom>
          </p:spPr>
          <p:txBody>
            <a:bodyPr lIns="0" tIns="0" rIns="0" bIns="0" rtlCol="0" anchor="ctr"/>
            <a:lstStyle/>
            <a:p>
              <a:pPr algn="r">
                <a:lnSpc>
                  <a:spcPts val="1800"/>
                </a:lnSpc>
              </a:pPr>
              <a:r>
                <a:rPr lang="en-US" sz="1500" b="1">
                  <a:solidFill>
                    <a:srgbClr val="66717D"/>
                  </a:solidFill>
                  <a:latin typeface="Calibri"/>
                  <a:ea typeface="Calibri (MS) Bold"/>
                  <a:cs typeface="Calibri"/>
                  <a:sym typeface="Calibri (MS) Bold"/>
                </a:rPr>
                <a:t>43</a:t>
              </a:r>
            </a:p>
          </p:txBody>
        </p:sp>
      </p:grpSp>
      <p:grpSp>
        <p:nvGrpSpPr>
          <p:cNvPr id="123" name="Group 123"/>
          <p:cNvGrpSpPr/>
          <p:nvPr/>
        </p:nvGrpSpPr>
        <p:grpSpPr>
          <a:xfrm>
            <a:off x="754380" y="9669780"/>
            <a:ext cx="16047720" cy="411480"/>
            <a:chOff x="0" y="0"/>
            <a:chExt cx="21396960" cy="548640"/>
          </a:xfrm>
        </p:grpSpPr>
        <p:sp>
          <p:nvSpPr>
            <p:cNvPr id="124" name="Freeform 124"/>
            <p:cNvSpPr/>
            <p:nvPr/>
          </p:nvSpPr>
          <p:spPr>
            <a:xfrm>
              <a:off x="0" y="0"/>
              <a:ext cx="21396961" cy="548640"/>
            </a:xfrm>
            <a:custGeom>
              <a:avLst/>
              <a:gdLst/>
              <a:ahLst/>
              <a:cxnLst/>
              <a:rect l="l" t="t" r="r" b="b"/>
              <a:pathLst>
                <a:path w="21396961" h="548640">
                  <a:moveTo>
                    <a:pt x="0" y="0"/>
                  </a:moveTo>
                  <a:lnTo>
                    <a:pt x="21396961" y="0"/>
                  </a:lnTo>
                  <a:lnTo>
                    <a:pt x="21396961" y="548640"/>
                  </a:lnTo>
                  <a:lnTo>
                    <a:pt x="0" y="548640"/>
                  </a:lnTo>
                  <a:close/>
                </a:path>
              </a:pathLst>
            </a:custGeom>
            <a:blipFill>
              <a:blip r:embed="rId3">
                <a:alphaModFix amt="0"/>
              </a:blip>
              <a:stretch>
                <a:fillRect t="-709916" b="-709916"/>
              </a:stretch>
            </a:blipFill>
          </p:spPr>
          <p:txBody>
            <a:bodyPr/>
            <a:lstStyle/>
            <a:p>
              <a:endParaRPr lang="en-US"/>
            </a:p>
          </p:txBody>
        </p:sp>
        <p:sp>
          <p:nvSpPr>
            <p:cNvPr id="125" name="TextBox 125"/>
            <p:cNvSpPr txBox="1"/>
            <p:nvPr/>
          </p:nvSpPr>
          <p:spPr>
            <a:xfrm>
              <a:off x="0" y="-28575"/>
              <a:ext cx="21396960" cy="577215"/>
            </a:xfrm>
            <a:prstGeom prst="rect">
              <a:avLst/>
            </a:prstGeom>
          </p:spPr>
          <p:txBody>
            <a:bodyPr lIns="0" tIns="0" rIns="0" bIns="0" rtlCol="0" anchor="ctr"/>
            <a:lstStyle/>
            <a:p>
              <a:pPr algn="l">
                <a:lnSpc>
                  <a:spcPts val="1620"/>
                </a:lnSpc>
              </a:pPr>
              <a:r>
                <a:rPr lang="en-US" sz="1350">
                  <a:solidFill>
                    <a:srgbClr val="66717D"/>
                  </a:solidFill>
                  <a:latin typeface="Calibri"/>
                  <a:ea typeface="Calibri (MS)"/>
                  <a:cs typeface="Calibri"/>
                  <a:sym typeface="Calibri (MS)"/>
                </a:rPr>
                <a:t>Pre-mortem working papers  ·  not part of the client presentation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AF4481D-DAD7-884B-9FA7-897F957C3614}">
  <we:reference id="wa200010001" version="1.0.0.1" store="en-US" storeType="OMEX"/>
  <we:alternateReferences>
    <we:reference id="WA200010001" version="1.0.0.1" store="" storeType="OMEX"/>
  </we:alternateReferences>
  <we:properties>
    <we:property name="claude.fileId" value="&quot;28339e12-23a8-4efb-8919-cf829d19a12a&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54febe2-49e4-4eca-a545-d4d350e75f9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75326736EE0B41B11F18B0056705B4" ma:contentTypeVersion="9" ma:contentTypeDescription="Create a new document." ma:contentTypeScope="" ma:versionID="af6f0e57b39d9f482e8699700b44f785">
  <xsd:schema xmlns:xsd="http://www.w3.org/2001/XMLSchema" xmlns:xs="http://www.w3.org/2001/XMLSchema" xmlns:p="http://schemas.microsoft.com/office/2006/metadata/properties" xmlns:ns3="f54febe2-49e4-4eca-a545-d4d350e75f99" targetNamespace="http://schemas.microsoft.com/office/2006/metadata/properties" ma:root="true" ma:fieldsID="e6faed1a3f7f1cac70c4d01754583a09" ns3:_="">
    <xsd:import namespace="f54febe2-49e4-4eca-a545-d4d350e75f99"/>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4febe2-49e4-4eca-a545-d4d350e75f9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62D546-8AC0-4985-846B-8CBF1BC2BFC7}">
  <ds:schemaRefs>
    <ds:schemaRef ds:uri="http://schemas.microsoft.com/office/2006/documentManagement/types"/>
    <ds:schemaRef ds:uri="f54febe2-49e4-4eca-a545-d4d350e75f99"/>
    <ds:schemaRef ds:uri="http://purl.org/dc/elements/1.1/"/>
    <ds:schemaRef ds:uri="http://www.w3.org/XML/1998/namespace"/>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0EADE1FE-0839-46FF-828A-4189B63F7424}">
  <ds:schemaRefs>
    <ds:schemaRef ds:uri="http://schemas.microsoft.com/sharepoint/v3/contenttype/forms"/>
  </ds:schemaRefs>
</ds:datastoreItem>
</file>

<file path=customXml/itemProps3.xml><?xml version="1.0" encoding="utf-8"?>
<ds:datastoreItem xmlns:ds="http://schemas.openxmlformats.org/officeDocument/2006/customXml" ds:itemID="{7AF8AB54-599D-40C2-BD7D-B914B16B61EC}">
  <ds:schemaRefs>
    <ds:schemaRef ds:uri="f54febe2-49e4-4eca-a545-d4d350e75f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18103</Words>
  <Application>Microsoft Office PowerPoint</Application>
  <PresentationFormat>Custom</PresentationFormat>
  <Paragraphs>1983</Paragraphs>
  <Slides>62</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Calibri (MS) Bold</vt:lpstr>
      <vt:lpstr>Calibri (MS)</vt:lpstr>
      <vt:lpstr>Segoe UI Symbol</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CHTR_Final_Presentation_v3.pptx</dc:title>
  <cp:lastModifiedBy>Chriqui, Josh</cp:lastModifiedBy>
  <cp:revision>1</cp:revision>
  <dcterms:created xsi:type="dcterms:W3CDTF">2006-08-16T00:00:00Z</dcterms:created>
  <dcterms:modified xsi:type="dcterms:W3CDTF">2026-09-29T00:19:12Z</dcterms:modified>
  <dc:identifier>DAHWYnvv3Ys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0x010100D175326736EE0B41B11F18B0056705B4</vt:lpwstr>
  </property>
</Properties>
</file>