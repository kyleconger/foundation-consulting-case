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Other leads</c:v>
                </c:pt>
              </c:strCache>
            </c:strRef>
          </c:tx>
          <c:spPr>
            <a:solidFill>
              <a:srgbClr val="8A94A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NY</c:v>
                </c:pt>
                <c:pt idx="1">
                  <c:v>OH</c:v>
                </c:pt>
                <c:pt idx="2">
                  <c:v>NC</c:v>
                </c:pt>
                <c:pt idx="3">
                  <c:v>TX</c:v>
                </c:pt>
                <c:pt idx="4">
                  <c:v>WI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1">
                  <c:v>4.41</c:v>
                </c:pt>
                <c:pt idx="2">
                  <c:v>4.36</c:v>
                </c:pt>
                <c:pt idx="3">
                  <c:v>3.76</c:v>
                </c:pt>
                <c:pt idx="4">
                  <c:v>2.31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Largest lead</c:v>
                </c:pt>
              </c:strCache>
            </c:strRef>
          </c:tx>
          <c:spPr>
            <a:solidFill>
              <a:srgbClr val="0072C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NY</c:v>
                </c:pt>
                <c:pt idx="1">
                  <c:v>OH</c:v>
                </c:pt>
                <c:pt idx="2">
                  <c:v>NC</c:v>
                </c:pt>
                <c:pt idx="3">
                  <c:v>TX</c:v>
                </c:pt>
                <c:pt idx="4">
                  <c:v>WI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5.54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crossAx val="-2113994440"/>
        <c:crosses val="min"/>
        <c:auto val="1"/>
        <c:lblAlgn val="ctr"/>
        <c:lblOffset val="100"/>
        <c:noMultiLvlLbl val="0"/>
        <c:txPr>
          <a:bodyPr/>
          <a:lstStyle/>
          <a:p>
            <a:pPr>
              <a:defRPr sz="1200" b="1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</c:catAx>
      <c:valAx>
        <c:axId val="-2113994440"/>
        <c:scaling>
          <c:max val="7"/>
          <c:min val="0"/>
        </c:scaling>
        <c:delete val="0"/>
        <c:axPos val="b"/>
        <c:majorGridlines>
          <c:spPr>
            <a:ln w="6350">
              <a:solidFill>
                <a:srgbClr val="E3E9F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crossAx val="-2068027336"/>
        <c:crosses val="min"/>
        <c:txPr>
          <a:bodyPr/>
          <a:lstStyle/>
          <a:p>
            <a:pPr>
              <a:defRPr sz="1000" b="0">
                <a:solidFill>
                  <a:srgbClr val="5B6672"/>
                </a:solidFill>
                <a:latin typeface="Calibri"/>
              </a:defRPr>
            </a:pPr>
            <a:endParaRPr lang="en-US"/>
          </a:p>
        </c:txPr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Other leads</c:v>
                </c:pt>
              </c:strCache>
            </c:strRef>
          </c:tx>
          <c:spPr>
            <a:solidFill>
              <a:srgbClr val="8A94A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</c:v>
                </c:pt>
                <c:pt idx="1">
                  <c:v>IL</c:v>
                </c:pt>
                <c:pt idx="2">
                  <c:v>MD</c:v>
                </c:pt>
                <c:pt idx="3">
                  <c:v>MA</c:v>
                </c:pt>
                <c:pt idx="4">
                  <c:v>WA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1">
                  <c:v>4.27</c:v>
                </c:pt>
                <c:pt idx="2">
                  <c:v>2.46</c:v>
                </c:pt>
                <c:pt idx="3">
                  <c:v>2.45</c:v>
                </c:pt>
                <c:pt idx="4">
                  <c:v>2.35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Largest lead</c:v>
                </c:pt>
              </c:strCache>
            </c:strRef>
          </c:tx>
          <c:spPr>
            <a:solidFill>
              <a:srgbClr val="0072C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</c:v>
                </c:pt>
                <c:pt idx="1">
                  <c:v>IL</c:v>
                </c:pt>
                <c:pt idx="2">
                  <c:v>MD</c:v>
                </c:pt>
                <c:pt idx="3">
                  <c:v>MA</c:v>
                </c:pt>
                <c:pt idx="4">
                  <c:v>WA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4.36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crossAx val="-2113994440"/>
        <c:crosses val="min"/>
        <c:auto val="1"/>
        <c:lblAlgn val="ctr"/>
        <c:lblOffset val="100"/>
        <c:noMultiLvlLbl val="0"/>
        <c:txPr>
          <a:bodyPr/>
          <a:lstStyle/>
          <a:p>
            <a:pPr>
              <a:defRPr sz="1200" b="1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</c:catAx>
      <c:valAx>
        <c:axId val="-2113994440"/>
        <c:scaling>
          <c:max val="7"/>
          <c:min val="0"/>
        </c:scaling>
        <c:delete val="0"/>
        <c:axPos val="b"/>
        <c:majorGridlines>
          <c:spPr>
            <a:ln w="6350">
              <a:solidFill>
                <a:srgbClr val="E3E9F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crossAx val="-2068027336"/>
        <c:crosses val="min"/>
        <c:txPr>
          <a:bodyPr/>
          <a:lstStyle/>
          <a:p>
            <a:pPr>
              <a:defRPr sz="1000" b="0">
                <a:solidFill>
                  <a:srgbClr val="5B6672"/>
                </a:solidFill>
                <a:latin typeface="Calibri"/>
              </a:defRPr>
            </a:pPr>
            <a:endParaRPr lang="en-US"/>
          </a:p>
        </c:txPr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spPr>
    <a:noFill/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FCC LOCATION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B1F3A"/>
                </a:solidFill>
                <a:latin typeface="Calibri"/>
              </a:rPr>
              <a:t>Charter leads residential locations in 19 states; Comcast leads in 27, including DC — availability, not subscribers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08192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FCC Broadband Data Collection, National Broadband Map — residential location availability as of 31 Dec 2025 (D25, file rev. 15 Sep 2026). Not subscriber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0"/>
                </a:solidFill>
                <a:latin typeface="Calibri"/>
              </a:rPr>
              <a:t>A1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67233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10512"/>
            <a:ext cx="237972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072CE"/>
                </a:solidFill>
                <a:latin typeface="Calib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95728"/>
            <a:ext cx="237972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States Charter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816352"/>
            <a:ext cx="237972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More residential locations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than Comcast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9846" y="1691640"/>
            <a:ext cx="267233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6150" y="1810512"/>
            <a:ext cx="237972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F3A"/>
                </a:solidFill>
                <a:latin typeface="Calibri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150" y="2395728"/>
            <a:ext cx="237972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Jurisdictions Comcast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150" y="2816352"/>
            <a:ext cx="237972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26 states plus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District of Columbia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1691640"/>
            <a:ext cx="267233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6" y="1810512"/>
            <a:ext cx="237972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5B6672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2395728"/>
            <a:ext cx="237972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States neither is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2816352"/>
            <a:ext cx="237972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AK, IA, ND, OK, 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3698" y="1691640"/>
            <a:ext cx="267233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0002" y="1810512"/>
            <a:ext cx="237972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5B6672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0002" y="2395728"/>
            <a:ext cx="237972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0002" y="2816352"/>
            <a:ext cx="237972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Strictly larger share;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no state is equal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29584"/>
            <a:ext cx="11183112" cy="7132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21024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NEITHER PRESENT 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Alaska, Iowa, North Dakota, Oklahoma, and South Dakota. </a:t>
            </a:r>
            <a:r>
              <a:rPr sz="1400" b="0" i="0">
                <a:solidFill>
                  <a:srgbClr val="DCE9F7"/>
                </a:solidFill>
                <a:latin typeface="Calibri"/>
              </a:rPr>
              <a:t>Neither operator reports a positive residential footprint.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89120"/>
            <a:ext cx="11183112" cy="1572768"/>
          </a:xfrm>
          <a:prstGeom prst="rect">
            <a:avLst/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98848"/>
            <a:ext cx="108356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WHAT THIS COUNTS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672"/>
                </a:solidFill>
                <a:latin typeface="Calibri"/>
              </a:rPr>
              <a:t>FCC BDC residential location availability as of 31 December 2025 (D25). Estimated units = the share of residential Broadband Serviceable Locations where the operator reports fixed broadband, times that state’s residential fabric units.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B6672"/>
                </a:solidFill>
                <a:latin typeface="Calibri"/>
              </a:rPr>
              <a:t>A location the provider can serve is not a subscriber. This is not Form 477 subscriptions and not a 10-K state mix. Charter is present in 42 states + DC; Comcast in 41 states + DC. Affiliates are not rolled 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LARGEST LOCATION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B1F3A"/>
                </a:solidFill>
                <a:latin typeface="Calibri"/>
              </a:rPr>
              <a:t>New York is Charter’s largest location lead at 5.54 million units; Pennsylvania is Comcast’s at 4.36 million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08192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FCC Broadband Data Collection, National Broadband Map — residential location availability as of 31 Dec 2025 (D25, file rev. 15 Sep 2026). Not subscriber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0"/>
                </a:solidFill>
                <a:latin typeface="Calibri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2"/>
                </a:solidFill>
                <a:latin typeface="Calibri"/>
              </a:rPr>
              <a:t>Lead size = Charter estimated residential locations minus Comcast, in millions. Blue is the largest lead on each side. Both axes run from zero to 7. Not subscribers.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2CE"/>
                </a:solidFill>
                <a:latin typeface="Calibri"/>
              </a:rPr>
              <a:t>CHARTER LOCATION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01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672"/>
                </a:solidFill>
                <a:latin typeface="Calibri"/>
              </a:rPr>
              <a:t>COMCAST LOCATION LEAD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20040" y="2176272"/>
          <a:ext cx="5715000" cy="3767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72200" y="2176272"/>
          <a:ext cx="5715000" cy="37673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LOCATIONS BEHIND THE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B1F3A"/>
                </a:solidFill>
                <a:latin typeface="Calibri"/>
              </a:rPr>
              <a:t>New York: Charter 5.58M locations (60.2%) vs Comcast 44k; Pennsylvania: Comcast 4.53M (71.3%) vs Charter 176k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08192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0"/>
                </a:solidFill>
                <a:latin typeface="Calibri"/>
              </a:rPr>
              <a:t>Source: FCC Broadband Data Collection, National Broadband Map — residential location availability as of 31 Dec 2025 (D25, file rev. 15 Sep 2026). Not subscriber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0"/>
                </a:solidFill>
                <a:latin typeface="Calibri"/>
              </a:rPr>
              <a:t>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2CE"/>
                </a:solidFill>
                <a:latin typeface="Calibri"/>
              </a:rPr>
              <a:t>FIVE LARGEST CHARTER LEADS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8311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1325880"/>
                <a:gridCol w="1645920"/>
                <a:gridCol w="1325880"/>
                <a:gridCol w="1645920"/>
                <a:gridCol w="1673352"/>
              </a:tblGrid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Charter locations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Share of fabric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Comcast locations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Share of fabric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Margin (CH − CM)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State fabric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New York (NY)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5.58M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60.2%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44k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1" i="0">
                          <a:solidFill>
                            <a:srgbClr val="0072CE"/>
                          </a:solidFill>
                          <a:latin typeface="Calibri"/>
                        </a:rPr>
                        <a:t>+5.54M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9.27M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Ohio (OH)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4.51M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77.3%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97k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+4.41M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5.83M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North Carolina (NC)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4.37M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79.0%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2,211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&lt;0.1%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+4.36M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5.53M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Texas (TX)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6.81M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48.8%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3.05M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21.8%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+3.76M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13.95M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Wisconsin (WI)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2.35M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74.5%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39k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+2.31M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3.15M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639312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672"/>
                </a:solidFill>
                <a:latin typeface="Calibri"/>
              </a:rPr>
              <a:t>FIVE LARGEST COMCAST LEADS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895344"/>
          <a:ext cx="1118311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1325880"/>
                <a:gridCol w="1645920"/>
                <a:gridCol w="1325880"/>
                <a:gridCol w="1645920"/>
                <a:gridCol w="1673352"/>
              </a:tblGrid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Charter locations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Share of fabric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Comcast locations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Share of fabric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Margin (CH − CM)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State fabric</a:t>
                      </a:r>
                    </a:p>
                  </a:txBody>
                  <a:tcPr anchor="ctr" marL="73152" marR="54864" marT="18288" marB="18288">
                    <a:solidFill>
                      <a:srgbClr val="0B1F3A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1" i="0">
                          <a:solidFill>
                            <a:srgbClr val="0B1F3A"/>
                          </a:solidFill>
                          <a:latin typeface="Calibri"/>
                        </a:rPr>
                        <a:t>Pennsylvania (PA)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176k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4.53M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71.3%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1" i="0">
                          <a:solidFill>
                            <a:srgbClr val="0072CE"/>
                          </a:solidFill>
                          <a:latin typeface="Calibri"/>
                        </a:rPr>
                        <a:t>−4.36M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6.36M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Illinois (IL)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298k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4.56M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75.4%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−4.27M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6.06M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Maryland (MD)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4,407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2.46M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89.4%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−2.46M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2.75M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Massachusetts (MA)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412k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12.4%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2.86M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85.9%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−2.45M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3.33M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  <a:tr h="281940"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Washington (WA)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317k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2.67M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72.4%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−2.35M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00" b="0" i="0">
                          <a:solidFill>
                            <a:srgbClr val="0B1F3A"/>
                          </a:solidFill>
                          <a:latin typeface="Calibri"/>
                        </a:rPr>
                        <a:t>3.68M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  <a:lnL w="6350" cap="flat" cmpd="sng" algn="ctr">
                      <a:solidFill>
                        <a:srgbClr val="D7E0EA"/>
                      </a:solidFill>
                    </a:lnL>
                    <a:lnR w="6350" cap="flat" cmpd="sng" algn="ctr">
                      <a:solidFill>
                        <a:srgbClr val="D7E0EA"/>
                      </a:solidFill>
                    </a:lnR>
                    <a:lnT w="6350" cap="flat" cmpd="sng" algn="ctr">
                      <a:solidFill>
                        <a:srgbClr val="D7E0EA"/>
                      </a:solidFill>
                    </a:lnT>
                    <a:lnB w="6350" cap="flat" cmpd="sng" algn="ctr">
                      <a:solidFill>
                        <a:srgbClr val="D7E0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66928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2"/>
                </a:solidFill>
                <a:latin typeface="Calibri"/>
              </a:rPr>
              <a:t>Margin = Charter locations minus Comcast locations. Share is the percent of that state’s residential fabric units.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