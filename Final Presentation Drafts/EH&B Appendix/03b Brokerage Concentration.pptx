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3112" cy="256032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2CE"/>
                </a:solidFill>
                <a:latin typeface="Calibri"/>
              </a:rPr>
              <a:t>APPENDIX  ·  EH&amp;B — BROKERAGE CONCENTRATION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83112" cy="7132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B1F3A"/>
                </a:solidFill>
                <a:latin typeface="Calibri"/>
              </a:rPr>
              <a:t>The top 10 EH&amp;B filing names hold </a:t>
            </a:r>
            <a:r>
              <a:rPr sz="2200" b="1" i="0">
                <a:solidFill>
                  <a:srgbClr val="0072CE"/>
                </a:solidFill>
                <a:latin typeface="Calibri"/>
              </a:rPr>
              <a:t>44%</a:t>
            </a:r>
            <a:r>
              <a:rPr sz="2200" b="1" i="0">
                <a:solidFill>
                  <a:srgbClr val="0B1F3A"/>
                </a:solidFill>
                <a:latin typeface="Calibri"/>
              </a:rPr>
              <a:t> of Form 5500 compensation;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B1F3A"/>
                </a:solidFill>
                <a:latin typeface="Calibri"/>
              </a:rPr>
              <a:t>a 43,119-name tail holds the rest.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98448"/>
            <a:ext cx="11183112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B6672"/>
                </a:solidFill>
                <a:latin typeface="Calibri"/>
              </a:rPr>
              <a:t>This measures compensation, not covered lives, so it is not literal ownership of the book.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10512"/>
            <a:ext cx="5852160" cy="237744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2CE"/>
                </a:solidFill>
                <a:latin typeface="Calibri"/>
              </a:rPr>
              <a:t>SHARE OF FORM 5500 COMPENSATION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94560"/>
            <a:ext cx="1874520" cy="11155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72CE"/>
                </a:solidFill>
                <a:latin typeface="Calibri"/>
              </a:rPr>
              <a:t>Top 10 filing names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487168" y="2523744"/>
            <a:ext cx="3520440" cy="457200"/>
          </a:xfrm>
          <a:prstGeom prst="rect">
            <a:avLst/>
          </a:prstGeom>
          <a:solidFill>
            <a:srgbClr val="E6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87168" y="2523744"/>
            <a:ext cx="1548994" cy="457200"/>
          </a:xfrm>
          <a:prstGeom prst="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09314" y="2523744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072CE"/>
                </a:solidFill>
                <a:latin typeface="Calibri"/>
              </a:rPr>
              <a:t>44%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310128"/>
            <a:ext cx="1874520" cy="1115568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B1F3A"/>
                </a:solidFill>
                <a:latin typeface="Calibri"/>
              </a:rPr>
              <a:t>Other 43,119 names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87168" y="3639312"/>
            <a:ext cx="3520440" cy="457200"/>
          </a:xfrm>
          <a:prstGeom prst="rect">
            <a:avLst/>
          </a:prstGeom>
          <a:solidFill>
            <a:srgbClr val="E6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87168" y="3639312"/>
            <a:ext cx="1971446" cy="457200"/>
          </a:xfrm>
          <a:prstGeom prst="rect">
            <a:avLst/>
          </a:prstGeom>
          <a:solidFill>
            <a:srgbClr val="B7C3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1766" y="3639312"/>
            <a:ext cx="777240" cy="4572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B1F3A"/>
                </a:solidFill>
                <a:latin typeface="Calibri"/>
              </a:rPr>
              <a:t>56%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87168" y="2523744"/>
            <a:ext cx="13716" cy="19568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87168" y="4480560"/>
            <a:ext cx="35204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87168" y="4480560"/>
            <a:ext cx="10973" cy="7315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31136" y="4553712"/>
            <a:ext cx="512064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4A0"/>
                </a:solidFill>
                <a:latin typeface="Calibri"/>
              </a:rPr>
              <a:t>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7278" y="4480560"/>
            <a:ext cx="10973" cy="7315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11246" y="4553712"/>
            <a:ext cx="512064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4A0"/>
                </a:solidFill>
                <a:latin typeface="Calibri"/>
              </a:rPr>
              <a:t>25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47388" y="4480560"/>
            <a:ext cx="10973" cy="7315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91356" y="4553712"/>
            <a:ext cx="512064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4A0"/>
                </a:solidFill>
                <a:latin typeface="Calibri"/>
              </a:rPr>
              <a:t>50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27498" y="4480560"/>
            <a:ext cx="10973" cy="7315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71466" y="4553712"/>
            <a:ext cx="512064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4A0"/>
                </a:solidFill>
                <a:latin typeface="Calibri"/>
              </a:rPr>
              <a:t>75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07608" y="4480560"/>
            <a:ext cx="10973" cy="73152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51576" y="4553712"/>
            <a:ext cx="512064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4A0"/>
                </a:solidFill>
                <a:latin typeface="Calibri"/>
              </a:rPr>
              <a:t>100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773168"/>
            <a:ext cx="585216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94A0"/>
                </a:solidFill>
                <a:latin typeface="Calibri"/>
              </a:rPr>
              <a:t>Bars start at zero. Scale is 0–100% of this compensation table.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37960" y="1810512"/>
            <a:ext cx="5148072" cy="3456432"/>
          </a:xfrm>
          <a:prstGeom prst="roundRect">
            <a:avLst>
              <a:gd name="adj" fmla="val 8000"/>
            </a:avLst>
          </a:prstGeom>
          <a:solidFill>
            <a:srgbClr val="F2F6FB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1956816"/>
            <a:ext cx="4782312" cy="219456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2CE"/>
                </a:solidFill>
                <a:latin typeface="Calibri"/>
              </a:rPr>
              <a:t>INSIDE THE 44%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2176272"/>
            <a:ext cx="4782312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2"/>
                </a:solidFill>
                <a:latin typeface="Calibri"/>
              </a:rPr>
              <a:t>Filing-name share, descending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2432304"/>
            <a:ext cx="4123944" cy="22677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B1F3A"/>
                </a:solidFill>
                <a:latin typeface="Calibri"/>
              </a:rPr>
              <a:t>Marsh &amp; McLennan Agency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44784" y="2432304"/>
            <a:ext cx="658368" cy="22677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F3A"/>
                </a:solidFill>
                <a:latin typeface="Calibri"/>
              </a:rPr>
              <a:t>7.1%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2659075"/>
            <a:ext cx="4123944" cy="22677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B1F3A"/>
                </a:solidFill>
                <a:latin typeface="Calibri"/>
              </a:rPr>
              <a:t>Gallagher Benefit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44784" y="2659075"/>
            <a:ext cx="658368" cy="22677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F3A"/>
                </a:solidFill>
                <a:latin typeface="Calibri"/>
              </a:rPr>
              <a:t>5.9%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2885846"/>
            <a:ext cx="4123944" cy="22677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B1F3A"/>
                </a:solidFill>
                <a:latin typeface="Calibri"/>
              </a:rPr>
              <a:t>Lockton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44784" y="2885846"/>
            <a:ext cx="658368" cy="22677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F3A"/>
                </a:solidFill>
                <a:latin typeface="Calibri"/>
              </a:rPr>
              <a:t>5.8%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3112617"/>
            <a:ext cx="4123944" cy="22677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B1F3A"/>
                </a:solidFill>
                <a:latin typeface="Calibri"/>
              </a:rPr>
              <a:t>Mercer Health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44784" y="3112617"/>
            <a:ext cx="658368" cy="22677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F3A"/>
                </a:solidFill>
                <a:latin typeface="Calibri"/>
              </a:rPr>
              <a:t>5.0%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3339388"/>
            <a:ext cx="4123944" cy="22677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B1F3A"/>
                </a:solidFill>
                <a:latin typeface="Calibri"/>
              </a:rPr>
              <a:t>USI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44784" y="3339388"/>
            <a:ext cx="658368" cy="22677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F3A"/>
                </a:solidFill>
                <a:latin typeface="Calibri"/>
              </a:rPr>
              <a:t>4.3%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3566159"/>
            <a:ext cx="4123944" cy="22677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B1F3A"/>
                </a:solidFill>
                <a:latin typeface="Calibri"/>
              </a:rPr>
              <a:t>WTW 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44784" y="3566159"/>
            <a:ext cx="658368" cy="22677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F3A"/>
                </a:solidFill>
                <a:latin typeface="Calibri"/>
              </a:rPr>
              <a:t>4.3%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3792930"/>
            <a:ext cx="4123944" cy="22677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B1F3A"/>
                </a:solidFill>
                <a:latin typeface="Calibri"/>
              </a:rPr>
              <a:t>Hub Midwest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44784" y="3792930"/>
            <a:ext cx="658368" cy="22677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F3A"/>
                </a:solidFill>
                <a:latin typeface="Calibri"/>
              </a:rPr>
              <a:t>4.1%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4019701"/>
            <a:ext cx="4123944" cy="22677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B1F3A"/>
                </a:solidFill>
                <a:latin typeface="Calibri"/>
              </a:rPr>
              <a:t>Aon Consulting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44784" y="4019701"/>
            <a:ext cx="658368" cy="22677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F3A"/>
                </a:solidFill>
                <a:latin typeface="Calibri"/>
              </a:rPr>
              <a:t>2.8%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0840" y="4246472"/>
            <a:ext cx="4123944" cy="22677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B1F3A"/>
                </a:solidFill>
                <a:latin typeface="Calibri"/>
              </a:rPr>
              <a:t>Alliant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44784" y="4246472"/>
            <a:ext cx="658368" cy="22677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F3A"/>
                </a:solidFill>
                <a:latin typeface="Calibri"/>
              </a:rPr>
              <a:t>2.5%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4473243"/>
            <a:ext cx="4123944" cy="22677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0B1F3A"/>
                </a:solidFill>
                <a:latin typeface="Calibri"/>
              </a:rPr>
              <a:t>Brown &amp; Brown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844784" y="4473243"/>
            <a:ext cx="658368" cy="226771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F3A"/>
                </a:solidFill>
                <a:latin typeface="Calibri"/>
              </a:rPr>
              <a:t>2.2%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720840" y="4754878"/>
            <a:ext cx="4782312" cy="10973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720840" y="4809742"/>
            <a:ext cx="4123944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F3A"/>
                </a:solidFill>
                <a:latin typeface="Calibri"/>
              </a:rPr>
              <a:t>Ten filing names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844784" y="4809742"/>
            <a:ext cx="658368" cy="25603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072CE"/>
                </a:solidFill>
                <a:latin typeface="Calibri"/>
              </a:rPr>
              <a:t>44.0%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2920" y="5394960"/>
            <a:ext cx="11183112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2"/>
                </a:solidFill>
                <a:latin typeface="Calibri"/>
              </a:rPr>
              <a:t>A different basket: Marsh (MMA + Mercer), Gallagher, Lockton, WTW, Aon, and NFP sum to 32.5% of the same table (NFP is 1.6, outside the top 10).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5669280"/>
            <a:ext cx="11183112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A94A0"/>
                </a:solidFill>
                <a:latin typeface="Calibri"/>
              </a:rPr>
              <a:t>A different metric: Business Insurance 2025 ranking of 2024 U.S. brokerage revenue — top 10 = 67% of the Top 100 (67.2% unrounded). All-lines revenue, not this table.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" y="5961888"/>
            <a:ext cx="11183112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94A0"/>
                </a:solidFill>
                <a:latin typeface="Calibri"/>
              </a:rPr>
              <a:t>Source: PlanOptica health-and-welfare broker table — Form 5500 compensation filed by plan sponsors with DOL/EBSA. https://planoptica.com/welfare/broker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6163056"/>
            <a:ext cx="11183112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94A0"/>
                </a:solidFill>
                <a:latin typeface="Calibri"/>
              </a:rPr>
              <a:t>PlanOptica is a for-profit indexer. 43,129 filing names on the table; the other 43,119 hold 56%. Hub Midwest and WTW US are filing names, not full parents.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2920" y="6473952"/>
            <a:ext cx="10561320" cy="256032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4A0"/>
                </a:solidFill>
                <a:latin typeface="Calibri"/>
              </a:rPr>
              <a:t>Final Presentation  ·  “Changing the Trajectory”  ·  Charter Communications (CHTR)  ·  Anchored to Q1 2026; Q2 2026 labeled as later public fact where used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292840" y="6473952"/>
            <a:ext cx="411480" cy="256032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4A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EH&amp;B brokerage concentration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