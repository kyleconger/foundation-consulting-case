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fool.com/investing/2026/04/24/why-charter-communications-stock-plummeted-today/" TargetMode="External"/><Relationship Id="rId3" Type="http://schemas.openxmlformats.org/officeDocument/2006/relationships/hyperlink" Target="https://www.fool.com/investing/2026/05/07/where-are-comcast-and-charters-internet-customers/" TargetMode="External"/><Relationship Id="rId4" Type="http://schemas.openxmlformats.org/officeDocument/2006/relationships/hyperlink" Target="https://www.fool.com/investing/2026/07/02/coreweave-is-about-to-join-the-nasdaq-100-heres-wh/" TargetMode="External"/><Relationship Id="rId5" Type="http://schemas.openxmlformats.org/officeDocument/2006/relationships/hyperlink" Target="https://simplywall.st/stocks/us/media/nasdaq-chtr/charter-communications" TargetMode="External"/><Relationship Id="rId6" Type="http://schemas.openxmlformats.org/officeDocument/2006/relationships/hyperlink" Target="https://simplywall.st/stocks/us/media/nasdaq-chtr/charter-communications/news/charter-communications-chtr-stock-faces-margin-pressure-as-q" TargetMode="External"/><Relationship Id="rId7" Type="http://schemas.openxmlformats.org/officeDocument/2006/relationships/hyperlink" Target="https://simplywall.st/stocks/us/media/nasdaq-chtr/charter-communications/news/did-cfo-exit-just-shift-charter-communications-chtr-investme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113842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>
                <a:solidFill>
                  <a:srgbClr val="0072CE"/>
                </a:solidFill>
                <a:latin typeface="Calibri"/>
                <a:ea typeface="Calibri"/>
                <a:cs typeface="Calibri"/>
              </a:rPr>
              <a:t>APPENDIX  ·  PERCEPTIONS OUTSIDE THE BANKS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420624"/>
            <a:ext cx="11384280" cy="7132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u="none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Outside the banks, Fool writers split between waiting out the broadband miss and buying the cash flow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u="none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Simply Wall St recycles cheap stock versus leverage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1207008"/>
            <a:ext cx="5632704" cy="4187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163056" y="1207008"/>
            <a:ext cx="5632704" cy="4187952"/>
          </a:xfrm>
          <a:prstGeom prst="rect">
            <a:avLst/>
          </a:prstGeom>
          <a:solidFill>
            <a:srgbClr val="F4F7FA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4048" y="1207008"/>
            <a:ext cx="64008" cy="4187952"/>
          </a:xfrm>
          <a:prstGeom prst="rect">
            <a:avLst/>
          </a:prstGeom>
          <a:solidFill>
            <a:srgbClr val="007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1353312"/>
            <a:ext cx="5230368" cy="60350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Motley Fool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>
                <a:solidFill>
                  <a:srgbClr val="5B6672"/>
                </a:solidFill>
                <a:latin typeface="Calibri"/>
                <a:ea typeface="Calibri"/>
                <a:cs typeface="Calibri"/>
              </a:rPr>
              <a:t>Its own shop. These writers are not a covering desk. A Fool-hosted earnings transcript is Charter’s call, not a Fool view.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64224" y="1353312"/>
            <a:ext cx="5230368" cy="60350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Simply Wall St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>
                <a:solidFill>
                  <a:srgbClr val="5B6672"/>
                </a:solidFill>
                <a:latin typeface="Calibri"/>
                <a:ea typeface="Calibri"/>
                <a:cs typeface="Calibri"/>
              </a:rPr>
              <a:t>Aggregator recap of media and consensus. Not original research and not a covering desk.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2121408"/>
            <a:ext cx="5230368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u="none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Keith Noonan</a:t>
            </a:r>
            <a:r>
              <a:rPr sz="1200" b="0" i="0" u="none">
                <a:solidFill>
                  <a:srgbClr val="8A94A0"/>
                </a:solidFill>
                <a:latin typeface="Calibri"/>
                <a:ea typeface="Calibri"/>
                <a:cs typeface="Calibri"/>
              </a:rPr>
              <a:t>   24 Apr 2026</a:t>
            </a:r>
            <a:r>
              <a:rPr sz="1200" b="0" i="0" u="none">
                <a:solidFill>
                  <a:srgbClr val="8A94A0"/>
                </a:solidFill>
                <a:latin typeface="Calibri"/>
                <a:ea typeface="Calibri"/>
                <a:cs typeface="Calibri"/>
              </a:rPr>
              <a:t>   ·   </a:t>
            </a:r>
            <a:r>
              <a:rPr sz="1200" b="1" i="0" u="none">
                <a:solidFill>
                  <a:srgbClr val="0072CE"/>
                </a:solidFill>
                <a:latin typeface="Calibri"/>
                <a:ea typeface="Calibri"/>
                <a:cs typeface="Calibri"/>
              </a:rPr>
              <a:t>Wait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2395728"/>
            <a:ext cx="5230368" cy="6583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>
                <a:solidFill>
                  <a:srgbClr val="5B6672"/>
                </a:solidFill>
                <a:latin typeface="Calibri"/>
                <a:ea typeface="Calibri"/>
                <a:cs typeface="Calibri"/>
              </a:rPr>
              <a:t>After the Q1 miss, wait for turnaround signs before buying the cheaper print.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5216" y="3108960"/>
            <a:ext cx="5230368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3182112"/>
            <a:ext cx="5230368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u="none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James Brumley</a:t>
            </a:r>
            <a:r>
              <a:rPr sz="1200" b="0" i="0" u="none">
                <a:solidFill>
                  <a:srgbClr val="8A94A0"/>
                </a:solidFill>
                <a:latin typeface="Calibri"/>
                <a:ea typeface="Calibri"/>
                <a:cs typeface="Calibri"/>
              </a:rPr>
              <a:t>   7 May 2026</a:t>
            </a:r>
            <a:r>
              <a:rPr sz="1200" b="0" i="0" u="none">
                <a:solidFill>
                  <a:srgbClr val="8A94A0"/>
                </a:solidFill>
                <a:latin typeface="Calibri"/>
                <a:ea typeface="Calibri"/>
                <a:cs typeface="Calibri"/>
              </a:rPr>
              <a:t>   ·   </a:t>
            </a:r>
            <a:r>
              <a:rPr sz="1200" b="1" i="0" u="none">
                <a:solidFill>
                  <a:srgbClr val="0072CE"/>
                </a:solidFill>
                <a:latin typeface="Calibri"/>
                <a:ea typeface="Calibri"/>
                <a:cs typeface="Calibri"/>
              </a:rPr>
              <a:t>Fixed wireless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3456432"/>
            <a:ext cx="5230368" cy="6583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>
                <a:solidFill>
                  <a:srgbClr val="5B6672"/>
                </a:solidFill>
                <a:latin typeface="Calibri"/>
                <a:ea typeface="Calibri"/>
                <a:cs typeface="Calibri"/>
              </a:rPr>
              <a:t>Broadband no longer offsets video losses. Fixed wireless at T-Mobile and Verizon is the leak, and the migration can run a long time.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5216" y="4169664"/>
            <a:ext cx="5230368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" y="4242816"/>
            <a:ext cx="5230368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u="none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Brett Schafer</a:t>
            </a:r>
            <a:r>
              <a:rPr sz="1200" b="0" i="0" u="none">
                <a:solidFill>
                  <a:srgbClr val="8A94A0"/>
                </a:solidFill>
                <a:latin typeface="Calibri"/>
                <a:ea typeface="Calibri"/>
                <a:cs typeface="Calibri"/>
              </a:rPr>
              <a:t>   2 Jul 2026</a:t>
            </a:r>
            <a:r>
              <a:rPr sz="1200" b="0" i="0" u="none">
                <a:solidFill>
                  <a:srgbClr val="8A94A0"/>
                </a:solidFill>
                <a:latin typeface="Calibri"/>
                <a:ea typeface="Calibri"/>
                <a:cs typeface="Calibri"/>
              </a:rPr>
              <a:t>   ·   </a:t>
            </a:r>
            <a:r>
              <a:rPr sz="1200" b="1" i="0" u="none">
                <a:solidFill>
                  <a:srgbClr val="0072CE"/>
                </a:solidFill>
                <a:latin typeface="Calibri"/>
                <a:ea typeface="Calibri"/>
                <a:cs typeface="Calibri"/>
              </a:rPr>
              <a:t>Buy the cash 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" y="4517136"/>
            <a:ext cx="5230368" cy="6583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>
                <a:solidFill>
                  <a:srgbClr val="5B6672"/>
                </a:solidFill>
                <a:latin typeface="Calibri"/>
                <a:ea typeface="Calibri"/>
                <a:cs typeface="Calibri"/>
              </a:rPr>
              <a:t>Would buy Charter over CoreWeave: wired broadband will not vanish overnight, and Charter is profitable at a cheaper valuation than an unprofitable AI host.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2121408"/>
            <a:ext cx="5230368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u="none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CHTR stock report</a:t>
            </a:r>
            <a:r>
              <a:rPr sz="1200" b="0" i="0" u="none">
                <a:solidFill>
                  <a:srgbClr val="8A94A0"/>
                </a:solidFill>
                <a:latin typeface="Calibri"/>
                <a:ea typeface="Calibri"/>
                <a:cs typeface="Calibri"/>
              </a:rPr>
              <a:t>   Retrieved 21 Sep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4224" y="2395728"/>
            <a:ext cx="5230368" cy="6583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>
                <a:solidFill>
                  <a:srgbClr val="5B6672"/>
                </a:solidFill>
                <a:latin typeface="Calibri"/>
                <a:ea typeface="Calibri"/>
                <a:cs typeface="Calibri"/>
              </a:rPr>
              <a:t>Screens cheap (valuation 5/6) against financial health 0/6; interest is not well covered. Recycles consensus, low, and high narratives and names no covering analyst.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64224" y="3108960"/>
            <a:ext cx="5230368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64224" y="3182112"/>
            <a:ext cx="5230368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u="none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Margin-pressure recap</a:t>
            </a:r>
            <a:r>
              <a:rPr sz="1200" b="0" i="0" u="none">
                <a:solidFill>
                  <a:srgbClr val="8A94A0"/>
                </a:solidFill>
                <a:latin typeface="Calibri"/>
                <a:ea typeface="Calibri"/>
                <a:cs typeface="Calibri"/>
              </a:rPr>
              <a:t>   26 Jul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4224" y="3456432"/>
            <a:ext cx="5230368" cy="6583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>
                <a:solidFill>
                  <a:srgbClr val="5B6672"/>
                </a:solidFill>
                <a:latin typeface="Calibri"/>
                <a:ea typeface="Calibri"/>
                <a:cs typeface="Calibri"/>
              </a:rPr>
              <a:t>Byline is Simply Wall St. Trailing net margin 9.1% versus 9.5% a year earlier, and a roughly 3× earnings multiple against a much larger DCF. Bulls on cheapness, bears on leverage.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64224" y="4169664"/>
            <a:ext cx="5230368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4242816"/>
            <a:ext cx="5230368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u="none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CFO-exit recap</a:t>
            </a:r>
            <a:r>
              <a:rPr sz="1200" b="0" i="0" u="none">
                <a:solidFill>
                  <a:srgbClr val="8A94A0"/>
                </a:solidFill>
                <a:latin typeface="Calibri"/>
                <a:ea typeface="Calibri"/>
                <a:cs typeface="Calibri"/>
              </a:rPr>
              <a:t>   8 Sep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4224" y="4517136"/>
            <a:ext cx="5230368" cy="6583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>
                <a:solidFill>
                  <a:srgbClr val="5B6672"/>
                </a:solidFill>
                <a:latin typeface="Calibri"/>
                <a:ea typeface="Calibri"/>
                <a:cs typeface="Calibri"/>
              </a:rPr>
              <a:t>Reviewed by Sasha Jovanovic, Simply Wall St staff, not a covering analyst. The CFO exit is framed as operational; the swing factor remains about $94 billion of debt and interest cover.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" y="5486400"/>
            <a:ext cx="11411712" cy="9692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lnSpc>
                <a:spcPts val="1050"/>
              </a:lnSpc>
            </a:pPr>
            <a:r>
              <a:rPr sz="800" b="0" i="1" u="none">
                <a:solidFill>
                  <a:srgbClr val="8A94A0"/>
                </a:solidFill>
                <a:latin typeface="Calibri"/>
                <a:ea typeface="Calibri"/>
                <a:cs typeface="Calibri"/>
              </a:rPr>
              <a:t>Source: chtr-sellside-coverage canvas, retrieved 21 Sep 2026. No row in Analysis/sellside-coverage/covering_analysts.csv. Sasha Jovanovic is Simply Wall St staff, not a sell-side analyst.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lnSpc>
                <a:spcPts val="1050"/>
              </a:lnSpc>
            </a:pPr>
            <a:r>
              <a:rPr sz="800" b="0" i="0" u="none">
                <a:solidFill>
                  <a:srgbClr val="8A94A0"/>
                </a:solidFill>
                <a:latin typeface="Calibri"/>
                <a:ea typeface="Calibri"/>
                <a:cs typeface="Calibri"/>
                <a:hlinkClick r:id="rId2"/>
              </a:rPr>
              <a:t>https://www.fool.com/investing/2026/04/24/why-charter-communications-stock-plummeted-today/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lnSpc>
                <a:spcPts val="1050"/>
              </a:lnSpc>
            </a:pPr>
            <a:r>
              <a:rPr sz="800" b="0" i="0" u="none">
                <a:solidFill>
                  <a:srgbClr val="8A94A0"/>
                </a:solidFill>
                <a:latin typeface="Calibri"/>
                <a:ea typeface="Calibri"/>
                <a:cs typeface="Calibri"/>
                <a:hlinkClick r:id="rId3"/>
              </a:rPr>
              <a:t>https://www.fool.com/investing/2026/05/07/where-are-comcast-and-charters-internet-customers/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lnSpc>
                <a:spcPts val="1050"/>
              </a:lnSpc>
            </a:pPr>
            <a:r>
              <a:rPr sz="800" b="0" i="0" u="none">
                <a:solidFill>
                  <a:srgbClr val="8A94A0"/>
                </a:solidFill>
                <a:latin typeface="Calibri"/>
                <a:ea typeface="Calibri"/>
                <a:cs typeface="Calibri"/>
                <a:hlinkClick r:id="rId4"/>
              </a:rPr>
              <a:t>https://www.fool.com/investing/2026/07/02/coreweave-is-about-to-join-the-nasdaq-100-heres-wh/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lnSpc>
                <a:spcPts val="1050"/>
              </a:lnSpc>
            </a:pPr>
            <a:r>
              <a:rPr sz="800" b="0" i="0" u="none">
                <a:solidFill>
                  <a:srgbClr val="8A94A0"/>
                </a:solidFill>
                <a:latin typeface="Calibri"/>
                <a:ea typeface="Calibri"/>
                <a:cs typeface="Calibri"/>
                <a:hlinkClick r:id="rId5"/>
              </a:rPr>
              <a:t>https://simplywall.st/stocks/us/media/nasdaq-chtr/charter-communications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lnSpc>
                <a:spcPts val="1050"/>
              </a:lnSpc>
            </a:pPr>
            <a:r>
              <a:rPr sz="800" b="0" i="0" u="none">
                <a:solidFill>
                  <a:srgbClr val="8A94A0"/>
                </a:solidFill>
                <a:latin typeface="Calibri"/>
                <a:ea typeface="Calibri"/>
                <a:cs typeface="Calibri"/>
                <a:hlinkClick r:id="rId6"/>
              </a:rPr>
              <a:t>https://simplywall.st/stocks/us/media/nasdaq-chtr/charter-communications/news/charter-communications-chtr-stock-faces-margin-pressure-as-q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lnSpc>
                <a:spcPts val="1050"/>
              </a:lnSpc>
            </a:pPr>
            <a:r>
              <a:rPr sz="800" b="0" i="0" u="none">
                <a:solidFill>
                  <a:srgbClr val="8A94A0"/>
                </a:solidFill>
                <a:latin typeface="Calibri"/>
                <a:ea typeface="Calibri"/>
                <a:cs typeface="Calibri"/>
                <a:hlinkClick r:id="rId7"/>
              </a:rPr>
              <a:t>https://simplywall.st/stocks/us/media/nasdaq-chtr/charter-communications/news/did-cfo-exit-just-shift-charter-communications-chtr-investme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" y="6510528"/>
            <a:ext cx="1138428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>
                <a:solidFill>
                  <a:srgbClr val="8A94A0"/>
                </a:solidFill>
                <a:latin typeface="Calibri"/>
                <a:ea typeface="Calibri"/>
                <a:cs typeface="Calibri"/>
              </a:rPr>
              <a:t>Final Presentation  ·  “Changing the Trajectory”  ·  Charter Communications (CHTR)  ·  Appendix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Motley Fool and Simply Wall St — appendix</dc:title>
  <dc:subject>Charter perceptions outside sell-side coverage. Canvas retrieved 21 Sep 2026.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