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Internet</c:v>
                </c:pt>
                <c:pt idx="1">
                  <c:v>Video</c:v>
                </c:pt>
                <c:pt idx="2">
                  <c:v>Small business</c:v>
                </c:pt>
                <c:pt idx="3">
                  <c:v>Mobile service</c:v>
                </c:pt>
                <c:pt idx="4">
                  <c:v>Other</c:v>
                </c:pt>
                <c:pt idx="5">
                  <c:v>Mid-market and large business</c:v>
                </c:pt>
                <c:pt idx="6">
                  <c:v>Advertising sales</c:v>
                </c:pt>
                <c:pt idx="7">
                  <c:v>Voice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23.9</c:v>
                </c:pt>
                <c:pt idx="2">
                  <c:v>8.0</c:v>
                </c:pt>
                <c:pt idx="3">
                  <c:v>7.7</c:v>
                </c:pt>
                <c:pt idx="4">
                  <c:v>6.7</c:v>
                </c:pt>
                <c:pt idx="5">
                  <c:v>5.5</c:v>
                </c:pt>
                <c:pt idx="6">
                  <c:v>2.6</c:v>
                </c:pt>
                <c:pt idx="7">
                  <c:v>2.5</c:v>
                </c:pt>
              </c:numCache>
            </c:numRef>
          </c:val>
          <c:spPr>
            <a:solidFill>
              <a:srgbClr val="C5CDD6"/>
            </a:solidFill>
            <a:ln w="0">
              <a:noFill/>
            </a:ln>
          </c:spPr>
          <c:dLbls>
            <c:numFmt formatCode="0.0&quot;%&quot;;;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</c:dLbls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Story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Internet</c:v>
                </c:pt>
                <c:pt idx="1">
                  <c:v>Video</c:v>
                </c:pt>
                <c:pt idx="2">
                  <c:v>Small business</c:v>
                </c:pt>
                <c:pt idx="3">
                  <c:v>Mobile service</c:v>
                </c:pt>
                <c:pt idx="4">
                  <c:v>Other</c:v>
                </c:pt>
                <c:pt idx="5">
                  <c:v>Mid-market and large business</c:v>
                </c:pt>
                <c:pt idx="6">
                  <c:v>Advertising sales</c:v>
                </c:pt>
                <c:pt idx="7">
                  <c:v>Voice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43.0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pPr>
            <a:solidFill>
              <a:srgbClr val="C8102E"/>
            </a:solidFill>
            <a:ln w="0">
              <a:noFill/>
            </a:ln>
          </c:spPr>
          <c:dLbls>
            <c:numFmt formatCode="0.0&quot;%&quot;;;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</c:dLbls>
        </c:ser>
        <c:gapWidth val="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0B1F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"/>
          <c:max val="55"/>
        </c:scaling>
        <c:delete val="0"/>
        <c:axPos val="b"/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94A0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Smaller average base</c:v>
                </c:pt>
                <c:pt idx="1">
                  <c:v>Rate and product mix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9</c:v>
                </c:pt>
              </c:numCache>
            </c:numRef>
          </c:val>
          <c:spPr>
            <a:solidFill>
              <a:srgbClr val="C5CDD6"/>
            </a:solidFill>
            <a:ln w="0">
              <a:noFill/>
            </a:ln>
          </c:spPr>
          <c:dLbls>
            <c:numFmt formatCode="&quot;+$&quot;#,##0;;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</c:dLbls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Smaller average base</c:v>
                </c:pt>
                <c:pt idx="1">
                  <c:v>Rate and product mix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87</c:v>
                </c:pt>
                <c:pt idx="1">
                  <c:v>0</c:v>
                </c:pt>
              </c:numCache>
            </c:numRef>
          </c:val>
          <c:spPr>
            <a:solidFill>
              <a:srgbClr val="C8102E"/>
            </a:solidFill>
            <a:ln w="0">
              <a:noFill/>
            </a:ln>
          </c:spPr>
          <c:dLbls>
            <c:numFmt formatCode="&quot;−&quot;$#,##0;;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</c:dLbls>
        </c:ser>
        <c:gapWidth val="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0B1F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"/>
          <c:max val="100"/>
        </c:scaling>
        <c:delete val="0"/>
        <c:axPos val="b"/>
        <c:numFmt formatCode="$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94A0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Company, Q1 2026</c:v>
                </c:pt>
                <c:pt idx="1">
                  <c:v>Rural lit plant, Q1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54.0</c:v>
                </c:pt>
                <c:pt idx="1">
                  <c:v>0</c:v>
                </c:pt>
              </c:numCache>
            </c:numRef>
          </c:val>
          <c:spPr>
            <a:solidFill>
              <a:srgbClr val="C5CDD6"/>
            </a:solidFill>
            <a:ln w="0">
              <a:noFill/>
            </a:ln>
          </c:spPr>
          <c:dLbls>
            <c:numFmt formatCode="0.0&quot;%&quot;;;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</c:dLbls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Company, Q1 2026</c:v>
                </c:pt>
                <c:pt idx="1">
                  <c:v>Rural lit plant, Q1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38.1</c:v>
                </c:pt>
              </c:numCache>
            </c:numRef>
          </c:val>
          <c:spPr>
            <a:solidFill>
              <a:srgbClr val="C8102E"/>
            </a:solidFill>
            <a:ln w="0">
              <a:noFill/>
            </a:ln>
          </c:spPr>
          <c:dLbls>
            <c:numFmt formatCode="0.0&quot;%&quot;;;" sourceLinked="0"/>
            <c:dLblPos val="outEnd"/>
            <c:showLegendKey val="0"/>
            <c:showVal val="1"/>
            <c:showCatName val="0"/>
            <c:showSerName val="0"/>
            <c:showPercent val="0"/>
            <c:txPr>
              <a:bodyPr/>
              <a:lstStyle/>
              <a:p>
                <a:pPr>
                  <a:defRPr sz="1100" b="1">
                    <a:solidFill>
                      <a:srgbClr val="0B1F3A"/>
                    </a:solidFill>
                    <a:latin typeface="Calibri"/>
                  </a:defRPr>
                </a:pPr>
              </a:p>
            </c:txPr>
          </c:dLbls>
        </c:ser>
        <c:gapWidth val="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0B1F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"/>
          <c:max val="100"/>
        </c:scaling>
        <c:delete val="0"/>
        <c:axPos val="b"/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94A0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ln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1100" b="1" i="0" spc="200" kern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APPENDIX  ·  EH&amp;B — REVENUE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Internet is already 43% of Q1 2026 revenue, and it is the line that shrank (−$78 million)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2531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900" b="0" i="1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Source: Charter Ex99.1, Q1 2026. Shares = line ÷ $13,597 million, one decimal. Internet $5,852 million vs $5,930 million (−1.3%). −117,000 is residential Internet net adds; total Internet was −120,000.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A1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536192"/>
          <a:ext cx="77266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572768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71907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1000" b="1" i="0" spc="150" kern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2029968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2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450592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Internet share of $13,597 million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3063240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26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−$78 million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34930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$5,852 vs $5,930 million (−1.3%)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4069080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26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−117,000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52628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Residential Internet customers</a:t>
            </a:r>
          </a:p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Total Internet was −120,000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5321808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Shares from zero. Internet in red; every other line in gray.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1100" b="1" i="0" spc="200" kern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APPENDIX  ·  EH&amp;B — PRINTED Q1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Residential Internet dollars fell $78 million because volume took $87 million and rate put back $9 million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2531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900" b="0" i="1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Source: Printed bridge — Charter Form 10-Q, quarter ended 31 March 2026, residential Internet revenues. FY2025 bridge — Form 10-K. Derived −$90 / +$12 is a cross-check and does not replace the 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A2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691640"/>
          <a:ext cx="7726679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023360"/>
            <a:ext cx="74980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  <a:buNone/>
            </a:pPr>
            <a:r>
              <a:rPr sz="14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Printed 10-Q: volume −$87 million  ·  rate and mix +$9 million  ·  net −$78 million.</a:t>
            </a:r>
          </a:p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Bar length is millions of dollars, from zero. The red bar is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72768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70078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000" b="1" i="0" spc="150" kern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PRINTED 10-Q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95681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−$87 million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28600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Volume — smaller average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5786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+$9 million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90779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Rate and product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18211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Net −$78 million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65760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000" b="1" i="0" spc="120" kern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DERIVED CROSS-CHECK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877056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Rounds to −$90 million and +$12 million (−$89.8 and +$11.8 unrounded).</a:t>
            </a:r>
          </a:p>
          <a:p>
            <a:pPr>
              <a:buNone/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Implied rate $70.72 vs $70.58. These figures do not replace −$87 / +$9.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77316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FY2025, printed in the 10-K</a:t>
            </a:r>
          </a:p>
          <a:p>
            <a:pPr>
              <a:buNone/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Rate +$785 million covered volume −$380 million, net +$405 million, on 393,000 fewer residential Internet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1100" b="1" i="0" spc="200" kern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APPENDIX  ·  EH&amp;B — PLANT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014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Company take is 54.0% of 58.7 million passings; rural take is 38.1% after $7.7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2531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900" b="0" i="1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Source: 54.0% = 31,683 ÷ 58,661 thousand estimated passings, Ex99.1, 31 March 2026 (table is 58.661 million). Rural 38.1% = 527 ÷ 1,385 thousand, Q1 2026 trending. $7.7 billion subsidized rural construction, FY2025 10-K, 2022 through 31 Dec 2025. $93.8 billion and 4.18× are 30 June 2026, labeled later public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buNone/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A3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627632"/>
          <a:ext cx="7726679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94760"/>
            <a:ext cx="74980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Bars are penetration of passings, from zero to 100%. Red is rural take on plant already lit.</a:t>
            </a:r>
          </a:p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Q2 2026, later public fact: 53.4% on 58.981 million passings. Same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72768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70078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000" b="1" i="0" spc="150" kern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ON THE PLANT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956816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54.0%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2860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31,683 ÷ 58,661 thousand relationships / passings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697480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38.1%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30358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527 ÷ 1,385 thousand rural relationships / lit passings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45643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$7.7 billion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785615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Subsidized rural construction since 2022, through 31 Dec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422452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1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Left blank — not disclosed</a:t>
            </a:r>
          </a:p>
          <a:p>
            <a:pPr>
              <a:spcAft>
                <a:spcPts val="100"/>
              </a:spcAft>
              <a:buNone/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Contribution per incremental Internet account</a:t>
            </a:r>
          </a:p>
          <a:p>
            <a:pPr>
              <a:buNone/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Consumer acquisition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828032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sz="11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$93.8 billion principal and 4.18× at 30 June 2026 (later public fact). This density is not a price match, and it is not a reason to build more rural miles.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EH&amp;B Executive Summary — appendix</dc:title>
  <dc:subject>Appendix slides for copy into the final deck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