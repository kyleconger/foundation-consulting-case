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40080" y="329184"/>
            <a:ext cx="10911840" cy="237744"/>
          </a:xfrm>
          <a:prstGeom prst="rect">
            <a:avLst/>
          </a:prstGeom>
          <a:noFill/>
        </p:spPr>
        <p:txBody>
          <a:bodyPr wrap="square" lIns="0" rIns="0" tIns="0" bIns="0" anchor="t"/>
          <a:lstStyle/>
          <a:p>
            <a:pPr algn="l">
              <a:spcBef>
                <a:spcPts val="0"/>
              </a:spcBef>
              <a:spcAft>
                <a:spcPts val="0"/>
              </a:spcAft>
            </a:pPr>
            <a:r>
              <a:rPr sz="1200" b="1" i="0" spc="140">
                <a:solidFill>
                  <a:srgbClr val="6A6A6A"/>
                </a:solidFill>
                <a:latin typeface="Calibri"/>
              </a:rPr>
              <a:t>APPENDIX  ·  EH&amp;B — PRINTED Q1 BRIDGE</a:t>
            </a:r>
          </a:p>
        </p:txBody>
      </p:sp>
      <p:sp>
        <p:nvSpPr>
          <p:cNvPr id="3" name="Title"/>
          <p:cNvSpPr txBox="1"/>
          <p:nvPr/>
        </p:nvSpPr>
        <p:spPr>
          <a:xfrm>
            <a:off x="640080" y="621792"/>
            <a:ext cx="10911840" cy="1115568"/>
          </a:xfrm>
          <a:prstGeom prst="rect">
            <a:avLst/>
          </a:prstGeom>
          <a:noFill/>
        </p:spPr>
        <p:txBody>
          <a:bodyPr wrap="square" lIns="0" rIns="0" tIns="0" bIns="0" anchor="t"/>
          <a:lstStyle/>
          <a:p>
            <a:pPr algn="l">
              <a:lnSpc>
                <a:spcPts val="3800"/>
              </a:lnSpc>
              <a:spcBef>
                <a:spcPts val="0"/>
              </a:spcBef>
              <a:spcAft>
                <a:spcPts val="0"/>
              </a:spcAft>
            </a:pPr>
            <a:r>
              <a:rPr sz="3200" b="1">
                <a:solidFill>
                  <a:srgbClr val="1A1A1A"/>
                </a:solidFill>
                <a:latin typeface="Calibri"/>
              </a:rPr>
              <a:t>Residential Internet dollars fell $78 million because </a:t>
            </a:r>
            <a:br/>
            <a:r>
              <a:rPr sz="3200" b="1">
                <a:solidFill>
                  <a:srgbClr val="1A1A1A"/>
                </a:solidFill>
                <a:latin typeface="Calibri"/>
              </a:rPr>
              <a:t>volume took $87 million and rate put back $9 million</a:t>
            </a:r>
          </a:p>
        </p:txBody>
      </p:sp>
      <p:sp>
        <p:nvSpPr>
          <p:cNvPr id="4" name="Zero baseline"/>
          <p:cNvSpPr/>
          <p:nvPr/>
        </p:nvSpPr>
        <p:spPr>
          <a:xfrm>
            <a:off x="640080" y="4767072"/>
            <a:ext cx="10911840" cy="15875"/>
          </a:xfrm>
          <a:prstGeom prst="rect">
            <a:avLst/>
          </a:prstGeom>
          <a:solidFill>
            <a:srgbClr val="B5B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Zero label"/>
          <p:cNvSpPr txBox="1"/>
          <p:nvPr/>
        </p:nvSpPr>
        <p:spPr>
          <a:xfrm>
            <a:off x="640080" y="4565904"/>
            <a:ext cx="274320" cy="182880"/>
          </a:xfrm>
          <a:prstGeom prst="rect">
            <a:avLst/>
          </a:prstGeom>
          <a:noFill/>
        </p:spPr>
        <p:txBody>
          <a:bodyPr wrap="square" lIns="0" rIns="0" tIns="0" bIns="0" anchor="ctr"/>
          <a:lstStyle/>
          <a:p>
            <a:pPr algn="l">
              <a:spcBef>
                <a:spcPts val="0"/>
              </a:spcBef>
              <a:spcAft>
                <a:spcPts val="0"/>
              </a:spcAft>
            </a:pPr>
            <a:r>
              <a:rPr sz="1100" b="0" i="0">
                <a:solidFill>
                  <a:srgbClr val="6A6A6A"/>
                </a:solidFill>
                <a:latin typeface="Calibri"/>
              </a:rPr>
              <a:t>0</a:t>
            </a:r>
          </a:p>
        </p:txBody>
      </p:sp>
      <p:sp>
        <p:nvSpPr>
          <p:cNvPr id="6" name="Bar volume"/>
          <p:cNvSpPr/>
          <p:nvPr/>
        </p:nvSpPr>
        <p:spPr>
          <a:xfrm>
            <a:off x="1763776" y="2414016"/>
            <a:ext cx="1170432" cy="2353056"/>
          </a:xfrm>
          <a:prstGeom prst="rect">
            <a:avLst/>
          </a:prstGeom>
          <a:solidFill>
            <a:srgbClr val="8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igure volume"/>
          <p:cNvSpPr txBox="1"/>
          <p:nvPr/>
        </p:nvSpPr>
        <p:spPr>
          <a:xfrm>
            <a:off x="640080" y="1883664"/>
            <a:ext cx="3417824" cy="457200"/>
          </a:xfrm>
          <a:prstGeom prst="rect">
            <a:avLst/>
          </a:prstGeom>
          <a:noFill/>
        </p:spPr>
        <p:txBody>
          <a:bodyPr wrap="square" lIns="0" rIns="0" tIns="0" bIns="0" anchor="b"/>
          <a:lstStyle/>
          <a:p>
            <a:pPr algn="ctr">
              <a:spcBef>
                <a:spcPts val="0"/>
              </a:spcBef>
              <a:spcAft>
                <a:spcPts val="0"/>
              </a:spcAft>
            </a:pPr>
            <a:r>
              <a:rPr sz="3000" b="1" i="0">
                <a:solidFill>
                  <a:srgbClr val="8C1C1C"/>
                </a:solidFill>
                <a:latin typeface="Calibri"/>
              </a:rPr>
              <a:t>−$87 million</a:t>
            </a:r>
          </a:p>
        </p:txBody>
      </p:sp>
      <p:sp>
        <p:nvSpPr>
          <p:cNvPr id="8" name="Role volume"/>
          <p:cNvSpPr txBox="1"/>
          <p:nvPr/>
        </p:nvSpPr>
        <p:spPr>
          <a:xfrm>
            <a:off x="640080" y="4874387"/>
            <a:ext cx="3417824" cy="256032"/>
          </a:xfrm>
          <a:prstGeom prst="rect">
            <a:avLst/>
          </a:prstGeom>
          <a:noFill/>
        </p:spPr>
        <p:txBody>
          <a:bodyPr wrap="square" lIns="0" rIns="0" tIns="0" bIns="0" anchor="t"/>
          <a:lstStyle/>
          <a:p>
            <a:pPr algn="ctr">
              <a:spcBef>
                <a:spcPts val="0"/>
              </a:spcBef>
              <a:spcAft>
                <a:spcPts val="0"/>
              </a:spcAft>
            </a:pPr>
            <a:r>
              <a:rPr sz="1500" b="1" i="0">
                <a:solidFill>
                  <a:srgbClr val="8C1C1C"/>
                </a:solidFill>
                <a:latin typeface="Calibri"/>
              </a:rPr>
              <a:t>Volume</a:t>
            </a:r>
          </a:p>
        </p:txBody>
      </p:sp>
      <p:sp>
        <p:nvSpPr>
          <p:cNvPr id="9" name="Detail volume"/>
          <p:cNvSpPr txBox="1"/>
          <p:nvPr/>
        </p:nvSpPr>
        <p:spPr>
          <a:xfrm>
            <a:off x="640080" y="5130419"/>
            <a:ext cx="3417824" cy="438912"/>
          </a:xfrm>
          <a:prstGeom prst="rect">
            <a:avLst/>
          </a:prstGeom>
          <a:noFill/>
        </p:spPr>
        <p:txBody>
          <a:bodyPr wrap="square" lIns="0" rIns="0" tIns="0" bIns="0" anchor="t"/>
          <a:lstStyle/>
          <a:p>
            <a:pPr algn="ctr">
              <a:lnSpc>
                <a:spcPct val="105000"/>
              </a:lnSpc>
              <a:spcBef>
                <a:spcPts val="0"/>
              </a:spcBef>
              <a:spcAft>
                <a:spcPts val="0"/>
              </a:spcAft>
            </a:pPr>
            <a:r>
              <a:rPr sz="1200" b="0" i="0">
                <a:solidFill>
                  <a:srgbClr val="4A4A4A"/>
                </a:solidFill>
                <a:latin typeface="Calibri"/>
              </a:rPr>
              <a:t>Decrease in average residential Internet customers.</a:t>
            </a:r>
          </a:p>
        </p:txBody>
      </p:sp>
      <p:sp>
        <p:nvSpPr>
          <p:cNvPr id="10" name="Bar rate"/>
          <p:cNvSpPr/>
          <p:nvPr/>
        </p:nvSpPr>
        <p:spPr>
          <a:xfrm>
            <a:off x="5510784" y="4523652"/>
            <a:ext cx="1170432" cy="243420"/>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igure rate"/>
          <p:cNvSpPr txBox="1"/>
          <p:nvPr/>
        </p:nvSpPr>
        <p:spPr>
          <a:xfrm>
            <a:off x="4387088" y="3993300"/>
            <a:ext cx="3417824" cy="457200"/>
          </a:xfrm>
          <a:prstGeom prst="rect">
            <a:avLst/>
          </a:prstGeom>
          <a:noFill/>
        </p:spPr>
        <p:txBody>
          <a:bodyPr wrap="square" lIns="0" rIns="0" tIns="0" bIns="0" anchor="b"/>
          <a:lstStyle/>
          <a:p>
            <a:pPr algn="ctr">
              <a:spcBef>
                <a:spcPts val="0"/>
              </a:spcBef>
              <a:spcAft>
                <a:spcPts val="0"/>
              </a:spcAft>
            </a:pPr>
            <a:r>
              <a:rPr sz="3000" b="1" i="0">
                <a:solidFill>
                  <a:srgbClr val="5C5C5C"/>
                </a:solidFill>
                <a:latin typeface="Calibri"/>
              </a:rPr>
              <a:t>+$9 million</a:t>
            </a:r>
          </a:p>
        </p:txBody>
      </p:sp>
      <p:sp>
        <p:nvSpPr>
          <p:cNvPr id="12" name="Role rate"/>
          <p:cNvSpPr txBox="1"/>
          <p:nvPr/>
        </p:nvSpPr>
        <p:spPr>
          <a:xfrm>
            <a:off x="4387088" y="4874387"/>
            <a:ext cx="3417824" cy="256032"/>
          </a:xfrm>
          <a:prstGeom prst="rect">
            <a:avLst/>
          </a:prstGeom>
          <a:noFill/>
        </p:spPr>
        <p:txBody>
          <a:bodyPr wrap="square" lIns="0" rIns="0" tIns="0" bIns="0" anchor="t"/>
          <a:lstStyle/>
          <a:p>
            <a:pPr algn="ctr">
              <a:spcBef>
                <a:spcPts val="0"/>
              </a:spcBef>
              <a:spcAft>
                <a:spcPts val="0"/>
              </a:spcAft>
            </a:pPr>
            <a:r>
              <a:rPr sz="1500" b="1" i="0">
                <a:solidFill>
                  <a:srgbClr val="5C5C5C"/>
                </a:solidFill>
                <a:latin typeface="Calibri"/>
              </a:rPr>
              <a:t>Rate and product mix</a:t>
            </a:r>
          </a:p>
        </p:txBody>
      </p:sp>
      <p:sp>
        <p:nvSpPr>
          <p:cNvPr id="13" name="Detail rate"/>
          <p:cNvSpPr txBox="1"/>
          <p:nvPr/>
        </p:nvSpPr>
        <p:spPr>
          <a:xfrm>
            <a:off x="4387088" y="5130419"/>
            <a:ext cx="3417824" cy="438912"/>
          </a:xfrm>
          <a:prstGeom prst="rect">
            <a:avLst/>
          </a:prstGeom>
          <a:noFill/>
        </p:spPr>
        <p:txBody>
          <a:bodyPr wrap="square" lIns="0" rIns="0" tIns="0" bIns="0" anchor="t"/>
          <a:lstStyle/>
          <a:p>
            <a:pPr algn="ctr">
              <a:lnSpc>
                <a:spcPct val="105000"/>
              </a:lnSpc>
              <a:spcBef>
                <a:spcPts val="0"/>
              </a:spcBef>
              <a:spcAft>
                <a:spcPts val="0"/>
              </a:spcAft>
            </a:pPr>
            <a:r>
              <a:rPr sz="1200" b="0" i="0">
                <a:solidFill>
                  <a:srgbClr val="4A4A4A"/>
                </a:solidFill>
                <a:latin typeface="Calibri"/>
              </a:rPr>
              <a:t>Promotional rate step-ups, rate adjustments, and a favorable change in bundled revenue allocation.</a:t>
            </a:r>
          </a:p>
        </p:txBody>
      </p:sp>
      <p:sp>
        <p:nvSpPr>
          <p:cNvPr id="14" name="Bar net"/>
          <p:cNvSpPr/>
          <p:nvPr/>
        </p:nvSpPr>
        <p:spPr>
          <a:xfrm>
            <a:off x="9257792" y="2657436"/>
            <a:ext cx="1170432" cy="2109636"/>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igure net"/>
          <p:cNvSpPr txBox="1"/>
          <p:nvPr/>
        </p:nvSpPr>
        <p:spPr>
          <a:xfrm>
            <a:off x="8134096" y="2127084"/>
            <a:ext cx="3417824" cy="457200"/>
          </a:xfrm>
          <a:prstGeom prst="rect">
            <a:avLst/>
          </a:prstGeom>
          <a:noFill/>
        </p:spPr>
        <p:txBody>
          <a:bodyPr wrap="square" lIns="0" rIns="0" tIns="0" bIns="0" anchor="b"/>
          <a:lstStyle/>
          <a:p>
            <a:pPr algn="ctr">
              <a:spcBef>
                <a:spcPts val="0"/>
              </a:spcBef>
              <a:spcAft>
                <a:spcPts val="0"/>
              </a:spcAft>
            </a:pPr>
            <a:r>
              <a:rPr sz="3000" b="1" i="0">
                <a:solidFill>
                  <a:srgbClr val="1A1A1A"/>
                </a:solidFill>
                <a:latin typeface="Calibri"/>
              </a:rPr>
              <a:t>−$78 million</a:t>
            </a:r>
          </a:p>
        </p:txBody>
      </p:sp>
      <p:sp>
        <p:nvSpPr>
          <p:cNvPr id="16" name="Role net"/>
          <p:cNvSpPr txBox="1"/>
          <p:nvPr/>
        </p:nvSpPr>
        <p:spPr>
          <a:xfrm>
            <a:off x="8134096" y="4874387"/>
            <a:ext cx="3417824" cy="256032"/>
          </a:xfrm>
          <a:prstGeom prst="rect">
            <a:avLst/>
          </a:prstGeom>
          <a:noFill/>
        </p:spPr>
        <p:txBody>
          <a:bodyPr wrap="square" lIns="0" rIns="0" tIns="0" bIns="0" anchor="t"/>
          <a:lstStyle/>
          <a:p>
            <a:pPr algn="ctr">
              <a:spcBef>
                <a:spcPts val="0"/>
              </a:spcBef>
              <a:spcAft>
                <a:spcPts val="0"/>
              </a:spcAft>
            </a:pPr>
            <a:r>
              <a:rPr sz="1500" b="1" i="0">
                <a:solidFill>
                  <a:srgbClr val="1A1A1A"/>
                </a:solidFill>
                <a:latin typeface="Calibri"/>
              </a:rPr>
              <a:t>Net</a:t>
            </a:r>
          </a:p>
        </p:txBody>
      </p:sp>
      <p:sp>
        <p:nvSpPr>
          <p:cNvPr id="17" name="Rule"/>
          <p:cNvSpPr/>
          <p:nvPr/>
        </p:nvSpPr>
        <p:spPr>
          <a:xfrm>
            <a:off x="640080" y="5605907"/>
            <a:ext cx="10911840" cy="9144"/>
          </a:xfrm>
          <a:prstGeom prst="rect">
            <a:avLst/>
          </a:prstGeom>
          <a:solidFill>
            <a:srgbClr val="E3E3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ource"/>
          <p:cNvSpPr txBox="1"/>
          <p:nvPr/>
        </p:nvSpPr>
        <p:spPr>
          <a:xfrm>
            <a:off x="640080" y="5715635"/>
            <a:ext cx="10911840" cy="438912"/>
          </a:xfrm>
          <a:prstGeom prst="rect">
            <a:avLst/>
          </a:prstGeom>
          <a:noFill/>
        </p:spPr>
        <p:txBody>
          <a:bodyPr wrap="square" lIns="0" rIns="0" tIns="0" bIns="0" anchor="t"/>
          <a:lstStyle/>
          <a:p>
            <a:pPr algn="l">
              <a:lnSpc>
                <a:spcPct val="105000"/>
              </a:lnSpc>
              <a:spcBef>
                <a:spcPts val="0"/>
              </a:spcBef>
              <a:spcAft>
                <a:spcPts val="0"/>
              </a:spcAft>
            </a:pPr>
            <a:r>
              <a:rPr sz="1200" b="0" i="0">
                <a:solidFill>
                  <a:srgbClr val="4A4A4A"/>
                </a:solidFill>
                <a:latin typeface="Calibri"/>
              </a:rPr>
              <a:t>Charter Communications Form 10-Q for the quarter ended March 31, 2026. Management’s Discussion and Analysis, Revenues. Residential Internet revenue bridge, three months ended March 31, 2026 compared with three months ended March 31, 2025. Dollars in millions. Internet revenue $5,852 million versus $5,930 million.</a:t>
            </a:r>
          </a:p>
        </p:txBody>
      </p:sp>
      <p:sp>
        <p:nvSpPr>
          <p:cNvPr id="19" name="Footnote"/>
          <p:cNvSpPr txBox="1"/>
          <p:nvPr/>
        </p:nvSpPr>
        <p:spPr>
          <a:xfrm>
            <a:off x="640080" y="6191123"/>
            <a:ext cx="10911840" cy="188976"/>
          </a:xfrm>
          <a:prstGeom prst="rect">
            <a:avLst/>
          </a:prstGeom>
          <a:noFill/>
        </p:spPr>
        <p:txBody>
          <a:bodyPr wrap="square" lIns="0" rIns="0" tIns="0" bIns="0" anchor="t"/>
          <a:lstStyle/>
          <a:p>
            <a:pPr algn="l">
              <a:spcBef>
                <a:spcPts val="0"/>
              </a:spcBef>
              <a:spcAft>
                <a:spcPts val="0"/>
              </a:spcAft>
            </a:pPr>
            <a:r>
              <a:rPr sz="1000" b="0" i="1">
                <a:solidFill>
                  <a:srgbClr val="6A6A6A"/>
                </a:solidFill>
                <a:latin typeface="Calibri"/>
              </a:rPr>
              <a:t>A derived cross-check of about −$90 million and +$12 million does not replace these printed figures.</a:t>
            </a:r>
          </a:p>
        </p:txBody>
      </p:sp>
      <p:sp>
        <p:nvSpPr>
          <p:cNvPr id="20" name="Footer"/>
          <p:cNvSpPr txBox="1"/>
          <p:nvPr/>
        </p:nvSpPr>
        <p:spPr>
          <a:xfrm>
            <a:off x="640080" y="6434963"/>
            <a:ext cx="10911840" cy="219456"/>
          </a:xfrm>
          <a:prstGeom prst="rect">
            <a:avLst/>
          </a:prstGeom>
          <a:noFill/>
        </p:spPr>
        <p:txBody>
          <a:bodyPr wrap="square" lIns="0" rIns="0" tIns="0" bIns="0" anchor="t"/>
          <a:lstStyle/>
          <a:p>
            <a:pPr algn="l">
              <a:spcBef>
                <a:spcPts val="0"/>
              </a:spcBef>
              <a:spcAft>
                <a:spcPts val="0"/>
              </a:spcAft>
            </a:pPr>
            <a:r>
              <a:rPr sz="1200" b="0" i="0">
                <a:solidFill>
                  <a:srgbClr val="6A6A6A"/>
                </a:solidFill>
                <a:latin typeface="Calibri"/>
              </a:rPr>
              <a:t>Charter Communications (CHTR)  ·  Appendix  ·  Q1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