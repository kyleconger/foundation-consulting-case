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Five specified gates; none has a Charter channel number. M1 numerator blank. M2 44% is Form 5500 compensation, not lives. M5 has no employee-level number. M9 splits into M9a (who pays) and M9b (who enrolls); SHRM 2017 5% is an offer rate. M13 = P − E − D. Q1 2026 residential Internet −117,000 is the company print, not this channel. Do not fill blanks with take-up, a serviceable-home percent, broker lives by state, or a channel account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0072CE"/>
                </a:solidFill>
                <a:latin typeface="Calibri"/>
                <a:ea typeface="Calibri"/>
                <a:cs typeface="Calibri"/>
              </a:rPr>
              <a:t>APPENDIX  ·  BROKERAGE METRICS BREAKDOWN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66928"/>
            <a:ext cx="11155680" cy="420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Five gates are specified; none yet has a Charter channel number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05840"/>
            <a:ext cx="11155680" cy="500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5B6672"/>
                </a:solidFill>
                <a:latin typeface="Calibri"/>
                <a:ea typeface="Calibri"/>
                <a:cs typeface="Calibri"/>
              </a:rPr>
              <a:t>M9a is who pays and M9b is who enrolls. M13 = P − E − D: path-tagged provisions minus already-Spectrum accounts minus same-window job-exit disconnects.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" y="1554480"/>
            <a:ext cx="3291840" cy="200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72CE"/>
                </a:solidFill>
                <a:latin typeface="Calibri"/>
                <a:ea typeface="Calibri"/>
                <a:cs typeface="Calibri"/>
              </a:rPr>
              <a:t>METRIC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032504" y="1554480"/>
            <a:ext cx="3108960" cy="200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72CE"/>
                </a:solidFill>
                <a:latin typeface="Calibri"/>
                <a:ea typeface="Calibri"/>
                <a:cs typeface="Calibri"/>
              </a:rPr>
              <a:t>VERDICT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32904" y="1554480"/>
            <a:ext cx="4325112" cy="200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0072CE"/>
                </a:solidFill>
                <a:latin typeface="Calibri"/>
                <a:ea typeface="Calibri"/>
                <a:cs typeface="Calibri"/>
              </a:rPr>
              <a:t>NOT THE CHANNEL NUMBER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783080"/>
            <a:ext cx="11201400" cy="69665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" y="1783080"/>
            <a:ext cx="3291840" cy="696657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72CE"/>
                </a:solidFill>
                <a:latin typeface="Calibri"/>
                <a:ea typeface="Calibri"/>
                <a:cs typeface="Calibri"/>
              </a:rPr>
              <a:t>M1   </a:t>
            </a:r>
            <a:r>
              <a:rPr sz="14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Broker-placed covered lives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32504" y="1783080"/>
            <a:ext cx="3108960" cy="696657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Valid — numerator blank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32904" y="1783080"/>
            <a:ext cx="4325112" cy="696657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2"/>
                </a:solidFill>
                <a:latin typeface="Calibri"/>
                <a:ea typeface="Calibri"/>
                <a:cs typeface="Calibri"/>
              </a:rPr>
              <a:t>Specified lives count is </a:t>
            </a:r>
            <a:r>
              <a:rPr sz="1200" b="1" i="0">
                <a:solidFill>
                  <a:srgbClr val="C8102E"/>
                </a:solidFill>
                <a:latin typeface="Calibri"/>
                <a:ea typeface="Calibri"/>
                <a:cs typeface="Calibri"/>
              </a:rPr>
              <a:t>blank</a:t>
            </a:r>
            <a:r>
              <a:rPr sz="1200" b="0" i="0">
                <a:solidFill>
                  <a:srgbClr val="5B6672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525457"/>
            <a:ext cx="11201400" cy="69665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2525457"/>
            <a:ext cx="3291840" cy="696657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72CE"/>
                </a:solidFill>
                <a:latin typeface="Calibri"/>
                <a:ea typeface="Calibri"/>
                <a:cs typeface="Calibri"/>
              </a:rPr>
              <a:t>M2   </a:t>
            </a:r>
            <a:r>
              <a:rPr sz="14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Large-broker concentration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32504" y="2525457"/>
            <a:ext cx="3108960" cy="696657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Valid — wrong unit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2904" y="2525457"/>
            <a:ext cx="4325112" cy="696657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8102E"/>
                </a:solidFill>
                <a:latin typeface="Calibri"/>
                <a:ea typeface="Calibri"/>
                <a:cs typeface="Calibri"/>
              </a:rPr>
              <a:t>44%</a:t>
            </a:r>
            <a:r>
              <a:rPr sz="1200" b="0" i="0">
                <a:solidFill>
                  <a:srgbClr val="5B6672"/>
                </a:solidFill>
                <a:latin typeface="Calibri"/>
                <a:ea typeface="Calibri"/>
                <a:cs typeface="Calibri"/>
              </a:rPr>
              <a:t> is PlanOptica top-10 Form 5500 compensation, not lives.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267834"/>
            <a:ext cx="11201400" cy="69665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" y="3267834"/>
            <a:ext cx="3291840" cy="696657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72CE"/>
                </a:solidFill>
                <a:latin typeface="Calibri"/>
                <a:ea typeface="Calibri"/>
                <a:cs typeface="Calibri"/>
              </a:rPr>
              <a:t>M5   </a:t>
            </a:r>
            <a:r>
              <a:rPr sz="14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Serviceable-home share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032504" y="3267834"/>
            <a:ext cx="3108960" cy="696657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Valid — no number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32904" y="3267834"/>
            <a:ext cx="4325112" cy="696657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C8102E"/>
                </a:solidFill>
                <a:latin typeface="Calibri"/>
                <a:ea typeface="Calibri"/>
                <a:cs typeface="Calibri"/>
              </a:rPr>
              <a:t>No employee-level number.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" y="4010211"/>
            <a:ext cx="11201400" cy="69665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" y="4010211"/>
            <a:ext cx="3291840" cy="696657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72CE"/>
                </a:solidFill>
                <a:latin typeface="Calibri"/>
                <a:ea typeface="Calibri"/>
                <a:cs typeface="Calibri"/>
              </a:rPr>
              <a:t>M9   </a:t>
            </a:r>
            <a:r>
              <a:rPr sz="14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Payor model and take-up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32504" y="4010211"/>
            <a:ext cx="3108960" cy="696657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Needs split M9a / M9b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32904" y="4010211"/>
            <a:ext cx="4325112" cy="696657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2"/>
                </a:solidFill>
                <a:latin typeface="Calibri"/>
                <a:ea typeface="Calibri"/>
                <a:cs typeface="Calibri"/>
              </a:rPr>
              <a:t>SHRM 2017 </a:t>
            </a:r>
            <a:r>
              <a:rPr sz="1200" b="1" i="0">
                <a:solidFill>
                  <a:srgbClr val="C8102E"/>
                </a:solidFill>
                <a:latin typeface="Calibri"/>
                <a:ea typeface="Calibri"/>
                <a:cs typeface="Calibri"/>
              </a:rPr>
              <a:t>5%</a:t>
            </a:r>
            <a:r>
              <a:rPr sz="1200" b="0" i="0">
                <a:solidFill>
                  <a:srgbClr val="5B6672"/>
                </a:solidFill>
                <a:latin typeface="Calibri"/>
                <a:ea typeface="Calibri"/>
                <a:cs typeface="Calibri"/>
              </a:rPr>
              <a:t> is an employer offer rate, not take-up.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752588"/>
            <a:ext cx="11201400" cy="696657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9224" y="4752588"/>
            <a:ext cx="3291840" cy="696657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072CE"/>
                </a:solidFill>
                <a:latin typeface="Calibri"/>
                <a:ea typeface="Calibri"/>
                <a:cs typeface="Calibri"/>
              </a:rPr>
              <a:t>M13   </a:t>
            </a:r>
            <a:r>
              <a:rPr sz="14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Net-new residential accounts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32504" y="4752588"/>
            <a:ext cx="3108960" cy="696657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Valid — M13 = P − E − 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32904" y="4752588"/>
            <a:ext cx="4325112" cy="696657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672"/>
                </a:solidFill>
                <a:latin typeface="Calibri"/>
                <a:ea typeface="Calibri"/>
                <a:cs typeface="Calibri"/>
              </a:rPr>
              <a:t>Channel count is </a:t>
            </a:r>
            <a:r>
              <a:rPr sz="1200" b="1" i="0">
                <a:solidFill>
                  <a:srgbClr val="C8102E"/>
                </a:solidFill>
                <a:latin typeface="Calibri"/>
                <a:ea typeface="Calibri"/>
                <a:cs typeface="Calibri"/>
              </a:rPr>
              <a:t>blank</a:t>
            </a:r>
            <a:r>
              <a:rPr sz="1200" b="0" i="0">
                <a:solidFill>
                  <a:srgbClr val="5B6672"/>
                </a:solidFill>
                <a:latin typeface="Calibri"/>
                <a:ea typeface="Calibri"/>
                <a:cs typeface="Calibri"/>
              </a:rPr>
              <a:t>. </a:t>
            </a:r>
            <a:r>
              <a:rPr sz="1200" b="1" i="0">
                <a:solidFill>
                  <a:srgbClr val="C8102E"/>
                </a:solidFill>
                <a:latin typeface="Calibri"/>
                <a:ea typeface="Calibri"/>
                <a:cs typeface="Calibri"/>
              </a:rPr>
              <a:t>−117,000</a:t>
            </a:r>
            <a:r>
              <a:rPr sz="1200" b="0" i="0">
                <a:solidFill>
                  <a:srgbClr val="5B6672"/>
                </a:solidFill>
                <a:latin typeface="Calibri"/>
                <a:ea typeface="Calibri"/>
                <a:cs typeface="Calibri"/>
              </a:rPr>
              <a:t> is Q1 2026 company residential Internet, not this channel.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2920" y="5522400"/>
            <a:ext cx="11201400" cy="457200"/>
          </a:xfrm>
          <a:prstGeom prst="roundRect">
            <a:avLst>
              <a:gd name="adj" fmla="val 8000"/>
            </a:avLst>
          </a:prstGeom>
          <a:solidFill>
            <a:srgbClr val="0B1F3A"/>
          </a:solidFill>
          <a:ln w="12700">
            <a:solidFill>
              <a:srgbClr val="D7E0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552240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Blank cells stay blank.  </a:t>
            </a:r>
            <a:r>
              <a:rPr sz="1300" b="0" i="0">
                <a:solidFill>
                  <a:srgbClr val="DCE9F7"/>
                </a:solidFill>
                <a:latin typeface="Calibri"/>
                <a:ea typeface="Calibri"/>
                <a:cs typeface="Calibri"/>
              </a:rPr>
              <a:t>Charter take-up, serviceable-home percent, broker lives by state, and the channel account count.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144768"/>
            <a:ext cx="11155680" cy="256032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4A0"/>
                </a:solidFill>
                <a:latin typeface="Calibri"/>
                <a:ea typeface="Calibri"/>
                <a:cs typeface="Calibri"/>
              </a:rPr>
              <a:t>Source: Decisions/EH&amp;B/MASTER.xlsx · BrkDn-Score, BrkDn-M1, BrkDn-M2, BrkDn-M5, BrkDn-M9, BrkDn-M13, BrkDn-Analogues · 21 Sep 2026. PlanOptica Form 5500; SHRM 2017; Ex99.1 Q1 2026.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446520"/>
            <a:ext cx="1088136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94A0"/>
                </a:solidFill>
                <a:latin typeface="Calibri"/>
                <a:ea typeface="Calibri"/>
                <a:cs typeface="Calibri"/>
              </a:rPr>
              <a:t>Final Presentation  ·  “Changing the Trajectory”  ·  Charter Communications (CHTR)  ·  Anchored to Q1 2026; Q2 2026 labeled as later public fact where used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567160" y="644652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8A94A0"/>
                </a:solidFill>
                <a:latin typeface="Calibri"/>
                <a:ea typeface="Calibri"/>
                <a:cs typeface="Calibri"/>
              </a:rPr>
              <a:t>A4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