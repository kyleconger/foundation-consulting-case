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EMPLOYMENT SHARES  ·  UNITED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Large firms employ 54.1% of U.S. payroll workers; firms under 500 hold 45.9%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Source: U.S. Census Bureau, Statistics of U.S. Businesses (SUSB) 2022, U.S. all-industry enterprise size. https://www.census.gov/data/datasets/2022/econ/susb/2022-susb.html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0000"/>
            <a:ext cx="54635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5060" y="1780000"/>
            <a:ext cx="5463540" cy="2743200"/>
          </a:xfrm>
          <a:prstGeom prst="roundRect">
            <a:avLst>
              <a:gd name="adj" fmla="val 5714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08600"/>
            <a:ext cx="50977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FIRMS WITH 500 OR 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4360"/>
            <a:ext cx="50977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72CE"/>
                </a:solidFill>
                <a:latin typeface="Calibri"/>
              </a:rPr>
              <a:t>54.1%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3040"/>
            <a:ext cx="50977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Share of U.S. SUSB employment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0240"/>
            <a:ext cx="50977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73,497,851 workers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7940" y="2008600"/>
            <a:ext cx="50977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FIRMS UNDER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374360"/>
            <a:ext cx="50977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B1F3A"/>
                </a:solidFill>
                <a:latin typeface="Calibri"/>
              </a:rPr>
              <a:t>45.9%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3243040"/>
            <a:ext cx="50977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Share of U.S. SUSB employment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3700240"/>
            <a:ext cx="50977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62,250,556 workers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6080"/>
            <a:ext cx="11155680" cy="1301528"/>
          </a:xfrm>
          <a:prstGeom prst="roundRect">
            <a:avLst>
              <a:gd name="adj" fmla="val 5714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43240"/>
            <a:ext cx="10789920" cy="1072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SUSB 2022 total  </a:t>
            </a:r>
            <a:r>
              <a:rPr sz="1300" b="0" i="0">
                <a:solidFill>
                  <a:srgbClr val="5B6672"/>
                </a:solidFill>
                <a:latin typeface="Calibri"/>
              </a:rPr>
              <a:t>135,748,407 payroll workers.  </a:t>
            </a:r>
            <a:r>
              <a:rPr sz="1300" b="0" i="0">
                <a:solidFill>
                  <a:srgbClr val="5B6672"/>
                </a:solidFill>
                <a:latin typeface="Calibri"/>
              </a:rPr>
              <a:t>Primary cut is the SBA threshold: enterprises with fewer than 500 employees.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Mid-March payroll employment at employer establishments, classified by enterprise size, not establishment size. Excludes nonemployers, most government, and most of agriculture.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EMPLOYMENT SHARES  · 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Small-firm share spans 26.7 points, from 66.3% in Montana to 39.6% in Florida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Source: U.S. Census Bureau, SUSB 2022, 50 states and D.C. Highest and lowest 5 of 51. Montana base 398,871 jobs; Florida base 9,628,867. https://www.census.gov/data/datasets/2022/econ/susb/2022-susb.html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680000"/>
            <a:ext cx="6903720" cy="1828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4A0"/>
                </a:solidFill>
                <a:latin typeface="Calibri"/>
              </a:rPr>
              <a:t>Share at firms under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16800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4A0"/>
                </a:solidFill>
                <a:latin typeface="Calibri"/>
              </a:rPr>
              <a:t>Employment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0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2CE"/>
                </a:solidFill>
                <a:latin typeface="Calibri"/>
              </a:rPr>
              <a:t>HIGHEST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72024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72CE"/>
                </a:solidFill>
                <a:latin typeface="Calibri"/>
              </a:rPr>
              <a:t>Montana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140604"/>
            <a:ext cx="4577166" cy="146304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072024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2CE"/>
                </a:solidFill>
                <a:latin typeface="Calibri"/>
              </a:rPr>
              <a:t>66.3%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2072024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398,871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55488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Wyoming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2424068"/>
            <a:ext cx="4501225" cy="146304"/>
          </a:xfrm>
          <a:prstGeom prst="rect">
            <a:avLst/>
          </a:prstGeom>
          <a:solidFill>
            <a:srgbClr val="B7C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355488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65.2%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2355488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208,024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38952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Vermont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707532"/>
            <a:ext cx="4287210" cy="146304"/>
          </a:xfrm>
          <a:prstGeom prst="rect">
            <a:avLst/>
          </a:prstGeom>
          <a:solidFill>
            <a:srgbClr val="B7C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638952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62.1%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2638952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254,471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22416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South Dakota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990996"/>
            <a:ext cx="4004158" cy="146304"/>
          </a:xfrm>
          <a:prstGeom prst="rect">
            <a:avLst/>
          </a:prstGeom>
          <a:solidFill>
            <a:srgbClr val="B7C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922416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58.0%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2922416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373,863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205880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North Dakota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3274460"/>
            <a:ext cx="3976543" cy="146304"/>
          </a:xfrm>
          <a:prstGeom prst="rect">
            <a:avLst/>
          </a:prstGeom>
          <a:solidFill>
            <a:srgbClr val="B7C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205880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57.6%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3205880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342,345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7999" y="35167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2"/>
                </a:solidFill>
                <a:latin typeface="Calibri"/>
              </a:rPr>
              <a:t>U.S. 45.9%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77280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2CE"/>
                </a:solidFill>
                <a:latin typeface="Calibri"/>
              </a:rPr>
              <a:t>LOWEST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964832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Kentucky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4033412"/>
            <a:ext cx="2940985" cy="146304"/>
          </a:xfrm>
          <a:prstGeom prst="rect">
            <a:avLst/>
          </a:prstGeom>
          <a:solidFill>
            <a:srgbClr val="B7C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3964832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42.6%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3964832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1,667,694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248296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Arizona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4316876"/>
            <a:ext cx="2940985" cy="146304"/>
          </a:xfrm>
          <a:prstGeom prst="rect">
            <a:avLst/>
          </a:prstGeom>
          <a:solidFill>
            <a:srgbClr val="B7C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4248296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42.6%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4248296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2,787,701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531760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Georgia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4600340"/>
            <a:ext cx="2934081" cy="146304"/>
          </a:xfrm>
          <a:prstGeom prst="rect">
            <a:avLst/>
          </a:prstGeom>
          <a:solidFill>
            <a:srgbClr val="B7C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4531760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42.5%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4531760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4,249,362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815224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Tennessee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40" y="4883804"/>
            <a:ext cx="2865044" cy="146304"/>
          </a:xfrm>
          <a:prstGeom prst="rect">
            <a:avLst/>
          </a:prstGeom>
          <a:solidFill>
            <a:srgbClr val="B7C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4815224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41.5%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4815224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2,846,881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098688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72CE"/>
                </a:solidFill>
                <a:latin typeface="Calibri"/>
              </a:rPr>
              <a:t>Florida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5167268"/>
            <a:ext cx="2733873" cy="146304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5098688"/>
            <a:ext cx="64008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2CE"/>
                </a:solidFill>
                <a:latin typeface="Calibri"/>
              </a:rPr>
              <a:t>39.6%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5098688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9,628,867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40" y="2140604"/>
            <a:ext cx="9525" cy="3172968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77440" y="540501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3370" y="540501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29300" y="540501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55230" y="540501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540501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100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774847" y="2140604"/>
            <a:ext cx="0" cy="3172968"/>
          </a:xfrm>
          <a:prstGeom prst="line">
            <a:avLst/>
          </a:prstGeom>
          <a:ln w="15875">
            <a:solidFill>
              <a:srgbClr val="5B66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EMPLOYMENT SHARES  ·  METROS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The median metro small-firm share is 49.8%, 3.9 points above the U.S. 45.9%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Source: U.S. Census Bureau, SUSB 2022, median of 387 metropolitan statistical areas (MSA file revised 2025-07-22). https://www.census.gov/data/datasets/2022/econ/susb/2022-susb.html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A1.3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0000"/>
            <a:ext cx="5463540" cy="2743200"/>
          </a:xfrm>
          <a:prstGeom prst="roundRect">
            <a:avLst>
              <a:gd name="adj" fmla="val 5714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5060" y="1780000"/>
            <a:ext cx="54635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08600"/>
            <a:ext cx="50977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METRO 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4360"/>
            <a:ext cx="50977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72CE"/>
                </a:solidFill>
                <a:latin typeface="Calibri"/>
              </a:rPr>
              <a:t>49.8%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3040"/>
            <a:ext cx="50977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Share of employment at firms under 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0240"/>
            <a:ext cx="50977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Median of 387 metropolitan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7940" y="2008600"/>
            <a:ext cx="50977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UNITED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374360"/>
            <a:ext cx="50977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B1F3A"/>
                </a:solidFill>
                <a:latin typeface="Calibri"/>
              </a:rPr>
              <a:t>45.9%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3243040"/>
            <a:ext cx="50977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Share of employment at firms under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3700240"/>
            <a:ext cx="50977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Includes employment outside metros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6080"/>
            <a:ext cx="11155680" cy="1301528"/>
          </a:xfrm>
          <a:prstGeom prst="roundRect">
            <a:avLst>
              <a:gd name="adj" fmla="val 5714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43240"/>
            <a:ext cx="10789920" cy="1072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49.8% − 45.9% = 3.9 points.  </a:t>
            </a:r>
            <a:r>
              <a:rPr sz="1400" b="0" i="0">
                <a:solidFill>
                  <a:srgbClr val="5B6672"/>
                </a:solidFill>
                <a:latin typeface="Calibri"/>
              </a:rPr>
              <a:t>Both figures are SUSB 2022 shares at enterprises with fewer than 500 employees, shown to 1 decimal.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2"/>
                </a:solidFill>
                <a:latin typeface="Calibri"/>
              </a:rPr>
              <a:t>Micro areas are excluded. The national share is not a metro median: it includes non-metro employment.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