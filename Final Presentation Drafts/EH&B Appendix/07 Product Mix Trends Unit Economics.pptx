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200" b="0" i="0">
                <a:solidFill>
                  <a:srgbClr val="0B1F3A"/>
                </a:solidFill>
                <a:latin typeface="Calibri"/>
              </a:rPr>
              <a:t>Share of Q2 2026 company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company revenue</c:v>
                </c:pt>
              </c:strCache>
            </c:strRef>
          </c:tx>
          <c:spPr>
            <a:solidFill>
              <a:srgbClr val="B7C3CE"/>
            </a:solidFill>
          </c:spPr>
          <c:dPt>
            <c:idx val="6"/>
            <c:spPr>
              <a:solidFill>
                <a:srgbClr val="0072CE"/>
              </a:solidFill>
            </c:spPr>
          </c:dPt>
          <c:cat>
            <c:strRef>
              <c:f>Sheet1!$A$2:$A$8</c:f>
              <c:strCache>
                <c:ptCount val="7"/>
                <c:pt idx="0">
                  <c:v>Voice</c:v>
                </c:pt>
                <c:pt idx="1">
                  <c:v>Advertising</c:v>
                </c:pt>
                <c:pt idx="2">
                  <c:v>Other</c:v>
                </c:pt>
                <c:pt idx="3">
                  <c:v>Mobile service</c:v>
                </c:pt>
                <c:pt idx="4">
                  <c:v>Commercial</c:v>
                </c:pt>
                <c:pt idx="5">
                  <c:v>Video</c:v>
                </c:pt>
                <c:pt idx="6">
                  <c:v>Internet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0.0244713884</c:v>
                </c:pt>
                <c:pt idx="1">
                  <c:v>0.0307555818</c:v>
                </c:pt>
                <c:pt idx="2">
                  <c:v>0.0660949283</c:v>
                </c:pt>
                <c:pt idx="3">
                  <c:v>0.0809551974</c:v>
                </c:pt>
                <c:pt idx="4">
                  <c:v>0.1378825965</c:v>
                </c:pt>
                <c:pt idx="5">
                  <c:v>0.2328108827</c:v>
                </c:pt>
                <c:pt idx="6">
                  <c:v>0.4270294248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0">
                  <a:solidFill>
                    <a:srgbClr val="0B1F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5B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b"/>
        <c:majorGridlines>
          <c:spPr>
            <a:ln w="9525">
              <a:solidFill>
                <a:srgbClr val="E3E9F0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5B6672"/>
                </a:solidFill>
                <a:latin typeface="Calibri"/>
              </a:defRPr>
            </a:pPr>
          </a:p>
        </c:txPr>
        <c:crossAx val="-2068027336"/>
        <c:crosses val="autoZero"/>
        <c:majorUnit val="0.1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200" b="0" i="0">
                <a:solidFill>
                  <a:srgbClr val="0B1F3A"/>
                </a:solidFill>
                <a:latin typeface="Calibri"/>
              </a:rPr>
              <a:t>Residential Internet net adds (thousands of customers)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Residential Internet net adds (000s)</c:v>
                </c:pt>
              </c:strCache>
            </c:strRef>
          </c:tx>
          <c:spPr>
            <a:solidFill>
              <a:srgbClr val="C8102E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  <c:pt idx="8">
                  <c:v>Q1'26</c:v>
                </c:pt>
                <c:pt idx="9">
                  <c:v>Q2'26*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-72</c:v>
                </c:pt>
                <c:pt idx="1">
                  <c:v>-154</c:v>
                </c:pt>
                <c:pt idx="2">
                  <c:v>-113</c:v>
                </c:pt>
                <c:pt idx="3">
                  <c:v>-171</c:v>
                </c:pt>
                <c:pt idx="4">
                  <c:v>-55</c:v>
                </c:pt>
                <c:pt idx="5">
                  <c:v>-111</c:v>
                </c:pt>
                <c:pt idx="6">
                  <c:v>-108</c:v>
                </c:pt>
                <c:pt idx="7">
                  <c:v>-119</c:v>
                </c:pt>
                <c:pt idx="8">
                  <c:v>-117</c:v>
                </c:pt>
                <c:pt idx="9">
                  <c:v>-166</c:v>
                </c:pt>
              </c:numCache>
            </c:numRef>
          </c:val>
        </c:ser>
        <c:dLbls>
          <c:numFmt formatCode="#,##0;−#,##0" sourceLinked="0"/>
          <c:txPr>
            <a:bodyPr/>
            <a:lstStyle/>
            <a:p>
              <a:pPr>
                <a:defRPr sz="900" b="0">
                  <a:solidFill>
                    <a:srgbClr val="0B1F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5B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220.0"/>
        </c:scaling>
        <c:delete val="0"/>
        <c:axPos val="l"/>
        <c:majorGridlines>
          <c:spPr>
            <a:ln w="9525">
              <a:solidFill>
                <a:srgbClr val="E3E9F0"/>
              </a:solidFill>
            </a:ln>
          </c:spPr>
        </c:majorGridlines>
        <c:numFmt formatCode="#,##0;−#,##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5B6672"/>
                </a:solidFill>
                <a:latin typeface="Calibri"/>
              </a:defRPr>
            </a:pPr>
          </a:p>
        </c:txPr>
        <c:crossAx val="-2068027336"/>
        <c:crosses val="autoZero"/>
        <c:majorUnit val="55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PRODUCT MIX  · 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Residential Internet was 42.7% of Q2 2026 company revenue, ahead of video at 23.3%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Ex99.1 Q2 2026, Q1 2026, and FY2025. Shares recomputed. Q2 2026 is a later public fact. Residential Internet revenue, $ millions. Analysis, not a launch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A7.1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37360"/>
          <a:ext cx="7498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75320" y="1737360"/>
            <a:ext cx="3429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77360"/>
            <a:ext cx="2971800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37360"/>
            <a:ext cx="2971800" cy="1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Same ratio, three periods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Q1 2026 was 43.0% — $5,852 million of $13,597 million.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FY2025 was 43.4% — $23,765 million of $54,774 million.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Q2 is the exhibit: $5,776 million of $13,526 million.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837360"/>
            <a:ext cx="2971800" cy="2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What the bars include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Internet is 55.8% of residential revenue ($10,351 million). Commercial, advertising, and other stay in the bars so 42.7% is a company share. Mobile service excludes device sales.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Already on the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93.4% of residential relationships already take Internet — 27,358 thousand of 29,276 thousand at 30 Jun 2026. The 1,918 thousand without it are a stock remainder.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PRODUCT TRENDS  · 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Residential Internet net adds stayed negative for 10 straight quarters, to −166,000 in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Ex99.1 operating statistics, 2024Q4–2026Q2; Q1 2026 trending schedule for 2024Q1–2024Q3. Thousands of residential customers. *Q2 2026 is a later public fact. Bars from zero; scale to −220.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A7.2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37360"/>
          <a:ext cx="7498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75320" y="1737360"/>
            <a:ext cx="3429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77360"/>
            <a:ext cx="2971800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57360"/>
            <a:ext cx="2971800" cy="36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Q2 2026: −166,000 residential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Q1 2026: −117,000 residential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Total Internet is a different print: −172,000 in Q2 and −120,000 in Q1, the residential loss plus small business.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Ten-quarter sum: −1,186 thousand residential Internet customers. Mobile added 4,585 thousand lines in the same quarters. A line is a different unit.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Voice stays off this chart. The filing does not print a voice net-add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UNIT ECONOMICS  · 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Principal is $93.8 billion at 4.18x, and no contribution per Internet PSU is 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Q2 2026 Ex99.1 (principal, cash, passings, blended bill); Q2 2026 10-Q (4.18x); FY2025 10-K note 15 and the income statement. Blank rows are withheld. 30 Jun 2026 where 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A7.3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000"/>
            <a:ext cx="11155680" cy="4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Mixed units. $117.52 is quarterly residential revenue ÷ 3 ÷ average relationships: a blended bill. Q1 was $118.44 and Q2 2025 was $119.70, same definition. Internet ARPU is unpublished. Passings include business sites. Programming is a video cost. Blank rows are withheld.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00000"/>
          <a:ext cx="11155680" cy="400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1700000"/>
                <a:gridCol w="2400000"/>
                <a:gridCol w="1450000"/>
                <a:gridCol w="1205680"/>
              </a:tblGrid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80000" marR="60000" marT="28000" marB="28000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80000" marR="60000" marT="28000" marB="28000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anchor="ctr" marL="80000" marR="60000" marT="28000" marB="28000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 marL="80000" marR="60000" marT="28000" marB="28000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anchor="ctr" marL="80000" marR="60000" marT="28000" marB="28000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Monthly residential revenue per residential customer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$117.52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/ month, blended bill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Internet ARPU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$ / month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Video programming costs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8,822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millions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Video programming costs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9,653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millions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FY2024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Programming share of operating costs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26.9%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of $32,739 million opex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Programming share of operating costs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29.1%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of $33,167 million opex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FY2024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Interest expense, net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5,042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millions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Principal amount of debt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72CE"/>
                          </a:solidFill>
                          <a:latin typeface="Calibri"/>
                        </a:rPr>
                        <a:t>$93.8 billion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billions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Net debt / LTM Adjusted EBITDA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72CE"/>
                          </a:solidFill>
                          <a:latin typeface="Calibri"/>
                        </a:rPr>
                        <a:t>4.18x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times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Cash and cash equivalents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$ millions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Estimated passings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58,981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thousands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Customer-relationship penetration of passings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B1F3A"/>
                          </a:solidFill>
                          <a:latin typeface="Calibri"/>
                        </a:rPr>
                        <a:t>53.4%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incl. SMB (31,499 / 58,981)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6672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Contribution per incremental residential Internet PSU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CAC for a residential Internet PSU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Employer or broker take-up of Internet-as-benefit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7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Broker commission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  <a:tr h="222489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1F3A"/>
                          </a:solidFill>
                          <a:latin typeface="Calibri"/>
                        </a:rPr>
                        <a:t>Subsidy tied to this channel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A94A0"/>
                          </a:solidFill>
                          <a:latin typeface="Calibri"/>
                        </a:rPr>
                        <a:t>NOT IN FILING</a:t>
                      </a:r>
                    </a:p>
                  </a:txBody>
                  <a:tcPr anchor="ctr" marL="80000" marR="60000" marT="28000" marB="28000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  <a:prstDash val="soli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EH&amp;B appendix — product mix, trends, and unit economics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