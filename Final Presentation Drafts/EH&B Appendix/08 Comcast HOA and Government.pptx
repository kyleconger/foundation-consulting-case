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37744"/>
            <a:ext cx="10607040" cy="237744"/>
          </a:xfrm>
          <a:prstGeom prst="rect">
            <a:avLst/>
          </a:prstGeom>
          <a:noFill/>
        </p:spPr>
        <p:txBody>
          <a:bodyPr wrap="square" lIns="0" rIns="0" tIns="0" bIns="0"/>
          <a:lstStyle/>
          <a:p>
            <a:pPr algn="l">
              <a:lnSpc>
                <a:spcPct val="100000"/>
              </a:lnSpc>
              <a:spcBef>
                <a:spcPts val="0"/>
              </a:spcBef>
              <a:spcAft>
                <a:spcPts val="0"/>
              </a:spcAft>
            </a:pPr>
            <a:r>
              <a:rPr sz="1100" b="1" i="0" lang="en-US" kern="0" dirty="0" spc="200">
                <a:solidFill>
                  <a:srgbClr val="0072CE"/>
                </a:solidFill>
                <a:latin typeface="Calibri"/>
              </a:rPr>
              <a:t>APPENDIX  ·  XFINITY COMMUNITIES</a:t>
            </a:r>
          </a:p>
        </p:txBody>
      </p:sp>
      <p:sp>
        <p:nvSpPr>
          <p:cNvPr id="3" name="TextBox 2"/>
          <p:cNvSpPr txBox="1"/>
          <p:nvPr/>
        </p:nvSpPr>
        <p:spPr>
          <a:xfrm>
            <a:off x="502920" y="475488"/>
            <a:ext cx="11201400" cy="365760"/>
          </a:xfrm>
          <a:prstGeom prst="rect">
            <a:avLst/>
          </a:prstGeom>
          <a:noFill/>
        </p:spPr>
        <p:txBody>
          <a:bodyPr wrap="square" lIns="0" rIns="0" tIns="0" bIns="0"/>
          <a:lstStyle/>
          <a:p>
            <a:pPr algn="l">
              <a:lnSpc>
                <a:spcPct val="100000"/>
              </a:lnSpc>
              <a:spcBef>
                <a:spcPts val="0"/>
              </a:spcBef>
              <a:spcAft>
                <a:spcPts val="0"/>
              </a:spcAft>
            </a:pPr>
            <a:r>
              <a:rPr sz="2000" b="1" i="0" lang="en-US" kern="0" dirty="0">
                <a:solidFill>
                  <a:srgbClr val="0B1F3A"/>
                </a:solidFill>
                <a:latin typeface="Calibri"/>
              </a:rPr>
              <a:t>Six posted board contracts are bulk deals; five of six are Florida because they were posted</a:t>
            </a:r>
          </a:p>
        </p:txBody>
      </p:sp>
      <p:sp>
        <p:nvSpPr>
          <p:cNvPr id="4" name="TextBox 3"/>
          <p:cNvSpPr txBox="1"/>
          <p:nvPr/>
        </p:nvSpPr>
        <p:spPr>
          <a:xfrm>
            <a:off x="502920" y="6108192"/>
            <a:ext cx="11155680" cy="201168"/>
          </a:xfrm>
          <a:prstGeom prst="rect">
            <a:avLst/>
          </a:prstGeom>
          <a:noFill/>
        </p:spPr>
        <p:txBody>
          <a:bodyPr wrap="square" lIns="0" rIns="0" tIns="0" bIns="0"/>
          <a:lstStyle/>
          <a:p>
            <a:pPr algn="l">
              <a:lnSpc>
                <a:spcPct val="100000"/>
              </a:lnSpc>
              <a:spcBef>
                <a:spcPts val="0"/>
              </a:spcBef>
              <a:spcAft>
                <a:spcPts val="0"/>
              </a:spcAft>
            </a:pPr>
            <a:r>
              <a:rPr sz="900" b="0" i="1" lang="en-US" kern="0" dirty="0">
                <a:solidFill>
                  <a:srgbClr val="8A94A0"/>
                </a:solidFill>
                <a:latin typeface="Calibri"/>
              </a:rPr>
              <a:t>Source: Posted association agreements and the Symphony audit (year ended 31 Dec 2024), retrieved 28 Sep 2026. Comcast FY2025 Form 10-K does not break out bulk, MDU, or community-association revenue.</a:t>
            </a:r>
          </a:p>
        </p:txBody>
      </p:sp>
      <p:sp>
        <p:nvSpPr>
          <p:cNvPr id="5" name="TextBox 4"/>
          <p:cNvSpPr txBox="1"/>
          <p:nvPr/>
        </p:nvSpPr>
        <p:spPr>
          <a:xfrm>
            <a:off x="502920" y="6473952"/>
            <a:ext cx="10698480" cy="237744"/>
          </a:xfrm>
          <a:prstGeom prst="rect">
            <a:avLst/>
          </a:prstGeom>
          <a:noFill/>
        </p:spPr>
        <p:txBody>
          <a:bodyPr wrap="square" lIns="0" rIns="0" tIns="0" bIns="0"/>
          <a:lstStyle/>
          <a:p>
            <a:pPr algn="l">
              <a:lnSpc>
                <a:spcPct val="100000"/>
              </a:lnSpc>
              <a:spcBef>
                <a:spcPts val="0"/>
              </a:spcBef>
              <a:spcAft>
                <a:spcPts val="0"/>
              </a:spcAft>
            </a:pPr>
            <a:r>
              <a:rPr sz="900" b="0" i="0" lang="en-US" kern="0" dirty="0">
                <a:solidFill>
                  <a:srgbClr val="8A94A0"/>
                </a:solidFill>
                <a:latin typeface="Calibri"/>
              </a:rPr>
              <a:t>Appendix  ·  “Changing the Trajectory”  ·  Charter Communications (CHTR)  ·  EH&amp;B</a:t>
            </a:r>
          </a:p>
        </p:txBody>
      </p:sp>
      <p:sp>
        <p:nvSpPr>
          <p:cNvPr id="6" name="TextBox 5"/>
          <p:cNvSpPr txBox="1"/>
          <p:nvPr/>
        </p:nvSpPr>
        <p:spPr>
          <a:xfrm>
            <a:off x="11384280" y="6473952"/>
            <a:ext cx="502920" cy="237744"/>
          </a:xfrm>
          <a:prstGeom prst="rect">
            <a:avLst/>
          </a:prstGeom>
          <a:noFill/>
        </p:spPr>
        <p:txBody>
          <a:bodyPr wrap="square" lIns="0" rIns="0" tIns="0" bIns="0"/>
          <a:lstStyle/>
          <a:p>
            <a:pPr algn="r">
              <a:lnSpc>
                <a:spcPct val="100000"/>
              </a:lnSpc>
              <a:spcBef>
                <a:spcPts val="0"/>
              </a:spcBef>
              <a:spcAft>
                <a:spcPts val="0"/>
              </a:spcAft>
            </a:pPr>
            <a:r>
              <a:rPr sz="1000" b="0" i="0" lang="en-US" kern="0" dirty="0">
                <a:solidFill>
                  <a:srgbClr val="8A94A0"/>
                </a:solidFill>
                <a:latin typeface="Calibri"/>
              </a:rPr>
              <a:t>1</a:t>
            </a:r>
          </a:p>
        </p:txBody>
      </p:sp>
      <p:sp>
        <p:nvSpPr>
          <p:cNvPr id="7" name="Rectangle 6"/>
          <p:cNvSpPr/>
          <p:nvPr/>
        </p:nvSpPr>
        <p:spPr>
          <a:xfrm>
            <a:off x="502920" y="914400"/>
            <a:ext cx="64008" cy="475488"/>
          </a:xfrm>
          <a:prstGeom prst="rect">
            <a:avLst/>
          </a:prstGeom>
          <a:solidFill>
            <a:srgbClr val="0072CE"/>
          </a:solidFill>
          <a:ln>
            <a:noFill/>
          </a:ln>
        </p:spPr>
        <p:txBody>
          <a:bodyPr rtlCol="0" anchor="ctr" wrap="none"/>
          <a:lstStyle/>
          <a:p>
            <a:pPr algn="ctr"/>
          </a:p>
        </p:txBody>
      </p:sp>
      <p:sp>
        <p:nvSpPr>
          <p:cNvPr id="8" name="Rectangle 7"/>
          <p:cNvSpPr/>
          <p:nvPr/>
        </p:nvSpPr>
        <p:spPr>
          <a:xfrm>
            <a:off x="566928" y="914400"/>
            <a:ext cx="11137392" cy="475488"/>
          </a:xfrm>
          <a:prstGeom prst="rect">
            <a:avLst/>
          </a:prstGeom>
          <a:solidFill>
            <a:srgbClr val="F2F6FB"/>
          </a:solidFill>
          <a:ln>
            <a:noFill/>
          </a:ln>
        </p:spPr>
        <p:txBody>
          <a:bodyPr rtlCol="0" anchor="ctr" wrap="none"/>
          <a:lstStyle/>
          <a:p>
            <a:pPr algn="ctr"/>
          </a:p>
        </p:txBody>
      </p:sp>
      <p:sp>
        <p:nvSpPr>
          <p:cNvPr id="9" name="TextBox 8"/>
          <p:cNvSpPr txBox="1"/>
          <p:nvPr/>
        </p:nvSpPr>
        <p:spPr>
          <a:xfrm>
            <a:off x="694944" y="914400"/>
            <a:ext cx="10881360" cy="475488"/>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0B1F3A"/>
                </a:solidFill>
                <a:latin typeface="Calibri"/>
              </a:rPr>
              <a:t>The customer is the association, and a board officer signs. A one-time per-unit payment, where the page prints one, is consideration for access and the contract, not an annual royalty. Pearland is the only single-family HOA.</a:t>
            </a:r>
          </a:p>
        </p:txBody>
      </p:sp>
      <p:sp>
        <p:nvSpPr>
          <p:cNvPr id="10" name="Rectangle 9"/>
          <p:cNvSpPr/>
          <p:nvPr/>
        </p:nvSpPr>
        <p:spPr>
          <a:xfrm>
            <a:off x="502920" y="1481328"/>
            <a:ext cx="11201400" cy="274320"/>
          </a:xfrm>
          <a:prstGeom prst="rect">
            <a:avLst/>
          </a:prstGeom>
          <a:solidFill>
            <a:srgbClr val="0B1F3A"/>
          </a:solidFill>
          <a:ln>
            <a:noFill/>
          </a:ln>
        </p:spPr>
        <p:txBody>
          <a:bodyPr rtlCol="0" anchor="ctr" wrap="none"/>
          <a:lstStyle/>
          <a:p>
            <a:pPr algn="ctr"/>
          </a:p>
        </p:txBody>
      </p:sp>
      <p:sp>
        <p:nvSpPr>
          <p:cNvPr id="11" name="TextBox 10"/>
          <p:cNvSpPr txBox="1"/>
          <p:nvPr/>
        </p:nvSpPr>
        <p:spPr>
          <a:xfrm>
            <a:off x="576072" y="1481328"/>
            <a:ext cx="232257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Property</a:t>
            </a:r>
          </a:p>
        </p:txBody>
      </p:sp>
      <p:sp>
        <p:nvSpPr>
          <p:cNvPr id="12" name="TextBox 11"/>
          <p:cNvSpPr txBox="1"/>
          <p:nvPr/>
        </p:nvSpPr>
        <p:spPr>
          <a:xfrm>
            <a:off x="3044952" y="1481328"/>
            <a:ext cx="420624"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Units</a:t>
            </a:r>
          </a:p>
        </p:txBody>
      </p:sp>
      <p:sp>
        <p:nvSpPr>
          <p:cNvPr id="13" name="TextBox 12"/>
          <p:cNvSpPr txBox="1"/>
          <p:nvPr/>
        </p:nvSpPr>
        <p:spPr>
          <a:xfrm>
            <a:off x="3611880" y="1481328"/>
            <a:ext cx="154533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Buyer</a:t>
            </a:r>
          </a:p>
        </p:txBody>
      </p:sp>
      <p:sp>
        <p:nvSpPr>
          <p:cNvPr id="14" name="TextBox 13"/>
          <p:cNvSpPr txBox="1"/>
          <p:nvPr/>
        </p:nvSpPr>
        <p:spPr>
          <a:xfrm>
            <a:off x="5303520" y="1481328"/>
            <a:ext cx="200253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On the page</a:t>
            </a:r>
          </a:p>
        </p:txBody>
      </p:sp>
      <p:sp>
        <p:nvSpPr>
          <p:cNvPr id="15" name="TextBox 14"/>
          <p:cNvSpPr txBox="1"/>
          <p:nvPr/>
        </p:nvSpPr>
        <p:spPr>
          <a:xfrm>
            <a:off x="7452360" y="1481328"/>
            <a:ext cx="245973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Bargain</a:t>
            </a:r>
          </a:p>
        </p:txBody>
      </p:sp>
      <p:sp>
        <p:nvSpPr>
          <p:cNvPr id="16" name="TextBox 15"/>
          <p:cNvSpPr txBox="1"/>
          <p:nvPr/>
        </p:nvSpPr>
        <p:spPr>
          <a:xfrm>
            <a:off x="10058400" y="1481328"/>
            <a:ext cx="1572768"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To the association</a:t>
            </a:r>
          </a:p>
        </p:txBody>
      </p:sp>
      <p:sp>
        <p:nvSpPr>
          <p:cNvPr id="17" name="Rectangle 16"/>
          <p:cNvSpPr/>
          <p:nvPr/>
        </p:nvSpPr>
        <p:spPr>
          <a:xfrm>
            <a:off x="502920" y="1755648"/>
            <a:ext cx="11201400" cy="392176"/>
          </a:xfrm>
          <a:prstGeom prst="rect">
            <a:avLst/>
          </a:prstGeom>
          <a:solidFill>
            <a:srgbClr val="F2F6FB"/>
          </a:solidFill>
          <a:ln>
            <a:noFill/>
          </a:ln>
        </p:spPr>
        <p:txBody>
          <a:bodyPr rtlCol="0" anchor="ctr" wrap="none"/>
          <a:lstStyle/>
          <a:p>
            <a:pPr algn="ctr"/>
          </a:p>
        </p:txBody>
      </p:sp>
      <p:sp>
        <p:nvSpPr>
          <p:cNvPr id="18" name="TextBox 17"/>
          <p:cNvSpPr txBox="1"/>
          <p:nvPr/>
        </p:nvSpPr>
        <p:spPr>
          <a:xfrm>
            <a:off x="576072" y="1783080"/>
            <a:ext cx="2322576" cy="346456"/>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0B1F3A"/>
                </a:solidFill>
                <a:latin typeface="Calibri"/>
              </a:rPr>
              <a:t>Village Brooke Condominium, Sarasota, FL</a:t>
            </a:r>
          </a:p>
        </p:txBody>
      </p:sp>
      <p:sp>
        <p:nvSpPr>
          <p:cNvPr id="19" name="TextBox 18"/>
          <p:cNvSpPr txBox="1"/>
          <p:nvPr/>
        </p:nvSpPr>
        <p:spPr>
          <a:xfrm>
            <a:off x="3044952" y="1783080"/>
            <a:ext cx="420624"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320</a:t>
            </a:r>
          </a:p>
        </p:txBody>
      </p:sp>
      <p:sp>
        <p:nvSpPr>
          <p:cNvPr id="20" name="TextBox 19"/>
          <p:cNvSpPr txBox="1"/>
          <p:nvPr/>
        </p:nvSpPr>
        <p:spPr>
          <a:xfrm>
            <a:off x="3611880" y="1783080"/>
            <a:ext cx="15453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Condo association. President signs.</a:t>
            </a:r>
          </a:p>
        </p:txBody>
      </p:sp>
      <p:sp>
        <p:nvSpPr>
          <p:cNvPr id="21" name="TextBox 20"/>
          <p:cNvSpPr txBox="1"/>
          <p:nvPr/>
        </p:nvSpPr>
        <p:spPr>
          <a:xfrm>
            <a:off x="5303520" y="1783080"/>
            <a:ext cx="20025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Effective 20 Dec 2025. 6 yr 4 mo, then 2-year renewals.</a:t>
            </a:r>
          </a:p>
        </p:txBody>
      </p:sp>
      <p:sp>
        <p:nvSpPr>
          <p:cNvPr id="22" name="TextBox 21"/>
          <p:cNvSpPr txBox="1"/>
          <p:nvPr/>
        </p:nvSpPr>
        <p:spPr>
          <a:xfrm>
            <a:off x="7452360" y="1783080"/>
            <a:ext cx="24597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Bulk X1 Popular TV and Fast internet. Exclusive marketing and home-run wiring.</a:t>
            </a:r>
          </a:p>
        </p:txBody>
      </p:sp>
      <p:sp>
        <p:nvSpPr>
          <p:cNvPr id="23" name="TextBox 22"/>
          <p:cNvSpPr txBox="1"/>
          <p:nvPr/>
        </p:nvSpPr>
        <p:spPr>
          <a:xfrm>
            <a:off x="10058400" y="1783080"/>
            <a:ext cx="1572768"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$100 / unit ($32,000)</a:t>
            </a:r>
          </a:p>
        </p:txBody>
      </p:sp>
      <p:sp>
        <p:nvSpPr>
          <p:cNvPr id="24" name="TextBox 23"/>
          <p:cNvSpPr txBox="1"/>
          <p:nvPr/>
        </p:nvSpPr>
        <p:spPr>
          <a:xfrm>
            <a:off x="576072" y="2175256"/>
            <a:ext cx="2322576" cy="346456"/>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0B1F3A"/>
                </a:solidFill>
                <a:latin typeface="Calibri"/>
              </a:rPr>
              <a:t>Summerhouse Beach &amp; Racquet Club, St. Augustine, FL</a:t>
            </a:r>
          </a:p>
        </p:txBody>
      </p:sp>
      <p:sp>
        <p:nvSpPr>
          <p:cNvPr id="25" name="TextBox 24"/>
          <p:cNvSpPr txBox="1"/>
          <p:nvPr/>
        </p:nvSpPr>
        <p:spPr>
          <a:xfrm>
            <a:off x="3044952" y="2175256"/>
            <a:ext cx="420624"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256</a:t>
            </a:r>
          </a:p>
        </p:txBody>
      </p:sp>
      <p:sp>
        <p:nvSpPr>
          <p:cNvPr id="26" name="TextBox 25"/>
          <p:cNvSpPr txBox="1"/>
          <p:nvPr/>
        </p:nvSpPr>
        <p:spPr>
          <a:xfrm>
            <a:off x="3611880" y="2175256"/>
            <a:ext cx="15453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Condo association. President signs.</a:t>
            </a:r>
          </a:p>
        </p:txBody>
      </p:sp>
      <p:sp>
        <p:nvSpPr>
          <p:cNvPr id="27" name="TextBox 26"/>
          <p:cNvSpPr txBox="1"/>
          <p:nvPr/>
        </p:nvSpPr>
        <p:spPr>
          <a:xfrm>
            <a:off x="5303520" y="2175256"/>
            <a:ext cx="20025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Effective 15 Jan 2023. 5 yr 7 mo from March 2023.</a:t>
            </a:r>
          </a:p>
        </p:txBody>
      </p:sp>
      <p:sp>
        <p:nvSpPr>
          <p:cNvPr id="28" name="TextBox 27"/>
          <p:cNvSpPr txBox="1"/>
          <p:nvPr/>
        </p:nvSpPr>
        <p:spPr>
          <a:xfrm>
            <a:off x="7452360" y="2175256"/>
            <a:ext cx="24597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Bulk service. Exclusive marketing.</a:t>
            </a:r>
          </a:p>
        </p:txBody>
      </p:sp>
      <p:sp>
        <p:nvSpPr>
          <p:cNvPr id="29" name="TextBox 28"/>
          <p:cNvSpPr txBox="1"/>
          <p:nvPr/>
        </p:nvSpPr>
        <p:spPr>
          <a:xfrm>
            <a:off x="10058400" y="2175256"/>
            <a:ext cx="1572768"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$100 / unit ($25,600)</a:t>
            </a:r>
          </a:p>
        </p:txBody>
      </p:sp>
      <p:sp>
        <p:nvSpPr>
          <p:cNvPr id="30" name="Rectangle 29"/>
          <p:cNvSpPr/>
          <p:nvPr/>
        </p:nvSpPr>
        <p:spPr>
          <a:xfrm>
            <a:off x="502920" y="2540000"/>
            <a:ext cx="11201400" cy="547116"/>
          </a:xfrm>
          <a:prstGeom prst="rect">
            <a:avLst/>
          </a:prstGeom>
          <a:solidFill>
            <a:srgbClr val="F2F6FB"/>
          </a:solidFill>
          <a:ln>
            <a:noFill/>
          </a:ln>
        </p:spPr>
        <p:txBody>
          <a:bodyPr rtlCol="0" anchor="ctr" wrap="none"/>
          <a:lstStyle/>
          <a:p>
            <a:pPr algn="ctr"/>
          </a:p>
        </p:txBody>
      </p:sp>
      <p:sp>
        <p:nvSpPr>
          <p:cNvPr id="31" name="TextBox 30"/>
          <p:cNvSpPr txBox="1"/>
          <p:nvPr/>
        </p:nvSpPr>
        <p:spPr>
          <a:xfrm>
            <a:off x="576072" y="2567432"/>
            <a:ext cx="2322576" cy="501396"/>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0B1F3A"/>
                </a:solidFill>
                <a:latin typeface="Calibri"/>
              </a:rPr>
              <a:t>Aquavista, Panama City Beach, FL</a:t>
            </a:r>
          </a:p>
        </p:txBody>
      </p:sp>
      <p:sp>
        <p:nvSpPr>
          <p:cNvPr id="32" name="TextBox 31"/>
          <p:cNvSpPr txBox="1"/>
          <p:nvPr/>
        </p:nvSpPr>
        <p:spPr>
          <a:xfrm>
            <a:off x="3044952" y="2567432"/>
            <a:ext cx="420624"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84</a:t>
            </a:r>
          </a:p>
        </p:txBody>
      </p:sp>
      <p:sp>
        <p:nvSpPr>
          <p:cNvPr id="33" name="TextBox 32"/>
          <p:cNvSpPr txBox="1"/>
          <p:nvPr/>
        </p:nvSpPr>
        <p:spPr>
          <a:xfrm>
            <a:off x="3611880" y="2567432"/>
            <a:ext cx="1545336"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Owners association.</a:t>
            </a:r>
          </a:p>
        </p:txBody>
      </p:sp>
      <p:sp>
        <p:nvSpPr>
          <p:cNvPr id="34" name="TextBox 33"/>
          <p:cNvSpPr txBox="1"/>
          <p:nvPr/>
        </p:nvSpPr>
        <p:spPr>
          <a:xfrm>
            <a:off x="5303520" y="2567432"/>
            <a:ext cx="2002536"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Effective 15 Jun 2020. Five-year bulk from Sep 2020, then 2-year renewals.</a:t>
            </a:r>
          </a:p>
        </p:txBody>
      </p:sp>
      <p:sp>
        <p:nvSpPr>
          <p:cNvPr id="35" name="TextBox 34"/>
          <p:cNvSpPr txBox="1"/>
          <p:nvPr/>
        </p:nvSpPr>
        <p:spPr>
          <a:xfrm>
            <a:off x="7452360" y="2567432"/>
            <a:ext cx="2459736"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Bulk TV and internet. Exclusive marketing and home-run wiring.</a:t>
            </a:r>
          </a:p>
        </p:txBody>
      </p:sp>
      <p:sp>
        <p:nvSpPr>
          <p:cNvPr id="36" name="TextBox 35"/>
          <p:cNvSpPr txBox="1"/>
          <p:nvPr/>
        </p:nvSpPr>
        <p:spPr>
          <a:xfrm>
            <a:off x="10058400" y="2567432"/>
            <a:ext cx="1572768"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Not printed</a:t>
            </a:r>
          </a:p>
        </p:txBody>
      </p:sp>
      <p:sp>
        <p:nvSpPr>
          <p:cNvPr id="37" name="TextBox 36"/>
          <p:cNvSpPr txBox="1"/>
          <p:nvPr/>
        </p:nvSpPr>
        <p:spPr>
          <a:xfrm>
            <a:off x="576072" y="3114548"/>
            <a:ext cx="2322576" cy="501396"/>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0B1F3A"/>
                </a:solidFill>
                <a:latin typeface="Calibri"/>
              </a:rPr>
              <a:t>BellaVita at Green Tee, Pearland, TX</a:t>
            </a:r>
          </a:p>
        </p:txBody>
      </p:sp>
      <p:sp>
        <p:nvSpPr>
          <p:cNvPr id="38" name="TextBox 37"/>
          <p:cNvSpPr txBox="1"/>
          <p:nvPr/>
        </p:nvSpPr>
        <p:spPr>
          <a:xfrm>
            <a:off x="3044952" y="3114548"/>
            <a:ext cx="420624"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617</a:t>
            </a:r>
          </a:p>
        </p:txBody>
      </p:sp>
      <p:sp>
        <p:nvSpPr>
          <p:cNvPr id="39" name="TextBox 38"/>
          <p:cNvSpPr txBox="1"/>
          <p:nvPr/>
        </p:nvSpPr>
        <p:spPr>
          <a:xfrm>
            <a:off x="3611880" y="3114548"/>
            <a:ext cx="1545336"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Homeowners’ association. President signs.</a:t>
            </a:r>
          </a:p>
        </p:txBody>
      </p:sp>
      <p:sp>
        <p:nvSpPr>
          <p:cNvPr id="40" name="TextBox 39"/>
          <p:cNvSpPr txBox="1"/>
          <p:nvPr/>
        </p:nvSpPr>
        <p:spPr>
          <a:xfrm>
            <a:off x="5303520" y="3114548"/>
            <a:ext cx="2002536"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Effective 1 Apr 2020. Five years through 31 Mar 2025, then 60-day renewals.</a:t>
            </a:r>
          </a:p>
        </p:txBody>
      </p:sp>
      <p:sp>
        <p:nvSpPr>
          <p:cNvPr id="41" name="TextBox 40"/>
          <p:cNvSpPr txBox="1"/>
          <p:nvPr/>
        </p:nvSpPr>
        <p:spPr>
          <a:xfrm>
            <a:off x="7452360" y="3114548"/>
            <a:ext cx="2459736"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Bulk TV and internet. Exclusive marketing. Door-to-door only with consent.</a:t>
            </a:r>
          </a:p>
        </p:txBody>
      </p:sp>
      <p:sp>
        <p:nvSpPr>
          <p:cNvPr id="42" name="TextBox 41"/>
          <p:cNvSpPr txBox="1"/>
          <p:nvPr/>
        </p:nvSpPr>
        <p:spPr>
          <a:xfrm>
            <a:off x="10058400" y="3114548"/>
            <a:ext cx="1572768" cy="50139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Not printed</a:t>
            </a:r>
          </a:p>
        </p:txBody>
      </p:sp>
      <p:sp>
        <p:nvSpPr>
          <p:cNvPr id="43" name="Rectangle 42"/>
          <p:cNvSpPr/>
          <p:nvPr/>
        </p:nvSpPr>
        <p:spPr>
          <a:xfrm>
            <a:off x="502920" y="3634232"/>
            <a:ext cx="11201400" cy="392176"/>
          </a:xfrm>
          <a:prstGeom prst="rect">
            <a:avLst/>
          </a:prstGeom>
          <a:solidFill>
            <a:srgbClr val="F2F6FB"/>
          </a:solidFill>
          <a:ln>
            <a:noFill/>
          </a:ln>
        </p:spPr>
        <p:txBody>
          <a:bodyPr rtlCol="0" anchor="ctr" wrap="none"/>
          <a:lstStyle/>
          <a:p>
            <a:pPr algn="ctr"/>
          </a:p>
        </p:txBody>
      </p:sp>
      <p:sp>
        <p:nvSpPr>
          <p:cNvPr id="44" name="TextBox 43"/>
          <p:cNvSpPr txBox="1"/>
          <p:nvPr/>
        </p:nvSpPr>
        <p:spPr>
          <a:xfrm>
            <a:off x="576072" y="3661664"/>
            <a:ext cx="2322576" cy="346456"/>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0B1F3A"/>
                </a:solidFill>
                <a:latin typeface="Calibri"/>
              </a:rPr>
              <a:t>Symphony Master Association, Fort Lauderdale, FL</a:t>
            </a:r>
          </a:p>
        </p:txBody>
      </p:sp>
      <p:sp>
        <p:nvSpPr>
          <p:cNvPr id="45" name="TextBox 44"/>
          <p:cNvSpPr txBox="1"/>
          <p:nvPr/>
        </p:nvSpPr>
        <p:spPr>
          <a:xfrm>
            <a:off x="3044952" y="3661664"/>
            <a:ext cx="420624"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338</a:t>
            </a:r>
          </a:p>
        </p:txBody>
      </p:sp>
      <p:sp>
        <p:nvSpPr>
          <p:cNvPr id="46" name="TextBox 45"/>
          <p:cNvSpPr txBox="1"/>
          <p:nvPr/>
        </p:nvSpPr>
        <p:spPr>
          <a:xfrm>
            <a:off x="3611880" y="3661664"/>
            <a:ext cx="15453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Master association. 2024 audit.</a:t>
            </a:r>
          </a:p>
        </p:txBody>
      </p:sp>
      <p:sp>
        <p:nvSpPr>
          <p:cNvPr id="47" name="TextBox 46"/>
          <p:cNvSpPr txBox="1"/>
          <p:nvPr/>
        </p:nvSpPr>
        <p:spPr>
          <a:xfrm>
            <a:off x="5303520" y="3661664"/>
            <a:ext cx="20025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Agreement 28 Nov 2018, 105 months. Still in the 2024 statements.</a:t>
            </a:r>
          </a:p>
        </p:txBody>
      </p:sp>
      <p:sp>
        <p:nvSpPr>
          <p:cNvPr id="48" name="TextBox 47"/>
          <p:cNvSpPr txBox="1"/>
          <p:nvPr/>
        </p:nvSpPr>
        <p:spPr>
          <a:xfrm>
            <a:off x="7452360" y="3661664"/>
            <a:ext cx="24597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Bulk video and high-speed internet.</a:t>
            </a:r>
          </a:p>
        </p:txBody>
      </p:sp>
      <p:sp>
        <p:nvSpPr>
          <p:cNvPr id="49" name="TextBox 48"/>
          <p:cNvSpPr txBox="1"/>
          <p:nvPr/>
        </p:nvSpPr>
        <p:spPr>
          <a:xfrm>
            <a:off x="10058400" y="3661664"/>
            <a:ext cx="1572768"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$200 / unit ($67,600), deferred</a:t>
            </a:r>
          </a:p>
        </p:txBody>
      </p:sp>
      <p:sp>
        <p:nvSpPr>
          <p:cNvPr id="50" name="TextBox 49"/>
          <p:cNvSpPr txBox="1"/>
          <p:nvPr/>
        </p:nvSpPr>
        <p:spPr>
          <a:xfrm>
            <a:off x="576072" y="4053840"/>
            <a:ext cx="2322576" cy="346456"/>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0B1F3A"/>
                </a:solidFill>
                <a:latin typeface="Calibri"/>
              </a:rPr>
              <a:t>Aquarius Condominium, Hollywood, FL</a:t>
            </a:r>
          </a:p>
        </p:txBody>
      </p:sp>
      <p:sp>
        <p:nvSpPr>
          <p:cNvPr id="51" name="TextBox 50"/>
          <p:cNvSpPr txBox="1"/>
          <p:nvPr/>
        </p:nvSpPr>
        <p:spPr>
          <a:xfrm>
            <a:off x="3044952" y="4053840"/>
            <a:ext cx="420624"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269</a:t>
            </a:r>
          </a:p>
        </p:txBody>
      </p:sp>
      <p:sp>
        <p:nvSpPr>
          <p:cNvPr id="52" name="TextBox 51"/>
          <p:cNvSpPr txBox="1"/>
          <p:nvPr/>
        </p:nvSpPr>
        <p:spPr>
          <a:xfrm>
            <a:off x="3611880" y="4053840"/>
            <a:ext cx="15453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Condo association.</a:t>
            </a:r>
          </a:p>
        </p:txBody>
      </p:sp>
      <p:sp>
        <p:nvSpPr>
          <p:cNvPr id="53" name="TextBox 52"/>
          <p:cNvSpPr txBox="1"/>
          <p:nvPr/>
        </p:nvSpPr>
        <p:spPr>
          <a:xfrm>
            <a:off x="5303520" y="4053840"/>
            <a:ext cx="20025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Dated 1 Sep 2018. Term 66 months.</a:t>
            </a:r>
          </a:p>
        </p:txBody>
      </p:sp>
      <p:sp>
        <p:nvSpPr>
          <p:cNvPr id="54" name="TextBox 53"/>
          <p:cNvSpPr txBox="1"/>
          <p:nvPr/>
        </p:nvSpPr>
        <p:spPr>
          <a:xfrm>
            <a:off x="7452360" y="4053840"/>
            <a:ext cx="2459736"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Bulk video and Performance internet. Door-to-door barred.</a:t>
            </a:r>
          </a:p>
        </p:txBody>
      </p:sp>
      <p:sp>
        <p:nvSpPr>
          <p:cNvPr id="55" name="TextBox 54"/>
          <p:cNvSpPr txBox="1"/>
          <p:nvPr/>
        </p:nvSpPr>
        <p:spPr>
          <a:xfrm>
            <a:off x="10058400" y="4053840"/>
            <a:ext cx="1572768" cy="346456"/>
          </a:xfrm>
          <a:prstGeom prst="rect">
            <a:avLst/>
          </a:prstGeom>
          <a:noFill/>
        </p:spPr>
        <p:txBody>
          <a:bodyPr wrap="square" lIns="0" rIns="0" tIns="0" bIns="0"/>
          <a:lstStyle/>
          <a:p>
            <a:pPr algn="l">
              <a:lnSpc>
                <a:spcPct val="100000"/>
              </a:lnSpc>
              <a:spcBef>
                <a:spcPts val="0"/>
              </a:spcBef>
              <a:spcAft>
                <a:spcPts val="0"/>
              </a:spcAft>
            </a:pPr>
            <a:r>
              <a:rPr sz="1000" b="0" i="0" lang="en-US" kern="0" dirty="0">
                <a:solidFill>
                  <a:srgbClr val="5B6672"/>
                </a:solidFill>
                <a:latin typeface="Calibri"/>
              </a:rPr>
              <a:t>$150 / unit ($40,350)</a:t>
            </a:r>
          </a:p>
        </p:txBody>
      </p:sp>
      <p:sp>
        <p:nvSpPr>
          <p:cNvPr id="56" name="Rectangle 55"/>
          <p:cNvSpPr/>
          <p:nvPr/>
        </p:nvSpPr>
        <p:spPr>
          <a:xfrm>
            <a:off x="502920" y="4491736"/>
            <a:ext cx="64008" cy="487172"/>
          </a:xfrm>
          <a:prstGeom prst="rect">
            <a:avLst/>
          </a:prstGeom>
          <a:solidFill>
            <a:srgbClr val="0072CE"/>
          </a:solidFill>
          <a:ln>
            <a:noFill/>
          </a:ln>
        </p:spPr>
        <p:txBody>
          <a:bodyPr rtlCol="0" anchor="ctr" wrap="none"/>
          <a:lstStyle/>
          <a:p>
            <a:pPr algn="ctr"/>
          </a:p>
        </p:txBody>
      </p:sp>
      <p:sp>
        <p:nvSpPr>
          <p:cNvPr id="57" name="Rectangle 56"/>
          <p:cNvSpPr/>
          <p:nvPr/>
        </p:nvSpPr>
        <p:spPr>
          <a:xfrm>
            <a:off x="566928" y="4491736"/>
            <a:ext cx="11137392" cy="487172"/>
          </a:xfrm>
          <a:prstGeom prst="rect">
            <a:avLst/>
          </a:prstGeom>
          <a:solidFill>
            <a:srgbClr val="F2F6FB"/>
          </a:solidFill>
          <a:ln>
            <a:noFill/>
          </a:ln>
        </p:spPr>
        <p:txBody>
          <a:bodyPr rtlCol="0" anchor="ctr" wrap="none"/>
          <a:lstStyle/>
          <a:p>
            <a:pPr algn="ctr"/>
          </a:p>
        </p:txBody>
      </p:sp>
      <p:sp>
        <p:nvSpPr>
          <p:cNvPr id="58" name="TextBox 57"/>
          <p:cNvSpPr txBox="1"/>
          <p:nvPr/>
        </p:nvSpPr>
        <p:spPr>
          <a:xfrm>
            <a:off x="694944" y="4491736"/>
            <a:ext cx="10881360" cy="48717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0B1F3A"/>
                </a:solidFill>
                <a:latin typeface="Calibri"/>
              </a:rPr>
              <a:t>Five of six are Florida because those associations posted the contract or the audit — a posting pattern, not a strategy. “Not printed” is not zero. Face-of-contract prices (Pearland internet $25.00 and TV $17.50 plus a broadcast fee; Hollywood internet $33.99) are property terms, not a rate card.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37744"/>
            <a:ext cx="10607040" cy="237744"/>
          </a:xfrm>
          <a:prstGeom prst="rect">
            <a:avLst/>
          </a:prstGeom>
          <a:noFill/>
        </p:spPr>
        <p:txBody>
          <a:bodyPr wrap="square" lIns="0" rIns="0" tIns="0" bIns="0"/>
          <a:lstStyle/>
          <a:p>
            <a:pPr algn="l">
              <a:lnSpc>
                <a:spcPct val="100000"/>
              </a:lnSpc>
              <a:spcBef>
                <a:spcPts val="0"/>
              </a:spcBef>
              <a:spcAft>
                <a:spcPts val="0"/>
              </a:spcAft>
            </a:pPr>
            <a:r>
              <a:rPr sz="1100" b="1" i="0" lang="en-US" kern="0" dirty="0" spc="200">
                <a:solidFill>
                  <a:srgbClr val="0072CE"/>
                </a:solidFill>
                <a:latin typeface="Calibri"/>
              </a:rPr>
              <a:t>APPENDIX  ·  PUBLIC PARTNERSHIPS</a:t>
            </a:r>
          </a:p>
        </p:txBody>
      </p:sp>
      <p:sp>
        <p:nvSpPr>
          <p:cNvPr id="3" name="TextBox 2"/>
          <p:cNvSpPr txBox="1"/>
          <p:nvPr/>
        </p:nvSpPr>
        <p:spPr>
          <a:xfrm>
            <a:off x="502920" y="475488"/>
            <a:ext cx="11201400" cy="365760"/>
          </a:xfrm>
          <a:prstGeom prst="rect">
            <a:avLst/>
          </a:prstGeom>
          <a:noFill/>
        </p:spPr>
        <p:txBody>
          <a:bodyPr wrap="square" lIns="0" rIns="0" tIns="0" bIns="0"/>
          <a:lstStyle/>
          <a:p>
            <a:pPr algn="l">
              <a:lnSpc>
                <a:spcPct val="100000"/>
              </a:lnSpc>
              <a:spcBef>
                <a:spcPts val="0"/>
              </a:spcBef>
              <a:spcAft>
                <a:spcPts val="0"/>
              </a:spcAft>
            </a:pPr>
            <a:r>
              <a:rPr sz="2000" b="1" i="0" lang="en-US" kern="0" dirty="0">
                <a:solidFill>
                  <a:srgbClr val="0B1F3A"/>
                </a:solidFill>
                <a:latin typeface="Calibri"/>
              </a:rPr>
              <a:t>Four subsidy partnerships build to unserved addresses, and each figure stays as printed</a:t>
            </a:r>
          </a:p>
        </p:txBody>
      </p:sp>
      <p:sp>
        <p:nvSpPr>
          <p:cNvPr id="4" name="TextBox 3"/>
          <p:cNvSpPr txBox="1"/>
          <p:nvPr/>
        </p:nvSpPr>
        <p:spPr>
          <a:xfrm>
            <a:off x="502920" y="6108192"/>
            <a:ext cx="11155680" cy="201168"/>
          </a:xfrm>
          <a:prstGeom prst="rect">
            <a:avLst/>
          </a:prstGeom>
          <a:noFill/>
        </p:spPr>
        <p:txBody>
          <a:bodyPr wrap="square" lIns="0" rIns="0" tIns="0" bIns="0"/>
          <a:lstStyle/>
          <a:p>
            <a:pPr algn="l">
              <a:lnSpc>
                <a:spcPct val="100000"/>
              </a:lnSpc>
              <a:spcBef>
                <a:spcPts val="0"/>
              </a:spcBef>
              <a:spcAft>
                <a:spcPts val="0"/>
              </a:spcAft>
            </a:pPr>
            <a:r>
              <a:rPr sz="900" b="0" i="1" lang="en-US" kern="0" dirty="0">
                <a:solidFill>
                  <a:srgbClr val="8A94A0"/>
                </a:solidFill>
                <a:latin typeface="Calibri"/>
              </a:rPr>
              <a:t>Source: County agreements, county releases, and Comcast announcements, retrieved 28 Sep 2026. Comcast Form 10-K for the year ended 31 Dec 2025 (partnership language; Comcast keeps the network).</a:t>
            </a:r>
          </a:p>
        </p:txBody>
      </p:sp>
      <p:sp>
        <p:nvSpPr>
          <p:cNvPr id="5" name="TextBox 4"/>
          <p:cNvSpPr txBox="1"/>
          <p:nvPr/>
        </p:nvSpPr>
        <p:spPr>
          <a:xfrm>
            <a:off x="502920" y="6473952"/>
            <a:ext cx="10698480" cy="237744"/>
          </a:xfrm>
          <a:prstGeom prst="rect">
            <a:avLst/>
          </a:prstGeom>
          <a:noFill/>
        </p:spPr>
        <p:txBody>
          <a:bodyPr wrap="square" lIns="0" rIns="0" tIns="0" bIns="0"/>
          <a:lstStyle/>
          <a:p>
            <a:pPr algn="l">
              <a:lnSpc>
                <a:spcPct val="100000"/>
              </a:lnSpc>
              <a:spcBef>
                <a:spcPts val="0"/>
              </a:spcBef>
              <a:spcAft>
                <a:spcPts val="0"/>
              </a:spcAft>
            </a:pPr>
            <a:r>
              <a:rPr sz="900" b="0" i="0" lang="en-US" kern="0" dirty="0">
                <a:solidFill>
                  <a:srgbClr val="8A94A0"/>
                </a:solidFill>
                <a:latin typeface="Calibri"/>
              </a:rPr>
              <a:t>Appendix  ·  “Changing the Trajectory”  ·  Charter Communications (CHTR)  ·  EH&amp;B</a:t>
            </a:r>
          </a:p>
        </p:txBody>
      </p:sp>
      <p:sp>
        <p:nvSpPr>
          <p:cNvPr id="6" name="TextBox 5"/>
          <p:cNvSpPr txBox="1"/>
          <p:nvPr/>
        </p:nvSpPr>
        <p:spPr>
          <a:xfrm>
            <a:off x="11384280" y="6473952"/>
            <a:ext cx="502920" cy="237744"/>
          </a:xfrm>
          <a:prstGeom prst="rect">
            <a:avLst/>
          </a:prstGeom>
          <a:noFill/>
        </p:spPr>
        <p:txBody>
          <a:bodyPr wrap="square" lIns="0" rIns="0" tIns="0" bIns="0"/>
          <a:lstStyle/>
          <a:p>
            <a:pPr algn="r">
              <a:lnSpc>
                <a:spcPct val="100000"/>
              </a:lnSpc>
              <a:spcBef>
                <a:spcPts val="0"/>
              </a:spcBef>
              <a:spcAft>
                <a:spcPts val="0"/>
              </a:spcAft>
            </a:pPr>
            <a:r>
              <a:rPr sz="1000" b="0" i="0" lang="en-US" kern="0" dirty="0">
                <a:solidFill>
                  <a:srgbClr val="8A94A0"/>
                </a:solidFill>
                <a:latin typeface="Calibri"/>
              </a:rPr>
              <a:t>2</a:t>
            </a:r>
          </a:p>
        </p:txBody>
      </p:sp>
      <p:sp>
        <p:nvSpPr>
          <p:cNvPr id="7" name="Rectangle 6"/>
          <p:cNvSpPr/>
          <p:nvPr/>
        </p:nvSpPr>
        <p:spPr>
          <a:xfrm>
            <a:off x="502920" y="914400"/>
            <a:ext cx="64008" cy="438912"/>
          </a:xfrm>
          <a:prstGeom prst="rect">
            <a:avLst/>
          </a:prstGeom>
          <a:solidFill>
            <a:srgbClr val="0072CE"/>
          </a:solidFill>
          <a:ln>
            <a:noFill/>
          </a:ln>
        </p:spPr>
        <p:txBody>
          <a:bodyPr rtlCol="0" anchor="ctr" wrap="none"/>
          <a:lstStyle/>
          <a:p>
            <a:pPr algn="ctr"/>
          </a:p>
        </p:txBody>
      </p:sp>
      <p:sp>
        <p:nvSpPr>
          <p:cNvPr id="8" name="Rectangle 7"/>
          <p:cNvSpPr/>
          <p:nvPr/>
        </p:nvSpPr>
        <p:spPr>
          <a:xfrm>
            <a:off x="566928" y="914400"/>
            <a:ext cx="11137392" cy="438912"/>
          </a:xfrm>
          <a:prstGeom prst="rect">
            <a:avLst/>
          </a:prstGeom>
          <a:solidFill>
            <a:srgbClr val="F2F6FB"/>
          </a:solidFill>
          <a:ln>
            <a:noFill/>
          </a:ln>
        </p:spPr>
        <p:txBody>
          <a:bodyPr rtlCol="0" anchor="ctr" wrap="none"/>
          <a:lstStyle/>
          <a:p>
            <a:pPr algn="ctr"/>
          </a:p>
        </p:txBody>
      </p:sp>
      <p:sp>
        <p:nvSpPr>
          <p:cNvPr id="9" name="TextBox 8"/>
          <p:cNvSpPr txBox="1"/>
          <p:nvPr/>
        </p:nvSpPr>
        <p:spPr>
          <a:xfrm>
            <a:off x="694944" y="914400"/>
            <a:ext cx="10881360" cy="43891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0B1F3A"/>
                </a:solidFill>
                <a:latin typeface="Calibri"/>
              </a:rPr>
              <a:t>The buyer is the county or the state. Comcast designs, builds, and keeps the network where the agreement says so. Madison’s three dollar figures stay separate. Stafford’s three home counts stay separate.</a:t>
            </a:r>
          </a:p>
        </p:txBody>
      </p:sp>
      <p:sp>
        <p:nvSpPr>
          <p:cNvPr id="10" name="Rectangle 9"/>
          <p:cNvSpPr/>
          <p:nvPr/>
        </p:nvSpPr>
        <p:spPr>
          <a:xfrm>
            <a:off x="502920" y="1444752"/>
            <a:ext cx="11201400" cy="292608"/>
          </a:xfrm>
          <a:prstGeom prst="rect">
            <a:avLst/>
          </a:prstGeom>
          <a:solidFill>
            <a:srgbClr val="0B1F3A"/>
          </a:solidFill>
          <a:ln>
            <a:noFill/>
          </a:ln>
        </p:spPr>
        <p:txBody>
          <a:bodyPr rtlCol="0" anchor="ctr" wrap="none"/>
          <a:lstStyle/>
          <a:p>
            <a:pPr algn="ctr"/>
          </a:p>
        </p:txBody>
      </p:sp>
      <p:sp>
        <p:nvSpPr>
          <p:cNvPr id="11" name="TextBox 10"/>
          <p:cNvSpPr txBox="1"/>
          <p:nvPr/>
        </p:nvSpPr>
        <p:spPr>
          <a:xfrm>
            <a:off x="576072" y="1444752"/>
            <a:ext cx="2093976"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Place</a:t>
            </a:r>
          </a:p>
        </p:txBody>
      </p:sp>
      <p:sp>
        <p:nvSpPr>
          <p:cNvPr id="12" name="TextBox 11"/>
          <p:cNvSpPr txBox="1"/>
          <p:nvPr/>
        </p:nvSpPr>
        <p:spPr>
          <a:xfrm>
            <a:off x="2816352" y="1444752"/>
            <a:ext cx="3831336"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What is built</a:t>
            </a:r>
          </a:p>
        </p:txBody>
      </p:sp>
      <p:sp>
        <p:nvSpPr>
          <p:cNvPr id="13" name="TextBox 12"/>
          <p:cNvSpPr txBox="1"/>
          <p:nvPr/>
        </p:nvSpPr>
        <p:spPr>
          <a:xfrm>
            <a:off x="6793992" y="1444752"/>
            <a:ext cx="2916936"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As that source printed it</a:t>
            </a:r>
          </a:p>
        </p:txBody>
      </p:sp>
      <p:sp>
        <p:nvSpPr>
          <p:cNvPr id="14" name="TextBox 13"/>
          <p:cNvSpPr txBox="1"/>
          <p:nvPr/>
        </p:nvSpPr>
        <p:spPr>
          <a:xfrm>
            <a:off x="9857232" y="1444752"/>
            <a:ext cx="1773936"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Document</a:t>
            </a:r>
          </a:p>
        </p:txBody>
      </p:sp>
      <p:sp>
        <p:nvSpPr>
          <p:cNvPr id="15" name="Rectangle 14"/>
          <p:cNvSpPr/>
          <p:nvPr/>
        </p:nvSpPr>
        <p:spPr>
          <a:xfrm>
            <a:off x="502920" y="1737360"/>
            <a:ext cx="11201400" cy="791464"/>
          </a:xfrm>
          <a:prstGeom prst="rect">
            <a:avLst/>
          </a:prstGeom>
          <a:solidFill>
            <a:srgbClr val="F2F6FB"/>
          </a:solidFill>
          <a:ln>
            <a:noFill/>
          </a:ln>
        </p:spPr>
        <p:txBody>
          <a:bodyPr rtlCol="0" anchor="ctr" wrap="none"/>
          <a:lstStyle/>
          <a:p>
            <a:pPr algn="ctr"/>
          </a:p>
        </p:txBody>
      </p:sp>
      <p:sp>
        <p:nvSpPr>
          <p:cNvPr id="16" name="TextBox 15"/>
          <p:cNvSpPr txBox="1"/>
          <p:nvPr/>
        </p:nvSpPr>
        <p:spPr>
          <a:xfrm>
            <a:off x="576072" y="1764792"/>
            <a:ext cx="2093976" cy="745744"/>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Madison County, MS</a:t>
            </a:r>
          </a:p>
        </p:txBody>
      </p:sp>
      <p:sp>
        <p:nvSpPr>
          <p:cNvPr id="17" name="TextBox 16"/>
          <p:cNvSpPr txBox="1"/>
          <p:nvPr/>
        </p:nvSpPr>
        <p:spPr>
          <a:xfrm>
            <a:off x="2816352" y="1764792"/>
            <a:ext cx="3831336" cy="745744"/>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Fiber EPON that Comcast designs, builds, owns, and operates. HFC only beside existing plant. About 3,175 premises along 478.6 miles. At least 100/20 Mbps, capable of gigabit.</a:t>
            </a:r>
          </a:p>
        </p:txBody>
      </p:sp>
      <p:sp>
        <p:nvSpPr>
          <p:cNvPr id="18" name="TextBox 17"/>
          <p:cNvSpPr txBox="1"/>
          <p:nvPr/>
        </p:nvSpPr>
        <p:spPr>
          <a:xfrm>
            <a:off x="6793992" y="1764792"/>
            <a:ext cx="2916936" cy="745744"/>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Project estimate $18,994,203. Comcast up to $4,790,292. County up to $10,000,000. Further state and federal applications contemplated. Not summed.</a:t>
            </a:r>
          </a:p>
        </p:txBody>
      </p:sp>
      <p:sp>
        <p:nvSpPr>
          <p:cNvPr id="19" name="TextBox 18"/>
          <p:cNvSpPr txBox="1"/>
          <p:nvPr/>
        </p:nvSpPr>
        <p:spPr>
          <a:xfrm>
            <a:off x="9857232" y="1764792"/>
            <a:ext cx="1773936" cy="745744"/>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County agreement, effective 6 Sep 2022. Separate from a 2015 franchise the agreement cites.</a:t>
            </a:r>
          </a:p>
        </p:txBody>
      </p:sp>
      <p:sp>
        <p:nvSpPr>
          <p:cNvPr id="20" name="TextBox 19"/>
          <p:cNvSpPr txBox="1"/>
          <p:nvPr/>
        </p:nvSpPr>
        <p:spPr>
          <a:xfrm>
            <a:off x="576072" y="2556256"/>
            <a:ext cx="2093976" cy="745744"/>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Stafford County, VA — Hartwood and Rock Hill</a:t>
            </a:r>
          </a:p>
        </p:txBody>
      </p:sp>
      <p:sp>
        <p:nvSpPr>
          <p:cNvPr id="21" name="TextBox 20"/>
          <p:cNvSpPr txBox="1"/>
          <p:nvPr/>
        </p:nvSpPr>
        <p:spPr>
          <a:xfrm>
            <a:off x="2816352" y="2556256"/>
            <a:ext cx="3831336" cy="745744"/>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Extension to unserved or underserved homes. Completed in early 2024. Later county page: Xfinity speeds up to 1.2 Gbps.</a:t>
            </a:r>
          </a:p>
        </p:txBody>
      </p:sp>
      <p:sp>
        <p:nvSpPr>
          <p:cNvPr id="22" name="TextBox 21"/>
          <p:cNvSpPr txBox="1"/>
          <p:nvPr/>
        </p:nvSpPr>
        <p:spPr>
          <a:xfrm>
            <a:off x="6793992" y="2556256"/>
            <a:ext cx="2916936" cy="745744"/>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$5.7 million project; $3.4 million VATI; $1.5 million county match; balance from Comcast. Homes: more than 600, more than 650, and nearly 700 — three sources, not one count.</a:t>
            </a:r>
          </a:p>
        </p:txBody>
      </p:sp>
      <p:sp>
        <p:nvSpPr>
          <p:cNvPr id="23" name="TextBox 22"/>
          <p:cNvSpPr txBox="1"/>
          <p:nvPr/>
        </p:nvSpPr>
        <p:spPr>
          <a:xfrm>
            <a:off x="9857232" y="2556256"/>
            <a:ext cx="1773936" cy="745744"/>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County news 19 Jan 2022; county completion note; Comcast story.</a:t>
            </a:r>
          </a:p>
        </p:txBody>
      </p:sp>
      <p:sp>
        <p:nvSpPr>
          <p:cNvPr id="24" name="Rectangle 23"/>
          <p:cNvSpPr/>
          <p:nvPr/>
        </p:nvSpPr>
        <p:spPr>
          <a:xfrm>
            <a:off x="502920" y="3320288"/>
            <a:ext cx="11201400" cy="621030"/>
          </a:xfrm>
          <a:prstGeom prst="rect">
            <a:avLst/>
          </a:prstGeom>
          <a:solidFill>
            <a:srgbClr val="F2F6FB"/>
          </a:solidFill>
          <a:ln>
            <a:noFill/>
          </a:ln>
        </p:spPr>
        <p:txBody>
          <a:bodyPr rtlCol="0" anchor="ctr" wrap="none"/>
          <a:lstStyle/>
          <a:p>
            <a:pPr algn="ctr"/>
          </a:p>
        </p:txBody>
      </p:sp>
      <p:sp>
        <p:nvSpPr>
          <p:cNvPr id="25" name="TextBox 24"/>
          <p:cNvSpPr txBox="1"/>
          <p:nvPr/>
        </p:nvSpPr>
        <p:spPr>
          <a:xfrm>
            <a:off x="576072" y="3347720"/>
            <a:ext cx="2093976" cy="575310"/>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Fort Bend County, TX — Kendleton, Needville, Thompsons, Simonton</a:t>
            </a:r>
          </a:p>
        </p:txBody>
      </p:sp>
      <p:sp>
        <p:nvSpPr>
          <p:cNvPr id="26" name="TextBox 25"/>
          <p:cNvSpPr txBox="1"/>
          <p:nvPr/>
        </p:nvSpPr>
        <p:spPr>
          <a:xfrm>
            <a:off x="2816352" y="3347720"/>
            <a:ext cx="3831336" cy="575310"/>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Fiber to thousands of homes and businesses, plus Xfinity and Comcast Business. Completion by the end of 2026.</a:t>
            </a:r>
          </a:p>
        </p:txBody>
      </p:sp>
      <p:sp>
        <p:nvSpPr>
          <p:cNvPr id="27" name="TextBox 26"/>
          <p:cNvSpPr txBox="1"/>
          <p:nvPr/>
        </p:nvSpPr>
        <p:spPr>
          <a:xfrm>
            <a:off x="6793992" y="3347720"/>
            <a:ext cx="2916936" cy="575310"/>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$18.9 million project, as Comcast states it. Supported in part by ARPA.</a:t>
            </a:r>
          </a:p>
        </p:txBody>
      </p:sp>
      <p:sp>
        <p:nvSpPr>
          <p:cNvPr id="28" name="TextBox 27"/>
          <p:cNvSpPr txBox="1"/>
          <p:nvPr/>
        </p:nvSpPr>
        <p:spPr>
          <a:xfrm>
            <a:off x="9857232" y="3347720"/>
            <a:ext cx="1773936" cy="575310"/>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Comcast story 3 Apr 2026, on an announcement the prior November.</a:t>
            </a:r>
          </a:p>
        </p:txBody>
      </p:sp>
      <p:sp>
        <p:nvSpPr>
          <p:cNvPr id="29" name="TextBox 28"/>
          <p:cNvSpPr txBox="1"/>
          <p:nvPr/>
        </p:nvSpPr>
        <p:spPr>
          <a:xfrm>
            <a:off x="576072" y="3968750"/>
            <a:ext cx="2093976" cy="575310"/>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Franklin County, ID — Preston, Franklin, and nearby communities</a:t>
            </a:r>
          </a:p>
        </p:txBody>
      </p:sp>
      <p:sp>
        <p:nvSpPr>
          <p:cNvPr id="30" name="TextBox 29"/>
          <p:cNvSpPr txBox="1"/>
          <p:nvPr/>
        </p:nvSpPr>
        <p:spPr>
          <a:xfrm>
            <a:off x="2816352" y="3968750"/>
            <a:ext cx="3831336" cy="575310"/>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Fiber so addresses can buy Xfinity Internet and Mobile and Comcast Business. Thousands of homes and businesses. Completion expected early 2026.</a:t>
            </a:r>
          </a:p>
        </p:txBody>
      </p:sp>
      <p:sp>
        <p:nvSpPr>
          <p:cNvPr id="31" name="TextBox 30"/>
          <p:cNvSpPr txBox="1"/>
          <p:nvPr/>
        </p:nvSpPr>
        <p:spPr>
          <a:xfrm>
            <a:off x="6793992" y="3968750"/>
            <a:ext cx="2916936" cy="575310"/>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No dollar figure in the release.</a:t>
            </a:r>
          </a:p>
        </p:txBody>
      </p:sp>
      <p:sp>
        <p:nvSpPr>
          <p:cNvPr id="32" name="TextBox 31"/>
          <p:cNvSpPr txBox="1"/>
          <p:nvPr/>
        </p:nvSpPr>
        <p:spPr>
          <a:xfrm>
            <a:off x="9857232" y="3968750"/>
            <a:ext cx="1773936" cy="575310"/>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Comcast announcement 28 Oct 2024. Funding counterparty: State of Idaho.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37744"/>
            <a:ext cx="10607040" cy="237744"/>
          </a:xfrm>
          <a:prstGeom prst="rect">
            <a:avLst/>
          </a:prstGeom>
          <a:noFill/>
        </p:spPr>
        <p:txBody>
          <a:bodyPr wrap="square" lIns="0" rIns="0" tIns="0" bIns="0"/>
          <a:lstStyle/>
          <a:p>
            <a:pPr algn="l">
              <a:lnSpc>
                <a:spcPct val="100000"/>
              </a:lnSpc>
              <a:spcBef>
                <a:spcPts val="0"/>
              </a:spcBef>
              <a:spcAft>
                <a:spcPts val="0"/>
              </a:spcAft>
            </a:pPr>
            <a:r>
              <a:rPr sz="1100" b="1" i="0" lang="en-US" kern="0" dirty="0" spc="200">
                <a:solidFill>
                  <a:srgbClr val="0072CE"/>
                </a:solidFill>
                <a:latin typeface="Calibri"/>
              </a:rPr>
              <a:t>APPENDIX  ·  HOUSING AUTHORITIES</a:t>
            </a:r>
          </a:p>
        </p:txBody>
      </p:sp>
      <p:sp>
        <p:nvSpPr>
          <p:cNvPr id="3" name="TextBox 2"/>
          <p:cNvSpPr txBox="1"/>
          <p:nvPr/>
        </p:nvSpPr>
        <p:spPr>
          <a:xfrm>
            <a:off x="502920" y="475488"/>
            <a:ext cx="11201400" cy="365760"/>
          </a:xfrm>
          <a:prstGeom prst="rect">
            <a:avLst/>
          </a:prstGeom>
          <a:noFill/>
        </p:spPr>
        <p:txBody>
          <a:bodyPr wrap="square" lIns="0" rIns="0" tIns="0" bIns="0"/>
          <a:lstStyle/>
          <a:p>
            <a:pPr algn="l">
              <a:lnSpc>
                <a:spcPct val="100000"/>
              </a:lnSpc>
              <a:spcBef>
                <a:spcPts val="0"/>
              </a:spcBef>
              <a:spcAft>
                <a:spcPts val="0"/>
              </a:spcAft>
            </a:pPr>
            <a:r>
              <a:rPr sz="2000" b="1" i="0" lang="en-US" kern="0" dirty="0">
                <a:solidFill>
                  <a:srgbClr val="0B1F3A"/>
                </a:solidFill>
                <a:latin typeface="Calibri"/>
              </a:rPr>
              <a:t>Housing authorities buy in-building connectivity; no source shows Spectrum households taken</a:t>
            </a:r>
          </a:p>
        </p:txBody>
      </p:sp>
      <p:sp>
        <p:nvSpPr>
          <p:cNvPr id="4" name="TextBox 3"/>
          <p:cNvSpPr txBox="1"/>
          <p:nvPr/>
        </p:nvSpPr>
        <p:spPr>
          <a:xfrm>
            <a:off x="502920" y="6108192"/>
            <a:ext cx="11155680" cy="201168"/>
          </a:xfrm>
          <a:prstGeom prst="rect">
            <a:avLst/>
          </a:prstGeom>
          <a:noFill/>
        </p:spPr>
        <p:txBody>
          <a:bodyPr wrap="square" lIns="0" rIns="0" tIns="0" bIns="0"/>
          <a:lstStyle/>
          <a:p>
            <a:pPr algn="l">
              <a:lnSpc>
                <a:spcPct val="100000"/>
              </a:lnSpc>
              <a:spcBef>
                <a:spcPts val="0"/>
              </a:spcBef>
              <a:spcAft>
                <a:spcPts val="0"/>
              </a:spcAft>
            </a:pPr>
            <a:r>
              <a:rPr sz="900" b="0" i="1" lang="en-US" kern="0" dirty="0">
                <a:solidFill>
                  <a:srgbClr val="8A94A0"/>
                </a:solidFill>
                <a:latin typeface="Calibri"/>
              </a:rPr>
              <a:t>Source: St. Paul PHA news, 11 Jun 2024; Marin County agreement, 23 Jul 2024; Massachusetts Broadband Institute, 6 Aug 2025. Clark County franchise, 1 Jul 2024–30 Jun 2034. Comcast FY2025 Form 10-K. Retrieved 28 Sep 2026.</a:t>
            </a:r>
          </a:p>
        </p:txBody>
      </p:sp>
      <p:sp>
        <p:nvSpPr>
          <p:cNvPr id="5" name="TextBox 4"/>
          <p:cNvSpPr txBox="1"/>
          <p:nvPr/>
        </p:nvSpPr>
        <p:spPr>
          <a:xfrm>
            <a:off x="502920" y="6473952"/>
            <a:ext cx="10698480" cy="237744"/>
          </a:xfrm>
          <a:prstGeom prst="rect">
            <a:avLst/>
          </a:prstGeom>
          <a:noFill/>
        </p:spPr>
        <p:txBody>
          <a:bodyPr wrap="square" lIns="0" rIns="0" tIns="0" bIns="0"/>
          <a:lstStyle/>
          <a:p>
            <a:pPr algn="l">
              <a:lnSpc>
                <a:spcPct val="100000"/>
              </a:lnSpc>
              <a:spcBef>
                <a:spcPts val="0"/>
              </a:spcBef>
              <a:spcAft>
                <a:spcPts val="0"/>
              </a:spcAft>
            </a:pPr>
            <a:r>
              <a:rPr sz="900" b="0" i="0" lang="en-US" kern="0" dirty="0">
                <a:solidFill>
                  <a:srgbClr val="8A94A0"/>
                </a:solidFill>
                <a:latin typeface="Calibri"/>
              </a:rPr>
              <a:t>Appendix  ·  “Changing the Trajectory”  ·  Charter Communications (CHTR)  ·  EH&amp;B</a:t>
            </a:r>
          </a:p>
        </p:txBody>
      </p:sp>
      <p:sp>
        <p:nvSpPr>
          <p:cNvPr id="6" name="TextBox 5"/>
          <p:cNvSpPr txBox="1"/>
          <p:nvPr/>
        </p:nvSpPr>
        <p:spPr>
          <a:xfrm>
            <a:off x="11384280" y="6473952"/>
            <a:ext cx="502920" cy="237744"/>
          </a:xfrm>
          <a:prstGeom prst="rect">
            <a:avLst/>
          </a:prstGeom>
          <a:noFill/>
        </p:spPr>
        <p:txBody>
          <a:bodyPr wrap="square" lIns="0" rIns="0" tIns="0" bIns="0"/>
          <a:lstStyle/>
          <a:p>
            <a:pPr algn="r">
              <a:lnSpc>
                <a:spcPct val="100000"/>
              </a:lnSpc>
              <a:spcBef>
                <a:spcPts val="0"/>
              </a:spcBef>
              <a:spcAft>
                <a:spcPts val="0"/>
              </a:spcAft>
            </a:pPr>
            <a:r>
              <a:rPr sz="1000" b="0" i="0" lang="en-US" kern="0" dirty="0">
                <a:solidFill>
                  <a:srgbClr val="8A94A0"/>
                </a:solidFill>
                <a:latin typeface="Calibri"/>
              </a:rPr>
              <a:t>3</a:t>
            </a:r>
          </a:p>
        </p:txBody>
      </p:sp>
      <p:sp>
        <p:nvSpPr>
          <p:cNvPr id="7" name="Rectangle 6"/>
          <p:cNvSpPr/>
          <p:nvPr/>
        </p:nvSpPr>
        <p:spPr>
          <a:xfrm>
            <a:off x="502920" y="914400"/>
            <a:ext cx="11201400" cy="274320"/>
          </a:xfrm>
          <a:prstGeom prst="rect">
            <a:avLst/>
          </a:prstGeom>
          <a:solidFill>
            <a:srgbClr val="0B1F3A"/>
          </a:solidFill>
          <a:ln>
            <a:noFill/>
          </a:ln>
        </p:spPr>
        <p:txBody>
          <a:bodyPr rtlCol="0" anchor="ctr" wrap="none"/>
          <a:lstStyle/>
          <a:p>
            <a:pPr algn="ctr"/>
          </a:p>
        </p:txBody>
      </p:sp>
      <p:sp>
        <p:nvSpPr>
          <p:cNvPr id="8" name="TextBox 7"/>
          <p:cNvSpPr txBox="1"/>
          <p:nvPr/>
        </p:nvSpPr>
        <p:spPr>
          <a:xfrm>
            <a:off x="576072" y="914400"/>
            <a:ext cx="218541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Place</a:t>
            </a:r>
          </a:p>
        </p:txBody>
      </p:sp>
      <p:sp>
        <p:nvSpPr>
          <p:cNvPr id="9" name="TextBox 8"/>
          <p:cNvSpPr txBox="1"/>
          <p:nvPr/>
        </p:nvSpPr>
        <p:spPr>
          <a:xfrm>
            <a:off x="2907792" y="914400"/>
            <a:ext cx="245973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Buyer</a:t>
            </a:r>
          </a:p>
        </p:txBody>
      </p:sp>
      <p:sp>
        <p:nvSpPr>
          <p:cNvPr id="10" name="TextBox 9"/>
          <p:cNvSpPr txBox="1"/>
          <p:nvPr/>
        </p:nvSpPr>
        <p:spPr>
          <a:xfrm>
            <a:off x="5513832" y="914400"/>
            <a:ext cx="364845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What is sold</a:t>
            </a:r>
          </a:p>
        </p:txBody>
      </p:sp>
      <p:sp>
        <p:nvSpPr>
          <p:cNvPr id="11" name="TextBox 10"/>
          <p:cNvSpPr txBox="1"/>
          <p:nvPr/>
        </p:nvSpPr>
        <p:spPr>
          <a:xfrm>
            <a:off x="9308592" y="914400"/>
            <a:ext cx="2322576" cy="274320"/>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As printed</a:t>
            </a:r>
          </a:p>
        </p:txBody>
      </p:sp>
      <p:sp>
        <p:nvSpPr>
          <p:cNvPr id="12" name="Rectangle 11"/>
          <p:cNvSpPr/>
          <p:nvPr/>
        </p:nvSpPr>
        <p:spPr>
          <a:xfrm>
            <a:off x="502920" y="1188720"/>
            <a:ext cx="11201400" cy="602742"/>
          </a:xfrm>
          <a:prstGeom prst="rect">
            <a:avLst/>
          </a:prstGeom>
          <a:solidFill>
            <a:srgbClr val="F2F6FB"/>
          </a:solidFill>
          <a:ln>
            <a:noFill/>
          </a:ln>
        </p:spPr>
        <p:txBody>
          <a:bodyPr rtlCol="0" anchor="ctr" wrap="none"/>
          <a:lstStyle/>
          <a:p>
            <a:pPr algn="ctr"/>
          </a:p>
        </p:txBody>
      </p:sp>
      <p:sp>
        <p:nvSpPr>
          <p:cNvPr id="13" name="TextBox 12"/>
          <p:cNvSpPr txBox="1"/>
          <p:nvPr/>
        </p:nvSpPr>
        <p:spPr>
          <a:xfrm>
            <a:off x="576072" y="1216152"/>
            <a:ext cx="2185416" cy="557022"/>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St. Paul PHA hi-rises, MN</a:t>
            </a:r>
          </a:p>
        </p:txBody>
      </p:sp>
      <p:sp>
        <p:nvSpPr>
          <p:cNvPr id="14" name="TextBox 13"/>
          <p:cNvSpPr txBox="1"/>
          <p:nvPr/>
        </p:nvSpPr>
        <p:spPr>
          <a:xfrm>
            <a:off x="2907792" y="1216152"/>
            <a:ext cx="245973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Public housing agency. First housing authority in Minnesota in this arrangement, on the PHA’s account.</a:t>
            </a:r>
          </a:p>
        </p:txBody>
      </p:sp>
      <p:sp>
        <p:nvSpPr>
          <p:cNvPr id="15" name="TextBox 14"/>
          <p:cNvSpPr txBox="1"/>
          <p:nvPr/>
        </p:nvSpPr>
        <p:spPr>
          <a:xfrm>
            <a:off x="5513832" y="1216152"/>
            <a:ext cx="364845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Pre-installed connectivity. A free modem in each unit, at no cost to the PHA or the tenant. Starts at Central and Montreal, then 14 more hi-rises.</a:t>
            </a:r>
          </a:p>
        </p:txBody>
      </p:sp>
      <p:sp>
        <p:nvSpPr>
          <p:cNvPr id="16" name="TextBox 15"/>
          <p:cNvSpPr txBox="1"/>
          <p:nvPr/>
        </p:nvSpPr>
        <p:spPr>
          <a:xfrm>
            <a:off x="9308592" y="1216152"/>
            <a:ext cx="232257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No contract dollar in the PHA account. Event 11 Jun 2024.</a:t>
            </a:r>
          </a:p>
        </p:txBody>
      </p:sp>
      <p:sp>
        <p:nvSpPr>
          <p:cNvPr id="17" name="TextBox 16"/>
          <p:cNvSpPr txBox="1"/>
          <p:nvPr/>
        </p:nvSpPr>
        <p:spPr>
          <a:xfrm>
            <a:off x="576072" y="1818894"/>
            <a:ext cx="2185416" cy="557022"/>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Marin Housing Authority, CA</a:t>
            </a:r>
          </a:p>
        </p:txBody>
      </p:sp>
      <p:sp>
        <p:nvSpPr>
          <p:cNvPr id="18" name="TextBox 17"/>
          <p:cNvSpPr txBox="1"/>
          <p:nvPr/>
        </p:nvSpPr>
        <p:spPr>
          <a:xfrm>
            <a:off x="2907792" y="1818894"/>
            <a:ext cx="245973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Housing authority. County ARPA funds pay MHA, which pays Comcast. The county is not on the Comcast contract.</a:t>
            </a:r>
          </a:p>
        </p:txBody>
      </p:sp>
      <p:sp>
        <p:nvSpPr>
          <p:cNvPr id="19" name="TextBox 18"/>
          <p:cNvSpPr txBox="1"/>
          <p:nvPr/>
        </p:nvSpPr>
        <p:spPr>
          <a:xfrm>
            <a:off x="5513832" y="1818894"/>
            <a:ext cx="364845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Broadband at Kruger Pines, Homestead Terrace, Golden Hinde, Venetia Oaks, and Casa Nova.</a:t>
            </a:r>
          </a:p>
        </p:txBody>
      </p:sp>
      <p:sp>
        <p:nvSpPr>
          <p:cNvPr id="20" name="TextBox 19"/>
          <p:cNvSpPr txBox="1"/>
          <p:nvPr/>
        </p:nvSpPr>
        <p:spPr>
          <a:xfrm>
            <a:off x="9308592" y="1818894"/>
            <a:ext cx="232257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Up to $20 per month per interested resident for two years. 23 Jul 2024.</a:t>
            </a:r>
          </a:p>
        </p:txBody>
      </p:sp>
      <p:sp>
        <p:nvSpPr>
          <p:cNvPr id="21" name="Rectangle 20"/>
          <p:cNvSpPr/>
          <p:nvPr/>
        </p:nvSpPr>
        <p:spPr>
          <a:xfrm>
            <a:off x="502920" y="2394204"/>
            <a:ext cx="11201400" cy="602742"/>
          </a:xfrm>
          <a:prstGeom prst="rect">
            <a:avLst/>
          </a:prstGeom>
          <a:solidFill>
            <a:srgbClr val="F2F6FB"/>
          </a:solidFill>
          <a:ln>
            <a:noFill/>
          </a:ln>
        </p:spPr>
        <p:txBody>
          <a:bodyPr rtlCol="0" anchor="ctr" wrap="none"/>
          <a:lstStyle/>
          <a:p>
            <a:pPr algn="ctr"/>
          </a:p>
        </p:txBody>
      </p:sp>
      <p:sp>
        <p:nvSpPr>
          <p:cNvPr id="22" name="TextBox 21"/>
          <p:cNvSpPr txBox="1"/>
          <p:nvPr/>
        </p:nvSpPr>
        <p:spPr>
          <a:xfrm>
            <a:off x="576072" y="2421636"/>
            <a:ext cx="2185416" cy="557022"/>
          </a:xfrm>
          <a:prstGeom prst="rect">
            <a:avLst/>
          </a:prstGeom>
          <a:noFill/>
        </p:spPr>
        <p:txBody>
          <a:bodyPr wrap="square" lIns="0" rIns="0" tIns="0" bIns="0"/>
          <a:lstStyle/>
          <a:p>
            <a:pPr algn="l">
              <a:lnSpc>
                <a:spcPct val="100000"/>
              </a:lnSpc>
              <a:spcBef>
                <a:spcPts val="0"/>
              </a:spcBef>
              <a:spcAft>
                <a:spcPts val="0"/>
              </a:spcAft>
            </a:pPr>
            <a:r>
              <a:rPr sz="1100" b="1" i="0" lang="en-US" kern="0" dirty="0">
                <a:solidFill>
                  <a:srgbClr val="0B1F3A"/>
                </a:solidFill>
                <a:latin typeface="Calibri"/>
              </a:rPr>
              <a:t>Massachusetts Residential Retrofit — Comcast slice</a:t>
            </a:r>
          </a:p>
        </p:txBody>
      </p:sp>
      <p:sp>
        <p:nvSpPr>
          <p:cNvPr id="23" name="TextBox 22"/>
          <p:cNvSpPr txBox="1"/>
          <p:nvPr/>
        </p:nvSpPr>
        <p:spPr>
          <a:xfrm>
            <a:off x="2907792" y="2421636"/>
            <a:ext cx="245973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State grant via the Massachusetts Broadband Institute to Comcast Cable Communications.</a:t>
            </a:r>
          </a:p>
        </p:txBody>
      </p:sp>
      <p:sp>
        <p:nvSpPr>
          <p:cNvPr id="24" name="TextBox 23"/>
          <p:cNvSpPr txBox="1"/>
          <p:nvPr/>
        </p:nvSpPr>
        <p:spPr>
          <a:xfrm>
            <a:off x="5513832" y="2421636"/>
            <a:ext cx="364845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Income-eligible plans of at least 100/100 Mbps, common-area Wi-Fi, and open access to in-building wiring. Open access differs from exclusive home-run terms.</a:t>
            </a:r>
          </a:p>
        </p:txBody>
      </p:sp>
      <p:sp>
        <p:nvSpPr>
          <p:cNvPr id="25" name="TextBox 24"/>
          <p:cNvSpPr txBox="1"/>
          <p:nvPr/>
        </p:nvSpPr>
        <p:spPr>
          <a:xfrm>
            <a:off x="9308592" y="2421636"/>
            <a:ext cx="2322576" cy="557022"/>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$12,932,384 for 5,179 units. Release 6 Aug 2025.</a:t>
            </a:r>
          </a:p>
        </p:txBody>
      </p:sp>
      <p:sp>
        <p:nvSpPr>
          <p:cNvPr id="26" name="Rectangle 25"/>
          <p:cNvSpPr/>
          <p:nvPr/>
        </p:nvSpPr>
        <p:spPr>
          <a:xfrm>
            <a:off x="502920" y="3070098"/>
            <a:ext cx="64008" cy="657606"/>
          </a:xfrm>
          <a:prstGeom prst="rect">
            <a:avLst/>
          </a:prstGeom>
          <a:solidFill>
            <a:srgbClr val="0072CE"/>
          </a:solidFill>
          <a:ln>
            <a:noFill/>
          </a:ln>
        </p:spPr>
        <p:txBody>
          <a:bodyPr rtlCol="0" anchor="ctr" wrap="none"/>
          <a:lstStyle/>
          <a:p>
            <a:pPr algn="ctr"/>
          </a:p>
        </p:txBody>
      </p:sp>
      <p:sp>
        <p:nvSpPr>
          <p:cNvPr id="27" name="Rectangle 26"/>
          <p:cNvSpPr/>
          <p:nvPr/>
        </p:nvSpPr>
        <p:spPr>
          <a:xfrm>
            <a:off x="566928" y="3070098"/>
            <a:ext cx="11137392" cy="657606"/>
          </a:xfrm>
          <a:prstGeom prst="rect">
            <a:avLst/>
          </a:prstGeom>
          <a:solidFill>
            <a:srgbClr val="F2F6FB"/>
          </a:solidFill>
          <a:ln>
            <a:noFill/>
          </a:ln>
        </p:spPr>
        <p:txBody>
          <a:bodyPr rtlCol="0" anchor="ctr" wrap="none"/>
          <a:lstStyle/>
          <a:p>
            <a:pPr algn="ctr"/>
          </a:p>
        </p:txBody>
      </p:sp>
      <p:sp>
        <p:nvSpPr>
          <p:cNvPr id="28" name="TextBox 27"/>
          <p:cNvSpPr txBox="1"/>
          <p:nvPr/>
        </p:nvSpPr>
        <p:spPr>
          <a:xfrm>
            <a:off x="694944" y="3070098"/>
            <a:ext cx="10881360" cy="657606"/>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0B1F3A"/>
                </a:solidFill>
                <a:latin typeface="Calibri"/>
              </a:rPr>
              <a:t>Housing authorities on Comcast’s Massachusetts slice: Lawrence 659, Chelsea 566, Saugus 313, Melrose 155, Aquinnah Wampanoag Tribal Housing Authority 28 listed at Chilmark (Aquinnah count not printed). The four-provider award of $31,548,018 for more than 13,700 units is the state’s total. Private operators on the same award are not housing authorities.</a:t>
            </a:r>
          </a:p>
        </p:txBody>
      </p:sp>
      <p:sp>
        <p:nvSpPr>
          <p:cNvPr id="29" name="Rectangle 28"/>
          <p:cNvSpPr/>
          <p:nvPr/>
        </p:nvSpPr>
        <p:spPr>
          <a:xfrm>
            <a:off x="502920" y="3819144"/>
            <a:ext cx="3611880" cy="292608"/>
          </a:xfrm>
          <a:prstGeom prst="rect">
            <a:avLst/>
          </a:prstGeom>
          <a:solidFill>
            <a:srgbClr val="0B1F3A"/>
          </a:solidFill>
          <a:ln>
            <a:noFill/>
          </a:ln>
        </p:spPr>
        <p:txBody>
          <a:bodyPr rtlCol="0" anchor="ctr" wrap="none"/>
          <a:lstStyle/>
          <a:p>
            <a:pPr algn="ctr"/>
          </a:p>
        </p:txBody>
      </p:sp>
      <p:sp>
        <p:nvSpPr>
          <p:cNvPr id="30" name="TextBox 29"/>
          <p:cNvSpPr txBox="1"/>
          <p:nvPr/>
        </p:nvSpPr>
        <p:spPr>
          <a:xfrm>
            <a:off x="594360" y="3819144"/>
            <a:ext cx="3429000"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FRANCHISE RENEWAL</a:t>
            </a:r>
          </a:p>
        </p:txBody>
      </p:sp>
      <p:sp>
        <p:nvSpPr>
          <p:cNvPr id="31" name="Rectangle 30"/>
          <p:cNvSpPr/>
          <p:nvPr/>
        </p:nvSpPr>
        <p:spPr>
          <a:xfrm>
            <a:off x="502920" y="4111752"/>
            <a:ext cx="3611880" cy="877824"/>
          </a:xfrm>
          <a:prstGeom prst="rect">
            <a:avLst/>
          </a:prstGeom>
          <a:solidFill>
            <a:srgbClr val="F2F6FB"/>
          </a:solidFill>
          <a:ln>
            <a:noFill/>
          </a:ln>
        </p:spPr>
        <p:txBody>
          <a:bodyPr rtlCol="0" anchor="ctr" wrap="none"/>
          <a:lstStyle/>
          <a:p>
            <a:pPr algn="ctr"/>
          </a:p>
        </p:txBody>
      </p:sp>
      <p:sp>
        <p:nvSpPr>
          <p:cNvPr id="32" name="TextBox 31"/>
          <p:cNvSpPr txBox="1"/>
          <p:nvPr/>
        </p:nvSpPr>
        <p:spPr>
          <a:xfrm>
            <a:off x="594360" y="4166616"/>
            <a:ext cx="3429000" cy="768096"/>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Clark County, WA, and Comcast Cable Communications Management, LLC, entered a nonexclusive cable franchise effective 1 Jul 2024 through 30 Jun 2034. A right-of-way renewal, including public-access obligations.</a:t>
            </a:r>
          </a:p>
        </p:txBody>
      </p:sp>
      <p:sp>
        <p:nvSpPr>
          <p:cNvPr id="33" name="Rectangle 32"/>
          <p:cNvSpPr/>
          <p:nvPr/>
        </p:nvSpPr>
        <p:spPr>
          <a:xfrm>
            <a:off x="4297680" y="3819144"/>
            <a:ext cx="3611880" cy="292608"/>
          </a:xfrm>
          <a:prstGeom prst="rect">
            <a:avLst/>
          </a:prstGeom>
          <a:solidFill>
            <a:srgbClr val="0B1F3A"/>
          </a:solidFill>
          <a:ln>
            <a:noFill/>
          </a:ln>
        </p:spPr>
        <p:txBody>
          <a:bodyPr rtlCol="0" anchor="ctr" wrap="none"/>
          <a:lstStyle/>
          <a:p>
            <a:pPr algn="ctr"/>
          </a:p>
        </p:txBody>
      </p:sp>
      <p:sp>
        <p:nvSpPr>
          <p:cNvPr id="34" name="TextBox 33"/>
          <p:cNvSpPr txBox="1"/>
          <p:nvPr/>
        </p:nvSpPr>
        <p:spPr>
          <a:xfrm>
            <a:off x="4389120" y="3819144"/>
            <a:ext cx="3429000"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NO BULK REVENUE LINE</a:t>
            </a:r>
          </a:p>
        </p:txBody>
      </p:sp>
      <p:sp>
        <p:nvSpPr>
          <p:cNvPr id="35" name="Rectangle 34"/>
          <p:cNvSpPr/>
          <p:nvPr/>
        </p:nvSpPr>
        <p:spPr>
          <a:xfrm>
            <a:off x="4297680" y="4111752"/>
            <a:ext cx="3611880" cy="877824"/>
          </a:xfrm>
          <a:prstGeom prst="rect">
            <a:avLst/>
          </a:prstGeom>
          <a:solidFill>
            <a:srgbClr val="F2F6FB"/>
          </a:solidFill>
          <a:ln>
            <a:noFill/>
          </a:ln>
        </p:spPr>
        <p:txBody>
          <a:bodyPr rtlCol="0" anchor="ctr" wrap="none"/>
          <a:lstStyle/>
          <a:p>
            <a:pPr algn="ctr"/>
          </a:p>
        </p:txBody>
      </p:sp>
      <p:sp>
        <p:nvSpPr>
          <p:cNvPr id="36" name="TextBox 35"/>
          <p:cNvSpPr txBox="1"/>
          <p:nvPr/>
        </p:nvSpPr>
        <p:spPr>
          <a:xfrm>
            <a:off x="4389120" y="4166616"/>
            <a:ext cx="3429000" cy="768096"/>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The fiscal 2025 Form 10-K does not break out bulk, MDU, or community-association revenue. Franchise-fee language in that filing covers cable franchises, not HOA door fees.</a:t>
            </a:r>
          </a:p>
        </p:txBody>
      </p:sp>
      <p:sp>
        <p:nvSpPr>
          <p:cNvPr id="37" name="Rectangle 36"/>
          <p:cNvSpPr/>
          <p:nvPr/>
        </p:nvSpPr>
        <p:spPr>
          <a:xfrm>
            <a:off x="8092440" y="3819144"/>
            <a:ext cx="3611880" cy="292608"/>
          </a:xfrm>
          <a:prstGeom prst="rect">
            <a:avLst/>
          </a:prstGeom>
          <a:solidFill>
            <a:srgbClr val="0B1F3A"/>
          </a:solidFill>
          <a:ln>
            <a:noFill/>
          </a:ln>
        </p:spPr>
        <p:txBody>
          <a:bodyPr rtlCol="0" anchor="ctr" wrap="none"/>
          <a:lstStyle/>
          <a:p>
            <a:pPr algn="ctr"/>
          </a:p>
        </p:txBody>
      </p:sp>
      <p:sp>
        <p:nvSpPr>
          <p:cNvPr id="38" name="TextBox 37"/>
          <p:cNvSpPr txBox="1"/>
          <p:nvPr/>
        </p:nvSpPr>
        <p:spPr>
          <a:xfrm>
            <a:off x="8183880" y="3819144"/>
            <a:ext cx="3429000" cy="292608"/>
          </a:xfrm>
          <a:prstGeom prst="rect">
            <a:avLst/>
          </a:prstGeom>
          <a:noFill/>
        </p:spPr>
        <p:txBody>
          <a:bodyPr wrap="square" lIns="0" rIns="0" tIns="0" bIns="0"/>
          <a:lstStyle/>
          <a:p>
            <a:pPr algn="l">
              <a:lnSpc>
                <a:spcPct val="100000"/>
              </a:lnSpc>
              <a:spcBef>
                <a:spcPts val="0"/>
              </a:spcBef>
              <a:spcAft>
                <a:spcPts val="0"/>
              </a:spcAft>
            </a:pPr>
            <a:r>
              <a:rPr sz="1000" b="1" i="0" lang="en-US" kern="0" dirty="0">
                <a:solidFill>
                  <a:srgbClr val="FFFFFF"/>
                </a:solidFill>
                <a:latin typeface="Calibri"/>
              </a:rPr>
              <a:t>NO HOUSEHOLD CLAIM</a:t>
            </a:r>
          </a:p>
        </p:txBody>
      </p:sp>
      <p:sp>
        <p:nvSpPr>
          <p:cNvPr id="39" name="Rectangle 38"/>
          <p:cNvSpPr/>
          <p:nvPr/>
        </p:nvSpPr>
        <p:spPr>
          <a:xfrm>
            <a:off x="8092440" y="4111752"/>
            <a:ext cx="3611880" cy="877824"/>
          </a:xfrm>
          <a:prstGeom prst="rect">
            <a:avLst/>
          </a:prstGeom>
          <a:solidFill>
            <a:srgbClr val="F2F6FB"/>
          </a:solidFill>
          <a:ln>
            <a:noFill/>
          </a:ln>
        </p:spPr>
        <p:txBody>
          <a:bodyPr rtlCol="0" anchor="ctr" wrap="none"/>
          <a:lstStyle/>
          <a:p>
            <a:pPr algn="ctr"/>
          </a:p>
        </p:txBody>
      </p:sp>
      <p:sp>
        <p:nvSpPr>
          <p:cNvPr id="40" name="TextBox 39"/>
          <p:cNvSpPr txBox="1"/>
          <p:nvPr/>
        </p:nvSpPr>
        <p:spPr>
          <a:xfrm>
            <a:off x="8183880" y="4166616"/>
            <a:ext cx="3429000" cy="768096"/>
          </a:xfrm>
          <a:prstGeom prst="rect">
            <a:avLst/>
          </a:prstGeom>
          <a:noFill/>
        </p:spPr>
        <p:txBody>
          <a:bodyPr wrap="square" lIns="0" rIns="0" tIns="0" bIns="0"/>
          <a:lstStyle/>
          <a:p>
            <a:pPr algn="l">
              <a:lnSpc>
                <a:spcPct val="100000"/>
              </a:lnSpc>
              <a:spcBef>
                <a:spcPts val="0"/>
              </a:spcBef>
              <a:spcAft>
                <a:spcPts val="0"/>
              </a:spcAft>
            </a:pPr>
            <a:r>
              <a:rPr sz="1100" b="0" i="0" lang="en-US" kern="0" dirty="0">
                <a:solidFill>
                  <a:srgbClr val="5B6672"/>
                </a:solidFill>
                <a:latin typeface="Calibri"/>
              </a:rPr>
              <a:t>Association addresses are communities Comcast already serves. Expansion contracts are builds to addresses that lacked service. Nothing sourced says these deals take Spectrum households.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Appendix — Comcast HOA and local government</dc:title>
  <dc:subject>EH&amp;B appendix. Examples of posted places, not a winning map.</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