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1"/>
  <c:date1904 val="0"/>
  <c:chart>
    <c:title>
      <c:tx>
        <c:rich>
          <a:bodyPr/>
          <a:lstStyle/>
          <a:p>
            <a:pPr>
              <a:defRPr/>
            </a:pPr>
            <a:r>
              <a:rPr sz="1200" b="0" i="0">
                <a:solidFill>
                  <a:srgbClr val="0B1F3A"/>
                </a:solidFill>
                <a:latin typeface="Calibri"/>
              </a:rPr>
              <a:t>ACS 2024 usually worked from home (%)  ·  U.S. rate 13.3%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dPt>
            <c:idx val="0"/>
            <c:spPr>
              <a:solidFill>
                <a:srgbClr val="0072CE"/>
              </a:solidFill>
              <a:effectLst/>
            </c:spPr>
          </c:dPt>
          <c:dPt>
            <c:idx val="1"/>
            <c:spPr>
              <a:solidFill>
                <a:srgbClr val="0072CE"/>
              </a:solidFill>
              <a:effectLst/>
            </c:spPr>
          </c:dPt>
          <c:dPt>
            <c:idx val="2"/>
            <c:spPr>
              <a:solidFill>
                <a:srgbClr val="0072CE"/>
              </a:solidFill>
              <a:effectLst/>
            </c:spPr>
          </c:dPt>
          <c:dPt>
            <c:idx val="3"/>
            <c:spPr>
              <a:solidFill>
                <a:srgbClr val="0072CE"/>
              </a:solidFill>
              <a:effectLst/>
            </c:spPr>
          </c:dPt>
          <c:dPt>
            <c:idx val="4"/>
            <c:spPr>
              <a:solidFill>
                <a:srgbClr val="0072CE"/>
              </a:solidFill>
              <a:effectLst/>
            </c:spPr>
          </c:dPt>
          <c:dPt>
            <c:idx val="5"/>
            <c:spPr>
              <a:solidFill>
                <a:srgbClr val="A8B3BF"/>
              </a:solidFill>
              <a:effectLst/>
            </c:spPr>
          </c:dPt>
          <c:dPt>
            <c:idx val="6"/>
            <c:spPr>
              <a:solidFill>
                <a:srgbClr val="A8B3BF"/>
              </a:solidFill>
              <a:effectLst/>
            </c:spPr>
          </c:dPt>
          <c:dPt>
            <c:idx val="7"/>
            <c:spPr>
              <a:solidFill>
                <a:srgbClr val="A8B3BF"/>
              </a:solidFill>
              <a:effectLst/>
            </c:spPr>
          </c:dPt>
          <c:dPt>
            <c:idx val="8"/>
            <c:spPr>
              <a:solidFill>
                <a:srgbClr val="A8B3BF"/>
              </a:solidFill>
              <a:effectLst/>
            </c:spPr>
          </c:dPt>
          <c:dPt>
            <c:idx val="9"/>
            <c:spPr>
              <a:solidFill>
                <a:srgbClr val="A8B3BF"/>
              </a:solidFill>
              <a:effectLst/>
            </c:spPr>
          </c:dPt>
          <c:cat>
            <c:strRef>
              <c:f>Sheet1!$A$2:$A$11</c:f>
              <c:strCache>
                <c:ptCount val="10"/>
                <c:pt idx="0">
                  <c:v>D.C.</c:v>
                </c:pt>
                <c:pt idx="1">
                  <c:v>Colorado</c:v>
                </c:pt>
                <c:pt idx="2">
                  <c:v>Oregon</c:v>
                </c:pt>
                <c:pt idx="3">
                  <c:v>Washington</c:v>
                </c:pt>
                <c:pt idx="4">
                  <c:v>Arizona</c:v>
                </c:pt>
                <c:pt idx="5">
                  <c:v>Alabama</c:v>
                </c:pt>
                <c:pt idx="6">
                  <c:v>South Dakota</c:v>
                </c:pt>
                <c:pt idx="7">
                  <c:v>Louisiana</c:v>
                </c:pt>
                <c:pt idx="8">
                  <c:v>North Dakota</c:v>
                </c:pt>
                <c:pt idx="9">
                  <c:v>Mississippi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22.9</c:v>
                </c:pt>
                <c:pt idx="1">
                  <c:v>19.9</c:v>
                </c:pt>
                <c:pt idx="2">
                  <c:v>17.1</c:v>
                </c:pt>
                <c:pt idx="3">
                  <c:v>16.4</c:v>
                </c:pt>
                <c:pt idx="4">
                  <c:v>16.3</c:v>
                </c:pt>
                <c:pt idx="5">
                  <c:v>8.3</c:v>
                </c:pt>
                <c:pt idx="6">
                  <c:v>8.0</c:v>
                </c:pt>
                <c:pt idx="7">
                  <c:v>8.0</c:v>
                </c:pt>
                <c:pt idx="8">
                  <c:v>7.1</c:v>
                </c:pt>
                <c:pt idx="9">
                  <c:v>6.2</c:v>
                </c:pt>
              </c:numCache>
            </c:numRef>
          </c:val>
          <c:spPr>
            <a:solidFill>
              <a:srgbClr val="A8B3BF"/>
            </a:solidFill>
            <a:effectLst/>
          </c:spPr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B1F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5B6672"/>
                </a:solidFill>
                <a:latin typeface="Calibri"/>
              </a:defRPr>
            </a:pPr>
          </a:p>
        </c:txPr>
        <c:crossAx val="-2113994440"/>
        <c:crosses val="max"/>
        <c:auto val="1"/>
        <c:lblAlgn val="ctr"/>
        <c:lblOffset val="100"/>
        <c:noMultiLvlLbl val="0"/>
      </c:catAx>
      <c:valAx>
        <c:axId val="-2113994440"/>
        <c:scaling>
          <c:min val="0"/>
          <c:max val="100"/>
        </c:scaling>
        <c:delete val="0"/>
        <c:axPos val="b"/>
        <c:majorGridlines>
          <c:spPr>
            <a:ln w="9525">
              <a:solidFill>
                <a:srgbClr val="E3E9F0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5B6672"/>
                </a:solidFill>
                <a:latin typeface="Calibri"/>
              </a:defRPr>
            </a:pPr>
          </a:p>
        </c:txPr>
        <c:crossAx val="-2068027336"/>
        <c:crosses val="autoZero"/>
        <c:majorUnit val="2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1"/>
  <c:date1904 val="0"/>
  <c:chart>
    <c:title>
      <c:tx>
        <c:rich>
          <a:bodyPr/>
          <a:lstStyle/>
          <a:p>
            <a:pPr>
              <a:defRPr/>
            </a:pPr>
            <a:r>
              <a:rPr sz="1200" b="0" i="0">
                <a:solidFill>
                  <a:srgbClr val="0B1F3A"/>
                </a:solidFill>
                <a:latin typeface="Calibri"/>
              </a:rPr>
              <a:t>ATUS 2024: any work at home on days worked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dPt>
            <c:idx val="0"/>
            <c:spPr>
              <a:solidFill>
                <a:srgbClr val="0072CE"/>
              </a:solidFill>
              <a:effectLst/>
            </c:spPr>
          </c:dPt>
          <c:dPt>
            <c:idx val="1"/>
            <c:spPr>
              <a:solidFill>
                <a:srgbClr val="A8B3BF"/>
              </a:solidFill>
              <a:effectLst/>
            </c:spPr>
          </c:dPt>
          <c:dPt>
            <c:idx val="2"/>
            <c:spPr>
              <a:solidFill>
                <a:srgbClr val="0072CE"/>
              </a:solidFill>
              <a:effectLst/>
            </c:spPr>
          </c:dPt>
          <c:dPt>
            <c:idx val="3"/>
            <c:spPr>
              <a:solidFill>
                <a:srgbClr val="A8B3BF"/>
              </a:solidFill>
              <a:effectLst/>
            </c:spPr>
          </c:dPt>
          <c:dPt>
            <c:idx val="4"/>
            <c:spPr>
              <a:solidFill>
                <a:srgbClr val="A8B3BF"/>
              </a:solidFill>
              <a:effectLst/>
            </c:spPr>
          </c:dPt>
          <c:dPt>
            <c:idx val="5"/>
            <c:spPr>
              <a:solidFill>
                <a:srgbClr val="A8B3BF"/>
              </a:solidFill>
              <a:effectLst/>
            </c:spPr>
          </c:dPt>
          <c:dPt>
            <c:idx val="6"/>
            <c:spPr>
              <a:solidFill>
                <a:srgbClr val="A8B3BF"/>
              </a:solidFill>
              <a:effectLst/>
            </c:spPr>
          </c:dPt>
          <c:dPt>
            <c:idx val="7"/>
            <c:spPr>
              <a:solidFill>
                <a:srgbClr val="A8B3BF"/>
              </a:solidFill>
              <a:effectLst/>
            </c:spPr>
          </c:dPt>
          <c:cat>
            <c:strRef>
              <c:f>Sheet1!$A$2:$A$9</c:f>
              <c:strCache>
                <c:ptCount val="8"/>
                <c:pt idx="0">
                  <c:v>Top earnings quartile</c:v>
                </c:pt>
                <c:pt idx="1">
                  <c:v>Bachelor's or higher</c:v>
                </c:pt>
                <c:pt idx="2">
                  <c:v>Management, business, finance</c:v>
                </c:pt>
                <c:pt idx="3">
                  <c:v>Professional and related</c:v>
                </c:pt>
                <c:pt idx="4">
                  <c:v>ATUS overall</c:v>
                </c:pt>
                <c:pt idx="5">
                  <c:v>High school, no college</c:v>
                </c:pt>
                <c:pt idx="6">
                  <c:v>Bottom earnings quartile</c:v>
                </c:pt>
                <c:pt idx="7">
                  <c:v>Service occupations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51.0</c:v>
                </c:pt>
                <c:pt idx="1">
                  <c:v>50.0</c:v>
                </c:pt>
                <c:pt idx="2">
                  <c:v>48.1</c:v>
                </c:pt>
                <c:pt idx="3">
                  <c:v>46.5</c:v>
                </c:pt>
                <c:pt idx="4">
                  <c:v>32.5</c:v>
                </c:pt>
                <c:pt idx="5">
                  <c:v>17.8</c:v>
                </c:pt>
                <c:pt idx="6">
                  <c:v>13.3</c:v>
                </c:pt>
                <c:pt idx="7">
                  <c:v>10.5</c:v>
                </c:pt>
              </c:numCache>
            </c:numRef>
          </c:val>
          <c:spPr>
            <a:solidFill>
              <a:srgbClr val="A8B3BF"/>
            </a:solidFill>
            <a:effectLst/>
          </c:spPr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B1F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5B6672"/>
                </a:solidFill>
                <a:latin typeface="Calibri"/>
              </a:defRPr>
            </a:pPr>
          </a:p>
        </c:txPr>
        <c:crossAx val="-2113994440"/>
        <c:crosses val="max"/>
        <c:auto val="1"/>
        <c:lblAlgn val="ctr"/>
        <c:lblOffset val="100"/>
        <c:noMultiLvlLbl val="0"/>
      </c:catAx>
      <c:valAx>
        <c:axId val="-2113994440"/>
        <c:scaling>
          <c:min val="0"/>
          <c:max val="100"/>
        </c:scaling>
        <c:delete val="0"/>
        <c:axPos val="b"/>
        <c:majorGridlines>
          <c:spPr>
            <a:ln w="9525">
              <a:solidFill>
                <a:srgbClr val="E3E9F0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5B6672"/>
                </a:solidFill>
                <a:latin typeface="Calibri"/>
              </a:defRPr>
            </a:pPr>
          </a:p>
        </c:txPr>
        <c:crossAx val="-2068027336"/>
        <c:crosses val="autoZero"/>
        <c:majorUnit val="2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1"/>
  <c:date1904 val="0"/>
  <c:chart>
    <c:title>
      <c:tx>
        <c:rich>
          <a:bodyPr/>
          <a:lstStyle/>
          <a:p>
            <a:pPr>
              <a:defRPr/>
            </a:pPr>
            <a:r>
              <a:rPr sz="1200" b="0" i="0">
                <a:solidFill>
                  <a:srgbClr val="0B1F3A"/>
                </a:solidFill>
                <a:latin typeface="Calibri"/>
              </a:rPr>
              <a:t>ABS 2023: share of firms that had any work-from-home employees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dPt>
            <c:idx val="0"/>
            <c:spPr>
              <a:solidFill>
                <a:srgbClr val="A8B3BF"/>
              </a:solidFill>
              <a:effectLst/>
            </c:spPr>
          </c:dPt>
          <c:dPt>
            <c:idx val="1"/>
            <c:spPr>
              <a:solidFill>
                <a:srgbClr val="0072CE"/>
              </a:solidFill>
              <a:effectLst/>
            </c:spPr>
          </c:dPt>
          <c:cat>
            <c:strRef>
              <c:f>Sheet1!$A$2:$A$3</c:f>
              <c:strCache>
                <c:ptCount val="2"/>
                <c:pt idx="0">
                  <c:v>Firms under 500</c:v>
                </c:pt>
                <c:pt idx="1">
                  <c:v>Firms with 500+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35.8</c:v>
                </c:pt>
                <c:pt idx="1">
                  <c:v>77.5</c:v>
                </c:pt>
              </c:numCache>
            </c:numRef>
          </c:val>
          <c:spPr>
            <a:solidFill>
              <a:srgbClr val="A8B3BF"/>
            </a:solidFill>
            <a:effectLst/>
          </c:spPr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B1F3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5B667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"/>
          <c:max val="100"/>
        </c:scaling>
        <c:delete val="0"/>
        <c:axPos val="l"/>
        <c:majorGridlines>
          <c:spPr>
            <a:ln w="9525">
              <a:solidFill>
                <a:srgbClr val="E3E9F0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>
                <a:solidFill>
                  <a:srgbClr val="5B6672"/>
                </a:solidFill>
                <a:latin typeface="Calibri"/>
              </a:defRPr>
            </a:pPr>
          </a:p>
        </c:txPr>
        <c:crossAx val="-2068027336"/>
        <c:crosses val="autoZero"/>
        <c:majorUnit val="20"/>
      </c:valAx>
      <c:spPr>
        <a:noFill/>
        <a:ln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WORK FROM HOME  ·  ACS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2014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Usually-WFH spans 16.7 points across states — D.C. 22.9% vs Mississippi 6.2%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A94A0"/>
                </a:solidFill>
                <a:latin typeface="Calibri"/>
              </a:rPr>
              <a:t>Source: U.S. Census Bureau, ACS 2024 1-year table B08301. Usually worked from home among workers 16+. Funded by the U.S. Census Bureau.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A2.1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627632"/>
          <a:ext cx="772667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627632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792224"/>
            <a:ext cx="3035808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B1F3A"/>
                </a:solidFill>
                <a:latin typeface="Calibri"/>
              </a:rPr>
              <a:t>13.3%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B1F3A"/>
                </a:solidFill>
                <a:latin typeface="Calibri"/>
              </a:rPr>
              <a:t>U.S. workers who usually worked from home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22.0 million of 165.4 million workers age 16+.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D.C. is 22.9% (388,136 workers). Mississippi is 6.2% (1,302,251 workers). Blue bars are the five highest states; gray bars are the five lowest.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This slide answers the ACS journey-to-work question: the usual commute was worked from home. ATUS (any work at home on a day worked) and ABS (share of firms) are separate questions on the next slides.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WORK FROM HOME  ·  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2014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Seniority proxies: management 48.1% and top earners 51.0% work at home on days worked — vs 10.5% in service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A94A0"/>
                </a:solidFill>
                <a:latin typeface="Calibri"/>
              </a:rPr>
              <a:t>Source: U.S. Bureau of Labor Statistics, ATUS 2024 Tables 6 and 7. Any work at home on days worked, persons 15+. Funded by the U.S. BLS.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A2.2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627632"/>
          <a:ext cx="772667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627632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792224"/>
            <a:ext cx="3035808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READ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A different question from ACS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ATUS overall: 32.5% of employed people who worked that day did any work at home. Persons 15+. Blue bars are management and the top earnings quartile.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Occupation and earnings stand in for seniority. ATUS does not publish a job-level cut such as VP versus individual contributor.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The bottom earnings quartile on this chart is 13.3%. That is the ATUS day-worked rate for that group. The ACS usual-WFH rate is also 13.3%, and it answers a different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WORK FROM HOME  ·  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20140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77.5% of firms with 500+ employees had any WFH workers — vs 35.8% of firms under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08192"/>
            <a:ext cx="111099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8A94A0"/>
                </a:solidFill>
                <a:latin typeface="Calibri"/>
              </a:rPr>
              <a:t>Source: U.S. Census Bureau, ABS 2023 table AB2300CSCB04. Share of firms with any work-from-home employees. Funded by the U.S. Census Bureau.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5566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A2.3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91640"/>
          <a:ext cx="74523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627632"/>
            <a:ext cx="3429000" cy="4315968"/>
          </a:xfrm>
          <a:prstGeom prst="roundRect">
            <a:avLst>
              <a:gd name="adj" fmla="val 2133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792224"/>
            <a:ext cx="3035808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0072CE"/>
                </a:solidFill>
                <a:latin typeface="Calibri"/>
              </a:rPr>
              <a:t>READ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B1F3A"/>
                </a:solidFill>
                <a:latin typeface="Calibri"/>
              </a:rPr>
              <a:t>Firms, not workers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35.8% of firms under 500 employees had any employees who worked from home. 77.5% of firms with 500 or more employees did. The blue bar is firms with 500+.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A firm is counted if it reported any work-from-home employees (ABS 2023, bins under 500 and 500+). The bar is the share of firms, not the share of workers who work from home.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ACS and ATUS publish worker rates. They do not publish this firm-size cut, so this slide stays on the firm question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