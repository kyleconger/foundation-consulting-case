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Customer net change, Q1 2026 vs Q1 2025 (000s)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change, y/y (thousands)</c:v>
                </c:pt>
              </c:strCache>
            </c:strRef>
          </c:tx>
          <c:spPr>
            <a:solidFill>
              <a:srgbClr val="C8102E">
                <a:alpha val="100000"/>
              </a:srgbClr>
            </a:solidFill>
            <a:effectLst/>
          </c:spPr>
          <c:invertIfNegative val="0"/>
          <c:dLbls>
            <c:numFmt formatCode="#,##0;−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72C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Internet customers</c:v>
                  </c:pt>
                  <c:pt idx="1">
                    <c:v>Mobile lines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-464</c:v>
                </c:pt>
                <c:pt idx="1">
                  <c:v>1769</c:v>
                </c:pt>
              </c:numCache>
            </c:numRef>
          </c:val>
        </c:ser>
        <c:dLbls>
          <c:numFmt formatCode="#,##0;−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"/>
          <c:min val="-1000"/>
        </c:scaling>
        <c:delete val="0"/>
        <c:axPos val="l"/>
        <c:majorGridlines>
          <c:spPr>
            <a:ln w="9525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Calibri"/>
              </a:rPr>
              <a:t>Charter consolidated, $B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9FB6C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Revenue</c:v>
                  </c:pt>
                  <c:pt idx="1">
                    <c:v>Operating costs</c:v>
                  </c:pt>
                  <c:pt idx="2">
                    <c:v>Adj. EBITDA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55.1</c:v>
                </c:pt>
                <c:pt idx="1">
                  <c:v>33.2</c:v>
                </c:pt>
                <c:pt idx="2">
                  <c:v>22.6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Revenue</c:v>
                  </c:pt>
                  <c:pt idx="1">
                    <c:v>Operating costs</c:v>
                  </c:pt>
                  <c:pt idx="2">
                    <c:v>Adj. EBITDA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54.8</c:v>
                </c:pt>
                <c:pt idx="1">
                  <c:v>32.7</c:v>
                </c:pt>
                <c:pt idx="2">
                  <c:v>22.7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9525" cap="flat">
              <a:solidFill>
                <a:srgbClr val="E6EB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4A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frame in one breath: we tested the team's original cost-side hypothesis against the filings, it failed falsification, and the reframed hypothesis is stronger and still cost-flavored — the cost problem lives below the EBITDA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Separate symptom from problem explicitly — this is 10 of 40 points. The right column pre-loads the falsification of the naive cost hypothesis.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tree left to right. Emphasize MECE-ness: A is the revenue leak, B is dead, C is where the team's cost instinct actually lives, D translates A+C into the share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a killed branch is the point of this slide — observation vs. interpretation. Invite O'Donnell to attack H2; that is what the check-in is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question 'is mobile the answer?' — the arithmetic says mobile deepens bundles and cuts churn but cannot replace internet economics at 6x the revenue base and higher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disconfirming exhibit. If the team or O'Donnell wants the cost story, this slide moves the debate below the line, where slide 7 lives.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slide. The 73% = (capex + interest) / EBITDA. Bridge residual (~$1B) is taxes/working capital/other to tie to reported $5.004B FCF. This is where the team's cost instinct is right — just below the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'why is Wall Street looking at it this way' directly. Note the deliberate caveat on the instructor's ~$10B figure vs. the $79.7B program total from filings.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directional — check-in #2 is scored on analysis, not the final answer. Each corridor names the falsification test it still needs, which sets up the asks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one question at a time; force numbers, dates, instances; separate observation from interpretation; ask how they know. These map one-to-one to the open falsification tests on slides 4 and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6930  ·  FOUNDATIONS OF CONSULTING  ·  CHECK-IN #2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not pricing a cost problem.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pricing a cash-access problem.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read-out and working hypotheses for the Office of the CEO, Charter Communications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0072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800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Name]  ·  Josh · Kishore · Justin · Kyle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212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working session with S. O'Donnell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PROBLEM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a collapsing share price. Problem: the market no longer believes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relationships return to growth at an acceptable cash cost.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486400" cy="2880360"/>
          </a:xfrm>
          <a:prstGeom prst="roundRect">
            <a:avLst>
              <a:gd name="adj" fmla="val 2540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SYMPTOM (what the CEO sees)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price over five years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−25%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291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day after Q1 2026 earnings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</a:t>
            </a:r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−120k customers in Q1 2026 — roughly double the ~60k lost in Q1 2025 — and Internet revenue fell for the first time (−1.3%).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44068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103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 (fundamentals)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68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financial distress. </a:t>
            </a:r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FY2025: $54.8B revenue, $22.7B Adj. EBITDA (+0.6%), $5.0B FCF (+18%), ~41% EBITDA margin.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2918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pricing collapse. </a:t>
            </a:r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ARPU ~flat at ~$119/month — by design under simplified Life Unlimited pricing.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406908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operating-cost blowout. </a:t>
            </a:r>
            <a:pPr indent="0" marL="0">
              <a:buNone/>
            </a:pPr>
            <a:r>
              <a:rPr lang="en-US" sz="13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operating costs fell y/y while EBITDA grew.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98348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206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question:  </a:t>
            </a:r>
            <a:pPr indent="0" marL="0">
              <a:buNone/>
            </a:pPr>
            <a:r>
              <a:rPr lang="en-US" sz="150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Wall Street looking at Charter this way — and what strategic move credibly changes the trajectory (not a communications patch)?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ISSUE TREE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decomposed equity value into four branches — and killed one with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288036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017520"/>
            <a:ext cx="1874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CHTR equity value collapsing?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51760" y="3566160"/>
            <a:ext cx="502920" cy="-1764792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1234440"/>
            <a:ext cx="8549640" cy="1143000"/>
          </a:xfrm>
          <a:prstGeom prst="roundRect">
            <a:avLst>
              <a:gd name="adj" fmla="val 4800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4416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PRIMARY LEAK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819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Revenue: subs × ARPU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8562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−464k y/y; ARPU flat by design → volume, not price, is the leak. Mobile +1.7M lines but lower-margin resold capacity.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651760" y="3566160"/>
            <a:ext cx="502920" cy="-484632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2514600"/>
            <a:ext cx="8549640" cy="1143000"/>
          </a:xfrm>
          <a:prstGeom prst="roundRect">
            <a:avLst>
              <a:gd name="adj" fmla="val 4800"/>
            </a:avLst>
          </a:prstGeom>
          <a:solidFill>
            <a:srgbClr val="F1F1F1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262432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— KILLED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8620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Operating cost → EBITDA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313639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fell y/y; margin stable ~41%; FY2025 EBITDA grew. Operating cost is not the driver.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51760" y="3566160"/>
            <a:ext cx="502920" cy="795528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3794760"/>
            <a:ext cx="8549640" cy="1143000"/>
          </a:xfrm>
          <a:prstGeom prst="roundRect">
            <a:avLst>
              <a:gd name="adj" fmla="val 4800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83280" y="390448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REFRAMED COST STORY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1422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Below the line: capex + interest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41655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$11.7B capex + $5.0B interest consume ~73% of EBITDA before equity sees a dollar. Q1: capex +19%, FCF −12%.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651760" y="3566160"/>
            <a:ext cx="502920" cy="2075688"/>
          </a:xfrm>
          <a:prstGeom prst="line">
            <a:avLst/>
          </a:prstGeom>
          <a:noFill/>
          <a:ln w="19050">
            <a:solidFill>
              <a:srgbClr val="B9C4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5074920"/>
            <a:ext cx="8549640" cy="1143000"/>
          </a:xfrm>
          <a:prstGeom prst="roundRect">
            <a:avLst>
              <a:gd name="adj" fmla="val 4800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5184648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— VALUATION LENS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5422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Market lens: multiple × leverage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56967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4.15x net leverage; ~$95B debt means small EV multiple moves swing the thin equity slice violently. Buybacks not rewarded.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·  HYPOTHESES &amp; FALSIFICATION TESTS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the cost hypothesis, rejected it, and reframed it below the 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REJECTED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“Rising operating costs are compressing profit and driving the share-price decline.”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Falsification test: if true, we should observe margin compression and opex outgrowing revenue.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instead: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operating costs $32.7B, down from $33.2B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 +0.6% to $22.7B; margin stable ~41%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EBITDA −2.2% tracks revenue −1.0% + mix — not cost inflation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~$119, flat by design — no cost-driven price squeeze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53328" y="3429000"/>
            <a:ext cx="502920" cy="502920"/>
          </a:xfrm>
          <a:prstGeom prst="rightArrow">
            <a:avLst/>
          </a:prstGeom>
          <a:solidFill>
            <a:srgbClr val="0072CE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2F6FB"/>
          </a:solidFill>
          <a:ln w="19050">
            <a:solidFill>
              <a:srgbClr val="0072C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WORKING HYPOTHESIS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148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cost problem is real but lives below EBITDA: capex + interest consume the cash before equity can touch it, while the revenue engine shrinks — so the market will not pay for EBITDA it cannot access.”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3657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falsify H2: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conversion improving while subs decline (it is not: FCF −12% in Q1)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rewarding buybacks (it is not: $79.7B retired since 2016; stock at 10-yr lows)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Losses concentrated where network evolution is complete (data-pack test — open)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·  BRANCH A — REVENUE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 is volume: mobile growth cannot arithmetically offset internet losses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3736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737360"/>
            <a:ext cx="5212080" cy="1645920"/>
          </a:xfrm>
          <a:prstGeom prst="roundRect">
            <a:avLst>
              <a:gd name="adj" fmla="val 4444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MOBILE CANNOT COVER THE LEAK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2212848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$23.8B</a:t>
            </a:r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FY2025 Internet revenue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$3.8B</a:t>
            </a:r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FY2025 Mobile service revenue (+22%) — and lower-margin resold MVNO capacity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92240" y="356616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3749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NOT THE LEAK EITHER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404164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ARPU: $118.71 → $119.05 → $118.44 (FY24 → FY25 → Q1'26) — flat by design under simplified pricing.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2026: Internet revenue fell (−1.3%) for the first time — subs finally pulled revenue down with them.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CHTR Q1 2026 10-Q; FY2025 10-K (restated customer basis; do not mix with pre-restatement FY2023).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BRANCH B — OPERATING COST (KILLED)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costs are not the problem: costs fell, EBITDA grew, margin held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37360"/>
          <a:ext cx="6675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8308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18120" y="1874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9281160" y="1874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EBITDA margin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274320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1812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928116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EBITDA margin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89520" y="3703320"/>
            <a:ext cx="4114800" cy="822960"/>
          </a:xfrm>
          <a:prstGeom prst="roundRect">
            <a:avLst>
              <a:gd name="adj" fmla="val 6667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1812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EBITDA margin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589520" y="4709160"/>
            <a:ext cx="4114800" cy="91440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18120" y="4828032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EBITDA −2.2% tracks revenue decline + mix — not cost inflation. Branch closed.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FY2025 10-K (op costs $32,739M vs $33,167M; Adj. EBITDA $22,708M vs $22,569M); Q1 2026 10-Q.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·  BRANCH C — BELOW THE 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~73¢ of every EBITDA dollar is spoken for before shareholders see a cent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5623560"/>
            <a:ext cx="10881360" cy="0"/>
          </a:xfrm>
          <a:prstGeom prst="line">
            <a:avLst/>
          </a:prstGeom>
          <a:noFill/>
          <a:ln w="15875">
            <a:solidFill>
              <a:srgbClr val="C7CF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83080"/>
            <a:ext cx="1554480" cy="38404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99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$22.7B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96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Adj. EBITDA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23160" y="1783080"/>
            <a:ext cx="594360" cy="0"/>
          </a:xfrm>
          <a:prstGeom prst="line">
            <a:avLst/>
          </a:prstGeom>
          <a:noFill/>
          <a:ln w="12700">
            <a:solidFill>
              <a:srgbClr val="AAB6C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017520" y="1783080"/>
            <a:ext cx="1554480" cy="197945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97480" y="1399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−$11.7B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5696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expenditures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0" y="3762534"/>
            <a:ext cx="594360" cy="0"/>
          </a:xfrm>
          <a:prstGeom prst="line">
            <a:avLst/>
          </a:prstGeom>
          <a:noFill/>
          <a:ln w="12700">
            <a:solidFill>
              <a:srgbClr val="AAB6C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166360" y="3762534"/>
            <a:ext cx="1554480" cy="845921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37848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−$5.0B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5696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(~$95B debt)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0840" y="4608455"/>
            <a:ext cx="594360" cy="0"/>
          </a:xfrm>
          <a:prstGeom prst="line">
            <a:avLst/>
          </a:prstGeom>
          <a:noFill/>
          <a:ln w="12700">
            <a:solidFill>
              <a:srgbClr val="AAB6C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315200" y="4608455"/>
            <a:ext cx="1554480" cy="169184"/>
          </a:xfrm>
          <a:prstGeom prst="rect">
            <a:avLst/>
          </a:prstGeom>
          <a:solidFill>
            <a:srgbClr val="E08A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95160" y="4224407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8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−$1.0B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5696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Taxes, WC,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4777639"/>
            <a:ext cx="868680" cy="0"/>
          </a:xfrm>
          <a:prstGeom prst="line">
            <a:avLst/>
          </a:prstGeom>
          <a:noFill/>
          <a:ln w="12700">
            <a:solidFill>
              <a:srgbClr val="AAB6C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738360" y="4777639"/>
            <a:ext cx="1554480" cy="845921"/>
          </a:xfrm>
          <a:prstGeom prst="rect">
            <a:avLst/>
          </a:prstGeom>
          <a:solidFill>
            <a:srgbClr val="1E7A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418320" y="4393591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$5.0B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56967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63840" y="182880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BECE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2440" y="19659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MOVING THE WRONG WAY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2240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2026: capex +19% y/y (CPE +41%, upgrade/rebuild +71%) → FCF −12%. </a:t>
            </a:r>
            <a:pPr indent="0" marL="0">
              <a:buNone/>
            </a:pPr>
            <a:r>
              <a:rPr lang="en-US" sz="115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evolution targeted complete end-2027; the step-down is the catalyst investors watch.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FY2025 10-K: Adj. EBITDA $22.7B, capex $11.7B, interest expense ~$5.0B, FCF $5.0B. FCF conversion ≈ 22% of EBITDA.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·  BRANCH D — THE MARKET'S LENS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equity on a $95B debt stack: why buybacks are not holding the price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$79.7B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repurchased since Sep 2016 (~184M shares/units, incl. Liberty/A/N)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49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~$25B market cap at Q1 close — the market has out-run the buyback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965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4.15x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/ TTM Adj. EBITDA at 3/31/26; plan holds 4.0–4.5x until Cox closes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749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~$5B/yr is a fixed cash claim ahead of equity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83880" y="178308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2F6FB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9659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±0.5x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788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the EV/EBITDA multiple ≈ ±$11B of enterprise value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74904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±45% swing in the equity — sub losses reset the multiple faster than share count shrinks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663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 </a:t>
            </a:r>
            <a:pPr indent="0" marL="0">
              <a:buNone/>
            </a:pPr>
            <a:r>
              <a:rPr lang="en-US" sz="14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repricing terminal value of the subscriber base, not punishing operations. EPS engineering cannot outrun a shrinking-asset narrative — only a credible growth/cash story can.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FY2025 10-K; Q1 2026 10-Q; buyback total per filings (instructor's ~$10B framing to be verified — not substituted for program total). Market cap ≈ 137.7M diluted shares × ~$180.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·  DIRECTIONAL CORRIDORS (NOT YET RECOMMENDATIONS)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corridors follow from the diagnosis — Week 7 will pick and prove one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A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cash inflection believable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718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post-2027 capex step-down: quantify steady-state capex, tie milestones to network-evolution completion, and pre-commit the freed FCF. Converts H2 directly into a market re-rating story.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92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is the $11.4B guide separable? What is committed vs. discretionary?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128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the claims on cash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9718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path below 4.0x ahead of plan; shift buybacks toward debt paydown until sub trends stabilize; graduate mobile from resold MVNO capacity to owned economics via CBRS/5G offload.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4892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is the 4.0–4.5x band negotiable? CBRS margin at scale?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83880" y="17373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5875">
            <a:solidFill>
              <a:srgbClr val="0072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920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21284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volume leak directly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9718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losses where they occur: FWA-exposed, price-sensitive segments vs. fiber-overbuilt territory require different plays (convergence pricing, Invincible WiFi, rural infill where Charter wins share).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892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 churn split by competitive overlap — the decisive data-pack cut.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·  ASKS FOR TODAY'S WORKING SESSION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client before Week 7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645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DATA PACK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965960"/>
            <a:ext cx="5440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fields are measured vs. coded? (Are churn reasons agent-coded, like the call-center triage codes?)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split by competitive overlap: FWA territory vs. fiber-overbuilt vs. uncontested — what % of the 464k came from each?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~$11.4B 2026 capex guide, how much is contractually or subsidy-committed vs. discretionary?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management believe post-2027 steady-state capex is — and has the market been told?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CBRS/5G offload been modeled to mobile gross margin at scale?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55080" y="16459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7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SCOPE &amp; CONSTRAINTS (CONTRACTING)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965960"/>
            <a:ext cx="5349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final pitch: are the 4.0–4.5x leverage band and the buyback program negotiable, or board-level constants?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treat Cox as closed at mid-2026, pending, or in scope to challenge?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horizon for “changing the trajectory”: next 8 quarters or 2030 positioning?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options are off the table (asset sales, footprint exits, video divestiture, going private)?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rather see us kill a hypothesis with data today than defend a weak one to Week 7?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0" cy="393192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#2  ·  Charter Communications (CHTR)  ·  Facts as of Q1 2026 (3/31/26) unless noted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2026-09-15T15:44:46Z</dcterms:created>
  <dcterms:modified xsi:type="dcterms:W3CDTF">2026-09-15T15:44:46Z</dcterms:modified>
</cp:coreProperties>
</file>