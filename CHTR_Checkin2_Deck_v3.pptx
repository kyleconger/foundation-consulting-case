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0B1F3A"/>
                </a:solidFill>
                <a:latin typeface="Calibri"/>
              </a:rPr>
              <a:t>CHTR one-day return on each earnings date (label = internet net adds printed)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Earnings-day close-to-close return (%)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;−0.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0B1F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Q4'24
(−177k)</c:v>
                  </c:pt>
                  <c:pt idx="1">
                    <c:v>Q1'25
(−59k)</c:v>
                  </c:pt>
                  <c:pt idx="2">
                    <c:v>Q2'25
(−116k)</c:v>
                  </c:pt>
                  <c:pt idx="3">
                    <c:v>Q3'25
(−109k)</c:v>
                  </c:pt>
                  <c:pt idx="4">
                    <c:v>Q4'25
(−119k)</c:v>
                  </c:pt>
                  <c:pt idx="5">
                    <c:v>Q1'26
(−120k)</c:v>
                  </c:pt>
                  <c:pt idx="6">
                    <c:v>Q2'26
(−172k)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2.6</c:v>
                </c:pt>
                <c:pt idx="1">
                  <c:v>11.4</c:v>
                </c:pt>
                <c:pt idx="2">
                  <c:v>-18.5</c:v>
                </c:pt>
                <c:pt idx="3">
                  <c:v>1.3</c:v>
                </c:pt>
                <c:pt idx="4">
                  <c:v>7.6</c:v>
                </c:pt>
                <c:pt idx="5">
                  <c:v>-25.5</c:v>
                </c:pt>
                <c:pt idx="6">
                  <c:v>-2.5</c:v>
                </c:pt>
              </c:numCache>
            </c:numRef>
          </c:val>
        </c:ser>
        <c:dLbls>
          <c:numFmt formatCode="0.0;−0.0" sourceLinked="0"/>
          <c:txPr>
            <a:bodyPr/>
            <a:lstStyle/>
            <a:p>
              <a:pPr>
                <a:defRPr b="0" i="0" strike="noStrike" sz="1050" u="none">
                  <a:solidFill>
                    <a:srgbClr val="0B1F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6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-30"/>
        </c:scaling>
        <c:delete val="0"/>
        <c:axPos val="l"/>
        <c:majorGridlines>
          <c:spPr>
            <a:ln w="9525" cap="flat">
              <a:solidFill>
                <a:srgbClr val="E6EBF1"/>
              </a:solidFill>
              <a:prstDash val="solid"/>
              <a:round/>
            </a:ln>
          </c:spPr>
        </c:majorGridlines>
        <c:numFmt formatCode="0;−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0B1F3A"/>
                </a:solidFill>
                <a:latin typeface="Calibri"/>
              </a:rPr>
              <a:t>YoY change in internet revenue, decomposed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effect ($M)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24Q1</c:v>
                  </c:pt>
                  <c:pt idx="1">
                    <c:v>24Q2</c:v>
                  </c:pt>
                  <c:pt idx="2">
                    <c:v>24Q3</c:v>
                  </c:pt>
                  <c:pt idx="3">
                    <c:v>24Q4</c:v>
                  </c:pt>
                  <c:pt idx="4">
                    <c:v>25Q1</c:v>
                  </c:pt>
                  <c:pt idx="5">
                    <c:v>25Q2</c:v>
                  </c:pt>
                  <c:pt idx="6">
                    <c:v>25Q3</c:v>
                  </c:pt>
                  <c:pt idx="7">
                    <c:v>25Q4</c:v>
                  </c:pt>
                  <c:pt idx="8">
                    <c:v>26Q1</c:v>
                  </c:pt>
                  <c:pt idx="9">
                    <c:v>26Q2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</c:v>
                </c:pt>
                <c:pt idx="1">
                  <c:v>-20</c:v>
                </c:pt>
                <c:pt idx="2">
                  <c:v>-57</c:v>
                </c:pt>
                <c:pt idx="3">
                  <c:v>-85</c:v>
                </c:pt>
                <c:pt idx="4">
                  <c:v>-95</c:v>
                </c:pt>
                <c:pt idx="5">
                  <c:v>-91</c:v>
                </c:pt>
                <c:pt idx="6">
                  <c:v>-89</c:v>
                </c:pt>
                <c:pt idx="7">
                  <c:v>-84</c:v>
                </c:pt>
                <c:pt idx="8">
                  <c:v>-86</c:v>
                </c:pt>
                <c:pt idx="9">
                  <c:v>-98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Price / mix / allocation ($M)</c:v>
                </c:pt>
              </c:strCache>
            </c:strRef>
          </c:tx>
          <c:spPr>
            <a:solidFill>
              <a:srgbClr val="0072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24Q1</c:v>
                  </c:pt>
                  <c:pt idx="1">
                    <c:v>24Q2</c:v>
                  </c:pt>
                  <c:pt idx="2">
                    <c:v>24Q3</c:v>
                  </c:pt>
                  <c:pt idx="3">
                    <c:v>24Q4</c:v>
                  </c:pt>
                  <c:pt idx="4">
                    <c:v>25Q1</c:v>
                  </c:pt>
                  <c:pt idx="5">
                    <c:v>25Q2</c:v>
                  </c:pt>
                  <c:pt idx="6">
                    <c:v>25Q3</c:v>
                  </c:pt>
                  <c:pt idx="7">
                    <c:v>25Q4</c:v>
                  </c:pt>
                  <c:pt idx="8">
                    <c:v>26Q1</c:v>
                  </c:pt>
                  <c:pt idx="9">
                    <c:v>26Q2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93</c:v>
                </c:pt>
                <c:pt idx="1">
                  <c:v>93</c:v>
                </c:pt>
                <c:pt idx="2">
                  <c:v>153</c:v>
                </c:pt>
                <c:pt idx="3">
                  <c:v>136</c:v>
                </c:pt>
                <c:pt idx="4">
                  <c:v>199</c:v>
                </c:pt>
                <c:pt idx="5">
                  <c:v>254</c:v>
                </c:pt>
                <c:pt idx="6">
                  <c:v>188</c:v>
                </c:pt>
                <c:pt idx="7">
                  <c:v>123</c:v>
                </c:pt>
                <c:pt idx="8">
                  <c:v>8</c:v>
                </c:pt>
                <c:pt idx="9">
                  <c:v>-95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-15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0"/>
          <c:min val="-120"/>
        </c:scaling>
        <c:delete val="0"/>
        <c:axPos val="l"/>
        <c:majorGridlines>
          <c:spPr>
            <a:ln w="9525" cap="flat">
              <a:solidFill>
                <a:srgbClr val="E6EBF1"/>
              </a:solidFill>
              <a:prstDash val="solid"/>
              <a:round/>
            </a:ln>
          </c:spPr>
        </c:majorGridlines>
        <c:numFmt formatCode="0;−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6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breath: we ran the event study the brief asks for. The tape prices internet net adds — in acceleration and surprise terms — and has rejected every offset management has offered. That finding killed two of our own hypotheses and leaves two recommendation families.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 said 'the market doesn't believe relationships return to growth at acceptable cash cost' — directionally right, unfocused. v2 names the priced variable, the rejected offsets, and the deadline, and every clause is checkable against the event study on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chain is the method working: each kill was our own falsification test, run on our own hypothesis. H2 was this team's prior favorite — the CMCSA comp killed it as the differentiator, though the FCF-consumption accounting remains true and feeds Branch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MECE at the level that matters: every recommendation either changes the print or changes what is printed. Branch 1 hangs on the attribution cut (the top data-pack ask). Branch 2 inherits the true parts of H2.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correlation the brief asks for. If O'Donnell pushes: the Jul 25 2025 print improved y/y but missed consensus by ~43k and fell 18.5% — surprise and acceleration jointly, level never. This slide is why H3 replaced H2.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kills any 'ARPU will carry it' claim. The Life Unlimited lower-promo strategy caps mix by design, so once volume losses compound, dollars follow. Ties the operating reality to the tape's reaction on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is an offset management or bulls have offered, with the market's observed verdict. This is the disconfirmation record that justifies narrowing to the two branches on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card is deliberately honest about ignorance — that is the credibility play with a former insider. Right column shows we are ready to move the moment the attribution cut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the objection: Branch 2 is not a PR answer — each move creates verifiable milestones that change what investors can price. The line between strategy and communications is itself a contracting question for O'Donnell (slide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question at a time; numbers, dates, instances; observation before interpretation; ask how they know. Q2 maps to the triage-code story. Q9 (post-anchor facts) protects the final deck — get the ruling on record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6930  ·  FOUNDATIONS OF CONSULTING  ·  CHECK-IN #2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prices one number.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what it is — and what it refuses to credit.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033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read-out for the Office of the CEO: an event-study view of the share-price collapse,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killed hypotheses, and the two recommendation families that survive.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1750">
            <a:solidFill>
              <a:srgbClr val="0072C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892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  ·  Josh · Kishore · Justin · Kyle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303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session with S. O'Donnell  ·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PROBLEM DEFINITION (V2)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prices the internet net-add trajectory — and has refused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offset Charter has offered against 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848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−80% over five years; −25.5% on Apr 24, 2026. And it kept going: </a:t>
            </a:r>
            <a:pPr indent="0" marL="0">
              <a:buNone/>
            </a:pPr>
            <a:r>
              <a:rPr lang="en-US" sz="13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 → $123 by the Q2 print (Jul 24)</a:t>
            </a:r>
            <a:pPr indent="0" marL="0"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despite ~41% EBITDA margins, +19% mobile line growth, and ~$79.7B of cumulative buybacks.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6118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OFFSETS THE TAPE HAS ALREADY REJECTED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90448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growth (tested on two earnings days — refused both)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/ EPS accretion (r = 0.08 vs the priced variable)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Promised 2027 capex relief (a wait — not credited in advance)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4406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0072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20848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37744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multiple keys on a single operating print — internet net adds, in </a:t>
            </a:r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second-derivative and surprise terms</a:t>
            </a:r>
            <a:pPr indent="0" marL="0"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Strategy currently asks investors to wait for offsets the tape has rejected, while the causal driver of the losses (fiber vs. FWA vs. housing paralysis) remains unidentified — even internally.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40233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Dollars turned too: </a:t>
            </a:r>
            <a:pPr indent="0" marL="0"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price/mix stopped covering volume in Q1 2026 (+$8M) and went negative in Q2 (−$95M).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983480"/>
            <a:ext cx="1120140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510235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question:  </a:t>
            </a:r>
            <a:pPr indent="0" marL="0">
              <a:buNone/>
            </a:pPr>
            <a:r>
              <a:rPr lang="en-US" sz="145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action either (a) credibly bends the internet net-add curve within ~8 quarters, or (b) legitimately changes what the market has to price — and what evidence proves it in advance?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#2 (v2)  ·  Charter Communications (CHTR)  ·  Anchored to Q1 2026; Q2 2026 labeled as later public fact where used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HOW WE GOT HERE — TWO HYPOTHESES KILLED BY OUR OWN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and H2 failed falsification; H3 is what survived the evidence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20440" cy="4069080"/>
          </a:xfrm>
          <a:prstGeom prst="roundRect">
            <a:avLst>
              <a:gd name="adj" fmla="val 2078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KILLED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“Operating costs are compressing profit.”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margin compression, opex outgrowing revenue.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4805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opex fell y/y ($33.2B → $32.7B); margin stable ~41%; FY2025 EBITDA grew. Dead on arrival.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69080" y="3520440"/>
            <a:ext cx="502920" cy="457200"/>
          </a:xfrm>
          <a:prstGeom prst="rightArrow">
            <a:avLst/>
          </a:prstGeom>
          <a:solidFill>
            <a:srgbClr val="0072CE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1691640"/>
            <a:ext cx="3520440" cy="4069080"/>
          </a:xfrm>
          <a:prstGeom prst="roundRect">
            <a:avLst>
              <a:gd name="adj" fmla="val 2078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8745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KILLED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1945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“Capex + interest trap the cash; the market won't pay for EBITDA it can't access.”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520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a Charter-specific EBITDA-multiple discount vs peers.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4805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CHTR ~6.1x EV/EBITDA vs CMCSA ~5.7x — same neighborhood. High FCF yield is the whole sector. True accounting; wrong differentiator.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09560" y="3520440"/>
            <a:ext cx="502920" cy="457200"/>
          </a:xfrm>
          <a:prstGeom prst="rightArrow">
            <a:avLst/>
          </a:prstGeom>
          <a:solidFill>
            <a:srgbClr val="0072CE"/>
          </a:solidFill>
          <a:ln/>
        </p:spPr>
      </p:sp>
      <p:sp>
        <p:nvSpPr>
          <p:cNvPr id="16" name="Shape 14"/>
          <p:cNvSpPr/>
          <p:nvPr/>
        </p:nvSpPr>
        <p:spPr>
          <a:xfrm>
            <a:off x="8183880" y="1691640"/>
            <a:ext cx="3520440" cy="4069080"/>
          </a:xfrm>
          <a:prstGeom prst="roundRect">
            <a:avLst>
              <a:gd name="adj" fmla="val 2078"/>
            </a:avLst>
          </a:prstGeom>
          <a:solidFill>
            <a:srgbClr val="F2F6FB"/>
          </a:solidFill>
          <a:ln w="19050">
            <a:solidFill>
              <a:srgbClr val="0072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0" y="18745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— WORKING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1945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“Equity value is set by the sign and acceleration of internet net adds; no other metric re-rates the stock while that series worsens y/y.”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520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kills: (a) worsening y/y print + positive tape on another driver; (b) discount fully explained by leverage; (c) losses all housing-driven.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4805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the Apr 24 natural experiment (next slide).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1447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H2 peer test: published EV/EBITDA snapshots ~Apr 2026 (team analysis on TIKR/Devyara data — analysis, not a filing). H1: FY2025 10-K.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#2 (v2)  ·  Charter Communications (CHTR)  ·  Anchored to Q1 2026; Q2 2026 labeled as later public fact where used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ISSUE TREE (V2)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branches can satisfy the CEO charge; one records what we closed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154680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credibly changes the share-price trajectory?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651760" y="3730752"/>
            <a:ext cx="502920" cy="-1559052"/>
          </a:xfrm>
          <a:prstGeom prst="line">
            <a:avLst/>
          </a:prstGeom>
          <a:noFill/>
          <a:ln w="19050">
            <a:solidFill>
              <a:srgbClr val="B9C4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54680" y="1371600"/>
            <a:ext cx="8549640" cy="1600200"/>
          </a:xfrm>
          <a:prstGeom prst="roundRect">
            <a:avLst>
              <a:gd name="adj" fmla="val 3429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48132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1 — BEND THE PRINT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7190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 internet net adds within ~8 quarters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01168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1a. Attribution (decisive unknown): fiber vs FWA vs housing vs price — jointly unidentified in filings.   1b. Lever→driver map: convergence pricing → FWA; multi-gig quality → fiber; rural infill → the one footprint growing (+47k in Q2).   1c. Unit economics: cost per saved sub vs LTV; mobile line margin vs internet sub margin.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3730752"/>
            <a:ext cx="502920" cy="132588"/>
          </a:xfrm>
          <a:prstGeom prst="line">
            <a:avLst/>
          </a:prstGeom>
          <a:noFill/>
          <a:ln w="19050">
            <a:solidFill>
              <a:srgbClr val="B9C4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3154680"/>
            <a:ext cx="8549640" cy="1417320"/>
          </a:xfrm>
          <a:prstGeom prst="roundRect">
            <a:avLst>
              <a:gd name="adj" fmla="val 3871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326440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2 — CHANGE THE PRINT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5021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what the market has to price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379476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2a. Re-segment &amp; disclose: rural infrastructure build vs mature core; publish steady-state post-2027 capex.   2b. Capital-allocation regime change: buybacks → deleveraging below 4.0x until net adds stabilize (the buyback signal is spent).   2c. Perimeter: what Cox proves or hides.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3730752"/>
            <a:ext cx="502920" cy="1527048"/>
          </a:xfrm>
          <a:prstGeom prst="line">
            <a:avLst/>
          </a:prstGeom>
          <a:noFill/>
          <a:ln w="19050">
            <a:solidFill>
              <a:srgbClr val="B9C4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4754880"/>
            <a:ext cx="8549640" cy="1005840"/>
          </a:xfrm>
          <a:prstGeom prst="roundRect">
            <a:avLst>
              <a:gd name="adj" fmla="val 5455"/>
            </a:avLst>
          </a:prstGeom>
          <a:solidFill>
            <a:srgbClr val="F1F1F1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486460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3 — CLOSED (kept as method)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51023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with data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53949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(margins ~41%, stable) · FCF-as-lens (r = 0.08; capex-phasing artifact; sector-wide yield) · Mobile netting (refused on two earnings days).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#2 (v2)  ·  Charter Communications (CHTR)  ·  Anchored to Q1 2026; Q2 2026 labeled as later public fact where used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·  THE MONEY EXHIBIT — EARNINGS-DAY EVENT STUDY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print, opposite tape: the market prices acceleration and surprise,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levels — and not cash flow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874520"/>
          <a:ext cx="68580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874520"/>
            <a:ext cx="4069080" cy="2377440"/>
          </a:xfrm>
          <a:prstGeom prst="roundRect">
            <a:avLst>
              <a:gd name="adj" fmla="val 3077"/>
            </a:avLst>
          </a:prstGeom>
          <a:solidFill>
            <a:srgbClr val="F2F6FB"/>
          </a:solidFill>
          <a:ln w="15875">
            <a:solidFill>
              <a:srgbClr val="0072C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20574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EXPERIMENT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359152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2025:  −119k internet  →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+7.6%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(beat −177k a year prior)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2026:  −120k internet  →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−25.5%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(doubled −59k a year prior)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40156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thousand customers apart in level. Thirty-three points apart in reaction. The variable is the second derivative.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35240" y="443484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0" y="457200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is not the lens: </a:t>
            </a:r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0.08 between internet net adds and FCF. Consensus misses also sold (Q2'25: −116k vs ~−73k expected, −18.5%).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61447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Team event study (chtr-issue-tree-charts): Yahoo Finance close-to-close on earnings dates; internet prints from trending/Ex99.1. Q2 2026 is a later public fact. Analysis, not a filing.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#2 (v2)  ·  Charter Communications (CHTR)  ·  Anchored to Q1 2026; Q2 2026 labeled as later public fact where used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THE ENGINE IN DOLLARS — VOLUME VS PRICE/MIX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Price/mix covered volume for eight straight quarters — until it didn't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783080"/>
          <a:ext cx="7223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783080"/>
            <a:ext cx="3703320" cy="2103120"/>
          </a:xfrm>
          <a:prstGeom prst="roundRect">
            <a:avLst>
              <a:gd name="adj" fmla="val 3478"/>
            </a:avLst>
          </a:prstGeom>
          <a:solidFill>
            <a:srgbClr val="FBECE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0" y="19659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2258568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2026: mix +$8M — effectively zero. Internet revenue fell (−1.3%) for the first time.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2026: mix itself negative (−$95M) on top of −$98M volume. The engine now shrinks in dollars, not just subscribers.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01000" y="4069080"/>
            <a:ext cx="3703320" cy="1554480"/>
          </a:xfrm>
          <a:prstGeom prst="roundRect">
            <a:avLst>
              <a:gd name="adj" fmla="val 4706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0" y="420624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Provenance: </a:t>
            </a:r>
            <a:pPr indent="0" marL="0">
              <a:buNone/>
            </a:pPr>
            <a:r>
              <a:rPr lang="en-US" sz="11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identity (Δ avg customers × prior-year revenue per customer); audited analog is the FY2025 10-K split (+$785M mix / −$380M residential volume). Programmer-app costs are netted in video and kept out of this bridge.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61447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Team analysis on trending internet revenue &amp; customers; Q1–Q2 2026 revenue from Ex99.1 ($5,852M, $5,776M). Analysis, not a filing.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#2 (v2)  ·  Charter Communications (CHTR)  ·  Anchored to Q1 2026; Q2 2026 labeled as later public fact where used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·  THREE OFFSETS, TESTED AND REFUSED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cash flow, and buybacks: the tape has rejected each 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NETTING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5798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+3.7M vs −1.1M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8892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lines +3.7M while internet fell −1.1M over ten quarters. Apr 25, 2025: a mobile/video beat rallied the stock past a −59k internet print. Apr 24, 2026: +368k mobile lines could not offset −120k internet — down 25.5%.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8463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twice on earnings days. Refused both times. “Connectivity customers” is a reporting construct, not a valuation construct.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8745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15798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0.08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78892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swings with capex accruals and phasing (upgrade/rebuild stepping up into 2026; rural easing), not with the profit engine. FY2025 FCF rose 18% while internet lost 403k customers — and the stock fell all year.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8463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context: CHTR ~6.1x EV/EBITDA vs CMCSA ~5.7x. High FCF yield is the sector, not a Charter-only discount.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18745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BUYBACKS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15798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$79.7B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78892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~184M shares/units retired since Sep 2016 — the machine that converts flat net income into rising EPS. FY2025 alone: ~$5.4B. The stock still made new 10-year lows; on Apr 24 both CHTR (−25.5%) and CMCSA (−13%) de-rated, Charter by far more.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8463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engineering cannot outrun a worsening priced variable. The signal is spent.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1447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Trending/Ex99.1 (customers, FCF); FY2025 10-K (buybacks); peer multiples &amp; prices from team analysis — analysis, not a filing.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#2 (v2)  ·  Charter Communications (CHTR)  ·  Anchored to Q1 2026; Q2 2026 labeled as later public fact where used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·  BRANCH 1 — BEND THE PRINT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prescribe a defense without identifying the attacker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120640" cy="4069080"/>
          </a:xfrm>
          <a:prstGeom prst="roundRect">
            <a:avLst>
              <a:gd name="adj" fmla="val 1798"/>
            </a:avLst>
          </a:prstGeom>
          <a:solidFill>
            <a:srgbClr val="FBECEE"/>
          </a:solidFill>
          <a:ln w="15875">
            <a:solidFill>
              <a:srgbClr val="C810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ATTRIBUTION GAP (decisive unknown)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from filings: AT&amp;T 100 Mbps+ fiber overlaps ~27% of footprint; Verizon ~16%. FWA keeps winning price-sensitive subs. Housing turnover is frozen — the industry counts on moves.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known — anywhere public: what share of the −120k/qtr comes from each. Fiber, FWA, and housing are jointly unidentified; no DMA or overlap split exists in filings.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any Branch-1 recommendation made today would prescribe a defense without knowing the attacker. The churn-by-overlap cut is the single most valuable thing the data pack can contain.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178308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→ DRIVER MAP (ready to test the moment attribution lands)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89320" y="2148840"/>
            <a:ext cx="5715000" cy="822960"/>
          </a:xfrm>
          <a:prstGeom prst="roundRect">
            <a:avLst>
              <a:gd name="adj" fmla="val 6667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0" y="22311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pricing (internet + unlimited mobile)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505456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FWA's price pitch — but needs mobile unit economics (MVNO wholesale) to prove it defends value rather than destroys margin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89320" y="3063240"/>
            <a:ext cx="5715000" cy="822960"/>
          </a:xfrm>
          <a:prstGeom prst="roundRect">
            <a:avLst>
              <a:gd name="adj" fmla="val 6667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31455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Symmetrical multi-gig / network evolution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419856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fiber parity claims — but only credits if losses concentrate where evolution is incomplete (testable)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3977640"/>
            <a:ext cx="5715000" cy="822960"/>
          </a:xfrm>
          <a:prstGeom prst="roundRect">
            <a:avLst>
              <a:gd name="adj" fmla="val 6667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40599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subsidized infill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4334256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footprint where relationships grow (+47k in Q2, +41k in Q1). “Infrastructure-style returns” — the growth story hiding inside the consolidated print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9320" y="4892040"/>
            <a:ext cx="5715000" cy="822960"/>
          </a:xfrm>
          <a:prstGeom prst="roundRect">
            <a:avLst>
              <a:gd name="adj" fmla="val 6667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49743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economics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5248656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saved sub vs LTV, by competitor type — has Charter run controlled experiments? (Question for the client)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1447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FY2025 10-K (overlap %, housing commentary); Q1/Q2 2026 releases (rural relationships).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#2 (v2)  ·  Charter Communications (CHTR)  ·  Anchored to Q1 2026; Q2 2026 labeled as later public fact where used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·  BRANCH 2 — CHANGE THE PRINT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curve can't bend fast enough, change what the market must price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875">
            <a:solidFill>
              <a:srgbClr val="0072C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 — RE-SEGMENT &amp; DISCLOSE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762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businesses, not one melting one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subsidized rural build (growing, $8B program, “infrastructure-style returns”) separately from the mature core; publish steady-state post-2027 capex with milestones. Today one consolidated internet line lets the shrinking core set the multiple for everything.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983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the true half of H2: the capex/interest math feeds the credibility story.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875">
            <a:solidFill>
              <a:srgbClr val="0072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8745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— CAPITAL REGIME CHANGE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1762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the spent signal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880360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shift: buybacks → deleveraging below 4.0x until internet net adds stabilize. $79.7B of repurchases did not hold the price; a stated regime change converts leverage from an amplifier of doubt into a milestone the market can verify quarterly.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983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knowing whether the 4.0–4.5x band and buyback program are board constants (contracting question).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875">
            <a:solidFill>
              <a:srgbClr val="0072C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18745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 — PERIMETER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1762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Cox proves — or hides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880360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close terms (Q2 10-Q: $650M contribution cash, ~$12.4B net debt) change scale, ownership, and leverage — not the internet slope the multiple discounts. The integration story must be framed so it cannot be read as burying the trend in a bigger consolidated number.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983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question: is the Cox thesis assailable, or is the combined entity the client?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1447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Q2 2026 10-Q (Cox terms — later public fact); FY2025 10-K (rural program, buybacks, leverage policy).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#2 (v2)  ·  Charter Communications (CHTR)  ·  Anchored to Q1 2026; Q2 2026 labeled as later public fact where used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·  ASKS FOR TODAY'S WORKING SESSION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decisive questions, then economics and boundaries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201400" cy="1965960"/>
          </a:xfrm>
          <a:prstGeom prst="roundRect">
            <a:avLst>
              <a:gd name="adj" fmla="val 3721"/>
            </a:avLst>
          </a:prstGeom>
          <a:solidFill>
            <a:srgbClr val="F2F6FB"/>
          </a:solidFill>
          <a:ln w="15875">
            <a:solidFill>
              <a:srgbClr val="0072C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DECISIVE THREE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29968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Will the data pack split internet net adds or churn by competitive overlap — fiber-overbuilt vs FWA-heavy vs uncontested? Filings don't, and without it we'd recommend a defense without knowing the attacker.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When management attributes losses to “competitive environment” — what was measured? Port-out destinations, coded disconnect reasons, exit surveys? How do they know?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Our event study says the tape prices YoY acceleration and consensus surprise, not levels. From inside Charter: does management see that — and is guidance strategy in our recommendation space, or is that the “PR answer” the charge excludes?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794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ECONOMICS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096512"/>
            <a:ext cx="5440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unit economics: MVNO wholesale cost per line, incremental margin — can a mobile line ever replace an internet sub in EBITDA?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Charter run controlled retention/pricing experiments by competitor type? What moved?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Rural: actual unit returns on the $8B program — is doubling down in-bounds, or capped by BEAD/RDOF milestones?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37947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SCOPE &amp; BOUNDARIES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4096512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“change what the market prices” (re-segmentation, capex disclosure, capital-regime shift) legitimate strategy in your grading — or a communications patch? Where is the line?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Cox thesis assailable, or is the combined entity the client?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the final deck use post-anchor facts (Q2 2026, documented from Ex99.1) as evidence about the market's lens?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3886200"/>
            <a:ext cx="0" cy="192024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#2 (v2)  ·  Charter Communications (CHTR)  ·  Anchored to Q1 2026; Q2 2026 labeled as later public fact where used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2026-09-15T17:22:19Z</dcterms:created>
  <dcterms:modified xsi:type="dcterms:W3CDTF">2026-09-15T17:22:19Z</dcterms:modified>
</cp:coreProperties>
</file>